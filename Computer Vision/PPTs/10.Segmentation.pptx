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</p:sldIdLst>
  <p:sldSz cy="6858000" cx="12192000"/>
  <p:notesSz cx="12192000" cy="6858000"/>
  <p:embeddedFontLst>
    <p:embeddedFont>
      <p:font typeface="Noto Sans Symbols"/>
      <p:regular r:id="rId105"/>
      <p:bold r:id="rId106"/>
    </p:embeddedFont>
    <p:embeddedFont>
      <p:font typeface="Bell MT"/>
      <p:regular r:id="rId107"/>
      <p:bold r:id="rId108"/>
      <p:italic r:id="rId109"/>
      <p:boldItalic r:id="rId1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20DC10-4680-4BC0-AAF8-EFC72FA0F655}">
  <a:tblStyle styleId="{4C20DC10-4680-4BC0-AAF8-EFC72FA0F65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BellMT-regular.fntdata"/><Relationship Id="rId106" Type="http://schemas.openxmlformats.org/officeDocument/2006/relationships/font" Target="fonts/NotoSansSymbols-bold.fntdata"/><Relationship Id="rId105" Type="http://schemas.openxmlformats.org/officeDocument/2006/relationships/font" Target="fonts/NotoSansSymbols-regular.fntdata"/><Relationship Id="rId104" Type="http://schemas.openxmlformats.org/officeDocument/2006/relationships/slide" Target="slides/slide98.xml"/><Relationship Id="rId109" Type="http://schemas.openxmlformats.org/officeDocument/2006/relationships/font" Target="fonts/BellMT-italic.fntdata"/><Relationship Id="rId108" Type="http://schemas.openxmlformats.org/officeDocument/2006/relationships/font" Target="fonts/BellMT-bold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110" Type="http://schemas.openxmlformats.org/officeDocument/2006/relationships/font" Target="fonts/BellMT-boldItalic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/>
              <a:t>‹#›</a:t>
            </a:fld>
            <a:endParaRPr sz="12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9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9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9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9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0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0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0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0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0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0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50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0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0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0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0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0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0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0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0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0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0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0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0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0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5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1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51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1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1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1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51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51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51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51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51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5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51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1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51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1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51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52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2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2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2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2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52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2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2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52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52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52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2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52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52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2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2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2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52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53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53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53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53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3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53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3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53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53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53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3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3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3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53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53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53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53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3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53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54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54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4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54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4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4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54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4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4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4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54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4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54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54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4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4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54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54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55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55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55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55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55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55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5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55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55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5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55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55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55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55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7" name="Google Shape;847;p55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55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5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55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55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6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56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6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56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56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56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6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6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56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4" name="Google Shape;934;p56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56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56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56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56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6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3" name="Google Shape;973;p56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6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6" name="Google Shape;986;p56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56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8" name="Google Shape;998;p56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57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0" name="Google Shape;1010;p57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7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7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7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57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57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57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7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57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p57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3" name="Google Shape;1083;p57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57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9" name="Google Shape;1099;p57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7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57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57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57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57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57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58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7" name="Google Shape;1137;p58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p58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58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8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58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58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58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58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58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58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58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58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58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p58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58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58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58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58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58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9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59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59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59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59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59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59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59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59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9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59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59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" name="Google Shape;18;p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" name="Google Shape;19;p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showMasterSp="0">
  <p:cSld name="Title Only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" name="Google Shape;22;p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" name="Google Shape;26;p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>
  <p:cSld name="Blank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0" y="6434328"/>
            <a:ext cx="12192000" cy="424180"/>
          </a:xfrm>
          <a:custGeom>
            <a:rect b="b" l="l" r="r" t="t"/>
            <a:pathLst>
              <a:path extrusionOk="0" h="424179" w="12192000">
                <a:moveTo>
                  <a:pt x="12192000" y="0"/>
                </a:moveTo>
                <a:lnTo>
                  <a:pt x="0" y="0"/>
                </a:lnTo>
                <a:lnTo>
                  <a:pt x="0" y="423672"/>
                </a:lnTo>
                <a:lnTo>
                  <a:pt x="12192000" y="423672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" name="Google Shape;33;p6"/>
          <p:cNvSpPr/>
          <p:nvPr/>
        </p:nvSpPr>
        <p:spPr>
          <a:xfrm>
            <a:off x="304800" y="975360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0" y="153150"/>
            <a:ext cx="12192000" cy="7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0" y="1058675"/>
            <a:ext cx="12192000" cy="3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60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3636390" y="6551062"/>
            <a:ext cx="3394633" cy="195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"/>
          <p:cNvSpPr txBox="1"/>
          <p:nvPr>
            <p:ph idx="12" type="sldNum"/>
          </p:nvPr>
        </p:nvSpPr>
        <p:spPr>
          <a:xfrm>
            <a:off x="205740" y="6547862"/>
            <a:ext cx="429005" cy="203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indent="0" lvl="1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2pPr>
            <a:lvl3pPr indent="0" lvl="2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3pPr>
            <a:lvl4pPr indent="0" lvl="3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4pPr>
            <a:lvl5pPr indent="0" lvl="4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5pPr>
            <a:lvl6pPr indent="0" lvl="5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6pPr>
            <a:lvl7pPr indent="0" lvl="6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7pPr>
            <a:lvl8pPr indent="0" lvl="7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8pPr>
            <a:lvl9pPr indent="0" lvl="8" marL="97790">
              <a:lnSpc>
                <a:spcPct val="112500"/>
              </a:lnSpc>
              <a:spcBef>
                <a:spcPts val="0"/>
              </a:spcBef>
              <a:buNone/>
              <a:defRPr b="0" i="0" sz="1200">
                <a:solidFill>
                  <a:schemeClr val="lt1"/>
                </a:solidFill>
                <a:latin typeface="Bell MT"/>
                <a:ea typeface="Bell MT"/>
                <a:cs typeface="Bell MT"/>
                <a:sym typeface="Bell MT"/>
              </a:defRPr>
            </a:lvl9pPr>
          </a:lstStyle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Relationship Id="rId4" Type="http://schemas.openxmlformats.org/officeDocument/2006/relationships/hyperlink" Target="https://www.mygreatlearning.com/blog/fcn-fully-convolutional-network-semantic-segmentation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Relationship Id="rId4" Type="http://schemas.openxmlformats.org/officeDocument/2006/relationships/image" Target="../media/image9.jpg"/><Relationship Id="rId5" Type="http://schemas.openxmlformats.org/officeDocument/2006/relationships/image" Target="../media/image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Relationship Id="rId4" Type="http://schemas.openxmlformats.org/officeDocument/2006/relationships/image" Target="../media/image2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9.png"/><Relationship Id="rId4" Type="http://schemas.openxmlformats.org/officeDocument/2006/relationships/image" Target="../media/image31.png"/><Relationship Id="rId5" Type="http://schemas.openxmlformats.org/officeDocument/2006/relationships/image" Target="../media/image30.png"/><Relationship Id="rId6" Type="http://schemas.openxmlformats.org/officeDocument/2006/relationships/image" Target="../media/image2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Relationship Id="rId4" Type="http://schemas.openxmlformats.org/officeDocument/2006/relationships/image" Target="../media/image26.png"/><Relationship Id="rId5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7.jpg"/><Relationship Id="rId6" Type="http://schemas.openxmlformats.org/officeDocument/2006/relationships/image" Target="../media/image4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42.png"/><Relationship Id="rId6" Type="http://schemas.openxmlformats.org/officeDocument/2006/relationships/image" Target="../media/image3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5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jpg"/><Relationship Id="rId4" Type="http://schemas.openxmlformats.org/officeDocument/2006/relationships/image" Target="../media/image67.jpg"/><Relationship Id="rId5" Type="http://schemas.openxmlformats.org/officeDocument/2006/relationships/image" Target="../media/image46.jpg"/><Relationship Id="rId6" Type="http://schemas.openxmlformats.org/officeDocument/2006/relationships/image" Target="../media/image49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Relationship Id="rId4" Type="http://schemas.openxmlformats.org/officeDocument/2006/relationships/image" Target="../media/image39.png"/><Relationship Id="rId5" Type="http://schemas.openxmlformats.org/officeDocument/2006/relationships/image" Target="../media/image3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6.png"/><Relationship Id="rId4" Type="http://schemas.openxmlformats.org/officeDocument/2006/relationships/image" Target="../media/image45.png"/><Relationship Id="rId5" Type="http://schemas.openxmlformats.org/officeDocument/2006/relationships/image" Target="../media/image43.png"/><Relationship Id="rId6" Type="http://schemas.openxmlformats.org/officeDocument/2006/relationships/image" Target="../media/image5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0.png"/><Relationship Id="rId4" Type="http://schemas.openxmlformats.org/officeDocument/2006/relationships/image" Target="../media/image46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48.png"/><Relationship Id="rId6" Type="http://schemas.openxmlformats.org/officeDocument/2006/relationships/image" Target="../media/image61.png"/><Relationship Id="rId7" Type="http://schemas.openxmlformats.org/officeDocument/2006/relationships/image" Target="../media/image64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3.jpg"/><Relationship Id="rId4" Type="http://schemas.openxmlformats.org/officeDocument/2006/relationships/image" Target="../media/image60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4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96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Relationship Id="rId4" Type="http://schemas.openxmlformats.org/officeDocument/2006/relationships/image" Target="../media/image14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7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9.png"/><Relationship Id="rId4" Type="http://schemas.openxmlformats.org/officeDocument/2006/relationships/image" Target="../media/image65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2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6.jpg"/><Relationship Id="rId4" Type="http://schemas.openxmlformats.org/officeDocument/2006/relationships/image" Target="../media/image87.jp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81.jpg"/><Relationship Id="rId4" Type="http://schemas.openxmlformats.org/officeDocument/2006/relationships/image" Target="../media/image69.png"/><Relationship Id="rId5" Type="http://schemas.openxmlformats.org/officeDocument/2006/relationships/image" Target="../media/image74.png"/><Relationship Id="rId6" Type="http://schemas.openxmlformats.org/officeDocument/2006/relationships/image" Target="../media/image82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jpg"/><Relationship Id="rId4" Type="http://schemas.openxmlformats.org/officeDocument/2006/relationships/image" Target="../media/image71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8.jp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0.jpg"/><Relationship Id="rId4" Type="http://schemas.openxmlformats.org/officeDocument/2006/relationships/hyperlink" Target="http://www.neefusa.org/nature/water/lesson-1-watershed-basics" TargetMode="Externa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75.jp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72.jp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8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85.jpg"/><Relationship Id="rId4" Type="http://schemas.openxmlformats.org/officeDocument/2006/relationships/image" Target="../media/image75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83.jp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9.jpg"/><Relationship Id="rId4" Type="http://schemas.openxmlformats.org/officeDocument/2006/relationships/image" Target="../media/image83.jpg"/><Relationship Id="rId5" Type="http://schemas.openxmlformats.org/officeDocument/2006/relationships/image" Target="../media/image91.png"/><Relationship Id="rId6" Type="http://schemas.openxmlformats.org/officeDocument/2006/relationships/image" Target="../media/image7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3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0.jp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3.jp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8.jp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90.jp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92.jp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9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86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95.jp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" name="Google Shape;40;p7"/>
          <p:cNvSpPr txBox="1"/>
          <p:nvPr>
            <p:ph idx="4294967295" type="title"/>
          </p:nvPr>
        </p:nvSpPr>
        <p:spPr>
          <a:xfrm>
            <a:off x="0" y="1520375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Image Segmentation</a:t>
            </a:r>
            <a:endParaRPr sz="6000"/>
          </a:p>
        </p:txBody>
      </p:sp>
      <p:sp>
        <p:nvSpPr>
          <p:cNvPr id="41" name="Google Shape;41;p7"/>
          <p:cNvSpPr txBox="1"/>
          <p:nvPr/>
        </p:nvSpPr>
        <p:spPr>
          <a:xfrm>
            <a:off x="1" y="3303150"/>
            <a:ext cx="1219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0" marR="679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– 1</a:t>
            </a:r>
            <a:endParaRPr sz="4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67945" rtl="0" algn="ctr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Segmentation based on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2" name="Google Shape;42;p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" name="Google Shape;44;p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" name="Google Shape;50;p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" name="Google Shape;51;p8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Content</a:t>
            </a:r>
            <a:endParaRPr sz="4300"/>
          </a:p>
        </p:txBody>
      </p:sp>
      <p:sp>
        <p:nvSpPr>
          <p:cNvPr id="52" name="Google Shape;52;p8"/>
          <p:cNvSpPr txBox="1"/>
          <p:nvPr/>
        </p:nvSpPr>
        <p:spPr>
          <a:xfrm>
            <a:off x="688340" y="1018592"/>
            <a:ext cx="9790430" cy="50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Segmentation Basics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Various Segmentation Techniques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92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Thresholding based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Region-based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1" marL="11550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 Split and merge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8600" lvl="1" marL="1155065" marR="5080" rtl="0" algn="l">
              <a:lnSpc>
                <a:spcPct val="144062"/>
              </a:lnSpc>
              <a:spcBef>
                <a:spcPts val="3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Watershed Algorithm: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Segmentation by morphological watershed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" name="Google Shape;61;p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" name="Google Shape;62;p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Basics</a:t>
            </a:r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688340" y="967995"/>
            <a:ext cx="10742930" cy="46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b="1" lang="en-US" sz="3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Image segmentation deals with image partitioning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1085850" rtl="0" algn="l">
              <a:lnSpc>
                <a:spcPct val="80000"/>
              </a:lnSpc>
              <a:spcBef>
                <a:spcPts val="810"/>
              </a:spcBef>
              <a:spcAft>
                <a:spcPts val="0"/>
              </a:spcAft>
              <a:buSzPts val="3300"/>
              <a:buFont typeface="Arial"/>
              <a:buChar char="–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process of	partitioning a digital image into multiple 	</a:t>
            </a:r>
            <a:r>
              <a:rPr lang="en-US" sz="3300" u="sng">
                <a:latin typeface="Bell MT"/>
                <a:ea typeface="Bell MT"/>
                <a:cs typeface="Bell MT"/>
                <a:sym typeface="Bell MT"/>
              </a:rPr>
              <a:t>homogeneous segments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42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b="1" lang="en-US" sz="37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Simplification of	representation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13970" rtl="0" algn="l">
              <a:lnSpc>
                <a:spcPct val="96060"/>
              </a:lnSpc>
              <a:spcBef>
                <a:spcPts val="780"/>
              </a:spcBef>
              <a:spcAft>
                <a:spcPts val="0"/>
              </a:spcAft>
              <a:buSzPts val="3300"/>
              <a:buFont typeface="Arial"/>
              <a:buChar char="–"/>
            </a:pPr>
            <a:r>
              <a:rPr lang="en-US" sz="3300">
                <a:latin typeface="Bell MT"/>
                <a:ea typeface="Bell MT"/>
                <a:cs typeface="Bell MT"/>
                <a:sym typeface="Bell MT"/>
              </a:rPr>
              <a:t>Simplification of	the representation of	an image into 	something which is </a:t>
            </a:r>
            <a:r>
              <a:rPr lang="en-US" sz="3300" u="sng">
                <a:latin typeface="Bell MT"/>
                <a:ea typeface="Bell MT"/>
                <a:cs typeface="Bell MT"/>
                <a:sym typeface="Bell MT"/>
              </a:rPr>
              <a:t>more meaningful </a:t>
            </a:r>
            <a:r>
              <a:rPr lang="en-US" sz="3300" u="none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3300" u="sng">
                <a:latin typeface="Bell MT"/>
                <a:ea typeface="Bell MT"/>
                <a:cs typeface="Bell MT"/>
                <a:sym typeface="Bell MT"/>
              </a:rPr>
              <a:t>easier to analyze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954"/>
              </a:spcBef>
              <a:spcAft>
                <a:spcPts val="0"/>
              </a:spcAft>
              <a:buClr>
                <a:srgbClr val="FF0000"/>
              </a:buClr>
              <a:buSzPts val="3250"/>
              <a:buFont typeface="Noto Sans Symbols"/>
              <a:buChar char="▪"/>
            </a:pPr>
            <a:r>
              <a:rPr lang="en-US" sz="41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It is used to locate objects and boundaries</a:t>
            </a:r>
            <a:endParaRPr sz="41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" name="Google Shape;72;p1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" name="Google Shape;73;p1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Basics</a:t>
            </a:r>
            <a:endParaRPr/>
          </a:p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3854" y="1222247"/>
            <a:ext cx="3057144" cy="458113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 txBox="1"/>
          <p:nvPr/>
        </p:nvSpPr>
        <p:spPr>
          <a:xfrm>
            <a:off x="6784340" y="4660645"/>
            <a:ext cx="236410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Yellow lines show the segmentation boundaries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784340" y="2403449"/>
            <a:ext cx="219964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Segmentation Example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1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1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" name="Google Shape;85;p1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" name="Google Shape;86;p1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Basics</a:t>
            </a:r>
            <a:endParaRPr/>
          </a:p>
        </p:txBody>
      </p:sp>
      <p:sp>
        <p:nvSpPr>
          <p:cNvPr id="87" name="Google Shape;87;p11"/>
          <p:cNvSpPr txBox="1"/>
          <p:nvPr/>
        </p:nvSpPr>
        <p:spPr>
          <a:xfrm>
            <a:off x="688340" y="949351"/>
            <a:ext cx="10803255" cy="2346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50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Pixels labeling: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797560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It is the process of	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assigning a label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to every pixel in an 	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All pixels with same label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share certain visual characteristics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200" y="3429000"/>
            <a:ext cx="5488685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1"/>
          <p:cNvSpPr txBox="1"/>
          <p:nvPr/>
        </p:nvSpPr>
        <p:spPr>
          <a:xfrm>
            <a:off x="3850513" y="5400756"/>
            <a:ext cx="11379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1"/>
          <p:cNvSpPr txBox="1"/>
          <p:nvPr/>
        </p:nvSpPr>
        <p:spPr>
          <a:xfrm>
            <a:off x="6320078" y="5450819"/>
            <a:ext cx="221869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779780" lvl="0" marL="79184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Expected Segmentation output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1"/>
          <p:cNvSpPr txBox="1"/>
          <p:nvPr/>
        </p:nvSpPr>
        <p:spPr>
          <a:xfrm>
            <a:off x="98714" y="5922124"/>
            <a:ext cx="7455000" cy="3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latin typeface="Cambria"/>
                <a:ea typeface="Cambria"/>
                <a:cs typeface="Cambria"/>
                <a:sym typeface="Cambria"/>
              </a:rPr>
              <a:t>Image source: </a:t>
            </a:r>
            <a:r>
              <a:rPr lang="en-US" sz="1200" u="sng">
                <a:solidFill>
                  <a:srgbClr val="0000FF"/>
                </a:solidFill>
                <a:latin typeface="Cambria"/>
                <a:ea typeface="Cambria"/>
                <a:cs typeface="Cambria"/>
                <a:sym typeface="Cambria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https://www.mygreatlearning.com/blog/fcn-fully-convolutional-network-semantic-segmentation/</a:t>
            </a:r>
            <a:endParaRPr sz="1200"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2" name="Google Shape;92;p1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" name="Google Shape;93;p1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" name="Google Shape;94;p1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0" name="Google Shape;100;p1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" name="Google Shape;101;p1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Techniques</a:t>
            </a:r>
            <a:endParaRPr/>
          </a:p>
        </p:txBody>
      </p:sp>
      <p:sp>
        <p:nvSpPr>
          <p:cNvPr id="102" name="Google Shape;102;p12"/>
          <p:cNvSpPr txBox="1"/>
          <p:nvPr/>
        </p:nvSpPr>
        <p:spPr>
          <a:xfrm>
            <a:off x="688340" y="961905"/>
            <a:ext cx="9905365" cy="4850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465455" lvl="0" marL="4781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Similarity-based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methods: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partition an image regions that are </a:t>
            </a:r>
            <a:r>
              <a:rPr lang="en-US" sz="2800" u="sng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similar</a:t>
            </a:r>
            <a:r>
              <a:rPr lang="en-US" sz="2800" u="none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according to a set of 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predefined criteria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Examples: methods based 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Clr>
                <a:srgbClr val="1F497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thresholding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1F497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1F497D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region splitting and merging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465455" lvl="0" marL="478155" rtl="0" algn="l">
              <a:lnSpc>
                <a:spcPct val="100000"/>
              </a:lnSpc>
              <a:spcBef>
                <a:spcPts val="42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Discontinuity-based methods: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465455" lvl="0" marL="878205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Use of	</a:t>
            </a:r>
            <a:r>
              <a:rPr lang="en-US" sz="28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point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, </a:t>
            </a:r>
            <a:r>
              <a:rPr lang="en-US" sz="28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line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28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edge for segmentation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1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" name="Google Shape;105;p1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" name="Google Shape;111;p1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2" name="Google Shape;112;p1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Basics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688340" y="977276"/>
            <a:ext cx="10796270" cy="46996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Similarity Criterion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600">
                <a:latin typeface="Bell MT"/>
                <a:ea typeface="Bell MT"/>
                <a:cs typeface="Bell MT"/>
                <a:sym typeface="Bell MT"/>
              </a:rPr>
              <a:t>It can be defined with respect to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some characteristic</a:t>
            </a:r>
            <a:r>
              <a:rPr lang="en-US" sz="2600" u="none"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2600" u="sng">
                <a:latin typeface="Bell MT"/>
                <a:ea typeface="Bell MT"/>
                <a:cs typeface="Bell MT"/>
                <a:sym typeface="Bell MT"/>
              </a:rPr>
              <a:t>computed property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29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US" sz="3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Common Characteristics/Properties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Color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Intensity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2600"/>
              <a:buFont typeface="Arial"/>
              <a:buChar char="–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Texture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8000"/>
              </a:lnSpc>
              <a:spcBef>
                <a:spcPts val="46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b="1" lang="en-US" sz="3000">
                <a:latin typeface="Bell MT"/>
                <a:ea typeface="Bell MT"/>
                <a:cs typeface="Bell MT"/>
                <a:sym typeface="Bell MT"/>
              </a:rPr>
              <a:t>Adjacent regions are </a:t>
            </a:r>
            <a:r>
              <a:rPr b="1" lang="en-US" sz="3000" u="sng">
                <a:latin typeface="Bell MT"/>
                <a:ea typeface="Bell MT"/>
                <a:cs typeface="Bell MT"/>
                <a:sym typeface="Bell MT"/>
              </a:rPr>
              <a:t>significantly differen</a:t>
            </a:r>
            <a:r>
              <a:rPr b="1" lang="en-US" sz="3000" u="none">
                <a:latin typeface="Bell MT"/>
                <a:ea typeface="Bell MT"/>
                <a:cs typeface="Bell MT"/>
                <a:sym typeface="Bell MT"/>
              </a:rPr>
              <a:t>t with respect to the same characteristic(s)</a:t>
            </a:r>
            <a:endParaRPr sz="3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" name="Google Shape;114;p1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" name="Google Shape;115;p1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" name="Google Shape;116;p1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" name="Google Shape;122;p14"/>
          <p:cNvSpPr txBox="1"/>
          <p:nvPr/>
        </p:nvSpPr>
        <p:spPr>
          <a:xfrm>
            <a:off x="634740" y="1308887"/>
            <a:ext cx="8093100" cy="388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079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2325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Thresholding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2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2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Region splitting and merging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3" name="Google Shape;123;p1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0" y="124025"/>
            <a:ext cx="1219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000">
                <a:solidFill>
                  <a:srgbClr val="050505"/>
                </a:solidFill>
                <a:latin typeface="Bell MT"/>
                <a:ea typeface="Bell MT"/>
                <a:cs typeface="Bell MT"/>
                <a:sym typeface="Bell MT"/>
              </a:rPr>
              <a:t>Similarity-based Methods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5" name="Google Shape;125;p1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" name="Google Shape;131;p1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2" name="Google Shape;132;p1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Thresholding Techniques</a:t>
            </a:r>
            <a:endParaRPr/>
          </a:p>
        </p:txBody>
      </p:sp>
      <p:sp>
        <p:nvSpPr>
          <p:cNvPr id="133" name="Google Shape;133;p15"/>
          <p:cNvSpPr txBox="1"/>
          <p:nvPr>
            <p:ph idx="4294967295" type="body"/>
          </p:nvPr>
        </p:nvSpPr>
        <p:spPr>
          <a:xfrm>
            <a:off x="-2" y="1036425"/>
            <a:ext cx="12192000" cy="3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7080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0" lang="en-US" sz="3600">
                <a:latin typeface="Bell MT"/>
                <a:ea typeface="Bell MT"/>
                <a:cs typeface="Bell MT"/>
                <a:sym typeface="Bell MT"/>
              </a:rPr>
              <a:t>Global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708025" rtl="0" algn="l">
              <a:lnSpc>
                <a:spcPct val="100000"/>
              </a:lnSpc>
              <a:spcBef>
                <a:spcPts val="604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0" lang="en-US" sz="3600">
                <a:latin typeface="Bell MT"/>
                <a:ea typeface="Bell MT"/>
                <a:cs typeface="Bell MT"/>
                <a:sym typeface="Bell MT"/>
              </a:rPr>
              <a:t>Adaptive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708025" rtl="0" algn="l">
              <a:lnSpc>
                <a:spcPct val="100000"/>
              </a:lnSpc>
              <a:spcBef>
                <a:spcPts val="605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0" lang="en-US" sz="3600">
                <a:latin typeface="Bell MT"/>
                <a:ea typeface="Bell MT"/>
                <a:cs typeface="Bell MT"/>
                <a:sym typeface="Bell MT"/>
              </a:rPr>
              <a:t>Optimal global and adaptive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4" name="Google Shape;134;p1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1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2" name="Google Shape;142;p1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43" name="Google Shape;143;p1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8340" y="1064007"/>
            <a:ext cx="935037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When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same threshold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is applied over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entire image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the thresholding is referred as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Global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93976" y="2452877"/>
            <a:ext cx="4155947" cy="341452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6"/>
          <p:cNvSpPr txBox="1"/>
          <p:nvPr/>
        </p:nvSpPr>
        <p:spPr>
          <a:xfrm>
            <a:off x="6479540" y="3442778"/>
            <a:ext cx="4662805" cy="14871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just">
              <a:lnSpc>
                <a:spcPct val="120000"/>
              </a:lnSpc>
              <a:spcBef>
                <a:spcPts val="9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An image where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foreground objects (coins)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can be segmented from black background using only one threshold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47" name="Google Shape;147;p1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8" name="Google Shape;148;p1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" name="Google Shape;149;p1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5" name="Google Shape;155;p1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6" name="Google Shape;156;p17"/>
          <p:cNvSpPr txBox="1"/>
          <p:nvPr>
            <p:ph idx="4294967295" type="title"/>
          </p:nvPr>
        </p:nvSpPr>
        <p:spPr>
          <a:xfrm>
            <a:off x="0" y="153150"/>
            <a:ext cx="12192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688340" y="4411776"/>
            <a:ext cx="10419715" cy="1988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clear peaks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the histogram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One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for foreground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and another for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background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A suitable threshold can be chosen to do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segment foreground (object)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from background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1676412"/>
            <a:ext cx="3324605" cy="2730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53200" y="990600"/>
            <a:ext cx="3339846" cy="373378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688340" y="1072388"/>
            <a:ext cx="2586990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92125" lvl="0" marL="5048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Histogram	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based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3339084" y="1131569"/>
            <a:ext cx="2503170" cy="3467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7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Threshold Selection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62" name="Google Shape;162;p1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1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1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0" name="Google Shape;170;p1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71" name="Google Shape;171;p1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12140" y="987806"/>
            <a:ext cx="7868284" cy="11626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Thresholding: </a:t>
            </a:r>
            <a:r>
              <a:rPr lang="en-US" sz="3200">
                <a:solidFill>
                  <a:srgbClr val="FFC000"/>
                </a:solidFill>
                <a:latin typeface="Bell MT"/>
                <a:ea typeface="Bell MT"/>
                <a:cs typeface="Bell MT"/>
                <a:sym typeface="Bell MT"/>
              </a:rPr>
              <a:t>color-based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366134" rtl="0" algn="l">
              <a:lnSpc>
                <a:spcPct val="100000"/>
              </a:lnSpc>
              <a:spcBef>
                <a:spcPts val="2235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Example</a:t>
            </a:r>
            <a:r>
              <a:rPr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: color-based segmentation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173" name="Google Shape;173;p18"/>
          <p:cNvGrpSpPr/>
          <p:nvPr/>
        </p:nvGrpSpPr>
        <p:grpSpPr>
          <a:xfrm>
            <a:off x="5840729" y="3257687"/>
            <a:ext cx="766059" cy="133350"/>
            <a:chOff x="5840729" y="3257687"/>
            <a:chExt cx="766059" cy="133350"/>
          </a:xfrm>
        </p:grpSpPr>
        <p:sp>
          <p:nvSpPr>
            <p:cNvPr id="174" name="Google Shape;174;p18"/>
            <p:cNvSpPr/>
            <p:nvPr/>
          </p:nvSpPr>
          <p:spPr>
            <a:xfrm>
              <a:off x="5840729" y="3323082"/>
              <a:ext cx="765810" cy="1905"/>
            </a:xfrm>
            <a:custGeom>
              <a:rect b="b" l="l" r="r" t="t"/>
              <a:pathLst>
                <a:path extrusionOk="0" h="1904" w="765809">
                  <a:moveTo>
                    <a:pt x="0" y="0"/>
                  </a:moveTo>
                  <a:lnTo>
                    <a:pt x="765556" y="1511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75" name="Google Shape;175;p18"/>
            <p:cNvSpPr/>
            <p:nvPr/>
          </p:nvSpPr>
          <p:spPr>
            <a:xfrm>
              <a:off x="6491853" y="3257687"/>
              <a:ext cx="114935" cy="133350"/>
            </a:xfrm>
            <a:custGeom>
              <a:rect b="b" l="l" r="r" t="t"/>
              <a:pathLst>
                <a:path extrusionOk="0" h="133350" w="114934">
                  <a:moveTo>
                    <a:pt x="266" y="0"/>
                  </a:moveTo>
                  <a:lnTo>
                    <a:pt x="114427" y="66903"/>
                  </a:lnTo>
                  <a:lnTo>
                    <a:pt x="0" y="133350"/>
                  </a:lnTo>
                </a:path>
              </a:pathLst>
            </a:custGeom>
            <a:noFill/>
            <a:ln cap="flat" cmpd="sng" w="381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76" name="Google Shape;176;p18"/>
          <p:cNvSpPr txBox="1"/>
          <p:nvPr/>
        </p:nvSpPr>
        <p:spPr>
          <a:xfrm>
            <a:off x="3579018" y="5339957"/>
            <a:ext cx="5033010" cy="696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170815" lvl="0" marL="18288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Looking for pixels within a certain hue range in HSV (hue, saturation, and value) color space.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0454" y="2228088"/>
            <a:ext cx="3419094" cy="259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72106" y="2263902"/>
            <a:ext cx="3262121" cy="256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 txBox="1"/>
          <p:nvPr/>
        </p:nvSpPr>
        <p:spPr>
          <a:xfrm>
            <a:off x="6354569" y="4898166"/>
            <a:ext cx="3962400" cy="238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fg_pixel = find(Hue &gt; t1 &amp; Hue &lt; t2);</a:t>
            </a:r>
            <a:endParaRPr sz="1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1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1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p1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8" name="Google Shape;188;p1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89" name="Google Shape;189;p19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Basic Global Thresholding</a:t>
            </a:r>
            <a:endParaRPr sz="4300"/>
          </a:p>
        </p:txBody>
      </p:sp>
      <p:pic>
        <p:nvPicPr>
          <p:cNvPr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65070" y="4935473"/>
            <a:ext cx="4965953" cy="1028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688340" y="939293"/>
            <a:ext cx="9811385" cy="4682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71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Thresholding can be viewed as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892300" rtl="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T=T[(x,y), f(x,y), p(x,y)]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265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where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f(x,y)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a gray-level defined at point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(x,y)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p(x,y)	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is a local property defined at point </a:t>
            </a:r>
            <a:r>
              <a:rPr i="1" lang="en-US" sz="2800">
                <a:latin typeface="Times New Roman"/>
                <a:ea typeface="Times New Roman"/>
                <a:cs typeface="Times New Roman"/>
                <a:sym typeface="Times New Roman"/>
              </a:rPr>
              <a:t>(x,y)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0" rtl="0" algn="l">
              <a:lnSpc>
                <a:spcPct val="100000"/>
              </a:lnSpc>
              <a:spcBef>
                <a:spcPts val="2005"/>
              </a:spcBef>
              <a:spcAft>
                <a:spcPts val="0"/>
              </a:spcAft>
              <a:buSzPts val="2800"/>
              <a:buFont typeface="Arial"/>
              <a:buNone/>
            </a:pPr>
            <a:r>
              <a:t/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 thresholded image 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g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200">
                <a:latin typeface="Times New Roman"/>
                <a:ea typeface="Times New Roman"/>
                <a:cs typeface="Times New Roman"/>
                <a:sym typeface="Times New Roman"/>
              </a:rPr>
              <a:t>x,y</a:t>
            </a: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is defined as follows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7023100" rtl="0" algn="l">
              <a:lnSpc>
                <a:spcPct val="100000"/>
              </a:lnSpc>
              <a:spcBef>
                <a:spcPts val="215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f(x,y) </a:t>
            </a: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is input image and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7023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g(x,y) </a:t>
            </a:r>
            <a:r>
              <a:rPr lang="en-US" sz="18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is the segmented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3" name="Google Shape;193;p1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0" name="Google Shape;200;p2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1" name="Google Shape;201;p2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688340" y="986547"/>
            <a:ext cx="9822815" cy="4651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cases of thresholdings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expression of thresholding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168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[(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x,y), p(x,y), f(x,y)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r>
              <a:rPr i="1"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025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y), 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330" marR="5080" rtl="0" algn="l">
              <a:lnSpc>
                <a:spcPct val="104375"/>
              </a:lnSpc>
              <a:spcBef>
                <a:spcPts val="355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y), p(x, y), 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or 	adaptive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2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2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2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2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2" name="Google Shape;212;p2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88340" y="3914672"/>
            <a:ext cx="9444355" cy="1865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Grey-level histograms that can be partitioned by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(a) a single threshold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86714" lvl="1" marL="856614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(b)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multiple thresholds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214" name="Google Shape;214;p21"/>
          <p:cNvGrpSpPr/>
          <p:nvPr/>
        </p:nvGrpSpPr>
        <p:grpSpPr>
          <a:xfrm>
            <a:off x="3405496" y="1350335"/>
            <a:ext cx="5292609" cy="2690549"/>
            <a:chOff x="3405496" y="1350335"/>
            <a:chExt cx="5292609" cy="2690549"/>
          </a:xfrm>
        </p:grpSpPr>
        <p:pic>
          <p:nvPicPr>
            <p:cNvPr id="215" name="Google Shape;21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05496" y="1350335"/>
              <a:ext cx="5292609" cy="227979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410456" y="3531869"/>
              <a:ext cx="541781" cy="5090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7" name="Google Shape;217;p21"/>
          <p:cNvSpPr txBox="1"/>
          <p:nvPr/>
        </p:nvSpPr>
        <p:spPr>
          <a:xfrm>
            <a:off x="4539571" y="3571619"/>
            <a:ext cx="26352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(a)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23354" y="3479291"/>
            <a:ext cx="556259" cy="50901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7152598" y="3519232"/>
            <a:ext cx="2781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(b)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1901088" y="2293673"/>
            <a:ext cx="91313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Single threshold sufficient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9107246" y="2281100"/>
            <a:ext cx="100393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Multiple thresholds required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22" name="Google Shape;222;p2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" name="Google Shape;223;p2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" name="Google Shape;224;p2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0" name="Google Shape;230;p2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31" name="Google Shape;231;p2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88340" y="961905"/>
            <a:ext cx="10708005" cy="1131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Requirement of	multiple thresholds?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 general, segmentation problems requiring multiple thresholds are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4197096" y="2134361"/>
            <a:ext cx="2466975" cy="4064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1431301" y="2144425"/>
            <a:ext cx="99651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latin typeface="Bell MT"/>
                <a:ea typeface="Bell MT"/>
                <a:cs typeface="Bell MT"/>
                <a:sym typeface="Bell MT"/>
              </a:rPr>
              <a:t>best solved using </a:t>
            </a:r>
            <a:r>
              <a:rPr b="1" lang="en-US" sz="2800" u="none">
                <a:latin typeface="Bell MT"/>
                <a:ea typeface="Bell MT"/>
                <a:cs typeface="Bell MT"/>
                <a:sym typeface="Bell MT"/>
              </a:rPr>
              <a:t>	                      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methods (discussed later)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35" name="Google Shape;235;p2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6" name="Google Shape;236;p2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2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" name="Google Shape;243;p2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4" name="Google Shape;244;p2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662940" y="1058673"/>
            <a:ext cx="8889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Segmentation in case of	Multiple Thresholds</a:t>
            </a:r>
            <a:endParaRPr baseline="-25000" sz="36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3"/>
          <p:cNvSpPr txBox="1"/>
          <p:nvPr/>
        </p:nvSpPr>
        <p:spPr>
          <a:xfrm>
            <a:off x="2059939" y="5229821"/>
            <a:ext cx="720344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where a, b, c are any three distinct values used as labels to show segmentation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47" name="Google Shape;247;p2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8" name="Google Shape;248;p2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9" name="Google Shape;249;p2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250" name="Google Shape;25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8438" y="2009874"/>
            <a:ext cx="6615125" cy="2185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6" name="Google Shape;256;p2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57" name="Google Shape;257;p2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88340" y="1086105"/>
            <a:ext cx="5711825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Times New Roman"/>
                <a:ea typeface="Times New Roman"/>
                <a:cs typeface="Times New Roman"/>
                <a:sym typeface="Times New Roman"/>
              </a:rPr>
              <a:t>Success of thresholding methods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24"/>
          <p:cNvSpPr txBox="1"/>
          <p:nvPr/>
        </p:nvSpPr>
        <p:spPr>
          <a:xfrm>
            <a:off x="1145539" y="1575309"/>
            <a:ext cx="3093085" cy="452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entirely depends on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24"/>
          <p:cNvSpPr txBox="1"/>
          <p:nvPr/>
        </p:nvSpPr>
        <p:spPr>
          <a:xfrm>
            <a:off x="4390650" y="1556775"/>
            <a:ext cx="6796500" cy="43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u="sng">
                <a:latin typeface="Times New Roman"/>
                <a:ea typeface="Times New Roman"/>
                <a:cs typeface="Times New Roman"/>
                <a:sym typeface="Times New Roman"/>
              </a:rPr>
              <a:t>how well the histogram can be partitioned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1" name="Google Shape;261;p24"/>
          <p:cNvSpPr txBox="1"/>
          <p:nvPr/>
        </p:nvSpPr>
        <p:spPr>
          <a:xfrm>
            <a:off x="688351" y="2366275"/>
            <a:ext cx="95913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Following is an example of ‘clean’ segmentation.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59046" y="3256788"/>
            <a:ext cx="2893313" cy="229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61909" y="3092958"/>
            <a:ext cx="2798825" cy="2548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10702" y="3183635"/>
            <a:ext cx="2763280" cy="256031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2236768" y="5776657"/>
            <a:ext cx="145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6" name="Google Shape;266;p24"/>
          <p:cNvSpPr txBox="1"/>
          <p:nvPr/>
        </p:nvSpPr>
        <p:spPr>
          <a:xfrm>
            <a:off x="4990712" y="5776657"/>
            <a:ext cx="1681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Image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7349649" y="5566115"/>
            <a:ext cx="349948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Result of 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global thresholding </a:t>
            </a:r>
            <a:r>
              <a:rPr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with </a:t>
            </a:r>
            <a:r>
              <a:rPr i="1"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</a:t>
            </a:r>
            <a:r>
              <a:rPr i="1" lang="en-US" sz="1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1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midway </a:t>
            </a:r>
            <a:r>
              <a:rPr lang="en-US" sz="1800" u="none">
                <a:latin typeface="Bell MT"/>
                <a:ea typeface="Bell MT"/>
                <a:cs typeface="Bell MT"/>
                <a:sym typeface="Bell MT"/>
              </a:rPr>
              <a:t>between the max and min gray levels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68" name="Google Shape;268;p2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2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2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6" name="Google Shape;276;p2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77" name="Google Shape;277;p25"/>
          <p:cNvSpPr txBox="1"/>
          <p:nvPr>
            <p:ph idx="4294967295" type="title"/>
          </p:nvPr>
        </p:nvSpPr>
        <p:spPr>
          <a:xfrm>
            <a:off x="0" y="153150"/>
            <a:ext cx="121920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F</a:t>
            </a:r>
            <a:r>
              <a:rPr lang="en-US" sz="3600"/>
              <a:t>ingerprint Image Separation</a:t>
            </a:r>
            <a:endParaRPr sz="3600"/>
          </a:p>
        </p:txBody>
      </p:sp>
      <p:pic>
        <p:nvPicPr>
          <p:cNvPr id="278" name="Google Shape;27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088897"/>
            <a:ext cx="2227313" cy="266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832" y="2238755"/>
            <a:ext cx="3024093" cy="2420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2543175"/>
            <a:ext cx="2048255" cy="245744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5"/>
          <p:cNvSpPr txBox="1"/>
          <p:nvPr/>
        </p:nvSpPr>
        <p:spPr>
          <a:xfrm>
            <a:off x="1475739" y="3834113"/>
            <a:ext cx="145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82" name="Google Shape;282;p25"/>
          <p:cNvSpPr txBox="1"/>
          <p:nvPr/>
        </p:nvSpPr>
        <p:spPr>
          <a:xfrm>
            <a:off x="4381931" y="4539344"/>
            <a:ext cx="6048375" cy="138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3592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1269" lvl="0" marL="2643505" marR="5080" rtl="0" algn="ct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Result of segmentation with the threshold estimated by iteration (see next slide)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283" name="Google Shape;283;p2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" name="Google Shape;284;p2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2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291" name="Google Shape;291;p26"/>
          <p:cNvGrpSpPr/>
          <p:nvPr/>
        </p:nvGrpSpPr>
        <p:grpSpPr>
          <a:xfrm>
            <a:off x="305181" y="974978"/>
            <a:ext cx="11582400" cy="5151501"/>
            <a:chOff x="305181" y="974978"/>
            <a:chExt cx="11582400" cy="5151501"/>
          </a:xfrm>
        </p:grpSpPr>
        <p:sp>
          <p:nvSpPr>
            <p:cNvPr id="292" name="Google Shape;292;p26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293" name="Google Shape;293;p26"/>
            <p:cNvSpPr/>
            <p:nvPr/>
          </p:nvSpPr>
          <p:spPr>
            <a:xfrm>
              <a:off x="609600" y="1066799"/>
              <a:ext cx="11277600" cy="5059680"/>
            </a:xfrm>
            <a:custGeom>
              <a:rect b="b" l="l" r="r" t="t"/>
              <a:pathLst>
                <a:path extrusionOk="0" h="5059680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5059680"/>
                  </a:lnTo>
                  <a:lnTo>
                    <a:pt x="0" y="505968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8575">
              <a:solidFill>
                <a:srgbClr val="00B0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294" name="Google Shape;294;p2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Automatic Generation of	Global Threshold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637540" y="966166"/>
            <a:ext cx="10988040" cy="4926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513715" lvl="0" marL="5772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AutoNum type="arabicPeriod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Select an initial estimate for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513715" lvl="0" marL="57721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AutoNum type="arabicPeriod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Segment the image using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457834" lvl="1" marL="977900" marR="358775" rtl="0" algn="l">
              <a:lnSpc>
                <a:spcPct val="101400"/>
              </a:lnSpc>
              <a:spcBef>
                <a:spcPts val="6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This will produce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two groups of	pixels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: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</a:t>
            </a:r>
            <a:r>
              <a:rPr baseline="-25000" lang="en-US" sz="2775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consisting of	all pixels with gray level value &gt; T and G</a:t>
            </a:r>
            <a:r>
              <a:rPr baseline="-25000" lang="en-US" sz="2775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with values </a:t>
            </a:r>
            <a:r>
              <a:rPr lang="en-US" sz="2800" u="none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≤</a:t>
            </a:r>
            <a:r>
              <a:rPr lang="en-US" sz="2800" u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514350" lvl="0" marL="577215" marR="43180" rtl="0" algn="l">
              <a:lnSpc>
                <a:spcPct val="112105"/>
              </a:lnSpc>
              <a:spcBef>
                <a:spcPts val="994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Compute the average gray level values </a:t>
            </a:r>
            <a:r>
              <a:rPr i="1"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aseline="-25000" i="1" lang="en-US" sz="360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800"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aseline="-25000" i="1" lang="en-US" sz="360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for the pixels in region G</a:t>
            </a:r>
            <a:r>
              <a:rPr baseline="-25000" lang="en-US" sz="360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and G</a:t>
            </a:r>
            <a:r>
              <a:rPr baseline="-25000" lang="en-US" sz="3600">
                <a:latin typeface="Bell MT"/>
                <a:ea typeface="Bell MT"/>
                <a:cs typeface="Bell MT"/>
                <a:sym typeface="Bell MT"/>
              </a:rPr>
              <a:t>2</a:t>
            </a:r>
            <a:endParaRPr baseline="-25000" sz="3600">
              <a:latin typeface="Bell MT"/>
              <a:ea typeface="Bell MT"/>
              <a:cs typeface="Bell MT"/>
              <a:sym typeface="Bell MT"/>
            </a:endParaRPr>
          </a:p>
          <a:p>
            <a:pPr indent="-457200" lvl="1" marL="977900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Compute a new threshold value: </a:t>
            </a: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T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= 0.5(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+ </a:t>
            </a:r>
            <a:r>
              <a:rPr lang="en-US" sz="2800">
                <a:latin typeface="Noto Sans Symbols"/>
                <a:ea typeface="Noto Sans Symbols"/>
                <a:cs typeface="Noto Sans Symbols"/>
                <a:sym typeface="Noto Sans Symbols"/>
              </a:rPr>
              <a:t>μ</a:t>
            </a:r>
            <a:r>
              <a:rPr baseline="-25000" lang="en-US" sz="2775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514350" lvl="0" marL="577850" marR="88265" rtl="0" algn="l">
              <a:lnSpc>
                <a:spcPct val="100000"/>
              </a:lnSpc>
              <a:spcBef>
                <a:spcPts val="68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Bell MT"/>
              <a:buAutoNum type="arabicPeriod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Repeat the Steps 2 through 4 until the difference in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successive iterations is smaller than a predefined parameter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</a:t>
            </a:r>
            <a:r>
              <a:rPr baseline="-25000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endParaRPr baseline="-25000" sz="315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296" name="Google Shape;2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0" y="914400"/>
            <a:ext cx="1572767" cy="1253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8" name="Google Shape;298;p2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9" name="Google Shape;299;p2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5" name="Google Shape;305;p2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06" name="Google Shape;306;p2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Noise in Thresholding</a:t>
            </a:r>
            <a:endParaRPr/>
          </a:p>
        </p:txBody>
      </p:sp>
      <p:pic>
        <p:nvPicPr>
          <p:cNvPr id="307" name="Google Shape;30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8896" y="1162944"/>
            <a:ext cx="7385209" cy="3942267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7"/>
          <p:cNvSpPr txBox="1"/>
          <p:nvPr/>
        </p:nvSpPr>
        <p:spPr>
          <a:xfrm>
            <a:off x="2937598" y="5316198"/>
            <a:ext cx="7391400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(a) Noiseless 8-bit image, (b) Image with additive Gaussian noise with mean=0, S.D.=10 intensity levels, (c) Image with additive Gaussian noise with mean=0, S.D.=50 intensity levels, (d)-(f) Corresponding Histograms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09" name="Google Shape;30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1084" y="4328159"/>
            <a:ext cx="1119386" cy="78373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1" name="Google Shape;311;p2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2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8" name="Google Shape;318;p2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19" name="Google Shape;319;p2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Noise in Thresholding</a:t>
            </a:r>
            <a:endParaRPr/>
          </a:p>
        </p:txBody>
      </p:sp>
      <p:sp>
        <p:nvSpPr>
          <p:cNvPr id="320" name="Google Shape;320;p28"/>
          <p:cNvSpPr txBox="1"/>
          <p:nvPr/>
        </p:nvSpPr>
        <p:spPr>
          <a:xfrm>
            <a:off x="688340" y="960289"/>
            <a:ext cx="10784840" cy="501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81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When there is no noise: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Segmentation is a trivial task as histogram consists of	two spikes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Threshold can be placed anywhere between two modes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1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Addition of	Noise: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Mean=0, SD=10: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2" marL="1212215" marR="508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Histograms modes are now broader, however, </a:t>
            </a: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their separation is large</a:t>
            </a:r>
            <a:r>
              <a:rPr lang="en-US" sz="24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enough</a:t>
            </a:r>
            <a:r>
              <a:rPr lang="en-US" sz="24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so that the depth of	the valley between them is sufficient to make the modes easy to separate.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4" lvl="2" marL="121221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Threshold placed midway between the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two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peaks would do nice job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Mean=0, SD=50: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4" lvl="2" marL="1212215" rtl="0" algn="l">
              <a:lnSpc>
                <a:spcPct val="100000"/>
              </a:lnSpc>
              <a:spcBef>
                <a:spcPts val="55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There is </a:t>
            </a:r>
            <a:r>
              <a:rPr lang="en-US" sz="24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no way to differentiate between two modes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21" name="Google Shape;321;p2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2" name="Google Shape;322;p2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3" name="Google Shape;323;p2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9" name="Google Shape;329;p2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30" name="Google Shape;330;p2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Illumination in Thresholding</a:t>
            </a:r>
            <a:endParaRPr/>
          </a:p>
        </p:txBody>
      </p:sp>
      <p:sp>
        <p:nvSpPr>
          <p:cNvPr id="331" name="Google Shape;331;p29"/>
          <p:cNvSpPr txBox="1"/>
          <p:nvPr/>
        </p:nvSpPr>
        <p:spPr>
          <a:xfrm>
            <a:off x="688340" y="1064007"/>
            <a:ext cx="10779000" cy="29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Simple Image Formation Model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an image </a:t>
            </a:r>
            <a:r>
              <a:rPr i="1" lang="en-US" sz="3200" u="none">
                <a:latin typeface="Bell MT"/>
                <a:ea typeface="Bell MT"/>
                <a:cs typeface="Bell MT"/>
                <a:sym typeface="Bell MT"/>
              </a:rPr>
              <a:t>f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(x, y) can be seen as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product of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following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5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illumination component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(x, y),	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(x,y) </a:t>
            </a:r>
            <a:r>
              <a:rPr lang="en-US" sz="2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[0,</a:t>
            </a:r>
            <a:r>
              <a:rPr lang="en-US" sz="2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∞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Amount of	illumination incident on the scene viewed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9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reflectance component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(x, y),	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(x,y) </a:t>
            </a:r>
            <a:r>
              <a:rPr lang="en-US" sz="2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∈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[0,1]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15443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206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Amount of	illumination reflected by the objects in the scene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32" name="Google Shape;332;p29"/>
          <p:cNvSpPr txBox="1"/>
          <p:nvPr/>
        </p:nvSpPr>
        <p:spPr>
          <a:xfrm>
            <a:off x="3810000" y="4114800"/>
            <a:ext cx="4343400" cy="21869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3189" rtl="0" algn="l">
              <a:lnSpc>
                <a:spcPct val="1138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51765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ln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f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76655" rtl="0" algn="l">
              <a:lnSpc>
                <a:spcPct val="100000"/>
              </a:lnSpc>
              <a:spcBef>
                <a:spcPts val="885"/>
              </a:spcBef>
              <a:spcAft>
                <a:spcPts val="0"/>
              </a:spcAft>
              <a:buNone/>
            </a:pP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ln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ln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76655" rtl="0" algn="l">
              <a:lnSpc>
                <a:spcPct val="100000"/>
              </a:lnSpc>
              <a:spcBef>
                <a:spcPts val="1235"/>
              </a:spcBef>
              <a:spcAft>
                <a:spcPts val="0"/>
              </a:spcAft>
              <a:buNone/>
            </a:pP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aseline="30000" lang="en-US" sz="2475">
                <a:latin typeface="Times New Roman"/>
                <a:ea typeface="Times New Roman"/>
                <a:cs typeface="Times New Roman"/>
                <a:sym typeface="Times New Roman"/>
              </a:rPr>
              <a:t>'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8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30000" lang="en-US" sz="2475">
                <a:latin typeface="Times New Roman"/>
                <a:ea typeface="Times New Roman"/>
                <a:cs typeface="Times New Roman"/>
                <a:sym typeface="Times New Roman"/>
              </a:rPr>
              <a:t>' 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-US" sz="285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US" sz="28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8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3" name="Google Shape;333;p2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4" name="Google Shape;334;p2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5" name="Google Shape;335;p2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1" name="Google Shape;341;p3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42" name="Google Shape;342;p3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Illumination in Thresholding</a:t>
            </a:r>
            <a:endParaRPr/>
          </a:p>
        </p:txBody>
      </p:sp>
      <p:sp>
        <p:nvSpPr>
          <p:cNvPr id="343" name="Google Shape;343;p30"/>
          <p:cNvSpPr txBox="1"/>
          <p:nvPr/>
        </p:nvSpPr>
        <p:spPr>
          <a:xfrm>
            <a:off x="305175" y="1122775"/>
            <a:ext cx="11582400" cy="51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3535" lvl="0" marL="355600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general, when only the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reflectance component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is present (and illumination is uniform), the modes in the histogram can be 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more easily separated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1351915" rtl="0" algn="l">
              <a:lnSpc>
                <a:spcPct val="107857"/>
              </a:lnSpc>
              <a:spcBef>
                <a:spcPts val="685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Note that </a:t>
            </a:r>
            <a:r>
              <a:rPr i="1"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reflectance is usually not uniform</a:t>
            </a:r>
            <a:r>
              <a:rPr i="1" lang="en-US" sz="28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as it depends	 on the 	characteristics of</a:t>
            </a:r>
            <a:r>
              <a:rPr i="1"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the imaged objects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139700" rtl="0" algn="l">
              <a:lnSpc>
                <a:spcPct val="107857"/>
              </a:lnSpc>
              <a:spcBef>
                <a:spcPts val="68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–"/>
            </a:pPr>
            <a:r>
              <a:rPr i="1"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However, </a:t>
            </a:r>
            <a:r>
              <a:rPr i="1" lang="en-US" sz="2800" u="sng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illumination can be made uniform</a:t>
            </a:r>
            <a:r>
              <a:rPr i="1" lang="en-US" sz="28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as it is characteristics of</a:t>
            </a:r>
            <a:r>
              <a:rPr i="1"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the</a:t>
            </a:r>
            <a:r>
              <a:rPr i="1" lang="en-US" sz="28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i="1" lang="en-US" sz="28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light source</a:t>
            </a:r>
            <a:endParaRPr i="1" sz="2800" u="none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139700" rtl="0" algn="l">
              <a:lnSpc>
                <a:spcPct val="107857"/>
              </a:lnSpc>
              <a:spcBef>
                <a:spcPts val="680"/>
              </a:spcBef>
              <a:spcAft>
                <a:spcPts val="0"/>
              </a:spcAft>
              <a:buNone/>
            </a:pPr>
            <a:r>
              <a:t/>
            </a:r>
            <a:endParaRPr i="1" sz="2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109854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When the varying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illumination component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is present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separation of histograms peaks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becomes much more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difficult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44" name="Google Shape;344;p3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5" name="Google Shape;345;p3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6" name="Google Shape;346;p3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2" name="Google Shape;352;p3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3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Illumination</a:t>
            </a:r>
            <a:endParaRPr/>
          </a:p>
        </p:txBody>
      </p:sp>
      <p:sp>
        <p:nvSpPr>
          <p:cNvPr id="354" name="Google Shape;354;p31"/>
          <p:cNvSpPr txBox="1"/>
          <p:nvPr/>
        </p:nvSpPr>
        <p:spPr>
          <a:xfrm>
            <a:off x="688351" y="1095275"/>
            <a:ext cx="11199300" cy="36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From probability theory: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5080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If	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random variables are independent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the 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histogram of their sum is the convolution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	respective histograms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875030" rtl="0" algn="l">
              <a:lnSpc>
                <a:spcPct val="100000"/>
              </a:lnSpc>
              <a:spcBef>
                <a:spcPts val="600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This process would make </a:t>
            </a:r>
            <a:r>
              <a:rPr lang="en-US" sz="36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illumination component</a:t>
            </a:r>
            <a:r>
              <a:rPr lang="en-US" sz="36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smear the histogram of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reflective component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55" name="Google Shape;355;p3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" name="Google Shape;356;p3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3" name="Google Shape;363;p3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64" name="Google Shape;364;p3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Illumination</a:t>
            </a:r>
            <a:endParaRPr/>
          </a:p>
        </p:txBody>
      </p:sp>
      <p:sp>
        <p:nvSpPr>
          <p:cNvPr id="365" name="Google Shape;365;p32"/>
          <p:cNvSpPr txBox="1"/>
          <p:nvPr/>
        </p:nvSpPr>
        <p:spPr>
          <a:xfrm>
            <a:off x="688340" y="1064007"/>
            <a:ext cx="239014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Explanation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66" name="Google Shape;36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81959" y="1522393"/>
            <a:ext cx="4686963" cy="185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89601" y="4330927"/>
            <a:ext cx="3575760" cy="354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2647" y="5195906"/>
            <a:ext cx="2529176" cy="357894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2"/>
          <p:cNvSpPr txBox="1"/>
          <p:nvPr/>
        </p:nvSpPr>
        <p:spPr>
          <a:xfrm>
            <a:off x="2167831" y="3815588"/>
            <a:ext cx="8265795" cy="2005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Since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i’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is independent of	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r’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we know from probability theory that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6315075" rtl="0" algn="l">
              <a:lnSpc>
                <a:spcPct val="161700"/>
              </a:lnSpc>
              <a:spcBef>
                <a:spcPts val="339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Note that when Then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70" name="Google Shape;370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72732" y="5939254"/>
            <a:ext cx="4028249" cy="350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2" name="Google Shape;372;p3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3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379" name="Google Shape;379;p33"/>
          <p:cNvGrpSpPr/>
          <p:nvPr/>
        </p:nvGrpSpPr>
        <p:grpSpPr>
          <a:xfrm>
            <a:off x="305181" y="974979"/>
            <a:ext cx="11582400" cy="750950"/>
            <a:chOff x="305181" y="974979"/>
            <a:chExt cx="11582400" cy="750950"/>
          </a:xfrm>
        </p:grpSpPr>
        <p:sp>
          <p:nvSpPr>
            <p:cNvPr id="380" name="Google Shape;380;p33"/>
            <p:cNvSpPr/>
            <p:nvPr/>
          </p:nvSpPr>
          <p:spPr>
            <a:xfrm>
              <a:off x="305181" y="974979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381" name="Google Shape;381;p3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787151" y="1388745"/>
              <a:ext cx="2227596" cy="3371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82" name="Google Shape;382;p3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 of Illumination</a:t>
            </a:r>
            <a:endParaRPr/>
          </a:p>
        </p:txBody>
      </p:sp>
      <p:sp>
        <p:nvSpPr>
          <p:cNvPr id="383" name="Google Shape;383;p33"/>
          <p:cNvSpPr txBox="1"/>
          <p:nvPr/>
        </p:nvSpPr>
        <p:spPr>
          <a:xfrm>
            <a:off x="2421302" y="1300988"/>
            <a:ext cx="979200" cy="14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87630" rtl="0" algn="l">
              <a:lnSpc>
                <a:spcPct val="100000"/>
              </a:lnSpc>
              <a:spcBef>
                <a:spcPts val="517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So that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84" name="Google Shape;38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353" y="2428411"/>
            <a:ext cx="5181278" cy="365142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3"/>
          <p:cNvSpPr txBox="1"/>
          <p:nvPr/>
        </p:nvSpPr>
        <p:spPr>
          <a:xfrm>
            <a:off x="535953" y="3154100"/>
            <a:ext cx="11199300" cy="104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0" lvl="0" marL="12700" marR="5080" rtl="0" algn="l">
              <a:lnSpc>
                <a:spcPct val="118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4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Therefore, when the illumination is uniform, the histogram is not substantially affected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574675" rtl="0" algn="l">
              <a:lnSpc>
                <a:spcPct val="100000"/>
              </a:lnSpc>
              <a:spcBef>
                <a:spcPts val="1635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With non-uniform illumination though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386" name="Google Shape;386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72697" y="4649288"/>
            <a:ext cx="2211888" cy="372509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3"/>
          <p:cNvSpPr txBox="1"/>
          <p:nvPr/>
        </p:nvSpPr>
        <p:spPr>
          <a:xfrm>
            <a:off x="2267849" y="5260939"/>
            <a:ext cx="6317615" cy="391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which results in </a:t>
            </a:r>
            <a:r>
              <a:rPr i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hist(z)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being </a:t>
            </a:r>
            <a:r>
              <a:rPr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smoothed or smeared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388" name="Google Shape;388;p3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3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0" name="Google Shape;390;p3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6" name="Google Shape;396;p34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2" name="Google Shape;402;p35"/>
          <p:cNvSpPr txBox="1"/>
          <p:nvPr>
            <p:ph idx="4294967295" type="title"/>
          </p:nvPr>
        </p:nvSpPr>
        <p:spPr>
          <a:xfrm>
            <a:off x="0" y="14547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Image Segmentation</a:t>
            </a:r>
            <a:endParaRPr sz="6000"/>
          </a:p>
        </p:txBody>
      </p:sp>
      <p:sp>
        <p:nvSpPr>
          <p:cNvPr id="403" name="Google Shape;403;p35"/>
          <p:cNvSpPr txBox="1"/>
          <p:nvPr/>
        </p:nvSpPr>
        <p:spPr>
          <a:xfrm>
            <a:off x="0" y="3131550"/>
            <a:ext cx="12192000" cy="22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0" marR="6794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– 2</a:t>
            </a:r>
            <a:endParaRPr sz="4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67945" rtl="0" algn="ctr">
              <a:lnSpc>
                <a:spcPct val="100000"/>
              </a:lnSpc>
              <a:spcBef>
                <a:spcPts val="1570"/>
              </a:spcBef>
              <a:spcAft>
                <a:spcPts val="0"/>
              </a:spcAft>
              <a:buNone/>
            </a:pPr>
            <a:r>
              <a:t/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0" rtl="0" algn="ctr">
              <a:lnSpc>
                <a:spcPct val="100000"/>
              </a:lnSpc>
              <a:spcBef>
                <a:spcPts val="1175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Adaptive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04" name="Google Shape;404;p3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p3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6" name="Google Shape;406;p3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2" name="Google Shape;412;p3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3" name="Google Shape;413;p36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Content</a:t>
            </a:r>
            <a:endParaRPr sz="4300"/>
          </a:p>
        </p:txBody>
      </p:sp>
      <p:sp>
        <p:nvSpPr>
          <p:cNvPr id="414" name="Google Shape;414;p36"/>
          <p:cNvSpPr txBox="1"/>
          <p:nvPr/>
        </p:nvSpPr>
        <p:spPr>
          <a:xfrm>
            <a:off x="305175" y="1184250"/>
            <a:ext cx="11582400" cy="41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3500">
            <a:spAutoFit/>
          </a:bodyPr>
          <a:lstStyle/>
          <a:p>
            <a:pPr indent="-342265" lvl="0" marL="3549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Various Segmentation Techniques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Thresholding based	segmentation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Region-based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27964" lvl="1" marL="1155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1" marL="115506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Region Split and merge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8600" lvl="1" marL="1155065" marR="50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Watershed Algorithm: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Segmentation by morphological watershed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15" name="Google Shape;415;p3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3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7" name="Google Shape;417;p3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3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3" name="Google Shape;423;p3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4" name="Google Shape;424;p3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Thresholding Techniques</a:t>
            </a:r>
            <a:endParaRPr/>
          </a:p>
        </p:txBody>
      </p:sp>
      <p:sp>
        <p:nvSpPr>
          <p:cNvPr id="425" name="Google Shape;425;p37"/>
          <p:cNvSpPr txBox="1"/>
          <p:nvPr/>
        </p:nvSpPr>
        <p:spPr>
          <a:xfrm>
            <a:off x="688352" y="1058675"/>
            <a:ext cx="5238000" cy="3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Global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4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Adaptive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19379" rtl="0" algn="l">
              <a:lnSpc>
                <a:spcPct val="100000"/>
              </a:lnSpc>
              <a:spcBef>
                <a:spcPts val="605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Optimal global and adaptive thresholding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426" name="Google Shape;426;p37"/>
          <p:cNvGrpSpPr/>
          <p:nvPr/>
        </p:nvGrpSpPr>
        <p:grpSpPr>
          <a:xfrm>
            <a:off x="5298947" y="1208532"/>
            <a:ext cx="6727698" cy="5068823"/>
            <a:chOff x="5298947" y="1208532"/>
            <a:chExt cx="6727698" cy="5068823"/>
          </a:xfrm>
        </p:grpSpPr>
        <p:pic>
          <p:nvPicPr>
            <p:cNvPr id="427" name="Google Shape;42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8947" y="1208532"/>
              <a:ext cx="3324593" cy="27310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8" name="Google Shape;428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86799" y="2543556"/>
              <a:ext cx="3339846" cy="37337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9" name="Google Shape;429;p3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" name="Google Shape;430;p3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3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7" name="Google Shape;437;p3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38" name="Google Shape;438;p3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Global Thresholding</a:t>
            </a:r>
            <a:endParaRPr/>
          </a:p>
        </p:txBody>
      </p:sp>
      <p:sp>
        <p:nvSpPr>
          <p:cNvPr id="439" name="Google Shape;439;p38"/>
          <p:cNvSpPr txBox="1"/>
          <p:nvPr/>
        </p:nvSpPr>
        <p:spPr>
          <a:xfrm>
            <a:off x="688340" y="986547"/>
            <a:ext cx="9822815" cy="4852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Different cases of thresholdings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5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 expression of thresholding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658870" rtl="0" algn="l">
              <a:lnSpc>
                <a:spcPct val="100000"/>
              </a:lnSpc>
              <a:spcBef>
                <a:spcPts val="1785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</a:t>
            </a:r>
            <a:r>
              <a:rPr lang="en-US" sz="3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[(</a:t>
            </a:r>
            <a:r>
              <a:rPr i="1" lang="en-US" sz="3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x,y), p(x,y), f(x,y)</a:t>
            </a:r>
            <a:r>
              <a:rPr lang="en-US" sz="36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3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04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025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y), 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local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265" lvl="0" marL="354330" marR="5080" rtl="0" algn="l">
              <a:lnSpc>
                <a:spcPct val="104375"/>
              </a:lnSpc>
              <a:spcBef>
                <a:spcPts val="355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Arial"/>
              <a:buChar char="–"/>
            </a:pP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T=T 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i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(x, y), p(x, y), f(x, y)</a:t>
            </a:r>
            <a:r>
              <a:rPr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threshold is </a:t>
            </a:r>
            <a:r>
              <a:rPr b="1" lang="en-US" sz="32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 or 	adaptive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0" name="Google Shape;440;p3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1" name="Google Shape;441;p3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2" name="Google Shape;442;p3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8" name="Google Shape;448;p3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9" name="Google Shape;449;p3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Example: </a:t>
            </a:r>
            <a:r>
              <a:rPr lang="en-US">
                <a:solidFill>
                  <a:srgbClr val="FF0000"/>
                </a:solidFill>
              </a:rPr>
              <a:t>Global Thresholding</a:t>
            </a:r>
            <a:endParaRPr/>
          </a:p>
        </p:txBody>
      </p:sp>
      <p:pic>
        <p:nvPicPr>
          <p:cNvPr id="450" name="Google Shape;45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1498853"/>
            <a:ext cx="2227313" cy="266471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8832" y="2648711"/>
            <a:ext cx="3024093" cy="242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72400" y="2953130"/>
            <a:ext cx="2048255" cy="2457449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9"/>
          <p:cNvSpPr txBox="1"/>
          <p:nvPr/>
        </p:nvSpPr>
        <p:spPr>
          <a:xfrm>
            <a:off x="1475739" y="4244284"/>
            <a:ext cx="145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54" name="Google Shape;454;p39"/>
          <p:cNvSpPr txBox="1"/>
          <p:nvPr/>
        </p:nvSpPr>
        <p:spPr>
          <a:xfrm>
            <a:off x="4381931" y="4949514"/>
            <a:ext cx="6048375" cy="1389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5400">
            <a:spAutoFit/>
          </a:bodyPr>
          <a:lstStyle/>
          <a:p>
            <a:pPr indent="0" lvl="0" marL="0" marR="435927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Histogram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1269" lvl="0" marL="2643505" marR="5080" rtl="0" algn="ctr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Result of segmentation with the threshold estimated by iteration (see next slide)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55" name="Google Shape;455;p39"/>
          <p:cNvSpPr txBox="1"/>
          <p:nvPr/>
        </p:nvSpPr>
        <p:spPr>
          <a:xfrm>
            <a:off x="3685026" y="1930450"/>
            <a:ext cx="48426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sz="24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ingerprint Image Segmentation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7" name="Google Shape;457;p3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8" name="Google Shape;458;p3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4" name="Google Shape;464;p4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5" name="Google Shape;465;p4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 of Global Thresholding</a:t>
            </a:r>
            <a:endParaRPr/>
          </a:p>
        </p:txBody>
      </p:sp>
      <p:sp>
        <p:nvSpPr>
          <p:cNvPr id="466" name="Google Shape;466;p40"/>
          <p:cNvSpPr txBox="1"/>
          <p:nvPr/>
        </p:nvSpPr>
        <p:spPr>
          <a:xfrm>
            <a:off x="305250" y="1211075"/>
            <a:ext cx="11582400" cy="25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Global thresholding works well in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controlled environments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Examples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Fingerprint segmentation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Industrial applications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467" name="Google Shape;467;p40"/>
          <p:cNvGrpSpPr/>
          <p:nvPr/>
        </p:nvGrpSpPr>
        <p:grpSpPr>
          <a:xfrm>
            <a:off x="1447800" y="4395978"/>
            <a:ext cx="3851931" cy="1842515"/>
            <a:chOff x="1447800" y="4395978"/>
            <a:chExt cx="3851931" cy="1842515"/>
          </a:xfrm>
        </p:grpSpPr>
        <p:pic>
          <p:nvPicPr>
            <p:cNvPr id="468" name="Google Shape;468;p4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47800" y="4401312"/>
              <a:ext cx="1513331" cy="18105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4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999994" y="4395978"/>
              <a:ext cx="2299737" cy="184251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70" name="Google Shape;470;p40"/>
          <p:cNvGrpSpPr/>
          <p:nvPr/>
        </p:nvGrpSpPr>
        <p:grpSpPr>
          <a:xfrm>
            <a:off x="6307835" y="4370070"/>
            <a:ext cx="4336542" cy="1878329"/>
            <a:chOff x="6307835" y="4370070"/>
            <a:chExt cx="4336542" cy="1878329"/>
          </a:xfrm>
        </p:grpSpPr>
        <p:pic>
          <p:nvPicPr>
            <p:cNvPr id="471" name="Google Shape;471;p4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285226" y="4374642"/>
              <a:ext cx="2359151" cy="1873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4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307835" y="4370070"/>
              <a:ext cx="2002523" cy="18485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3" name="Google Shape;473;p4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4" name="Google Shape;474;p4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5" name="Google Shape;475;p4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1" name="Google Shape;481;p4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2" name="Google Shape;482;p4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 of	 Global Thresholding</a:t>
            </a:r>
            <a:endParaRPr/>
          </a:p>
        </p:txBody>
      </p:sp>
      <p:sp>
        <p:nvSpPr>
          <p:cNvPr id="483" name="Google Shape;483;p41"/>
          <p:cNvSpPr txBox="1"/>
          <p:nvPr/>
        </p:nvSpPr>
        <p:spPr>
          <a:xfrm>
            <a:off x="688340" y="1058673"/>
            <a:ext cx="10703560" cy="35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943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Global thresholding works only in </a:t>
            </a: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highly controlled environments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7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5080" rtl="0" algn="l">
              <a:lnSpc>
                <a:spcPct val="100000"/>
              </a:lnSpc>
              <a:spcBef>
                <a:spcPts val="785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applications such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industrial inspection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where control of	the illumination usually is feasible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84" name="Google Shape;484;p4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4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6" name="Google Shape;486;p4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2" name="Google Shape;492;p4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3" name="Google Shape;493;p4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Limitation of	 Global Thresholding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688340" y="1064007"/>
            <a:ext cx="10218420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Noise and uneven illumination degrades the performance of global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495" name="Google Shape;495;p4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6" name="Google Shape;496;p4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7" name="Google Shape;497;p4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3" name="Google Shape;503;p4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04" name="Google Shape;504;p43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Adaptive Thresholding</a:t>
            </a:r>
            <a:endParaRPr sz="4300"/>
          </a:p>
        </p:txBody>
      </p:sp>
      <p:grpSp>
        <p:nvGrpSpPr>
          <p:cNvPr id="505" name="Google Shape;505;p43"/>
          <p:cNvGrpSpPr/>
          <p:nvPr/>
        </p:nvGrpSpPr>
        <p:grpSpPr>
          <a:xfrm>
            <a:off x="7466838" y="2020061"/>
            <a:ext cx="3986021" cy="896111"/>
            <a:chOff x="7466838" y="2020061"/>
            <a:chExt cx="3986021" cy="896111"/>
          </a:xfrm>
        </p:grpSpPr>
        <p:pic>
          <p:nvPicPr>
            <p:cNvPr id="506" name="Google Shape;506;p4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710678" y="2547365"/>
              <a:ext cx="3395471" cy="617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7" name="Google Shape;507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466838" y="2020061"/>
              <a:ext cx="3986021" cy="89611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08" name="Google Shape;508;p43"/>
          <p:cNvGrpSpPr/>
          <p:nvPr/>
        </p:nvGrpSpPr>
        <p:grpSpPr>
          <a:xfrm>
            <a:off x="1193291" y="2507742"/>
            <a:ext cx="4612385" cy="896111"/>
            <a:chOff x="1193291" y="2507742"/>
            <a:chExt cx="4612385" cy="896111"/>
          </a:xfrm>
        </p:grpSpPr>
        <p:pic>
          <p:nvPicPr>
            <p:cNvPr id="509" name="Google Shape;509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193291" y="2507742"/>
              <a:ext cx="4612385" cy="89611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4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437132" y="3035045"/>
              <a:ext cx="4124705" cy="617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11" name="Google Shape;511;p43"/>
          <p:cNvSpPr txBox="1"/>
          <p:nvPr/>
        </p:nvSpPr>
        <p:spPr>
          <a:xfrm>
            <a:off x="688340" y="1058673"/>
            <a:ext cx="10735945" cy="4116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As illustrated: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imaging factors such as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uneven illumination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can transform a perfectly segmentable histogram into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histogram that can’t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be partitioned effectively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by a single global threshold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28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An </a:t>
            </a:r>
            <a:r>
              <a:rPr lang="en-US" sz="3600" u="sng">
                <a:latin typeface="Bell MT"/>
                <a:ea typeface="Bell MT"/>
                <a:cs typeface="Bell MT"/>
                <a:sym typeface="Bell MT"/>
              </a:rPr>
              <a:t>approach for handling</a:t>
            </a:r>
            <a:r>
              <a:rPr lang="en-US" sz="3600" u="none">
                <a:latin typeface="Bell MT"/>
                <a:ea typeface="Bell MT"/>
                <a:cs typeface="Bell MT"/>
                <a:sym typeface="Bell MT"/>
              </a:rPr>
              <a:t> such a situation is as follows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4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to </a:t>
            </a:r>
            <a:r>
              <a:rPr i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divide the original image into sub-images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and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utilize a </a:t>
            </a:r>
            <a:r>
              <a:rPr i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different threshold to segment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each image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12" name="Google Shape;512;p4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3" name="Google Shape;513;p4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4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20" name="Google Shape;520;p44"/>
          <p:cNvGrpSpPr/>
          <p:nvPr/>
        </p:nvGrpSpPr>
        <p:grpSpPr>
          <a:xfrm>
            <a:off x="305181" y="900683"/>
            <a:ext cx="11582400" cy="1117091"/>
            <a:chOff x="305181" y="900683"/>
            <a:chExt cx="11582400" cy="1117091"/>
          </a:xfrm>
        </p:grpSpPr>
        <p:sp>
          <p:nvSpPr>
            <p:cNvPr id="521" name="Google Shape;521;p44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22" name="Google Shape;522;p4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927598" y="900683"/>
              <a:ext cx="3435857" cy="111709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23" name="Google Shape;523;p4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Adaptive Thresholding</a:t>
            </a:r>
            <a:endParaRPr/>
          </a:p>
        </p:txBody>
      </p:sp>
      <p:sp>
        <p:nvSpPr>
          <p:cNvPr id="524" name="Google Shape;524;p44"/>
          <p:cNvSpPr txBox="1"/>
          <p:nvPr/>
        </p:nvSpPr>
        <p:spPr>
          <a:xfrm>
            <a:off x="688340" y="938159"/>
            <a:ext cx="10640695" cy="4843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74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Adaptive with respect to pixel location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650" marR="5080" rtl="0" algn="l">
              <a:lnSpc>
                <a:spcPct val="108055"/>
              </a:lnSpc>
              <a:spcBef>
                <a:spcPts val="95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Since the threshold is related to the location of	pixel, this type of	thresholding is usually referred as adaptive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67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b="1" lang="en-US" sz="4000">
                <a:latin typeface="Bell MT"/>
                <a:ea typeface="Bell MT"/>
                <a:cs typeface="Bell MT"/>
                <a:sym typeface="Bell MT"/>
              </a:rPr>
              <a:t>Two key issues: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459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How to perform subdivision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43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–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How to estimate local threshold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25" name="Google Shape;525;p4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6" name="Google Shape;526;p4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7" name="Google Shape;527;p4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33" name="Google Shape;533;p45"/>
          <p:cNvGrpSpPr/>
          <p:nvPr/>
        </p:nvGrpSpPr>
        <p:grpSpPr>
          <a:xfrm>
            <a:off x="305181" y="974978"/>
            <a:ext cx="11582400" cy="2294001"/>
            <a:chOff x="305181" y="974978"/>
            <a:chExt cx="11582400" cy="2294001"/>
          </a:xfrm>
        </p:grpSpPr>
        <p:sp>
          <p:nvSpPr>
            <p:cNvPr id="534" name="Google Shape;534;p45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35" name="Google Shape;535;p4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62571" y="982979"/>
              <a:ext cx="2819400" cy="228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6" name="Google Shape;536;p45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Illustrative example</a:t>
            </a:r>
            <a:endParaRPr sz="4300"/>
          </a:p>
        </p:txBody>
      </p:sp>
      <p:pic>
        <p:nvPicPr>
          <p:cNvPr id="537" name="Google Shape;53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3340" y="1055370"/>
            <a:ext cx="2819007" cy="2286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8" name="Google Shape;538;p45"/>
          <p:cNvGrpSpPr/>
          <p:nvPr/>
        </p:nvGrpSpPr>
        <p:grpSpPr>
          <a:xfrm>
            <a:off x="2340101" y="3757422"/>
            <a:ext cx="2847594" cy="2276855"/>
            <a:chOff x="2340101" y="3757422"/>
            <a:chExt cx="2847594" cy="2276855"/>
          </a:xfrm>
        </p:grpSpPr>
        <p:pic>
          <p:nvPicPr>
            <p:cNvPr id="539" name="Google Shape;539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40101" y="3757422"/>
              <a:ext cx="2847594" cy="2276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5"/>
            <p:cNvSpPr/>
            <p:nvPr/>
          </p:nvSpPr>
          <p:spPr>
            <a:xfrm>
              <a:off x="3065525" y="3793998"/>
              <a:ext cx="693420" cy="1099185"/>
            </a:xfrm>
            <a:custGeom>
              <a:rect b="b" l="l" r="r" t="t"/>
              <a:pathLst>
                <a:path extrusionOk="0" h="1099185" w="693420">
                  <a:moveTo>
                    <a:pt x="0" y="0"/>
                  </a:moveTo>
                  <a:lnTo>
                    <a:pt x="693420" y="0"/>
                  </a:lnTo>
                  <a:lnTo>
                    <a:pt x="693420" y="1098803"/>
                  </a:lnTo>
                  <a:lnTo>
                    <a:pt x="0" y="10988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grpSp>
        <p:nvGrpSpPr>
          <p:cNvPr id="541" name="Google Shape;541;p45"/>
          <p:cNvGrpSpPr/>
          <p:nvPr/>
        </p:nvGrpSpPr>
        <p:grpSpPr>
          <a:xfrm>
            <a:off x="7050023" y="3757422"/>
            <a:ext cx="2819777" cy="2276855"/>
            <a:chOff x="7050023" y="3757422"/>
            <a:chExt cx="2819777" cy="2276855"/>
          </a:xfrm>
        </p:grpSpPr>
        <p:pic>
          <p:nvPicPr>
            <p:cNvPr id="542" name="Google Shape;542;p4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7050023" y="3757422"/>
              <a:ext cx="2819777" cy="22768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3" name="Google Shape;543;p45"/>
            <p:cNvSpPr/>
            <p:nvPr/>
          </p:nvSpPr>
          <p:spPr>
            <a:xfrm>
              <a:off x="7775447" y="3793998"/>
              <a:ext cx="694690" cy="1099185"/>
            </a:xfrm>
            <a:custGeom>
              <a:rect b="b" l="l" r="r" t="t"/>
              <a:pathLst>
                <a:path extrusionOk="0" h="1099185" w="694690">
                  <a:moveTo>
                    <a:pt x="0" y="0"/>
                  </a:moveTo>
                  <a:lnTo>
                    <a:pt x="694181" y="0"/>
                  </a:lnTo>
                  <a:lnTo>
                    <a:pt x="694181" y="1098803"/>
                  </a:lnTo>
                  <a:lnTo>
                    <a:pt x="0" y="1098803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44" name="Google Shape;544;p45"/>
          <p:cNvSpPr txBox="1"/>
          <p:nvPr/>
        </p:nvSpPr>
        <p:spPr>
          <a:xfrm>
            <a:off x="2888616" y="3301491"/>
            <a:ext cx="137350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Original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5"/>
          <p:cNvSpPr txBox="1"/>
          <p:nvPr/>
        </p:nvSpPr>
        <p:spPr>
          <a:xfrm>
            <a:off x="6760414" y="3301491"/>
            <a:ext cx="26797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Result of global thresholding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5"/>
          <p:cNvSpPr txBox="1"/>
          <p:nvPr/>
        </p:nvSpPr>
        <p:spPr>
          <a:xfrm>
            <a:off x="1701039" y="6113043"/>
            <a:ext cx="41433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Image subdivided into individual sub-images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5"/>
          <p:cNvSpPr txBox="1"/>
          <p:nvPr/>
        </p:nvSpPr>
        <p:spPr>
          <a:xfrm>
            <a:off x="6978041" y="6076467"/>
            <a:ext cx="29190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Result of adaptive thresholding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9" name="Google Shape;549;p4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0" name="Google Shape;550;p4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6" name="Google Shape;556;p4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7" name="Google Shape;557;p4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Illustrative Example</a:t>
            </a:r>
            <a:endParaRPr/>
          </a:p>
        </p:txBody>
      </p:sp>
      <p:sp>
        <p:nvSpPr>
          <p:cNvPr id="558" name="Google Shape;558;p46"/>
          <p:cNvSpPr txBox="1"/>
          <p:nvPr/>
        </p:nvSpPr>
        <p:spPr>
          <a:xfrm>
            <a:off x="305178" y="5544475"/>
            <a:ext cx="6573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How to solve this problem?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grpSp>
        <p:nvGrpSpPr>
          <p:cNvPr id="559" name="Google Shape;559;p46"/>
          <p:cNvGrpSpPr/>
          <p:nvPr/>
        </p:nvGrpSpPr>
        <p:grpSpPr>
          <a:xfrm>
            <a:off x="1787651" y="1219200"/>
            <a:ext cx="7495794" cy="3887722"/>
            <a:chOff x="1787651" y="1219200"/>
            <a:chExt cx="7495794" cy="3887722"/>
          </a:xfrm>
        </p:grpSpPr>
        <p:pic>
          <p:nvPicPr>
            <p:cNvPr id="560" name="Google Shape;560;p4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99781" y="1219212"/>
              <a:ext cx="5036120" cy="3887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4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45464" y="3252977"/>
              <a:ext cx="2237981" cy="18112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089648" y="1225296"/>
              <a:ext cx="2181605" cy="178154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6"/>
            <p:cNvSpPr/>
            <p:nvPr/>
          </p:nvSpPr>
          <p:spPr>
            <a:xfrm>
              <a:off x="6607302" y="2514599"/>
              <a:ext cx="459105" cy="2346325"/>
            </a:xfrm>
            <a:custGeom>
              <a:rect b="b" l="l" r="r" t="t"/>
              <a:pathLst>
                <a:path extrusionOk="0" h="2346325" w="459104">
                  <a:moveTo>
                    <a:pt x="435102" y="2135886"/>
                  </a:moveTo>
                  <a:lnTo>
                    <a:pt x="326377" y="1925574"/>
                  </a:lnTo>
                  <a:lnTo>
                    <a:pt x="326377" y="2030730"/>
                  </a:lnTo>
                  <a:lnTo>
                    <a:pt x="0" y="2030730"/>
                  </a:lnTo>
                  <a:lnTo>
                    <a:pt x="0" y="2241042"/>
                  </a:lnTo>
                  <a:lnTo>
                    <a:pt x="326377" y="2241042"/>
                  </a:lnTo>
                  <a:lnTo>
                    <a:pt x="326377" y="2346198"/>
                  </a:lnTo>
                  <a:lnTo>
                    <a:pt x="435102" y="2135886"/>
                  </a:lnTo>
                  <a:close/>
                </a:path>
                <a:path extrusionOk="0" h="2346325" w="459104">
                  <a:moveTo>
                    <a:pt x="458724" y="210312"/>
                  </a:moveTo>
                  <a:lnTo>
                    <a:pt x="349999" y="0"/>
                  </a:lnTo>
                  <a:lnTo>
                    <a:pt x="349999" y="105156"/>
                  </a:lnTo>
                  <a:lnTo>
                    <a:pt x="23622" y="105156"/>
                  </a:lnTo>
                  <a:lnTo>
                    <a:pt x="23622" y="315468"/>
                  </a:lnTo>
                  <a:lnTo>
                    <a:pt x="349999" y="315468"/>
                  </a:lnTo>
                  <a:lnTo>
                    <a:pt x="349999" y="420624"/>
                  </a:lnTo>
                  <a:lnTo>
                    <a:pt x="458724" y="210312"/>
                  </a:lnTo>
                  <a:close/>
                </a:path>
              </a:pathLst>
            </a:custGeom>
            <a:solidFill>
              <a:srgbClr val="4F81BD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1787651" y="1219200"/>
              <a:ext cx="2377440" cy="3834129"/>
            </a:xfrm>
            <a:custGeom>
              <a:rect b="b" l="l" r="r" t="t"/>
              <a:pathLst>
                <a:path extrusionOk="0" h="3834129" w="2377440">
                  <a:moveTo>
                    <a:pt x="0" y="0"/>
                  </a:moveTo>
                  <a:lnTo>
                    <a:pt x="2377440" y="0"/>
                  </a:lnTo>
                  <a:lnTo>
                    <a:pt x="2377440" y="3833622"/>
                  </a:lnTo>
                  <a:lnTo>
                    <a:pt x="0" y="383362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65" name="Google Shape;565;p46"/>
          <p:cNvSpPr txBox="1"/>
          <p:nvPr/>
        </p:nvSpPr>
        <p:spPr>
          <a:xfrm>
            <a:off x="9321638" y="4379384"/>
            <a:ext cx="116014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40957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Bad segmentation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46"/>
          <p:cNvSpPr txBox="1"/>
          <p:nvPr/>
        </p:nvSpPr>
        <p:spPr>
          <a:xfrm>
            <a:off x="9368636" y="1312111"/>
            <a:ext cx="1160145" cy="5137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34163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Good segmentation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8" name="Google Shape;568;p4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9" name="Google Shape;569;p4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5" name="Google Shape;575;p4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6" name="Google Shape;576;p47"/>
          <p:cNvSpPr txBox="1"/>
          <p:nvPr>
            <p:ph idx="4294967295" type="title"/>
          </p:nvPr>
        </p:nvSpPr>
        <p:spPr>
          <a:xfrm>
            <a:off x="0" y="153150"/>
            <a:ext cx="12192000" cy="6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/>
              <a:t>Illustrative Example</a:t>
            </a:r>
            <a:endParaRPr sz="4400"/>
          </a:p>
        </p:txBody>
      </p:sp>
      <p:grpSp>
        <p:nvGrpSpPr>
          <p:cNvPr id="577" name="Google Shape;577;p47"/>
          <p:cNvGrpSpPr/>
          <p:nvPr/>
        </p:nvGrpSpPr>
        <p:grpSpPr>
          <a:xfrm>
            <a:off x="1469248" y="1034796"/>
            <a:ext cx="8268336" cy="4158233"/>
            <a:chOff x="1469248" y="1034796"/>
            <a:chExt cx="8268336" cy="4158233"/>
          </a:xfrm>
        </p:grpSpPr>
        <p:pic>
          <p:nvPicPr>
            <p:cNvPr id="578" name="Google Shape;578;p4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469248" y="3048012"/>
              <a:ext cx="8268336" cy="214501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9" name="Google Shape;579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554479" y="1034796"/>
              <a:ext cx="2620517" cy="210310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0" name="Google Shape;580;p47"/>
          <p:cNvGrpSpPr/>
          <p:nvPr/>
        </p:nvGrpSpPr>
        <p:grpSpPr>
          <a:xfrm>
            <a:off x="5324856" y="1388364"/>
            <a:ext cx="5345428" cy="1188656"/>
            <a:chOff x="5324856" y="1388364"/>
            <a:chExt cx="5345428" cy="1188656"/>
          </a:xfrm>
        </p:grpSpPr>
        <p:sp>
          <p:nvSpPr>
            <p:cNvPr id="581" name="Google Shape;581;p47"/>
            <p:cNvSpPr/>
            <p:nvPr/>
          </p:nvSpPr>
          <p:spPr>
            <a:xfrm>
              <a:off x="5639740" y="2231580"/>
              <a:ext cx="3664585" cy="345440"/>
            </a:xfrm>
            <a:custGeom>
              <a:rect b="b" l="l" r="r" t="t"/>
              <a:pathLst>
                <a:path extrusionOk="0" h="345439" w="3664584">
                  <a:moveTo>
                    <a:pt x="979932" y="0"/>
                  </a:moveTo>
                  <a:lnTo>
                    <a:pt x="0" y="0"/>
                  </a:lnTo>
                  <a:lnTo>
                    <a:pt x="0" y="345186"/>
                  </a:lnTo>
                  <a:lnTo>
                    <a:pt x="979932" y="345186"/>
                  </a:lnTo>
                  <a:lnTo>
                    <a:pt x="979932" y="0"/>
                  </a:lnTo>
                  <a:close/>
                </a:path>
                <a:path extrusionOk="0" h="345439" w="3664584">
                  <a:moveTo>
                    <a:pt x="3664458" y="0"/>
                  </a:moveTo>
                  <a:lnTo>
                    <a:pt x="1132332" y="0"/>
                  </a:lnTo>
                  <a:lnTo>
                    <a:pt x="1132332" y="345186"/>
                  </a:lnTo>
                  <a:lnTo>
                    <a:pt x="3664458" y="345186"/>
                  </a:lnTo>
                  <a:lnTo>
                    <a:pt x="3664458" y="0"/>
                  </a:lnTo>
                  <a:close/>
                </a:path>
              </a:pathLst>
            </a:custGeom>
            <a:solidFill>
              <a:srgbClr val="FFFF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582" name="Google Shape;582;p4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324856" y="1498092"/>
              <a:ext cx="553211" cy="67436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3" name="Google Shape;583;p4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5604509" y="1388364"/>
              <a:ext cx="5065775" cy="8961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84" name="Google Shape;584;p47"/>
          <p:cNvSpPr txBox="1"/>
          <p:nvPr/>
        </p:nvSpPr>
        <p:spPr>
          <a:xfrm>
            <a:off x="5500038" y="1468748"/>
            <a:ext cx="4904105" cy="10960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How to solve this problem?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139700" rtl="0" algn="l">
              <a:lnSpc>
                <a:spcPct val="100000"/>
              </a:lnSpc>
              <a:spcBef>
                <a:spcPts val="1710"/>
              </a:spcBef>
              <a:spcAft>
                <a:spcPts val="0"/>
              </a:spcAft>
              <a:buNone/>
            </a:pP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Answer: further subdivision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5" name="Google Shape;585;p47"/>
          <p:cNvSpPr txBox="1"/>
          <p:nvPr/>
        </p:nvSpPr>
        <p:spPr>
          <a:xfrm>
            <a:off x="1428478" y="5232875"/>
            <a:ext cx="8924400" cy="10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What should be the depth of sub-division?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680"/>
              </a:spcBef>
              <a:spcAft>
                <a:spcPts val="0"/>
              </a:spcAft>
              <a:buSzPts val="2800"/>
              <a:buFont typeface="Noto Sans Symbols"/>
              <a:buChar char="▪"/>
            </a:pPr>
            <a:r>
              <a:rPr i="1" lang="en-US" sz="2800">
                <a:latin typeface="Bell MT"/>
                <a:ea typeface="Bell MT"/>
                <a:cs typeface="Bell MT"/>
                <a:sym typeface="Bell MT"/>
              </a:rPr>
              <a:t>This depends on application/problem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586" name="Google Shape;586;p4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7" name="Google Shape;587;p4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8" name="Google Shape;588;p4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4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594" name="Google Shape;594;p48"/>
          <p:cNvGrpSpPr/>
          <p:nvPr/>
        </p:nvGrpSpPr>
        <p:grpSpPr>
          <a:xfrm>
            <a:off x="3600259" y="223837"/>
            <a:ext cx="6021705" cy="4581525"/>
            <a:chOff x="3600259" y="223837"/>
            <a:chExt cx="6021705" cy="4581525"/>
          </a:xfrm>
        </p:grpSpPr>
        <p:pic>
          <p:nvPicPr>
            <p:cNvPr id="595" name="Google Shape;595;p4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620261" y="236219"/>
              <a:ext cx="5974079" cy="45567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6" name="Google Shape;596;p48"/>
            <p:cNvSpPr/>
            <p:nvPr/>
          </p:nvSpPr>
          <p:spPr>
            <a:xfrm>
              <a:off x="3600259" y="223837"/>
              <a:ext cx="6021705" cy="4581525"/>
            </a:xfrm>
            <a:custGeom>
              <a:rect b="b" l="l" r="r" t="t"/>
              <a:pathLst>
                <a:path extrusionOk="0" h="4581525" w="6021705">
                  <a:moveTo>
                    <a:pt x="0" y="0"/>
                  </a:moveTo>
                  <a:lnTo>
                    <a:pt x="6021705" y="0"/>
                  </a:lnTo>
                  <a:lnTo>
                    <a:pt x="6021705" y="4581525"/>
                  </a:lnTo>
                  <a:lnTo>
                    <a:pt x="0" y="4581525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9525">
              <a:solidFill>
                <a:srgbClr val="558E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597" name="Google Shape;597;p48"/>
          <p:cNvSpPr txBox="1"/>
          <p:nvPr/>
        </p:nvSpPr>
        <p:spPr>
          <a:xfrm>
            <a:off x="381381" y="4858130"/>
            <a:ext cx="11353800" cy="14160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0475">
            <a:spAutoFit/>
          </a:bodyPr>
          <a:lstStyle/>
          <a:p>
            <a:pPr indent="0" lvl="0" marL="90805" marR="441706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(a) Properly and improperly segmented sub-images from the input image, (b)-(c) Corresponding histograms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17194" lvl="0" marL="508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Both" startAt="4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Further sub-division of the improperly segmented sub-image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62914" lvl="0" marL="5537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Both" startAt="4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Histogram of small sub-image ,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74980" lvl="0" marL="565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AutoNum type="alphaLcParenBoth" startAt="4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Result of adaptively segmenting (d)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98" name="Google Shape;598;p48"/>
          <p:cNvGraphicFramePr/>
          <p:nvPr/>
        </p:nvGraphicFramePr>
        <p:xfrm>
          <a:off x="9683794" y="3238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{4C20DC10-4680-4BC0-AAF8-EFC72FA0F655}</a:tableStyleId>
              </a:tblPr>
              <a:tblGrid>
                <a:gridCol w="452750"/>
                <a:gridCol w="360050"/>
                <a:gridCol w="546100"/>
              </a:tblGrid>
              <a:tr h="518150">
                <a:tc gridSpan="2"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97175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518150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  <a:tr h="517525">
                <a:tc>
                  <a:txBody>
                    <a:bodyPr/>
                    <a:lstStyle/>
                    <a:p>
                      <a:pPr indent="0" lvl="0" marL="13652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8445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800" u="none" cap="none" strike="noStrik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22850" marB="0" marR="0" marL="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F81BD"/>
                    </a:solidFill>
                  </a:tcPr>
                </a:tc>
              </a:tr>
            </a:tbl>
          </a:graphicData>
        </a:graphic>
      </p:graphicFrame>
      <p:pic>
        <p:nvPicPr>
          <p:cNvPr id="599" name="Google Shape;599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3400" y="749045"/>
            <a:ext cx="2848355" cy="227685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8"/>
          <p:cNvSpPr txBox="1"/>
          <p:nvPr>
            <p:ph idx="4294967295" type="title"/>
          </p:nvPr>
        </p:nvSpPr>
        <p:spPr>
          <a:xfrm>
            <a:off x="1143000" y="381750"/>
            <a:ext cx="1573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Input Image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4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2" name="Google Shape;602;p4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3" name="Google Shape;603;p4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4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9" name="Google Shape;609;p4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10" name="Google Shape;610;p4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grpSp>
        <p:nvGrpSpPr>
          <p:cNvPr id="611" name="Google Shape;611;p49"/>
          <p:cNvGrpSpPr/>
          <p:nvPr/>
        </p:nvGrpSpPr>
        <p:grpSpPr>
          <a:xfrm>
            <a:off x="5999988" y="2210561"/>
            <a:ext cx="4914137" cy="758190"/>
            <a:chOff x="5999988" y="2210561"/>
            <a:chExt cx="4914137" cy="758190"/>
          </a:xfrm>
        </p:grpSpPr>
        <p:pic>
          <p:nvPicPr>
            <p:cNvPr id="612" name="Google Shape;612;p4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205728" y="2655569"/>
              <a:ext cx="4502657" cy="541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3" name="Google Shape;61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99988" y="2210561"/>
              <a:ext cx="3031997" cy="758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4" name="Google Shape;614;p4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82405" y="2210562"/>
              <a:ext cx="567688" cy="75818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15" name="Google Shape;615;p4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700516" y="2210561"/>
              <a:ext cx="2213609" cy="7581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6" name="Google Shape;616;p49"/>
          <p:cNvSpPr txBox="1"/>
          <p:nvPr/>
        </p:nvSpPr>
        <p:spPr>
          <a:xfrm>
            <a:off x="688340" y="987045"/>
            <a:ext cx="10671175" cy="2138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Optimality criterion is: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None/>
            </a:pPr>
            <a:r>
              <a:rPr lang="en-US" sz="27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minimum average segmentation error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5080" rtl="0" algn="l">
              <a:lnSpc>
                <a:spcPct val="100000"/>
              </a:lnSpc>
              <a:spcBef>
                <a:spcPts val="2375"/>
              </a:spcBef>
              <a:spcAft>
                <a:spcPts val="0"/>
              </a:spcAft>
              <a:buClr>
                <a:srgbClr val="FF0000"/>
              </a:buClr>
              <a:buSzPts val="2150"/>
              <a:buFont typeface="Noto Sans Symbols"/>
              <a:buChar char="▪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Suppose that an image contains only </a:t>
            </a:r>
            <a:r>
              <a:rPr lang="en-US" sz="27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principal gray-level regions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, and random quantities </a:t>
            </a:r>
            <a:r>
              <a:rPr i="1" lang="en-US" sz="27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z </a:t>
            </a:r>
            <a:r>
              <a:rPr lang="en-US" sz="2700" u="none">
                <a:latin typeface="Bell MT"/>
                <a:ea typeface="Bell MT"/>
                <a:cs typeface="Bell MT"/>
                <a:sym typeface="Bell MT"/>
              </a:rPr>
              <a:t>denote gray-level values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17" name="Google Shape;617;p49"/>
          <p:cNvSpPr txBox="1"/>
          <p:nvPr/>
        </p:nvSpPr>
        <p:spPr>
          <a:xfrm>
            <a:off x="2913633" y="6043913"/>
            <a:ext cx="633603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Gray-level probability density functions of two regions in an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618" name="Google Shape;618;p4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76612" y="3232404"/>
            <a:ext cx="5338559" cy="2863595"/>
          </a:xfrm>
          <a:prstGeom prst="rect">
            <a:avLst/>
          </a:prstGeom>
          <a:noFill/>
          <a:ln>
            <a:noFill/>
          </a:ln>
        </p:spPr>
      </p:pic>
      <p:sp>
        <p:nvSpPr>
          <p:cNvPr id="619" name="Google Shape;619;p4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0" name="Google Shape;620;p4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1" name="Google Shape;621;p4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7" name="Google Shape;627;p5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28" name="Google Shape;628;p5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sp>
        <p:nvSpPr>
          <p:cNvPr id="629" name="Google Shape;629;p50"/>
          <p:cNvSpPr txBox="1"/>
          <p:nvPr/>
        </p:nvSpPr>
        <p:spPr>
          <a:xfrm>
            <a:off x="688352" y="1064000"/>
            <a:ext cx="107727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So, the overall gray-level variation in the image is: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0" name="Google Shape;630;p50"/>
          <p:cNvSpPr txBox="1"/>
          <p:nvPr/>
        </p:nvSpPr>
        <p:spPr>
          <a:xfrm>
            <a:off x="662646" y="3990288"/>
            <a:ext cx="1052893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634" lvl="0" marL="38100" marR="304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where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2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are the probability of	occurrence of	object and background pixels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31" name="Google Shape;631;p50"/>
          <p:cNvSpPr txBox="1"/>
          <p:nvPr/>
        </p:nvSpPr>
        <p:spPr>
          <a:xfrm>
            <a:off x="3352800" y="2075688"/>
            <a:ext cx="4586605" cy="138811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635" rtl="0" algn="l">
              <a:lnSpc>
                <a:spcPct val="1190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3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z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36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9850" rtl="0" algn="l">
              <a:lnSpc>
                <a:spcPct val="100000"/>
              </a:lnSpc>
              <a:spcBef>
                <a:spcPts val="1165"/>
              </a:spcBef>
              <a:spcAft>
                <a:spcPts val="0"/>
              </a:spcAft>
              <a:buNone/>
            </a:pP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and	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36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36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2	</a:t>
            </a:r>
            <a:r>
              <a:rPr lang="en-US" sz="36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3650">
                <a:latin typeface="Times New Roman"/>
                <a:ea typeface="Times New Roman"/>
                <a:cs typeface="Times New Roman"/>
                <a:sym typeface="Times New Roman"/>
              </a:rPr>
              <a:t> 1</a:t>
            </a:r>
            <a:endParaRPr sz="36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2" name="Google Shape;632;p5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3" name="Google Shape;633;p5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5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5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0" name="Google Shape;640;p5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41" name="Google Shape;641;p5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sp>
        <p:nvSpPr>
          <p:cNvPr id="642" name="Google Shape;642;p51"/>
          <p:cNvSpPr txBox="1"/>
          <p:nvPr/>
        </p:nvSpPr>
        <p:spPr>
          <a:xfrm>
            <a:off x="675640" y="961905"/>
            <a:ext cx="10708500" cy="3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676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Objective: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67715" marR="177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select the value of	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that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minimizes the average error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in making the decisions that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 given pixel belongs to foreground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(object)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or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background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67665" rtl="0" algn="l">
              <a:lnSpc>
                <a:spcPct val="100000"/>
              </a:lnSpc>
              <a:spcBef>
                <a:spcPts val="534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Probability of	erroneous classification:</a:t>
            </a:r>
            <a:endParaRPr sz="14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3" name="Google Shape;64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8600" y="3810000"/>
            <a:ext cx="4282842" cy="2311145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5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5" name="Google Shape;645;p5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46" name="Google Shape;646;p5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47" name="Google Shape;64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7625" y="4510676"/>
            <a:ext cx="4941325" cy="100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3" name="Google Shape;653;p5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4" name="Google Shape;654;p5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sp>
        <p:nvSpPr>
          <p:cNvPr id="655" name="Google Shape;655;p52"/>
          <p:cNvSpPr txBox="1"/>
          <p:nvPr/>
        </p:nvSpPr>
        <p:spPr>
          <a:xfrm>
            <a:off x="688340" y="1064007"/>
            <a:ext cx="507238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Overall probability of	error: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6" name="Google Shape;656;p52"/>
          <p:cNvSpPr txBox="1"/>
          <p:nvPr/>
        </p:nvSpPr>
        <p:spPr>
          <a:xfrm>
            <a:off x="688351" y="2234450"/>
            <a:ext cx="112638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Differentiate the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with respect to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and equating the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7" name="Google Shape;657;p52"/>
          <p:cNvSpPr txBox="1"/>
          <p:nvPr/>
        </p:nvSpPr>
        <p:spPr>
          <a:xfrm>
            <a:off x="1031646" y="2722220"/>
            <a:ext cx="1815464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result to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0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8" name="Google Shape;658;p52"/>
          <p:cNvSpPr txBox="1"/>
          <p:nvPr/>
        </p:nvSpPr>
        <p:spPr>
          <a:xfrm>
            <a:off x="662590" y="3809426"/>
            <a:ext cx="10770900" cy="20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81000" marR="54991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Then optimum threshold can be found by solving the above equation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803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If	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= P</a:t>
            </a:r>
            <a:r>
              <a:rPr baseline="-25000" i="1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then the optimum threshold is where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(z)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i="1" lang="en-US" sz="3150"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(z)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381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intersect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59" name="Google Shape;659;p52"/>
          <p:cNvSpPr txBox="1"/>
          <p:nvPr/>
        </p:nvSpPr>
        <p:spPr>
          <a:xfrm>
            <a:off x="6248400" y="1208525"/>
            <a:ext cx="4643700" cy="4560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68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+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0" name="Google Shape;660;p52"/>
          <p:cNvSpPr txBox="1"/>
          <p:nvPr/>
        </p:nvSpPr>
        <p:spPr>
          <a:xfrm>
            <a:off x="4165849" y="3007625"/>
            <a:ext cx="3302700" cy="4560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685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9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2550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950">
                <a:latin typeface="Times New Roman"/>
                <a:ea typeface="Times New Roman"/>
                <a:cs typeface="Times New Roman"/>
                <a:sym typeface="Times New Roman"/>
              </a:rPr>
              <a:t>T </a:t>
            </a:r>
            <a:r>
              <a:rPr lang="en-US" sz="295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29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1" name="Google Shape;66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38716" y="5574029"/>
            <a:ext cx="2057399" cy="1104137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3" name="Google Shape;663;p5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64" name="Google Shape;664;p5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0" name="Google Shape;670;p5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71" name="Google Shape;671;p5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sp>
        <p:nvSpPr>
          <p:cNvPr id="672" name="Google Shape;672;p53"/>
          <p:cNvSpPr txBox="1"/>
          <p:nvPr/>
        </p:nvSpPr>
        <p:spPr>
          <a:xfrm>
            <a:off x="305165" y="1046430"/>
            <a:ext cx="10526400" cy="37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Computation of	Analytical Expression for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obtaining the analytical expression for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requires that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we know the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equations for the two PDFs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43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Assume them to follow	the most usual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Gaussian density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7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Then expression for </a:t>
            </a:r>
            <a:r>
              <a:rPr i="1" lang="en-US" sz="3200">
                <a:latin typeface="Bell MT"/>
                <a:ea typeface="Bell MT"/>
                <a:cs typeface="Bell MT"/>
                <a:sym typeface="Bell MT"/>
              </a:rPr>
              <a:t>p(z)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can be given as: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73" name="Google Shape;673;p5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4" name="Google Shape;674;p5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5" name="Google Shape;675;p5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76" name="Google Shape;676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2850" y="4908975"/>
            <a:ext cx="6678450" cy="112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5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2" name="Google Shape;682;p5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3" name="Google Shape;683;p5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Optimal Global and Adaptive Thresholding</a:t>
            </a:r>
            <a:endParaRPr/>
          </a:p>
        </p:txBody>
      </p:sp>
      <p:sp>
        <p:nvSpPr>
          <p:cNvPr id="684" name="Google Shape;684;p54"/>
          <p:cNvSpPr txBox="1"/>
          <p:nvPr/>
        </p:nvSpPr>
        <p:spPr>
          <a:xfrm>
            <a:off x="688352" y="970325"/>
            <a:ext cx="11144400" cy="103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Under this conditions, if	the </a:t>
            </a:r>
            <a:r>
              <a:rPr b="1"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two variances are equal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an optimum threshold using the above procedures is: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85" name="Google Shape;685;p54"/>
          <p:cNvSpPr/>
          <p:nvPr/>
        </p:nvSpPr>
        <p:spPr>
          <a:xfrm>
            <a:off x="7594092" y="4091941"/>
            <a:ext cx="3545840" cy="19050"/>
          </a:xfrm>
          <a:custGeom>
            <a:rect b="b" l="l" r="r" t="t"/>
            <a:pathLst>
              <a:path extrusionOk="0" h="19050" w="3545840">
                <a:moveTo>
                  <a:pt x="3545586" y="0"/>
                </a:moveTo>
                <a:lnTo>
                  <a:pt x="0" y="0"/>
                </a:lnTo>
                <a:lnTo>
                  <a:pt x="0" y="19049"/>
                </a:lnTo>
                <a:lnTo>
                  <a:pt x="3545586" y="19049"/>
                </a:lnTo>
                <a:lnTo>
                  <a:pt x="3545586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86" name="Google Shape;686;p54"/>
          <p:cNvSpPr txBox="1"/>
          <p:nvPr/>
        </p:nvSpPr>
        <p:spPr>
          <a:xfrm>
            <a:off x="650250" y="3638050"/>
            <a:ext cx="11002800" cy="22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93700" marR="431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If	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</a:t>
            </a:r>
            <a:r>
              <a:rPr baseline="-25000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= P</a:t>
            </a:r>
            <a:r>
              <a:rPr baseline="-25000" lang="en-US" sz="315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, the optimal threshold is the average of	the means of		two distributions.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93065" rtl="0" algn="l">
              <a:lnSpc>
                <a:spcPct val="100000"/>
              </a:lnSpc>
              <a:spcBef>
                <a:spcPts val="455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The same is true if	</a:t>
            </a:r>
            <a:r>
              <a:rPr lang="en-US" sz="3200">
                <a:solidFill>
                  <a:srgbClr val="00B05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σ</a:t>
            </a:r>
            <a:r>
              <a:rPr lang="en-US" sz="3200">
                <a:solidFill>
                  <a:srgbClr val="00B05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= 0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687" name="Google Shape;687;p5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8" name="Google Shape;688;p5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9" name="Google Shape;689;p5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  <p:pic>
        <p:nvPicPr>
          <p:cNvPr id="690" name="Google Shape;690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9025" y="2158625"/>
            <a:ext cx="4565990" cy="1327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5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6" name="Google Shape;696;p55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2" name="Google Shape;702;p56"/>
          <p:cNvSpPr txBox="1"/>
          <p:nvPr>
            <p:ph idx="4294967295" type="title"/>
          </p:nvPr>
        </p:nvSpPr>
        <p:spPr>
          <a:xfrm>
            <a:off x="0" y="1753350"/>
            <a:ext cx="12192000" cy="9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/>
              <a:t>Image Segmentation</a:t>
            </a:r>
            <a:endParaRPr sz="6000"/>
          </a:p>
        </p:txBody>
      </p:sp>
      <p:sp>
        <p:nvSpPr>
          <p:cNvPr id="703" name="Google Shape;703;p56"/>
          <p:cNvSpPr txBox="1"/>
          <p:nvPr/>
        </p:nvSpPr>
        <p:spPr>
          <a:xfrm>
            <a:off x="0" y="2954500"/>
            <a:ext cx="12192000" cy="28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9375">
            <a:spAutoFit/>
          </a:bodyPr>
          <a:lstStyle/>
          <a:p>
            <a:pPr indent="0" lvl="0" marL="0" marR="685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">
              <a:solidFill>
                <a:srgbClr val="00206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0" marR="685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Part -	3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ctr">
              <a:lnSpc>
                <a:spcPct val="95937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 Growing, Region Split and Merge, </a:t>
            </a:r>
            <a:endParaRPr b="1" sz="3200">
              <a:solidFill>
                <a:srgbClr val="FF0000"/>
              </a:solidFill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ctr">
              <a:lnSpc>
                <a:spcPct val="95937"/>
              </a:lnSpc>
              <a:spcBef>
                <a:spcPts val="192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Watershed Algorithm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04" name="Google Shape;704;p5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5" name="Google Shape;705;p5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6" name="Google Shape;706;p5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2" name="Google Shape;712;p5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13" name="Google Shape;713;p57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Agenda</a:t>
            </a:r>
            <a:endParaRPr sz="4300"/>
          </a:p>
        </p:txBody>
      </p:sp>
      <p:sp>
        <p:nvSpPr>
          <p:cNvPr id="714" name="Google Shape;714;p57"/>
          <p:cNvSpPr txBox="1"/>
          <p:nvPr/>
        </p:nvSpPr>
        <p:spPr>
          <a:xfrm>
            <a:off x="688353" y="1057150"/>
            <a:ext cx="11199300" cy="51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lang="en-US" sz="3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Quick Recap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19393"/>
              </a:lnSpc>
              <a:spcBef>
                <a:spcPts val="40"/>
              </a:spcBef>
              <a:spcAft>
                <a:spcPts val="0"/>
              </a:spcAft>
              <a:buClr>
                <a:srgbClr val="558ED5"/>
              </a:buClr>
              <a:buSzPts val="3300"/>
              <a:buFont typeface="Arial"/>
              <a:buChar char="–"/>
            </a:pPr>
            <a:r>
              <a:rPr lang="en-US" sz="33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Segmentation Basics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1945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lang="en-US" sz="37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Similarity based segmentation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Clr>
                <a:srgbClr val="558ED5"/>
              </a:buClr>
              <a:buSzPts val="3300"/>
              <a:buFont typeface="Arial"/>
              <a:buChar char="–"/>
            </a:pPr>
            <a:r>
              <a:rPr lang="en-US" sz="3300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Thresholding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300"/>
              <a:buFont typeface="Arial"/>
              <a:buChar char="–"/>
            </a:pPr>
            <a:r>
              <a:rPr lang="en-US" sz="33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Region-based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65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 Split and merge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4423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Watershed Algorithm</a:t>
            </a:r>
            <a:endParaRPr sz="2600">
              <a:latin typeface="Bell MT"/>
              <a:ea typeface="Bell MT"/>
              <a:cs typeface="Bell MT"/>
              <a:sym typeface="Bell MT"/>
            </a:endParaRPr>
          </a:p>
          <a:p>
            <a:pPr indent="-465455" lvl="0" marL="478155" rtl="0" algn="l">
              <a:lnSpc>
                <a:spcPct val="98648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950"/>
              <a:buFont typeface="Noto Sans Symbols"/>
              <a:buChar char="▪"/>
            </a:pPr>
            <a:r>
              <a:rPr lang="en-US" sz="37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Discontinuity-based:</a:t>
            </a:r>
            <a:endParaRPr sz="3700">
              <a:latin typeface="Bell MT"/>
              <a:ea typeface="Bell MT"/>
              <a:cs typeface="Bell MT"/>
              <a:sym typeface="Bell MT"/>
            </a:endParaRPr>
          </a:p>
          <a:p>
            <a:pPr indent="-465455" lvl="0" marL="878205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3300"/>
              <a:buFont typeface="Noto Sans Symbols"/>
              <a:buChar char="▪"/>
            </a:pPr>
            <a:r>
              <a:rPr lang="en-US" sz="33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Use of	point, line and edge for segmentation</a:t>
            </a:r>
            <a:endParaRPr sz="33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15" name="Google Shape;715;p5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6" name="Google Shape;716;p5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7" name="Google Shape;717;p5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5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3" name="Google Shape;723;p5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24" name="Google Shape;724;p5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Segmentation Basics</a:t>
            </a:r>
            <a:endParaRPr/>
          </a:p>
        </p:txBody>
      </p:sp>
      <p:sp>
        <p:nvSpPr>
          <p:cNvPr id="725" name="Google Shape;725;p58"/>
          <p:cNvSpPr txBox="1"/>
          <p:nvPr/>
        </p:nvSpPr>
        <p:spPr>
          <a:xfrm>
            <a:off x="688340" y="989331"/>
            <a:ext cx="5394325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342900" lvl="0" marL="354965" marR="539115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b="1" lang="en-US" sz="31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Image segmentation deals with image partitioning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650" marR="5080" rtl="0" algn="l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process of	partitioning a digital image into multiple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homogeneous segments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6" name="Google Shape;726;p58"/>
          <p:cNvSpPr txBox="1"/>
          <p:nvPr/>
        </p:nvSpPr>
        <p:spPr>
          <a:xfrm>
            <a:off x="688340" y="3421635"/>
            <a:ext cx="54909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342900" lvl="0" marL="355600" marR="225298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50"/>
              <a:buFont typeface="Noto Sans Symbols"/>
              <a:buChar char="▪"/>
            </a:pPr>
            <a:r>
              <a:rPr b="1" lang="en-US" sz="31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Simplification of representation</a:t>
            </a:r>
            <a:endParaRPr sz="31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55015" marR="5080" rtl="0" algn="l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Simplification of	the representation of an image into something which is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more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meaningful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easier to analyze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27" name="Google Shape;72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1800" y="1138428"/>
            <a:ext cx="3057905" cy="4581143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8"/>
          <p:cNvSpPr txBox="1"/>
          <p:nvPr/>
        </p:nvSpPr>
        <p:spPr>
          <a:xfrm>
            <a:off x="10162540" y="4576826"/>
            <a:ext cx="1698600" cy="11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Yellow lines show the segmentation boundary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29" name="Google Shape;729;p58"/>
          <p:cNvSpPr txBox="1"/>
          <p:nvPr/>
        </p:nvSpPr>
        <p:spPr>
          <a:xfrm>
            <a:off x="10162553" y="2319625"/>
            <a:ext cx="15171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Segmentation Example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30" name="Google Shape;730;p5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1" name="Google Shape;731;p5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2" name="Google Shape;732;p5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8" name="Google Shape;738;p5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39" name="Google Shape;739;p5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Thresholding based Segmentation</a:t>
            </a:r>
            <a:endParaRPr/>
          </a:p>
        </p:txBody>
      </p:sp>
      <p:sp>
        <p:nvSpPr>
          <p:cNvPr id="740" name="Google Shape;740;p59"/>
          <p:cNvSpPr txBox="1"/>
          <p:nvPr/>
        </p:nvSpPr>
        <p:spPr>
          <a:xfrm>
            <a:off x="688340" y="970330"/>
            <a:ext cx="6723900" cy="50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Global Thresholding: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1143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When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same threshold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is applied over 	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entire image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, the thresholding is referred 	as </a:t>
            </a:r>
            <a:r>
              <a:rPr b="1"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Global Thresholding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Adaptive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threshold is related to the location of	the 	pixel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69100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Optimal global and adaptive thresholding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12490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300"/>
              <a:buFont typeface="Arial"/>
              <a:buChar char="–"/>
            </a:pPr>
            <a:r>
              <a:rPr lang="en-US" sz="23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Optimal criterion: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minimum average 	segmentation error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7600" y="1044702"/>
            <a:ext cx="2345423" cy="1927097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384540" y="4280407"/>
            <a:ext cx="3508375" cy="1122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19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marR="5080" rtl="0" algn="just">
              <a:lnSpc>
                <a:spcPct val="120000"/>
              </a:lnSpc>
              <a:spcBef>
                <a:spcPts val="7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An image where </a:t>
            </a: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foreground objects (coins) 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can be segmented from black background using only one threshold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743" name="Google Shape;74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29800" y="1981200"/>
            <a:ext cx="2225039" cy="2487167"/>
          </a:xfrm>
          <a:prstGeom prst="rect">
            <a:avLst/>
          </a:prstGeom>
          <a:noFill/>
          <a:ln>
            <a:noFill/>
          </a:ln>
        </p:spPr>
      </p:pic>
      <p:sp>
        <p:nvSpPr>
          <p:cNvPr id="744" name="Google Shape;744;p5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5" name="Google Shape;745;p5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6" name="Google Shape;746;p5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2" name="Google Shape;752;p6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3" name="Google Shape;753;p6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Region Based Segmentation</a:t>
            </a:r>
            <a:endParaRPr/>
          </a:p>
        </p:txBody>
      </p:sp>
      <p:pic>
        <p:nvPicPr>
          <p:cNvPr id="754" name="Google Shape;75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33677"/>
            <a:ext cx="10456913" cy="3515104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0"/>
          <p:cNvSpPr txBox="1"/>
          <p:nvPr/>
        </p:nvSpPr>
        <p:spPr>
          <a:xfrm>
            <a:off x="3507752" y="4877825"/>
            <a:ext cx="60720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 Based Segmentation Results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56" name="Google Shape;756;p6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7" name="Google Shape;757;p6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8" name="Google Shape;758;p6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4" name="Google Shape;764;p6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5" name="Google Shape;765;p61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/>
              <a:t>Region Based Segmentation</a:t>
            </a:r>
            <a:endParaRPr sz="4300"/>
          </a:p>
        </p:txBody>
      </p:sp>
      <p:sp>
        <p:nvSpPr>
          <p:cNvPr id="766" name="Google Shape;766;p61"/>
          <p:cNvSpPr txBox="1"/>
          <p:nvPr/>
        </p:nvSpPr>
        <p:spPr>
          <a:xfrm>
            <a:off x="662940" y="982384"/>
            <a:ext cx="10713085" cy="1786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Basic formulation: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7978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Let </a:t>
            </a:r>
            <a:r>
              <a:rPr lang="en-US" sz="2400">
                <a:solidFill>
                  <a:srgbClr val="C0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represent the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entire image region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79780" marR="304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Segmentation may be viewed as a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process that partitions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into sub-regions, 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	R</a:t>
            </a:r>
            <a:r>
              <a:rPr baseline="-25000"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2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…, R</a:t>
            </a:r>
            <a:r>
              <a:rPr baseline="-25000"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, such that: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67" name="Google Shape;767;p61"/>
          <p:cNvSpPr/>
          <p:nvPr/>
        </p:nvSpPr>
        <p:spPr>
          <a:xfrm>
            <a:off x="2663951" y="2895600"/>
            <a:ext cx="6937375" cy="2399029"/>
          </a:xfrm>
          <a:custGeom>
            <a:rect b="b" l="l" r="r" t="t"/>
            <a:pathLst>
              <a:path extrusionOk="0" h="2399029" w="6937375">
                <a:moveTo>
                  <a:pt x="6937248" y="0"/>
                </a:moveTo>
                <a:lnTo>
                  <a:pt x="0" y="0"/>
                </a:lnTo>
                <a:lnTo>
                  <a:pt x="0" y="2398776"/>
                </a:lnTo>
                <a:lnTo>
                  <a:pt x="6937248" y="2398776"/>
                </a:lnTo>
                <a:lnTo>
                  <a:pt x="6937248" y="0"/>
                </a:lnTo>
                <a:close/>
              </a:path>
            </a:pathLst>
          </a:custGeom>
          <a:solidFill>
            <a:srgbClr val="4F81B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8" name="Google Shape;768;p61"/>
          <p:cNvSpPr txBox="1"/>
          <p:nvPr/>
        </p:nvSpPr>
        <p:spPr>
          <a:xfrm>
            <a:off x="3263472" y="2911189"/>
            <a:ext cx="128905" cy="2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61"/>
          <p:cNvSpPr txBox="1"/>
          <p:nvPr/>
        </p:nvSpPr>
        <p:spPr>
          <a:xfrm>
            <a:off x="3753806" y="4623993"/>
            <a:ext cx="83185" cy="2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0" name="Google Shape;770;p61"/>
          <p:cNvSpPr txBox="1"/>
          <p:nvPr/>
        </p:nvSpPr>
        <p:spPr>
          <a:xfrm>
            <a:off x="3181595" y="3344693"/>
            <a:ext cx="306070" cy="2139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12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1" name="Google Shape;771;p61"/>
          <p:cNvSpPr txBox="1"/>
          <p:nvPr/>
        </p:nvSpPr>
        <p:spPr>
          <a:xfrm>
            <a:off x="2699633" y="4439418"/>
            <a:ext cx="2595880" cy="3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d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TRUE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2" name="Google Shape;772;p61"/>
          <p:cNvSpPr txBox="1"/>
          <p:nvPr/>
        </p:nvSpPr>
        <p:spPr>
          <a:xfrm>
            <a:off x="2674233" y="3043431"/>
            <a:ext cx="1776095" cy="3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∪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 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3" name="Google Shape;773;p61"/>
          <p:cNvSpPr txBox="1"/>
          <p:nvPr/>
        </p:nvSpPr>
        <p:spPr>
          <a:xfrm>
            <a:off x="2674233" y="3991768"/>
            <a:ext cx="1430655" cy="3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(c)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∩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endParaRPr baseline="-25000" sz="18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74" name="Google Shape;774;p61"/>
          <p:cNvGrpSpPr/>
          <p:nvPr/>
        </p:nvGrpSpPr>
        <p:grpSpPr>
          <a:xfrm>
            <a:off x="3064001" y="5686805"/>
            <a:ext cx="1820418" cy="510539"/>
            <a:chOff x="3064001" y="5686805"/>
            <a:chExt cx="1820418" cy="510539"/>
          </a:xfrm>
        </p:grpSpPr>
        <p:pic>
          <p:nvPicPr>
            <p:cNvPr id="775" name="Google Shape;775;p6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064001" y="5686805"/>
              <a:ext cx="1820418" cy="5105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6" name="Google Shape;776;p6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201162" y="5989319"/>
              <a:ext cx="1546097" cy="4114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77" name="Google Shape;777;p61"/>
          <p:cNvSpPr txBox="1"/>
          <p:nvPr/>
        </p:nvSpPr>
        <p:spPr>
          <a:xfrm>
            <a:off x="1829753" y="5733541"/>
            <a:ext cx="823087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635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where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P(.)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is a </a:t>
            </a:r>
            <a:r>
              <a:rPr lang="en-US" sz="1800" u="sng">
                <a:latin typeface="Calibri"/>
                <a:ea typeface="Calibri"/>
                <a:cs typeface="Calibri"/>
                <a:sym typeface="Calibri"/>
              </a:rPr>
              <a:t>logical predicate</a:t>
            </a:r>
            <a:r>
              <a:rPr lang="en-US" sz="1800" u="none">
                <a:latin typeface="Calibri"/>
                <a:ea typeface="Calibri"/>
                <a:cs typeface="Calibri"/>
                <a:sym typeface="Calibri"/>
              </a:rPr>
              <a:t> which deals with the properties that must be satisfied by the pixel in a segmented region.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61"/>
          <p:cNvSpPr txBox="1"/>
          <p:nvPr/>
        </p:nvSpPr>
        <p:spPr>
          <a:xfrm>
            <a:off x="5042837" y="3060195"/>
            <a:ext cx="42849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Completeness: every pixel must be in a region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61"/>
          <p:cNvSpPr txBox="1"/>
          <p:nvPr/>
        </p:nvSpPr>
        <p:spPr>
          <a:xfrm>
            <a:off x="4157333" y="3955411"/>
            <a:ext cx="6149340" cy="3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aseline="-25000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∅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, for any </a:t>
            </a:r>
            <a:r>
              <a:rPr baseline="-25000" i="1" lang="en-US" sz="315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aseline="-25000" lang="en-US" sz="3150">
                <a:latin typeface="Noto Sans Symbols"/>
                <a:ea typeface="Noto Sans Symbols"/>
                <a:cs typeface="Noto Sans Symbols"/>
                <a:sym typeface="Noto Sans Symbols"/>
              </a:rPr>
              <a:t>≠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aseline="-25000" i="1" lang="en-US" sz="3150"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aseline="-25000" lang="en-US" sz="315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Disjointness: regions must be </a:t>
            </a: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disjoint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61"/>
          <p:cNvSpPr txBox="1"/>
          <p:nvPr/>
        </p:nvSpPr>
        <p:spPr>
          <a:xfrm>
            <a:off x="5426885" y="4345613"/>
            <a:ext cx="398589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Satisfiability: pixels of a region must satisfy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61"/>
          <p:cNvSpPr txBox="1"/>
          <p:nvPr/>
        </p:nvSpPr>
        <p:spPr>
          <a:xfrm>
            <a:off x="5426885" y="4619933"/>
            <a:ext cx="18719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 common property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1"/>
          <p:cNvSpPr txBox="1"/>
          <p:nvPr/>
        </p:nvSpPr>
        <p:spPr>
          <a:xfrm>
            <a:off x="2674233" y="3575944"/>
            <a:ext cx="5436235" cy="35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712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	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is a connected region </a:t>
            </a:r>
            <a:r>
              <a:rPr baseline="30000" lang="en-US" sz="27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Connectedness</a:t>
            </a:r>
            <a:endParaRPr baseline="30000" sz="2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1"/>
          <p:cNvSpPr txBox="1"/>
          <p:nvPr/>
        </p:nvSpPr>
        <p:spPr>
          <a:xfrm>
            <a:off x="2661533" y="4777266"/>
            <a:ext cx="7140575" cy="769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0" lvl="0" marL="50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(e)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lang="en-US" sz="2100">
                <a:latin typeface="Arial"/>
                <a:ea typeface="Arial"/>
                <a:cs typeface="Arial"/>
                <a:sym typeface="Arial"/>
              </a:rPr>
              <a:t>∪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100"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baseline="-25000" i="1" lang="en-US" sz="1800">
                <a:latin typeface="Times New Roman"/>
                <a:ea typeface="Times New Roman"/>
                <a:cs typeface="Times New Roman"/>
                <a:sym typeface="Times New Roman"/>
              </a:rPr>
              <a:t>j 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100"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100">
                <a:latin typeface="Times New Roman"/>
                <a:ea typeface="Times New Roman"/>
                <a:cs typeface="Times New Roman"/>
                <a:sym typeface="Times New Roman"/>
              </a:rPr>
              <a:t> FALSE for any adjacent regions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699895" rtl="0" algn="l">
              <a:lnSpc>
                <a:spcPct val="100000"/>
              </a:lnSpc>
              <a:spcBef>
                <a:spcPts val="525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Segmentability: Different regions satisfy different property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5" name="Google Shape;785;p6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6" name="Google Shape;786;p6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2" name="Google Shape;792;p6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93" name="Google Shape;793;p6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Region Based Segmentation</a:t>
            </a:r>
            <a:endParaRPr/>
          </a:p>
        </p:txBody>
      </p:sp>
      <p:sp>
        <p:nvSpPr>
          <p:cNvPr id="794" name="Google Shape;794;p62"/>
          <p:cNvSpPr txBox="1"/>
          <p:nvPr/>
        </p:nvSpPr>
        <p:spPr>
          <a:xfrm>
            <a:off x="688340" y="961905"/>
            <a:ext cx="7181850" cy="318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Main Techniques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 Growing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Unseeded Region Growing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 Splitting and Merging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Segmentation by morphological Watersheds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Fast Scanning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795" name="Google Shape;795;p6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6" name="Google Shape;796;p6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7" name="Google Shape;797;p6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6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3" name="Google Shape;803;p6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804" name="Google Shape;804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24400" y="2209800"/>
            <a:ext cx="7458455" cy="1892548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3"/>
          <p:cNvSpPr txBox="1"/>
          <p:nvPr>
            <p:ph idx="4294967295" type="title"/>
          </p:nvPr>
        </p:nvSpPr>
        <p:spPr>
          <a:xfrm>
            <a:off x="0" y="153150"/>
            <a:ext cx="12192000" cy="6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rgbClr val="FF0000"/>
                </a:solidFill>
              </a:rPr>
              <a:t>Region Growing</a:t>
            </a:r>
            <a:endParaRPr sz="4300"/>
          </a:p>
        </p:txBody>
      </p:sp>
      <p:sp>
        <p:nvSpPr>
          <p:cNvPr id="806" name="Google Shape;806;p63"/>
          <p:cNvSpPr txBox="1"/>
          <p:nvPr/>
        </p:nvSpPr>
        <p:spPr>
          <a:xfrm>
            <a:off x="688350" y="1022850"/>
            <a:ext cx="11199300" cy="16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-342900" lvl="0" marL="354965" marR="5080" rtl="0" algn="l">
              <a:lnSpc>
                <a:spcPct val="108124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Region growing is a procedure that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groups pixel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or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sub-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regions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into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larger regions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based on a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predefined criteria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from a set of	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“seed”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points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07" name="Google Shape;807;p63"/>
          <p:cNvSpPr txBox="1"/>
          <p:nvPr/>
        </p:nvSpPr>
        <p:spPr>
          <a:xfrm>
            <a:off x="764540" y="3305098"/>
            <a:ext cx="7335000" cy="31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47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Several key factors: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36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2800" u="sng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selection of	“seed” points,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similarity criteria: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295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gray-level difference, gray-level variance, Color, texture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spatial proximity: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adjacency definition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33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stopping rule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08" name="Google Shape;808;p6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9" name="Google Shape;809;p6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10" name="Google Shape;810;p6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6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816" name="Google Shape;816;p64"/>
          <p:cNvGrpSpPr/>
          <p:nvPr/>
        </p:nvGrpSpPr>
        <p:grpSpPr>
          <a:xfrm>
            <a:off x="305181" y="974978"/>
            <a:ext cx="11637263" cy="5434965"/>
            <a:chOff x="305181" y="974978"/>
            <a:chExt cx="11637263" cy="5434965"/>
          </a:xfrm>
        </p:grpSpPr>
        <p:sp>
          <p:nvSpPr>
            <p:cNvPr id="817" name="Google Shape;817;p64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818" name="Google Shape;818;p6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454395" y="998982"/>
              <a:ext cx="3352799" cy="17906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9" name="Google Shape;819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51170" y="2894838"/>
              <a:ext cx="6391274" cy="35151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20" name="Google Shape;820;p6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71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Region Growing: </a:t>
            </a:r>
            <a:r>
              <a:rPr lang="en-US">
                <a:solidFill>
                  <a:srgbClr val="00B050"/>
                </a:solidFill>
              </a:rPr>
              <a:t>Example – 1</a:t>
            </a:r>
            <a:endParaRPr/>
          </a:p>
        </p:txBody>
      </p:sp>
      <p:sp>
        <p:nvSpPr>
          <p:cNvPr id="821" name="Google Shape;821;p64"/>
          <p:cNvSpPr txBox="1"/>
          <p:nvPr/>
        </p:nvSpPr>
        <p:spPr>
          <a:xfrm>
            <a:off x="305175" y="1176550"/>
            <a:ext cx="5107200" cy="5013300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-343535" lvl="0" marL="433705" marR="133350" rtl="0" algn="l">
              <a:lnSpc>
                <a:spcPct val="107857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Problem: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To isolate </a:t>
            </a:r>
            <a:r>
              <a:rPr i="1" lang="en-US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 u="sng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strongest lightning region</a:t>
            </a:r>
            <a:r>
              <a:rPr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 u="none">
                <a:latin typeface="Calibri"/>
                <a:ea typeface="Calibri"/>
                <a:cs typeface="Calibri"/>
                <a:sym typeface="Calibri"/>
              </a:rPr>
              <a:t>of the </a:t>
            </a:r>
            <a:r>
              <a:rPr lang="en-US" sz="2800" u="none">
                <a:latin typeface="Calibri"/>
                <a:ea typeface="Calibri"/>
                <a:cs typeface="Calibri"/>
                <a:sym typeface="Calibri"/>
              </a:rPr>
              <a:t>image on the right-hand side without splitting it apart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33705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i="1" lang="en-US" sz="2800">
                <a:latin typeface="Calibri"/>
                <a:ea typeface="Calibri"/>
                <a:cs typeface="Calibri"/>
                <a:sym typeface="Calibri"/>
              </a:rPr>
              <a:t>Solution: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33705" marR="235584" rtl="0" algn="l">
              <a:lnSpc>
                <a:spcPct val="107857"/>
              </a:lnSpc>
              <a:spcBef>
                <a:spcPts val="72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i="1" lang="en-US" sz="2800" u="sng">
                <a:latin typeface="Calibri"/>
                <a:ea typeface="Calibri"/>
                <a:cs typeface="Calibri"/>
                <a:sym typeface="Calibri"/>
              </a:rPr>
              <a:t>region growing</a:t>
            </a:r>
            <a:r>
              <a:rPr i="1" lang="en-US" sz="2800" u="none">
                <a:latin typeface="Calibri"/>
                <a:ea typeface="Calibri"/>
                <a:cs typeface="Calibri"/>
                <a:sym typeface="Calibri"/>
              </a:rPr>
              <a:t> technique for segmentation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33705" marR="583565" rtl="0" algn="l">
              <a:lnSpc>
                <a:spcPct val="90000"/>
              </a:lnSpc>
              <a:spcBef>
                <a:spcPts val="63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🡪</a:t>
            </a:r>
            <a:r>
              <a:rPr lang="en-US" sz="22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i="1" lang="en-US" sz="2800" u="sng">
                <a:latin typeface="Calibri"/>
                <a:ea typeface="Calibri"/>
                <a:cs typeface="Calibri"/>
                <a:sym typeface="Calibri"/>
              </a:rPr>
              <a:t>Seed points</a:t>
            </a:r>
            <a:r>
              <a:rPr i="1" lang="en-US" sz="2800" u="none">
                <a:latin typeface="Calibri"/>
                <a:ea typeface="Calibri"/>
                <a:cs typeface="Calibri"/>
                <a:sym typeface="Calibri"/>
              </a:rPr>
              <a:t>: choose the points having the highest gray-scale value which is </a:t>
            </a:r>
            <a:r>
              <a:rPr i="1" lang="en-US" sz="2800" u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255 as the seed points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64"/>
          <p:cNvSpPr txBox="1"/>
          <p:nvPr/>
        </p:nvSpPr>
        <p:spPr>
          <a:xfrm>
            <a:off x="9722251" y="2021750"/>
            <a:ext cx="2176200" cy="7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Segmentation outputs for selection of different </a:t>
            </a:r>
            <a:r>
              <a:rPr lang="en-US" sz="12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threshold</a:t>
            </a:r>
            <a:r>
              <a:rPr lang="en-US" sz="12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 u="sng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ranges</a:t>
            </a:r>
            <a:r>
              <a:rPr lang="en-US" sz="1200" u="none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 to include neighbouring points</a:t>
            </a:r>
            <a:endParaRPr sz="1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6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4" name="Google Shape;824;p6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6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6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1" name="Google Shape;831;p6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32" name="Google Shape;832;p6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B050"/>
                </a:solidFill>
              </a:rPr>
              <a:t>Example – 2</a:t>
            </a:r>
            <a:r>
              <a:rPr lang="en-US"/>
              <a:t>: Detection of	weld failure</a:t>
            </a:r>
            <a:endParaRPr/>
          </a:p>
        </p:txBody>
      </p:sp>
      <p:pic>
        <p:nvPicPr>
          <p:cNvPr id="833" name="Google Shape;833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75460" y="1361694"/>
            <a:ext cx="2514599" cy="2133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34" name="Google Shape;834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3128" y="1390653"/>
            <a:ext cx="2466596" cy="210538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6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6427" y="3912882"/>
            <a:ext cx="2466599" cy="2105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6" name="Google Shape;836;p6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26279" y="3865626"/>
            <a:ext cx="2485643" cy="2133220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65"/>
          <p:cNvSpPr txBox="1"/>
          <p:nvPr/>
        </p:nvSpPr>
        <p:spPr>
          <a:xfrm>
            <a:off x="5444490" y="3434840"/>
            <a:ext cx="284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(b)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65"/>
          <p:cNvSpPr txBox="1"/>
          <p:nvPr/>
        </p:nvSpPr>
        <p:spPr>
          <a:xfrm>
            <a:off x="2834563" y="3471416"/>
            <a:ext cx="274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(a)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5"/>
          <p:cNvSpPr txBox="1"/>
          <p:nvPr/>
        </p:nvSpPr>
        <p:spPr>
          <a:xfrm>
            <a:off x="5607939" y="5954241"/>
            <a:ext cx="284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(d)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65"/>
          <p:cNvSpPr txBox="1"/>
          <p:nvPr/>
        </p:nvSpPr>
        <p:spPr>
          <a:xfrm>
            <a:off x="2851937" y="5990817"/>
            <a:ext cx="2609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(c)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65"/>
          <p:cNvSpPr txBox="1"/>
          <p:nvPr/>
        </p:nvSpPr>
        <p:spPr>
          <a:xfrm>
            <a:off x="7337679" y="3152775"/>
            <a:ext cx="3103880" cy="1755139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31100">
            <a:spAutoFit/>
          </a:bodyPr>
          <a:lstStyle/>
          <a:p>
            <a:pPr indent="-457200" lvl="0" marL="548005" marR="2489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Image showing defective welds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548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Seed Points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548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Result of region growing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548005" marR="1695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8ED5"/>
              </a:buClr>
              <a:buSzPts val="1800"/>
              <a:buFont typeface="Calibri"/>
              <a:buAutoNum type="alphaLcParenBoth"/>
            </a:pPr>
            <a:r>
              <a:rPr lang="en-US" sz="1800">
                <a:solidFill>
                  <a:srgbClr val="558ED5"/>
                </a:solidFill>
                <a:latin typeface="Calibri"/>
                <a:ea typeface="Calibri"/>
                <a:cs typeface="Calibri"/>
                <a:sym typeface="Calibri"/>
              </a:rPr>
              <a:t>Boundaries of segmented defective welds (in black)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3" name="Google Shape;843;p6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44" name="Google Shape;844;p6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6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0" name="Google Shape;850;p6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51" name="Google Shape;851;p6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5715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Region Growing – Steps</a:t>
            </a:r>
            <a:endParaRPr/>
          </a:p>
        </p:txBody>
      </p:sp>
      <p:sp>
        <p:nvSpPr>
          <p:cNvPr id="852" name="Google Shape;852;p66"/>
          <p:cNvSpPr txBox="1"/>
          <p:nvPr/>
        </p:nvSpPr>
        <p:spPr>
          <a:xfrm>
            <a:off x="688340" y="1058673"/>
            <a:ext cx="10602000" cy="40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873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Region growing: 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Groups pixels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or sub-region into </a:t>
            </a:r>
            <a:r>
              <a:rPr lang="en-US" sz="3600" u="sng">
                <a:solidFill>
                  <a:srgbClr val="558ED5"/>
                </a:solidFill>
                <a:latin typeface="Bell MT"/>
                <a:ea typeface="Bell MT"/>
                <a:cs typeface="Bell MT"/>
                <a:sym typeface="Bell MT"/>
              </a:rPr>
              <a:t>larger regions.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Step1: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8600" lvl="2" marL="115506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Start with a set of “seed” points and from these grow regions by </a:t>
            </a:r>
            <a:r>
              <a:rPr lang="en-US" sz="2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appending to each seed those neighboring pixels that have properties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similar to the seed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Step2: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Region merging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53" name="Google Shape;853;p6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4" name="Google Shape;854;p6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5" name="Google Shape;855;p6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6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1" name="Google Shape;861;p6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62" name="Google Shape;862;p6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Region Growing</a:t>
            </a:r>
            <a:endParaRPr/>
          </a:p>
        </p:txBody>
      </p:sp>
      <p:sp>
        <p:nvSpPr>
          <p:cNvPr id="863" name="Google Shape;863;p67"/>
          <p:cNvSpPr txBox="1"/>
          <p:nvPr/>
        </p:nvSpPr>
        <p:spPr>
          <a:xfrm>
            <a:off x="688340" y="942872"/>
            <a:ext cx="10780500" cy="430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Advantage: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Provides results with </a:t>
            </a: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good connectivity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005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Disadvantage: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81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Initial seed-points selection: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27964" lvl="2" marL="1155065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•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different sets of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initial seed-point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cause </a:t>
            </a:r>
            <a:r>
              <a:rPr lang="en-US" sz="28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different segmented result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Time-consuming process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64" name="Google Shape;864;p6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5" name="Google Shape;865;p6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6" name="Google Shape;866;p6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6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2" name="Google Shape;872;p6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73" name="Google Shape;873;p6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Unseeded Region Growing</a:t>
            </a:r>
            <a:endParaRPr/>
          </a:p>
        </p:txBody>
      </p:sp>
      <p:sp>
        <p:nvSpPr>
          <p:cNvPr id="874" name="Google Shape;874;p68"/>
          <p:cNvSpPr txBox="1"/>
          <p:nvPr/>
        </p:nvSpPr>
        <p:spPr>
          <a:xfrm>
            <a:off x="343951" y="1111600"/>
            <a:ext cx="11504100" cy="3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01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b="1" lang="en-US" sz="3600">
                <a:latin typeface="Bell MT"/>
                <a:ea typeface="Bell MT"/>
                <a:cs typeface="Bell MT"/>
                <a:sym typeface="Bell MT"/>
              </a:rPr>
              <a:t>Unseeded region growing: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B050"/>
              </a:buClr>
              <a:buSzPts val="2800"/>
              <a:buFont typeface="Arial"/>
              <a:buChar char="–"/>
            </a:pP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no explicit seed selection is necessary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464184" rtl="0" algn="l">
              <a:lnSpc>
                <a:spcPct val="100000"/>
              </a:lnSpc>
              <a:spcBef>
                <a:spcPts val="4705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2800" u="sng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seeds can be generated automatically</a:t>
            </a:r>
            <a:r>
              <a:rPr lang="en-US" sz="2800" u="none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by the segmentation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procedure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4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it is similar to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Seeded Region Growing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except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choice of seed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point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75" name="Google Shape;875;p6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6" name="Google Shape;876;p6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77" name="Google Shape;877;p6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6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3" name="Google Shape;883;p6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84" name="Google Shape;884;p6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Unseeded Region Growing</a:t>
            </a:r>
            <a:endParaRPr/>
          </a:p>
        </p:txBody>
      </p:sp>
      <p:sp>
        <p:nvSpPr>
          <p:cNvPr id="885" name="Google Shape;885;p69"/>
          <p:cNvSpPr txBox="1"/>
          <p:nvPr/>
        </p:nvSpPr>
        <p:spPr>
          <a:xfrm>
            <a:off x="688340" y="961905"/>
            <a:ext cx="9210040" cy="37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Advantage: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easy to use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can readily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incorporate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high level knowledge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of	the image 	composition through region threshold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34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Disadvantage: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slow speed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86" name="Google Shape;886;p6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7" name="Google Shape;887;p6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8" name="Google Shape;888;p6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94" name="Google Shape;894;p7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Region Splitting and Merging</a:t>
            </a:r>
            <a:endParaRPr/>
          </a:p>
        </p:txBody>
      </p:sp>
      <p:sp>
        <p:nvSpPr>
          <p:cNvPr id="895" name="Google Shape;895;p70"/>
          <p:cNvSpPr txBox="1"/>
          <p:nvPr/>
        </p:nvSpPr>
        <p:spPr>
          <a:xfrm>
            <a:off x="305176" y="1101150"/>
            <a:ext cx="11582400" cy="19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50150">
            <a:spAutoFit/>
          </a:bodyPr>
          <a:lstStyle/>
          <a:p>
            <a:pPr indent="-343535" lvl="0" marL="355600" marR="5080" rtl="0" algn="l">
              <a:lnSpc>
                <a:spcPct val="108181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b="1" lang="en-US" sz="2200">
                <a:latin typeface="Bell MT"/>
                <a:ea typeface="Bell MT"/>
                <a:cs typeface="Bell MT"/>
                <a:sym typeface="Bell MT"/>
              </a:rPr>
              <a:t>Step 1: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This approach is to </a:t>
            </a:r>
            <a:r>
              <a:rPr lang="en-US" sz="2200" u="sng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subdivide an image initially</a:t>
            </a:r>
            <a:r>
              <a:rPr lang="en-US" sz="2200" u="none">
                <a:solidFill>
                  <a:srgbClr val="E46C0A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200" u="none">
                <a:latin typeface="Bell MT"/>
                <a:ea typeface="Bell MT"/>
                <a:cs typeface="Bell MT"/>
                <a:sym typeface="Bell MT"/>
              </a:rPr>
              <a:t>into a set of	arbitrary, disjointed regions (quadrants)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5080" rtl="0" algn="l">
              <a:lnSpc>
                <a:spcPct val="108181"/>
              </a:lnSpc>
              <a:spcBef>
                <a:spcPts val="52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b="1" lang="en-US" sz="2200">
                <a:latin typeface="Bell MT"/>
                <a:ea typeface="Bell MT"/>
                <a:cs typeface="Bell MT"/>
                <a:sym typeface="Bell MT"/>
              </a:rPr>
              <a:t>Step 2: </a:t>
            </a:r>
            <a:r>
              <a:rPr lang="en-US" sz="2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Merge and/or split		the regions in	an attempt</a:t>
            </a:r>
            <a:r>
              <a:rPr lang="en-US" sz="2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200" u="none">
                <a:latin typeface="Bell MT"/>
                <a:ea typeface="Bell MT"/>
                <a:cs typeface="Bell MT"/>
                <a:sym typeface="Bell MT"/>
              </a:rPr>
              <a:t>to satisfy the conditions (a)~(e) mentioned in the starting of	this section.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25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b="1" lang="en-US" sz="2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Splitting Process: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896" name="Google Shape;896;p70"/>
          <p:cNvSpPr txBox="1"/>
          <p:nvPr/>
        </p:nvSpPr>
        <p:spPr>
          <a:xfrm>
            <a:off x="342176" y="5171225"/>
            <a:ext cx="115455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5700">
            <a:spAutoFit/>
          </a:bodyPr>
          <a:lstStyle/>
          <a:p>
            <a:pPr indent="-342265" lvl="0" marL="3803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750"/>
              <a:buFont typeface="Noto Sans Symbols"/>
              <a:buChar char="▪"/>
            </a:pPr>
            <a:r>
              <a:rPr b="1" lang="en-US" sz="2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Merging Process: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  <a:p>
            <a:pPr indent="-285750" lvl="0" marL="781050" marR="30480" rtl="0" algn="l">
              <a:lnSpc>
                <a:spcPct val="108181"/>
              </a:lnSpc>
              <a:spcBef>
                <a:spcPts val="560"/>
              </a:spcBef>
              <a:spcAft>
                <a:spcPts val="0"/>
              </a:spcAft>
              <a:buNone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After finishing the splitting, for any two adjacent regions 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lang="en-US" sz="21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and R</a:t>
            </a:r>
            <a:r>
              <a:rPr baseline="-25000" lang="en-US" sz="21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, if	P(Ri</a:t>
            </a:r>
            <a:r>
              <a:rPr lang="en-US" sz="22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2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Rj)=True, </a:t>
            </a:r>
            <a:r>
              <a:rPr lang="en-US" sz="2200">
                <a:latin typeface="Bell MT"/>
                <a:ea typeface="Bell MT"/>
                <a:cs typeface="Bell MT"/>
                <a:sym typeface="Bell MT"/>
              </a:rPr>
              <a:t>the two regions must be merged.</a:t>
            </a:r>
            <a:endParaRPr sz="2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897" name="Google Shape;897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577" y="2850638"/>
            <a:ext cx="3467463" cy="19236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2804922"/>
            <a:ext cx="2341625" cy="2300477"/>
          </a:xfrm>
          <a:prstGeom prst="rect">
            <a:avLst/>
          </a:prstGeom>
          <a:noFill/>
          <a:ln>
            <a:noFill/>
          </a:ln>
        </p:spPr>
      </p:pic>
      <p:sp>
        <p:nvSpPr>
          <p:cNvPr id="899" name="Google Shape;899;p70"/>
          <p:cNvSpPr txBox="1"/>
          <p:nvPr/>
        </p:nvSpPr>
        <p:spPr>
          <a:xfrm>
            <a:off x="8601836" y="2758820"/>
            <a:ext cx="2600325" cy="923925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4750">
            <a:spAutoFit/>
          </a:bodyPr>
          <a:lstStyle/>
          <a:p>
            <a:pPr indent="-457200" lvl="0" marL="5480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Bell MT"/>
              <a:buAutoNum type="alphaLcParenBoth"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Partitioned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457200" lvl="0" marL="548005" marR="6432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800"/>
              <a:buFont typeface="Bell MT"/>
              <a:buAutoNum type="alphaLcParenBoth"/>
            </a:pPr>
            <a:r>
              <a:rPr lang="en-US" sz="18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Corresponding quad-tree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00" name="Google Shape;900;p7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1" name="Google Shape;901;p7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2" name="Google Shape;902;p7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3" name="Google Shape;903;p7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09" name="Google Shape;909;p7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10" name="Google Shape;910;p7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Region Splitting and Merging – </a:t>
            </a:r>
            <a:r>
              <a:rPr lang="en-US">
                <a:solidFill>
                  <a:srgbClr val="1F497D"/>
                </a:solidFill>
              </a:rPr>
              <a:t>Detailed Steps</a:t>
            </a:r>
            <a:endParaRPr/>
          </a:p>
        </p:txBody>
      </p:sp>
      <p:pic>
        <p:nvPicPr>
          <p:cNvPr id="911" name="Google Shape;911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3454146"/>
            <a:ext cx="6705587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71"/>
          <p:cNvSpPr txBox="1"/>
          <p:nvPr/>
        </p:nvSpPr>
        <p:spPr>
          <a:xfrm>
            <a:off x="637540" y="1017909"/>
            <a:ext cx="9417050" cy="4355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6675">
            <a:spAutoFit/>
          </a:bodyPr>
          <a:lstStyle/>
          <a:p>
            <a:pPr indent="-342265" lvl="0" marL="4057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At the beginning, </a:t>
            </a:r>
            <a:r>
              <a:rPr lang="en-US" sz="24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split the initial image</a:t>
            </a:r>
            <a:r>
              <a:rPr lang="en-US" sz="24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into quadrants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484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Split into four disjoint quadrants any region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aseline="-25000" lang="en-US" sz="2475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 which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P(R</a:t>
            </a:r>
            <a:r>
              <a:rPr b="1" baseline="-25000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)=FALSE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Merge any adjacent regions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="1" baseline="-25000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and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="1" baseline="-25000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for which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P(R</a:t>
            </a:r>
            <a:r>
              <a:rPr b="1" baseline="-25000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 </a:t>
            </a:r>
            <a:r>
              <a:rPr b="1" lang="en-US" sz="24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∪</a:t>
            </a:r>
            <a:r>
              <a:rPr lang="en-US"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</a:t>
            </a:r>
            <a:r>
              <a:rPr b="1" baseline="-25000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j</a:t>
            </a:r>
            <a:r>
              <a:rPr b="1"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) = True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405765" rtl="0" algn="l">
              <a:lnSpc>
                <a:spcPct val="100000"/>
              </a:lnSpc>
              <a:spcBef>
                <a:spcPts val="53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Bell MT"/>
              <a:buAutoNum type="arabicPeriod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Stop until no further merging or splitting is possible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1" marL="405765" rtl="0" algn="l">
              <a:lnSpc>
                <a:spcPct val="100000"/>
              </a:lnSpc>
              <a:spcBef>
                <a:spcPts val="405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b="1" lang="en-US" sz="24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Example: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95909" lvl="2" marL="1932304" rtl="0" algn="l">
              <a:lnSpc>
                <a:spcPct val="100000"/>
              </a:lnSpc>
              <a:spcBef>
                <a:spcPts val="2685"/>
              </a:spcBef>
              <a:spcAft>
                <a:spcPts val="0"/>
              </a:spcAft>
              <a:buSzPts val="1800"/>
              <a:buFont typeface="Bell MT"/>
              <a:buAutoNum type="alphaLcParenBoth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309244" lvl="2" marL="1945640" marR="58978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F0"/>
              </a:buClr>
              <a:buSzPts val="1800"/>
              <a:buFont typeface="Bell MT"/>
              <a:buAutoNum type="alphaLcParenBoth"/>
            </a:pPr>
            <a:r>
              <a:rPr lang="en-US" sz="18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Result of split &amp; merge procedure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290194" lvl="2" marL="1926590" marR="628142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Bell MT"/>
              <a:buAutoNum type="alphaLcParenBoth"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Result of thresholding (a)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13" name="Google Shape;913;p71"/>
          <p:cNvSpPr txBox="1"/>
          <p:nvPr/>
        </p:nvSpPr>
        <p:spPr>
          <a:xfrm>
            <a:off x="7562156" y="5611920"/>
            <a:ext cx="28448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(b)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71"/>
          <p:cNvSpPr txBox="1"/>
          <p:nvPr/>
        </p:nvSpPr>
        <p:spPr>
          <a:xfrm>
            <a:off x="5185631" y="5603919"/>
            <a:ext cx="27432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(a)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71"/>
          <p:cNvSpPr txBox="1"/>
          <p:nvPr/>
        </p:nvSpPr>
        <p:spPr>
          <a:xfrm>
            <a:off x="9770432" y="5603919"/>
            <a:ext cx="2609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(c)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7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7" name="Google Shape;917;p7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8" name="Google Shape;918;p7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7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4" name="Google Shape;924;p7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25" name="Google Shape;925;p7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26" name="Google Shape;926;p72"/>
          <p:cNvSpPr txBox="1"/>
          <p:nvPr/>
        </p:nvSpPr>
        <p:spPr>
          <a:xfrm>
            <a:off x="688340" y="961905"/>
            <a:ext cx="9953625" cy="1558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is </a:t>
            </a:r>
            <a:r>
              <a:rPr b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Watershed?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 watershed is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area of	land that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drains to a particular point along a stream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27" name="Google Shape;927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2895600"/>
            <a:ext cx="10858500" cy="2715005"/>
          </a:xfrm>
          <a:prstGeom prst="rect">
            <a:avLst/>
          </a:prstGeom>
          <a:noFill/>
          <a:ln>
            <a:noFill/>
          </a:ln>
        </p:spPr>
      </p:pic>
      <p:sp>
        <p:nvSpPr>
          <p:cNvPr id="928" name="Google Shape;928;p72"/>
          <p:cNvSpPr txBox="1"/>
          <p:nvPr/>
        </p:nvSpPr>
        <p:spPr>
          <a:xfrm>
            <a:off x="95779" y="6087628"/>
            <a:ext cx="4662300" cy="1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1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i="1" lang="en-US" sz="11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https</a:t>
            </a:r>
            <a:r>
              <a:rPr i="1" lang="en-US" sz="1100" u="sng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://www.neefusa.org/nature/water/lesson-1-watershed-basics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7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0" name="Google Shape;930;p7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31" name="Google Shape;931;p7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7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7" name="Google Shape;937;p7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38" name="Google Shape;93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8400" y="2362212"/>
            <a:ext cx="7315199" cy="3672827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7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40" name="Google Shape;940;p73"/>
          <p:cNvSpPr txBox="1"/>
          <p:nvPr/>
        </p:nvSpPr>
        <p:spPr>
          <a:xfrm>
            <a:off x="688340" y="939699"/>
            <a:ext cx="9953625" cy="15805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74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What is </a:t>
            </a:r>
            <a:r>
              <a:rPr b="1"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Watershed? </a:t>
            </a:r>
            <a:r>
              <a:rPr lang="en-US" sz="33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….continued</a:t>
            </a:r>
            <a:endParaRPr sz="3350">
              <a:latin typeface="Bell MT"/>
              <a:ea typeface="Bell MT"/>
              <a:cs typeface="Bell MT"/>
              <a:sym typeface="Bell MT"/>
            </a:endParaRPr>
          </a:p>
          <a:p>
            <a:pPr indent="-286385" lvl="0" marL="75565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A watershed is the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area of	land that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drains to a particular point along a stream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41" name="Google Shape;941;p73"/>
          <p:cNvSpPr txBox="1"/>
          <p:nvPr/>
        </p:nvSpPr>
        <p:spPr>
          <a:xfrm>
            <a:off x="122849" y="6240028"/>
            <a:ext cx="3954145" cy="19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1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Image source: https://springfieldohio.gov/we-all-live-in-a-watershed/</a:t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7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3" name="Google Shape;943;p7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7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7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0" name="Google Shape;950;p7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1" name="Google Shape;951;p7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52" name="Google Shape;952;p74"/>
          <p:cNvSpPr txBox="1"/>
          <p:nvPr/>
        </p:nvSpPr>
        <p:spPr>
          <a:xfrm>
            <a:off x="688340" y="1064007"/>
            <a:ext cx="10732135" cy="1000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Visualize an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in 3D topographic view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spatial coordinates and gray levels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953" name="Google Shape;953;p74"/>
          <p:cNvSpPr txBox="1"/>
          <p:nvPr/>
        </p:nvSpPr>
        <p:spPr>
          <a:xfrm>
            <a:off x="3354939" y="4895296"/>
            <a:ext cx="8096250" cy="833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0" lvl="0" marL="12700" marR="5080" rtl="0" algn="l">
              <a:lnSpc>
                <a:spcPct val="1194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(a) 2D </a:t>
            </a:r>
            <a:r>
              <a:rPr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image representation	(</a:t>
            </a:r>
            <a:r>
              <a:rPr b="1"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b) </a:t>
            </a:r>
            <a:r>
              <a:rPr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Point cloud (3D)	(</a:t>
            </a:r>
            <a:r>
              <a:rPr b="1"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c) </a:t>
            </a:r>
            <a:r>
              <a:rPr lang="en-US" sz="1800">
                <a:solidFill>
                  <a:srgbClr val="131413"/>
                </a:solidFill>
                <a:latin typeface="Calibri"/>
                <a:ea typeface="Calibri"/>
                <a:cs typeface="Calibri"/>
                <a:sym typeface="Calibri"/>
              </a:rPr>
              <a:t>3-D mesh </a:t>
            </a: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(for example, gray)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0" lvl="0" marL="2549525" rtl="0" algn="l">
              <a:lnSpc>
                <a:spcPct val="110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3-D Face Representations </a:t>
            </a:r>
            <a:r>
              <a:rPr lang="en-US" sz="18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(3D topographic view)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4" name="Google Shape;954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81400" y="1676400"/>
            <a:ext cx="8487155" cy="3299447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4"/>
          <p:cNvSpPr txBox="1"/>
          <p:nvPr/>
        </p:nvSpPr>
        <p:spPr>
          <a:xfrm>
            <a:off x="75564" y="6240028"/>
            <a:ext cx="9653905" cy="185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0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Image source: </a:t>
            </a:r>
            <a:r>
              <a:rPr i="1" lang="en-US" sz="105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3-D face recognition: Features, databases, algorithms and challenges, Artificial Intelligence Review, 44(3):393-441, October 2015, DOI: 10.1007/s10462-015-9431-0</a:t>
            </a:r>
            <a:endParaRPr sz="105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7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7" name="Google Shape;957;p7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8" name="Google Shape;958;p7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4" name="Google Shape;964;p7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5" name="Google Shape;965;p7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66" name="Google Shape;966;p75"/>
          <p:cNvSpPr txBox="1"/>
          <p:nvPr/>
        </p:nvSpPr>
        <p:spPr>
          <a:xfrm>
            <a:off x="688350" y="1064000"/>
            <a:ext cx="11199300" cy="11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575">
            <a:spAutoFit/>
          </a:bodyPr>
          <a:lstStyle/>
          <a:p>
            <a:pPr indent="-342900" lvl="0" marL="355600" marR="5080" rtl="0" algn="l">
              <a:lnSpc>
                <a:spcPct val="114626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050"/>
              <a:buFont typeface="Noto Sans Symbols"/>
              <a:buChar char="■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Visualize an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image in 3D topographic view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 spatial coordinates and gray levels </a:t>
            </a:r>
            <a:r>
              <a:rPr lang="en-US" sz="335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….continued</a:t>
            </a:r>
            <a:endParaRPr sz="335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67" name="Google Shape;96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9916" y="2187354"/>
            <a:ext cx="7540122" cy="3724968"/>
          </a:xfrm>
          <a:prstGeom prst="rect">
            <a:avLst/>
          </a:prstGeom>
          <a:noFill/>
          <a:ln>
            <a:noFill/>
          </a:ln>
        </p:spPr>
      </p:pic>
      <p:sp>
        <p:nvSpPr>
          <p:cNvPr id="968" name="Google Shape;968;p7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9" name="Google Shape;969;p7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70" name="Google Shape;970;p7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76" name="Google Shape;976;p7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977" name="Google Shape;97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4954" y="1077394"/>
            <a:ext cx="3634038" cy="1959998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7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79" name="Google Shape;979;p76"/>
          <p:cNvSpPr txBox="1"/>
          <p:nvPr/>
        </p:nvSpPr>
        <p:spPr>
          <a:xfrm>
            <a:off x="381375" y="1134775"/>
            <a:ext cx="7745700" cy="47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3873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a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3D topographic interpretation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of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the image, </a:t>
            </a:r>
            <a:r>
              <a:rPr lang="en-US" sz="3200" u="none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there are 3 types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of	points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Point belonging to a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regional minimum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17780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Catchment basin or watershed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: Points at 	which a drop of	water, if	placed at the 	location of	any these points, would fall with 	certainty to a single minimum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Divide lines or watershed lines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: points at which it would be	equally likely for a drop of water to fall to more than one such minimum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80" name="Google Shape;980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41030" y="3429000"/>
            <a:ext cx="3945635" cy="1981199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7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2" name="Google Shape;982;p7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7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89" name="Google Shape;989;p7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90" name="Google Shape;990;p7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sp>
        <p:nvSpPr>
          <p:cNvPr id="991" name="Google Shape;991;p77"/>
          <p:cNvSpPr txBox="1"/>
          <p:nvPr/>
        </p:nvSpPr>
        <p:spPr>
          <a:xfrm>
            <a:off x="688352" y="1058675"/>
            <a:ext cx="11199300" cy="508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350"/>
              <a:buFont typeface="Noto Sans Symbols"/>
              <a:buChar char="▪"/>
            </a:pPr>
            <a:r>
              <a:rPr lang="en-US" sz="36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objective is to find </a:t>
            </a:r>
            <a:r>
              <a:rPr lang="en-US" sz="36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watershed lines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23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The idea is simple: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457199" lvl="1" marL="926464" marR="132715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Clr>
                <a:srgbClr val="4F81BD"/>
              </a:buClr>
              <a:buSzPts val="1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Suppose that a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hole is punched in each regional minimum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and that the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entire topography is flooded</a:t>
            </a:r>
            <a:r>
              <a:rPr lang="en-US" sz="28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from below 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by letting water rise through the holes at a uniform rate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457200" lvl="1" marL="927100" marR="50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Clr>
                <a:srgbClr val="4F81BD"/>
              </a:buClr>
              <a:buSzPts val="1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When rising water in distinct catchment basins is about the merge, a </a:t>
            </a:r>
            <a:r>
              <a:rPr lang="en-US" sz="28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dam is built to prevent merging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456564" lvl="1" marL="926464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Clr>
                <a:srgbClr val="4F81BD"/>
              </a:buClr>
              <a:buSzPts val="1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These </a:t>
            </a:r>
            <a:r>
              <a:rPr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dam boundaries correspond to the </a:t>
            </a:r>
            <a:r>
              <a:rPr lang="en-US" sz="2800" u="sng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watershed lines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992" name="Google Shape;992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1066800"/>
            <a:ext cx="2788919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993" name="Google Shape;993;p7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4" name="Google Shape;994;p7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5" name="Google Shape;995;p7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9" name="Shape 9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0" name="Google Shape;1000;p78"/>
          <p:cNvGrpSpPr/>
          <p:nvPr/>
        </p:nvGrpSpPr>
        <p:grpSpPr>
          <a:xfrm>
            <a:off x="6476988" y="1066789"/>
            <a:ext cx="5423915" cy="5272984"/>
            <a:chOff x="6477000" y="914400"/>
            <a:chExt cx="5423915" cy="5425439"/>
          </a:xfrm>
        </p:grpSpPr>
        <p:pic>
          <p:nvPicPr>
            <p:cNvPr id="1001" name="Google Shape;1001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423148" y="3581400"/>
              <a:ext cx="3477767" cy="275843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2" name="Google Shape;1002;p7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7000" y="914400"/>
              <a:ext cx="3685019" cy="281939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03" name="Google Shape;1003;p78"/>
          <p:cNvSpPr txBox="1"/>
          <p:nvPr>
            <p:ph idx="4294967295" type="title"/>
          </p:nvPr>
        </p:nvSpPr>
        <p:spPr>
          <a:xfrm>
            <a:off x="75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</a:t>
            </a:r>
            <a:endParaRPr/>
          </a:p>
        </p:txBody>
      </p:sp>
      <p:pic>
        <p:nvPicPr>
          <p:cNvPr id="1004" name="Google Shape;1004;p7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0492" y="1066800"/>
            <a:ext cx="4120799" cy="2083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5" name="Google Shape;1005;p7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0137" y="3429000"/>
            <a:ext cx="5142303" cy="2633710"/>
          </a:xfrm>
          <a:prstGeom prst="rect">
            <a:avLst/>
          </a:prstGeom>
          <a:noFill/>
          <a:ln>
            <a:noFill/>
          </a:ln>
        </p:spPr>
      </p:pic>
      <p:sp>
        <p:nvSpPr>
          <p:cNvPr id="1006" name="Google Shape;1006;p7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7" name="Google Shape;1007;p78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3" name="Google Shape;1013;p7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14" name="Google Shape;1014;p7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Watershed Segmentation – Steps</a:t>
            </a:r>
            <a:endParaRPr/>
          </a:p>
        </p:txBody>
      </p:sp>
      <p:sp>
        <p:nvSpPr>
          <p:cNvPr id="1015" name="Google Shape;1015;p79"/>
          <p:cNvSpPr txBox="1"/>
          <p:nvPr/>
        </p:nvSpPr>
        <p:spPr>
          <a:xfrm>
            <a:off x="701040" y="1151382"/>
            <a:ext cx="1832610" cy="44894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15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Algorithm: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16" name="Google Shape;1016;p79"/>
          <p:cNvSpPr txBox="1"/>
          <p:nvPr/>
        </p:nvSpPr>
        <p:spPr>
          <a:xfrm>
            <a:off x="688340" y="1547120"/>
            <a:ext cx="10171500" cy="40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Start with </a:t>
            </a:r>
            <a:r>
              <a:rPr lang="en-US" sz="3200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all pixels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with the </a:t>
            </a:r>
            <a:r>
              <a:rPr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lowest possible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value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These form the </a:t>
            </a:r>
            <a:r>
              <a:rPr lang="en-US" sz="28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basis for initial watersheds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For each intensity level </a:t>
            </a:r>
            <a:r>
              <a:rPr i="1"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For each pixel of	intensity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k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09728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If	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adjacent to exactly one existing region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, add these pixels to that region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0972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Else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if adjacent to more than one existing regions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, mark as boundary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27329" lvl="2" marL="1097280" rtl="0" algn="l">
              <a:lnSpc>
                <a:spcPct val="100000"/>
              </a:lnSpc>
              <a:spcBef>
                <a:spcPts val="58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Else start a new region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12750" rtl="0" algn="l">
              <a:lnSpc>
                <a:spcPct val="100000"/>
              </a:lnSpc>
              <a:spcBef>
                <a:spcPts val="635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Implemented with breadth-first search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17" name="Google Shape;1017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55681" y="4706873"/>
            <a:ext cx="3378665" cy="1709166"/>
          </a:xfrm>
          <a:prstGeom prst="rect">
            <a:avLst/>
          </a:prstGeom>
          <a:noFill/>
          <a:ln>
            <a:noFill/>
          </a:ln>
        </p:spPr>
      </p:pic>
      <p:sp>
        <p:nvSpPr>
          <p:cNvPr id="1018" name="Google Shape;1018;p7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19" name="Google Shape;1019;p7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0" name="Google Shape;1020;p7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8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26" name="Google Shape;1026;p80"/>
          <p:cNvGrpSpPr/>
          <p:nvPr/>
        </p:nvGrpSpPr>
        <p:grpSpPr>
          <a:xfrm>
            <a:off x="305180" y="974978"/>
            <a:ext cx="11582400" cy="5169027"/>
            <a:chOff x="305180" y="974978"/>
            <a:chExt cx="11582400" cy="5169027"/>
          </a:xfrm>
        </p:grpSpPr>
        <p:sp>
          <p:nvSpPr>
            <p:cNvPr id="1027" name="Google Shape;1027;p80"/>
            <p:cNvSpPr/>
            <p:nvPr/>
          </p:nvSpPr>
          <p:spPr>
            <a:xfrm>
              <a:off x="305180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28" name="Google Shape;1028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434334" y="981468"/>
              <a:ext cx="5181599" cy="5162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9" name="Google Shape;1029;p80"/>
            <p:cNvSpPr/>
            <p:nvPr/>
          </p:nvSpPr>
          <p:spPr>
            <a:xfrm>
              <a:off x="3836596" y="5513143"/>
              <a:ext cx="610870" cy="614045"/>
            </a:xfrm>
            <a:custGeom>
              <a:rect b="b" l="l" r="r" t="t"/>
              <a:pathLst>
                <a:path extrusionOk="0" h="614045" w="610870">
                  <a:moveTo>
                    <a:pt x="610501" y="613943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0" name="Google Shape;1030;p80"/>
            <p:cNvSpPr/>
            <p:nvPr/>
          </p:nvSpPr>
          <p:spPr>
            <a:xfrm>
              <a:off x="3836592" y="5513144"/>
              <a:ext cx="128270" cy="128270"/>
            </a:xfrm>
            <a:custGeom>
              <a:rect b="b" l="l" r="r" t="t"/>
              <a:pathLst>
                <a:path extrusionOk="0" h="128270" w="128270">
                  <a:moveTo>
                    <a:pt x="33312" y="128066"/>
                  </a:moveTo>
                  <a:lnTo>
                    <a:pt x="0" y="0"/>
                  </a:lnTo>
                  <a:lnTo>
                    <a:pt x="127876" y="34048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31" name="Google Shape;1031;p80"/>
          <p:cNvSpPr txBox="1"/>
          <p:nvPr>
            <p:ph idx="4294967295" type="title"/>
          </p:nvPr>
        </p:nvSpPr>
        <p:spPr>
          <a:xfrm>
            <a:off x="0" y="153150"/>
            <a:ext cx="121920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00"/>
                </a:solidFill>
              </a:rPr>
              <a:t>Figure Illustration of	Watersheds Algorithms</a:t>
            </a:r>
            <a:endParaRPr sz="3600"/>
          </a:p>
        </p:txBody>
      </p:sp>
      <p:sp>
        <p:nvSpPr>
          <p:cNvPr id="1032" name="Google Shape;1032;p80"/>
          <p:cNvSpPr txBox="1"/>
          <p:nvPr/>
        </p:nvSpPr>
        <p:spPr>
          <a:xfrm>
            <a:off x="8773475" y="4127250"/>
            <a:ext cx="29064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Next stage of flooding where water has leaked from hole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33" name="Google Shape;1033;p80"/>
          <p:cNvSpPr txBox="1"/>
          <p:nvPr/>
        </p:nvSpPr>
        <p:spPr>
          <a:xfrm>
            <a:off x="6135477" y="6102350"/>
            <a:ext cx="5752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Water started leaking through hole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1034" name="Google Shape;1034;p80"/>
          <p:cNvGrpSpPr/>
          <p:nvPr/>
        </p:nvGrpSpPr>
        <p:grpSpPr>
          <a:xfrm>
            <a:off x="6750968" y="4990265"/>
            <a:ext cx="229094" cy="1151255"/>
            <a:chOff x="6750968" y="4990265"/>
            <a:chExt cx="229094" cy="1151255"/>
          </a:xfrm>
        </p:grpSpPr>
        <p:sp>
          <p:nvSpPr>
            <p:cNvPr id="1035" name="Google Shape;1035;p80"/>
            <p:cNvSpPr/>
            <p:nvPr/>
          </p:nvSpPr>
          <p:spPr>
            <a:xfrm>
              <a:off x="6799087" y="4990265"/>
              <a:ext cx="180975" cy="1151255"/>
            </a:xfrm>
            <a:custGeom>
              <a:rect b="b" l="l" r="r" t="t"/>
              <a:pathLst>
                <a:path extrusionOk="0" h="1151254" w="180975">
                  <a:moveTo>
                    <a:pt x="180848" y="1150734"/>
                  </a:moveTo>
                  <a:lnTo>
                    <a:pt x="0" y="0"/>
                  </a:lnTo>
                </a:path>
              </a:pathLst>
            </a:cu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sp>
          <p:nvSpPr>
            <p:cNvPr id="1036" name="Google Shape;1036;p80"/>
            <p:cNvSpPr/>
            <p:nvPr/>
          </p:nvSpPr>
          <p:spPr>
            <a:xfrm>
              <a:off x="6750968" y="4990266"/>
              <a:ext cx="132080" cy="123825"/>
            </a:xfrm>
            <a:custGeom>
              <a:rect b="b" l="l" r="r" t="t"/>
              <a:pathLst>
                <a:path extrusionOk="0" h="123825" w="132079">
                  <a:moveTo>
                    <a:pt x="131737" y="102552"/>
                  </a:moveTo>
                  <a:lnTo>
                    <a:pt x="48120" y="0"/>
                  </a:lnTo>
                  <a:lnTo>
                    <a:pt x="0" y="123266"/>
                  </a:lnTo>
                </a:path>
              </a:pathLst>
            </a:custGeom>
            <a:noFill/>
            <a:ln cap="flat" cmpd="sng" w="380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</p:grpSp>
      <p:sp>
        <p:nvSpPr>
          <p:cNvPr id="1037" name="Google Shape;1037;p80"/>
          <p:cNvSpPr txBox="1"/>
          <p:nvPr/>
        </p:nvSpPr>
        <p:spPr>
          <a:xfrm>
            <a:off x="1915477" y="2222246"/>
            <a:ext cx="145097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38" name="Google Shape;1038;p80"/>
          <p:cNvSpPr txBox="1"/>
          <p:nvPr/>
        </p:nvSpPr>
        <p:spPr>
          <a:xfrm>
            <a:off x="8676800" y="1954975"/>
            <a:ext cx="15483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Topographic View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39" name="Google Shape;1039;p80"/>
          <p:cNvSpPr txBox="1"/>
          <p:nvPr/>
        </p:nvSpPr>
        <p:spPr>
          <a:xfrm>
            <a:off x="152775" y="4403475"/>
            <a:ext cx="6015000" cy="20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696720" marR="2797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Start of flooding where only the darkest portions are flooded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2605"/>
              </a:spcBef>
              <a:spcAft>
                <a:spcPts val="0"/>
              </a:spcAft>
              <a:buNone/>
            </a:pPr>
            <a:r>
              <a:rPr i="1" lang="en-US" sz="1800">
                <a:latin typeface="Courier New"/>
                <a:ea typeface="Courier New"/>
                <a:cs typeface="Courier New"/>
                <a:sym typeface="Courier New"/>
              </a:rPr>
              <a:t>Initial flooded area (the darkest portions)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40" name="Google Shape;1040;p8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1" name="Google Shape;1041;p80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47" name="Google Shape;1047;p81"/>
          <p:cNvGrpSpPr/>
          <p:nvPr/>
        </p:nvGrpSpPr>
        <p:grpSpPr>
          <a:xfrm>
            <a:off x="305181" y="974978"/>
            <a:ext cx="11582400" cy="5430010"/>
            <a:chOff x="305181" y="974978"/>
            <a:chExt cx="11582400" cy="5430010"/>
          </a:xfrm>
        </p:grpSpPr>
        <p:sp>
          <p:nvSpPr>
            <p:cNvPr id="1048" name="Google Shape;1048;p81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49" name="Google Shape;1049;p8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71800" y="994409"/>
              <a:ext cx="5410199" cy="541057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50" name="Google Shape;1050;p81"/>
          <p:cNvSpPr txBox="1"/>
          <p:nvPr/>
        </p:nvSpPr>
        <p:spPr>
          <a:xfrm>
            <a:off x="8536940" y="4383646"/>
            <a:ext cx="197358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Final watershed (segmentation ) lines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1" name="Google Shape;1051;p8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Figure Illustration of	Watersheds Algorithms</a:t>
            </a:r>
            <a:endParaRPr/>
          </a:p>
        </p:txBody>
      </p:sp>
      <p:sp>
        <p:nvSpPr>
          <p:cNvPr id="1052" name="Google Shape;1052;p81"/>
          <p:cNvSpPr txBox="1"/>
          <p:nvPr/>
        </p:nvSpPr>
        <p:spPr>
          <a:xfrm>
            <a:off x="1897601" y="1841246"/>
            <a:ext cx="857250" cy="850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002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Result of further flooding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3" name="Google Shape;1053;p81"/>
          <p:cNvSpPr txBox="1"/>
          <p:nvPr/>
        </p:nvSpPr>
        <p:spPr>
          <a:xfrm>
            <a:off x="8536830" y="1157503"/>
            <a:ext cx="2400935" cy="13989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marR="5080" rtl="0" algn="l">
              <a:lnSpc>
                <a:spcPct val="1000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Beginning of merging of water from two catchment basins (a short dam was built between them)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4" name="Google Shape;1054;p81"/>
          <p:cNvSpPr txBox="1"/>
          <p:nvPr/>
        </p:nvSpPr>
        <p:spPr>
          <a:xfrm>
            <a:off x="1621909" y="4660798"/>
            <a:ext cx="125666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Longer dams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55" name="Google Shape;1055;p8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6" name="Google Shape;1056;p8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7" name="Google Shape;1057;p8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8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3" name="Google Shape;1063;p8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64" name="Google Shape;1064;p8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Note</a:t>
            </a:r>
            <a:endParaRPr/>
          </a:p>
        </p:txBody>
      </p:sp>
      <p:sp>
        <p:nvSpPr>
          <p:cNvPr id="1065" name="Google Shape;1065;p82"/>
          <p:cNvSpPr txBox="1"/>
          <p:nvPr/>
        </p:nvSpPr>
        <p:spPr>
          <a:xfrm>
            <a:off x="305175" y="1381200"/>
            <a:ext cx="115824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In practice, </a:t>
            </a:r>
            <a:r>
              <a:rPr lang="en-US" sz="3200" u="sng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Watershed Segmentation approach is usually</a:t>
            </a:r>
            <a:r>
              <a:rPr lang="en-US" sz="3200" u="none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applied to the </a:t>
            </a:r>
            <a:r>
              <a:rPr lang="en-US" sz="3200" u="sng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gradient of an image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, rather than on the image itself.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66" name="Google Shape;1066;p8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7" name="Google Shape;1067;p8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8" name="Google Shape;1068;p8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8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4" name="Google Shape;1074;p8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5" name="Google Shape;1075;p8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Applications of	Watershed Segmentation</a:t>
            </a:r>
            <a:endParaRPr/>
          </a:p>
        </p:txBody>
      </p:sp>
      <p:sp>
        <p:nvSpPr>
          <p:cNvPr id="1076" name="Google Shape;1076;p83"/>
          <p:cNvSpPr txBox="1"/>
          <p:nvPr/>
        </p:nvSpPr>
        <p:spPr>
          <a:xfrm>
            <a:off x="305176" y="1168300"/>
            <a:ext cx="11582400" cy="14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One of the principal applications of watershed segmentation is in the </a:t>
            </a:r>
            <a:r>
              <a:rPr lang="en-US" sz="32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extraction of nearly uniform (blob like) objects</a:t>
            </a:r>
            <a:r>
              <a:rPr lang="en-US" sz="32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from the background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077" name="Google Shape;1077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73337" y="2327110"/>
            <a:ext cx="3924287" cy="3952493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8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79" name="Google Shape;1079;p8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0" name="Google Shape;1080;p8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086" name="Google Shape;1086;p84"/>
          <p:cNvGrpSpPr/>
          <p:nvPr/>
        </p:nvGrpSpPr>
        <p:grpSpPr>
          <a:xfrm>
            <a:off x="305181" y="974978"/>
            <a:ext cx="11582400" cy="5411968"/>
            <a:chOff x="305181" y="974978"/>
            <a:chExt cx="11582400" cy="5411968"/>
          </a:xfrm>
        </p:grpSpPr>
        <p:sp>
          <p:nvSpPr>
            <p:cNvPr id="1087" name="Google Shape;1087;p84"/>
            <p:cNvSpPr/>
            <p:nvPr/>
          </p:nvSpPr>
          <p:spPr>
            <a:xfrm>
              <a:off x="305181" y="974978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088" name="Google Shape;1088;p8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71800" y="1005077"/>
              <a:ext cx="5441441" cy="5381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89" name="Google Shape;1089;p84"/>
          <p:cNvSpPr txBox="1"/>
          <p:nvPr>
            <p:ph idx="4294967295" type="title"/>
          </p:nvPr>
        </p:nvSpPr>
        <p:spPr>
          <a:xfrm>
            <a:off x="0" y="76950"/>
            <a:ext cx="12192000" cy="76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00">
                <a:solidFill>
                  <a:srgbClr val="FF0000"/>
                </a:solidFill>
              </a:rPr>
              <a:t>Example</a:t>
            </a:r>
            <a:endParaRPr sz="4900"/>
          </a:p>
        </p:txBody>
      </p:sp>
      <p:sp>
        <p:nvSpPr>
          <p:cNvPr id="1090" name="Google Shape;1090;p84"/>
          <p:cNvSpPr txBox="1"/>
          <p:nvPr/>
        </p:nvSpPr>
        <p:spPr>
          <a:xfrm>
            <a:off x="1831341" y="1994408"/>
            <a:ext cx="77406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Image of blobs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1" name="Google Shape;1091;p84"/>
          <p:cNvSpPr txBox="1"/>
          <p:nvPr/>
        </p:nvSpPr>
        <p:spPr>
          <a:xfrm>
            <a:off x="8536864" y="1841931"/>
            <a:ext cx="74358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Image gradient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2" name="Google Shape;1092;p84"/>
          <p:cNvSpPr txBox="1"/>
          <p:nvPr/>
        </p:nvSpPr>
        <p:spPr>
          <a:xfrm>
            <a:off x="1649750" y="4585125"/>
            <a:ext cx="11712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Watershed lines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3" name="Google Shape;1093;p84"/>
          <p:cNvSpPr txBox="1"/>
          <p:nvPr/>
        </p:nvSpPr>
        <p:spPr>
          <a:xfrm>
            <a:off x="8492287" y="4356531"/>
            <a:ext cx="141033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latin typeface="Bell MT"/>
                <a:ea typeface="Bell MT"/>
                <a:cs typeface="Bell MT"/>
                <a:sym typeface="Bell MT"/>
              </a:rPr>
              <a:t>Watershed lines superimposed on original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094" name="Google Shape;1094;p8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5" name="Google Shape;1095;p8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6" name="Google Shape;1096;p8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p8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2" name="Google Shape;1102;p8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03" name="Google Shape;1103;p8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Edge Based Segmentation</a:t>
            </a:r>
            <a:endParaRPr/>
          </a:p>
        </p:txBody>
      </p:sp>
      <p:sp>
        <p:nvSpPr>
          <p:cNvPr id="1104" name="Google Shape;1104;p85"/>
          <p:cNvSpPr txBox="1"/>
          <p:nvPr/>
        </p:nvSpPr>
        <p:spPr>
          <a:xfrm>
            <a:off x="305180" y="1132850"/>
            <a:ext cx="11582400" cy="11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98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Compute edges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Perform </a:t>
            </a:r>
            <a:r>
              <a:rPr lang="en-US" sz="3200">
                <a:solidFill>
                  <a:srgbClr val="00B0F0"/>
                </a:solidFill>
                <a:latin typeface="Bell MT"/>
                <a:ea typeface="Bell MT"/>
                <a:cs typeface="Bell MT"/>
                <a:sym typeface="Bell MT"/>
              </a:rPr>
              <a:t>edge linking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to get close boundary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pic>
        <p:nvPicPr>
          <p:cNvPr id="1105" name="Google Shape;1105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7725" y="2485644"/>
            <a:ext cx="8956547" cy="2941319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5"/>
          <p:cNvSpPr txBox="1"/>
          <p:nvPr/>
        </p:nvSpPr>
        <p:spPr>
          <a:xfrm>
            <a:off x="4523738" y="5592809"/>
            <a:ext cx="314388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Edge Based Segmentation Results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8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8" name="Google Shape;1108;p8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9" name="Google Shape;1109;p8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8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5" name="Google Shape;1115;p8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16" name="Google Shape;1116;p8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Comparison with Region based Techniques</a:t>
            </a:r>
            <a:endParaRPr/>
          </a:p>
        </p:txBody>
      </p:sp>
      <p:sp>
        <p:nvSpPr>
          <p:cNvPr id="1117" name="Google Shape;1117;p86"/>
          <p:cNvSpPr txBox="1"/>
          <p:nvPr/>
        </p:nvSpPr>
        <p:spPr>
          <a:xfrm>
            <a:off x="305176" y="1339700"/>
            <a:ext cx="11582400" cy="9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Region based techniques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are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better than edge based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latin typeface="Bell MT"/>
                <a:ea typeface="Bell MT"/>
                <a:cs typeface="Bell MT"/>
                <a:sym typeface="Bell MT"/>
              </a:rPr>
              <a:t>techniques for </a:t>
            </a:r>
            <a:r>
              <a:rPr lang="en-US" sz="3200" u="sng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noisy images</a:t>
            </a:r>
            <a:r>
              <a:rPr lang="en-US" sz="3200" u="none">
                <a:solidFill>
                  <a:srgbClr val="7030A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none">
                <a:latin typeface="Bell MT"/>
                <a:ea typeface="Bell MT"/>
                <a:cs typeface="Bell MT"/>
                <a:sym typeface="Bell MT"/>
              </a:rPr>
              <a:t>where edge detection is a problem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18" name="Google Shape;1118;p8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9" name="Google Shape;1119;p8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0" name="Google Shape;1120;p8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8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6" name="Google Shape;1126;p87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32" name="Google Shape;1132;p88"/>
          <p:cNvSpPr txBox="1"/>
          <p:nvPr>
            <p:ph idx="4294967295" type="title"/>
          </p:nvPr>
        </p:nvSpPr>
        <p:spPr>
          <a:xfrm>
            <a:off x="0" y="31147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508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latin typeface="Bell MT"/>
                <a:ea typeface="Bell MT"/>
                <a:cs typeface="Bell MT"/>
                <a:sym typeface="Bell MT"/>
              </a:rPr>
              <a:t>MORE ON WATERSHED SEGMENTATION</a:t>
            </a:r>
            <a:endParaRPr/>
          </a:p>
        </p:txBody>
      </p:sp>
      <p:sp>
        <p:nvSpPr>
          <p:cNvPr id="1133" name="Google Shape;1133;p8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4" name="Google Shape;1134;p88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1140" name="Google Shape;1140;p89"/>
          <p:cNvGrpSpPr/>
          <p:nvPr/>
        </p:nvGrpSpPr>
        <p:grpSpPr>
          <a:xfrm>
            <a:off x="305181" y="228600"/>
            <a:ext cx="11582400" cy="6048755"/>
            <a:chOff x="305181" y="228600"/>
            <a:chExt cx="11582400" cy="6048755"/>
          </a:xfrm>
        </p:grpSpPr>
        <p:sp>
          <p:nvSpPr>
            <p:cNvPr id="1141" name="Google Shape;1141;p89"/>
            <p:cNvSpPr/>
            <p:nvPr/>
          </p:nvSpPr>
          <p:spPr>
            <a:xfrm>
              <a:off x="305181" y="974979"/>
              <a:ext cx="11582400" cy="0"/>
            </a:xfrm>
            <a:custGeom>
              <a:rect b="b" l="l" r="r" t="t"/>
              <a:pathLst>
                <a:path extrusionOk="0" h="120000" w="11582400">
                  <a:moveTo>
                    <a:pt x="0" y="0"/>
                  </a:moveTo>
                  <a:lnTo>
                    <a:pt x="11582400" y="0"/>
                  </a:lnTo>
                </a:path>
              </a:pathLst>
            </a:custGeom>
            <a:noFill/>
            <a:ln cap="flat" cmpd="sng" w="9525">
              <a:solidFill>
                <a:srgbClr val="A5002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/>
            </a:p>
          </p:txBody>
        </p:sp>
        <p:pic>
          <p:nvPicPr>
            <p:cNvPr id="1142" name="Google Shape;1142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944106" y="228600"/>
              <a:ext cx="4139933" cy="604875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43" name="Google Shape;1143;p89"/>
          <p:cNvSpPr txBox="1"/>
          <p:nvPr/>
        </p:nvSpPr>
        <p:spPr>
          <a:xfrm>
            <a:off x="457580" y="3657980"/>
            <a:ext cx="5347335" cy="2247265"/>
          </a:xfrm>
          <a:prstGeom prst="rect">
            <a:avLst/>
          </a:prstGeom>
          <a:noFill/>
          <a:ln cap="flat" cmpd="sng" w="25400">
            <a:solidFill>
              <a:srgbClr val="C050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2850">
            <a:spAutoFit/>
          </a:bodyPr>
          <a:lstStyle/>
          <a:p>
            <a:pPr indent="-325755" lvl="0" marL="416560" marR="599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ll MT"/>
              <a:buAutoNum type="alphaLcParenBoth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Two partially flooded catchment basins at stage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n-1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of flooding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1630" lvl="0" marL="432435" marR="15684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ll MT"/>
              <a:buAutoNum type="alphaLcParenBoth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Flooding at stage </a:t>
            </a:r>
            <a:r>
              <a:rPr i="1" lang="en-US" sz="2000"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, showing that water has spilled between basins (for clarity, water is shown in white rather than black)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20675" lvl="0" marL="41148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ll MT"/>
              <a:buAutoNum type="alphaLcParenBoth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Structuring element used for dilation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4170" lvl="0" marL="4349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ll MT"/>
              <a:buAutoNum type="alphaLcParenBoth"/>
            </a:pP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Result of dilation and dam construction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4" name="Google Shape;1144;p89"/>
          <p:cNvSpPr txBox="1"/>
          <p:nvPr/>
        </p:nvSpPr>
        <p:spPr>
          <a:xfrm>
            <a:off x="6475125" y="1166495"/>
            <a:ext cx="287655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(a)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5" name="Google Shape;1145;p89"/>
          <p:cNvSpPr txBox="1"/>
          <p:nvPr/>
        </p:nvSpPr>
        <p:spPr>
          <a:xfrm>
            <a:off x="6475125" y="2655595"/>
            <a:ext cx="304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(b)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6" name="Google Shape;1146;p89"/>
          <p:cNvSpPr txBox="1"/>
          <p:nvPr/>
        </p:nvSpPr>
        <p:spPr>
          <a:xfrm>
            <a:off x="8629451" y="5941720"/>
            <a:ext cx="30480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(d)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7" name="Google Shape;1147;p89"/>
          <p:cNvSpPr txBox="1"/>
          <p:nvPr/>
        </p:nvSpPr>
        <p:spPr>
          <a:xfrm>
            <a:off x="10780577" y="3920896"/>
            <a:ext cx="285750" cy="299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(c)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48" name="Google Shape;1148;p8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Process of	Dam Construction</a:t>
            </a:r>
            <a:endParaRPr/>
          </a:p>
        </p:txBody>
      </p:sp>
      <p:sp>
        <p:nvSpPr>
          <p:cNvPr id="1149" name="Google Shape;1149;p8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0" name="Google Shape;1150;p8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51" name="Google Shape;1151;p8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0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7" name="Google Shape;1157;p9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58" name="Google Shape;1158;p90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159" name="Google Shape;1159;p90"/>
          <p:cNvSpPr txBox="1"/>
          <p:nvPr/>
        </p:nvSpPr>
        <p:spPr>
          <a:xfrm>
            <a:off x="305176" y="1126175"/>
            <a:ext cx="11582400" cy="4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7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Dam construction is based on </a:t>
            </a:r>
            <a:r>
              <a:rPr lang="en-US" sz="2400" u="sng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binary images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The simplest method to make dam in binary images is to </a:t>
            </a:r>
            <a:r>
              <a:rPr lang="en-US" sz="2400" u="sng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use morphological dilation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29539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Figure (a) [in previous figure] shows the points in the catchment basins associated with these two minima at stage </a:t>
            </a:r>
            <a:r>
              <a:rPr i="1" lang="en-US" sz="2400">
                <a:latin typeface="Bell MT"/>
                <a:ea typeface="Bell MT"/>
                <a:cs typeface="Bell MT"/>
                <a:sym typeface="Bell MT"/>
              </a:rPr>
              <a:t>n-1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113664" rtl="0" algn="l">
              <a:lnSpc>
                <a:spcPct val="100000"/>
              </a:lnSpc>
              <a:spcBef>
                <a:spcPts val="288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Let each connected component (of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(a)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) is dilated by the structuring element shown in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(c)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–	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Let union of original components shown in </a:t>
            </a:r>
            <a:r>
              <a:rPr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(a) </a:t>
            </a:r>
            <a:r>
              <a:rPr lang="en-US" sz="2000">
                <a:latin typeface="Bell MT"/>
                <a:ea typeface="Bell MT"/>
                <a:cs typeface="Bell MT"/>
                <a:sym typeface="Bell MT"/>
              </a:rPr>
              <a:t>denoted as </a:t>
            </a:r>
            <a:r>
              <a:rPr lang="en-US" sz="2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 [n-1]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1073785" rtl="0" algn="l">
              <a:lnSpc>
                <a:spcPct val="100000"/>
              </a:lnSpc>
              <a:spcBef>
                <a:spcPts val="2840"/>
              </a:spcBef>
              <a:spcAft>
                <a:spcPts val="0"/>
              </a:spcAft>
              <a:buClr>
                <a:srgbClr val="FF0000"/>
              </a:buClr>
              <a:buSzPts val="1900"/>
              <a:buFont typeface="Noto Sans Symbols"/>
              <a:buChar char="▪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After dilation we get one connected components shown in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(b)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which encompasses the original components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60" name="Google Shape;1160;p9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1" name="Google Shape;1161;p90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62" name="Google Shape;1162;p90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9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8" name="Google Shape;1168;p9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69" name="Google Shape;1169;p91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170" name="Google Shape;1170;p91"/>
          <p:cNvSpPr txBox="1"/>
          <p:nvPr/>
        </p:nvSpPr>
        <p:spPr>
          <a:xfrm>
            <a:off x="305176" y="1168300"/>
            <a:ext cx="11582400" cy="35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50">
            <a:spAutoFit/>
          </a:bodyPr>
          <a:lstStyle/>
          <a:p>
            <a:pPr indent="-342900" lvl="0" marL="354965" marR="752475" rtl="0" algn="l">
              <a:lnSpc>
                <a:spcPct val="10149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Note that all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points belonging to an individual catchment basin form </a:t>
            </a:r>
            <a:r>
              <a:rPr b="1" lang="en-US" sz="2400">
                <a:latin typeface="Bell MT"/>
                <a:ea typeface="Bell MT"/>
                <a:cs typeface="Bell MT"/>
                <a:sym typeface="Bell MT"/>
              </a:rPr>
              <a:t>single connected component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3535" lvl="0" marL="355600" marR="235584" rtl="0" algn="l">
              <a:lnSpc>
                <a:spcPct val="100000"/>
              </a:lnSpc>
              <a:spcBef>
                <a:spcPts val="62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fact that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two connected components have become a single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latin typeface="Bell MT"/>
                <a:ea typeface="Bell MT"/>
                <a:cs typeface="Bell MT"/>
                <a:sym typeface="Bell MT"/>
              </a:rPr>
              <a:t>component</a:t>
            </a:r>
            <a:r>
              <a:rPr lang="en-US" sz="2800" u="none">
                <a:latin typeface="Bell MT"/>
                <a:ea typeface="Bell MT"/>
                <a:cs typeface="Bell MT"/>
                <a:sym typeface="Bell MT"/>
              </a:rPr>
              <a:t> indicates that water between the two catchment basins has merged at flooding step </a:t>
            </a:r>
            <a:r>
              <a:rPr i="1"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469900" rtl="0" algn="l">
              <a:lnSpc>
                <a:spcPct val="100000"/>
              </a:lnSpc>
              <a:spcBef>
                <a:spcPts val="61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– 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Let this connected component be denoted </a:t>
            </a:r>
            <a:r>
              <a:rPr lang="en-US" sz="24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</a:t>
            </a: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.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5080" rtl="0" algn="l">
              <a:lnSpc>
                <a:spcPct val="101400"/>
              </a:lnSpc>
              <a:spcBef>
                <a:spcPts val="59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Note that the two components from step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n-1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can be extracted from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by performing the simple AND operation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800">
                <a:solidFill>
                  <a:srgbClr val="FF00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∩</a:t>
            </a:r>
            <a:r>
              <a:rPr lang="en-US" sz="28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 [n-1]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71" name="Google Shape;1171;p9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2" name="Google Shape;1172;p9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3" name="Google Shape;1173;p9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79" name="Google Shape;1179;p9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80" name="Google Shape;1180;p92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181" name="Google Shape;1181;p92"/>
          <p:cNvSpPr txBox="1"/>
          <p:nvPr/>
        </p:nvSpPr>
        <p:spPr>
          <a:xfrm>
            <a:off x="305176" y="1168300"/>
            <a:ext cx="11582400" cy="35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2900" lvl="0" marL="355600" marR="79311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Two conditions must be satisfied in process of	dilation of components in Figure (a) to construct dam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1134110" rtl="0" algn="l">
              <a:lnSpc>
                <a:spcPct val="100000"/>
              </a:lnSpc>
              <a:spcBef>
                <a:spcPts val="665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–"/>
            </a:pPr>
            <a:r>
              <a:rPr b="1"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First,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the dilation has to be constrained to </a:t>
            </a:r>
            <a:r>
              <a:rPr i="1"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(denotes the connected component in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(b)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2500"/>
              <a:buFont typeface="Arial"/>
              <a:buChar char="–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This means that the center of	the structuring element can be located only at points in </a:t>
            </a:r>
            <a:r>
              <a:rPr i="1"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during dilation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149225" rtl="0" algn="l">
              <a:lnSpc>
                <a:spcPct val="100000"/>
              </a:lnSpc>
              <a:spcBef>
                <a:spcPts val="605"/>
              </a:spcBef>
              <a:spcAft>
                <a:spcPts val="0"/>
              </a:spcAft>
              <a:buClr>
                <a:srgbClr val="FF0000"/>
              </a:buClr>
              <a:buSzPts val="2500"/>
              <a:buFont typeface="Arial"/>
              <a:buChar char="–"/>
            </a:pPr>
            <a:r>
              <a:rPr b="1"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Second, </a:t>
            </a: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the dilation can’t be performed on points that would cause the sets being dilated to merge (become a single connected component)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82" name="Google Shape;1182;p9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3" name="Google Shape;1183;p9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4" name="Google Shape;1184;p9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9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0" name="Google Shape;1190;p9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191" name="Google Shape;1191;p93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192" name="Google Shape;1192;p93"/>
          <p:cNvSpPr txBox="1"/>
          <p:nvPr/>
        </p:nvSpPr>
        <p:spPr>
          <a:xfrm>
            <a:off x="305176" y="1168300"/>
            <a:ext cx="11582400" cy="29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First Dilation Pass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Char char="–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Figure (d)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shows that the first dilation pass (in light gray) expanded the boundary of	each original connected component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7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Note that condition (1) was satisfied by every point during dilation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7785" rtl="0" algn="l">
              <a:lnSpc>
                <a:spcPct val="100000"/>
              </a:lnSpc>
              <a:spcBef>
                <a:spcPts val="67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Condition (2) did not apply to any point during the dilation process; 	thus the boundary of	each region was expanded uniformly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193" name="Google Shape;1193;p9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4" name="Google Shape;1194;p9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5" name="Google Shape;1195;p9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9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1" name="Google Shape;1201;p9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02" name="Google Shape;1202;p94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203" name="Google Shape;1203;p94"/>
          <p:cNvSpPr txBox="1"/>
          <p:nvPr/>
        </p:nvSpPr>
        <p:spPr>
          <a:xfrm>
            <a:off x="305176" y="1095175"/>
            <a:ext cx="11582400" cy="4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1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latin typeface="Bell MT"/>
                <a:ea typeface="Bell MT"/>
                <a:cs typeface="Bell MT"/>
                <a:sym typeface="Bell MT"/>
              </a:rPr>
              <a:t>Second Dilation Pass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5015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In the second dilation (shown in black), several points failed condition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0" lvl="0" marL="755650" marR="90995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(1) while meeting condition (2), resulting in the broken perimeter shown in Figure (d)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015" marR="5080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It is also evident that the only points in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q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that satisfy the two conditions under consideration describe the </a:t>
            </a:r>
            <a:r>
              <a:rPr i="1" lang="en-US" sz="27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1-pixel-thick </a:t>
            </a:r>
            <a:r>
              <a:rPr lang="en-US" sz="2700">
                <a:latin typeface="Bell MT"/>
                <a:ea typeface="Bell MT"/>
                <a:cs typeface="Bell MT"/>
                <a:sym typeface="Bell MT"/>
              </a:rPr>
              <a:t>connected path </a:t>
            </a:r>
            <a:r>
              <a:rPr lang="en-US" sz="27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shown</a:t>
            </a:r>
            <a:r>
              <a:rPr lang="en-US" sz="2700" u="none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700" u="sng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crossed-hatched in Figure (d)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  <a:p>
            <a:pPr indent="-285115" lvl="1" marL="754380" marR="690880" rtl="0" algn="l">
              <a:lnSpc>
                <a:spcPct val="113684"/>
              </a:lnSpc>
              <a:spcBef>
                <a:spcPts val="770"/>
              </a:spcBef>
              <a:spcAft>
                <a:spcPts val="0"/>
              </a:spcAft>
              <a:buSzPts val="2700"/>
              <a:buFont typeface="Arial"/>
              <a:buChar char="–"/>
            </a:pPr>
            <a:r>
              <a:rPr b="1" lang="en-US" sz="2700" u="sng">
                <a:latin typeface="Bell MT"/>
                <a:ea typeface="Bell MT"/>
                <a:cs typeface="Bell MT"/>
                <a:sym typeface="Bell MT"/>
              </a:rPr>
              <a:t>This path constitutes the desired separating dam at stage </a:t>
            </a:r>
            <a:r>
              <a:rPr lang="en-US" sz="285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n</a:t>
            </a:r>
            <a:r>
              <a:rPr b="1" lang="en-US" sz="2700" u="sng">
                <a:latin typeface="Bell MT"/>
                <a:ea typeface="Bell MT"/>
                <a:cs typeface="Bell MT"/>
                <a:sym typeface="Bell MT"/>
              </a:rPr>
              <a:t> of </a:t>
            </a:r>
            <a:r>
              <a:rPr b="1" lang="en-US" sz="2700" u="none"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b="1" lang="en-US" sz="2700" u="sng">
                <a:latin typeface="Bell MT"/>
                <a:ea typeface="Bell MT"/>
                <a:cs typeface="Bell MT"/>
                <a:sym typeface="Bell MT"/>
              </a:rPr>
              <a:t>flooding</a:t>
            </a:r>
            <a:endParaRPr sz="27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04" name="Google Shape;1204;p9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5" name="Google Shape;1205;p9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6" name="Google Shape;1206;p9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5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2" name="Google Shape;1212;p95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13" name="Google Shape;1213;p95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Dam Construction</a:t>
            </a:r>
            <a:endParaRPr/>
          </a:p>
        </p:txBody>
      </p:sp>
      <p:sp>
        <p:nvSpPr>
          <p:cNvPr id="1214" name="Google Shape;1214;p95"/>
          <p:cNvSpPr txBox="1"/>
          <p:nvPr/>
        </p:nvSpPr>
        <p:spPr>
          <a:xfrm>
            <a:off x="305176" y="1168300"/>
            <a:ext cx="11582400" cy="38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4965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Construction of	the dam at this level of flooding is completed by setting all the points in the path just determined to a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value greater than</a:t>
            </a:r>
            <a:r>
              <a:rPr lang="en-US" sz="28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28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the maximum intensity value of 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4965" marR="236854" rtl="0" algn="l">
              <a:lnSpc>
                <a:spcPct val="100000"/>
              </a:lnSpc>
              <a:spcBef>
                <a:spcPts val="326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height of all dams is generally set at </a:t>
            </a:r>
            <a:r>
              <a:rPr i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1 plus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the maximum allowed value in the image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343535" rtl="0" algn="l">
              <a:lnSpc>
                <a:spcPct val="100000"/>
              </a:lnSpc>
              <a:spcBef>
                <a:spcPts val="326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This will prevent water from crossing over the part of	the completed dam as the level of	flooding is increased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15" name="Google Shape;1215;p95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6" name="Google Shape;1216;p95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17" name="Google Shape;1217;p95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p96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3" name="Google Shape;1223;p96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24" name="Google Shape;1224;p96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</a:rPr>
              <a:t>The Use of Markers</a:t>
            </a:r>
            <a:endParaRPr/>
          </a:p>
        </p:txBody>
      </p:sp>
      <p:sp>
        <p:nvSpPr>
          <p:cNvPr id="1225" name="Google Shape;1225;p96"/>
          <p:cNvSpPr txBox="1"/>
          <p:nvPr/>
        </p:nvSpPr>
        <p:spPr>
          <a:xfrm>
            <a:off x="305176" y="1168300"/>
            <a:ext cx="11582400" cy="44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Over Segmentation Problem of Watershed Algo: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Direct application of	the watershed segmentation algorithm 	generally leads to over-segmentation due to noise and other local 	irregularities of	the gradient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0" lvl="0" marL="914400" marR="5080" rtl="0" algn="l">
              <a:lnSpc>
                <a:spcPct val="100000"/>
              </a:lnSpc>
              <a:spcBef>
                <a:spcPts val="705"/>
              </a:spcBef>
              <a:spcAft>
                <a:spcPts val="0"/>
              </a:spcAft>
              <a:buNone/>
            </a:pPr>
            <a:r>
              <a:t/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3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Solution: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Use of	preprocessing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278765" rtl="0" algn="l">
              <a:lnSpc>
                <a:spcPct val="100000"/>
              </a:lnSpc>
              <a:spcBef>
                <a:spcPts val="660"/>
              </a:spcBef>
              <a:spcAft>
                <a:spcPts val="0"/>
              </a:spcAft>
              <a:buSzPts val="2500"/>
              <a:buFont typeface="Arial"/>
              <a:buChar char="–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A practical solution to this problem is to limit the number of	allowable regions by incorporating a </a:t>
            </a:r>
            <a:r>
              <a:rPr lang="en-US" sz="25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preprocessing stage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500"/>
              <a:buFont typeface="Arial"/>
              <a:buChar char="–"/>
            </a:pPr>
            <a:r>
              <a:rPr lang="en-US" sz="2500">
                <a:latin typeface="Bell MT"/>
                <a:ea typeface="Bell MT"/>
                <a:cs typeface="Bell MT"/>
                <a:sym typeface="Bell MT"/>
              </a:rPr>
              <a:t>This is to bring </a:t>
            </a:r>
            <a:r>
              <a:rPr lang="en-US" sz="25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additional knowledge into the segmentation procedure</a:t>
            </a:r>
            <a:endParaRPr sz="25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26" name="Google Shape;1226;p96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7" name="Google Shape;1227;p96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8" name="Google Shape;1228;p96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p97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34" name="Google Shape;1234;p97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235" name="Google Shape;123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35529" y="1219212"/>
            <a:ext cx="7470976" cy="3735639"/>
          </a:xfrm>
          <a:prstGeom prst="rect">
            <a:avLst/>
          </a:prstGeom>
          <a:noFill/>
          <a:ln>
            <a:noFill/>
          </a:ln>
        </p:spPr>
      </p:pic>
      <p:sp>
        <p:nvSpPr>
          <p:cNvPr id="1236" name="Google Shape;1236;p97"/>
          <p:cNvSpPr txBox="1"/>
          <p:nvPr/>
        </p:nvSpPr>
        <p:spPr>
          <a:xfrm>
            <a:off x="2267903" y="4992430"/>
            <a:ext cx="7357109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ll MT"/>
              <a:buAutoNum type="alphaLcParenBoth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Electrophoresis image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  <a:p>
            <a:pPr indent="-457200" lvl="0" marL="4699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ell MT"/>
              <a:buAutoNum type="alphaLcParenBoth"/>
            </a:pP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Result of applying the watershed segmentation algorithm to the gradient image (</a:t>
            </a:r>
            <a:r>
              <a:rPr lang="en-US" sz="1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Over segmentation is evident</a:t>
            </a:r>
            <a:r>
              <a:rPr lang="en-US" sz="1800">
                <a:latin typeface="Bell MT"/>
                <a:ea typeface="Bell MT"/>
                <a:cs typeface="Bell MT"/>
                <a:sym typeface="Bell MT"/>
              </a:rPr>
              <a:t>)</a:t>
            </a:r>
            <a:endParaRPr sz="1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37" name="Google Shape;1237;p97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F497D"/>
                </a:solidFill>
              </a:rPr>
              <a:t>Example: Over-segmentation Phenomenon</a:t>
            </a:r>
            <a:endParaRPr/>
          </a:p>
        </p:txBody>
      </p:sp>
      <p:sp>
        <p:nvSpPr>
          <p:cNvPr id="1238" name="Google Shape;1238;p97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9" name="Google Shape;1239;p97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0" name="Google Shape;1240;p97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98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6" name="Google Shape;1246;p98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47" name="Google Shape;1247;p98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Use of Markers</a:t>
            </a:r>
            <a:endParaRPr/>
          </a:p>
        </p:txBody>
      </p:sp>
      <p:sp>
        <p:nvSpPr>
          <p:cNvPr id="1248" name="Google Shape;1248;p98"/>
          <p:cNvSpPr txBox="1"/>
          <p:nvPr/>
        </p:nvSpPr>
        <p:spPr>
          <a:xfrm>
            <a:off x="305176" y="1127375"/>
            <a:ext cx="11582400" cy="40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3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Concept of Marker: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818514" rtl="0" algn="l">
              <a:lnSpc>
                <a:spcPct val="100000"/>
              </a:lnSpc>
              <a:spcBef>
                <a:spcPts val="595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An approach used to control over-segmentation is based on the 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concept of </a:t>
            </a:r>
            <a:r>
              <a:rPr lang="en-US" sz="2400" u="none">
                <a:latin typeface="Bell MT"/>
                <a:ea typeface="Bell MT"/>
                <a:cs typeface="Bell MT"/>
                <a:sym typeface="Bell MT"/>
              </a:rPr>
              <a:t> 	</a:t>
            </a:r>
            <a:r>
              <a:rPr lang="en-US" sz="2400" u="sng">
                <a:latin typeface="Bell MT"/>
                <a:ea typeface="Bell MT"/>
                <a:cs typeface="Bell MT"/>
                <a:sym typeface="Bell MT"/>
              </a:rPr>
              <a:t>markers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65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b="1"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What is a marker?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5080" rtl="0" algn="l">
              <a:lnSpc>
                <a:spcPct val="100000"/>
              </a:lnSpc>
              <a:spcBef>
                <a:spcPts val="590"/>
              </a:spcBef>
              <a:spcAft>
                <a:spcPts val="0"/>
              </a:spcAft>
              <a:buSzPts val="2400"/>
              <a:buFont typeface="Arial"/>
              <a:buChar char="–"/>
            </a:pPr>
            <a:r>
              <a:rPr lang="en-US" sz="2400">
                <a:latin typeface="Bell MT"/>
                <a:ea typeface="Bell MT"/>
                <a:cs typeface="Bell MT"/>
                <a:sym typeface="Bell MT"/>
              </a:rPr>
              <a:t>A marker is a connected component belonging to an image, including internal 	marker (associated with objects of	interest) and external marker (associated with background)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505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95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Two principal steps for marker selection:</a:t>
            </a:r>
            <a:endParaRPr sz="295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Preprocessing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70C0"/>
                </a:solidFill>
                <a:latin typeface="Bell MT"/>
                <a:ea typeface="Bell MT"/>
                <a:cs typeface="Bell MT"/>
                <a:sym typeface="Bell MT"/>
              </a:rPr>
              <a:t>Set of criteria that markers must satisfy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49" name="Google Shape;1249;p98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0" name="Google Shape;1250;p98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1" name="Google Shape;1251;p98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99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7" name="Google Shape;1257;p99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58" name="Google Shape;1258;p99"/>
          <p:cNvSpPr txBox="1"/>
          <p:nvPr>
            <p:ph idx="4294967295" type="title"/>
          </p:nvPr>
        </p:nvSpPr>
        <p:spPr>
          <a:xfrm>
            <a:off x="0" y="153150"/>
            <a:ext cx="121920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Use of Markers</a:t>
            </a:r>
            <a:endParaRPr/>
          </a:p>
        </p:txBody>
      </p:sp>
      <p:sp>
        <p:nvSpPr>
          <p:cNvPr id="1259" name="Google Shape;1259;p99"/>
          <p:cNvSpPr txBox="1"/>
          <p:nvPr/>
        </p:nvSpPr>
        <p:spPr>
          <a:xfrm>
            <a:off x="305176" y="1260875"/>
            <a:ext cx="11582400" cy="21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343535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b="1" lang="en-US" sz="3200">
                <a:latin typeface="Bell MT"/>
                <a:ea typeface="Bell MT"/>
                <a:cs typeface="Bell MT"/>
                <a:sym typeface="Bell MT"/>
              </a:rPr>
              <a:t>Note: </a:t>
            </a: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Usually over segmentation happens due to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existence of </a:t>
            </a:r>
            <a:r>
              <a:rPr lang="en-US" sz="3200" u="none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 </a:t>
            </a:r>
            <a:r>
              <a:rPr lang="en-US" sz="3200" u="sng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large number of	potential minima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29844" rtl="0" algn="l">
              <a:lnSpc>
                <a:spcPct val="100000"/>
              </a:lnSpc>
              <a:spcBef>
                <a:spcPts val="77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Effective way to handle this is by use of low pass (smoothing) filter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Noto Sans Symbols"/>
              <a:buChar char="▪"/>
            </a:pP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This is an appropriate preprocessing scheme in this case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60" name="Google Shape;1260;p99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1" name="Google Shape;1261;p99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62" name="Google Shape;1262;p99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0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68" name="Google Shape;1268;p100"/>
          <p:cNvSpPr txBox="1"/>
          <p:nvPr/>
        </p:nvSpPr>
        <p:spPr>
          <a:xfrm>
            <a:off x="371151" y="1074450"/>
            <a:ext cx="11516400" cy="3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8765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271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Internal markers are defined as: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514349" lvl="1" marL="983614" marR="75692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a region that is surrounded by points of 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higher “altitude”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514349" lvl="1" marL="983614" marR="402590" rtl="0" algn="l">
              <a:lnSpc>
                <a:spcPct val="100000"/>
              </a:lnSpc>
              <a:spcBef>
                <a:spcPts val="865"/>
              </a:spcBef>
              <a:spcAft>
                <a:spcPts val="0"/>
              </a:spcAft>
              <a:buSzPts val="3600"/>
              <a:buFont typeface="Bell MT"/>
              <a:buAutoNum type="arabicPeriod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points in the region </a:t>
            </a:r>
            <a:r>
              <a:rPr lang="en-US" sz="36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form a connected component </a:t>
            </a: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such that all points in the connected component have the same gray-level value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69" name="Google Shape;1269;p100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0" name="Google Shape;1270;p100"/>
          <p:cNvSpPr txBox="1"/>
          <p:nvPr/>
        </p:nvSpPr>
        <p:spPr>
          <a:xfrm>
            <a:off x="0" y="133350"/>
            <a:ext cx="12192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200">
                <a:solidFill>
                  <a:schemeClr val="dk2"/>
                </a:solidFill>
                <a:latin typeface="Bell MT"/>
                <a:ea typeface="Bell MT"/>
                <a:cs typeface="Bell MT"/>
                <a:sym typeface="Bell MT"/>
              </a:rPr>
              <a:t>Example of Controlling Over-Segmentation Phenomenon</a:t>
            </a:r>
            <a:endParaRPr sz="6000">
              <a:solidFill>
                <a:schemeClr val="dk1"/>
              </a:solidFill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71" name="Google Shape;1271;p100"/>
          <p:cNvSpPr txBox="1"/>
          <p:nvPr>
            <p:ph idx="4294967295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101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7" name="Google Shape;1277;p101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8" name="Google Shape;1278;p101"/>
          <p:cNvSpPr txBox="1"/>
          <p:nvPr>
            <p:ph idx="4294967295" type="title"/>
          </p:nvPr>
        </p:nvSpPr>
        <p:spPr>
          <a:xfrm>
            <a:off x="0" y="153150"/>
            <a:ext cx="12192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Example of</a:t>
            </a:r>
            <a:r>
              <a:rPr b="1" lang="en-US" sz="3200">
                <a:solidFill>
                  <a:srgbClr val="1F497D"/>
                </a:solidFill>
              </a:rPr>
              <a:t> </a:t>
            </a:r>
            <a:r>
              <a:rPr b="1" lang="en-US" sz="32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Controlling Over-Segmentation Phenomenon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79" name="Google Shape;1279;p101"/>
          <p:cNvSpPr txBox="1"/>
          <p:nvPr/>
        </p:nvSpPr>
        <p:spPr>
          <a:xfrm>
            <a:off x="688340" y="937275"/>
            <a:ext cx="10753725" cy="3350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9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50"/>
              <a:buFont typeface="Noto Sans Symbols"/>
              <a:buChar char="▪"/>
            </a:pPr>
            <a:r>
              <a:rPr lang="en-US" sz="3600">
                <a:latin typeface="Bell MT"/>
                <a:ea typeface="Bell MT"/>
                <a:cs typeface="Bell MT"/>
                <a:sym typeface="Bell MT"/>
              </a:rPr>
              <a:t>Steps:</a:t>
            </a:r>
            <a:endParaRPr sz="36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marR="106679" rtl="0" algn="l">
              <a:lnSpc>
                <a:spcPct val="100000"/>
              </a:lnSpc>
              <a:spcBef>
                <a:spcPts val="745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First the image was smoothed, then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internal markers were formed 	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shown as light gray	blob like region (using the definition of	marker 	given in previous slide)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79" lvl="1" marL="753745" marR="5080" rtl="0" algn="l">
              <a:lnSpc>
                <a:spcPct val="100000"/>
              </a:lnSpc>
              <a:spcBef>
                <a:spcPts val="3360"/>
              </a:spcBef>
              <a:spcAft>
                <a:spcPts val="0"/>
              </a:spcAft>
              <a:buSzPts val="2800"/>
              <a:buFont typeface="Arial"/>
              <a:buChar char="–"/>
            </a:pP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Next, the </a:t>
            </a: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watershed algorithm was applied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under the restriction that 	these internal markers be the only allowed regional minima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80" name="Google Shape;1280;p101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1" name="Google Shape;1281;p101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82" name="Google Shape;1282;p101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102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8" name="Google Shape;1288;p102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89" name="Google Shape;1289;p102"/>
          <p:cNvSpPr txBox="1"/>
          <p:nvPr>
            <p:ph idx="4294967295" type="title"/>
          </p:nvPr>
        </p:nvSpPr>
        <p:spPr>
          <a:xfrm>
            <a:off x="0" y="153150"/>
            <a:ext cx="12192000" cy="5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0" lvl="0" marL="127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Example of</a:t>
            </a:r>
            <a:r>
              <a:rPr b="1" lang="en-US" sz="3200">
                <a:solidFill>
                  <a:srgbClr val="1F497D"/>
                </a:solidFill>
              </a:rPr>
              <a:t> </a:t>
            </a:r>
            <a:r>
              <a:rPr b="1" lang="en-US" sz="3200">
                <a:solidFill>
                  <a:srgbClr val="1F497D"/>
                </a:solidFill>
                <a:latin typeface="Bell MT"/>
                <a:ea typeface="Bell MT"/>
                <a:cs typeface="Bell MT"/>
                <a:sym typeface="Bell MT"/>
              </a:rPr>
              <a:t>Controlling Over-Segmentation Phenomenon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90" name="Google Shape;1290;p102"/>
          <p:cNvSpPr txBox="1"/>
          <p:nvPr/>
        </p:nvSpPr>
        <p:spPr>
          <a:xfrm>
            <a:off x="688340" y="920029"/>
            <a:ext cx="10440670" cy="3705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4667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Noto Sans Symbols"/>
              <a:buChar char="▪"/>
            </a:pP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Steps (</a:t>
            </a:r>
            <a:r>
              <a:rPr i="1" lang="en-US" sz="4000">
                <a:latin typeface="Bell MT"/>
                <a:ea typeface="Bell MT"/>
                <a:cs typeface="Bell MT"/>
                <a:sym typeface="Bell MT"/>
              </a:rPr>
              <a:t>…contd</a:t>
            </a:r>
            <a:r>
              <a:rPr lang="en-US" sz="4000">
                <a:latin typeface="Bell MT"/>
                <a:ea typeface="Bell MT"/>
                <a:cs typeface="Bell MT"/>
                <a:sym typeface="Bell MT"/>
              </a:rPr>
              <a:t>):</a:t>
            </a:r>
            <a:endParaRPr sz="40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259715" rtl="0" algn="l">
              <a:lnSpc>
                <a:spcPct val="100000"/>
              </a:lnSpc>
              <a:spcBef>
                <a:spcPts val="845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The resulting watershed lines are defined as the </a:t>
            </a:r>
            <a:r>
              <a:rPr lang="en-US" sz="32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external markers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  <a:p>
            <a:pPr indent="-285750" lvl="1" marL="755650" marR="5080" rtl="0" algn="l">
              <a:lnSpc>
                <a:spcPct val="100000"/>
              </a:lnSpc>
              <a:spcBef>
                <a:spcPts val="3070"/>
              </a:spcBef>
              <a:spcAft>
                <a:spcPts val="0"/>
              </a:spcAft>
              <a:buSzPts val="3200"/>
              <a:buFont typeface="Arial"/>
              <a:buChar char="–"/>
            </a:pPr>
            <a:r>
              <a:rPr lang="en-US" sz="3200">
                <a:latin typeface="Bell MT"/>
                <a:ea typeface="Bell MT"/>
                <a:cs typeface="Bell MT"/>
                <a:sym typeface="Bell MT"/>
              </a:rPr>
              <a:t>This effectively partition the image into regions, with each region containing a single internal marker and part of background</a:t>
            </a:r>
            <a:endParaRPr sz="32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291" name="Google Shape;1291;p102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2" name="Google Shape;1292;p102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3" name="Google Shape;1293;p102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03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99" name="Google Shape;1299;p103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00" name="Google Shape;130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986" y="1501902"/>
            <a:ext cx="6067793" cy="3047620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103"/>
          <p:cNvSpPr txBox="1"/>
          <p:nvPr/>
        </p:nvSpPr>
        <p:spPr>
          <a:xfrm>
            <a:off x="2142440" y="4831154"/>
            <a:ext cx="750252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050">
            <a:spAutoFit/>
          </a:bodyPr>
          <a:lstStyle/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Bell MT"/>
              <a:buAutoNum type="alphaLcParenBoth"/>
            </a:pPr>
            <a:r>
              <a:rPr i="1" lang="en-US" sz="2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Image showing internal markers (light gray regions) and external markers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  <a:p>
            <a:pPr indent="-456565" lvl="0" marL="469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Bell MT"/>
              <a:buAutoNum type="alphaLcParenBoth"/>
            </a:pPr>
            <a:r>
              <a:rPr i="1" lang="en-US" sz="2000">
                <a:solidFill>
                  <a:srgbClr val="002060"/>
                </a:solidFill>
                <a:latin typeface="Bell MT"/>
                <a:ea typeface="Bell MT"/>
                <a:cs typeface="Bell MT"/>
                <a:sym typeface="Bell MT"/>
              </a:rPr>
              <a:t>Result of	segmentation. Note the improvement over result obtained earlier</a:t>
            </a:r>
            <a:endParaRPr sz="20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02" name="Google Shape;1302;p103"/>
          <p:cNvSpPr txBox="1"/>
          <p:nvPr>
            <p:ph idx="4294967295" type="title"/>
          </p:nvPr>
        </p:nvSpPr>
        <p:spPr>
          <a:xfrm>
            <a:off x="0" y="153150"/>
            <a:ext cx="12192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F497D"/>
                </a:solidFill>
              </a:rPr>
              <a:t>Segmentation using Internal Markers as Regional Minima</a:t>
            </a:r>
            <a:endParaRPr sz="3200"/>
          </a:p>
        </p:txBody>
      </p:sp>
      <p:sp>
        <p:nvSpPr>
          <p:cNvPr id="1303" name="Google Shape;1303;p103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4" name="Google Shape;1304;p103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5" name="Google Shape;1305;p103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09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104"/>
          <p:cNvSpPr/>
          <p:nvPr/>
        </p:nvSpPr>
        <p:spPr>
          <a:xfrm>
            <a:off x="0" y="6433565"/>
            <a:ext cx="12192000" cy="424815"/>
          </a:xfrm>
          <a:custGeom>
            <a:rect b="b" l="l" r="r" t="t"/>
            <a:pathLst>
              <a:path extrusionOk="0" h="424815" w="12192000">
                <a:moveTo>
                  <a:pt x="12192000" y="0"/>
                </a:moveTo>
                <a:lnTo>
                  <a:pt x="0" y="0"/>
                </a:lnTo>
                <a:lnTo>
                  <a:pt x="0" y="424434"/>
                </a:lnTo>
                <a:lnTo>
                  <a:pt x="12192000" y="424434"/>
                </a:lnTo>
                <a:lnTo>
                  <a:pt x="12192000" y="0"/>
                </a:lnTo>
                <a:close/>
              </a:path>
            </a:pathLst>
          </a:custGeom>
          <a:solidFill>
            <a:srgbClr val="85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1" name="Google Shape;1311;p104"/>
          <p:cNvSpPr/>
          <p:nvPr/>
        </p:nvSpPr>
        <p:spPr>
          <a:xfrm>
            <a:off x="305181" y="974978"/>
            <a:ext cx="11582400" cy="0"/>
          </a:xfrm>
          <a:custGeom>
            <a:rect b="b" l="l" r="r" t="t"/>
            <a:pathLst>
              <a:path extrusionOk="0" h="120000" w="11582400">
                <a:moveTo>
                  <a:pt x="0" y="0"/>
                </a:moveTo>
                <a:lnTo>
                  <a:pt x="11582400" y="0"/>
                </a:lnTo>
              </a:path>
            </a:pathLst>
          </a:custGeom>
          <a:noFill/>
          <a:ln cap="flat" cmpd="sng" w="9525">
            <a:solidFill>
              <a:srgbClr val="A5002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12" name="Google Shape;1312;p104"/>
          <p:cNvSpPr txBox="1"/>
          <p:nvPr>
            <p:ph idx="4294967295" type="title"/>
          </p:nvPr>
        </p:nvSpPr>
        <p:spPr>
          <a:xfrm>
            <a:off x="0" y="153150"/>
            <a:ext cx="12192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8925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F497D"/>
                </a:solidFill>
              </a:rPr>
              <a:t>Segmentation using Internal Markers as Regional Minima</a:t>
            </a:r>
            <a:endParaRPr sz="3200"/>
          </a:p>
        </p:txBody>
      </p:sp>
      <p:sp>
        <p:nvSpPr>
          <p:cNvPr id="1313" name="Google Shape;1313;p104"/>
          <p:cNvSpPr txBox="1"/>
          <p:nvPr/>
        </p:nvSpPr>
        <p:spPr>
          <a:xfrm>
            <a:off x="688340" y="1067817"/>
            <a:ext cx="10716895" cy="4342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-342900" lvl="0" marL="355600" marR="508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Marker selection can range from simple </a:t>
            </a:r>
            <a:r>
              <a:rPr lang="en-US" sz="2800">
                <a:latin typeface="Bell MT"/>
                <a:ea typeface="Bell MT"/>
                <a:cs typeface="Bell MT"/>
                <a:sym typeface="Bell MT"/>
              </a:rPr>
              <a:t>procedures based on gray-level values and connectivity, to more complex descriptions involving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size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shape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location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relative distances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284480" lvl="1" marL="754380" rtl="0" algn="l">
              <a:lnSpc>
                <a:spcPct val="100000"/>
              </a:lnSpc>
              <a:spcBef>
                <a:spcPts val="575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Char char="–"/>
            </a:pPr>
            <a:r>
              <a:rPr i="1" lang="en-US" sz="2400">
                <a:solidFill>
                  <a:srgbClr val="00B050"/>
                </a:solidFill>
                <a:latin typeface="Bell MT"/>
                <a:ea typeface="Bell MT"/>
                <a:cs typeface="Bell MT"/>
                <a:sym typeface="Bell MT"/>
              </a:rPr>
              <a:t>texture content, and so on</a:t>
            </a:r>
            <a:endParaRPr sz="2400">
              <a:latin typeface="Bell MT"/>
              <a:ea typeface="Bell MT"/>
              <a:cs typeface="Bell MT"/>
              <a:sym typeface="Bell MT"/>
            </a:endParaRPr>
          </a:p>
          <a:p>
            <a:pPr indent="-342900" lvl="0" marL="355600" marR="240029" rtl="0" algn="l">
              <a:lnSpc>
                <a:spcPct val="100000"/>
              </a:lnSpc>
              <a:spcBef>
                <a:spcPts val="3220"/>
              </a:spcBef>
              <a:spcAft>
                <a:spcPts val="0"/>
              </a:spcAft>
              <a:buClr>
                <a:srgbClr val="FF0000"/>
              </a:buClr>
              <a:buSzPts val="2200"/>
              <a:buFont typeface="Noto Sans Symbols"/>
              <a:buChar char="▪"/>
            </a:pPr>
            <a:r>
              <a:rPr lang="en-US" sz="2800">
                <a:solidFill>
                  <a:srgbClr val="FF0000"/>
                </a:solidFill>
                <a:latin typeface="Bell MT"/>
                <a:ea typeface="Bell MT"/>
                <a:cs typeface="Bell MT"/>
                <a:sym typeface="Bell MT"/>
              </a:rPr>
              <a:t>Use of	marker brings a priori knowledge to bear on the segmentation problem</a:t>
            </a:r>
            <a:endParaRPr sz="2800">
              <a:latin typeface="Bell MT"/>
              <a:ea typeface="Bell MT"/>
              <a:cs typeface="Bell MT"/>
              <a:sym typeface="Bell MT"/>
            </a:endParaRPr>
          </a:p>
        </p:txBody>
      </p:sp>
      <p:sp>
        <p:nvSpPr>
          <p:cNvPr id="1314" name="Google Shape;1314;p104"/>
          <p:cNvSpPr txBox="1"/>
          <p:nvPr>
            <p:ph idx="1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5" name="Google Shape;1315;p104"/>
          <p:cNvSpPr txBox="1"/>
          <p:nvPr>
            <p:ph idx="2" type="sldNum"/>
          </p:nvPr>
        </p:nvSpPr>
        <p:spPr>
          <a:xfrm>
            <a:off x="205740" y="6547862"/>
            <a:ext cx="4290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9779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6" name="Google Shape;1316;p104"/>
          <p:cNvSpPr txBox="1"/>
          <p:nvPr>
            <p:ph idx="11" type="ftr"/>
          </p:nvPr>
        </p:nvSpPr>
        <p:spPr>
          <a:xfrm>
            <a:off x="4398740" y="6553587"/>
            <a:ext cx="3394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rtl="0" algn="ctr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PEC-CS416-Computer Vision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