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6858000" cx="12192000"/>
  <p:notesSz cx="12192000" cy="6858000"/>
  <p:embeddedFontLst>
    <p:embeddedFont>
      <p:font typeface="Book Antiqua"/>
      <p:regular r:id="rId87"/>
      <p:bold r:id="rId88"/>
      <p:italic r:id="rId89"/>
      <p:boldItalic r:id="rId90"/>
    </p:embeddedFont>
    <p:embeddedFont>
      <p:font typeface="Noto Sans Symbols"/>
      <p:regular r:id="rId91"/>
      <p:bold r:id="rId92"/>
    </p:embeddedFont>
    <p:embeddedFont>
      <p:font typeface="Bell MT"/>
      <p:regular r:id="rId93"/>
      <p:bold r:id="rId94"/>
      <p:italic r:id="rId95"/>
      <p:boldItalic r:id="rId96"/>
    </p:embeddedFont>
    <p:embeddedFont>
      <p:font typeface="Cambria Math"/>
      <p:regular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BAF873-4BCD-4417-BD88-00D0F3548F00}">
  <a:tblStyle styleId="{3BBAF873-4BCD-4417-BD88-00D0F3548F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BellMT-italic.fntdata"/><Relationship Id="rId94" Type="http://schemas.openxmlformats.org/officeDocument/2006/relationships/font" Target="fonts/BellMT-bold.fntdata"/><Relationship Id="rId97" Type="http://schemas.openxmlformats.org/officeDocument/2006/relationships/font" Target="fonts/CambriaMath-regular.fntdata"/><Relationship Id="rId96" Type="http://schemas.openxmlformats.org/officeDocument/2006/relationships/font" Target="fonts/BellM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NotoSansSymbols-regular.fntdata"/><Relationship Id="rId90" Type="http://schemas.openxmlformats.org/officeDocument/2006/relationships/font" Target="fonts/BookAntiqua-boldItalic.fntdata"/><Relationship Id="rId93" Type="http://schemas.openxmlformats.org/officeDocument/2006/relationships/font" Target="fonts/BellMT-regular.fntdata"/><Relationship Id="rId92" Type="http://schemas.openxmlformats.org/officeDocument/2006/relationships/font" Target="fonts/NotoSansSymbol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font" Target="fonts/BookAntiqua-bold.fntdata"/><Relationship Id="rId87" Type="http://schemas.openxmlformats.org/officeDocument/2006/relationships/font" Target="fonts/BookAntiqua-regular.fntdata"/><Relationship Id="rId89" Type="http://schemas.openxmlformats.org/officeDocument/2006/relationships/font" Target="fonts/BookAntiqua-italic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9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9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9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9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9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9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9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9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0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0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0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0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0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0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0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0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0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0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0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0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0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0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0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0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0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0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0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0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6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6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6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3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3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3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3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3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63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3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3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3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63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3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3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3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3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3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63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4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64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4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4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4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4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4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64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4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4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4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4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4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4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4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4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4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64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4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64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5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5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5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65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5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65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65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5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5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5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5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5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5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5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5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65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6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6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6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6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6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6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6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6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6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3.jpg"/><Relationship Id="rId5" Type="http://schemas.openxmlformats.org/officeDocument/2006/relationships/image" Target="../media/image6.jpg"/><Relationship Id="rId6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4.png"/><Relationship Id="rId5" Type="http://schemas.openxmlformats.org/officeDocument/2006/relationships/image" Target="../media/image13.jp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Relationship Id="rId4" Type="http://schemas.openxmlformats.org/officeDocument/2006/relationships/image" Target="../media/image33.jpg"/><Relationship Id="rId5" Type="http://schemas.openxmlformats.org/officeDocument/2006/relationships/image" Target="../media/image32.png"/><Relationship Id="rId6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jpg"/><Relationship Id="rId4" Type="http://schemas.openxmlformats.org/officeDocument/2006/relationships/image" Target="../media/image5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www.probabilitycourse.com/chapter3/3_2_2_expectation.php" TargetMode="External"/><Relationship Id="rId4" Type="http://schemas.openxmlformats.org/officeDocument/2006/relationships/image" Target="../media/image4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en.wikipedia.org/wiki/Random_variable" TargetMode="External"/><Relationship Id="rId4" Type="http://schemas.openxmlformats.org/officeDocument/2006/relationships/hyperlink" Target="http://en.wikipedia.org/wiki/Random_variable" TargetMode="External"/><Relationship Id="rId5" Type="http://schemas.openxmlformats.org/officeDocument/2006/relationships/hyperlink" Target="http://en.wikipedia.org/wiki/Random_variabl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54.png"/><Relationship Id="rId6" Type="http://schemas.openxmlformats.org/officeDocument/2006/relationships/image" Target="../media/image6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://blog.datadive.net/histogram-intersection-for-change-detection/" TargetMode="External"/><Relationship Id="rId4" Type="http://schemas.openxmlformats.org/officeDocument/2006/relationships/image" Target="../media/image5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1.jpg"/><Relationship Id="rId4" Type="http://schemas.openxmlformats.org/officeDocument/2006/relationships/hyperlink" Target="http://www.pyimagesearch.com/2014/07/14/3-ways-compare-histograms-using-opencv-python/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8.png"/><Relationship Id="rId4" Type="http://schemas.openxmlformats.org/officeDocument/2006/relationships/image" Target="../media/image6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7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Relationship Id="rId7" Type="http://schemas.openxmlformats.org/officeDocument/2006/relationships/image" Target="../media/image7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5.png"/><Relationship Id="rId4" Type="http://schemas.openxmlformats.org/officeDocument/2006/relationships/image" Target="../media/image78.png"/><Relationship Id="rId5" Type="http://schemas.openxmlformats.org/officeDocument/2006/relationships/image" Target="../media/image7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en.wikipedia.org/wiki/Measurement" TargetMode="External"/><Relationship Id="rId4" Type="http://schemas.openxmlformats.org/officeDocument/2006/relationships/hyperlink" Target="https://en.wikipedia.org/wiki/Statistics" TargetMode="External"/><Relationship Id="rId5" Type="http://schemas.openxmlformats.org/officeDocument/2006/relationships/image" Target="../media/image79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4294967295" type="body"/>
          </p:nvPr>
        </p:nvSpPr>
        <p:spPr>
          <a:xfrm>
            <a:off x="-2" y="598925"/>
            <a:ext cx="12192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6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Distance Measures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t/>
            </a:r>
            <a:endParaRPr b="0" sz="4000"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- 1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" name="Google Shape;49;p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690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535951" y="967850"/>
            <a:ext cx="87378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Distance measures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Euclidean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 Distance-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an example from school mathematics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To compute distance between two points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51" name="Google Shape;51;p8"/>
          <p:cNvGrpSpPr/>
          <p:nvPr/>
        </p:nvGrpSpPr>
        <p:grpSpPr>
          <a:xfrm>
            <a:off x="2263902" y="3277361"/>
            <a:ext cx="4539995" cy="1491995"/>
            <a:chOff x="2263902" y="3277361"/>
            <a:chExt cx="4539995" cy="1491995"/>
          </a:xfrm>
        </p:grpSpPr>
        <p:pic>
          <p:nvPicPr>
            <p:cNvPr id="52" name="Google Shape;5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63902" y="3277361"/>
              <a:ext cx="4539995" cy="14919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8"/>
            <p:cNvSpPr/>
            <p:nvPr/>
          </p:nvSpPr>
          <p:spPr>
            <a:xfrm>
              <a:off x="2362200" y="3352799"/>
              <a:ext cx="4343400" cy="1295400"/>
            </a:xfrm>
            <a:custGeom>
              <a:rect b="b" l="l" r="r" t="t"/>
              <a:pathLst>
                <a:path extrusionOk="0" h="1295400" w="4343400">
                  <a:moveTo>
                    <a:pt x="0" y="1295400"/>
                  </a:moveTo>
                  <a:lnTo>
                    <a:pt x="54762" y="1279067"/>
                  </a:lnTo>
                  <a:lnTo>
                    <a:pt x="4288637" y="16332"/>
                  </a:lnTo>
                  <a:lnTo>
                    <a:pt x="4343400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8"/>
            <p:cNvSpPr/>
            <p:nvPr/>
          </p:nvSpPr>
          <p:spPr>
            <a:xfrm>
              <a:off x="2307437" y="3298050"/>
              <a:ext cx="4453255" cy="1405255"/>
            </a:xfrm>
            <a:custGeom>
              <a:rect b="b" l="l" r="r" t="t"/>
              <a:pathLst>
                <a:path extrusionOk="0" h="1405254" w="4453255">
                  <a:moveTo>
                    <a:pt x="109524" y="1333817"/>
                  </a:moveTo>
                  <a:lnTo>
                    <a:pt x="38430" y="1295387"/>
                  </a:lnTo>
                  <a:lnTo>
                    <a:pt x="0" y="1366481"/>
                  </a:lnTo>
                  <a:lnTo>
                    <a:pt x="71094" y="1404924"/>
                  </a:lnTo>
                  <a:lnTo>
                    <a:pt x="109524" y="1333817"/>
                  </a:lnTo>
                  <a:close/>
                </a:path>
                <a:path extrusionOk="0" h="1405254" w="4453255">
                  <a:moveTo>
                    <a:pt x="4452925" y="38417"/>
                  </a:moveTo>
                  <a:lnTo>
                    <a:pt x="4381817" y="0"/>
                  </a:lnTo>
                  <a:lnTo>
                    <a:pt x="4343387" y="71094"/>
                  </a:lnTo>
                  <a:lnTo>
                    <a:pt x="4414494" y="109524"/>
                  </a:lnTo>
                  <a:lnTo>
                    <a:pt x="4452925" y="38417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" name="Google Shape;55;p8"/>
          <p:cNvSpPr txBox="1"/>
          <p:nvPr/>
        </p:nvSpPr>
        <p:spPr>
          <a:xfrm>
            <a:off x="1867989" y="4253297"/>
            <a:ext cx="7124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(x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6606639" y="2907986"/>
            <a:ext cx="7124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(x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2619259" y="4965445"/>
            <a:ext cx="2736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1</a:t>
            </a:r>
            <a:endParaRPr baseline="-25000"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2566035" y="4991480"/>
            <a:ext cx="76200" cy="570230"/>
          </a:xfrm>
          <a:custGeom>
            <a:rect b="b" l="l" r="r" t="t"/>
            <a:pathLst>
              <a:path extrusionOk="0" h="570229" w="76200">
                <a:moveTo>
                  <a:pt x="76200" y="569976"/>
                </a:moveTo>
                <a:lnTo>
                  <a:pt x="46537" y="569476"/>
                </a:lnTo>
                <a:lnTo>
                  <a:pt x="22317" y="568115"/>
                </a:lnTo>
                <a:lnTo>
                  <a:pt x="5987" y="566096"/>
                </a:lnTo>
                <a:lnTo>
                  <a:pt x="0" y="563626"/>
                </a:lnTo>
                <a:lnTo>
                  <a:pt x="0" y="6350"/>
                </a:lnTo>
                <a:lnTo>
                  <a:pt x="5987" y="3879"/>
                </a:lnTo>
                <a:lnTo>
                  <a:pt x="22317" y="1860"/>
                </a:lnTo>
                <a:lnTo>
                  <a:pt x="46537" y="499"/>
                </a:lnTo>
                <a:lnTo>
                  <a:pt x="76200" y="0"/>
                </a:lnTo>
              </a:path>
            </a:pathLst>
          </a:cu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" name="Google Shape;59;p8"/>
          <p:cNvSpPr/>
          <p:nvPr/>
        </p:nvSpPr>
        <p:spPr>
          <a:xfrm>
            <a:off x="2857880" y="4991480"/>
            <a:ext cx="76200" cy="570230"/>
          </a:xfrm>
          <a:custGeom>
            <a:rect b="b" l="l" r="r" t="t"/>
            <a:pathLst>
              <a:path extrusionOk="0" h="570229" w="76200">
                <a:moveTo>
                  <a:pt x="0" y="569976"/>
                </a:moveTo>
                <a:lnTo>
                  <a:pt x="29662" y="569476"/>
                </a:lnTo>
                <a:lnTo>
                  <a:pt x="53882" y="568115"/>
                </a:lnTo>
                <a:lnTo>
                  <a:pt x="70212" y="566096"/>
                </a:lnTo>
                <a:lnTo>
                  <a:pt x="76200" y="563626"/>
                </a:lnTo>
                <a:lnTo>
                  <a:pt x="76200" y="6350"/>
                </a:lnTo>
                <a:lnTo>
                  <a:pt x="70212" y="3879"/>
                </a:lnTo>
                <a:lnTo>
                  <a:pt x="53882" y="1860"/>
                </a:lnTo>
                <a:lnTo>
                  <a:pt x="29662" y="499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" name="Google Shape;60;p8"/>
          <p:cNvSpPr txBox="1"/>
          <p:nvPr/>
        </p:nvSpPr>
        <p:spPr>
          <a:xfrm>
            <a:off x="6628844" y="3577658"/>
            <a:ext cx="2736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2</a:t>
            </a:r>
            <a:endParaRPr baseline="-25000"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6575679" y="3603878"/>
            <a:ext cx="76200" cy="570230"/>
          </a:xfrm>
          <a:custGeom>
            <a:rect b="b" l="l" r="r" t="t"/>
            <a:pathLst>
              <a:path extrusionOk="0" h="570229" w="76200">
                <a:moveTo>
                  <a:pt x="76200" y="569976"/>
                </a:moveTo>
                <a:lnTo>
                  <a:pt x="46537" y="569476"/>
                </a:lnTo>
                <a:lnTo>
                  <a:pt x="22317" y="568115"/>
                </a:lnTo>
                <a:lnTo>
                  <a:pt x="5987" y="566096"/>
                </a:lnTo>
                <a:lnTo>
                  <a:pt x="0" y="563626"/>
                </a:lnTo>
                <a:lnTo>
                  <a:pt x="0" y="6350"/>
                </a:lnTo>
                <a:lnTo>
                  <a:pt x="5987" y="3879"/>
                </a:lnTo>
                <a:lnTo>
                  <a:pt x="22317" y="1860"/>
                </a:lnTo>
                <a:lnTo>
                  <a:pt x="46537" y="499"/>
                </a:lnTo>
                <a:lnTo>
                  <a:pt x="76200" y="0"/>
                </a:lnTo>
              </a:path>
            </a:pathLst>
          </a:cu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" name="Google Shape;62;p8"/>
          <p:cNvSpPr/>
          <p:nvPr/>
        </p:nvSpPr>
        <p:spPr>
          <a:xfrm>
            <a:off x="6867525" y="3603878"/>
            <a:ext cx="76200" cy="570230"/>
          </a:xfrm>
          <a:custGeom>
            <a:rect b="b" l="l" r="r" t="t"/>
            <a:pathLst>
              <a:path extrusionOk="0" h="570229" w="76200">
                <a:moveTo>
                  <a:pt x="0" y="569976"/>
                </a:moveTo>
                <a:lnTo>
                  <a:pt x="29662" y="569476"/>
                </a:lnTo>
                <a:lnTo>
                  <a:pt x="53882" y="568115"/>
                </a:lnTo>
                <a:lnTo>
                  <a:pt x="70212" y="566096"/>
                </a:lnTo>
                <a:lnTo>
                  <a:pt x="76200" y="563626"/>
                </a:lnTo>
                <a:lnTo>
                  <a:pt x="76200" y="6350"/>
                </a:lnTo>
                <a:lnTo>
                  <a:pt x="70212" y="3879"/>
                </a:lnTo>
                <a:lnTo>
                  <a:pt x="53882" y="1860"/>
                </a:lnTo>
                <a:lnTo>
                  <a:pt x="29662" y="499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3" name="Google Shape;63;p8"/>
          <p:cNvGrpSpPr/>
          <p:nvPr/>
        </p:nvGrpSpPr>
        <p:grpSpPr>
          <a:xfrm>
            <a:off x="873252" y="2609088"/>
            <a:ext cx="6977621" cy="3701033"/>
            <a:chOff x="873252" y="2609088"/>
            <a:chExt cx="6977621" cy="3701033"/>
          </a:xfrm>
        </p:grpSpPr>
        <p:pic>
          <p:nvPicPr>
            <p:cNvPr id="64" name="Google Shape;6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0076" y="2609088"/>
              <a:ext cx="308597" cy="37010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8"/>
            <p:cNvSpPr/>
            <p:nvPr/>
          </p:nvSpPr>
          <p:spPr>
            <a:xfrm>
              <a:off x="1524380" y="2768727"/>
              <a:ext cx="0" cy="3480435"/>
            </a:xfrm>
            <a:custGeom>
              <a:rect b="b" l="l" r="r" t="t"/>
              <a:pathLst>
                <a:path extrusionOk="0" h="3480435" w="120000">
                  <a:moveTo>
                    <a:pt x="0" y="3480054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1479936" y="2768724"/>
              <a:ext cx="88900" cy="76200"/>
            </a:xfrm>
            <a:custGeom>
              <a:rect b="b" l="l" r="r" t="t"/>
              <a:pathLst>
                <a:path extrusionOk="0" h="76200" w="88900">
                  <a:moveTo>
                    <a:pt x="88900" y="76200"/>
                  </a:moveTo>
                  <a:lnTo>
                    <a:pt x="44450" y="0"/>
                  </a:lnTo>
                  <a:lnTo>
                    <a:pt x="0" y="7620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7" name="Google Shape;6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3252" y="5885688"/>
              <a:ext cx="6977621" cy="30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8"/>
            <p:cNvSpPr/>
            <p:nvPr/>
          </p:nvSpPr>
          <p:spPr>
            <a:xfrm>
              <a:off x="914780" y="6020180"/>
              <a:ext cx="6757034" cy="0"/>
            </a:xfrm>
            <a:custGeom>
              <a:rect b="b" l="l" r="r" t="t"/>
              <a:pathLst>
                <a:path extrusionOk="0" h="120000" w="6757034">
                  <a:moveTo>
                    <a:pt x="0" y="0"/>
                  </a:moveTo>
                  <a:lnTo>
                    <a:pt x="6756654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7595237" y="5975727"/>
              <a:ext cx="76200" cy="88900"/>
            </a:xfrm>
            <a:custGeom>
              <a:rect b="b" l="l" r="r" t="t"/>
              <a:pathLst>
                <a:path extrusionOk="0" h="88900" w="762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0" name="Google Shape;70;p8"/>
          <p:cNvSpPr txBox="1"/>
          <p:nvPr/>
        </p:nvSpPr>
        <p:spPr>
          <a:xfrm>
            <a:off x="2974339" y="5350255"/>
            <a:ext cx="4940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1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6958609" y="3990314"/>
            <a:ext cx="4940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1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4384116" y="3673703"/>
            <a:ext cx="1352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7849463" y="5859348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1069416" y="2723413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8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7" name="Google Shape;77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" name="Google Shape;84;p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21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- </a:t>
            </a:r>
            <a:r>
              <a:rPr lang="en-US">
                <a:solidFill>
                  <a:srgbClr val="FF0000"/>
                </a:solidFill>
              </a:rPr>
              <a:t>Motivation</a:t>
            </a:r>
            <a:endParaRPr/>
          </a:p>
        </p:txBody>
      </p:sp>
      <p:sp>
        <p:nvSpPr>
          <p:cNvPr id="85" name="Google Shape;85;p9"/>
          <p:cNvSpPr txBox="1"/>
          <p:nvPr/>
        </p:nvSpPr>
        <p:spPr>
          <a:xfrm>
            <a:off x="535955" y="961900"/>
            <a:ext cx="94434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Why do we need distance measures?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To compare images -	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image matching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Object recognition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Face recognition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Content based image retrieval (CBIR)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Many other applications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" name="Google Shape;95;p1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21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- </a:t>
            </a:r>
            <a:r>
              <a:rPr lang="en-US">
                <a:solidFill>
                  <a:srgbClr val="FF0000"/>
                </a:solidFill>
              </a:rPr>
              <a:t>Motivation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535940" y="1114305"/>
            <a:ext cx="6738620" cy="171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Object Recognition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 important aspect of	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visual perception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How does object recognition work?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429000"/>
            <a:ext cx="1419605" cy="2048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0"/>
          <p:cNvGrpSpPr/>
          <p:nvPr/>
        </p:nvGrpSpPr>
        <p:grpSpPr>
          <a:xfrm>
            <a:off x="4084320" y="2897885"/>
            <a:ext cx="2993897" cy="2843021"/>
            <a:chOff x="4084320" y="2897885"/>
            <a:chExt cx="2993897" cy="2843021"/>
          </a:xfrm>
        </p:grpSpPr>
        <p:pic>
          <p:nvPicPr>
            <p:cNvPr id="99" name="Google Shape;9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4320" y="2897885"/>
              <a:ext cx="1485899" cy="20474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92318" y="3693413"/>
              <a:ext cx="1485899" cy="20474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" name="Google Shape;10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0232" y="4343400"/>
            <a:ext cx="1485899" cy="204825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 txBox="1"/>
          <p:nvPr/>
        </p:nvSpPr>
        <p:spPr>
          <a:xfrm>
            <a:off x="993139" y="5733541"/>
            <a:ext cx="15328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Training Sample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5179034" y="6040551"/>
            <a:ext cx="12452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Test Samples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1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1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21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- </a:t>
            </a:r>
            <a:r>
              <a:rPr lang="en-US">
                <a:solidFill>
                  <a:srgbClr val="FF0000"/>
                </a:solidFill>
              </a:rPr>
              <a:t>Motivation</a:t>
            </a:r>
            <a:endParaRPr/>
          </a:p>
        </p:txBody>
      </p:sp>
      <p:grpSp>
        <p:nvGrpSpPr>
          <p:cNvPr id="114" name="Google Shape;114;p11"/>
          <p:cNvGrpSpPr/>
          <p:nvPr/>
        </p:nvGrpSpPr>
        <p:grpSpPr>
          <a:xfrm>
            <a:off x="609980" y="1056906"/>
            <a:ext cx="8334374" cy="5180063"/>
            <a:chOff x="609980" y="1056906"/>
            <a:chExt cx="8334374" cy="5180063"/>
          </a:xfrm>
        </p:grpSpPr>
        <p:pic>
          <p:nvPicPr>
            <p:cNvPr id="115" name="Google Shape;11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44005" y="1056906"/>
              <a:ext cx="2800349" cy="2819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2294" y="3779520"/>
              <a:ext cx="761999" cy="1099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34278" y="5139690"/>
              <a:ext cx="796289" cy="1097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63610" y="4129659"/>
              <a:ext cx="571491" cy="2009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67618" y="4042399"/>
              <a:ext cx="599778" cy="1980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68467" y="4232147"/>
              <a:ext cx="872489" cy="4221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1"/>
            <p:cNvSpPr/>
            <p:nvPr/>
          </p:nvSpPr>
          <p:spPr>
            <a:xfrm>
              <a:off x="5516449" y="4428152"/>
              <a:ext cx="579755" cy="122555"/>
            </a:xfrm>
            <a:custGeom>
              <a:rect b="b" l="l" r="r" t="t"/>
              <a:pathLst>
                <a:path extrusionOk="0" h="122554" w="579754">
                  <a:moveTo>
                    <a:pt x="579272" y="122186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5516452" y="4386503"/>
              <a:ext cx="125730" cy="130810"/>
            </a:xfrm>
            <a:custGeom>
              <a:rect b="b" l="l" r="r" t="t"/>
              <a:pathLst>
                <a:path extrusionOk="0" h="130810" w="125729">
                  <a:moveTo>
                    <a:pt x="98069" y="130479"/>
                  </a:moveTo>
                  <a:lnTo>
                    <a:pt x="0" y="41643"/>
                  </a:lnTo>
                  <a:lnTo>
                    <a:pt x="125602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3" name="Google Shape;123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870953" y="5069586"/>
              <a:ext cx="883919" cy="808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1"/>
            <p:cNvSpPr/>
            <p:nvPr/>
          </p:nvSpPr>
          <p:spPr>
            <a:xfrm>
              <a:off x="6924294" y="5282632"/>
              <a:ext cx="591185" cy="517525"/>
            </a:xfrm>
            <a:custGeom>
              <a:rect b="b" l="l" r="r" t="t"/>
              <a:pathLst>
                <a:path extrusionOk="0" h="517525" w="591184">
                  <a:moveTo>
                    <a:pt x="0" y="517055"/>
                  </a:moveTo>
                  <a:lnTo>
                    <a:pt x="590931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7385299" y="5282634"/>
              <a:ext cx="130175" cy="125730"/>
            </a:xfrm>
            <a:custGeom>
              <a:rect b="b" l="l" r="r" t="t"/>
              <a:pathLst>
                <a:path extrusionOk="0" h="125729" w="130175">
                  <a:moveTo>
                    <a:pt x="87820" y="125450"/>
                  </a:moveTo>
                  <a:lnTo>
                    <a:pt x="129933" y="0"/>
                  </a:lnTo>
                  <a:lnTo>
                    <a:pt x="0" y="25095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609980" y="5343437"/>
              <a:ext cx="4260215" cy="854075"/>
            </a:xfrm>
            <a:custGeom>
              <a:rect b="b" l="l" r="r" t="t"/>
              <a:pathLst>
                <a:path extrusionOk="0" h="854075" w="4260215">
                  <a:moveTo>
                    <a:pt x="4259846" y="0"/>
                  </a:moveTo>
                  <a:lnTo>
                    <a:pt x="3400044" y="261708"/>
                  </a:lnTo>
                  <a:lnTo>
                    <a:pt x="3390741" y="215637"/>
                  </a:lnTo>
                  <a:lnTo>
                    <a:pt x="3365374" y="178014"/>
                  </a:lnTo>
                  <a:lnTo>
                    <a:pt x="3327751" y="152647"/>
                  </a:lnTo>
                  <a:lnTo>
                    <a:pt x="3281679" y="143344"/>
                  </a:lnTo>
                  <a:lnTo>
                    <a:pt x="118364" y="143344"/>
                  </a:lnTo>
                  <a:lnTo>
                    <a:pt x="72292" y="152647"/>
                  </a:lnTo>
                  <a:lnTo>
                    <a:pt x="34669" y="178014"/>
                  </a:lnTo>
                  <a:lnTo>
                    <a:pt x="9302" y="215637"/>
                  </a:lnTo>
                  <a:lnTo>
                    <a:pt x="0" y="261708"/>
                  </a:lnTo>
                  <a:lnTo>
                    <a:pt x="0" y="735164"/>
                  </a:lnTo>
                  <a:lnTo>
                    <a:pt x="9302" y="781235"/>
                  </a:lnTo>
                  <a:lnTo>
                    <a:pt x="34669" y="818859"/>
                  </a:lnTo>
                  <a:lnTo>
                    <a:pt x="72292" y="844226"/>
                  </a:lnTo>
                  <a:lnTo>
                    <a:pt x="118364" y="853528"/>
                  </a:lnTo>
                  <a:lnTo>
                    <a:pt x="3281679" y="853528"/>
                  </a:lnTo>
                  <a:lnTo>
                    <a:pt x="3327751" y="844226"/>
                  </a:lnTo>
                  <a:lnTo>
                    <a:pt x="3365374" y="818859"/>
                  </a:lnTo>
                  <a:lnTo>
                    <a:pt x="3390741" y="781235"/>
                  </a:lnTo>
                  <a:lnTo>
                    <a:pt x="3400044" y="735164"/>
                  </a:lnTo>
                  <a:lnTo>
                    <a:pt x="3400044" y="439254"/>
                  </a:lnTo>
                  <a:lnTo>
                    <a:pt x="4259846" y="0"/>
                  </a:lnTo>
                  <a:close/>
                </a:path>
              </a:pathLst>
            </a:custGeom>
            <a:solidFill>
              <a:srgbClr val="C6D9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609980" y="5343437"/>
              <a:ext cx="4260215" cy="854075"/>
            </a:xfrm>
            <a:custGeom>
              <a:rect b="b" l="l" r="r" t="t"/>
              <a:pathLst>
                <a:path extrusionOk="0" h="854075" w="4260215">
                  <a:moveTo>
                    <a:pt x="0" y="261708"/>
                  </a:moveTo>
                  <a:lnTo>
                    <a:pt x="9302" y="215637"/>
                  </a:lnTo>
                  <a:lnTo>
                    <a:pt x="34669" y="178014"/>
                  </a:lnTo>
                  <a:lnTo>
                    <a:pt x="72292" y="152647"/>
                  </a:lnTo>
                  <a:lnTo>
                    <a:pt x="118364" y="143344"/>
                  </a:lnTo>
                  <a:lnTo>
                    <a:pt x="1983358" y="143344"/>
                  </a:lnTo>
                  <a:lnTo>
                    <a:pt x="2833370" y="143344"/>
                  </a:lnTo>
                  <a:lnTo>
                    <a:pt x="3281679" y="143344"/>
                  </a:lnTo>
                  <a:lnTo>
                    <a:pt x="3327751" y="152647"/>
                  </a:lnTo>
                  <a:lnTo>
                    <a:pt x="3365374" y="178014"/>
                  </a:lnTo>
                  <a:lnTo>
                    <a:pt x="3390741" y="215637"/>
                  </a:lnTo>
                  <a:lnTo>
                    <a:pt x="3400044" y="261708"/>
                  </a:lnTo>
                  <a:lnTo>
                    <a:pt x="4259846" y="0"/>
                  </a:lnTo>
                  <a:lnTo>
                    <a:pt x="3400044" y="439254"/>
                  </a:lnTo>
                  <a:lnTo>
                    <a:pt x="3400044" y="735164"/>
                  </a:lnTo>
                  <a:lnTo>
                    <a:pt x="3390741" y="781235"/>
                  </a:lnTo>
                  <a:lnTo>
                    <a:pt x="3365374" y="818859"/>
                  </a:lnTo>
                  <a:lnTo>
                    <a:pt x="3327751" y="844226"/>
                  </a:lnTo>
                  <a:lnTo>
                    <a:pt x="3281679" y="853528"/>
                  </a:lnTo>
                  <a:lnTo>
                    <a:pt x="2833370" y="853528"/>
                  </a:lnTo>
                  <a:lnTo>
                    <a:pt x="1983358" y="853528"/>
                  </a:lnTo>
                  <a:lnTo>
                    <a:pt x="118364" y="853528"/>
                  </a:lnTo>
                  <a:lnTo>
                    <a:pt x="72292" y="844226"/>
                  </a:lnTo>
                  <a:lnTo>
                    <a:pt x="34669" y="818859"/>
                  </a:lnTo>
                  <a:lnTo>
                    <a:pt x="9302" y="781235"/>
                  </a:lnTo>
                  <a:lnTo>
                    <a:pt x="0" y="735164"/>
                  </a:lnTo>
                  <a:lnTo>
                    <a:pt x="0" y="439254"/>
                  </a:lnTo>
                  <a:lnTo>
                    <a:pt x="0" y="261708"/>
                  </a:lnTo>
                  <a:close/>
                </a:path>
              </a:pathLst>
            </a:custGeom>
            <a:noFill/>
            <a:ln cap="flat" cmpd="sng" w="25375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8" name="Google Shape;128;p11"/>
          <p:cNvSpPr txBox="1"/>
          <p:nvPr/>
        </p:nvSpPr>
        <p:spPr>
          <a:xfrm>
            <a:off x="535940" y="931723"/>
            <a:ext cx="5257800" cy="518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lang="en-US" sz="2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How do we do object recognition?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Object is represented using </a:t>
            </a:r>
            <a:r>
              <a:rPr lang="en-US" sz="2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features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5650" marR="508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Arial"/>
              <a:buChar char="–"/>
            </a:pPr>
            <a:r>
              <a:rPr b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Feature 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is a scalar which </a:t>
            </a:r>
            <a:r>
              <a:rPr lang="en-US" sz="2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quantitatively</a:t>
            </a:r>
            <a:r>
              <a:rPr lang="en-US" sz="2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describes a property</a:t>
            </a:r>
            <a:r>
              <a:rPr lang="en-US" sz="2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of	an object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Arial"/>
              <a:buChar char="–"/>
            </a:pP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Feature vector: collection of	features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lang="en-US" sz="2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Example of	Facial Features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Distance between the eyes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Width of	the nose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Length of	Jaw line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Structure of	the cheek bones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Depth of	eye sockets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36829" lvl="0" marL="340995" marR="2007235" rtl="0" algn="l">
              <a:lnSpc>
                <a:spcPct val="100000"/>
              </a:lnSpc>
              <a:spcBef>
                <a:spcPts val="1964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Compute the distance between these vectors to find similarity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" name="Google Shape;130;p1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1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K-</a:t>
            </a:r>
            <a:r>
              <a:rPr lang="en-US"/>
              <a:t>Dim Feature Representation</a:t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497840" y="987806"/>
            <a:ext cx="8230870" cy="503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Feature vectors of	dimensionality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representing two objects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9248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 = {x</a:t>
            </a:r>
            <a:r>
              <a:rPr baseline="-25000"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,..,..x</a:t>
            </a:r>
            <a:r>
              <a:rPr baseline="-25000"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}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 = {y</a:t>
            </a:r>
            <a:r>
              <a:rPr baseline="-25000"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,..., y</a:t>
            </a:r>
            <a:r>
              <a:rPr baseline="-25000"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}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5309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Representation of	features of	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multiple Objects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9248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Consider database of	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objects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92480" marR="159956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Each object represented using feature vector of 	dimensionality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9316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This is called Column-oriented representation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92480" rtl="0" algn="l">
              <a:lnSpc>
                <a:spcPct val="118125"/>
              </a:lnSpc>
              <a:spcBef>
                <a:spcPts val="53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So all the objects can be collectively represented as a matrix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793115" rtl="0" algn="l">
              <a:lnSpc>
                <a:spcPct val="11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of	size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× 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" name="Google Shape;141;p1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2" name="Google Shape;142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" name="Google Shape;149;p1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K-</a:t>
            </a:r>
            <a:r>
              <a:rPr lang="en-US"/>
              <a:t>Dim Feature Representation</a:t>
            </a:r>
            <a:endParaRPr/>
          </a:p>
        </p:txBody>
      </p:sp>
      <p:graphicFrame>
        <p:nvGraphicFramePr>
          <p:cNvPr id="150" name="Google Shape;150;p13"/>
          <p:cNvGraphicFramePr/>
          <p:nvPr/>
        </p:nvGraphicFramePr>
        <p:xfrm>
          <a:off x="364490" y="1962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800725"/>
                <a:gridCol w="1219200"/>
                <a:gridCol w="1219200"/>
                <a:gridCol w="1120775"/>
                <a:gridCol w="950600"/>
              </a:tblGrid>
              <a:tr h="3905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4775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12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4775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13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4775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43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1N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4775" marB="0" marR="0" marL="0"/>
                </a:tc>
              </a:tr>
              <a:tr h="4267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21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22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23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2N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</a:tr>
              <a:tr h="4267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31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33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3N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0950" marB="0" marR="0" marL="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41275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756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k1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83175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756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k2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83175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756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k3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83175" marB="0" marR="0" marL="0"/>
                </a:tc>
                <a:tc>
                  <a:txBody>
                    <a:bodyPr/>
                    <a:lstStyle/>
                    <a:p>
                      <a:pPr indent="0" lvl="0" marL="4502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3325" marB="0" marR="0" marL="0"/>
                </a:tc>
                <a:tc>
                  <a:txBody>
                    <a:bodyPr/>
                    <a:lstStyle/>
                    <a:p>
                      <a:pPr indent="0" lvl="0" marL="0" marR="36195" rtl="0" algn="r">
                        <a:lnSpc>
                          <a:spcPct val="756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i="1" lang="en-US" sz="33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r>
                        <a:rPr i="1" lang="en-US" sz="145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kN</a:t>
                      </a:r>
                      <a:endParaRPr sz="145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83175" marB="0" marR="0" marL="0"/>
                </a:tc>
              </a:tr>
            </a:tbl>
          </a:graphicData>
        </a:graphic>
      </p:graphicFrame>
      <p:grpSp>
        <p:nvGrpSpPr>
          <p:cNvPr id="151" name="Google Shape;151;p13"/>
          <p:cNvGrpSpPr/>
          <p:nvPr/>
        </p:nvGrpSpPr>
        <p:grpSpPr>
          <a:xfrm>
            <a:off x="175260" y="1795272"/>
            <a:ext cx="640841" cy="3145534"/>
            <a:chOff x="175260" y="1795272"/>
            <a:chExt cx="640841" cy="3145534"/>
          </a:xfrm>
        </p:grpSpPr>
        <p:pic>
          <p:nvPicPr>
            <p:cNvPr id="152" name="Google Shape;15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5260" y="1795272"/>
              <a:ext cx="640841" cy="2469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3"/>
            <p:cNvSpPr/>
            <p:nvPr/>
          </p:nvSpPr>
          <p:spPr>
            <a:xfrm>
              <a:off x="228981" y="1829181"/>
              <a:ext cx="533400" cy="2362200"/>
            </a:xfrm>
            <a:custGeom>
              <a:rect b="b" l="l" r="r" t="t"/>
              <a:pathLst>
                <a:path extrusionOk="0" h="2362200" w="533400">
                  <a:moveTo>
                    <a:pt x="533400" y="2362200"/>
                  </a:moveTo>
                  <a:lnTo>
                    <a:pt x="454577" y="2361718"/>
                  </a:lnTo>
                  <a:lnTo>
                    <a:pt x="379346" y="2360318"/>
                  </a:lnTo>
                  <a:lnTo>
                    <a:pt x="308531" y="2358068"/>
                  </a:lnTo>
                  <a:lnTo>
                    <a:pt x="242957" y="2355038"/>
                  </a:lnTo>
                  <a:lnTo>
                    <a:pt x="183450" y="2351297"/>
                  </a:lnTo>
                  <a:lnTo>
                    <a:pt x="130833" y="2346912"/>
                  </a:lnTo>
                  <a:lnTo>
                    <a:pt x="85933" y="2341953"/>
                  </a:lnTo>
                  <a:lnTo>
                    <a:pt x="22583" y="2330587"/>
                  </a:lnTo>
                  <a:lnTo>
                    <a:pt x="0" y="2317750"/>
                  </a:lnTo>
                  <a:lnTo>
                    <a:pt x="0" y="44450"/>
                  </a:lnTo>
                  <a:lnTo>
                    <a:pt x="49575" y="25710"/>
                  </a:lnTo>
                  <a:lnTo>
                    <a:pt x="130833" y="15287"/>
                  </a:lnTo>
                  <a:lnTo>
                    <a:pt x="183450" y="10902"/>
                  </a:lnTo>
                  <a:lnTo>
                    <a:pt x="242957" y="7161"/>
                  </a:lnTo>
                  <a:lnTo>
                    <a:pt x="308531" y="4131"/>
                  </a:lnTo>
                  <a:lnTo>
                    <a:pt x="379346" y="1881"/>
                  </a:lnTo>
                  <a:lnTo>
                    <a:pt x="454577" y="481"/>
                  </a:lnTo>
                  <a:lnTo>
                    <a:pt x="533400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4" name="Google Shape;15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7378" y="3854195"/>
              <a:ext cx="312419" cy="1086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3"/>
            <p:cNvSpPr/>
            <p:nvPr/>
          </p:nvSpPr>
          <p:spPr>
            <a:xfrm>
              <a:off x="513587" y="4082795"/>
              <a:ext cx="0" cy="793750"/>
            </a:xfrm>
            <a:custGeom>
              <a:rect b="b" l="l" r="r" t="t"/>
              <a:pathLst>
                <a:path extrusionOk="0" h="793750" w="120000">
                  <a:moveTo>
                    <a:pt x="0" y="793749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456444" y="3987543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57" name="Google Shape;157;p13"/>
          <p:cNvGrpSpPr/>
          <p:nvPr/>
        </p:nvGrpSpPr>
        <p:grpSpPr>
          <a:xfrm>
            <a:off x="5318760" y="1795272"/>
            <a:ext cx="546353" cy="3163822"/>
            <a:chOff x="5318760" y="1795272"/>
            <a:chExt cx="546353" cy="3163822"/>
          </a:xfrm>
        </p:grpSpPr>
        <p:pic>
          <p:nvPicPr>
            <p:cNvPr id="158" name="Google Shape;158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89626" y="1795272"/>
              <a:ext cx="475487" cy="2469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3"/>
            <p:cNvSpPr/>
            <p:nvPr/>
          </p:nvSpPr>
          <p:spPr>
            <a:xfrm>
              <a:off x="5430393" y="1829181"/>
              <a:ext cx="381000" cy="2362200"/>
            </a:xfrm>
            <a:custGeom>
              <a:rect b="b" l="l" r="r" t="t"/>
              <a:pathLst>
                <a:path extrusionOk="0" h="2362200" w="381000">
                  <a:moveTo>
                    <a:pt x="0" y="0"/>
                  </a:moveTo>
                  <a:lnTo>
                    <a:pt x="76786" y="644"/>
                  </a:lnTo>
                  <a:lnTo>
                    <a:pt x="148304" y="2494"/>
                  </a:lnTo>
                  <a:lnTo>
                    <a:pt x="213023" y="5421"/>
                  </a:lnTo>
                  <a:lnTo>
                    <a:pt x="269409" y="9297"/>
                  </a:lnTo>
                  <a:lnTo>
                    <a:pt x="315932" y="13996"/>
                  </a:lnTo>
                  <a:lnTo>
                    <a:pt x="373259" y="25350"/>
                  </a:lnTo>
                  <a:lnTo>
                    <a:pt x="381000" y="31750"/>
                  </a:lnTo>
                  <a:lnTo>
                    <a:pt x="381000" y="2330450"/>
                  </a:lnTo>
                  <a:lnTo>
                    <a:pt x="315932" y="2348203"/>
                  </a:lnTo>
                  <a:lnTo>
                    <a:pt x="269409" y="2352902"/>
                  </a:lnTo>
                  <a:lnTo>
                    <a:pt x="213023" y="2356778"/>
                  </a:lnTo>
                  <a:lnTo>
                    <a:pt x="148304" y="2359705"/>
                  </a:lnTo>
                  <a:lnTo>
                    <a:pt x="76786" y="2361555"/>
                  </a:lnTo>
                  <a:lnTo>
                    <a:pt x="0" y="236220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60" name="Google Shape;16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18760" y="3872483"/>
              <a:ext cx="312407" cy="1086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3"/>
            <p:cNvSpPr/>
            <p:nvPr/>
          </p:nvSpPr>
          <p:spPr>
            <a:xfrm>
              <a:off x="5474970" y="4101083"/>
              <a:ext cx="0" cy="793750"/>
            </a:xfrm>
            <a:custGeom>
              <a:rect b="b" l="l" r="r" t="t"/>
              <a:pathLst>
                <a:path extrusionOk="0" h="793750" w="120000">
                  <a:moveTo>
                    <a:pt x="0" y="79375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5417826" y="4005831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63" name="Google Shape;163;p13"/>
          <p:cNvGrpSpPr/>
          <p:nvPr/>
        </p:nvGrpSpPr>
        <p:grpSpPr>
          <a:xfrm>
            <a:off x="7109460" y="1795272"/>
            <a:ext cx="1174241" cy="3097276"/>
            <a:chOff x="7109460" y="1795272"/>
            <a:chExt cx="1174241" cy="3097276"/>
          </a:xfrm>
        </p:grpSpPr>
        <p:pic>
          <p:nvPicPr>
            <p:cNvPr id="164" name="Google Shape;164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09460" y="1795272"/>
              <a:ext cx="627887" cy="24696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08214" y="1795272"/>
              <a:ext cx="475487" cy="2469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3"/>
            <p:cNvSpPr/>
            <p:nvPr/>
          </p:nvSpPr>
          <p:spPr>
            <a:xfrm>
              <a:off x="7848980" y="1829181"/>
              <a:ext cx="381000" cy="2362200"/>
            </a:xfrm>
            <a:custGeom>
              <a:rect b="b" l="l" r="r" t="t"/>
              <a:pathLst>
                <a:path extrusionOk="0" h="2362200" w="381000">
                  <a:moveTo>
                    <a:pt x="0" y="0"/>
                  </a:moveTo>
                  <a:lnTo>
                    <a:pt x="76786" y="644"/>
                  </a:lnTo>
                  <a:lnTo>
                    <a:pt x="148304" y="2494"/>
                  </a:lnTo>
                  <a:lnTo>
                    <a:pt x="213023" y="5421"/>
                  </a:lnTo>
                  <a:lnTo>
                    <a:pt x="269409" y="9297"/>
                  </a:lnTo>
                  <a:lnTo>
                    <a:pt x="315932" y="13996"/>
                  </a:lnTo>
                  <a:lnTo>
                    <a:pt x="373259" y="25350"/>
                  </a:lnTo>
                  <a:lnTo>
                    <a:pt x="381000" y="31750"/>
                  </a:lnTo>
                  <a:lnTo>
                    <a:pt x="381000" y="2330450"/>
                  </a:lnTo>
                  <a:lnTo>
                    <a:pt x="315932" y="2348203"/>
                  </a:lnTo>
                  <a:lnTo>
                    <a:pt x="269409" y="2352902"/>
                  </a:lnTo>
                  <a:lnTo>
                    <a:pt x="213023" y="2356778"/>
                  </a:lnTo>
                  <a:lnTo>
                    <a:pt x="148304" y="2359705"/>
                  </a:lnTo>
                  <a:lnTo>
                    <a:pt x="76786" y="2361555"/>
                  </a:lnTo>
                  <a:lnTo>
                    <a:pt x="0" y="236220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7831073" y="4098798"/>
              <a:ext cx="0" cy="793750"/>
            </a:xfrm>
            <a:custGeom>
              <a:rect b="b" l="l" r="r" t="t"/>
              <a:pathLst>
                <a:path extrusionOk="0" h="793750" w="120000">
                  <a:moveTo>
                    <a:pt x="0" y="79375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7773930" y="4003545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169" name="Google Shape;169;p13"/>
          <p:cNvGraphicFramePr/>
          <p:nvPr/>
        </p:nvGraphicFramePr>
        <p:xfrm>
          <a:off x="7147589" y="1836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45150"/>
              </a:tblGrid>
              <a:tr h="524500">
                <a:tc>
                  <a:txBody>
                    <a:bodyPr/>
                    <a:lstStyle/>
                    <a:p>
                      <a:pPr indent="0" lvl="0" marL="4171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y</a:t>
                      </a:r>
                      <a:r>
                        <a:rPr baseline="-25000" i="1" lang="en-US" sz="2175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baseline="-25000" sz="21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90175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26075">
                <a:tc>
                  <a:txBody>
                    <a:bodyPr/>
                    <a:lstStyle/>
                    <a:p>
                      <a:pPr indent="0" lvl="0" marL="417194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y</a:t>
                      </a:r>
                      <a:r>
                        <a:rPr baseline="-25000" i="1" lang="en-US" sz="2175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</a:t>
                      </a:r>
                      <a:endParaRPr baseline="-25000" sz="21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417194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y</a:t>
                      </a:r>
                      <a:r>
                        <a:rPr baseline="-25000" i="1" lang="en-US" sz="2175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</a:t>
                      </a:r>
                      <a:endParaRPr baseline="-25000" sz="21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04500">
                <a:tc>
                  <a:txBody>
                    <a:bodyPr/>
                    <a:lstStyle/>
                    <a:p>
                      <a:pPr indent="0" lvl="0" marL="417194" marR="0" rtl="0" algn="l">
                        <a:lnSpc>
                          <a:spcPct val="1170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</a:t>
                      </a:r>
                      <a:endParaRPr sz="22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4171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2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y</a:t>
                      </a:r>
                      <a:r>
                        <a:rPr baseline="-25000" i="1" lang="en-US" sz="2175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1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3325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70" name="Google Shape;170;p13"/>
          <p:cNvSpPr txBox="1"/>
          <p:nvPr/>
        </p:nvSpPr>
        <p:spPr>
          <a:xfrm>
            <a:off x="109377" y="4890770"/>
            <a:ext cx="8851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Object 1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71" name="Google Shape;171;p13"/>
          <p:cNvGrpSpPr/>
          <p:nvPr/>
        </p:nvGrpSpPr>
        <p:grpSpPr>
          <a:xfrm>
            <a:off x="1639062" y="3870197"/>
            <a:ext cx="312419" cy="1086611"/>
            <a:chOff x="1639062" y="3870197"/>
            <a:chExt cx="312419" cy="1086611"/>
          </a:xfrm>
        </p:grpSpPr>
        <p:pic>
          <p:nvPicPr>
            <p:cNvPr id="172" name="Google Shape;172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39062" y="3870197"/>
              <a:ext cx="312419" cy="1086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3"/>
            <p:cNvSpPr/>
            <p:nvPr/>
          </p:nvSpPr>
          <p:spPr>
            <a:xfrm>
              <a:off x="1795271" y="4098797"/>
              <a:ext cx="0" cy="793750"/>
            </a:xfrm>
            <a:custGeom>
              <a:rect b="b" l="l" r="r" t="t"/>
              <a:pathLst>
                <a:path extrusionOk="0" h="793750" w="120000">
                  <a:moveTo>
                    <a:pt x="0" y="79375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1738128" y="4003545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5" name="Google Shape;175;p13"/>
          <p:cNvSpPr txBox="1"/>
          <p:nvPr/>
        </p:nvSpPr>
        <p:spPr>
          <a:xfrm>
            <a:off x="1344261" y="4906629"/>
            <a:ext cx="8851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Object 2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76" name="Google Shape;176;p13"/>
          <p:cNvGrpSpPr/>
          <p:nvPr/>
        </p:nvGrpSpPr>
        <p:grpSpPr>
          <a:xfrm>
            <a:off x="2869692" y="3870197"/>
            <a:ext cx="312419" cy="1086611"/>
            <a:chOff x="2869692" y="3870197"/>
            <a:chExt cx="312419" cy="1086611"/>
          </a:xfrm>
        </p:grpSpPr>
        <p:pic>
          <p:nvPicPr>
            <p:cNvPr id="177" name="Google Shape;17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69692" y="3870197"/>
              <a:ext cx="312419" cy="1086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3"/>
            <p:cNvSpPr/>
            <p:nvPr/>
          </p:nvSpPr>
          <p:spPr>
            <a:xfrm>
              <a:off x="3025902" y="4098797"/>
              <a:ext cx="0" cy="793750"/>
            </a:xfrm>
            <a:custGeom>
              <a:rect b="b" l="l" r="r" t="t"/>
              <a:pathLst>
                <a:path extrusionOk="0" h="793750" w="120000">
                  <a:moveTo>
                    <a:pt x="0" y="79375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2968758" y="4003545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0" name="Google Shape;180;p13"/>
          <p:cNvSpPr txBox="1"/>
          <p:nvPr/>
        </p:nvSpPr>
        <p:spPr>
          <a:xfrm>
            <a:off x="2583860" y="4906629"/>
            <a:ext cx="8851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2D050"/>
                </a:solidFill>
                <a:latin typeface="Bell MT"/>
                <a:ea typeface="Bell MT"/>
                <a:cs typeface="Bell MT"/>
                <a:sym typeface="Bell MT"/>
              </a:rPr>
              <a:t>Object 3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5014206" y="4896620"/>
            <a:ext cx="935355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Object </a:t>
            </a:r>
            <a:r>
              <a:rPr lang="en-US" sz="19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endParaRPr sz="19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5942194" y="3935713"/>
            <a:ext cx="5607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× 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8537032" y="3935713"/>
            <a:ext cx="4965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× 1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84" name="Google Shape;1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4864" y="3870197"/>
            <a:ext cx="312419" cy="108661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/>
          <p:nvPr/>
        </p:nvSpPr>
        <p:spPr>
          <a:xfrm>
            <a:off x="7269820" y="4906629"/>
            <a:ext cx="12382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Test sample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966771" y="1203890"/>
            <a:ext cx="4012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Database (contains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objects)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8" name="Google Shape;188;p1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89" name="Google Shape;189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" name="Google Shape;196;p1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45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Distance Measures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510540" y="897513"/>
            <a:ext cx="4987925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Euclidean Distance: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0" rtl="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e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(p, q) = [(x-s)</a:t>
            </a:r>
            <a:r>
              <a:rPr baseline="30000" i="1" lang="en-US" sz="315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+ (y-t)</a:t>
            </a:r>
            <a:r>
              <a:rPr baseline="30000" i="1" lang="en-US" sz="31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]</a:t>
            </a:r>
            <a:r>
              <a:rPr baseline="30000" i="1" lang="en-US" sz="3150">
                <a:latin typeface="Bell MT"/>
                <a:ea typeface="Bell MT"/>
                <a:cs typeface="Bell MT"/>
                <a:sym typeface="Bell MT"/>
              </a:rPr>
              <a:t>1/2</a:t>
            </a:r>
            <a:endParaRPr baseline="30000" sz="315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510540" y="2556001"/>
            <a:ext cx="433641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81000" marR="304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City Block (Manhattan) Distance: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(p, q) = |x-s| + |y-t|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510540" y="4555114"/>
            <a:ext cx="5180965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4226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Chess Board (max) Distance: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88900" rtl="0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8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(p, q) = max(|x-s|, |y-t|)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8460740" y="2228341"/>
            <a:ext cx="5334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City Block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7042734" y="5916117"/>
            <a:ext cx="16827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Chessboard Block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4"/>
          <p:cNvGraphicFramePr/>
          <p:nvPr/>
        </p:nvGraphicFramePr>
        <p:xfrm>
          <a:off x="6003239" y="1136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487675"/>
                <a:gridCol w="487675"/>
                <a:gridCol w="487675"/>
                <a:gridCol w="487675"/>
                <a:gridCol w="487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" name="Google Shape;203;p14"/>
          <p:cNvGraphicFramePr/>
          <p:nvPr/>
        </p:nvGraphicFramePr>
        <p:xfrm>
          <a:off x="5937250" y="357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487675"/>
                <a:gridCol w="487675"/>
                <a:gridCol w="487675"/>
                <a:gridCol w="487675"/>
                <a:gridCol w="487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1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1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06" name="Google Shape;206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1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895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L</a:t>
            </a:r>
            <a:r>
              <a:rPr baseline="-25000" i="1" lang="en-US" sz="3975"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4000"/>
              <a:t>– Norm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510540" y="2511806"/>
            <a:ext cx="8181975" cy="158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Also known as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Minkowski norm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Minkowski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distance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L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Euclidean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3544430" y="4072077"/>
            <a:ext cx="3646804" cy="1196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5560" lvl="0" marL="127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(city block distance) (chess board distance)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510540" y="4072077"/>
            <a:ext cx="2815590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L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Manhattan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L</a:t>
            </a:r>
            <a:r>
              <a:rPr baseline="-25000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max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L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- </a:t>
            </a:r>
            <a:r>
              <a:rPr baseline="-25000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min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" name="Google Shape;218;p1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19" name="Google Shape;219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1" name="Google Shape;2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296" y="1145213"/>
            <a:ext cx="3841887" cy="119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1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a </a:t>
            </a:r>
            <a:r>
              <a:rPr b="1" lang="en-US" u="sng">
                <a:latin typeface="Bell MT"/>
                <a:ea typeface="Bell MT"/>
                <a:cs typeface="Bell MT"/>
                <a:sym typeface="Bell MT"/>
              </a:rPr>
              <a:t>Metric Distance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535940" y="878755"/>
            <a:ext cx="8350884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Let us consider pixels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with coordinates (x, y)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with coordinates (s, t)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with coordinates (u, v)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43204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 distance function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need to satisfy following properties to be a </a:t>
            </a:r>
            <a:r>
              <a:rPr b="1" lang="en-US" sz="3200" u="sng">
                <a:latin typeface="Bell MT"/>
                <a:ea typeface="Bell MT"/>
                <a:cs typeface="Bell MT"/>
                <a:sym typeface="Bell MT"/>
              </a:rPr>
              <a:t>metric distance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Non-negativity: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D(p, q)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0,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p, q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Identity: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D(p, q) =0 if	p=q,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p, q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Symmetry: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D(p, q) = D(q, p),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p, q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Triangular inequality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D(p, z)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D(p, q)+D(q, z),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p, q, z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16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31" name="Google Shape;231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" name="Google Shape;238;p17"/>
          <p:cNvSpPr txBox="1"/>
          <p:nvPr>
            <p:ph idx="4294967295" type="title"/>
          </p:nvPr>
        </p:nvSpPr>
        <p:spPr>
          <a:xfrm>
            <a:off x="0" y="153150"/>
            <a:ext cx="121920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950">
            <a:spAutoFit/>
          </a:bodyPr>
          <a:lstStyle/>
          <a:p>
            <a:pPr indent="0" lvl="0" marL="3098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FF0000"/>
                </a:solidFill>
              </a:rPr>
              <a:t>Is Minkowski distance</a:t>
            </a:r>
            <a:r>
              <a:rPr lang="en-US" sz="3600" u="none">
                <a:solidFill>
                  <a:srgbClr val="FF0000"/>
                </a:solidFill>
              </a:rPr>
              <a:t> (L</a:t>
            </a:r>
            <a:r>
              <a:rPr baseline="-25000" lang="en-US" sz="3600" u="none">
                <a:solidFill>
                  <a:srgbClr val="FF0000"/>
                </a:solidFill>
              </a:rPr>
              <a:t>p </a:t>
            </a:r>
            <a:r>
              <a:rPr lang="en-US" sz="3600" u="none">
                <a:solidFill>
                  <a:srgbClr val="FF0000"/>
                </a:solidFill>
              </a:rPr>
              <a:t>norm) a </a:t>
            </a:r>
            <a:r>
              <a:rPr lang="en-US" sz="3600" u="none"/>
              <a:t>Metric?</a:t>
            </a:r>
            <a:endParaRPr sz="3600"/>
          </a:p>
        </p:txBody>
      </p:sp>
      <p:sp>
        <p:nvSpPr>
          <p:cNvPr id="239" name="Google Shape;239;p17"/>
          <p:cNvSpPr txBox="1"/>
          <p:nvPr/>
        </p:nvSpPr>
        <p:spPr>
          <a:xfrm>
            <a:off x="535940" y="943218"/>
            <a:ext cx="7225030" cy="203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Yes, for 1	≤ p &lt; </a:t>
            </a:r>
            <a:r>
              <a:rPr lang="en-US" sz="3000">
                <a:solidFill>
                  <a:srgbClr val="00B0F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endParaRPr sz="30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No, if	p&lt;1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3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When p&lt;1, it does not satisfy the triangular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878839" y="2909177"/>
            <a:ext cx="157353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inequality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993139" y="4097135"/>
            <a:ext cx="157797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1424939" y="4529951"/>
            <a:ext cx="711073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-228600" lvl="0" marL="266700" marR="30480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the distance between (0,0) and (1,1) is 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baseline="30000" lang="en-US" sz="21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1/p 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&gt; 2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, but the point (0,1) is at a distance 1 from both of	these points.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27965" lvl="0" marL="266065" rtl="0" algn="l">
              <a:lnSpc>
                <a:spcPct val="114090"/>
              </a:lnSpc>
              <a:spcBef>
                <a:spcPts val="225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Since this violates the triangle inequality for p&lt;1,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0" lvl="0" marL="266065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Minkowski distance</a:t>
            </a:r>
            <a:r>
              <a:rPr lang="en-US" sz="2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200" u="none">
                <a:latin typeface="Bell MT"/>
                <a:ea typeface="Bell MT"/>
                <a:cs typeface="Bell MT"/>
                <a:sym typeface="Bell MT"/>
              </a:rPr>
              <a:t>is not a metric distance for p&lt;1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43" name="Google Shape;243;p17"/>
          <p:cNvGrpSpPr/>
          <p:nvPr/>
        </p:nvGrpSpPr>
        <p:grpSpPr>
          <a:xfrm>
            <a:off x="6940677" y="3176397"/>
            <a:ext cx="1371600" cy="1115060"/>
            <a:chOff x="6940677" y="3176397"/>
            <a:chExt cx="1371600" cy="1115060"/>
          </a:xfrm>
        </p:grpSpPr>
        <p:sp>
          <p:nvSpPr>
            <p:cNvPr id="244" name="Google Shape;244;p17"/>
            <p:cNvSpPr/>
            <p:nvPr/>
          </p:nvSpPr>
          <p:spPr>
            <a:xfrm>
              <a:off x="6940677" y="3176397"/>
              <a:ext cx="1371600" cy="1115060"/>
            </a:xfrm>
            <a:custGeom>
              <a:rect b="b" l="l" r="r" t="t"/>
              <a:pathLst>
                <a:path extrusionOk="0" h="1115060" w="1371600">
                  <a:moveTo>
                    <a:pt x="1371600" y="0"/>
                  </a:moveTo>
                  <a:lnTo>
                    <a:pt x="0" y="0"/>
                  </a:lnTo>
                  <a:lnTo>
                    <a:pt x="0" y="1114806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6940677" y="3176397"/>
              <a:ext cx="1371600" cy="1115060"/>
            </a:xfrm>
            <a:custGeom>
              <a:rect b="b" l="l" r="r" t="t"/>
              <a:pathLst>
                <a:path extrusionOk="0" h="1115060" w="1371600">
                  <a:moveTo>
                    <a:pt x="0" y="0"/>
                  </a:moveTo>
                  <a:lnTo>
                    <a:pt x="0" y="1114806"/>
                  </a:lnTo>
                  <a:lnTo>
                    <a:pt x="137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6" name="Google Shape;246;p17"/>
          <p:cNvSpPr txBox="1"/>
          <p:nvPr/>
        </p:nvSpPr>
        <p:spPr>
          <a:xfrm>
            <a:off x="6427158" y="4140437"/>
            <a:ext cx="4813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(0,0)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8361571" y="3005666"/>
            <a:ext cx="4813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(1,1)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6333432" y="3005666"/>
            <a:ext cx="5435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(0, 1)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7679404" y="3599063"/>
            <a:ext cx="44195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7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b="1" lang="en-US" sz="1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1/p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" name="Google Shape;251;p1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52" name="Google Shape;252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" name="Google Shape;259;p1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7325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Normalized Euclidean Distance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3834554" y="5005832"/>
            <a:ext cx="909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Cambria Math"/>
                <a:ea typeface="Cambria Math"/>
                <a:cs typeface="Cambria Math"/>
                <a:sym typeface="Cambria Math"/>
              </a:rPr>
              <a:t>𝑖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3676583" y="4874775"/>
            <a:ext cx="3525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𝑥</a:t>
            </a:r>
            <a:r>
              <a:rPr baseline="30000" lang="en-US" sz="2175">
                <a:latin typeface="Cambria Math"/>
                <a:ea typeface="Cambria Math"/>
                <a:cs typeface="Cambria Math"/>
                <a:sym typeface="Cambria Math"/>
              </a:rPr>
              <a:t>′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(𝑥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𝑖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 𝜇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𝑖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)/𝜎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𝑖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475648" y="5354850"/>
            <a:ext cx="94677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634" lvl="0" marL="50800" marR="431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𝜇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𝑖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𝜎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𝑖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are the </a:t>
            </a:r>
            <a:r>
              <a:rPr lang="en-US" sz="1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mean &amp; standard deviation</a:t>
            </a:r>
            <a:r>
              <a:rPr lang="en-US" sz="1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of f</a:t>
            </a:r>
            <a:r>
              <a:rPr lang="en-US" sz="1800" u="none">
                <a:latin typeface="Cambria Math"/>
                <a:ea typeface="Cambria Math"/>
                <a:cs typeface="Cambria Math"/>
                <a:sym typeface="Cambria Math"/>
              </a:rPr>
              <a:t>eature 𝑖𝑖 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for all the subjects used in training.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rgbClr val="FF0000"/>
              </a:buClr>
              <a:buSzPts val="1450"/>
              <a:buFont typeface="Noto Sans Symbols"/>
              <a:buChar char="▪"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Is it a Metric distance? </a:t>
            </a: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Yes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475658" y="2845905"/>
            <a:ext cx="8077800" cy="18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▪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Normalization of features can be done in various ways.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▪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One of the popular normalization techniques is “</a:t>
            </a: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Z-score Normalization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”: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None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Z-score Normalization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4" lvl="0" marL="354965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FF0000"/>
              </a:buClr>
              <a:buSzPts val="1450"/>
              <a:buFont typeface="Noto Sans Symbols"/>
              <a:buChar char="▪"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Each </a:t>
            </a:r>
            <a:r>
              <a:rPr lang="en-US" sz="1800" u="sng">
                <a:latin typeface="Bell MT"/>
                <a:ea typeface="Bell MT"/>
                <a:cs typeface="Bell MT"/>
                <a:sym typeface="Bell MT"/>
              </a:rPr>
              <a:t>feature dimension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1800" u="none"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is made mean-centered and normalized as follows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18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66" name="Google Shape;266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775" y="1120186"/>
            <a:ext cx="5282205" cy="15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/>
        </p:nvSpPr>
        <p:spPr>
          <a:xfrm>
            <a:off x="3637946" y="6526931"/>
            <a:ext cx="186880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CS419/619: Computer Vision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8428793" y="6526931"/>
            <a:ext cx="1778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13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1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77" name="Google Shape;277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idx="4294967295" type="title"/>
          </p:nvPr>
        </p:nvSpPr>
        <p:spPr>
          <a:xfrm>
            <a:off x="0" y="2315500"/>
            <a:ext cx="121920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Distance Measures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254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2060"/>
                </a:solidFill>
              </a:rPr>
              <a:t>Part -	2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2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86" name="Google Shape;286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2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98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Content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383540" y="1282699"/>
            <a:ext cx="5461000" cy="276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Recap of	the last class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2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A new distance measure: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Quadratic form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6" name="Google Shape;296;p2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97" name="Google Shape;297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" name="Google Shape;304;p2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510540" y="897513"/>
            <a:ext cx="4987925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Euclidean Distance: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0" rtl="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e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(p, q) = [(x-s)</a:t>
            </a:r>
            <a:r>
              <a:rPr baseline="30000" i="1" lang="en-US" sz="315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+ (y-t)</a:t>
            </a:r>
            <a:r>
              <a:rPr baseline="30000" i="1" lang="en-US" sz="31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]</a:t>
            </a:r>
            <a:r>
              <a:rPr baseline="30000" i="1" lang="en-US" sz="3150">
                <a:latin typeface="Bell MT"/>
                <a:ea typeface="Bell MT"/>
                <a:cs typeface="Bell MT"/>
                <a:sym typeface="Bell MT"/>
              </a:rPr>
              <a:t>1/2</a:t>
            </a:r>
            <a:endParaRPr baseline="30000" sz="315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510540" y="2556001"/>
            <a:ext cx="433641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81000" marR="304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City Block (Manhattan) Distance: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(p, q) = |x-s| + |y-t|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510540" y="4555114"/>
            <a:ext cx="5180965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4226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Chess Board (max) Distance: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88900" rtl="0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8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(p, q) = max(|x-s|, |y-t|)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8460740" y="2228341"/>
            <a:ext cx="5334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City Block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7042734" y="5916117"/>
            <a:ext cx="16827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Chessboard Block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22"/>
          <p:cNvGraphicFramePr/>
          <p:nvPr/>
        </p:nvGraphicFramePr>
        <p:xfrm>
          <a:off x="6003239" y="1136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487675"/>
                <a:gridCol w="487675"/>
                <a:gridCol w="487675"/>
                <a:gridCol w="487675"/>
                <a:gridCol w="487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" name="Google Shape;311;p22"/>
          <p:cNvGraphicFramePr/>
          <p:nvPr/>
        </p:nvGraphicFramePr>
        <p:xfrm>
          <a:off x="5937250" y="357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487675"/>
                <a:gridCol w="487675"/>
                <a:gridCol w="487675"/>
                <a:gridCol w="487675"/>
                <a:gridCol w="487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2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2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14" name="Google Shape;314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" name="Google Shape;321;p2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2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24" name="Google Shape;324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6" name="Google Shape;3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25" y="1030713"/>
            <a:ext cx="8972638" cy="534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2" name="Google Shape;332;p2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2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35" name="Google Shape;335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7" name="Google Shape;3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050" y="1096925"/>
            <a:ext cx="9315031" cy="511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2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2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46" name="Google Shape;346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8" name="Google Shape;3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100" y="974975"/>
            <a:ext cx="9054576" cy="507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4" name="Google Shape;354;p26"/>
          <p:cNvSpPr txBox="1"/>
          <p:nvPr>
            <p:ph idx="4294967295" type="title"/>
          </p:nvPr>
        </p:nvSpPr>
        <p:spPr>
          <a:xfrm>
            <a:off x="0" y="153150"/>
            <a:ext cx="121920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26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57" name="Google Shape;357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9" name="Google Shape;3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150" y="1077813"/>
            <a:ext cx="9402271" cy="5253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5" name="Google Shape;365;p2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" name="Google Shape;367;p2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68" name="Google Shape;368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0" name="Google Shape;3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4638"/>
            <a:ext cx="9167799" cy="515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6" name="Google Shape;376;p2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" name="Google Shape;378;p28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79" name="Google Shape;379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1" name="Google Shape;3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75" y="990813"/>
            <a:ext cx="9031079" cy="534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2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522675" y="2690850"/>
            <a:ext cx="99000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676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is similarity matrix of	size 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×	k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68300" marR="43815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</a:t>
            </a:r>
            <a:r>
              <a:rPr baseline="-25000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ij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denotes the </a:t>
            </a: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similarity (or weight)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of dimension </a:t>
            </a:r>
            <a:r>
              <a:rPr i="1" lang="en-US" sz="3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with dimension </a:t>
            </a:r>
            <a:r>
              <a:rPr i="1" lang="en-US" sz="3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67665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Note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8260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is positive semi-definite (</a:t>
            </a: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for distances to be	</a:t>
            </a:r>
            <a:r>
              <a:rPr lang="en-US" sz="2800">
                <a:solidFill>
                  <a:srgbClr val="00B0F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lang="en-US" sz="2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" name="Google Shape;390;p2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91" name="Google Shape;391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2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3" name="Google Shape;3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813" y="1069500"/>
            <a:ext cx="806767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3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535940" y="1064006"/>
            <a:ext cx="2783205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Comparison of histograms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3234" y="1162833"/>
            <a:ext cx="4237952" cy="14279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30"/>
          <p:cNvGrpSpPr/>
          <p:nvPr/>
        </p:nvGrpSpPr>
        <p:grpSpPr>
          <a:xfrm>
            <a:off x="483108" y="3044189"/>
            <a:ext cx="4162043" cy="3375661"/>
            <a:chOff x="483108" y="3044189"/>
            <a:chExt cx="4162043" cy="3375661"/>
          </a:xfrm>
        </p:grpSpPr>
        <p:pic>
          <p:nvPicPr>
            <p:cNvPr id="403" name="Google Shape;40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3108" y="4572000"/>
              <a:ext cx="4162043" cy="1847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8200" y="3044189"/>
              <a:ext cx="1545323" cy="1492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19044" y="3044189"/>
              <a:ext cx="1543050" cy="1543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6" name="Google Shape;406;p3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7" name="Google Shape;407;p3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08" name="Google Shape;408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9" name="Google Shape;409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5" name="Google Shape;415;p31"/>
          <p:cNvSpPr txBox="1"/>
          <p:nvPr>
            <p:ph idx="4294967295" type="title"/>
          </p:nvPr>
        </p:nvSpPr>
        <p:spPr>
          <a:xfrm>
            <a:off x="0" y="153150"/>
            <a:ext cx="121920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4380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</a:t>
            </a:r>
            <a:endParaRPr/>
          </a:p>
        </p:txBody>
      </p:sp>
      <p:sp>
        <p:nvSpPr>
          <p:cNvPr id="416" name="Google Shape;416;p3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7" name="Google Shape;417;p3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18" name="Google Shape;418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0" name="Google Shape;4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8250"/>
            <a:ext cx="8909462" cy="5253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6" name="Google Shape;426;p32"/>
          <p:cNvSpPr txBox="1"/>
          <p:nvPr/>
        </p:nvSpPr>
        <p:spPr>
          <a:xfrm>
            <a:off x="535953" y="1163400"/>
            <a:ext cx="10556400" cy="45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Euclidean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totally determined for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two vectors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400685" rtl="0" algn="l">
              <a:lnSpc>
                <a:spcPct val="108055"/>
              </a:lnSpc>
              <a:spcBef>
                <a:spcPts val="324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Weighted Euclidean distance is a little more flexible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771525" rtl="0" algn="l">
              <a:lnSpc>
                <a:spcPct val="107857"/>
              </a:lnSpc>
              <a:spcBef>
                <a:spcPts val="72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can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control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the effect of	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individual vector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components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onto the overall distance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71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Quadratic Form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It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specifies cross-dependencies of the dimensions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7" name="Google Shape;427;p32"/>
          <p:cNvSpPr txBox="1"/>
          <p:nvPr>
            <p:ph idx="4294967295" type="title"/>
          </p:nvPr>
        </p:nvSpPr>
        <p:spPr>
          <a:xfrm>
            <a:off x="0" y="153150"/>
            <a:ext cx="121920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3288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Distance-Summary</a:t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9" name="Google Shape;429;p3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0" name="Google Shape;430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" name="Google Shape;437;p33"/>
          <p:cNvSpPr/>
          <p:nvPr/>
        </p:nvSpPr>
        <p:spPr>
          <a:xfrm>
            <a:off x="6543188" y="2881512"/>
            <a:ext cx="1376045" cy="1171575"/>
          </a:xfrm>
          <a:custGeom>
            <a:rect b="b" l="l" r="r" t="t"/>
            <a:pathLst>
              <a:path extrusionOk="0" h="1171575" w="1376045">
                <a:moveTo>
                  <a:pt x="47785" y="1065638"/>
                </a:moveTo>
                <a:lnTo>
                  <a:pt x="16505" y="1008081"/>
                </a:lnTo>
                <a:lnTo>
                  <a:pt x="1561" y="942184"/>
                </a:lnTo>
                <a:lnTo>
                  <a:pt x="0" y="906561"/>
                </a:lnTo>
                <a:lnTo>
                  <a:pt x="2262" y="869398"/>
                </a:lnTo>
                <a:lnTo>
                  <a:pt x="8263" y="830874"/>
                </a:lnTo>
                <a:lnTo>
                  <a:pt x="17917" y="791173"/>
                </a:lnTo>
                <a:lnTo>
                  <a:pt x="31135" y="750474"/>
                </a:lnTo>
                <a:lnTo>
                  <a:pt x="47833" y="708959"/>
                </a:lnTo>
                <a:lnTo>
                  <a:pt x="67924" y="666810"/>
                </a:lnTo>
                <a:lnTo>
                  <a:pt x="91320" y="624208"/>
                </a:lnTo>
                <a:lnTo>
                  <a:pt x="117937" y="581333"/>
                </a:lnTo>
                <a:lnTo>
                  <a:pt x="147687" y="538368"/>
                </a:lnTo>
                <a:lnTo>
                  <a:pt x="180485" y="495493"/>
                </a:lnTo>
                <a:lnTo>
                  <a:pt x="216243" y="452890"/>
                </a:lnTo>
                <a:lnTo>
                  <a:pt x="254875" y="410741"/>
                </a:lnTo>
                <a:lnTo>
                  <a:pt x="296295" y="369225"/>
                </a:lnTo>
                <a:lnTo>
                  <a:pt x="340416" y="328526"/>
                </a:lnTo>
                <a:lnTo>
                  <a:pt x="387153" y="288823"/>
                </a:lnTo>
                <a:lnTo>
                  <a:pt x="436418" y="250298"/>
                </a:lnTo>
                <a:lnTo>
                  <a:pt x="487196" y="213791"/>
                </a:lnTo>
                <a:lnTo>
                  <a:pt x="538397" y="180042"/>
                </a:lnTo>
                <a:lnTo>
                  <a:pt x="589823" y="149082"/>
                </a:lnTo>
                <a:lnTo>
                  <a:pt x="641276" y="120944"/>
                </a:lnTo>
                <a:lnTo>
                  <a:pt x="692557" y="95661"/>
                </a:lnTo>
                <a:lnTo>
                  <a:pt x="743467" y="73263"/>
                </a:lnTo>
                <a:lnTo>
                  <a:pt x="793810" y="53784"/>
                </a:lnTo>
                <a:lnTo>
                  <a:pt x="843387" y="37256"/>
                </a:lnTo>
                <a:lnTo>
                  <a:pt x="891999" y="23711"/>
                </a:lnTo>
                <a:lnTo>
                  <a:pt x="939448" y="13180"/>
                </a:lnTo>
                <a:lnTo>
                  <a:pt x="985536" y="5696"/>
                </a:lnTo>
                <a:lnTo>
                  <a:pt x="1030065" y="1292"/>
                </a:lnTo>
                <a:lnTo>
                  <a:pt x="1072837" y="0"/>
                </a:lnTo>
                <a:lnTo>
                  <a:pt x="1113653" y="1850"/>
                </a:lnTo>
                <a:lnTo>
                  <a:pt x="1152315" y="6877"/>
                </a:lnTo>
                <a:lnTo>
                  <a:pt x="1222385" y="26587"/>
                </a:lnTo>
                <a:lnTo>
                  <a:pt x="1281461" y="59385"/>
                </a:lnTo>
                <a:lnTo>
                  <a:pt x="1327958" y="105531"/>
                </a:lnTo>
                <a:lnTo>
                  <a:pt x="1359238" y="163091"/>
                </a:lnTo>
                <a:lnTo>
                  <a:pt x="1374183" y="228990"/>
                </a:lnTo>
                <a:lnTo>
                  <a:pt x="1375746" y="264613"/>
                </a:lnTo>
                <a:lnTo>
                  <a:pt x="1373483" y="301777"/>
                </a:lnTo>
                <a:lnTo>
                  <a:pt x="1367483" y="340300"/>
                </a:lnTo>
                <a:lnTo>
                  <a:pt x="1357830" y="380002"/>
                </a:lnTo>
                <a:lnTo>
                  <a:pt x="1344612" y="420700"/>
                </a:lnTo>
                <a:lnTo>
                  <a:pt x="1327915" y="462215"/>
                </a:lnTo>
                <a:lnTo>
                  <a:pt x="1307825" y="504363"/>
                </a:lnTo>
                <a:lnTo>
                  <a:pt x="1284428" y="546965"/>
                </a:lnTo>
                <a:lnTo>
                  <a:pt x="1257812" y="589839"/>
                </a:lnTo>
                <a:lnTo>
                  <a:pt x="1228062" y="632804"/>
                </a:lnTo>
                <a:lnTo>
                  <a:pt x="1195264" y="675678"/>
                </a:lnTo>
                <a:lnTo>
                  <a:pt x="1159506" y="718280"/>
                </a:lnTo>
                <a:lnTo>
                  <a:pt x="1120873" y="760429"/>
                </a:lnTo>
                <a:lnTo>
                  <a:pt x="1079453" y="801944"/>
                </a:lnTo>
                <a:lnTo>
                  <a:pt x="1035330" y="842644"/>
                </a:lnTo>
                <a:lnTo>
                  <a:pt x="988592" y="882346"/>
                </a:lnTo>
                <a:lnTo>
                  <a:pt x="939325" y="920871"/>
                </a:lnTo>
                <a:lnTo>
                  <a:pt x="888547" y="957378"/>
                </a:lnTo>
                <a:lnTo>
                  <a:pt x="837346" y="991127"/>
                </a:lnTo>
                <a:lnTo>
                  <a:pt x="785920" y="1022087"/>
                </a:lnTo>
                <a:lnTo>
                  <a:pt x="734468" y="1050225"/>
                </a:lnTo>
                <a:lnTo>
                  <a:pt x="683187" y="1075508"/>
                </a:lnTo>
                <a:lnTo>
                  <a:pt x="632276" y="1097906"/>
                </a:lnTo>
                <a:lnTo>
                  <a:pt x="581933" y="1117385"/>
                </a:lnTo>
                <a:lnTo>
                  <a:pt x="532357" y="1133913"/>
                </a:lnTo>
                <a:lnTo>
                  <a:pt x="483745" y="1147458"/>
                </a:lnTo>
                <a:lnTo>
                  <a:pt x="436296" y="1157989"/>
                </a:lnTo>
                <a:lnTo>
                  <a:pt x="390208" y="1165473"/>
                </a:lnTo>
                <a:lnTo>
                  <a:pt x="345679" y="1169877"/>
                </a:lnTo>
                <a:lnTo>
                  <a:pt x="302907" y="1171169"/>
                </a:lnTo>
                <a:lnTo>
                  <a:pt x="262091" y="1169319"/>
                </a:lnTo>
                <a:lnTo>
                  <a:pt x="223429" y="1164292"/>
                </a:lnTo>
                <a:lnTo>
                  <a:pt x="153358" y="1144582"/>
                </a:lnTo>
                <a:lnTo>
                  <a:pt x="94282" y="1111784"/>
                </a:lnTo>
                <a:lnTo>
                  <a:pt x="47785" y="1065638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8" name="Google Shape;438;p33"/>
          <p:cNvSpPr/>
          <p:nvPr/>
        </p:nvSpPr>
        <p:spPr>
          <a:xfrm>
            <a:off x="1554861" y="2895980"/>
            <a:ext cx="1143000" cy="1143000"/>
          </a:xfrm>
          <a:custGeom>
            <a:rect b="b" l="l" r="r" t="t"/>
            <a:pathLst>
              <a:path extrusionOk="0" h="1143000" w="1143000">
                <a:moveTo>
                  <a:pt x="0" y="571500"/>
                </a:moveTo>
                <a:lnTo>
                  <a:pt x="1894" y="524627"/>
                </a:lnTo>
                <a:lnTo>
                  <a:pt x="7479" y="478799"/>
                </a:lnTo>
                <a:lnTo>
                  <a:pt x="16609" y="434161"/>
                </a:lnTo>
                <a:lnTo>
                  <a:pt x="29135" y="390860"/>
                </a:lnTo>
                <a:lnTo>
                  <a:pt x="44910" y="349045"/>
                </a:lnTo>
                <a:lnTo>
                  <a:pt x="63789" y="308861"/>
                </a:lnTo>
                <a:lnTo>
                  <a:pt x="85623" y="270457"/>
                </a:lnTo>
                <a:lnTo>
                  <a:pt x="110265" y="233978"/>
                </a:lnTo>
                <a:lnTo>
                  <a:pt x="137569" y="199572"/>
                </a:lnTo>
                <a:lnTo>
                  <a:pt x="167387" y="167387"/>
                </a:lnTo>
                <a:lnTo>
                  <a:pt x="199572" y="137569"/>
                </a:lnTo>
                <a:lnTo>
                  <a:pt x="233978" y="110265"/>
                </a:lnTo>
                <a:lnTo>
                  <a:pt x="270457" y="85623"/>
                </a:lnTo>
                <a:lnTo>
                  <a:pt x="308861" y="63789"/>
                </a:lnTo>
                <a:lnTo>
                  <a:pt x="349045" y="44910"/>
                </a:lnTo>
                <a:lnTo>
                  <a:pt x="390860" y="29135"/>
                </a:lnTo>
                <a:lnTo>
                  <a:pt x="434161" y="16609"/>
                </a:lnTo>
                <a:lnTo>
                  <a:pt x="478799" y="7479"/>
                </a:lnTo>
                <a:lnTo>
                  <a:pt x="524627" y="1894"/>
                </a:lnTo>
                <a:lnTo>
                  <a:pt x="571500" y="0"/>
                </a:lnTo>
                <a:lnTo>
                  <a:pt x="618372" y="1894"/>
                </a:lnTo>
                <a:lnTo>
                  <a:pt x="664200" y="7479"/>
                </a:lnTo>
                <a:lnTo>
                  <a:pt x="708838" y="16609"/>
                </a:lnTo>
                <a:lnTo>
                  <a:pt x="752139" y="29135"/>
                </a:lnTo>
                <a:lnTo>
                  <a:pt x="793954" y="44910"/>
                </a:lnTo>
                <a:lnTo>
                  <a:pt x="834138" y="63789"/>
                </a:lnTo>
                <a:lnTo>
                  <a:pt x="872542" y="85623"/>
                </a:lnTo>
                <a:lnTo>
                  <a:pt x="909021" y="110265"/>
                </a:lnTo>
                <a:lnTo>
                  <a:pt x="943427" y="137569"/>
                </a:lnTo>
                <a:lnTo>
                  <a:pt x="975612" y="167387"/>
                </a:lnTo>
                <a:lnTo>
                  <a:pt x="1005430" y="199572"/>
                </a:lnTo>
                <a:lnTo>
                  <a:pt x="1032734" y="233978"/>
                </a:lnTo>
                <a:lnTo>
                  <a:pt x="1057376" y="270457"/>
                </a:lnTo>
                <a:lnTo>
                  <a:pt x="1079210" y="308861"/>
                </a:lnTo>
                <a:lnTo>
                  <a:pt x="1098089" y="349045"/>
                </a:lnTo>
                <a:lnTo>
                  <a:pt x="1113864" y="390860"/>
                </a:lnTo>
                <a:lnTo>
                  <a:pt x="1126390" y="434161"/>
                </a:lnTo>
                <a:lnTo>
                  <a:pt x="1135520" y="478799"/>
                </a:lnTo>
                <a:lnTo>
                  <a:pt x="1141105" y="524627"/>
                </a:lnTo>
                <a:lnTo>
                  <a:pt x="1143000" y="571500"/>
                </a:lnTo>
                <a:lnTo>
                  <a:pt x="1141105" y="618372"/>
                </a:lnTo>
                <a:lnTo>
                  <a:pt x="1135520" y="664200"/>
                </a:lnTo>
                <a:lnTo>
                  <a:pt x="1126390" y="708838"/>
                </a:lnTo>
                <a:lnTo>
                  <a:pt x="1113864" y="752139"/>
                </a:lnTo>
                <a:lnTo>
                  <a:pt x="1098089" y="793954"/>
                </a:lnTo>
                <a:lnTo>
                  <a:pt x="1079210" y="834138"/>
                </a:lnTo>
                <a:lnTo>
                  <a:pt x="1057376" y="872542"/>
                </a:lnTo>
                <a:lnTo>
                  <a:pt x="1032734" y="909021"/>
                </a:lnTo>
                <a:lnTo>
                  <a:pt x="1005430" y="943427"/>
                </a:lnTo>
                <a:lnTo>
                  <a:pt x="975612" y="975612"/>
                </a:lnTo>
                <a:lnTo>
                  <a:pt x="943427" y="1005430"/>
                </a:lnTo>
                <a:lnTo>
                  <a:pt x="909021" y="1032734"/>
                </a:lnTo>
                <a:lnTo>
                  <a:pt x="872542" y="1057376"/>
                </a:lnTo>
                <a:lnTo>
                  <a:pt x="834138" y="1079210"/>
                </a:lnTo>
                <a:lnTo>
                  <a:pt x="793954" y="1098089"/>
                </a:lnTo>
                <a:lnTo>
                  <a:pt x="752139" y="1113864"/>
                </a:lnTo>
                <a:lnTo>
                  <a:pt x="708838" y="1126390"/>
                </a:lnTo>
                <a:lnTo>
                  <a:pt x="664200" y="1135520"/>
                </a:lnTo>
                <a:lnTo>
                  <a:pt x="618372" y="1141105"/>
                </a:lnTo>
                <a:lnTo>
                  <a:pt x="571500" y="1143000"/>
                </a:lnTo>
                <a:lnTo>
                  <a:pt x="524627" y="1141105"/>
                </a:lnTo>
                <a:lnTo>
                  <a:pt x="478799" y="1135520"/>
                </a:lnTo>
                <a:lnTo>
                  <a:pt x="434161" y="1126390"/>
                </a:lnTo>
                <a:lnTo>
                  <a:pt x="390860" y="1113864"/>
                </a:lnTo>
                <a:lnTo>
                  <a:pt x="349045" y="1098089"/>
                </a:lnTo>
                <a:lnTo>
                  <a:pt x="308861" y="1079210"/>
                </a:lnTo>
                <a:lnTo>
                  <a:pt x="270457" y="1057376"/>
                </a:lnTo>
                <a:lnTo>
                  <a:pt x="233978" y="1032734"/>
                </a:lnTo>
                <a:lnTo>
                  <a:pt x="199572" y="1005430"/>
                </a:lnTo>
                <a:lnTo>
                  <a:pt x="167387" y="975612"/>
                </a:lnTo>
                <a:lnTo>
                  <a:pt x="137569" y="943427"/>
                </a:lnTo>
                <a:lnTo>
                  <a:pt x="110265" y="909021"/>
                </a:lnTo>
                <a:lnTo>
                  <a:pt x="85623" y="872542"/>
                </a:lnTo>
                <a:lnTo>
                  <a:pt x="63789" y="834138"/>
                </a:lnTo>
                <a:lnTo>
                  <a:pt x="44910" y="793954"/>
                </a:lnTo>
                <a:lnTo>
                  <a:pt x="29135" y="752139"/>
                </a:lnTo>
                <a:lnTo>
                  <a:pt x="16609" y="708838"/>
                </a:lnTo>
                <a:lnTo>
                  <a:pt x="7479" y="664200"/>
                </a:lnTo>
                <a:lnTo>
                  <a:pt x="1894" y="618372"/>
                </a:lnTo>
                <a:lnTo>
                  <a:pt x="0" y="5715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39" name="Google Shape;439;p33"/>
          <p:cNvGrpSpPr/>
          <p:nvPr/>
        </p:nvGrpSpPr>
        <p:grpSpPr>
          <a:xfrm>
            <a:off x="3917060" y="3048380"/>
            <a:ext cx="1600200" cy="838200"/>
            <a:chOff x="3917060" y="3048380"/>
            <a:chExt cx="1600200" cy="838200"/>
          </a:xfrm>
        </p:grpSpPr>
        <p:sp>
          <p:nvSpPr>
            <p:cNvPr id="440" name="Google Shape;440;p33"/>
            <p:cNvSpPr/>
            <p:nvPr/>
          </p:nvSpPr>
          <p:spPr>
            <a:xfrm>
              <a:off x="3917060" y="3048380"/>
              <a:ext cx="1600200" cy="838200"/>
            </a:xfrm>
            <a:custGeom>
              <a:rect b="b" l="l" r="r" t="t"/>
              <a:pathLst>
                <a:path extrusionOk="0" h="838200" w="1600200">
                  <a:moveTo>
                    <a:pt x="0" y="419100"/>
                  </a:moveTo>
                  <a:lnTo>
                    <a:pt x="9510" y="354285"/>
                  </a:lnTo>
                  <a:lnTo>
                    <a:pt x="37092" y="292601"/>
                  </a:lnTo>
                  <a:lnTo>
                    <a:pt x="81322" y="234792"/>
                  </a:lnTo>
                  <a:lnTo>
                    <a:pt x="109236" y="207574"/>
                  </a:lnTo>
                  <a:lnTo>
                    <a:pt x="140779" y="181604"/>
                  </a:lnTo>
                  <a:lnTo>
                    <a:pt x="175772" y="156976"/>
                  </a:lnTo>
                  <a:lnTo>
                    <a:pt x="214038" y="133783"/>
                  </a:lnTo>
                  <a:lnTo>
                    <a:pt x="255399" y="112117"/>
                  </a:lnTo>
                  <a:lnTo>
                    <a:pt x="299677" y="92073"/>
                  </a:lnTo>
                  <a:lnTo>
                    <a:pt x="346695" y="73743"/>
                  </a:lnTo>
                  <a:lnTo>
                    <a:pt x="396273" y="57220"/>
                  </a:lnTo>
                  <a:lnTo>
                    <a:pt x="448235" y="42598"/>
                  </a:lnTo>
                  <a:lnTo>
                    <a:pt x="502403" y="29970"/>
                  </a:lnTo>
                  <a:lnTo>
                    <a:pt x="558598" y="19429"/>
                  </a:lnTo>
                  <a:lnTo>
                    <a:pt x="616644" y="11068"/>
                  </a:lnTo>
                  <a:lnTo>
                    <a:pt x="676361" y="4981"/>
                  </a:lnTo>
                  <a:lnTo>
                    <a:pt x="737572" y="1260"/>
                  </a:lnTo>
                  <a:lnTo>
                    <a:pt x="800100" y="0"/>
                  </a:lnTo>
                  <a:lnTo>
                    <a:pt x="862627" y="1260"/>
                  </a:lnTo>
                  <a:lnTo>
                    <a:pt x="923838" y="4981"/>
                  </a:lnTo>
                  <a:lnTo>
                    <a:pt x="983555" y="11068"/>
                  </a:lnTo>
                  <a:lnTo>
                    <a:pt x="1041601" y="19429"/>
                  </a:lnTo>
                  <a:lnTo>
                    <a:pt x="1097796" y="29970"/>
                  </a:lnTo>
                  <a:lnTo>
                    <a:pt x="1151964" y="42598"/>
                  </a:lnTo>
                  <a:lnTo>
                    <a:pt x="1203926" y="57220"/>
                  </a:lnTo>
                  <a:lnTo>
                    <a:pt x="1253504" y="73743"/>
                  </a:lnTo>
                  <a:lnTo>
                    <a:pt x="1300522" y="92073"/>
                  </a:lnTo>
                  <a:lnTo>
                    <a:pt x="1344800" y="112117"/>
                  </a:lnTo>
                  <a:lnTo>
                    <a:pt x="1386161" y="133783"/>
                  </a:lnTo>
                  <a:lnTo>
                    <a:pt x="1424427" y="156976"/>
                  </a:lnTo>
                  <a:lnTo>
                    <a:pt x="1459420" y="181604"/>
                  </a:lnTo>
                  <a:lnTo>
                    <a:pt x="1490963" y="207574"/>
                  </a:lnTo>
                  <a:lnTo>
                    <a:pt x="1518877" y="234792"/>
                  </a:lnTo>
                  <a:lnTo>
                    <a:pt x="1563107" y="292601"/>
                  </a:lnTo>
                  <a:lnTo>
                    <a:pt x="1590689" y="354285"/>
                  </a:lnTo>
                  <a:lnTo>
                    <a:pt x="1600200" y="419100"/>
                  </a:lnTo>
                  <a:lnTo>
                    <a:pt x="1597792" y="451851"/>
                  </a:lnTo>
                  <a:lnTo>
                    <a:pt x="1579068" y="515194"/>
                  </a:lnTo>
                  <a:lnTo>
                    <a:pt x="1542984" y="575033"/>
                  </a:lnTo>
                  <a:lnTo>
                    <a:pt x="1490963" y="630625"/>
                  </a:lnTo>
                  <a:lnTo>
                    <a:pt x="1459420" y="656595"/>
                  </a:lnTo>
                  <a:lnTo>
                    <a:pt x="1424427" y="681223"/>
                  </a:lnTo>
                  <a:lnTo>
                    <a:pt x="1386161" y="704416"/>
                  </a:lnTo>
                  <a:lnTo>
                    <a:pt x="1344800" y="726082"/>
                  </a:lnTo>
                  <a:lnTo>
                    <a:pt x="1300522" y="746126"/>
                  </a:lnTo>
                  <a:lnTo>
                    <a:pt x="1253504" y="764456"/>
                  </a:lnTo>
                  <a:lnTo>
                    <a:pt x="1203926" y="780979"/>
                  </a:lnTo>
                  <a:lnTo>
                    <a:pt x="1151964" y="795601"/>
                  </a:lnTo>
                  <a:lnTo>
                    <a:pt x="1097796" y="808229"/>
                  </a:lnTo>
                  <a:lnTo>
                    <a:pt x="1041601" y="818770"/>
                  </a:lnTo>
                  <a:lnTo>
                    <a:pt x="983555" y="827131"/>
                  </a:lnTo>
                  <a:lnTo>
                    <a:pt x="923838" y="833218"/>
                  </a:lnTo>
                  <a:lnTo>
                    <a:pt x="862627" y="836939"/>
                  </a:lnTo>
                  <a:lnTo>
                    <a:pt x="800100" y="838200"/>
                  </a:lnTo>
                  <a:lnTo>
                    <a:pt x="737572" y="836939"/>
                  </a:lnTo>
                  <a:lnTo>
                    <a:pt x="676361" y="833218"/>
                  </a:lnTo>
                  <a:lnTo>
                    <a:pt x="616644" y="827131"/>
                  </a:lnTo>
                  <a:lnTo>
                    <a:pt x="558598" y="818770"/>
                  </a:lnTo>
                  <a:lnTo>
                    <a:pt x="502403" y="808229"/>
                  </a:lnTo>
                  <a:lnTo>
                    <a:pt x="448235" y="795601"/>
                  </a:lnTo>
                  <a:lnTo>
                    <a:pt x="396273" y="780979"/>
                  </a:lnTo>
                  <a:lnTo>
                    <a:pt x="346695" y="764456"/>
                  </a:lnTo>
                  <a:lnTo>
                    <a:pt x="299677" y="746126"/>
                  </a:lnTo>
                  <a:lnTo>
                    <a:pt x="255399" y="726082"/>
                  </a:lnTo>
                  <a:lnTo>
                    <a:pt x="214038" y="704416"/>
                  </a:lnTo>
                  <a:lnTo>
                    <a:pt x="175772" y="681223"/>
                  </a:lnTo>
                  <a:lnTo>
                    <a:pt x="140779" y="656595"/>
                  </a:lnTo>
                  <a:lnTo>
                    <a:pt x="109236" y="630625"/>
                  </a:lnTo>
                  <a:lnTo>
                    <a:pt x="81322" y="603407"/>
                  </a:lnTo>
                  <a:lnTo>
                    <a:pt x="37092" y="545598"/>
                  </a:lnTo>
                  <a:lnTo>
                    <a:pt x="9510" y="483914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41" name="Google Shape;4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74298" y="3424618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33"/>
          <p:cNvSpPr txBox="1"/>
          <p:nvPr/>
        </p:nvSpPr>
        <p:spPr>
          <a:xfrm>
            <a:off x="612153" y="1012950"/>
            <a:ext cx="9720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342900" lvl="0" marL="355600" marR="508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QFD represents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correlation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between dimensions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443" name="Google Shape;443;p33"/>
          <p:cNvGrpSpPr/>
          <p:nvPr/>
        </p:nvGrpSpPr>
        <p:grpSpPr>
          <a:xfrm>
            <a:off x="6126860" y="2591180"/>
            <a:ext cx="2057400" cy="1828800"/>
            <a:chOff x="6126860" y="2591180"/>
            <a:chExt cx="2057400" cy="1828800"/>
          </a:xfrm>
        </p:grpSpPr>
        <p:sp>
          <p:nvSpPr>
            <p:cNvPr id="444" name="Google Shape;444;p33"/>
            <p:cNvSpPr/>
            <p:nvPr/>
          </p:nvSpPr>
          <p:spPr>
            <a:xfrm>
              <a:off x="6355460" y="2667380"/>
              <a:ext cx="0" cy="1752600"/>
            </a:xfrm>
            <a:custGeom>
              <a:rect b="b" l="l" r="r" t="t"/>
              <a:pathLst>
                <a:path extrusionOk="0" h="1752600" w="120000">
                  <a:moveTo>
                    <a:pt x="0" y="17526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33"/>
            <p:cNvSpPr/>
            <p:nvPr/>
          </p:nvSpPr>
          <p:spPr>
            <a:xfrm>
              <a:off x="6291965" y="259118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63500" y="0"/>
                  </a:moveTo>
                  <a:lnTo>
                    <a:pt x="0" y="127000"/>
                  </a:lnTo>
                  <a:lnTo>
                    <a:pt x="63500" y="76200"/>
                  </a:lnTo>
                  <a:lnTo>
                    <a:pt x="127000" y="127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33"/>
            <p:cNvSpPr/>
            <p:nvPr/>
          </p:nvSpPr>
          <p:spPr>
            <a:xfrm>
              <a:off x="6126860" y="4191380"/>
              <a:ext cx="1981200" cy="0"/>
            </a:xfrm>
            <a:custGeom>
              <a:rect b="b" l="l" r="r" t="t"/>
              <a:pathLst>
                <a:path extrusionOk="0" h="120000" w="1981200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33"/>
            <p:cNvSpPr/>
            <p:nvPr/>
          </p:nvSpPr>
          <p:spPr>
            <a:xfrm>
              <a:off x="8057260" y="4127878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0" y="0"/>
                  </a:moveTo>
                  <a:lnTo>
                    <a:pt x="50800" y="63499"/>
                  </a:lnTo>
                  <a:lnTo>
                    <a:pt x="0" y="126999"/>
                  </a:lnTo>
                  <a:lnTo>
                    <a:pt x="127000" y="6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448" name="Google Shape;4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8898" y="3424618"/>
            <a:ext cx="85725" cy="8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33"/>
          <p:cNvGrpSpPr/>
          <p:nvPr/>
        </p:nvGrpSpPr>
        <p:grpSpPr>
          <a:xfrm>
            <a:off x="3612260" y="2591180"/>
            <a:ext cx="2057400" cy="1828800"/>
            <a:chOff x="3612260" y="2591180"/>
            <a:chExt cx="2057400" cy="1828800"/>
          </a:xfrm>
        </p:grpSpPr>
        <p:sp>
          <p:nvSpPr>
            <p:cNvPr id="450" name="Google Shape;450;p33"/>
            <p:cNvSpPr/>
            <p:nvPr/>
          </p:nvSpPr>
          <p:spPr>
            <a:xfrm>
              <a:off x="3612260" y="4191380"/>
              <a:ext cx="1981200" cy="0"/>
            </a:xfrm>
            <a:custGeom>
              <a:rect b="b" l="l" r="r" t="t"/>
              <a:pathLst>
                <a:path extrusionOk="0" h="120000" w="1981200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33"/>
            <p:cNvSpPr/>
            <p:nvPr/>
          </p:nvSpPr>
          <p:spPr>
            <a:xfrm>
              <a:off x="5542660" y="4127878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0" y="0"/>
                  </a:moveTo>
                  <a:lnTo>
                    <a:pt x="50800" y="63499"/>
                  </a:lnTo>
                  <a:lnTo>
                    <a:pt x="0" y="126999"/>
                  </a:lnTo>
                  <a:lnTo>
                    <a:pt x="127000" y="6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3840860" y="2667380"/>
              <a:ext cx="0" cy="1752600"/>
            </a:xfrm>
            <a:custGeom>
              <a:rect b="b" l="l" r="r" t="t"/>
              <a:pathLst>
                <a:path extrusionOk="0" h="1752600" w="120000">
                  <a:moveTo>
                    <a:pt x="0" y="17526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3777365" y="259118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63500" y="0"/>
                  </a:moveTo>
                  <a:lnTo>
                    <a:pt x="0" y="127000"/>
                  </a:lnTo>
                  <a:lnTo>
                    <a:pt x="63500" y="76200"/>
                  </a:lnTo>
                  <a:lnTo>
                    <a:pt x="127000" y="127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54" name="Google Shape;454;p33"/>
          <p:cNvGrpSpPr/>
          <p:nvPr/>
        </p:nvGrpSpPr>
        <p:grpSpPr>
          <a:xfrm>
            <a:off x="1097661" y="2591180"/>
            <a:ext cx="2057400" cy="1828800"/>
            <a:chOff x="1097661" y="2591180"/>
            <a:chExt cx="2057400" cy="1828800"/>
          </a:xfrm>
        </p:grpSpPr>
        <p:sp>
          <p:nvSpPr>
            <p:cNvPr id="455" name="Google Shape;455;p33"/>
            <p:cNvSpPr/>
            <p:nvPr/>
          </p:nvSpPr>
          <p:spPr>
            <a:xfrm>
              <a:off x="1402461" y="2667380"/>
              <a:ext cx="0" cy="1752600"/>
            </a:xfrm>
            <a:custGeom>
              <a:rect b="b" l="l" r="r" t="t"/>
              <a:pathLst>
                <a:path extrusionOk="0" h="1752600" w="120000">
                  <a:moveTo>
                    <a:pt x="0" y="17526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33"/>
            <p:cNvSpPr/>
            <p:nvPr/>
          </p:nvSpPr>
          <p:spPr>
            <a:xfrm>
              <a:off x="1338966" y="259118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63500" y="0"/>
                  </a:moveTo>
                  <a:lnTo>
                    <a:pt x="0" y="127000"/>
                  </a:lnTo>
                  <a:lnTo>
                    <a:pt x="63500" y="76200"/>
                  </a:lnTo>
                  <a:lnTo>
                    <a:pt x="127000" y="127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33"/>
            <p:cNvSpPr/>
            <p:nvPr/>
          </p:nvSpPr>
          <p:spPr>
            <a:xfrm>
              <a:off x="1097661" y="4191380"/>
              <a:ext cx="1981200" cy="0"/>
            </a:xfrm>
            <a:custGeom>
              <a:rect b="b" l="l" r="r" t="t"/>
              <a:pathLst>
                <a:path extrusionOk="0" h="120000" w="1981200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33"/>
            <p:cNvSpPr/>
            <p:nvPr/>
          </p:nvSpPr>
          <p:spPr>
            <a:xfrm>
              <a:off x="3028061" y="4127878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0" y="0"/>
                  </a:moveTo>
                  <a:lnTo>
                    <a:pt x="50800" y="63499"/>
                  </a:lnTo>
                  <a:lnTo>
                    <a:pt x="0" y="126999"/>
                  </a:lnTo>
                  <a:lnTo>
                    <a:pt x="127000" y="6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3498" y="3424618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3"/>
          <p:cNvSpPr txBox="1"/>
          <p:nvPr/>
        </p:nvSpPr>
        <p:spPr>
          <a:xfrm>
            <a:off x="1776348" y="4430521"/>
            <a:ext cx="10496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Euclidean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1158875" y="4794503"/>
            <a:ext cx="2284095" cy="281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circles for iso-surfaces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3793680" y="4430521"/>
            <a:ext cx="206248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weighted Euclidean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3692080" y="4794503"/>
            <a:ext cx="2266315" cy="281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iso-oriented ellipsoids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6531354" y="4414646"/>
            <a:ext cx="16859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Quadratic Form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6891528" y="4778628"/>
            <a:ext cx="979169" cy="281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ellipsoids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6" name="Google Shape;466;p33"/>
          <p:cNvSpPr txBox="1"/>
          <p:nvPr>
            <p:ph idx="4294967295" type="title"/>
          </p:nvPr>
        </p:nvSpPr>
        <p:spPr>
          <a:xfrm>
            <a:off x="0" y="153150"/>
            <a:ext cx="121920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Quadratic Form Distance-Summary</a:t>
            </a:r>
            <a:endParaRPr/>
          </a:p>
        </p:txBody>
      </p:sp>
      <p:sp>
        <p:nvSpPr>
          <p:cNvPr id="467" name="Google Shape;467;p33"/>
          <p:cNvSpPr/>
          <p:nvPr/>
        </p:nvSpPr>
        <p:spPr>
          <a:xfrm>
            <a:off x="333603" y="5978241"/>
            <a:ext cx="4059554" cy="0"/>
          </a:xfrm>
          <a:custGeom>
            <a:rect b="b" l="l" r="r" t="t"/>
            <a:pathLst>
              <a:path extrusionOk="0" h="120000" w="4059554">
                <a:moveTo>
                  <a:pt x="0" y="0"/>
                </a:moveTo>
                <a:lnTo>
                  <a:pt x="4059110" y="0"/>
                </a:lnTo>
              </a:path>
            </a:pathLst>
          </a:custGeom>
          <a:noFill/>
          <a:ln cap="flat" cmpd="sng" w="18475">
            <a:solidFill>
              <a:srgbClr val="001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8" name="Google Shape;468;p33"/>
          <p:cNvSpPr txBox="1"/>
          <p:nvPr/>
        </p:nvSpPr>
        <p:spPr>
          <a:xfrm>
            <a:off x="320899" y="5024150"/>
            <a:ext cx="109251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57479" lvl="0" marL="596392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(Not necessarily aligned to the coordinate axis)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2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Iso-oriented – the </a:t>
            </a:r>
            <a:r>
              <a:rPr i="1" lang="en-U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sides of the object are parallel to the axes of the coordinate system.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0" name="Google Shape;470;p3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71" name="Google Shape;471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p3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78" name="Google Shape;478;p34"/>
          <p:cNvGrpSpPr/>
          <p:nvPr/>
        </p:nvGrpSpPr>
        <p:grpSpPr>
          <a:xfrm>
            <a:off x="1612011" y="3027819"/>
            <a:ext cx="76200" cy="609600"/>
            <a:chOff x="1612011" y="3027819"/>
            <a:chExt cx="76200" cy="609600"/>
          </a:xfrm>
        </p:grpSpPr>
        <p:sp>
          <p:nvSpPr>
            <p:cNvPr id="479" name="Google Shape;479;p34"/>
            <p:cNvSpPr/>
            <p:nvPr/>
          </p:nvSpPr>
          <p:spPr>
            <a:xfrm>
              <a:off x="1650110" y="3142107"/>
              <a:ext cx="0" cy="381000"/>
            </a:xfrm>
            <a:custGeom>
              <a:rect b="b" l="l" r="r" t="t"/>
              <a:pathLst>
                <a:path extrusionOk="0" h="381000" w="120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1612011" y="3027819"/>
              <a:ext cx="76200" cy="609600"/>
            </a:xfrm>
            <a:custGeom>
              <a:rect b="b" l="l" r="r" t="t"/>
              <a:pathLst>
                <a:path extrusionOk="0" h="609600" w="76200">
                  <a:moveTo>
                    <a:pt x="76200" y="482600"/>
                  </a:moveTo>
                  <a:lnTo>
                    <a:pt x="0" y="482600"/>
                  </a:lnTo>
                  <a:lnTo>
                    <a:pt x="38100" y="609600"/>
                  </a:lnTo>
                  <a:lnTo>
                    <a:pt x="76200" y="482600"/>
                  </a:lnTo>
                  <a:close/>
                </a:path>
                <a:path extrusionOk="0" h="609600" w="76200">
                  <a:moveTo>
                    <a:pt x="76200" y="127000"/>
                  </a:moveTo>
                  <a:lnTo>
                    <a:pt x="38100" y="0"/>
                  </a:lnTo>
                  <a:lnTo>
                    <a:pt x="0" y="12700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481" name="Google Shape;481;p34"/>
          <p:cNvGraphicFramePr/>
          <p:nvPr/>
        </p:nvGraphicFramePr>
        <p:xfrm>
          <a:off x="1340548" y="26420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09600"/>
                <a:gridCol w="609600"/>
                <a:gridCol w="609600"/>
                <a:gridCol w="2438400"/>
                <a:gridCol w="609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2" name="Google Shape;482;p34"/>
          <p:cNvGraphicFramePr/>
          <p:nvPr/>
        </p:nvGraphicFramePr>
        <p:xfrm>
          <a:off x="1340548" y="36326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09600"/>
                <a:gridCol w="609600"/>
                <a:gridCol w="609600"/>
                <a:gridCol w="2438400"/>
                <a:gridCol w="609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83" name="Google Shape;483;p34"/>
          <p:cNvGrpSpPr/>
          <p:nvPr/>
        </p:nvGrpSpPr>
        <p:grpSpPr>
          <a:xfrm>
            <a:off x="2221611" y="3027819"/>
            <a:ext cx="76200" cy="609600"/>
            <a:chOff x="2221611" y="3027819"/>
            <a:chExt cx="76200" cy="609600"/>
          </a:xfrm>
        </p:grpSpPr>
        <p:sp>
          <p:nvSpPr>
            <p:cNvPr id="484" name="Google Shape;484;p34"/>
            <p:cNvSpPr/>
            <p:nvPr/>
          </p:nvSpPr>
          <p:spPr>
            <a:xfrm>
              <a:off x="2259710" y="3142107"/>
              <a:ext cx="0" cy="381000"/>
            </a:xfrm>
            <a:custGeom>
              <a:rect b="b" l="l" r="r" t="t"/>
              <a:pathLst>
                <a:path extrusionOk="0" h="381000" w="120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2221611" y="3027819"/>
              <a:ext cx="76200" cy="609600"/>
            </a:xfrm>
            <a:custGeom>
              <a:rect b="b" l="l" r="r" t="t"/>
              <a:pathLst>
                <a:path extrusionOk="0" h="609600" w="76200">
                  <a:moveTo>
                    <a:pt x="76200" y="482600"/>
                  </a:moveTo>
                  <a:lnTo>
                    <a:pt x="0" y="482600"/>
                  </a:lnTo>
                  <a:lnTo>
                    <a:pt x="38100" y="609600"/>
                  </a:lnTo>
                  <a:lnTo>
                    <a:pt x="76200" y="482600"/>
                  </a:lnTo>
                  <a:close/>
                </a:path>
                <a:path extrusionOk="0" h="609600" w="76200">
                  <a:moveTo>
                    <a:pt x="76200" y="127000"/>
                  </a:moveTo>
                  <a:lnTo>
                    <a:pt x="38100" y="0"/>
                  </a:lnTo>
                  <a:lnTo>
                    <a:pt x="0" y="12700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86" name="Google Shape;486;p34"/>
          <p:cNvGrpSpPr/>
          <p:nvPr/>
        </p:nvGrpSpPr>
        <p:grpSpPr>
          <a:xfrm>
            <a:off x="2831211" y="3027819"/>
            <a:ext cx="76200" cy="609600"/>
            <a:chOff x="2831211" y="3027819"/>
            <a:chExt cx="76200" cy="609600"/>
          </a:xfrm>
        </p:grpSpPr>
        <p:sp>
          <p:nvSpPr>
            <p:cNvPr id="487" name="Google Shape;487;p34"/>
            <p:cNvSpPr/>
            <p:nvPr/>
          </p:nvSpPr>
          <p:spPr>
            <a:xfrm>
              <a:off x="2869310" y="3142107"/>
              <a:ext cx="0" cy="381000"/>
            </a:xfrm>
            <a:custGeom>
              <a:rect b="b" l="l" r="r" t="t"/>
              <a:pathLst>
                <a:path extrusionOk="0" h="381000" w="120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2831211" y="3027819"/>
              <a:ext cx="76200" cy="609600"/>
            </a:xfrm>
            <a:custGeom>
              <a:rect b="b" l="l" r="r" t="t"/>
              <a:pathLst>
                <a:path extrusionOk="0" h="609600" w="76200">
                  <a:moveTo>
                    <a:pt x="76200" y="482600"/>
                  </a:moveTo>
                  <a:lnTo>
                    <a:pt x="0" y="482600"/>
                  </a:lnTo>
                  <a:lnTo>
                    <a:pt x="38100" y="609600"/>
                  </a:lnTo>
                  <a:lnTo>
                    <a:pt x="76200" y="482600"/>
                  </a:lnTo>
                  <a:close/>
                </a:path>
                <a:path extrusionOk="0" h="609600" w="76200">
                  <a:moveTo>
                    <a:pt x="76200" y="127000"/>
                  </a:moveTo>
                  <a:lnTo>
                    <a:pt x="38100" y="0"/>
                  </a:lnTo>
                  <a:lnTo>
                    <a:pt x="0" y="12700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89" name="Google Shape;489;p34"/>
          <p:cNvGrpSpPr/>
          <p:nvPr/>
        </p:nvGrpSpPr>
        <p:grpSpPr>
          <a:xfrm>
            <a:off x="5879211" y="3027819"/>
            <a:ext cx="76200" cy="609600"/>
            <a:chOff x="5879211" y="3027819"/>
            <a:chExt cx="76200" cy="609600"/>
          </a:xfrm>
        </p:grpSpPr>
        <p:sp>
          <p:nvSpPr>
            <p:cNvPr id="490" name="Google Shape;490;p34"/>
            <p:cNvSpPr/>
            <p:nvPr/>
          </p:nvSpPr>
          <p:spPr>
            <a:xfrm>
              <a:off x="5917311" y="3142107"/>
              <a:ext cx="0" cy="381000"/>
            </a:xfrm>
            <a:custGeom>
              <a:rect b="b" l="l" r="r" t="t"/>
              <a:pathLst>
                <a:path extrusionOk="0" h="381000" w="120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5879211" y="3027819"/>
              <a:ext cx="76200" cy="609600"/>
            </a:xfrm>
            <a:custGeom>
              <a:rect b="b" l="l" r="r" t="t"/>
              <a:pathLst>
                <a:path extrusionOk="0" h="609600" w="76200">
                  <a:moveTo>
                    <a:pt x="76200" y="482600"/>
                  </a:moveTo>
                  <a:lnTo>
                    <a:pt x="0" y="482600"/>
                  </a:lnTo>
                  <a:lnTo>
                    <a:pt x="38100" y="609600"/>
                  </a:lnTo>
                  <a:lnTo>
                    <a:pt x="76200" y="482600"/>
                  </a:lnTo>
                  <a:close/>
                </a:path>
                <a:path extrusionOk="0" h="609600" w="76200">
                  <a:moveTo>
                    <a:pt x="76200" y="127000"/>
                  </a:moveTo>
                  <a:lnTo>
                    <a:pt x="38100" y="0"/>
                  </a:lnTo>
                  <a:lnTo>
                    <a:pt x="0" y="12700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492" name="Google Shape;492;p34"/>
          <p:cNvGraphicFramePr/>
          <p:nvPr/>
        </p:nvGraphicFramePr>
        <p:xfrm>
          <a:off x="1340548" y="45561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09600"/>
                <a:gridCol w="609600"/>
                <a:gridCol w="609600"/>
                <a:gridCol w="2438400"/>
                <a:gridCol w="609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3" name="Google Shape;493;p34"/>
          <p:cNvGraphicFramePr/>
          <p:nvPr/>
        </p:nvGraphicFramePr>
        <p:xfrm>
          <a:off x="1340548" y="55467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09600"/>
                <a:gridCol w="609600"/>
                <a:gridCol w="609600"/>
                <a:gridCol w="2438400"/>
                <a:gridCol w="609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94" name="Google Shape;494;p34"/>
          <p:cNvGrpSpPr/>
          <p:nvPr/>
        </p:nvGrpSpPr>
        <p:grpSpPr>
          <a:xfrm>
            <a:off x="1612011" y="4921872"/>
            <a:ext cx="4381487" cy="650240"/>
            <a:chOff x="1612011" y="4921872"/>
            <a:chExt cx="4381487" cy="650240"/>
          </a:xfrm>
        </p:grpSpPr>
        <p:sp>
          <p:nvSpPr>
            <p:cNvPr id="495" name="Google Shape;495;p34"/>
            <p:cNvSpPr/>
            <p:nvPr/>
          </p:nvSpPr>
          <p:spPr>
            <a:xfrm>
              <a:off x="1650110" y="5056251"/>
              <a:ext cx="0" cy="381000"/>
            </a:xfrm>
            <a:custGeom>
              <a:rect b="b" l="l" r="r" t="t"/>
              <a:pathLst>
                <a:path extrusionOk="0" h="381000" w="120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1612011" y="4941963"/>
              <a:ext cx="76200" cy="609600"/>
            </a:xfrm>
            <a:custGeom>
              <a:rect b="b" l="l" r="r" t="t"/>
              <a:pathLst>
                <a:path extrusionOk="0" h="609600" w="76200">
                  <a:moveTo>
                    <a:pt x="76200" y="482600"/>
                  </a:moveTo>
                  <a:lnTo>
                    <a:pt x="0" y="482600"/>
                  </a:lnTo>
                  <a:lnTo>
                    <a:pt x="38100" y="609600"/>
                  </a:lnTo>
                  <a:lnTo>
                    <a:pt x="76200" y="482600"/>
                  </a:lnTo>
                  <a:close/>
                </a:path>
                <a:path extrusionOk="0" h="609600" w="76200">
                  <a:moveTo>
                    <a:pt x="76200" y="127000"/>
                  </a:moveTo>
                  <a:lnTo>
                    <a:pt x="38100" y="0"/>
                  </a:lnTo>
                  <a:lnTo>
                    <a:pt x="0" y="12700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1730933" y="5022773"/>
              <a:ext cx="448309" cy="448309"/>
            </a:xfrm>
            <a:custGeom>
              <a:rect b="b" l="l" r="r" t="t"/>
              <a:pathLst>
                <a:path extrusionOk="0" h="448310" w="448310">
                  <a:moveTo>
                    <a:pt x="447954" y="0"/>
                  </a:moveTo>
                  <a:lnTo>
                    <a:pt x="0" y="447954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1650111" y="4941963"/>
              <a:ext cx="609600" cy="609600"/>
            </a:xfrm>
            <a:custGeom>
              <a:rect b="b" l="l" r="r" t="t"/>
              <a:pathLst>
                <a:path extrusionOk="0" h="609600" w="609600">
                  <a:moveTo>
                    <a:pt x="116738" y="546722"/>
                  </a:moveTo>
                  <a:lnTo>
                    <a:pt x="62852" y="492848"/>
                  </a:lnTo>
                  <a:lnTo>
                    <a:pt x="0" y="609600"/>
                  </a:lnTo>
                  <a:lnTo>
                    <a:pt x="116738" y="546722"/>
                  </a:lnTo>
                  <a:close/>
                </a:path>
                <a:path extrusionOk="0" h="609600" w="609600">
                  <a:moveTo>
                    <a:pt x="609587" y="0"/>
                  </a:moveTo>
                  <a:lnTo>
                    <a:pt x="492848" y="62852"/>
                  </a:lnTo>
                  <a:lnTo>
                    <a:pt x="546722" y="116738"/>
                  </a:lnTo>
                  <a:lnTo>
                    <a:pt x="6095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1752347" y="4993067"/>
              <a:ext cx="1014730" cy="507365"/>
            </a:xfrm>
            <a:custGeom>
              <a:rect b="b" l="l" r="r" t="t"/>
              <a:pathLst>
                <a:path extrusionOk="0" h="507364" w="1014730">
                  <a:moveTo>
                    <a:pt x="1014730" y="0"/>
                  </a:moveTo>
                  <a:lnTo>
                    <a:pt x="0" y="507365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1650111" y="4941951"/>
              <a:ext cx="1219200" cy="610235"/>
            </a:xfrm>
            <a:custGeom>
              <a:rect b="b" l="l" r="r" t="t"/>
              <a:pathLst>
                <a:path extrusionOk="0" h="610235" w="1219200">
                  <a:moveTo>
                    <a:pt x="130632" y="586879"/>
                  </a:moveTo>
                  <a:lnTo>
                    <a:pt x="96545" y="518731"/>
                  </a:lnTo>
                  <a:lnTo>
                    <a:pt x="0" y="609612"/>
                  </a:lnTo>
                  <a:lnTo>
                    <a:pt x="130632" y="586879"/>
                  </a:lnTo>
                  <a:close/>
                </a:path>
                <a:path extrusionOk="0" h="610235" w="1219200">
                  <a:moveTo>
                    <a:pt x="1219200" y="0"/>
                  </a:moveTo>
                  <a:lnTo>
                    <a:pt x="1088567" y="22707"/>
                  </a:lnTo>
                  <a:lnTo>
                    <a:pt x="1122641" y="90868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1763297" y="4957837"/>
              <a:ext cx="4117340" cy="577850"/>
            </a:xfrm>
            <a:custGeom>
              <a:rect b="b" l="l" r="r" t="t"/>
              <a:pathLst>
                <a:path extrusionOk="0" h="577850" w="4117340">
                  <a:moveTo>
                    <a:pt x="4117022" y="0"/>
                  </a:moveTo>
                  <a:lnTo>
                    <a:pt x="0" y="577824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1650098" y="4921872"/>
              <a:ext cx="4343400" cy="650240"/>
            </a:xfrm>
            <a:custGeom>
              <a:rect b="b" l="l" r="r" t="t"/>
              <a:pathLst>
                <a:path extrusionOk="0" h="650239" w="4343400">
                  <a:moveTo>
                    <a:pt x="131064" y="649757"/>
                  </a:moveTo>
                  <a:lnTo>
                    <a:pt x="120472" y="574294"/>
                  </a:lnTo>
                  <a:lnTo>
                    <a:pt x="0" y="629678"/>
                  </a:lnTo>
                  <a:lnTo>
                    <a:pt x="131064" y="649757"/>
                  </a:lnTo>
                  <a:close/>
                </a:path>
                <a:path extrusionOk="0" h="650239" w="4343400">
                  <a:moveTo>
                    <a:pt x="4343400" y="20091"/>
                  </a:moveTo>
                  <a:lnTo>
                    <a:pt x="4212336" y="0"/>
                  </a:lnTo>
                  <a:lnTo>
                    <a:pt x="4222928" y="75463"/>
                  </a:lnTo>
                  <a:lnTo>
                    <a:pt x="4343400" y="200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03" name="Google Shape;503;p34"/>
          <p:cNvSpPr txBox="1"/>
          <p:nvPr/>
        </p:nvSpPr>
        <p:spPr>
          <a:xfrm>
            <a:off x="535941" y="965359"/>
            <a:ext cx="8271509" cy="528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An </a:t>
            </a:r>
            <a:r>
              <a:rPr b="1"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application</a:t>
            </a:r>
            <a:r>
              <a:rPr b="1" lang="en-US" sz="32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of	Quadratic Form Distance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Considers similarity between colors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639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Dim.	1	2	3	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2111375" rtl="0" algn="r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634365" rtl="0" algn="r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Euclidean Distance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2111375" rtl="0" algn="r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q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980690" rtl="0" algn="l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color histograms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2075179" rtl="0" algn="r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19395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Quadratic Form Distance (QFD)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2075179" rtl="0" algn="r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q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06959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color histograms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	Color Histograms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6" name="Google Shape;506;p3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07" name="Google Shape;507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3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4" name="Google Shape;514;p35"/>
          <p:cNvSpPr txBox="1"/>
          <p:nvPr/>
        </p:nvSpPr>
        <p:spPr>
          <a:xfrm>
            <a:off x="535953" y="3842725"/>
            <a:ext cx="9090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Similarity weights?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A452A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4A452A"/>
                </a:solidFill>
                <a:latin typeface="Bell MT"/>
                <a:ea typeface="Bell MT"/>
                <a:cs typeface="Bell MT"/>
                <a:sym typeface="Bell MT"/>
              </a:rPr>
              <a:t>Distance between the bins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38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i="1" lang="en-US" sz="4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Bin distance = difference of	indices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15" name="Google Shape;515;p3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	Color Histograms</a:t>
            </a:r>
            <a:endParaRPr/>
          </a:p>
        </p:txBody>
      </p:sp>
      <p:graphicFrame>
        <p:nvGraphicFramePr>
          <p:cNvPr id="516" name="Google Shape;516;p35"/>
          <p:cNvGraphicFramePr/>
          <p:nvPr/>
        </p:nvGraphicFramePr>
        <p:xfrm>
          <a:off x="1214818" y="1531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09600"/>
                <a:gridCol w="609600"/>
                <a:gridCol w="609600"/>
                <a:gridCol w="2438400"/>
                <a:gridCol w="609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7" name="Google Shape;517;p35"/>
          <p:cNvGraphicFramePr/>
          <p:nvPr/>
        </p:nvGraphicFramePr>
        <p:xfrm>
          <a:off x="1214818" y="25216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609600"/>
                <a:gridCol w="609600"/>
                <a:gridCol w="609600"/>
                <a:gridCol w="2438400"/>
                <a:gridCol w="609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18" name="Google Shape;518;p35"/>
          <p:cNvGrpSpPr/>
          <p:nvPr/>
        </p:nvGrpSpPr>
        <p:grpSpPr>
          <a:xfrm>
            <a:off x="1486281" y="1916823"/>
            <a:ext cx="1257300" cy="609600"/>
            <a:chOff x="1486281" y="1916823"/>
            <a:chExt cx="1257300" cy="609600"/>
          </a:xfrm>
        </p:grpSpPr>
        <p:sp>
          <p:nvSpPr>
            <p:cNvPr id="519" name="Google Shape;519;p35"/>
            <p:cNvSpPr/>
            <p:nvPr/>
          </p:nvSpPr>
          <p:spPr>
            <a:xfrm>
              <a:off x="1524381" y="2031110"/>
              <a:ext cx="0" cy="381000"/>
            </a:xfrm>
            <a:custGeom>
              <a:rect b="b" l="l" r="r" t="t"/>
              <a:pathLst>
                <a:path extrusionOk="0" h="381000" w="120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1486281" y="1916823"/>
              <a:ext cx="76200" cy="609600"/>
            </a:xfrm>
            <a:custGeom>
              <a:rect b="b" l="l" r="r" t="t"/>
              <a:pathLst>
                <a:path extrusionOk="0" h="609600" w="76200">
                  <a:moveTo>
                    <a:pt x="76200" y="482600"/>
                  </a:moveTo>
                  <a:lnTo>
                    <a:pt x="0" y="482600"/>
                  </a:lnTo>
                  <a:lnTo>
                    <a:pt x="38100" y="609600"/>
                  </a:lnTo>
                  <a:lnTo>
                    <a:pt x="76200" y="482600"/>
                  </a:lnTo>
                  <a:close/>
                </a:path>
                <a:path extrusionOk="0" h="609600" w="76200">
                  <a:moveTo>
                    <a:pt x="76200" y="127000"/>
                  </a:moveTo>
                  <a:lnTo>
                    <a:pt x="38100" y="0"/>
                  </a:lnTo>
                  <a:lnTo>
                    <a:pt x="0" y="12700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1605203" y="1997632"/>
              <a:ext cx="448309" cy="448309"/>
            </a:xfrm>
            <a:custGeom>
              <a:rect b="b" l="l" r="r" t="t"/>
              <a:pathLst>
                <a:path extrusionOk="0" h="448310" w="448310">
                  <a:moveTo>
                    <a:pt x="447954" y="0"/>
                  </a:moveTo>
                  <a:lnTo>
                    <a:pt x="0" y="447954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1524381" y="1916823"/>
              <a:ext cx="609600" cy="609600"/>
            </a:xfrm>
            <a:custGeom>
              <a:rect b="b" l="l" r="r" t="t"/>
              <a:pathLst>
                <a:path extrusionOk="0" h="609600" w="609600">
                  <a:moveTo>
                    <a:pt x="116738" y="546722"/>
                  </a:moveTo>
                  <a:lnTo>
                    <a:pt x="62852" y="492848"/>
                  </a:lnTo>
                  <a:lnTo>
                    <a:pt x="0" y="609600"/>
                  </a:lnTo>
                  <a:lnTo>
                    <a:pt x="116738" y="546722"/>
                  </a:lnTo>
                  <a:close/>
                </a:path>
                <a:path extrusionOk="0" h="609600" w="609600">
                  <a:moveTo>
                    <a:pt x="609587" y="0"/>
                  </a:moveTo>
                  <a:lnTo>
                    <a:pt x="492848" y="62852"/>
                  </a:lnTo>
                  <a:lnTo>
                    <a:pt x="546722" y="116738"/>
                  </a:lnTo>
                  <a:lnTo>
                    <a:pt x="6095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1626617" y="1967927"/>
              <a:ext cx="1014730" cy="507365"/>
            </a:xfrm>
            <a:custGeom>
              <a:rect b="b" l="l" r="r" t="t"/>
              <a:pathLst>
                <a:path extrusionOk="0" h="507364" w="1014730">
                  <a:moveTo>
                    <a:pt x="1014730" y="0"/>
                  </a:moveTo>
                  <a:lnTo>
                    <a:pt x="0" y="507365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1524381" y="1916823"/>
              <a:ext cx="1219200" cy="609600"/>
            </a:xfrm>
            <a:custGeom>
              <a:rect b="b" l="l" r="r" t="t"/>
              <a:pathLst>
                <a:path extrusionOk="0" h="609600" w="1219200">
                  <a:moveTo>
                    <a:pt x="130632" y="586867"/>
                  </a:moveTo>
                  <a:lnTo>
                    <a:pt x="96545" y="518718"/>
                  </a:lnTo>
                  <a:lnTo>
                    <a:pt x="0" y="609600"/>
                  </a:lnTo>
                  <a:lnTo>
                    <a:pt x="130632" y="586867"/>
                  </a:lnTo>
                  <a:close/>
                </a:path>
                <a:path extrusionOk="0" h="609600" w="1219200">
                  <a:moveTo>
                    <a:pt x="1219200" y="0"/>
                  </a:moveTo>
                  <a:lnTo>
                    <a:pt x="1088567" y="22707"/>
                  </a:lnTo>
                  <a:lnTo>
                    <a:pt x="1122641" y="90868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5" name="Google Shape;525;p35"/>
          <p:cNvSpPr txBox="1"/>
          <p:nvPr/>
        </p:nvSpPr>
        <p:spPr>
          <a:xfrm>
            <a:off x="3468052" y="2925253"/>
            <a:ext cx="15932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color histograms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5"/>
          <p:cNvSpPr txBox="1"/>
          <p:nvPr/>
        </p:nvSpPr>
        <p:spPr>
          <a:xfrm>
            <a:off x="5488876" y="2006281"/>
            <a:ext cx="3270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Quadratic Form Distance (QFD)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527" name="Google Shape;527;p35"/>
          <p:cNvGrpSpPr/>
          <p:nvPr/>
        </p:nvGrpSpPr>
        <p:grpSpPr>
          <a:xfrm>
            <a:off x="1524368" y="1896732"/>
            <a:ext cx="4343400" cy="650240"/>
            <a:chOff x="1524368" y="1896732"/>
            <a:chExt cx="4343400" cy="650240"/>
          </a:xfrm>
        </p:grpSpPr>
        <p:sp>
          <p:nvSpPr>
            <p:cNvPr id="528" name="Google Shape;528;p35"/>
            <p:cNvSpPr/>
            <p:nvPr/>
          </p:nvSpPr>
          <p:spPr>
            <a:xfrm>
              <a:off x="1637567" y="1932697"/>
              <a:ext cx="4117340" cy="577850"/>
            </a:xfrm>
            <a:custGeom>
              <a:rect b="b" l="l" r="r" t="t"/>
              <a:pathLst>
                <a:path extrusionOk="0" h="577850" w="4117340">
                  <a:moveTo>
                    <a:pt x="4117022" y="0"/>
                  </a:moveTo>
                  <a:lnTo>
                    <a:pt x="0" y="577824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1524368" y="1896732"/>
              <a:ext cx="4343400" cy="650240"/>
            </a:xfrm>
            <a:custGeom>
              <a:rect b="b" l="l" r="r" t="t"/>
              <a:pathLst>
                <a:path extrusionOk="0" h="650239" w="4343400">
                  <a:moveTo>
                    <a:pt x="131064" y="649757"/>
                  </a:moveTo>
                  <a:lnTo>
                    <a:pt x="120472" y="574294"/>
                  </a:lnTo>
                  <a:lnTo>
                    <a:pt x="0" y="629678"/>
                  </a:lnTo>
                  <a:lnTo>
                    <a:pt x="131064" y="649757"/>
                  </a:lnTo>
                  <a:close/>
                </a:path>
                <a:path extrusionOk="0" h="650239" w="4343400">
                  <a:moveTo>
                    <a:pt x="4343400" y="20091"/>
                  </a:moveTo>
                  <a:lnTo>
                    <a:pt x="4212336" y="0"/>
                  </a:lnTo>
                  <a:lnTo>
                    <a:pt x="4222928" y="75463"/>
                  </a:lnTo>
                  <a:lnTo>
                    <a:pt x="4343400" y="200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0" name="Google Shape;530;p35"/>
          <p:cNvSpPr txBox="1"/>
          <p:nvPr/>
        </p:nvSpPr>
        <p:spPr>
          <a:xfrm>
            <a:off x="6403340" y="1408746"/>
            <a:ext cx="20891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5"/>
          <p:cNvSpPr txBox="1"/>
          <p:nvPr/>
        </p:nvSpPr>
        <p:spPr>
          <a:xfrm>
            <a:off x="6403340" y="2385209"/>
            <a:ext cx="20891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q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3" name="Google Shape;533;p3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34" name="Google Shape;534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5" name="Google Shape;535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1" name="Google Shape;541;p36"/>
          <p:cNvSpPr txBox="1"/>
          <p:nvPr/>
        </p:nvSpPr>
        <p:spPr>
          <a:xfrm>
            <a:off x="510553" y="978675"/>
            <a:ext cx="10536600" cy="4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i="1" lang="en-US" sz="3600">
                <a:solidFill>
                  <a:srgbClr val="4A452A"/>
                </a:solidFill>
                <a:latin typeface="Bell MT"/>
                <a:ea typeface="Bell MT"/>
                <a:cs typeface="Bell MT"/>
                <a:sym typeface="Bell MT"/>
              </a:rPr>
              <a:t>Let 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d(i,j) 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represents distance of	bin </a:t>
            </a:r>
            <a:r>
              <a:rPr i="1"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13250"/>
              </a:lnSpc>
              <a:spcBef>
                <a:spcPts val="9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Similarity matrix can be computed as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988060" rtl="0" algn="ctr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9000">
                <a:latin typeface="Bell MT"/>
                <a:ea typeface="Bell MT"/>
                <a:cs typeface="Bell MT"/>
                <a:sym typeface="Bell MT"/>
              </a:rPr>
              <a:t>A</a:t>
            </a:r>
            <a:r>
              <a:rPr baseline="-25000" i="1" lang="en-US" sz="6000">
                <a:latin typeface="Bell MT"/>
                <a:ea typeface="Bell MT"/>
                <a:cs typeface="Bell MT"/>
                <a:sym typeface="Bell MT"/>
              </a:rPr>
              <a:t>ij	</a:t>
            </a:r>
            <a:r>
              <a:rPr baseline="-25000" i="1" lang="en-US" sz="9000">
                <a:latin typeface="Bell MT"/>
                <a:ea typeface="Bell MT"/>
                <a:cs typeface="Bell MT"/>
                <a:sym typeface="Bell MT"/>
              </a:rPr>
              <a:t>= e</a:t>
            </a:r>
            <a:r>
              <a:rPr i="1" lang="en-US" sz="4000">
                <a:latin typeface="Bell MT"/>
                <a:ea typeface="Bell MT"/>
                <a:cs typeface="Bell MT"/>
                <a:sym typeface="Bell MT"/>
              </a:rPr>
              <a:t>-</a:t>
            </a:r>
            <a:r>
              <a:rPr i="1" lang="en-US" sz="4000">
                <a:latin typeface="Cambria"/>
                <a:ea typeface="Cambria"/>
                <a:cs typeface="Cambria"/>
                <a:sym typeface="Cambria"/>
              </a:rPr>
              <a:t>σ</a:t>
            </a:r>
            <a:r>
              <a:rPr i="1" lang="en-US" sz="4000">
                <a:latin typeface="Bell MT"/>
                <a:ea typeface="Bell MT"/>
                <a:cs typeface="Bell MT"/>
                <a:sym typeface="Bell MT"/>
              </a:rPr>
              <a:t>.d(i,j)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0365" marR="30480" rtl="0" algn="l">
              <a:lnSpc>
                <a:spcPct val="102699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0365" marR="30480" rtl="0" algn="l">
              <a:lnSpc>
                <a:spcPct val="102699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where the parameter </a:t>
            </a:r>
            <a:r>
              <a:rPr i="1" lang="en-US" sz="36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σ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controls the global shape of	the similarity matrix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42" name="Google Shape;542;p3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	Color Histograms</a:t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4" name="Google Shape;544;p36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45" name="Google Shape;545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6" name="Google Shape;546;p3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2" name="Google Shape;552;p37"/>
          <p:cNvSpPr txBox="1"/>
          <p:nvPr>
            <p:ph idx="4294967295" type="ftr"/>
          </p:nvPr>
        </p:nvSpPr>
        <p:spPr>
          <a:xfrm>
            <a:off x="439867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53" name="Google Shape;553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"/>
          <p:cNvSpPr txBox="1"/>
          <p:nvPr>
            <p:ph idx="4294967295" type="title"/>
          </p:nvPr>
        </p:nvSpPr>
        <p:spPr>
          <a:xfrm>
            <a:off x="0" y="2225025"/>
            <a:ext cx="121920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Distance Measures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254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2060"/>
                </a:solidFill>
              </a:rPr>
              <a:t>Part -	3</a:t>
            </a:r>
            <a:endParaRPr/>
          </a:p>
        </p:txBody>
      </p:sp>
      <p:sp>
        <p:nvSpPr>
          <p:cNvPr id="559" name="Google Shape;559;p3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0" name="Google Shape;560;p38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61" name="Google Shape;561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2" name="Google Shape;562;p3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8" name="Google Shape;568;p3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169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481678" y="1857550"/>
            <a:ext cx="9579300" cy="28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9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Mahalanobis distance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Extension of	quadratic form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Histogram Intersection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Used to compare histograms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0" name="Google Shape;570;p3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1" name="Google Shape;571;p3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72" name="Google Shape;572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" name="Google Shape;573;p3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9" name="Google Shape;579;p4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12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Mahalanobis Distance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535955" y="1343625"/>
            <a:ext cx="97602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To understand this, let us first understand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Mean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Variance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Expectation of	a variable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Covariance Matrix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1" name="Google Shape;581;p4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2" name="Google Shape;582;p4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83" name="Google Shape;583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4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0" name="Google Shape;590;p41"/>
          <p:cNvSpPr txBox="1"/>
          <p:nvPr/>
        </p:nvSpPr>
        <p:spPr>
          <a:xfrm>
            <a:off x="2594768" y="212089"/>
            <a:ext cx="3954779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Bell MT"/>
                <a:ea typeface="Bell MT"/>
                <a:cs typeface="Bell MT"/>
                <a:sym typeface="Bell MT"/>
              </a:rPr>
              <a:t>Mean &amp; Variance</a:t>
            </a:r>
            <a:endParaRPr sz="4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91" name="Google Shape;591;p4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2" name="Google Shape;592;p41"/>
          <p:cNvSpPr txBox="1"/>
          <p:nvPr>
            <p:ph idx="4294967295" type="ftr"/>
          </p:nvPr>
        </p:nvSpPr>
        <p:spPr>
          <a:xfrm>
            <a:off x="439867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93" name="Google Shape;593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4" name="Google Shape;5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0449"/>
            <a:ext cx="9155804" cy="522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0" name="Google Shape;600;p42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1281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Mean-variance Examples</a:t>
            </a:r>
            <a:endParaRPr sz="4400"/>
          </a:p>
        </p:txBody>
      </p:sp>
      <p:pic>
        <p:nvPicPr>
          <p:cNvPr id="601" name="Google Shape;60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24" y="1051727"/>
            <a:ext cx="3448180" cy="246822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2"/>
          <p:cNvSpPr txBox="1"/>
          <p:nvPr/>
        </p:nvSpPr>
        <p:spPr>
          <a:xfrm>
            <a:off x="4574540" y="1765046"/>
            <a:ext cx="4368165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Example of samples from two populations with the same mean but different variances. The red population has mean 100 and variance 100 (SD=10) while the blue population has mean 100 and variance 2500 (SD=50).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603" name="Google Shape;60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717797"/>
            <a:ext cx="2749295" cy="266090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2"/>
          <p:cNvSpPr txBox="1"/>
          <p:nvPr/>
        </p:nvSpPr>
        <p:spPr>
          <a:xfrm>
            <a:off x="3964940" y="4127245"/>
            <a:ext cx="358711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Data with different mean and variance </a:t>
            </a: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Green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samples have more variance as compared to </a:t>
            </a:r>
            <a:r>
              <a:rPr lang="en-US" sz="18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red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1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blue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points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05" name="Google Shape;605;p4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6" name="Google Shape;606;p4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07" name="Google Shape;607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8" name="Google Shape;608;p4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4" name="Google Shape;614;p43"/>
          <p:cNvSpPr txBox="1"/>
          <p:nvPr>
            <p:ph idx="4294967295" type="title"/>
          </p:nvPr>
        </p:nvSpPr>
        <p:spPr>
          <a:xfrm>
            <a:off x="0" y="153150"/>
            <a:ext cx="121920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119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Mean &amp; Variance using </a:t>
            </a:r>
            <a:r>
              <a:rPr lang="en-US" sz="3800">
                <a:solidFill>
                  <a:srgbClr val="00B050"/>
                </a:solidFill>
              </a:rPr>
              <a:t>Expected Value</a:t>
            </a:r>
            <a:endParaRPr sz="3800"/>
          </a:p>
        </p:txBody>
      </p:sp>
      <p:sp>
        <p:nvSpPr>
          <p:cNvPr id="615" name="Google Shape;615;p43"/>
          <p:cNvSpPr txBox="1"/>
          <p:nvPr/>
        </p:nvSpPr>
        <p:spPr>
          <a:xfrm>
            <a:off x="535951" y="961900"/>
            <a:ext cx="107100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Mean and variance –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When variable is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variable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Definition given in terms of expected value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Mean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Expected value of random variable X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Variance: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variance of	a random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variable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i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is the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expected value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	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squared deviation from the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mean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6" name="Google Shape;616;p4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7" name="Google Shape;617;p4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18" name="Google Shape;618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9" name="Google Shape;619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5" name="Google Shape;625;p44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327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Mean &amp; Variance using Expected Value</a:t>
            </a:r>
            <a:endParaRPr sz="3600"/>
          </a:p>
        </p:txBody>
      </p:sp>
      <p:sp>
        <p:nvSpPr>
          <p:cNvPr id="626" name="Google Shape;626;p44"/>
          <p:cNvSpPr txBox="1"/>
          <p:nvPr/>
        </p:nvSpPr>
        <p:spPr>
          <a:xfrm>
            <a:off x="535954" y="970325"/>
            <a:ext cx="10701000" cy="4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Expectation (Expected Value)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5080" rtl="0" algn="l">
              <a:lnSpc>
                <a:spcPct val="107857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In probability and statistics, Expected value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refers to the value of	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variable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one would </a:t>
            </a:r>
            <a:r>
              <a:rPr i="1" lang="en-US" sz="28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expect</a:t>
            </a:r>
            <a:r>
              <a:rPr i="1" lang="en-US" sz="28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to find if		one could repeat the random variable process an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infinite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number of times and take the average of	the values obtained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109980" rtl="0" algn="l">
              <a:lnSpc>
                <a:spcPct val="108124"/>
              </a:lnSpc>
              <a:spcBef>
                <a:spcPts val="76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More formally, the expected value is a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weighted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average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of	all possible values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1641"/>
              </a:lnSpc>
              <a:spcBef>
                <a:spcPts val="1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 </a:t>
            </a:r>
            <a:r>
              <a:rPr i="1"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probability and statistics</a:t>
            </a:r>
            <a:r>
              <a:rPr i="1"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, usually </a:t>
            </a:r>
            <a:r>
              <a:rPr lang="en-US" sz="335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mean </a:t>
            </a:r>
            <a:r>
              <a:rPr i="1"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335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expected value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are used synonymously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27" name="Google Shape;627;p44"/>
          <p:cNvSpPr txBox="1"/>
          <p:nvPr/>
        </p:nvSpPr>
        <p:spPr>
          <a:xfrm>
            <a:off x="230911" y="5745888"/>
            <a:ext cx="650049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A good discussion on </a:t>
            </a: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Expectation 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can be found at https</a:t>
            </a:r>
            <a:r>
              <a:rPr i="1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://www.probabilitycourse.com/chapter3/3_2_2_expectation.php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" name="Google Shape;628;p44"/>
          <p:cNvGrpSpPr/>
          <p:nvPr/>
        </p:nvGrpSpPr>
        <p:grpSpPr>
          <a:xfrm>
            <a:off x="111252" y="5757671"/>
            <a:ext cx="6724649" cy="107441"/>
            <a:chOff x="111252" y="5757671"/>
            <a:chExt cx="6724649" cy="107441"/>
          </a:xfrm>
        </p:grpSpPr>
        <p:pic>
          <p:nvPicPr>
            <p:cNvPr id="629" name="Google Shape;629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252" y="5757671"/>
              <a:ext cx="6724649" cy="1074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44"/>
            <p:cNvSpPr/>
            <p:nvPr/>
          </p:nvSpPr>
          <p:spPr>
            <a:xfrm>
              <a:off x="152780" y="5791580"/>
              <a:ext cx="6629400" cy="0"/>
            </a:xfrm>
            <a:custGeom>
              <a:rect b="b" l="l" r="r" t="t"/>
              <a:pathLst>
                <a:path extrusionOk="0" h="120000" w="6629400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cap="flat" cmpd="sng" w="2540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31" name="Google Shape;631;p4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2" name="Google Shape;632;p4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33" name="Google Shape;633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0" name="Google Shape;640;p45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327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Mean &amp; Variance using Expected Value</a:t>
            </a:r>
            <a:endParaRPr sz="3600"/>
          </a:p>
        </p:txBody>
      </p:sp>
      <p:sp>
        <p:nvSpPr>
          <p:cNvPr id="641" name="Google Shape;641;p45"/>
          <p:cNvSpPr txBox="1"/>
          <p:nvPr/>
        </p:nvSpPr>
        <p:spPr>
          <a:xfrm>
            <a:off x="205750" y="1143650"/>
            <a:ext cx="11320800" cy="20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342265" lvl="0" marL="38036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Expectation: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79145" marR="30480" rtl="0" algn="just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Suppose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variable 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X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can take value 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2775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with 	probability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775" u="none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value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2775" u="none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with probability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lang="en-US" sz="2775" u="none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and so 	on, up to value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2775" u="none"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with probability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775" u="none"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7978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Then the 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expectation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of this random variable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X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2" name="Google Shape;642;p45"/>
          <p:cNvSpPr txBox="1"/>
          <p:nvPr/>
        </p:nvSpPr>
        <p:spPr>
          <a:xfrm>
            <a:off x="1279245" y="3385928"/>
            <a:ext cx="500507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(expected value of	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 is defined as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3" name="Google Shape;643;p45"/>
          <p:cNvSpPr txBox="1"/>
          <p:nvPr/>
        </p:nvSpPr>
        <p:spPr>
          <a:xfrm>
            <a:off x="228975" y="5706425"/>
            <a:ext cx="11391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286385" lvl="0" marL="323850" marR="304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600"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  <a:r>
              <a:rPr i="1"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2575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represents a possible value of	random variable </a:t>
            </a:r>
            <a:r>
              <a:rPr i="1"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</a:t>
            </a:r>
            <a:r>
              <a:rPr baseline="-25000" i="1" lang="en-US" sz="2575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its probability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4" name="Google Shape;644;p4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5" name="Google Shape;645;p4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46" name="Google Shape;646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7" name="Google Shape;647;p4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8" name="Google Shape;64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7100" y="4087963"/>
            <a:ext cx="4300614" cy="136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4" name="Google Shape;654;p46"/>
          <p:cNvSpPr txBox="1"/>
          <p:nvPr/>
        </p:nvSpPr>
        <p:spPr>
          <a:xfrm>
            <a:off x="0" y="184231"/>
            <a:ext cx="121920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Mean &amp; Variance using Expected Value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5" name="Google Shape;655;p46"/>
          <p:cNvSpPr txBox="1"/>
          <p:nvPr/>
        </p:nvSpPr>
        <p:spPr>
          <a:xfrm>
            <a:off x="6631940" y="6481381"/>
            <a:ext cx="1016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9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6" name="Google Shape;656;p46"/>
          <p:cNvSpPr txBox="1"/>
          <p:nvPr/>
        </p:nvSpPr>
        <p:spPr>
          <a:xfrm>
            <a:off x="3637889" y="6526948"/>
            <a:ext cx="186880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CS419/619: Computer Vision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46"/>
          <p:cNvSpPr txBox="1"/>
          <p:nvPr>
            <p:ph idx="4294967295" type="ftr"/>
          </p:nvPr>
        </p:nvSpPr>
        <p:spPr>
          <a:xfrm>
            <a:off x="439867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59" name="Google Shape;659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0" name="Google Shape;66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1063"/>
            <a:ext cx="7341501" cy="517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7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6" name="Google Shape;666;p4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67" name="Google Shape;667;p47"/>
          <p:cNvSpPr txBox="1"/>
          <p:nvPr/>
        </p:nvSpPr>
        <p:spPr>
          <a:xfrm>
            <a:off x="231197" y="6551115"/>
            <a:ext cx="1778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10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68" name="Google Shape;668;p47"/>
          <p:cNvSpPr txBox="1"/>
          <p:nvPr/>
        </p:nvSpPr>
        <p:spPr>
          <a:xfrm>
            <a:off x="510554" y="993150"/>
            <a:ext cx="11025000" cy="4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900" lvl="0" marL="381000" marR="49847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Let us consider a discrete random variable X with range R</a:t>
            </a:r>
            <a:r>
              <a:rPr baseline="-25000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={x</a:t>
            </a:r>
            <a:r>
              <a:rPr baseline="-25000" lang="en-US" sz="300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,x</a:t>
            </a:r>
            <a:r>
              <a:rPr baseline="-25000" lang="en-US" sz="300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,x</a:t>
            </a:r>
            <a:r>
              <a:rPr baseline="-25000" lang="en-US" sz="3000">
                <a:latin typeface="Bell MT"/>
                <a:ea typeface="Bell MT"/>
                <a:cs typeface="Bell MT"/>
                <a:sym typeface="Bell MT"/>
              </a:rPr>
              <a:t>3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,...}.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81000" marR="71882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This random variable is a result of	random experiment.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81000" marR="30480" rtl="0" algn="l">
              <a:lnSpc>
                <a:spcPct val="96000"/>
              </a:lnSpc>
              <a:spcBef>
                <a:spcPts val="69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Suppose that we repeat this experiment a very large number of	times N, and that the trials are independent.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Let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# times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observed: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,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# times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observed: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2</a:t>
            </a:r>
            <a:endParaRPr baseline="-25000" sz="255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# times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observed: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k</a:t>
            </a:r>
            <a:endParaRPr baseline="-25000" sz="255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and so on.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69" name="Google Shape;669;p4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0" name="Google Shape;670;p4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71" name="Google Shape;671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2" name="Google Shape;672;p4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8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8" name="Google Shape;678;p4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	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….contd</a:t>
            </a:r>
            <a:endParaRPr/>
          </a:p>
        </p:txBody>
      </p:sp>
      <p:sp>
        <p:nvSpPr>
          <p:cNvPr id="679" name="Google Shape;679;p4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0" name="Google Shape;680;p48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81" name="Google Shape;681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p4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3" name="Google Shape;68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75" y="1250700"/>
            <a:ext cx="97345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9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9" name="Google Shape;689;p4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Covariance</a:t>
            </a:r>
            <a:endParaRPr/>
          </a:p>
        </p:txBody>
      </p:sp>
      <p:sp>
        <p:nvSpPr>
          <p:cNvPr id="690" name="Google Shape;690;p49"/>
          <p:cNvSpPr txBox="1"/>
          <p:nvPr/>
        </p:nvSpPr>
        <p:spPr>
          <a:xfrm>
            <a:off x="535954" y="987050"/>
            <a:ext cx="10999500" cy="4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Covariance: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36449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 u="sng">
                <a:solidFill>
                  <a:schemeClr val="hlink"/>
                </a:solidFill>
                <a:latin typeface="Bell MT"/>
                <a:ea typeface="Bell MT"/>
                <a:cs typeface="Bell MT"/>
                <a:sym typeface="Bell MT"/>
                <a:hlinkClick r:id="rId3"/>
              </a:rPr>
              <a:t>It is a measure of	how much two </a:t>
            </a:r>
            <a:r>
              <a:rPr lang="en-US" sz="32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random variables </a:t>
            </a:r>
            <a:r>
              <a:rPr lang="en-US" sz="3200" u="sng">
                <a:solidFill>
                  <a:schemeClr val="hlink"/>
                </a:solidFill>
                <a:latin typeface="Bell MT"/>
                <a:ea typeface="Bell MT"/>
                <a:cs typeface="Bell MT"/>
                <a:sym typeface="Bell MT"/>
                <a:hlinkClick r:id="rId5"/>
              </a:rPr>
              <a:t>change together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84785" rtl="0" algn="l">
              <a:lnSpc>
                <a:spcPct val="100000"/>
              </a:lnSpc>
              <a:spcBef>
                <a:spcPts val="538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Here, we are seeking to determine the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correspondence between the deviation scores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on two variables with respect to mean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We see the extent to which those deviation scores 	vary together (</a:t>
            </a:r>
            <a:r>
              <a:rPr lang="en-US" sz="2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i.e., covary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2" name="Google Shape;692;p4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93" name="Google Shape;693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4" name="Google Shape;694;p4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0" name="Google Shape;700;p50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Covariance Matrix</a:t>
            </a:r>
            <a:endParaRPr sz="4400"/>
          </a:p>
        </p:txBody>
      </p:sp>
      <p:sp>
        <p:nvSpPr>
          <p:cNvPr id="701" name="Google Shape;701;p5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2" name="Google Shape;702;p5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03" name="Google Shape;703;p5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5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5" name="Google Shape;7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25" y="1061162"/>
            <a:ext cx="9252212" cy="52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1" name="Google Shape;711;p51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Covariance</a:t>
            </a:r>
            <a:endParaRPr sz="4400"/>
          </a:p>
        </p:txBody>
      </p:sp>
      <p:sp>
        <p:nvSpPr>
          <p:cNvPr id="712" name="Google Shape;712;p5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3" name="Google Shape;713;p5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14" name="Google Shape;714;p5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5" name="Google Shape;715;p5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6" name="Google Shape;7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00" y="1061163"/>
            <a:ext cx="8753064" cy="5286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2" name="Google Shape;722;p52"/>
          <p:cNvSpPr txBox="1"/>
          <p:nvPr>
            <p:ph idx="4294967295" type="title"/>
          </p:nvPr>
        </p:nvSpPr>
        <p:spPr>
          <a:xfrm>
            <a:off x="0" y="153150"/>
            <a:ext cx="121920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975">
            <a:spAutoFit/>
          </a:bodyPr>
          <a:lstStyle/>
          <a:p>
            <a:pPr indent="0" lvl="0" marL="4879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Covariance Matrix</a:t>
            </a:r>
            <a:endParaRPr sz="4400"/>
          </a:p>
        </p:txBody>
      </p:sp>
      <p:sp>
        <p:nvSpPr>
          <p:cNvPr id="723" name="Google Shape;723;p52"/>
          <p:cNvSpPr txBox="1"/>
          <p:nvPr/>
        </p:nvSpPr>
        <p:spPr>
          <a:xfrm>
            <a:off x="510554" y="1114300"/>
            <a:ext cx="113868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Covariance Matrix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80415" marR="304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matrix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whose element in the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j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position is the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covariance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between the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baseline="30000" lang="en-US" sz="2775" u="none">
                <a:latin typeface="Bell MT"/>
                <a:ea typeface="Bell MT"/>
                <a:cs typeface="Bell MT"/>
                <a:sym typeface="Bell MT"/>
              </a:rPr>
              <a:t>th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j </a:t>
            </a:r>
            <a:r>
              <a:rPr baseline="30000" lang="en-US" sz="2775" u="none">
                <a:latin typeface="Bell MT"/>
                <a:ea typeface="Bell MT"/>
                <a:cs typeface="Bell MT"/>
                <a:sym typeface="Bell MT"/>
              </a:rPr>
              <a:t>th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elements of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vector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X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(a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vector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	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variables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24" name="Google Shape;724;p5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5" name="Google Shape;725;p5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26" name="Google Shape;726;p5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7" name="Google Shape;727;p5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8" name="Google Shape;72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50" y="3596452"/>
            <a:ext cx="110013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4" name="Google Shape;734;p53"/>
          <p:cNvSpPr txBox="1"/>
          <p:nvPr/>
        </p:nvSpPr>
        <p:spPr>
          <a:xfrm>
            <a:off x="535954" y="991300"/>
            <a:ext cx="11334300" cy="4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Positive Covariance: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65405" rtl="0" algn="l">
              <a:lnSpc>
                <a:spcPct val="108000"/>
              </a:lnSpc>
              <a:spcBef>
                <a:spcPts val="54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If greater values of one variable correspond with the greater values of the other variable (and vice-versa) ,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i.e.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when variables tend to show similar behavior, the covariance is positive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Negative Covariance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l">
              <a:lnSpc>
                <a:spcPct val="108000"/>
              </a:lnSpc>
              <a:spcBef>
                <a:spcPts val="54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When greater values of one variable correspond to the smaller values of the other,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i.e.,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when the variables tend to show opposite behavior, the covariance is negative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Zero Covariance (uncorrelated data):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3844" lvl="1" marL="753745" marR="86995" rtl="0" algn="just">
              <a:lnSpc>
                <a:spcPct val="108000"/>
              </a:lnSpc>
              <a:spcBef>
                <a:spcPts val="54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When this average product is zero, we say the two variables do not co-vary together. Sample which are high on one variable are just as likely 	to be high on the other as they are to be low on the other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3844" lvl="1" marL="753745" rtl="0" algn="just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Random variables whose covariance is zero are called uncorrelated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01295" rtl="0" algn="just">
              <a:lnSpc>
                <a:spcPct val="91400"/>
              </a:lnSpc>
              <a:spcBef>
                <a:spcPts val="509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Sign of Covariance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: </a:t>
            </a:r>
            <a:r>
              <a:rPr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sign of the covariance shows the tendency in the linear relationship between the variables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35" name="Google Shape;735;p53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Covariance</a:t>
            </a:r>
            <a:endParaRPr sz="4400"/>
          </a:p>
        </p:txBody>
      </p:sp>
      <p:sp>
        <p:nvSpPr>
          <p:cNvPr id="736" name="Google Shape;736;p5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7" name="Google Shape;737;p5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38" name="Google Shape;738;p5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" name="Google Shape;739;p5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5" name="Google Shape;745;p54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Covariance</a:t>
            </a:r>
            <a:endParaRPr sz="4400"/>
          </a:p>
        </p:txBody>
      </p:sp>
      <p:sp>
        <p:nvSpPr>
          <p:cNvPr id="746" name="Google Shape;746;p5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7" name="Google Shape;747;p5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48" name="Google Shape;748;p5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9" name="Google Shape;749;p5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0" name="Google Shape;7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500" y="994950"/>
            <a:ext cx="9042133" cy="52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6" name="Google Shape;756;p55"/>
          <p:cNvSpPr txBox="1"/>
          <p:nvPr/>
        </p:nvSpPr>
        <p:spPr>
          <a:xfrm>
            <a:off x="5450185" y="1366704"/>
            <a:ext cx="3496945" cy="408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3990" lvl="0" marL="186055" marR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ll MT"/>
              <a:buChar char="•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These two variables positively covary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173990" lvl="0" marL="186055" marR="952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Bell MT"/>
              <a:buChar char="•"/>
            </a:pPr>
            <a:r>
              <a:rPr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People who drink a lot of coffee tend to be happy, and people who do not tend to be unhappy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173355" lvl="0" marL="186055" rtl="0" algn="l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Bell MT"/>
              <a:buChar char="•"/>
            </a:pPr>
            <a:r>
              <a:rPr b="1" lang="en-US" sz="20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Preview: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173990" lvl="1" marL="643255" marR="508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SzPts val="1800"/>
              <a:buFont typeface="Bell MT"/>
              <a:buChar char="•"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The line is called a </a:t>
            </a: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regression line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 and represents the estimated linear relationship between the two variables.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173990" lvl="1" marL="643255" marR="98425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ts val="1800"/>
              <a:buFont typeface="Bell MT"/>
              <a:buChar char="•"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Note that the 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slope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of the line is positive in this example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7" name="Google Shape;757;p5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98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–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Positive Covariance</a:t>
            </a:r>
            <a:endParaRPr/>
          </a:p>
        </p:txBody>
      </p:sp>
      <p:pic>
        <p:nvPicPr>
          <p:cNvPr id="758" name="Google Shape;75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871" y="1298460"/>
            <a:ext cx="4457339" cy="4333862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5"/>
          <p:cNvSpPr txBox="1"/>
          <p:nvPr/>
        </p:nvSpPr>
        <p:spPr>
          <a:xfrm>
            <a:off x="3145139" y="5490464"/>
            <a:ext cx="20129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0" name="Google Shape;760;p55"/>
          <p:cNvSpPr txBox="1"/>
          <p:nvPr/>
        </p:nvSpPr>
        <p:spPr>
          <a:xfrm rot="-5400000">
            <a:off x="433505" y="3027629"/>
            <a:ext cx="190500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1" name="Google Shape;761;p5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2" name="Google Shape;762;p5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63" name="Google Shape;763;p5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4" name="Google Shape;764;p5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0" name="Google Shape;770;p56"/>
          <p:cNvSpPr txBox="1"/>
          <p:nvPr/>
        </p:nvSpPr>
        <p:spPr>
          <a:xfrm>
            <a:off x="5488940" y="1947985"/>
            <a:ext cx="3218180" cy="343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86055" marR="412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ell MT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this example, the two variables covary negatively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177800" lvl="0" marL="186055" marR="5080" rtl="0" algn="just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Bell MT"/>
              <a:buChar char="•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Value high on x tend to be low on 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177800" lvl="0" marL="186055" marR="161290" rtl="0" algn="just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2800"/>
              <a:buFont typeface="Bell MT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regression line has a negative slope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71" name="Google Shape;771;p5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98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–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Negative Covariance</a:t>
            </a:r>
            <a:endParaRPr/>
          </a:p>
        </p:txBody>
      </p:sp>
      <p:pic>
        <p:nvPicPr>
          <p:cNvPr id="772" name="Google Shape;77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4" y="1447800"/>
            <a:ext cx="4429112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6"/>
          <p:cNvSpPr txBox="1"/>
          <p:nvPr/>
        </p:nvSpPr>
        <p:spPr>
          <a:xfrm>
            <a:off x="3221339" y="5683820"/>
            <a:ext cx="20129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74" name="Google Shape;774;p56"/>
          <p:cNvSpPr txBox="1"/>
          <p:nvPr/>
        </p:nvSpPr>
        <p:spPr>
          <a:xfrm rot="-5400000">
            <a:off x="347126" y="3068585"/>
            <a:ext cx="190500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75" name="Google Shape;775;p5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6" name="Google Shape;776;p56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77" name="Google Shape;777;p5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5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7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4" name="Google Shape;784;p57"/>
          <p:cNvSpPr txBox="1"/>
          <p:nvPr/>
        </p:nvSpPr>
        <p:spPr>
          <a:xfrm>
            <a:off x="5488940" y="1188723"/>
            <a:ext cx="3182620" cy="47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20014" lvl="0" marL="123825" marR="240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Bell MT"/>
              <a:buChar char="•"/>
            </a:pPr>
            <a:r>
              <a:rPr lang="en-US" sz="1800"/>
              <a:t>	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this example, there is no covariance between the two variables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171448" lvl="0" marL="123825" marR="508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2700"/>
              <a:buFont typeface="Bell MT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	Samples who are high on x are just as likely to be high on y as they are low on 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171448" lvl="0" marL="123825" marR="10922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2700"/>
              <a:buFont typeface="Bell MT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	The regression line is flat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5" name="Google Shape;785;p5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98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–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No Covariance</a:t>
            </a:r>
            <a:endParaRPr/>
          </a:p>
        </p:txBody>
      </p:sp>
      <p:pic>
        <p:nvPicPr>
          <p:cNvPr id="786" name="Google Shape;78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43051"/>
            <a:ext cx="4438650" cy="444854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7"/>
          <p:cNvSpPr txBox="1"/>
          <p:nvPr/>
        </p:nvSpPr>
        <p:spPr>
          <a:xfrm>
            <a:off x="3221339" y="5912420"/>
            <a:ext cx="20129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8" name="Google Shape;788;p57"/>
          <p:cNvSpPr txBox="1"/>
          <p:nvPr/>
        </p:nvSpPr>
        <p:spPr>
          <a:xfrm rot="-5400000">
            <a:off x="270926" y="3211286"/>
            <a:ext cx="190500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9" name="Google Shape;789;p5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0" name="Google Shape;790;p5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91" name="Google Shape;791;p5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2" name="Google Shape;792;p5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8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8" name="Google Shape;798;p5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Covariance Matrix</a:t>
            </a:r>
            <a:endParaRPr/>
          </a:p>
        </p:txBody>
      </p:sp>
      <p:sp>
        <p:nvSpPr>
          <p:cNvPr id="799" name="Google Shape;799;p58"/>
          <p:cNvSpPr txBox="1"/>
          <p:nvPr/>
        </p:nvSpPr>
        <p:spPr>
          <a:xfrm>
            <a:off x="535954" y="977275"/>
            <a:ext cx="10963500" cy="4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Diagonal Covariance Matrix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161925" rtl="0" algn="l">
              <a:lnSpc>
                <a:spcPct val="108076"/>
              </a:lnSpc>
              <a:spcBef>
                <a:spcPts val="69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It means all your variables are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uncorrelated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, i.e., the entries of	the random vector are uncorrelated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Inverse of	Covariance Matrix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40005" rtl="0" algn="l">
              <a:lnSpc>
                <a:spcPct val="108076"/>
              </a:lnSpc>
              <a:spcBef>
                <a:spcPts val="69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Also known as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concentration matrix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 or the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precision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matrix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384175" rtl="0" algn="l">
              <a:lnSpc>
                <a:spcPct val="108076"/>
              </a:lnSpc>
              <a:spcBef>
                <a:spcPts val="62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The elements of	the precision matrix have an interpretation in terms of	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partial correlations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partial variances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just">
              <a:lnSpc>
                <a:spcPct val="108076"/>
              </a:lnSpc>
              <a:spcBef>
                <a:spcPts val="62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Covariance matrix can represent relation between all variables while inverse covariance </a:t>
            </a:r>
            <a:r>
              <a:rPr lang="en-US" sz="26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shows the relation</a:t>
            </a:r>
            <a:r>
              <a:rPr lang="en-US" sz="26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of elements with their neighbors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00" name="Google Shape;800;p5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1" name="Google Shape;801;p58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02" name="Google Shape;802;p5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3" name="Google Shape;803;p5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9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9" name="Google Shape;809;p59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Covariance Matrix</a:t>
            </a:r>
            <a:endParaRPr/>
          </a:p>
        </p:txBody>
      </p:sp>
      <p:pic>
        <p:nvPicPr>
          <p:cNvPr id="810" name="Google Shape;81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63" y="1230390"/>
            <a:ext cx="3759687" cy="3054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531384"/>
            <a:ext cx="3754352" cy="3054837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59"/>
          <p:cNvSpPr txBox="1"/>
          <p:nvPr/>
        </p:nvSpPr>
        <p:spPr>
          <a:xfrm>
            <a:off x="154939" y="6163828"/>
            <a:ext cx="6569709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Image source: https://nilearn.github.io/auto_examples/03_connectivity/plot_inverse_covariance_connec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tome.html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4" name="Google Shape;814;p59"/>
          <p:cNvSpPr txBox="1"/>
          <p:nvPr>
            <p:ph idx="4294967295" type="ftr"/>
          </p:nvPr>
        </p:nvSpPr>
        <p:spPr>
          <a:xfrm>
            <a:off x="439942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15" name="Google Shape;815;p5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1" name="Google Shape;821;p6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12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Mahalanobis Distance</a:t>
            </a:r>
            <a:endParaRPr/>
          </a:p>
        </p:txBody>
      </p:sp>
      <p:sp>
        <p:nvSpPr>
          <p:cNvPr id="822" name="Google Shape;822;p6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3" name="Google Shape;823;p6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24" name="Google Shape;824;p6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6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6" name="Google Shape;82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50" y="992413"/>
            <a:ext cx="8716556" cy="534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2" name="Google Shape;832;p6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61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Intersection</a:t>
            </a:r>
            <a:endParaRPr/>
          </a:p>
        </p:txBody>
      </p:sp>
      <p:sp>
        <p:nvSpPr>
          <p:cNvPr id="833" name="Google Shape;833;p61"/>
          <p:cNvSpPr txBox="1"/>
          <p:nvPr/>
        </p:nvSpPr>
        <p:spPr>
          <a:xfrm>
            <a:off x="510550" y="1152400"/>
            <a:ext cx="11214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946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Used to compare two histograms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80415" marR="30480" rtl="0" algn="l">
              <a:lnSpc>
                <a:spcPct val="8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500">
                <a:latin typeface="Bell MT"/>
                <a:ea typeface="Bell MT"/>
                <a:cs typeface="Bell MT"/>
                <a:sym typeface="Bell MT"/>
              </a:rPr>
              <a:t>Histograms originating from various applications, not necessarily from images only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Defined as follows (for two histograms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ℎ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ℎ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34" name="Google Shape;834;p61"/>
          <p:cNvSpPr txBox="1"/>
          <p:nvPr/>
        </p:nvSpPr>
        <p:spPr>
          <a:xfrm>
            <a:off x="510540" y="4061722"/>
            <a:ext cx="42324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Is it a metric distance?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9464"/>
              </a:lnSpc>
              <a:spcBef>
                <a:spcPts val="2014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No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81050" rtl="0" algn="l">
              <a:lnSpc>
                <a:spcPct val="962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500"/>
              <a:buFont typeface="Arial"/>
              <a:buChar char="–"/>
            </a:pPr>
            <a:r>
              <a:rPr lang="en-US" sz="25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It is non-symmetric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8105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500"/>
              <a:buFont typeface="Arial"/>
              <a:buChar char="–"/>
            </a:pPr>
            <a:r>
              <a:rPr lang="en-US" sz="25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So not a metric distance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35" name="Google Shape;835;p6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6" name="Google Shape;836;p6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37" name="Google Shape;837;p6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8" name="Google Shape;838;p6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9" name="Google Shape;83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6265" y="3239778"/>
            <a:ext cx="61055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5" name="Google Shape;845;p6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46" name="Google Shape;846;p6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7" name="Google Shape;847;p6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8" name="Google Shape;84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509662" cy="6129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3" name="Google Shape;853;p63"/>
          <p:cNvGrpSpPr/>
          <p:nvPr/>
        </p:nvGrpSpPr>
        <p:grpSpPr>
          <a:xfrm>
            <a:off x="228981" y="974978"/>
            <a:ext cx="8686800" cy="1568577"/>
            <a:chOff x="228981" y="974978"/>
            <a:chExt cx="8686800" cy="1568577"/>
          </a:xfrm>
        </p:grpSpPr>
        <p:sp>
          <p:nvSpPr>
            <p:cNvPr id="854" name="Google Shape;854;p63"/>
            <p:cNvSpPr/>
            <p:nvPr/>
          </p:nvSpPr>
          <p:spPr>
            <a:xfrm>
              <a:off x="228981" y="974978"/>
              <a:ext cx="8686800" cy="0"/>
            </a:xfrm>
            <a:custGeom>
              <a:rect b="b" l="l" r="r" t="t"/>
              <a:pathLst>
                <a:path extrusionOk="0" h="120000" w="8686800">
                  <a:moveTo>
                    <a:pt x="0" y="0"/>
                  </a:moveTo>
                  <a:lnTo>
                    <a:pt x="86868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55" name="Google Shape;855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49879" y="1011186"/>
              <a:ext cx="1532381" cy="1532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5981" y="1037462"/>
              <a:ext cx="1440180" cy="14401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7" name="Google Shape;857;p6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–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comparison of	same size images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858" name="Google Shape;858;p63"/>
          <p:cNvGraphicFramePr/>
          <p:nvPr/>
        </p:nvGraphicFramePr>
        <p:xfrm>
          <a:off x="450850" y="2559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{3BBAF873-4BCD-4417-BD88-00D0F3548F00}</a:tableStyleId>
              </a:tblPr>
              <a:tblGrid>
                <a:gridCol w="914400"/>
                <a:gridCol w="508000"/>
                <a:gridCol w="662950"/>
                <a:gridCol w="662950"/>
                <a:gridCol w="662950"/>
                <a:gridCol w="662950"/>
                <a:gridCol w="662950"/>
                <a:gridCol w="662950"/>
                <a:gridCol w="662950"/>
                <a:gridCol w="842650"/>
                <a:gridCol w="662950"/>
                <a:gridCol w="662950"/>
              </a:tblGrid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Bin-1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Bin-2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Bin-3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Bin-4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Bin-5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Bin-6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Bin-7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Bin-8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9230" marR="0" rtl="0" algn="l">
                        <a:lnSpc>
                          <a:spcPct val="115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Total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  <a:p>
                      <a:pPr indent="0" lvl="0" marL="167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Pixels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h1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45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38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6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400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d(h1,h2)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0.405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h2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75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15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75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50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26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29</a:t>
                      </a:r>
                      <a:endParaRPr sz="16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400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d(h2,h1)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0.405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min(hi,h2)</a:t>
                      </a:r>
                      <a:endParaRPr sz="1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DEE8"/>
                    </a:solidFill>
                  </a:tcPr>
                </a:tc>
              </a:tr>
            </a:tbl>
          </a:graphicData>
        </a:graphic>
      </p:graphicFrame>
      <p:sp>
        <p:nvSpPr>
          <p:cNvPr id="859" name="Google Shape;859;p63"/>
          <p:cNvSpPr txBox="1"/>
          <p:nvPr/>
        </p:nvSpPr>
        <p:spPr>
          <a:xfrm>
            <a:off x="2895980" y="1037463"/>
            <a:ext cx="1440180" cy="14401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1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01625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Image -1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353695" rtl="0" algn="l">
              <a:lnSpc>
                <a:spcPct val="117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Bell MT"/>
                <a:ea typeface="Bell MT"/>
                <a:cs typeface="Bell MT"/>
                <a:sym typeface="Bell MT"/>
              </a:rPr>
              <a:t>20 x 20</a:t>
            </a:r>
            <a:endParaRPr sz="19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860" name="Google Shape;860;p63"/>
          <p:cNvGrpSpPr/>
          <p:nvPr/>
        </p:nvGrpSpPr>
        <p:grpSpPr>
          <a:xfrm>
            <a:off x="5067300" y="1011186"/>
            <a:ext cx="1532381" cy="1532369"/>
            <a:chOff x="5067300" y="1011186"/>
            <a:chExt cx="1532381" cy="1532369"/>
          </a:xfrm>
        </p:grpSpPr>
        <p:pic>
          <p:nvPicPr>
            <p:cNvPr id="861" name="Google Shape;861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7300" y="1011186"/>
              <a:ext cx="1532381" cy="1532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2" name="Google Shape;862;p6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13401" y="1037463"/>
              <a:ext cx="1440179" cy="14401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3" name="Google Shape;863;p63"/>
          <p:cNvSpPr txBox="1"/>
          <p:nvPr/>
        </p:nvSpPr>
        <p:spPr>
          <a:xfrm>
            <a:off x="5113401" y="1037463"/>
            <a:ext cx="1440180" cy="1440180"/>
          </a:xfrm>
          <a:prstGeom prst="rect">
            <a:avLst/>
          </a:prstGeom>
          <a:noFill/>
          <a:ln cap="flat" cmpd="sng" w="9525">
            <a:solidFill>
              <a:srgbClr val="BE4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1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01625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Image -2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353695" rtl="0" algn="l">
              <a:lnSpc>
                <a:spcPct val="117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Bell MT"/>
                <a:ea typeface="Bell MT"/>
                <a:cs typeface="Bell MT"/>
                <a:sym typeface="Bell MT"/>
              </a:rPr>
              <a:t>20 x 20</a:t>
            </a:r>
            <a:endParaRPr sz="19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64" name="Google Shape;864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1" y="3992879"/>
            <a:ext cx="7443215" cy="219455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6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6" name="Google Shape;866;p63"/>
          <p:cNvSpPr txBox="1"/>
          <p:nvPr>
            <p:ph idx="4294967295" type="ftr"/>
          </p:nvPr>
        </p:nvSpPr>
        <p:spPr>
          <a:xfrm>
            <a:off x="4398678" y="65486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67" name="Google Shape;867;p6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3" name="Google Shape;873;p64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0283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Histogram Intersection </a:t>
            </a:r>
            <a:r>
              <a:rPr lang="en-US" sz="3600"/>
              <a:t>–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when histograms are normalized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4" name="Google Shape;874;p64"/>
          <p:cNvSpPr txBox="1"/>
          <p:nvPr/>
        </p:nvSpPr>
        <p:spPr>
          <a:xfrm>
            <a:off x="497854" y="977275"/>
            <a:ext cx="11010600" cy="2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When histograms are normalized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93115" marR="43180" rtl="0" algn="l">
              <a:lnSpc>
                <a:spcPct val="108076"/>
              </a:lnSpc>
              <a:spcBef>
                <a:spcPts val="69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each bin value of	h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or h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divided by	total number of	image pixels in respective images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9248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In such case,	</a:t>
            </a:r>
            <a:r>
              <a:rPr baseline="30000" lang="en-US" sz="39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∑ </a:t>
            </a:r>
            <a:r>
              <a:rPr lang="en-US" sz="2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ℎ</a:t>
            </a:r>
            <a:r>
              <a:rPr baseline="-25000" lang="en-US" sz="28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= </a:t>
            </a:r>
            <a:r>
              <a:rPr baseline="30000" lang="en-US" sz="39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∑ </a:t>
            </a:r>
            <a:r>
              <a:rPr lang="en-US" sz="2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ℎ</a:t>
            </a:r>
            <a:r>
              <a:rPr baseline="-25000" lang="en-US" sz="28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=1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5" name="Google Shape;875;p6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6" name="Google Shape;876;p6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77" name="Google Shape;877;p6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8" name="Google Shape;878;p6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9" name="Google Shape;879;p64"/>
          <p:cNvSpPr txBox="1"/>
          <p:nvPr/>
        </p:nvSpPr>
        <p:spPr>
          <a:xfrm>
            <a:off x="228975" y="4686600"/>
            <a:ext cx="117681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265" lvl="0" marL="393065" rtl="0" algn="l">
              <a:lnSpc>
                <a:spcPct val="114848"/>
              </a:lnSpc>
              <a:spcBef>
                <a:spcPts val="315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lang="en-US" sz="33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When comparing normalized histograms,</a:t>
            </a:r>
            <a:endParaRPr sz="33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9375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000"/>
              <a:buChar char="–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It is symmetric</a:t>
            </a:r>
            <a:endParaRPr sz="3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93750" marR="313690" rtl="0" algn="l">
              <a:lnSpc>
                <a:spcPct val="108000"/>
              </a:lnSpc>
              <a:spcBef>
                <a:spcPts val="229"/>
              </a:spcBef>
              <a:spcAft>
                <a:spcPts val="0"/>
              </a:spcAft>
              <a:buClr>
                <a:srgbClr val="00B050"/>
              </a:buClr>
              <a:buSzPts val="3000"/>
              <a:buChar char="–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So can be considered as a metric distance, in this case</a:t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80" name="Google Shape;88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500" y="3392675"/>
            <a:ext cx="80581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6" name="Google Shape;886;p65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5223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Example -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when histograms are normalized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87" name="Google Shape;887;p65"/>
          <p:cNvSpPr txBox="1"/>
          <p:nvPr/>
        </p:nvSpPr>
        <p:spPr>
          <a:xfrm>
            <a:off x="169692" y="6163828"/>
            <a:ext cx="486410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i="1"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http://blog.datadive.net/histogram-intersection-for-change-detection/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65"/>
          <p:cNvSpPr txBox="1"/>
          <p:nvPr/>
        </p:nvSpPr>
        <p:spPr>
          <a:xfrm>
            <a:off x="535940" y="1064007"/>
            <a:ext cx="7719059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Images can be of	same size or different sizes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89" name="Google Shape;88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873" y="1991877"/>
            <a:ext cx="6589977" cy="36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1" name="Google Shape;891;p6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92" name="Google Shape;892;p6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3" name="Google Shape;893;p6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9" name="Google Shape;899;p6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Various Ways of	Matching Histogram</a:t>
            </a:r>
            <a:endParaRPr/>
          </a:p>
        </p:txBody>
      </p:sp>
      <p:sp>
        <p:nvSpPr>
          <p:cNvPr id="900" name="Google Shape;900;p66"/>
          <p:cNvSpPr txBox="1"/>
          <p:nvPr/>
        </p:nvSpPr>
        <p:spPr>
          <a:xfrm>
            <a:off x="535940" y="1003808"/>
            <a:ext cx="6752590" cy="469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b="1" lang="en-US" sz="27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Euclidian Distance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19791"/>
              </a:lnSpc>
              <a:spcBef>
                <a:spcPts val="10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Easy to compute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98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b="1" lang="en-US" sz="27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Histogram Intersection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19791"/>
              </a:lnSpc>
              <a:spcBef>
                <a:spcPts val="15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Easy and faster to compute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98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Chi-squared distance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19791"/>
              </a:lnSpc>
              <a:spcBef>
                <a:spcPts val="1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Often works better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98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b="1" lang="en-US" sz="27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Quadratic form Distance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19791"/>
              </a:lnSpc>
              <a:spcBef>
                <a:spcPts val="10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Good when nearby bins represent similar values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98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Earth Mover’s Distance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19791"/>
              </a:lnSpc>
              <a:spcBef>
                <a:spcPts val="1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Good when nearby bins represent similar values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98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b="1" lang="en-US" sz="27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Bhattacharya Distance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Compare normalized histograms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1" name="Google Shape;901;p6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2" name="Google Shape;902;p66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03" name="Google Shape;903;p6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4" name="Google Shape;904;p6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7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0" name="Google Shape;910;p6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of	Histogram Intersection</a:t>
            </a:r>
            <a:endParaRPr/>
          </a:p>
        </p:txBody>
      </p:sp>
      <p:sp>
        <p:nvSpPr>
          <p:cNvPr id="911" name="Google Shape;911;p67"/>
          <p:cNvSpPr txBox="1"/>
          <p:nvPr/>
        </p:nvSpPr>
        <p:spPr>
          <a:xfrm>
            <a:off x="535940" y="973784"/>
            <a:ext cx="5574665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Estimation of	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Image Similarity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Content Based Image Retrieval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12" name="Google Shape;912;p67"/>
          <p:cNvSpPr txBox="1"/>
          <p:nvPr/>
        </p:nvSpPr>
        <p:spPr>
          <a:xfrm>
            <a:off x="993139" y="2092705"/>
            <a:ext cx="376682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Based on image similarity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13" name="Google Shape;913;p67"/>
          <p:cNvSpPr txBox="1"/>
          <p:nvPr/>
        </p:nvSpPr>
        <p:spPr>
          <a:xfrm>
            <a:off x="535940" y="4710938"/>
            <a:ext cx="32537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Change detection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14" name="Google Shape;914;p67"/>
          <p:cNvSpPr txBox="1"/>
          <p:nvPr/>
        </p:nvSpPr>
        <p:spPr>
          <a:xfrm>
            <a:off x="993139" y="5244338"/>
            <a:ext cx="524002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Change detection in two distributions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15" name="Google Shape;91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2286000"/>
            <a:ext cx="3861053" cy="28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67"/>
          <p:cNvSpPr txBox="1"/>
          <p:nvPr/>
        </p:nvSpPr>
        <p:spPr>
          <a:xfrm>
            <a:off x="7860950" y="3106011"/>
            <a:ext cx="8896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7150" lvl="0" marL="698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Database image-1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7"/>
          <p:cNvSpPr txBox="1"/>
          <p:nvPr/>
        </p:nvSpPr>
        <p:spPr>
          <a:xfrm>
            <a:off x="8089779" y="4892062"/>
            <a:ext cx="8896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7150" lvl="0" marL="698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Database image-3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7"/>
          <p:cNvSpPr txBox="1"/>
          <p:nvPr/>
        </p:nvSpPr>
        <p:spPr>
          <a:xfrm>
            <a:off x="4951787" y="4568822"/>
            <a:ext cx="8896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7150" lvl="0" marL="698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Database image-2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7"/>
          <p:cNvSpPr txBox="1"/>
          <p:nvPr/>
        </p:nvSpPr>
        <p:spPr>
          <a:xfrm>
            <a:off x="5989173" y="2106571"/>
            <a:ext cx="5899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9779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7"/>
          <p:cNvSpPr txBox="1"/>
          <p:nvPr/>
        </p:nvSpPr>
        <p:spPr>
          <a:xfrm>
            <a:off x="154939" y="6163828"/>
            <a:ext cx="645033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https</a:t>
            </a:r>
            <a:r>
              <a:rPr i="1"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://www.pyimagesearch.com/2014/07/14/3-ways-compare-histograms-using-opencv-python/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6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2" name="Google Shape;922;p6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23" name="Google Shape;923;p6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4" name="Google Shape;924;p6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0" name="Google Shape;930;p68"/>
          <p:cNvSpPr txBox="1"/>
          <p:nvPr>
            <p:ph idx="4294967295" type="ftr"/>
          </p:nvPr>
        </p:nvSpPr>
        <p:spPr>
          <a:xfrm>
            <a:off x="439867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31" name="Google Shape;931;p6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9"/>
          <p:cNvSpPr txBox="1"/>
          <p:nvPr>
            <p:ph idx="4294967295" type="body"/>
          </p:nvPr>
        </p:nvSpPr>
        <p:spPr>
          <a:xfrm>
            <a:off x="0" y="1651675"/>
            <a:ext cx="121920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6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Distance Measures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- 4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7" name="Google Shape;937;p6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8" name="Google Shape;938;p6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39" name="Google Shape;939;p6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0" name="Google Shape;940;p6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6" name="Google Shape;946;p7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947" name="Google Shape;947;p70"/>
          <p:cNvSpPr txBox="1"/>
          <p:nvPr/>
        </p:nvSpPr>
        <p:spPr>
          <a:xfrm>
            <a:off x="535940" y="1787143"/>
            <a:ext cx="4808220" cy="134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Cosine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Bhattacharyya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8" name="Google Shape;948;p7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9" name="Google Shape;949;p7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50" name="Google Shape;950;p7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1" name="Google Shape;951;p7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7" name="Google Shape;957;p7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339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Cosine Distance</a:t>
            </a:r>
            <a:endParaRPr/>
          </a:p>
        </p:txBody>
      </p:sp>
      <p:sp>
        <p:nvSpPr>
          <p:cNvPr id="958" name="Google Shape;958;p71"/>
          <p:cNvSpPr txBox="1"/>
          <p:nvPr/>
        </p:nvSpPr>
        <p:spPr>
          <a:xfrm>
            <a:off x="497840" y="3164535"/>
            <a:ext cx="8365490" cy="323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03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Image – 2 (50 x 50)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427480" rtl="0" algn="l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Image – 1 (200 x 200)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Image-1 is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4 times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	Image-2,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Say there are 8 different gray levels in these images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H</a:t>
            </a:r>
            <a:r>
              <a:rPr baseline="-25000" lang="en-US" sz="240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= [a, b, c, d, e, f, g, h], H</a:t>
            </a:r>
            <a:r>
              <a:rPr baseline="-25000" lang="en-US" sz="240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= [4a, 4b, 4c, 4d, 4e, 4f, 4g, 4h]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Based on histograms comparison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Can we say that these two images are same?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959" name="Google Shape;959;p71"/>
          <p:cNvGrpSpPr/>
          <p:nvPr/>
        </p:nvGrpSpPr>
        <p:grpSpPr>
          <a:xfrm>
            <a:off x="1784604" y="990600"/>
            <a:ext cx="4379963" cy="2654807"/>
            <a:chOff x="1784604" y="990600"/>
            <a:chExt cx="4379963" cy="2654807"/>
          </a:xfrm>
        </p:grpSpPr>
        <p:pic>
          <p:nvPicPr>
            <p:cNvPr id="960" name="Google Shape;960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4604" y="990600"/>
              <a:ext cx="2519933" cy="2654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1" name="Google Shape;961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04232" y="1796796"/>
              <a:ext cx="1260335" cy="1327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2" name="Google Shape;962;p7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3" name="Google Shape;963;p7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64" name="Google Shape;964;p7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5" name="Google Shape;965;p7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1" name="Google Shape;971;p7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339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Cosine Distance</a:t>
            </a:r>
            <a:endParaRPr/>
          </a:p>
        </p:txBody>
      </p:sp>
      <p:sp>
        <p:nvSpPr>
          <p:cNvPr id="972" name="Google Shape;972;p72"/>
          <p:cNvSpPr txBox="1"/>
          <p:nvPr/>
        </p:nvSpPr>
        <p:spPr>
          <a:xfrm>
            <a:off x="993152" y="5021650"/>
            <a:ext cx="3757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Euclidean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distance – No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73" name="Google Shape;973;p72"/>
          <p:cNvSpPr txBox="1"/>
          <p:nvPr/>
        </p:nvSpPr>
        <p:spPr>
          <a:xfrm>
            <a:off x="993139" y="5404627"/>
            <a:ext cx="5998210" cy="892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575">
            <a:spAutoFit/>
          </a:bodyPr>
          <a:lstStyle/>
          <a:p>
            <a:pPr indent="-284480" lvl="0" marL="297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Manhattan distance (Citi block distance) – No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Cosine distance – Yes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74" name="Google Shape;974;p72"/>
          <p:cNvSpPr txBox="1"/>
          <p:nvPr/>
        </p:nvSpPr>
        <p:spPr>
          <a:xfrm>
            <a:off x="4518154" y="3164687"/>
            <a:ext cx="21831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Image – 2 (100 x 100)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975" name="Google Shape;97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604" y="1028700"/>
            <a:ext cx="2519933" cy="2654807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2"/>
          <p:cNvSpPr txBox="1"/>
          <p:nvPr/>
        </p:nvSpPr>
        <p:spPr>
          <a:xfrm>
            <a:off x="510540" y="3652849"/>
            <a:ext cx="60351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1414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Image – 1 (200 x 200)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Based on histograms comparison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9530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Are these two images same?</a:t>
            </a:r>
            <a:endParaRPr baseline="-25000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977" name="Google Shape;97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4232" y="1796796"/>
            <a:ext cx="1260335" cy="1327403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9" name="Google Shape;979;p7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80" name="Google Shape;980;p7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1" name="Google Shape;981;p7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2" name="Google Shape;98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649" y="4154975"/>
            <a:ext cx="474345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8" name="Google Shape;988;p7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339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Cosine Distance</a:t>
            </a:r>
            <a:endParaRPr/>
          </a:p>
        </p:txBody>
      </p:sp>
      <p:sp>
        <p:nvSpPr>
          <p:cNvPr id="989" name="Google Shape;989;p73"/>
          <p:cNvSpPr txBox="1"/>
          <p:nvPr/>
        </p:nvSpPr>
        <p:spPr>
          <a:xfrm>
            <a:off x="535955" y="1064000"/>
            <a:ext cx="111987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Cosine distance between two vectors is </a:t>
            </a:r>
            <a:r>
              <a:rPr lang="en-US" sz="32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the</a:t>
            </a:r>
            <a:r>
              <a:rPr lang="en-US" sz="32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angle subtended</a:t>
            </a:r>
            <a:r>
              <a:rPr lang="en-US" sz="32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by them at the origin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90" name="Google Shape;990;p73"/>
          <p:cNvSpPr txBox="1"/>
          <p:nvPr/>
        </p:nvSpPr>
        <p:spPr>
          <a:xfrm>
            <a:off x="6301740" y="3285234"/>
            <a:ext cx="265112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en-US" sz="2400">
                <a:latin typeface="Book Antiqua"/>
                <a:ea typeface="Book Antiqua"/>
                <a:cs typeface="Book Antiqua"/>
                <a:sym typeface="Book Antiqua"/>
              </a:rPr>
              <a:t>: Euclidian distance </a:t>
            </a:r>
            <a:r>
              <a:rPr i="1" lang="en-US" sz="2400">
                <a:solidFill>
                  <a:srgbClr val="558ED5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baseline="-25000" i="1" lang="en-US" sz="2475">
                <a:solidFill>
                  <a:srgbClr val="558ED5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i="1" lang="en-US" sz="2400">
                <a:latin typeface="Book Antiqua"/>
                <a:ea typeface="Book Antiqua"/>
                <a:cs typeface="Book Antiqua"/>
                <a:sym typeface="Book Antiqua"/>
              </a:rPr>
              <a:t>: Cosine distance</a:t>
            </a:r>
            <a:endParaRPr sz="24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991" name="Google Shape;991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425" y="2743200"/>
            <a:ext cx="5341619" cy="30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3"/>
          <p:cNvSpPr/>
          <p:nvPr/>
        </p:nvSpPr>
        <p:spPr>
          <a:xfrm>
            <a:off x="7655863" y="4969332"/>
            <a:ext cx="269240" cy="212090"/>
          </a:xfrm>
          <a:custGeom>
            <a:rect b="b" l="l" r="r" t="t"/>
            <a:pathLst>
              <a:path extrusionOk="0" h="212089" w="269240">
                <a:moveTo>
                  <a:pt x="201282" y="0"/>
                </a:moveTo>
                <a:lnTo>
                  <a:pt x="198272" y="8597"/>
                </a:lnTo>
                <a:lnTo>
                  <a:pt x="210529" y="13915"/>
                </a:lnTo>
                <a:lnTo>
                  <a:pt x="221068" y="21277"/>
                </a:lnTo>
                <a:lnTo>
                  <a:pt x="242474" y="55406"/>
                </a:lnTo>
                <a:lnTo>
                  <a:pt x="248691" y="86519"/>
                </a:lnTo>
                <a:lnTo>
                  <a:pt x="248723" y="86744"/>
                </a:lnTo>
                <a:lnTo>
                  <a:pt x="246362" y="140447"/>
                </a:lnTo>
                <a:lnTo>
                  <a:pt x="229840" y="180837"/>
                </a:lnTo>
                <a:lnTo>
                  <a:pt x="198602" y="203149"/>
                </a:lnTo>
                <a:lnTo>
                  <a:pt x="201282" y="211747"/>
                </a:lnTo>
                <a:lnTo>
                  <a:pt x="241735" y="187704"/>
                </a:lnTo>
                <a:lnTo>
                  <a:pt x="264455" y="143335"/>
                </a:lnTo>
                <a:lnTo>
                  <a:pt x="268808" y="105930"/>
                </a:lnTo>
                <a:lnTo>
                  <a:pt x="267730" y="86744"/>
                </a:lnTo>
                <a:lnTo>
                  <a:pt x="267717" y="86519"/>
                </a:lnTo>
                <a:lnTo>
                  <a:pt x="251345" y="37109"/>
                </a:lnTo>
                <a:lnTo>
                  <a:pt x="216634" y="5541"/>
                </a:lnTo>
                <a:lnTo>
                  <a:pt x="201282" y="0"/>
                </a:lnTo>
                <a:close/>
              </a:path>
              <a:path extrusionOk="0" h="212089" w="269240">
                <a:moveTo>
                  <a:pt x="67525" y="0"/>
                </a:moveTo>
                <a:lnTo>
                  <a:pt x="27142" y="24095"/>
                </a:lnTo>
                <a:lnTo>
                  <a:pt x="4364" y="68576"/>
                </a:lnTo>
                <a:lnTo>
                  <a:pt x="0" y="105930"/>
                </a:lnTo>
                <a:lnTo>
                  <a:pt x="982" y="123489"/>
                </a:lnTo>
                <a:lnTo>
                  <a:pt x="1088" y="125383"/>
                </a:lnTo>
                <a:lnTo>
                  <a:pt x="17411" y="174739"/>
                </a:lnTo>
                <a:lnTo>
                  <a:pt x="52128" y="206211"/>
                </a:lnTo>
                <a:lnTo>
                  <a:pt x="67525" y="211747"/>
                </a:lnTo>
                <a:lnTo>
                  <a:pt x="70205" y="203149"/>
                </a:lnTo>
                <a:lnTo>
                  <a:pt x="58142" y="197805"/>
                </a:lnTo>
                <a:lnTo>
                  <a:pt x="47729" y="190368"/>
                </a:lnTo>
                <a:lnTo>
                  <a:pt x="26370" y="15568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0089" y="86744"/>
                </a:lnTo>
                <a:lnTo>
                  <a:pt x="31864" y="42138"/>
                </a:lnTo>
                <a:lnTo>
                  <a:pt x="58324" y="13915"/>
                </a:lnTo>
                <a:lnTo>
                  <a:pt x="70535" y="8597"/>
                </a:lnTo>
                <a:lnTo>
                  <a:pt x="67525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3" name="Google Shape;993;p73"/>
          <p:cNvSpPr txBox="1"/>
          <p:nvPr/>
        </p:nvSpPr>
        <p:spPr>
          <a:xfrm>
            <a:off x="6327414" y="4899230"/>
            <a:ext cx="1560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r>
              <a:rPr baseline="-25000" lang="en-US" sz="19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𝜃 </a:t>
            </a: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= 1 − cos   </a:t>
            </a:r>
            <a:r>
              <a:rPr lang="en-US" sz="1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4" name="Google Shape;994;p7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5" name="Google Shape;995;p7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96" name="Google Shape;996;p7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7" name="Google Shape;997;p7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3" name="Google Shape;1003;p7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339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Cosine Distance</a:t>
            </a:r>
            <a:endParaRPr/>
          </a:p>
        </p:txBody>
      </p:sp>
      <p:sp>
        <p:nvSpPr>
          <p:cNvPr id="1004" name="Google Shape;1004;p7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5" name="Google Shape;1005;p7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06" name="Google Shape;1006;p7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7" name="Google Shape;1007;p7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8" name="Google Shape;100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875" y="1030713"/>
            <a:ext cx="9035787" cy="5347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4" name="Google Shape;1014;p7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Cosine Distance</a:t>
            </a:r>
            <a:endParaRPr/>
          </a:p>
        </p:txBody>
      </p:sp>
      <p:sp>
        <p:nvSpPr>
          <p:cNvPr id="1015" name="Google Shape;1015;p75"/>
          <p:cNvSpPr txBox="1"/>
          <p:nvPr/>
        </p:nvSpPr>
        <p:spPr>
          <a:xfrm>
            <a:off x="535950" y="961900"/>
            <a:ext cx="111444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cosine distance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Angle 0 degree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(cosine distance = 0)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for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identical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 vectors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Angle 90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degrees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(cosine distance = 1)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for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dissimilar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 vectors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0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Application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Used when </a:t>
            </a:r>
            <a:r>
              <a:rPr lang="en-US" sz="28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magnitude</a:t>
            </a:r>
            <a:r>
              <a:rPr lang="en-US" sz="28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	the vector does not have 	much significance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16" name="Google Shape;1016;p7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7" name="Google Shape;1017;p7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18" name="Google Shape;1018;p7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9" name="Google Shape;1019;p7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6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5" name="Google Shape;1025;p7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129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Matching Example</a:t>
            </a:r>
            <a:endParaRPr/>
          </a:p>
        </p:txBody>
      </p:sp>
      <p:sp>
        <p:nvSpPr>
          <p:cNvPr id="1026" name="Google Shape;1026;p76"/>
          <p:cNvSpPr txBox="1"/>
          <p:nvPr/>
        </p:nvSpPr>
        <p:spPr>
          <a:xfrm>
            <a:off x="1913028" y="3711955"/>
            <a:ext cx="22402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Image – 1 (200 x 200)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027" name="Google Shape;1027;p76"/>
          <p:cNvSpPr txBox="1"/>
          <p:nvPr/>
        </p:nvSpPr>
        <p:spPr>
          <a:xfrm>
            <a:off x="4518154" y="3164687"/>
            <a:ext cx="21831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Image – 2 (100 x 100)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028" name="Google Shape;102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604" y="1028700"/>
            <a:ext cx="2519933" cy="265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4232" y="1796796"/>
            <a:ext cx="1260335" cy="1327403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6"/>
          <p:cNvSpPr txBox="1"/>
          <p:nvPr/>
        </p:nvSpPr>
        <p:spPr>
          <a:xfrm>
            <a:off x="346525" y="4733625"/>
            <a:ext cx="47292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lang="en-US" sz="1950">
                <a:latin typeface="Book Antiqua"/>
                <a:ea typeface="Book Antiqua"/>
                <a:cs typeface="Book Antiqua"/>
                <a:sym typeface="Book Antiqua"/>
              </a:rPr>
              <a:t>2 </a:t>
            </a: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= [a,	b,	c,	d,	e,	f,	g,	h],</a:t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lang="en-US" sz="1950">
                <a:latin typeface="Book Antiqua"/>
                <a:ea typeface="Book Antiqua"/>
                <a:cs typeface="Book Antiqua"/>
                <a:sym typeface="Book Antiqua"/>
              </a:rPr>
              <a:t>1 </a:t>
            </a: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= [4a, 4b, 4c, 4d, 4e, 4f, 4g, 4h]</a:t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grpSp>
        <p:nvGrpSpPr>
          <p:cNvPr id="1031" name="Google Shape;1031;p76"/>
          <p:cNvGrpSpPr/>
          <p:nvPr/>
        </p:nvGrpSpPr>
        <p:grpSpPr>
          <a:xfrm>
            <a:off x="4988052" y="3829050"/>
            <a:ext cx="3778757" cy="2609849"/>
            <a:chOff x="4988052" y="3829050"/>
            <a:chExt cx="3778757" cy="2609849"/>
          </a:xfrm>
        </p:grpSpPr>
        <p:pic>
          <p:nvPicPr>
            <p:cNvPr id="1032" name="Google Shape;103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190" y="3829050"/>
              <a:ext cx="312419" cy="2609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76"/>
            <p:cNvSpPr/>
            <p:nvPr/>
          </p:nvSpPr>
          <p:spPr>
            <a:xfrm>
              <a:off x="5486400" y="4057654"/>
              <a:ext cx="0" cy="2317750"/>
            </a:xfrm>
            <a:custGeom>
              <a:rect b="b" l="l" r="r" t="t"/>
              <a:pathLst>
                <a:path extrusionOk="0" h="2317750" w="120000">
                  <a:moveTo>
                    <a:pt x="0" y="231728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76"/>
            <p:cNvSpPr/>
            <p:nvPr/>
          </p:nvSpPr>
          <p:spPr>
            <a:xfrm>
              <a:off x="5429256" y="3962397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796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35" name="Google Shape;1035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88052" y="6115049"/>
              <a:ext cx="3778757" cy="312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76"/>
            <p:cNvSpPr/>
            <p:nvPr/>
          </p:nvSpPr>
          <p:spPr>
            <a:xfrm>
              <a:off x="5029200" y="6248399"/>
              <a:ext cx="3486150" cy="0"/>
            </a:xfrm>
            <a:custGeom>
              <a:rect b="b" l="l" r="r" t="t"/>
              <a:pathLst>
                <a:path extrusionOk="0" h="120000" w="3486150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cap="flat" cmpd="sng" w="3810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76"/>
            <p:cNvSpPr/>
            <p:nvPr/>
          </p:nvSpPr>
          <p:spPr>
            <a:xfrm>
              <a:off x="8496302" y="6191244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96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38" name="Google Shape;1038;p76"/>
          <p:cNvSpPr txBox="1"/>
          <p:nvPr/>
        </p:nvSpPr>
        <p:spPr>
          <a:xfrm>
            <a:off x="6271703" y="3717932"/>
            <a:ext cx="19138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8-dimensional space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9" name="Google Shape;1039;p76"/>
          <p:cNvGrpSpPr/>
          <p:nvPr/>
        </p:nvGrpSpPr>
        <p:grpSpPr>
          <a:xfrm>
            <a:off x="5423154" y="3816858"/>
            <a:ext cx="3382517" cy="2526791"/>
            <a:chOff x="5423154" y="3816858"/>
            <a:chExt cx="3382517" cy="2526791"/>
          </a:xfrm>
        </p:grpSpPr>
        <p:pic>
          <p:nvPicPr>
            <p:cNvPr id="1040" name="Google Shape;1040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23154" y="3816858"/>
              <a:ext cx="3382517" cy="2526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76"/>
            <p:cNvSpPr/>
            <p:nvPr/>
          </p:nvSpPr>
          <p:spPr>
            <a:xfrm>
              <a:off x="5486400" y="4176200"/>
              <a:ext cx="2893695" cy="2072639"/>
            </a:xfrm>
            <a:custGeom>
              <a:rect b="b" l="l" r="r" t="t"/>
              <a:pathLst>
                <a:path extrusionOk="0" h="2072639" w="2893695">
                  <a:moveTo>
                    <a:pt x="0" y="2072436"/>
                  </a:moveTo>
                  <a:lnTo>
                    <a:pt x="2893136" y="0"/>
                  </a:lnTo>
                </a:path>
              </a:pathLst>
            </a:custGeom>
            <a:noFill/>
            <a:ln cap="flat" cmpd="sng" w="76200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76"/>
            <p:cNvSpPr/>
            <p:nvPr/>
          </p:nvSpPr>
          <p:spPr>
            <a:xfrm>
              <a:off x="8281997" y="4065270"/>
              <a:ext cx="252729" cy="226060"/>
            </a:xfrm>
            <a:custGeom>
              <a:rect b="b" l="l" r="r" t="t"/>
              <a:pathLst>
                <a:path extrusionOk="0" h="226060" w="252729">
                  <a:moveTo>
                    <a:pt x="252399" y="0"/>
                  </a:moveTo>
                  <a:lnTo>
                    <a:pt x="0" y="40208"/>
                  </a:lnTo>
                  <a:lnTo>
                    <a:pt x="133134" y="226047"/>
                  </a:lnTo>
                  <a:lnTo>
                    <a:pt x="252399" y="0"/>
                  </a:lnTo>
                  <a:close/>
                </a:path>
              </a:pathLst>
            </a:custGeom>
            <a:solidFill>
              <a:srgbClr val="9BBB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43" name="Google Shape;1043;p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34584" y="5173218"/>
              <a:ext cx="1579625" cy="1164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76"/>
            <p:cNvSpPr/>
            <p:nvPr/>
          </p:nvSpPr>
          <p:spPr>
            <a:xfrm>
              <a:off x="5486400" y="5360853"/>
              <a:ext cx="1293495" cy="897255"/>
            </a:xfrm>
            <a:custGeom>
              <a:rect b="b" l="l" r="r" t="t"/>
              <a:pathLst>
                <a:path extrusionOk="0" h="897254" w="1293495">
                  <a:moveTo>
                    <a:pt x="0" y="896950"/>
                  </a:moveTo>
                  <a:lnTo>
                    <a:pt x="1293329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76"/>
            <p:cNvSpPr/>
            <p:nvPr/>
          </p:nvSpPr>
          <p:spPr>
            <a:xfrm>
              <a:off x="6731513" y="5306566"/>
              <a:ext cx="127000" cy="112395"/>
            </a:xfrm>
            <a:custGeom>
              <a:rect b="b" l="l" r="r" t="t"/>
              <a:pathLst>
                <a:path extrusionOk="0" h="112395" w="127000">
                  <a:moveTo>
                    <a:pt x="126492" y="0"/>
                  </a:moveTo>
                  <a:lnTo>
                    <a:pt x="0" y="18186"/>
                  </a:lnTo>
                  <a:lnTo>
                    <a:pt x="65138" y="112102"/>
                  </a:lnTo>
                  <a:lnTo>
                    <a:pt x="1264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46" name="Google Shape;1046;p76"/>
          <p:cNvSpPr txBox="1"/>
          <p:nvPr/>
        </p:nvSpPr>
        <p:spPr>
          <a:xfrm>
            <a:off x="8436954" y="4366586"/>
            <a:ext cx="3429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lang="en-US" sz="1800"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baseline="-25000"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047" name="Google Shape;1047;p76"/>
          <p:cNvSpPr txBox="1"/>
          <p:nvPr/>
        </p:nvSpPr>
        <p:spPr>
          <a:xfrm>
            <a:off x="6845835" y="5317129"/>
            <a:ext cx="3429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lang="en-US" sz="1800"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baseline="-25000"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048" name="Google Shape;1048;p76"/>
          <p:cNvSpPr txBox="1"/>
          <p:nvPr/>
        </p:nvSpPr>
        <p:spPr>
          <a:xfrm>
            <a:off x="1297939" y="5787513"/>
            <a:ext cx="18268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Book Antiqua"/>
                <a:ea typeface="Book Antiqua"/>
                <a:cs typeface="Book Antiqua"/>
                <a:sym typeface="Book Antiqua"/>
              </a:rPr>
              <a:t>Cosine distance = 0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049" name="Google Shape;1049;p7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0" name="Google Shape;1050;p76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51" name="Google Shape;1051;p7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2" name="Google Shape;1052;p7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7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8" name="Google Shape;1058;p7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9503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Cosine Distance - </a:t>
            </a:r>
            <a:r>
              <a:rPr i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Applications</a:t>
            </a:r>
            <a:endParaRPr/>
          </a:p>
        </p:txBody>
      </p:sp>
      <p:sp>
        <p:nvSpPr>
          <p:cNvPr id="1059" name="Google Shape;1059;p77"/>
          <p:cNvSpPr txBox="1"/>
          <p:nvPr/>
        </p:nvSpPr>
        <p:spPr>
          <a:xfrm>
            <a:off x="444715" y="1044263"/>
            <a:ext cx="80034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Documents matching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just">
              <a:lnSpc>
                <a:spcPct val="108076"/>
              </a:lnSpc>
              <a:spcBef>
                <a:spcPts val="69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Two documents may be considered </a:t>
            </a:r>
            <a:r>
              <a:rPr b="1"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same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if they have 	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certain important words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 with same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frequency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1032510" rtl="0" algn="just">
              <a:lnSpc>
                <a:spcPct val="108076"/>
              </a:lnSpc>
              <a:spcBef>
                <a:spcPts val="62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However, a document with, say,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twice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as many occurrences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of all words compared to another document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will be regarded as </a:t>
            </a:r>
            <a:r>
              <a:rPr b="1"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identical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.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60" name="Google Shape;106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025" y="3501401"/>
            <a:ext cx="3517375" cy="23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478" y="3891918"/>
            <a:ext cx="4113184" cy="2085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77"/>
          <p:cNvSpPr txBox="1"/>
          <p:nvPr/>
        </p:nvSpPr>
        <p:spPr>
          <a:xfrm>
            <a:off x="124974" y="6160104"/>
            <a:ext cx="750379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i="1" lang="en-US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https://nickgrattan.wordpress.com/2014/06/10/euclidean-manhattan-and-cosine-distance-measures-in-c/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7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4" name="Google Shape;1064;p77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65" name="Google Shape;1065;p7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6" name="Google Shape;1066;p7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1" name="Google Shape;1071;p78"/>
          <p:cNvGrpSpPr/>
          <p:nvPr/>
        </p:nvGrpSpPr>
        <p:grpSpPr>
          <a:xfrm>
            <a:off x="228981" y="974978"/>
            <a:ext cx="8686800" cy="2507085"/>
            <a:chOff x="228981" y="974978"/>
            <a:chExt cx="8686800" cy="2507085"/>
          </a:xfrm>
        </p:grpSpPr>
        <p:sp>
          <p:nvSpPr>
            <p:cNvPr id="1072" name="Google Shape;1072;p78"/>
            <p:cNvSpPr/>
            <p:nvPr/>
          </p:nvSpPr>
          <p:spPr>
            <a:xfrm>
              <a:off x="228981" y="974978"/>
              <a:ext cx="8686800" cy="0"/>
            </a:xfrm>
            <a:custGeom>
              <a:rect b="b" l="l" r="r" t="t"/>
              <a:pathLst>
                <a:path extrusionOk="0" h="120000" w="8686800">
                  <a:moveTo>
                    <a:pt x="0" y="0"/>
                  </a:moveTo>
                  <a:lnTo>
                    <a:pt x="86868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73" name="Google Shape;1073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2216" y="1015746"/>
              <a:ext cx="3270592" cy="2466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4" name="Google Shape;1074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2166" y="990599"/>
              <a:ext cx="3279227" cy="2472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5" name="Google Shape;1075;p78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	three Distances</a:t>
            </a:r>
            <a:endParaRPr/>
          </a:p>
        </p:txBody>
      </p:sp>
      <p:pic>
        <p:nvPicPr>
          <p:cNvPr id="1076" name="Google Shape;1076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9331" y="3880866"/>
            <a:ext cx="3359867" cy="24532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7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8" name="Google Shape;1078;p78"/>
          <p:cNvSpPr txBox="1"/>
          <p:nvPr>
            <p:ph idx="4294967295" type="ftr"/>
          </p:nvPr>
        </p:nvSpPr>
        <p:spPr>
          <a:xfrm>
            <a:off x="439942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79" name="Google Shape;1079;p7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79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5" name="Google Shape;1085;p7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4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Bhattacharyya Distance</a:t>
            </a:r>
            <a:endParaRPr/>
          </a:p>
        </p:txBody>
      </p:sp>
      <p:sp>
        <p:nvSpPr>
          <p:cNvPr id="1086" name="Google Shape;1086;p79"/>
          <p:cNvSpPr txBox="1"/>
          <p:nvPr/>
        </p:nvSpPr>
        <p:spPr>
          <a:xfrm>
            <a:off x="273575" y="1168300"/>
            <a:ext cx="91449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4140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It is based on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Bhattacharyya coefficient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Bhattacharyya coefficient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50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an approximate </a:t>
            </a:r>
            <a:r>
              <a:rPr lang="en-US" sz="28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measurement</a:t>
            </a:r>
            <a:r>
              <a:rPr lang="en-US" sz="2800" u="none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 the amount of	</a:t>
            </a:r>
            <a:r>
              <a:rPr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overlap between </a:t>
            </a: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two </a:t>
            </a:r>
            <a:r>
              <a:rPr lang="en-US" sz="28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statistical</a:t>
            </a:r>
            <a:r>
              <a:rPr lang="en-US" sz="2800" u="none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samples/distribution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323215" rtl="0" algn="l">
              <a:lnSpc>
                <a:spcPct val="100000"/>
              </a:lnSpc>
              <a:spcBef>
                <a:spcPts val="297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coefficient can be used to determine the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relative closeness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 the two samples being considered.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87" name="Google Shape;1087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5525" y="1168300"/>
            <a:ext cx="2386583" cy="236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79"/>
          <p:cNvSpPr txBox="1"/>
          <p:nvPr/>
        </p:nvSpPr>
        <p:spPr>
          <a:xfrm>
            <a:off x="154939" y="6161559"/>
            <a:ext cx="37211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 u="sng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Image source</a:t>
            </a:r>
            <a:r>
              <a:rPr i="1" lang="en-US" sz="1200" u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: https://doi.org/10.1016/j.ymssp.2019.04.035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7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0" name="Google Shape;1090;p79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91" name="Google Shape;1091;p7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2" name="Google Shape;1092;p7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0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8" name="Google Shape;1098;p8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4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Bhattacharyya Distance</a:t>
            </a:r>
            <a:endParaRPr/>
          </a:p>
        </p:txBody>
      </p:sp>
      <p:sp>
        <p:nvSpPr>
          <p:cNvPr id="1099" name="Google Shape;1099;p80"/>
          <p:cNvSpPr txBox="1"/>
          <p:nvPr/>
        </p:nvSpPr>
        <p:spPr>
          <a:xfrm>
            <a:off x="535950" y="942875"/>
            <a:ext cx="11117100" cy="4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Bhattacharyya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It is based on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Bhattacharyya coefficient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219709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statistics, the Bhattacharyya distance measures the similarity of	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two discrete or continuous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probability distributions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Bhattacharyya Coefficient and Distance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Both measures are named after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Anil Kumar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Bhattacharya, (ISI Kolkata, 1930)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00" name="Google Shape;1100;p8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1" name="Google Shape;1101;p80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02" name="Google Shape;1102;p8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3" name="Google Shape;1103;p8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1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9" name="Google Shape;1109;p8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36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Defining </a:t>
            </a:r>
            <a:r>
              <a:rPr lang="en-US"/>
              <a:t>Bhattacharyya Coefficient</a:t>
            </a:r>
            <a:endParaRPr/>
          </a:p>
        </p:txBody>
      </p:sp>
      <p:sp>
        <p:nvSpPr>
          <p:cNvPr id="1110" name="Google Shape;1110;p8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1" name="Google Shape;1111;p81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12" name="Google Shape;1112;p8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3" name="Google Shape;1113;p8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4" name="Google Shape;111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00" y="990813"/>
            <a:ext cx="9127874" cy="534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2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0" name="Google Shape;1120;p8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4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Bhattacharyya Distance</a:t>
            </a:r>
            <a:endParaRPr/>
          </a:p>
        </p:txBody>
      </p:sp>
      <p:sp>
        <p:nvSpPr>
          <p:cNvPr id="1121" name="Google Shape;1121;p8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2" name="Google Shape;1122;p82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23" name="Google Shape;1123;p8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4" name="Google Shape;1124;p8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5" name="Google Shape;112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00" y="1106525"/>
            <a:ext cx="8085101" cy="52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83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1" name="Google Shape;1131;p8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4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Bhattacharyya Distance</a:t>
            </a:r>
            <a:endParaRPr/>
          </a:p>
        </p:txBody>
      </p:sp>
      <p:sp>
        <p:nvSpPr>
          <p:cNvPr id="1132" name="Google Shape;1132;p83"/>
          <p:cNvSpPr txBox="1"/>
          <p:nvPr/>
        </p:nvSpPr>
        <p:spPr>
          <a:xfrm>
            <a:off x="485154" y="1013465"/>
            <a:ext cx="11222400" cy="5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Bhattacharya Coefficient: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14038"/>
              </a:lnSpc>
              <a:spcBef>
                <a:spcPts val="34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Measures cosine angle between (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√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√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, .. , 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√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) and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0" lvl="0" marL="805815" rtl="0" algn="l">
              <a:lnSpc>
                <a:spcPct val="11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=(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√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√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, .. , 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√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429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Hellinger Distance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333438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H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= 1 – B(x,y)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–"/>
            </a:pP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Metric?	Yes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376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Bhattacharya Distance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3300729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2550">
                <a:latin typeface="Bell MT"/>
                <a:ea typeface="Bell MT"/>
                <a:cs typeface="Bell MT"/>
                <a:sym typeface="Bell MT"/>
              </a:rPr>
              <a:t>B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=	- ln B(x,y)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–"/>
            </a:pP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Metric?	No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33" name="Google Shape;1133;p8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4" name="Google Shape;1134;p83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35" name="Google Shape;1135;p8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6" name="Google Shape;1136;p8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4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2" name="Google Shape;1142;p84"/>
          <p:cNvSpPr txBox="1"/>
          <p:nvPr/>
        </p:nvSpPr>
        <p:spPr>
          <a:xfrm>
            <a:off x="459755" y="982475"/>
            <a:ext cx="10632600" cy="18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Is Bhattacharyya Distance a metric distance?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No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Explanation: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3" name="Google Shape;1143;p8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4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Bhattacharyya Distance</a:t>
            </a:r>
            <a:endParaRPr/>
          </a:p>
        </p:txBody>
      </p:sp>
      <p:sp>
        <p:nvSpPr>
          <p:cNvPr id="1144" name="Google Shape;1144;p8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5" name="Google Shape;1145;p84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46" name="Google Shape;1146;p8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7" name="Google Shape;1147;p8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8" name="Google Shape;114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88" y="3078463"/>
            <a:ext cx="8931275" cy="27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5"/>
          <p:cNvSpPr/>
          <p:nvPr/>
        </p:nvSpPr>
        <p:spPr>
          <a:xfrm>
            <a:off x="228981" y="974978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4" name="Google Shape;1154;p8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4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Bhattacharyya Distance</a:t>
            </a:r>
            <a:endParaRPr/>
          </a:p>
        </p:txBody>
      </p:sp>
      <p:sp>
        <p:nvSpPr>
          <p:cNvPr id="1155" name="Google Shape;1155;p85"/>
          <p:cNvSpPr txBox="1"/>
          <p:nvPr/>
        </p:nvSpPr>
        <p:spPr>
          <a:xfrm>
            <a:off x="535940" y="2234438"/>
            <a:ext cx="12452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Since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56" name="Google Shape;1156;p85"/>
          <p:cNvSpPr txBox="1"/>
          <p:nvPr/>
        </p:nvSpPr>
        <p:spPr>
          <a:xfrm>
            <a:off x="500200" y="2916500"/>
            <a:ext cx="114606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5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Hence 0 ≤	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B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&lt;	</a:t>
            </a:r>
            <a:r>
              <a:rPr lang="en-US" sz="3200"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endParaRPr sz="32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393700" marR="39751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It is clear from the above equation that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Bhattacharyya Distance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does not follow the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triangle inequality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93700" marR="304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Hence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Bhattacharyya Distance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is not a metric distance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57" name="Google Shape;1157;p85"/>
          <p:cNvSpPr txBox="1"/>
          <p:nvPr/>
        </p:nvSpPr>
        <p:spPr>
          <a:xfrm>
            <a:off x="2035059" y="1288796"/>
            <a:ext cx="42042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3646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aseline="-25000" i="1" lang="en-US" sz="3600">
                <a:latin typeface="Bell MT"/>
                <a:ea typeface="Bell MT"/>
                <a:cs typeface="Bell MT"/>
                <a:sym typeface="Bell MT"/>
              </a:rPr>
              <a:t>B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=	- ln B(x,y)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3125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0 ≤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B(x, y)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≤ 1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58" name="Google Shape;1158;p8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9" name="Google Shape;1159;p85"/>
          <p:cNvSpPr txBox="1"/>
          <p:nvPr>
            <p:ph idx="11" type="ftr"/>
          </p:nvPr>
        </p:nvSpPr>
        <p:spPr>
          <a:xfrm>
            <a:off x="363639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60" name="Google Shape;1160;p8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1" name="Google Shape;1161;p8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8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7" name="Google Shape;1167;p86"/>
          <p:cNvSpPr txBox="1"/>
          <p:nvPr>
            <p:ph idx="4294967295" type="ftr"/>
          </p:nvPr>
        </p:nvSpPr>
        <p:spPr>
          <a:xfrm>
            <a:off x="4398678" y="65481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68" name="Google Shape;1168;p8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