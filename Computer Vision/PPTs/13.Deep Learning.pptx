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3"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Lst>
  <p:sldSz cy="5143500" cx="9144000"/>
  <p:notesSz cx="9144000" cy="5143500"/>
  <p:embeddedFontLst>
    <p:embeddedFont>
      <p:font typeface="Arial Black"/>
      <p:regular r:id="rId58"/>
    </p:embeddedFont>
    <p:embeddedFont>
      <p:font typeface="Cambria Math"/>
      <p:regular r:id="rId5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000000"/>
          </p15:clr>
        </p15:guide>
        <p15:guide id="2" pos="216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font" Target="fonts/CambriaMath-regular.fntdata"/><Relationship Id="rId14" Type="http://schemas.openxmlformats.org/officeDocument/2006/relationships/slide" Target="slides/slide9.xml"/><Relationship Id="rId58" Type="http://schemas.openxmlformats.org/officeDocument/2006/relationships/font" Target="fonts/ArialBlack-regular.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914400" y="2443150"/>
            <a:ext cx="7315200" cy="2314575"/>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 name="Shape 42"/>
        <p:cNvGrpSpPr/>
        <p:nvPr/>
      </p:nvGrpSpPr>
      <p:grpSpPr>
        <a:xfrm>
          <a:off x="0" y="0"/>
          <a:ext cx="0" cy="0"/>
          <a:chOff x="0" y="0"/>
          <a:chExt cx="0" cy="0"/>
        </a:xfrm>
      </p:grpSpPr>
      <p:sp>
        <p:nvSpPr>
          <p:cNvPr id="43" name="Google Shape;43;p1: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1: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p2: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2: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3: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3: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4: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4: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5: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5: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6: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6: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7: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7: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8: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8: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9: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9: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0: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0: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11: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1: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2: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2: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3: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3: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4: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4: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5: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15: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6: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6: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7: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7: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8: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8: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9: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9: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0: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20: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21: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21: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22: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22: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23: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23: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24: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24: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25: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25: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26: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26: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27: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27: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28: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28: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29: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29: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30: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30: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31: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31: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32: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32: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33: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33: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34: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34: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35: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35: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36: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36: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37: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37: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38: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38: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39: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39: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40: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40: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41: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41: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p42: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42: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43: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43: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44: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44: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p45: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45: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p46: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46: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p47: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47: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p48: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48: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p49: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49: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p50: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50: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p51: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51: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p52:notes"/>
          <p:cNvSpPr txBox="1"/>
          <p:nvPr>
            <p:ph idx="1" type="body"/>
          </p:nvPr>
        </p:nvSpPr>
        <p:spPr>
          <a:xfrm>
            <a:off x="914400" y="2443150"/>
            <a:ext cx="7315200" cy="23145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52: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obj">
  <p:cSld name="OBJECT">
    <p:bg>
      <p:bgPr>
        <a:solidFill>
          <a:schemeClr val="lt1"/>
        </a:solidFill>
      </p:bgPr>
    </p:bg>
    <p:spTree>
      <p:nvGrpSpPr>
        <p:cNvPr id="14" name="Shape 14"/>
        <p:cNvGrpSpPr/>
        <p:nvPr/>
      </p:nvGrpSpPr>
      <p:grpSpPr>
        <a:xfrm>
          <a:off x="0" y="0"/>
          <a:ext cx="0" cy="0"/>
          <a:chOff x="0" y="0"/>
          <a:chExt cx="0" cy="0"/>
        </a:xfrm>
      </p:grpSpPr>
      <p:sp>
        <p:nvSpPr>
          <p:cNvPr id="15" name="Google Shape;15;p2"/>
          <p:cNvSpPr txBox="1"/>
          <p:nvPr>
            <p:ph type="ctrTitle"/>
          </p:nvPr>
        </p:nvSpPr>
        <p:spPr>
          <a:xfrm>
            <a:off x="1338371" y="915057"/>
            <a:ext cx="3849370" cy="51371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3600">
                <a:solidFill>
                  <a:srgbClr val="3E3E3E"/>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 name="Google Shape;16;p2"/>
          <p:cNvSpPr txBox="1"/>
          <p:nvPr>
            <p:ph idx="1" type="subTitle"/>
          </p:nvPr>
        </p:nvSpPr>
        <p:spPr>
          <a:xfrm>
            <a:off x="1371600" y="2880360"/>
            <a:ext cx="6400800" cy="12858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2700">
                <a:solidFill>
                  <a:srgbClr val="3E3E3E"/>
                </a:solidFill>
                <a:latin typeface="Times New Roman"/>
                <a:ea typeface="Times New Roman"/>
                <a:cs typeface="Times New Roman"/>
                <a:sym typeface="Times New Roman"/>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2"/>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2"/>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2"/>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20" name="Shape 20"/>
        <p:cNvGrpSpPr/>
        <p:nvPr/>
      </p:nvGrpSpPr>
      <p:grpSpPr>
        <a:xfrm>
          <a:off x="0" y="0"/>
          <a:ext cx="0" cy="0"/>
          <a:chOff x="0" y="0"/>
          <a:chExt cx="0" cy="0"/>
        </a:xfrm>
      </p:grpSpPr>
      <p:sp>
        <p:nvSpPr>
          <p:cNvPr id="21" name="Google Shape;21;p3"/>
          <p:cNvSpPr txBox="1"/>
          <p:nvPr>
            <p:ph type="title"/>
          </p:nvPr>
        </p:nvSpPr>
        <p:spPr>
          <a:xfrm>
            <a:off x="78739" y="118636"/>
            <a:ext cx="8986520" cy="57404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3600">
                <a:solidFill>
                  <a:srgbClr val="3E3E3E"/>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3"/>
          <p:cNvSpPr txBox="1"/>
          <p:nvPr>
            <p:ph idx="1" type="body"/>
          </p:nvPr>
        </p:nvSpPr>
        <p:spPr>
          <a:xfrm>
            <a:off x="782444" y="924582"/>
            <a:ext cx="7579111" cy="1463039"/>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0" i="0" sz="2700">
                <a:solidFill>
                  <a:srgbClr val="3E3E3E"/>
                </a:solidFill>
                <a:latin typeface="Times New Roman"/>
                <a:ea typeface="Times New Roman"/>
                <a:cs typeface="Times New Roman"/>
                <a:sym typeface="Times New Roman"/>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3" name="Google Shape;23;p3"/>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3"/>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3"/>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26" name="Shape 26"/>
        <p:cNvGrpSpPr/>
        <p:nvPr/>
      </p:nvGrpSpPr>
      <p:grpSpPr>
        <a:xfrm>
          <a:off x="0" y="0"/>
          <a:ext cx="0" cy="0"/>
          <a:chOff x="0" y="0"/>
          <a:chExt cx="0" cy="0"/>
        </a:xfrm>
      </p:grpSpPr>
      <p:sp>
        <p:nvSpPr>
          <p:cNvPr id="27" name="Google Shape;27;p4"/>
          <p:cNvSpPr txBox="1"/>
          <p:nvPr>
            <p:ph type="title"/>
          </p:nvPr>
        </p:nvSpPr>
        <p:spPr>
          <a:xfrm>
            <a:off x="78739" y="118636"/>
            <a:ext cx="8986520" cy="57404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3600">
                <a:solidFill>
                  <a:srgbClr val="3E3E3E"/>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4"/>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4"/>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4"/>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1" name="Shape 31"/>
        <p:cNvGrpSpPr/>
        <p:nvPr/>
      </p:nvGrpSpPr>
      <p:grpSpPr>
        <a:xfrm>
          <a:off x="0" y="0"/>
          <a:ext cx="0" cy="0"/>
          <a:chOff x="0" y="0"/>
          <a:chExt cx="0" cy="0"/>
        </a:xfrm>
      </p:grpSpPr>
      <p:sp>
        <p:nvSpPr>
          <p:cNvPr id="32" name="Google Shape;32;p5"/>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5"/>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5"/>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35" name="Shape 35"/>
        <p:cNvGrpSpPr/>
        <p:nvPr/>
      </p:nvGrpSpPr>
      <p:grpSpPr>
        <a:xfrm>
          <a:off x="0" y="0"/>
          <a:ext cx="0" cy="0"/>
          <a:chOff x="0" y="0"/>
          <a:chExt cx="0" cy="0"/>
        </a:xfrm>
      </p:grpSpPr>
      <p:sp>
        <p:nvSpPr>
          <p:cNvPr id="36" name="Google Shape;36;p6"/>
          <p:cNvSpPr txBox="1"/>
          <p:nvPr>
            <p:ph type="title"/>
          </p:nvPr>
        </p:nvSpPr>
        <p:spPr>
          <a:xfrm>
            <a:off x="78739" y="118636"/>
            <a:ext cx="8986520" cy="57404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3600">
                <a:solidFill>
                  <a:srgbClr val="3E3E3E"/>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 name="Google Shape;37;p6"/>
          <p:cNvSpPr txBox="1"/>
          <p:nvPr>
            <p:ph idx="1" type="body"/>
          </p:nvPr>
        </p:nvSpPr>
        <p:spPr>
          <a:xfrm>
            <a:off x="457200" y="1183005"/>
            <a:ext cx="3977640" cy="339471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8" name="Google Shape;38;p6"/>
          <p:cNvSpPr txBox="1"/>
          <p:nvPr>
            <p:ph idx="2" type="body"/>
          </p:nvPr>
        </p:nvSpPr>
        <p:spPr>
          <a:xfrm>
            <a:off x="4709160" y="1183005"/>
            <a:ext cx="3977640" cy="339471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9" name="Google Shape;39;p6"/>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6"/>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 name="Google Shape;41;p6"/>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pic>
        <p:nvPicPr>
          <p:cNvPr id="6" name="Google Shape;6;p1"/>
          <p:cNvPicPr preferRelativeResize="0"/>
          <p:nvPr/>
        </p:nvPicPr>
        <p:blipFill rotWithShape="1">
          <a:blip r:embed="rId1">
            <a:alphaModFix/>
          </a:blip>
          <a:srcRect b="0" l="0" r="0" t="0"/>
          <a:stretch/>
        </p:blipFill>
        <p:spPr>
          <a:xfrm>
            <a:off x="175260" y="873252"/>
            <a:ext cx="8945879" cy="161543"/>
          </a:xfrm>
          <a:prstGeom prst="rect">
            <a:avLst/>
          </a:prstGeom>
          <a:noFill/>
          <a:ln>
            <a:noFill/>
          </a:ln>
        </p:spPr>
      </p:pic>
      <p:sp>
        <p:nvSpPr>
          <p:cNvPr id="7" name="Google Shape;7;p1"/>
          <p:cNvSpPr/>
          <p:nvPr/>
        </p:nvSpPr>
        <p:spPr>
          <a:xfrm>
            <a:off x="255711" y="934615"/>
            <a:ext cx="8785225" cy="0"/>
          </a:xfrm>
          <a:custGeom>
            <a:rect b="b" l="l" r="r" t="t"/>
            <a:pathLst>
              <a:path extrusionOk="0" h="120000" w="8785225">
                <a:moveTo>
                  <a:pt x="0" y="0"/>
                </a:moveTo>
                <a:lnTo>
                  <a:pt x="38100" y="0"/>
                </a:lnTo>
                <a:lnTo>
                  <a:pt x="8746871" y="0"/>
                </a:lnTo>
                <a:lnTo>
                  <a:pt x="8784971" y="0"/>
                </a:lnTo>
              </a:path>
            </a:pathLst>
          </a:custGeom>
          <a:noFill/>
          <a:ln cap="flat" cmpd="sng" w="25400">
            <a:solidFill>
              <a:srgbClr val="C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8" name="Google Shape;8;p1"/>
          <p:cNvSpPr/>
          <p:nvPr/>
        </p:nvSpPr>
        <p:spPr>
          <a:xfrm>
            <a:off x="217601" y="896518"/>
            <a:ext cx="8861425" cy="76200"/>
          </a:xfrm>
          <a:custGeom>
            <a:rect b="b" l="l" r="r" t="t"/>
            <a:pathLst>
              <a:path extrusionOk="0" h="76200" w="8861425">
                <a:moveTo>
                  <a:pt x="76200" y="38100"/>
                </a:moveTo>
                <a:lnTo>
                  <a:pt x="38100" y="0"/>
                </a:lnTo>
                <a:lnTo>
                  <a:pt x="0" y="38100"/>
                </a:lnTo>
                <a:lnTo>
                  <a:pt x="38100" y="76200"/>
                </a:lnTo>
                <a:lnTo>
                  <a:pt x="76200" y="38100"/>
                </a:lnTo>
                <a:close/>
              </a:path>
              <a:path extrusionOk="0" h="76200" w="8861425">
                <a:moveTo>
                  <a:pt x="8861184" y="38100"/>
                </a:moveTo>
                <a:lnTo>
                  <a:pt x="8823084" y="0"/>
                </a:lnTo>
                <a:lnTo>
                  <a:pt x="8784984" y="38100"/>
                </a:lnTo>
                <a:lnTo>
                  <a:pt x="8823084" y="76200"/>
                </a:lnTo>
                <a:lnTo>
                  <a:pt x="8861184" y="38100"/>
                </a:lnTo>
                <a:close/>
              </a:path>
            </a:pathLst>
          </a:custGeom>
          <a:solidFill>
            <a:srgbClr val="C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9" name="Google Shape;9;p1"/>
          <p:cNvSpPr txBox="1"/>
          <p:nvPr>
            <p:ph type="title"/>
          </p:nvPr>
        </p:nvSpPr>
        <p:spPr>
          <a:xfrm>
            <a:off x="78739" y="118636"/>
            <a:ext cx="8986520" cy="574040"/>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1" i="0" sz="3600" u="none" cap="none" strike="noStrike">
                <a:solidFill>
                  <a:srgbClr val="3E3E3E"/>
                </a:solidFill>
                <a:latin typeface="Times New Roman"/>
                <a:ea typeface="Times New Roman"/>
                <a:cs typeface="Times New Roman"/>
                <a:sym typeface="Times New Roman"/>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0" name="Google Shape;10;p1"/>
          <p:cNvSpPr txBox="1"/>
          <p:nvPr>
            <p:ph idx="1" type="body"/>
          </p:nvPr>
        </p:nvSpPr>
        <p:spPr>
          <a:xfrm>
            <a:off x="782444" y="924582"/>
            <a:ext cx="7579111" cy="1463039"/>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1400"/>
              <a:buNone/>
              <a:defRPr b="0" i="0" sz="2700" u="none" cap="none" strike="noStrike">
                <a:solidFill>
                  <a:srgbClr val="3E3E3E"/>
                </a:solidFill>
                <a:latin typeface="Times New Roman"/>
                <a:ea typeface="Times New Roman"/>
                <a:cs typeface="Times New Roman"/>
                <a:sym typeface="Times New Roman"/>
              </a:defRPr>
            </a:lvl1pPr>
            <a:lvl2pPr indent="-228600" lvl="1" marL="914400" marR="0" rtl="0" algn="l">
              <a:spcBef>
                <a:spcPts val="0"/>
              </a:spcBef>
              <a:spcAft>
                <a:spcPts val="0"/>
              </a:spcAft>
              <a:buSzPts val="1400"/>
              <a:buNone/>
              <a:defRPr b="0" i="0" sz="1800" u="none" cap="none" strike="noStrike">
                <a:latin typeface="Calibri"/>
                <a:ea typeface="Calibri"/>
                <a:cs typeface="Calibri"/>
                <a:sym typeface="Calibri"/>
              </a:defRPr>
            </a:lvl2pPr>
            <a:lvl3pPr indent="-228600" lvl="2" marL="1371600" marR="0" rtl="0" algn="l">
              <a:spcBef>
                <a:spcPts val="0"/>
              </a:spcBef>
              <a:spcAft>
                <a:spcPts val="0"/>
              </a:spcAft>
              <a:buSzPts val="1400"/>
              <a:buNone/>
              <a:defRPr b="0" i="0" sz="1800" u="none" cap="none" strike="noStrike">
                <a:latin typeface="Calibri"/>
                <a:ea typeface="Calibri"/>
                <a:cs typeface="Calibri"/>
                <a:sym typeface="Calibri"/>
              </a:defRPr>
            </a:lvl3pPr>
            <a:lvl4pPr indent="-228600" lvl="3" marL="1828800" marR="0" rtl="0" algn="l">
              <a:spcBef>
                <a:spcPts val="0"/>
              </a:spcBef>
              <a:spcAft>
                <a:spcPts val="0"/>
              </a:spcAft>
              <a:buSzPts val="1400"/>
              <a:buNone/>
              <a:defRPr b="0" i="0" sz="1800" u="none" cap="none" strike="noStrike">
                <a:latin typeface="Calibri"/>
                <a:ea typeface="Calibri"/>
                <a:cs typeface="Calibri"/>
                <a:sym typeface="Calibri"/>
              </a:defRPr>
            </a:lvl4pPr>
            <a:lvl5pPr indent="-228600" lvl="4" marL="2286000" marR="0" rtl="0" algn="l">
              <a:spcBef>
                <a:spcPts val="0"/>
              </a:spcBef>
              <a:spcAft>
                <a:spcPts val="0"/>
              </a:spcAft>
              <a:buSzPts val="1400"/>
              <a:buNone/>
              <a:defRPr b="0" i="0" sz="1800" u="none" cap="none" strike="noStrike">
                <a:latin typeface="Calibri"/>
                <a:ea typeface="Calibri"/>
                <a:cs typeface="Calibri"/>
                <a:sym typeface="Calibri"/>
              </a:defRPr>
            </a:lvl5pPr>
            <a:lvl6pPr indent="-228600" lvl="5" marL="2743200" marR="0" rtl="0" algn="l">
              <a:spcBef>
                <a:spcPts val="0"/>
              </a:spcBef>
              <a:spcAft>
                <a:spcPts val="0"/>
              </a:spcAft>
              <a:buSzPts val="1400"/>
              <a:buNone/>
              <a:defRPr b="0" i="0" sz="1800" u="none" cap="none" strike="noStrike">
                <a:latin typeface="Calibri"/>
                <a:ea typeface="Calibri"/>
                <a:cs typeface="Calibri"/>
                <a:sym typeface="Calibri"/>
              </a:defRPr>
            </a:lvl6pPr>
            <a:lvl7pPr indent="-228600" lvl="6" marL="3200400" marR="0" rtl="0" algn="l">
              <a:spcBef>
                <a:spcPts val="0"/>
              </a:spcBef>
              <a:spcAft>
                <a:spcPts val="0"/>
              </a:spcAft>
              <a:buSzPts val="1400"/>
              <a:buNone/>
              <a:defRPr b="0" i="0" sz="1800" u="none" cap="none" strike="noStrike">
                <a:latin typeface="Calibri"/>
                <a:ea typeface="Calibri"/>
                <a:cs typeface="Calibri"/>
                <a:sym typeface="Calibri"/>
              </a:defRPr>
            </a:lvl7pPr>
            <a:lvl8pPr indent="-228600" lvl="7" marL="3657600" marR="0" rtl="0" algn="l">
              <a:spcBef>
                <a:spcPts val="0"/>
              </a:spcBef>
              <a:spcAft>
                <a:spcPts val="0"/>
              </a:spcAft>
              <a:buSzPts val="1400"/>
              <a:buNone/>
              <a:defRPr b="0" i="0" sz="1800" u="none" cap="none" strike="noStrike">
                <a:latin typeface="Calibri"/>
                <a:ea typeface="Calibri"/>
                <a:cs typeface="Calibri"/>
                <a:sym typeface="Calibri"/>
              </a:defRPr>
            </a:lvl8pPr>
            <a:lvl9pPr indent="-228600" lvl="8" marL="4114800" marR="0" rtl="0" algn="l">
              <a:spcBef>
                <a:spcPts val="0"/>
              </a:spcBef>
              <a:spcAft>
                <a:spcPts val="0"/>
              </a:spcAft>
              <a:buSzPts val="1400"/>
              <a:buNone/>
              <a:defRPr b="0" i="0" sz="1800" u="none" cap="none" strike="noStrike">
                <a:latin typeface="Calibri"/>
                <a:ea typeface="Calibri"/>
                <a:cs typeface="Calibri"/>
                <a:sym typeface="Calibri"/>
              </a:defRPr>
            </a:lvl9pPr>
          </a:lstStyle>
          <a:p/>
        </p:txBody>
      </p:sp>
      <p:sp>
        <p:nvSpPr>
          <p:cNvPr id="11" name="Google Shape;11;p1"/>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 name="Google Shape;12;p1"/>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 name="Google Shape;13;p1"/>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algn="r">
              <a:spcBef>
                <a:spcPts val="0"/>
              </a:spcBef>
              <a:buNone/>
              <a:defRPr sz="1800">
                <a:solidFill>
                  <a:srgbClr val="888888"/>
                </a:solidFill>
              </a:defRPr>
            </a:lvl1pPr>
            <a:lvl2pPr indent="0" lvl="1" algn="r">
              <a:spcBef>
                <a:spcPts val="0"/>
              </a:spcBef>
              <a:buNone/>
              <a:defRPr sz="1800">
                <a:solidFill>
                  <a:srgbClr val="888888"/>
                </a:solidFill>
              </a:defRPr>
            </a:lvl2pPr>
            <a:lvl3pPr indent="0" lvl="2" algn="r">
              <a:spcBef>
                <a:spcPts val="0"/>
              </a:spcBef>
              <a:buNone/>
              <a:defRPr sz="1800">
                <a:solidFill>
                  <a:srgbClr val="888888"/>
                </a:solidFill>
              </a:defRPr>
            </a:lvl3pPr>
            <a:lvl4pPr indent="0" lvl="3" algn="r">
              <a:spcBef>
                <a:spcPts val="0"/>
              </a:spcBef>
              <a:buNone/>
              <a:defRPr sz="1800">
                <a:solidFill>
                  <a:srgbClr val="888888"/>
                </a:solidFill>
              </a:defRPr>
            </a:lvl4pPr>
            <a:lvl5pPr indent="0" lvl="4" algn="r">
              <a:spcBef>
                <a:spcPts val="0"/>
              </a:spcBef>
              <a:buNone/>
              <a:defRPr sz="1800">
                <a:solidFill>
                  <a:srgbClr val="888888"/>
                </a:solidFill>
              </a:defRPr>
            </a:lvl5pPr>
            <a:lvl6pPr indent="0" lvl="5" algn="r">
              <a:spcBef>
                <a:spcPts val="0"/>
              </a:spcBef>
              <a:buNone/>
              <a:defRPr sz="1800">
                <a:solidFill>
                  <a:srgbClr val="888888"/>
                </a:solidFill>
              </a:defRPr>
            </a:lvl6pPr>
            <a:lvl7pPr indent="0" lvl="6" algn="r">
              <a:spcBef>
                <a:spcPts val="0"/>
              </a:spcBef>
              <a:buNone/>
              <a:defRPr sz="1800">
                <a:solidFill>
                  <a:srgbClr val="888888"/>
                </a:solidFill>
              </a:defRPr>
            </a:lvl7pPr>
            <a:lvl8pPr indent="0" lvl="7" algn="r">
              <a:spcBef>
                <a:spcPts val="0"/>
              </a:spcBef>
              <a:buNone/>
              <a:defRPr sz="1800">
                <a:solidFill>
                  <a:srgbClr val="888888"/>
                </a:solidFill>
              </a:defRPr>
            </a:lvl8pPr>
            <a:lvl9pPr indent="0" lvl="8" algn="r">
              <a:spcBef>
                <a:spcPts val="0"/>
              </a:spcBef>
              <a:buNone/>
              <a:defRPr sz="1800">
                <a:solidFill>
                  <a:srgbClr val="888888"/>
                </a:solidFil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5.png"/><Relationship Id="rId4" Type="http://schemas.openxmlformats.org/officeDocument/2006/relationships/image" Target="../media/image6.png"/><Relationship Id="rId11" Type="http://schemas.openxmlformats.org/officeDocument/2006/relationships/image" Target="../media/image8.png"/><Relationship Id="rId10" Type="http://schemas.openxmlformats.org/officeDocument/2006/relationships/image" Target="../media/image17.png"/><Relationship Id="rId12" Type="http://schemas.openxmlformats.org/officeDocument/2006/relationships/image" Target="../media/image3.png"/><Relationship Id="rId9" Type="http://schemas.openxmlformats.org/officeDocument/2006/relationships/image" Target="../media/image4.png"/><Relationship Id="rId5" Type="http://schemas.openxmlformats.org/officeDocument/2006/relationships/image" Target="../media/image11.png"/><Relationship Id="rId6" Type="http://schemas.openxmlformats.org/officeDocument/2006/relationships/image" Target="../media/image5.png"/><Relationship Id="rId7" Type="http://schemas.openxmlformats.org/officeDocument/2006/relationships/image" Target="../media/image29.png"/><Relationship Id="rId8" Type="http://schemas.openxmlformats.org/officeDocument/2006/relationships/image" Target="../media/image1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3.png"/><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hyperlink" Target="https://searchenterpriseai.techtarget.com/definition/supervised-learning" TargetMode="External"/><Relationship Id="rId4" Type="http://schemas.openxmlformats.org/officeDocument/2006/relationships/hyperlink" Target="https://whatis.techtarget.com/definition/unsupervised-learning" TargetMode="External"/><Relationship Id="rId5" Type="http://schemas.openxmlformats.org/officeDocument/2006/relationships/hyperlink" Target="https://searchenterpriseai.techtarget.com/definition/reinforcement-learning"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hyperlink" Target="https://searchenterpriseai.techtarget.com/definition/supervised-learning" TargetMode="External"/><Relationship Id="rId4" Type="http://schemas.openxmlformats.org/officeDocument/2006/relationships/image" Target="../media/image19.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5.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9.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6.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8.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1.png"/><Relationship Id="rId4" Type="http://schemas.openxmlformats.org/officeDocument/2006/relationships/image" Target="../media/image28.png"/><Relationship Id="rId5" Type="http://schemas.openxmlformats.org/officeDocument/2006/relationships/image" Target="../media/image30.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4.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34.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2.jpg"/><Relationship Id="rId4" Type="http://schemas.openxmlformats.org/officeDocument/2006/relationships/image" Target="../media/image3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20.png"/><Relationship Id="rId4" Type="http://schemas.openxmlformats.org/officeDocument/2006/relationships/image" Target="../media/image22.jpg"/><Relationship Id="rId5" Type="http://schemas.openxmlformats.org/officeDocument/2006/relationships/image" Target="../media/image3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46.png"/><Relationship Id="rId4" Type="http://schemas.openxmlformats.org/officeDocument/2006/relationships/image" Target="../media/image2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31.png"/><Relationship Id="rId4" Type="http://schemas.openxmlformats.org/officeDocument/2006/relationships/image" Target="../media/image3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35.png"/><Relationship Id="rId4" Type="http://schemas.openxmlformats.org/officeDocument/2006/relationships/image" Target="../media/image3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5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4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3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3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4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4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45.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4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4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4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48.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39.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50.jp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51.jp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hyperlink" Target="https://www.edureka.co/" TargetMode="External"/><Relationship Id="rId4" Type="http://schemas.openxmlformats.org/officeDocument/2006/relationships/hyperlink" Target="https://www.tensorflow.org/"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5" name="Shape 45"/>
        <p:cNvGrpSpPr/>
        <p:nvPr/>
      </p:nvGrpSpPr>
      <p:grpSpPr>
        <a:xfrm>
          <a:off x="0" y="0"/>
          <a:ext cx="0" cy="0"/>
          <a:chOff x="0" y="0"/>
          <a:chExt cx="0" cy="0"/>
        </a:xfrm>
      </p:grpSpPr>
      <p:sp>
        <p:nvSpPr>
          <p:cNvPr id="46" name="Google Shape;46;p7"/>
          <p:cNvSpPr txBox="1"/>
          <p:nvPr>
            <p:ph type="ctrTitle"/>
          </p:nvPr>
        </p:nvSpPr>
        <p:spPr>
          <a:xfrm>
            <a:off x="1338371" y="915057"/>
            <a:ext cx="3849370" cy="513715"/>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n-US" sz="3200">
                <a:solidFill>
                  <a:srgbClr val="C00000"/>
                </a:solidFill>
              </a:rPr>
              <a:t>Deep Learning Basics</a:t>
            </a:r>
            <a:endParaRPr sz="32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0" name="Shape 50"/>
        <p:cNvGrpSpPr/>
        <p:nvPr/>
      </p:nvGrpSpPr>
      <p:grpSpPr>
        <a:xfrm>
          <a:off x="0" y="0"/>
          <a:ext cx="0" cy="0"/>
          <a:chOff x="0" y="0"/>
          <a:chExt cx="0" cy="0"/>
        </a:xfrm>
      </p:grpSpPr>
      <p:grpSp>
        <p:nvGrpSpPr>
          <p:cNvPr id="51" name="Google Shape;51;p8"/>
          <p:cNvGrpSpPr/>
          <p:nvPr/>
        </p:nvGrpSpPr>
        <p:grpSpPr>
          <a:xfrm>
            <a:off x="0" y="0"/>
            <a:ext cx="2373654" cy="5143500"/>
            <a:chOff x="0" y="0"/>
            <a:chExt cx="2373654" cy="5143500"/>
          </a:xfrm>
        </p:grpSpPr>
        <p:sp>
          <p:nvSpPr>
            <p:cNvPr id="52" name="Google Shape;52;p8"/>
            <p:cNvSpPr/>
            <p:nvPr/>
          </p:nvSpPr>
          <p:spPr>
            <a:xfrm>
              <a:off x="0" y="0"/>
              <a:ext cx="1581785" cy="5143500"/>
            </a:xfrm>
            <a:custGeom>
              <a:rect b="b" l="l" r="r" t="t"/>
              <a:pathLst>
                <a:path extrusionOk="0" h="5143500" w="1581785">
                  <a:moveTo>
                    <a:pt x="1581569" y="0"/>
                  </a:moveTo>
                  <a:lnTo>
                    <a:pt x="0" y="0"/>
                  </a:lnTo>
                  <a:lnTo>
                    <a:pt x="0" y="5143500"/>
                  </a:lnTo>
                  <a:lnTo>
                    <a:pt x="1581569" y="5143500"/>
                  </a:lnTo>
                  <a:lnTo>
                    <a:pt x="1581569" y="0"/>
                  </a:lnTo>
                  <a:close/>
                </a:path>
              </a:pathLst>
            </a:custGeom>
            <a:solidFill>
              <a:srgbClr val="4F81BD"/>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53" name="Google Shape;53;p8"/>
            <p:cNvPicPr preferRelativeResize="0"/>
            <p:nvPr/>
          </p:nvPicPr>
          <p:blipFill rotWithShape="1">
            <a:blip r:embed="rId3">
              <a:alphaModFix/>
            </a:blip>
            <a:srcRect b="0" l="0" r="0" t="0"/>
            <a:stretch/>
          </p:blipFill>
          <p:spPr>
            <a:xfrm>
              <a:off x="789483" y="938237"/>
              <a:ext cx="1584171" cy="3515950"/>
            </a:xfrm>
            <a:prstGeom prst="rect">
              <a:avLst/>
            </a:prstGeom>
            <a:noFill/>
            <a:ln>
              <a:noFill/>
            </a:ln>
          </p:spPr>
        </p:pic>
        <p:pic>
          <p:nvPicPr>
            <p:cNvPr id="54" name="Google Shape;54;p8"/>
            <p:cNvPicPr preferRelativeResize="0"/>
            <p:nvPr/>
          </p:nvPicPr>
          <p:blipFill rotWithShape="1">
            <a:blip r:embed="rId4">
              <a:alphaModFix/>
            </a:blip>
            <a:srcRect b="0" l="0" r="0" t="0"/>
            <a:stretch/>
          </p:blipFill>
          <p:spPr>
            <a:xfrm>
              <a:off x="789483" y="938237"/>
              <a:ext cx="792085" cy="3515950"/>
            </a:xfrm>
            <a:prstGeom prst="rect">
              <a:avLst/>
            </a:prstGeom>
            <a:noFill/>
            <a:ln>
              <a:noFill/>
            </a:ln>
          </p:spPr>
        </p:pic>
      </p:grpSp>
      <p:sp>
        <p:nvSpPr>
          <p:cNvPr id="55" name="Google Shape;55;p8"/>
          <p:cNvSpPr txBox="1"/>
          <p:nvPr>
            <p:ph type="title"/>
          </p:nvPr>
        </p:nvSpPr>
        <p:spPr>
          <a:xfrm>
            <a:off x="78739" y="118636"/>
            <a:ext cx="8986520" cy="574040"/>
          </a:xfrm>
          <a:prstGeom prst="rect">
            <a:avLst/>
          </a:prstGeom>
          <a:noFill/>
          <a:ln>
            <a:noFill/>
          </a:ln>
        </p:spPr>
        <p:txBody>
          <a:bodyPr anchorCtr="0" anchor="t" bIns="0" lIns="0" spcFirstLastPara="1" rIns="0" wrap="square" tIns="13325">
            <a:spAutoFit/>
          </a:bodyPr>
          <a:lstStyle/>
          <a:p>
            <a:pPr indent="0" lvl="0" marL="2567940" rtl="0" algn="l">
              <a:lnSpc>
                <a:spcPct val="100000"/>
              </a:lnSpc>
              <a:spcBef>
                <a:spcPts val="0"/>
              </a:spcBef>
              <a:spcAft>
                <a:spcPts val="0"/>
              </a:spcAft>
              <a:buNone/>
            </a:pPr>
            <a:r>
              <a:rPr lang="en-US" sz="3200">
                <a:latin typeface="Arial"/>
                <a:ea typeface="Arial"/>
                <a:cs typeface="Arial"/>
                <a:sym typeface="Arial"/>
              </a:rPr>
              <a:t>Content</a:t>
            </a:r>
            <a:endParaRPr sz="3200">
              <a:latin typeface="Arial"/>
              <a:ea typeface="Arial"/>
              <a:cs typeface="Arial"/>
              <a:sym typeface="Arial"/>
            </a:endParaRPr>
          </a:p>
        </p:txBody>
      </p:sp>
      <p:grpSp>
        <p:nvGrpSpPr>
          <p:cNvPr id="56" name="Google Shape;56;p8"/>
          <p:cNvGrpSpPr/>
          <p:nvPr/>
        </p:nvGrpSpPr>
        <p:grpSpPr>
          <a:xfrm>
            <a:off x="2996183" y="1674876"/>
            <a:ext cx="5504687" cy="2529838"/>
            <a:chOff x="2996183" y="1674876"/>
            <a:chExt cx="5504687" cy="2529838"/>
          </a:xfrm>
        </p:grpSpPr>
        <p:pic>
          <p:nvPicPr>
            <p:cNvPr id="57" name="Google Shape;57;p8"/>
            <p:cNvPicPr preferRelativeResize="0"/>
            <p:nvPr/>
          </p:nvPicPr>
          <p:blipFill rotWithShape="1">
            <a:blip r:embed="rId5">
              <a:alphaModFix/>
            </a:blip>
            <a:srcRect b="0" l="0" r="0" t="0"/>
            <a:stretch/>
          </p:blipFill>
          <p:spPr>
            <a:xfrm>
              <a:off x="3008375" y="1674876"/>
              <a:ext cx="5492495" cy="865631"/>
            </a:xfrm>
            <a:prstGeom prst="rect">
              <a:avLst/>
            </a:prstGeom>
            <a:noFill/>
            <a:ln>
              <a:noFill/>
            </a:ln>
          </p:spPr>
        </p:pic>
        <p:sp>
          <p:nvSpPr>
            <p:cNvPr id="58" name="Google Shape;58;p8"/>
            <p:cNvSpPr/>
            <p:nvPr/>
          </p:nvSpPr>
          <p:spPr>
            <a:xfrm>
              <a:off x="3126079" y="1747824"/>
              <a:ext cx="5257165" cy="720090"/>
            </a:xfrm>
            <a:custGeom>
              <a:rect b="b" l="l" r="r" t="t"/>
              <a:pathLst>
                <a:path extrusionOk="0" h="720089" w="5257165">
                  <a:moveTo>
                    <a:pt x="5256580" y="0"/>
                  </a:moveTo>
                  <a:lnTo>
                    <a:pt x="0" y="0"/>
                  </a:lnTo>
                  <a:lnTo>
                    <a:pt x="0" y="720001"/>
                  </a:lnTo>
                  <a:lnTo>
                    <a:pt x="5256580" y="720001"/>
                  </a:lnTo>
                  <a:lnTo>
                    <a:pt x="5256580"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59" name="Google Shape;59;p8"/>
            <p:cNvPicPr preferRelativeResize="0"/>
            <p:nvPr/>
          </p:nvPicPr>
          <p:blipFill rotWithShape="1">
            <a:blip r:embed="rId6">
              <a:alphaModFix/>
            </a:blip>
            <a:srcRect b="0" l="0" r="0" t="0"/>
            <a:stretch/>
          </p:blipFill>
          <p:spPr>
            <a:xfrm>
              <a:off x="3054096" y="1674876"/>
              <a:ext cx="864107" cy="865631"/>
            </a:xfrm>
            <a:prstGeom prst="rect">
              <a:avLst/>
            </a:prstGeom>
            <a:noFill/>
            <a:ln>
              <a:noFill/>
            </a:ln>
          </p:spPr>
        </p:pic>
        <p:sp>
          <p:nvSpPr>
            <p:cNvPr id="60" name="Google Shape;60;p8"/>
            <p:cNvSpPr/>
            <p:nvPr/>
          </p:nvSpPr>
          <p:spPr>
            <a:xfrm>
              <a:off x="3126084" y="1747824"/>
              <a:ext cx="720090" cy="720090"/>
            </a:xfrm>
            <a:custGeom>
              <a:rect b="b" l="l" r="r" t="t"/>
              <a:pathLst>
                <a:path extrusionOk="0" h="720089" w="720089">
                  <a:moveTo>
                    <a:pt x="720001" y="0"/>
                  </a:moveTo>
                  <a:lnTo>
                    <a:pt x="0" y="0"/>
                  </a:lnTo>
                  <a:lnTo>
                    <a:pt x="0" y="719924"/>
                  </a:lnTo>
                  <a:lnTo>
                    <a:pt x="720001" y="0"/>
                  </a:lnTo>
                  <a:close/>
                </a:path>
              </a:pathLst>
            </a:custGeom>
            <a:solidFill>
              <a:srgbClr val="9BBB5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61" name="Google Shape;61;p8"/>
            <p:cNvPicPr preferRelativeResize="0"/>
            <p:nvPr/>
          </p:nvPicPr>
          <p:blipFill rotWithShape="1">
            <a:blip r:embed="rId7">
              <a:alphaModFix/>
            </a:blip>
            <a:srcRect b="0" l="0" r="0" t="0"/>
            <a:stretch/>
          </p:blipFill>
          <p:spPr>
            <a:xfrm>
              <a:off x="3002279" y="2506980"/>
              <a:ext cx="5492495" cy="865631"/>
            </a:xfrm>
            <a:prstGeom prst="rect">
              <a:avLst/>
            </a:prstGeom>
            <a:noFill/>
            <a:ln>
              <a:noFill/>
            </a:ln>
          </p:spPr>
        </p:pic>
        <p:sp>
          <p:nvSpPr>
            <p:cNvPr id="62" name="Google Shape;62;p8"/>
            <p:cNvSpPr/>
            <p:nvPr/>
          </p:nvSpPr>
          <p:spPr>
            <a:xfrm>
              <a:off x="3120326" y="2580081"/>
              <a:ext cx="5257165" cy="720090"/>
            </a:xfrm>
            <a:custGeom>
              <a:rect b="b" l="l" r="r" t="t"/>
              <a:pathLst>
                <a:path extrusionOk="0" h="720089" w="5257165">
                  <a:moveTo>
                    <a:pt x="5256580" y="0"/>
                  </a:moveTo>
                  <a:lnTo>
                    <a:pt x="0" y="0"/>
                  </a:lnTo>
                  <a:lnTo>
                    <a:pt x="0" y="720001"/>
                  </a:lnTo>
                  <a:lnTo>
                    <a:pt x="5256580" y="720001"/>
                  </a:lnTo>
                  <a:lnTo>
                    <a:pt x="5256580"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63" name="Google Shape;63;p8"/>
            <p:cNvPicPr preferRelativeResize="0"/>
            <p:nvPr/>
          </p:nvPicPr>
          <p:blipFill rotWithShape="1">
            <a:blip r:embed="rId8">
              <a:alphaModFix/>
            </a:blip>
            <a:srcRect b="0" l="0" r="0" t="0"/>
            <a:stretch/>
          </p:blipFill>
          <p:spPr>
            <a:xfrm>
              <a:off x="3048000" y="2506980"/>
              <a:ext cx="865631" cy="865631"/>
            </a:xfrm>
            <a:prstGeom prst="rect">
              <a:avLst/>
            </a:prstGeom>
            <a:noFill/>
            <a:ln>
              <a:noFill/>
            </a:ln>
          </p:spPr>
        </p:pic>
        <p:sp>
          <p:nvSpPr>
            <p:cNvPr id="64" name="Google Shape;64;p8"/>
            <p:cNvSpPr/>
            <p:nvPr/>
          </p:nvSpPr>
          <p:spPr>
            <a:xfrm>
              <a:off x="3120330" y="2580083"/>
              <a:ext cx="720090" cy="720090"/>
            </a:xfrm>
            <a:custGeom>
              <a:rect b="b" l="l" r="r" t="t"/>
              <a:pathLst>
                <a:path extrusionOk="0" h="720089" w="720089">
                  <a:moveTo>
                    <a:pt x="720001" y="0"/>
                  </a:moveTo>
                  <a:lnTo>
                    <a:pt x="0" y="0"/>
                  </a:lnTo>
                  <a:lnTo>
                    <a:pt x="0" y="719924"/>
                  </a:lnTo>
                  <a:lnTo>
                    <a:pt x="720001" y="0"/>
                  </a:lnTo>
                  <a:close/>
                </a:path>
              </a:pathLst>
            </a:custGeom>
            <a:solidFill>
              <a:srgbClr val="4F81BD"/>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65" name="Google Shape;65;p8"/>
            <p:cNvPicPr preferRelativeResize="0"/>
            <p:nvPr/>
          </p:nvPicPr>
          <p:blipFill rotWithShape="1">
            <a:blip r:embed="rId9">
              <a:alphaModFix/>
            </a:blip>
            <a:srcRect b="0" l="0" r="0" t="0"/>
            <a:stretch/>
          </p:blipFill>
          <p:spPr>
            <a:xfrm>
              <a:off x="2996183" y="3339083"/>
              <a:ext cx="5492495" cy="865631"/>
            </a:xfrm>
            <a:prstGeom prst="rect">
              <a:avLst/>
            </a:prstGeom>
            <a:noFill/>
            <a:ln>
              <a:noFill/>
            </a:ln>
          </p:spPr>
        </p:pic>
        <p:sp>
          <p:nvSpPr>
            <p:cNvPr id="66" name="Google Shape;66;p8"/>
            <p:cNvSpPr/>
            <p:nvPr/>
          </p:nvSpPr>
          <p:spPr>
            <a:xfrm>
              <a:off x="3114573" y="3412337"/>
              <a:ext cx="5257165" cy="720090"/>
            </a:xfrm>
            <a:custGeom>
              <a:rect b="b" l="l" r="r" t="t"/>
              <a:pathLst>
                <a:path extrusionOk="0" h="720089" w="5257165">
                  <a:moveTo>
                    <a:pt x="5256580" y="0"/>
                  </a:moveTo>
                  <a:lnTo>
                    <a:pt x="0" y="0"/>
                  </a:lnTo>
                  <a:lnTo>
                    <a:pt x="0" y="720001"/>
                  </a:lnTo>
                  <a:lnTo>
                    <a:pt x="5256580" y="720001"/>
                  </a:lnTo>
                  <a:lnTo>
                    <a:pt x="5256580"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67" name="Google Shape;67;p8"/>
            <p:cNvPicPr preferRelativeResize="0"/>
            <p:nvPr/>
          </p:nvPicPr>
          <p:blipFill rotWithShape="1">
            <a:blip r:embed="rId10">
              <a:alphaModFix/>
            </a:blip>
            <a:srcRect b="0" l="0" r="0" t="0"/>
            <a:stretch/>
          </p:blipFill>
          <p:spPr>
            <a:xfrm>
              <a:off x="3041903" y="3339083"/>
              <a:ext cx="865631" cy="865631"/>
            </a:xfrm>
            <a:prstGeom prst="rect">
              <a:avLst/>
            </a:prstGeom>
            <a:noFill/>
            <a:ln>
              <a:noFill/>
            </a:ln>
          </p:spPr>
        </p:pic>
        <p:sp>
          <p:nvSpPr>
            <p:cNvPr id="68" name="Google Shape;68;p8"/>
            <p:cNvSpPr/>
            <p:nvPr/>
          </p:nvSpPr>
          <p:spPr>
            <a:xfrm>
              <a:off x="3114574" y="3412342"/>
              <a:ext cx="720090" cy="720090"/>
            </a:xfrm>
            <a:custGeom>
              <a:rect b="b" l="l" r="r" t="t"/>
              <a:pathLst>
                <a:path extrusionOk="0" h="720089" w="720089">
                  <a:moveTo>
                    <a:pt x="720001" y="0"/>
                  </a:moveTo>
                  <a:lnTo>
                    <a:pt x="0" y="0"/>
                  </a:lnTo>
                  <a:lnTo>
                    <a:pt x="0" y="719924"/>
                  </a:lnTo>
                  <a:lnTo>
                    <a:pt x="720001" y="0"/>
                  </a:lnTo>
                  <a:close/>
                </a:path>
              </a:pathLst>
            </a:custGeom>
            <a:solidFill>
              <a:srgbClr val="9BBB5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69" name="Google Shape;69;p8"/>
          <p:cNvSpPr txBox="1"/>
          <p:nvPr/>
        </p:nvSpPr>
        <p:spPr>
          <a:xfrm>
            <a:off x="3211827" y="1776255"/>
            <a:ext cx="308610" cy="330835"/>
          </a:xfrm>
          <a:prstGeom prst="rect">
            <a:avLst/>
          </a:prstGeom>
          <a:noFill/>
          <a:ln>
            <a:noFill/>
          </a:ln>
        </p:spPr>
        <p:txBody>
          <a:bodyPr anchorCtr="0" anchor="t" bIns="0" lIns="0" spcFirstLastPara="1" rIns="0" wrap="square" tIns="13325">
            <a:spAutoFit/>
          </a:bodyPr>
          <a:lstStyle/>
          <a:p>
            <a:pPr indent="0" lvl="0" marL="0" rtl="0" algn="l">
              <a:lnSpc>
                <a:spcPct val="100000"/>
              </a:lnSpc>
              <a:spcBef>
                <a:spcPts val="0"/>
              </a:spcBef>
              <a:spcAft>
                <a:spcPts val="0"/>
              </a:spcAft>
              <a:buNone/>
            </a:pPr>
            <a:r>
              <a:rPr b="1" lang="en-US" sz="2000">
                <a:solidFill>
                  <a:srgbClr val="FFFFFF"/>
                </a:solidFill>
                <a:latin typeface="Malgun Gothic"/>
                <a:ea typeface="Malgun Gothic"/>
                <a:cs typeface="Malgun Gothic"/>
                <a:sym typeface="Malgun Gothic"/>
              </a:rPr>
              <a:t>01</a:t>
            </a:r>
            <a:endParaRPr sz="2000">
              <a:latin typeface="Malgun Gothic"/>
              <a:ea typeface="Malgun Gothic"/>
              <a:cs typeface="Malgun Gothic"/>
              <a:sym typeface="Malgun Gothic"/>
            </a:endParaRPr>
          </a:p>
        </p:txBody>
      </p:sp>
      <p:sp>
        <p:nvSpPr>
          <p:cNvPr id="70" name="Google Shape;70;p8"/>
          <p:cNvSpPr txBox="1"/>
          <p:nvPr/>
        </p:nvSpPr>
        <p:spPr>
          <a:xfrm>
            <a:off x="3200374" y="2608496"/>
            <a:ext cx="308610" cy="330835"/>
          </a:xfrm>
          <a:prstGeom prst="rect">
            <a:avLst/>
          </a:prstGeom>
          <a:noFill/>
          <a:ln>
            <a:noFill/>
          </a:ln>
        </p:spPr>
        <p:txBody>
          <a:bodyPr anchorCtr="0" anchor="t" bIns="0" lIns="0" spcFirstLastPara="1" rIns="0" wrap="square" tIns="12700">
            <a:spAutoFit/>
          </a:bodyPr>
          <a:lstStyle/>
          <a:p>
            <a:pPr indent="0" lvl="0" marL="0" rtl="0" algn="l">
              <a:lnSpc>
                <a:spcPct val="100000"/>
              </a:lnSpc>
              <a:spcBef>
                <a:spcPts val="0"/>
              </a:spcBef>
              <a:spcAft>
                <a:spcPts val="0"/>
              </a:spcAft>
              <a:buNone/>
            </a:pPr>
            <a:r>
              <a:rPr b="1" lang="en-US" sz="2000">
                <a:solidFill>
                  <a:srgbClr val="FFFFFF"/>
                </a:solidFill>
                <a:latin typeface="Malgun Gothic"/>
                <a:ea typeface="Malgun Gothic"/>
                <a:cs typeface="Malgun Gothic"/>
                <a:sym typeface="Malgun Gothic"/>
              </a:rPr>
              <a:t>02</a:t>
            </a:r>
            <a:endParaRPr sz="2000">
              <a:latin typeface="Malgun Gothic"/>
              <a:ea typeface="Malgun Gothic"/>
              <a:cs typeface="Malgun Gothic"/>
              <a:sym typeface="Malgun Gothic"/>
            </a:endParaRPr>
          </a:p>
        </p:txBody>
      </p:sp>
      <p:sp>
        <p:nvSpPr>
          <p:cNvPr id="71" name="Google Shape;71;p8"/>
          <p:cNvSpPr txBox="1"/>
          <p:nvPr/>
        </p:nvSpPr>
        <p:spPr>
          <a:xfrm>
            <a:off x="3188921" y="3440737"/>
            <a:ext cx="308610" cy="330835"/>
          </a:xfrm>
          <a:prstGeom prst="rect">
            <a:avLst/>
          </a:prstGeom>
          <a:noFill/>
          <a:ln>
            <a:noFill/>
          </a:ln>
        </p:spPr>
        <p:txBody>
          <a:bodyPr anchorCtr="0" anchor="t" bIns="0" lIns="0" spcFirstLastPara="1" rIns="0" wrap="square" tIns="12700">
            <a:spAutoFit/>
          </a:bodyPr>
          <a:lstStyle/>
          <a:p>
            <a:pPr indent="0" lvl="0" marL="0" rtl="0" algn="l">
              <a:lnSpc>
                <a:spcPct val="100000"/>
              </a:lnSpc>
              <a:spcBef>
                <a:spcPts val="0"/>
              </a:spcBef>
              <a:spcAft>
                <a:spcPts val="0"/>
              </a:spcAft>
              <a:buNone/>
            </a:pPr>
            <a:r>
              <a:rPr b="1" lang="en-US" sz="2000">
                <a:solidFill>
                  <a:srgbClr val="FFFFFF"/>
                </a:solidFill>
                <a:latin typeface="Malgun Gothic"/>
                <a:ea typeface="Malgun Gothic"/>
                <a:cs typeface="Malgun Gothic"/>
                <a:sym typeface="Malgun Gothic"/>
              </a:rPr>
              <a:t>03</a:t>
            </a:r>
            <a:endParaRPr sz="2000">
              <a:latin typeface="Malgun Gothic"/>
              <a:ea typeface="Malgun Gothic"/>
              <a:cs typeface="Malgun Gothic"/>
              <a:sym typeface="Malgun Gothic"/>
            </a:endParaRPr>
          </a:p>
        </p:txBody>
      </p:sp>
      <p:sp>
        <p:nvSpPr>
          <p:cNvPr id="72" name="Google Shape;72;p8"/>
          <p:cNvSpPr txBox="1"/>
          <p:nvPr/>
        </p:nvSpPr>
        <p:spPr>
          <a:xfrm>
            <a:off x="3943537" y="1863042"/>
            <a:ext cx="3302635" cy="330835"/>
          </a:xfrm>
          <a:prstGeom prst="rect">
            <a:avLst/>
          </a:prstGeom>
          <a:noFill/>
          <a:ln>
            <a:noFill/>
          </a:ln>
        </p:spPr>
        <p:txBody>
          <a:bodyPr anchorCtr="0" anchor="t" bIns="0" lIns="0" spcFirstLastPara="1" rIns="0" wrap="square" tIns="13325">
            <a:spAutoFit/>
          </a:bodyPr>
          <a:lstStyle/>
          <a:p>
            <a:pPr indent="0" lvl="0" marL="0" rtl="0" algn="l">
              <a:lnSpc>
                <a:spcPct val="100000"/>
              </a:lnSpc>
              <a:spcBef>
                <a:spcPts val="0"/>
              </a:spcBef>
              <a:spcAft>
                <a:spcPts val="0"/>
              </a:spcAft>
              <a:buNone/>
            </a:pPr>
            <a:r>
              <a:rPr b="1" lang="en-US" sz="2000">
                <a:solidFill>
                  <a:srgbClr val="3E3E3E"/>
                </a:solidFill>
                <a:latin typeface="Malgun Gothic"/>
                <a:ea typeface="Malgun Gothic"/>
                <a:cs typeface="Malgun Gothic"/>
                <a:sym typeface="Malgun Gothic"/>
              </a:rPr>
              <a:t>What is Machine Learning?</a:t>
            </a:r>
            <a:endParaRPr sz="2000">
              <a:latin typeface="Malgun Gothic"/>
              <a:ea typeface="Malgun Gothic"/>
              <a:cs typeface="Malgun Gothic"/>
              <a:sym typeface="Malgun Gothic"/>
            </a:endParaRPr>
          </a:p>
        </p:txBody>
      </p:sp>
      <p:sp>
        <p:nvSpPr>
          <p:cNvPr id="73" name="Google Shape;73;p8"/>
          <p:cNvSpPr txBox="1"/>
          <p:nvPr/>
        </p:nvSpPr>
        <p:spPr>
          <a:xfrm>
            <a:off x="3943537" y="2701391"/>
            <a:ext cx="3935729" cy="330835"/>
          </a:xfrm>
          <a:prstGeom prst="rect">
            <a:avLst/>
          </a:prstGeom>
          <a:noFill/>
          <a:ln>
            <a:noFill/>
          </a:ln>
        </p:spPr>
        <p:txBody>
          <a:bodyPr anchorCtr="0" anchor="t" bIns="0" lIns="0" spcFirstLastPara="1" rIns="0" wrap="square" tIns="12700">
            <a:spAutoFit/>
          </a:bodyPr>
          <a:lstStyle/>
          <a:p>
            <a:pPr indent="0" lvl="0" marL="0" rtl="0" algn="l">
              <a:lnSpc>
                <a:spcPct val="100000"/>
              </a:lnSpc>
              <a:spcBef>
                <a:spcPts val="0"/>
              </a:spcBef>
              <a:spcAft>
                <a:spcPts val="0"/>
              </a:spcAft>
              <a:buNone/>
            </a:pPr>
            <a:r>
              <a:rPr b="1" lang="en-US" sz="2000">
                <a:solidFill>
                  <a:srgbClr val="3E3E3E"/>
                </a:solidFill>
                <a:latin typeface="Malgun Gothic"/>
                <a:ea typeface="Malgun Gothic"/>
                <a:cs typeface="Malgun Gothic"/>
                <a:sym typeface="Malgun Gothic"/>
              </a:rPr>
              <a:t>Limitations of Machine Learning</a:t>
            </a:r>
            <a:endParaRPr sz="2000">
              <a:latin typeface="Malgun Gothic"/>
              <a:ea typeface="Malgun Gothic"/>
              <a:cs typeface="Malgun Gothic"/>
              <a:sym typeface="Malgun Gothic"/>
            </a:endParaRPr>
          </a:p>
        </p:txBody>
      </p:sp>
      <p:sp>
        <p:nvSpPr>
          <p:cNvPr id="74" name="Google Shape;74;p8"/>
          <p:cNvSpPr txBox="1"/>
          <p:nvPr/>
        </p:nvSpPr>
        <p:spPr>
          <a:xfrm>
            <a:off x="3943537" y="3539740"/>
            <a:ext cx="2904490" cy="330835"/>
          </a:xfrm>
          <a:prstGeom prst="rect">
            <a:avLst/>
          </a:prstGeom>
          <a:noFill/>
          <a:ln>
            <a:noFill/>
          </a:ln>
        </p:spPr>
        <p:txBody>
          <a:bodyPr anchorCtr="0" anchor="t" bIns="0" lIns="0" spcFirstLastPara="1" rIns="0" wrap="square" tIns="12700">
            <a:spAutoFit/>
          </a:bodyPr>
          <a:lstStyle/>
          <a:p>
            <a:pPr indent="0" lvl="0" marL="0" rtl="0" algn="l">
              <a:lnSpc>
                <a:spcPct val="100000"/>
              </a:lnSpc>
              <a:spcBef>
                <a:spcPts val="0"/>
              </a:spcBef>
              <a:spcAft>
                <a:spcPts val="0"/>
              </a:spcAft>
              <a:buNone/>
            </a:pPr>
            <a:r>
              <a:rPr b="1" lang="en-US" sz="2000">
                <a:solidFill>
                  <a:srgbClr val="3E3E3E"/>
                </a:solidFill>
                <a:latin typeface="Malgun Gothic"/>
                <a:ea typeface="Malgun Gothic"/>
                <a:cs typeface="Malgun Gothic"/>
                <a:sym typeface="Malgun Gothic"/>
              </a:rPr>
              <a:t>What is Deep Learning?</a:t>
            </a:r>
            <a:endParaRPr sz="2000">
              <a:latin typeface="Malgun Gothic"/>
              <a:ea typeface="Malgun Gothic"/>
              <a:cs typeface="Malgun Gothic"/>
              <a:sym typeface="Malgun Gothic"/>
            </a:endParaRPr>
          </a:p>
        </p:txBody>
      </p:sp>
      <p:grpSp>
        <p:nvGrpSpPr>
          <p:cNvPr id="75" name="Google Shape;75;p8"/>
          <p:cNvGrpSpPr/>
          <p:nvPr/>
        </p:nvGrpSpPr>
        <p:grpSpPr>
          <a:xfrm>
            <a:off x="3014472" y="4155947"/>
            <a:ext cx="5492495" cy="864107"/>
            <a:chOff x="3014472" y="4155947"/>
            <a:chExt cx="5492495" cy="864107"/>
          </a:xfrm>
        </p:grpSpPr>
        <p:pic>
          <p:nvPicPr>
            <p:cNvPr id="76" name="Google Shape;76;p8"/>
            <p:cNvPicPr preferRelativeResize="0"/>
            <p:nvPr/>
          </p:nvPicPr>
          <p:blipFill rotWithShape="1">
            <a:blip r:embed="rId11">
              <a:alphaModFix/>
            </a:blip>
            <a:srcRect b="0" l="0" r="0" t="0"/>
            <a:stretch/>
          </p:blipFill>
          <p:spPr>
            <a:xfrm>
              <a:off x="3014472" y="4155947"/>
              <a:ext cx="5492495" cy="864107"/>
            </a:xfrm>
            <a:prstGeom prst="rect">
              <a:avLst/>
            </a:prstGeom>
            <a:noFill/>
            <a:ln>
              <a:noFill/>
            </a:ln>
          </p:spPr>
        </p:pic>
        <p:sp>
          <p:nvSpPr>
            <p:cNvPr id="77" name="Google Shape;77;p8"/>
            <p:cNvSpPr/>
            <p:nvPr/>
          </p:nvSpPr>
          <p:spPr>
            <a:xfrm>
              <a:off x="3131845" y="4227931"/>
              <a:ext cx="5257165" cy="720090"/>
            </a:xfrm>
            <a:custGeom>
              <a:rect b="b" l="l" r="r" t="t"/>
              <a:pathLst>
                <a:path extrusionOk="0" h="720089" w="5257165">
                  <a:moveTo>
                    <a:pt x="5256580" y="0"/>
                  </a:moveTo>
                  <a:lnTo>
                    <a:pt x="0" y="0"/>
                  </a:lnTo>
                  <a:lnTo>
                    <a:pt x="0" y="720001"/>
                  </a:lnTo>
                  <a:lnTo>
                    <a:pt x="5256580" y="720001"/>
                  </a:lnTo>
                  <a:lnTo>
                    <a:pt x="5256580"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78" name="Google Shape;78;p8"/>
            <p:cNvPicPr preferRelativeResize="0"/>
            <p:nvPr/>
          </p:nvPicPr>
          <p:blipFill rotWithShape="1">
            <a:blip r:embed="rId12">
              <a:alphaModFix/>
            </a:blip>
            <a:srcRect b="0" l="0" r="0" t="0"/>
            <a:stretch/>
          </p:blipFill>
          <p:spPr>
            <a:xfrm>
              <a:off x="3058668" y="4155947"/>
              <a:ext cx="865631" cy="864107"/>
            </a:xfrm>
            <a:prstGeom prst="rect">
              <a:avLst/>
            </a:prstGeom>
            <a:noFill/>
            <a:ln>
              <a:noFill/>
            </a:ln>
          </p:spPr>
        </p:pic>
        <p:sp>
          <p:nvSpPr>
            <p:cNvPr id="79" name="Google Shape;79;p8"/>
            <p:cNvSpPr/>
            <p:nvPr/>
          </p:nvSpPr>
          <p:spPr>
            <a:xfrm>
              <a:off x="3131840" y="4227934"/>
              <a:ext cx="720090" cy="720090"/>
            </a:xfrm>
            <a:custGeom>
              <a:rect b="b" l="l" r="r" t="t"/>
              <a:pathLst>
                <a:path extrusionOk="0" h="720089" w="720089">
                  <a:moveTo>
                    <a:pt x="720001" y="0"/>
                  </a:moveTo>
                  <a:lnTo>
                    <a:pt x="0" y="0"/>
                  </a:lnTo>
                  <a:lnTo>
                    <a:pt x="0" y="719924"/>
                  </a:lnTo>
                  <a:lnTo>
                    <a:pt x="720001" y="0"/>
                  </a:lnTo>
                  <a:close/>
                </a:path>
              </a:pathLst>
            </a:custGeom>
            <a:solidFill>
              <a:srgbClr val="4F81BD"/>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80" name="Google Shape;80;p8"/>
          <p:cNvSpPr txBox="1"/>
          <p:nvPr/>
        </p:nvSpPr>
        <p:spPr>
          <a:xfrm>
            <a:off x="3211770" y="4256382"/>
            <a:ext cx="308610" cy="330835"/>
          </a:xfrm>
          <a:prstGeom prst="rect">
            <a:avLst/>
          </a:prstGeom>
          <a:noFill/>
          <a:ln>
            <a:noFill/>
          </a:ln>
        </p:spPr>
        <p:txBody>
          <a:bodyPr anchorCtr="0" anchor="t" bIns="0" lIns="0" spcFirstLastPara="1" rIns="0" wrap="square" tIns="12700">
            <a:spAutoFit/>
          </a:bodyPr>
          <a:lstStyle/>
          <a:p>
            <a:pPr indent="0" lvl="0" marL="0" rtl="0" algn="l">
              <a:lnSpc>
                <a:spcPct val="100000"/>
              </a:lnSpc>
              <a:spcBef>
                <a:spcPts val="0"/>
              </a:spcBef>
              <a:spcAft>
                <a:spcPts val="0"/>
              </a:spcAft>
              <a:buNone/>
            </a:pPr>
            <a:r>
              <a:rPr b="1" lang="en-US" sz="2000">
                <a:solidFill>
                  <a:srgbClr val="FFFFFF"/>
                </a:solidFill>
                <a:latin typeface="Malgun Gothic"/>
                <a:ea typeface="Malgun Gothic"/>
                <a:cs typeface="Malgun Gothic"/>
                <a:sym typeface="Malgun Gothic"/>
              </a:rPr>
              <a:t>04</a:t>
            </a:r>
            <a:endParaRPr sz="2000">
              <a:latin typeface="Malgun Gothic"/>
              <a:ea typeface="Malgun Gothic"/>
              <a:cs typeface="Malgun Gothic"/>
              <a:sym typeface="Malgun Gothic"/>
            </a:endParaRPr>
          </a:p>
        </p:txBody>
      </p:sp>
      <p:sp>
        <p:nvSpPr>
          <p:cNvPr id="81" name="Google Shape;81;p8"/>
          <p:cNvSpPr txBox="1"/>
          <p:nvPr/>
        </p:nvSpPr>
        <p:spPr>
          <a:xfrm>
            <a:off x="3954679" y="4349532"/>
            <a:ext cx="3828415" cy="330835"/>
          </a:xfrm>
          <a:prstGeom prst="rect">
            <a:avLst/>
          </a:prstGeom>
          <a:noFill/>
          <a:ln>
            <a:noFill/>
          </a:ln>
        </p:spPr>
        <p:txBody>
          <a:bodyPr anchorCtr="0" anchor="t" bIns="0" lIns="0" spcFirstLastPara="1" rIns="0" wrap="square" tIns="12700">
            <a:spAutoFit/>
          </a:bodyPr>
          <a:lstStyle/>
          <a:p>
            <a:pPr indent="0" lvl="0" marL="0" rtl="0" algn="l">
              <a:lnSpc>
                <a:spcPct val="100000"/>
              </a:lnSpc>
              <a:spcBef>
                <a:spcPts val="0"/>
              </a:spcBef>
              <a:spcAft>
                <a:spcPts val="0"/>
              </a:spcAft>
              <a:buNone/>
            </a:pPr>
            <a:r>
              <a:rPr b="1" lang="en-US" sz="2000">
                <a:solidFill>
                  <a:srgbClr val="3E3E3E"/>
                </a:solidFill>
                <a:latin typeface="Malgun Gothic"/>
                <a:ea typeface="Malgun Gothic"/>
                <a:cs typeface="Malgun Gothic"/>
                <a:sym typeface="Malgun Gothic"/>
              </a:rPr>
              <a:t>Convolutional Neural Networks</a:t>
            </a:r>
            <a:endParaRPr sz="2000">
              <a:latin typeface="Malgun Gothic"/>
              <a:ea typeface="Malgun Gothic"/>
              <a:cs typeface="Malgun Gothic"/>
              <a:sym typeface="Malgun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85" name="Shape 85"/>
        <p:cNvGrpSpPr/>
        <p:nvPr/>
      </p:nvGrpSpPr>
      <p:grpSpPr>
        <a:xfrm>
          <a:off x="0" y="0"/>
          <a:ext cx="0" cy="0"/>
          <a:chOff x="0" y="0"/>
          <a:chExt cx="0" cy="0"/>
        </a:xfrm>
      </p:grpSpPr>
      <p:grpSp>
        <p:nvGrpSpPr>
          <p:cNvPr id="86" name="Google Shape;86;p9"/>
          <p:cNvGrpSpPr/>
          <p:nvPr/>
        </p:nvGrpSpPr>
        <p:grpSpPr>
          <a:xfrm>
            <a:off x="0" y="0"/>
            <a:ext cx="3281502" cy="5143500"/>
            <a:chOff x="0" y="0"/>
            <a:chExt cx="3281502" cy="5143500"/>
          </a:xfrm>
        </p:grpSpPr>
        <p:sp>
          <p:nvSpPr>
            <p:cNvPr id="87" name="Google Shape;87;p9"/>
            <p:cNvSpPr/>
            <p:nvPr/>
          </p:nvSpPr>
          <p:spPr>
            <a:xfrm>
              <a:off x="0" y="0"/>
              <a:ext cx="2106930" cy="5143500"/>
            </a:xfrm>
            <a:custGeom>
              <a:rect b="b" l="l" r="r" t="t"/>
              <a:pathLst>
                <a:path extrusionOk="0" h="5143500" w="2106930">
                  <a:moveTo>
                    <a:pt x="2106625" y="0"/>
                  </a:moveTo>
                  <a:lnTo>
                    <a:pt x="0" y="0"/>
                  </a:lnTo>
                  <a:lnTo>
                    <a:pt x="0" y="5143500"/>
                  </a:lnTo>
                  <a:lnTo>
                    <a:pt x="2106625" y="5143500"/>
                  </a:lnTo>
                  <a:lnTo>
                    <a:pt x="2106625" y="0"/>
                  </a:lnTo>
                  <a:close/>
                </a:path>
              </a:pathLst>
            </a:custGeom>
            <a:solidFill>
              <a:srgbClr val="4F81BD"/>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88" name="Google Shape;88;p9"/>
            <p:cNvSpPr/>
            <p:nvPr/>
          </p:nvSpPr>
          <p:spPr>
            <a:xfrm>
              <a:off x="0" y="0"/>
              <a:ext cx="2106930" cy="5143500"/>
            </a:xfrm>
            <a:custGeom>
              <a:rect b="b" l="l" r="r" t="t"/>
              <a:pathLst>
                <a:path extrusionOk="0" h="5143500" w="2106930">
                  <a:moveTo>
                    <a:pt x="0" y="0"/>
                  </a:moveTo>
                  <a:lnTo>
                    <a:pt x="2106637" y="0"/>
                  </a:lnTo>
                  <a:lnTo>
                    <a:pt x="2106637" y="5143500"/>
                  </a:lnTo>
                  <a:lnTo>
                    <a:pt x="0" y="5143500"/>
                  </a:lnTo>
                  <a:lnTo>
                    <a:pt x="0" y="0"/>
                  </a:lnTo>
                  <a:close/>
                </a:path>
              </a:pathLst>
            </a:custGeom>
            <a:noFill/>
            <a:ln cap="flat" cmpd="sng" w="25400">
              <a:solidFill>
                <a:srgbClr val="385D8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89" name="Google Shape;89;p9"/>
            <p:cNvPicPr preferRelativeResize="0"/>
            <p:nvPr/>
          </p:nvPicPr>
          <p:blipFill rotWithShape="1">
            <a:blip r:embed="rId3">
              <a:alphaModFix/>
            </a:blip>
            <a:srcRect b="0" l="0" r="0" t="0"/>
            <a:stretch/>
          </p:blipFill>
          <p:spPr>
            <a:xfrm>
              <a:off x="2049788" y="2358092"/>
              <a:ext cx="182452" cy="188658"/>
            </a:xfrm>
            <a:prstGeom prst="rect">
              <a:avLst/>
            </a:prstGeom>
            <a:noFill/>
            <a:ln>
              <a:noFill/>
            </a:ln>
          </p:spPr>
        </p:pic>
        <p:sp>
          <p:nvSpPr>
            <p:cNvPr id="90" name="Google Shape;90;p9"/>
            <p:cNvSpPr/>
            <p:nvPr/>
          </p:nvSpPr>
          <p:spPr>
            <a:xfrm>
              <a:off x="1957425" y="2678048"/>
              <a:ext cx="255270" cy="280035"/>
            </a:xfrm>
            <a:custGeom>
              <a:rect b="b" l="l" r="r" t="t"/>
              <a:pathLst>
                <a:path extrusionOk="0" h="280035" w="255269">
                  <a:moveTo>
                    <a:pt x="254660" y="279577"/>
                  </a:moveTo>
                  <a:lnTo>
                    <a:pt x="252996" y="59677"/>
                  </a:lnTo>
                  <a:lnTo>
                    <a:pt x="91427" y="0"/>
                  </a:lnTo>
                  <a:lnTo>
                    <a:pt x="120103" y="44208"/>
                  </a:lnTo>
                  <a:lnTo>
                    <a:pt x="147015" y="91274"/>
                  </a:lnTo>
                  <a:lnTo>
                    <a:pt x="184594" y="161340"/>
                  </a:lnTo>
                  <a:lnTo>
                    <a:pt x="0" y="193230"/>
                  </a:lnTo>
                  <a:lnTo>
                    <a:pt x="239217" y="255790"/>
                  </a:lnTo>
                  <a:lnTo>
                    <a:pt x="254660" y="279577"/>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91" name="Google Shape;91;p9"/>
            <p:cNvPicPr preferRelativeResize="0"/>
            <p:nvPr/>
          </p:nvPicPr>
          <p:blipFill rotWithShape="1">
            <a:blip r:embed="rId4">
              <a:alphaModFix/>
            </a:blip>
            <a:srcRect b="0" l="0" r="0" t="0"/>
            <a:stretch/>
          </p:blipFill>
          <p:spPr>
            <a:xfrm>
              <a:off x="1989672" y="2010773"/>
              <a:ext cx="163647" cy="161066"/>
            </a:xfrm>
            <a:prstGeom prst="rect">
              <a:avLst/>
            </a:prstGeom>
            <a:noFill/>
            <a:ln>
              <a:noFill/>
            </a:ln>
          </p:spPr>
        </p:pic>
        <p:sp>
          <p:nvSpPr>
            <p:cNvPr id="92" name="Google Shape;92;p9"/>
            <p:cNvSpPr/>
            <p:nvPr/>
          </p:nvSpPr>
          <p:spPr>
            <a:xfrm>
              <a:off x="1226894" y="3315020"/>
              <a:ext cx="1800225" cy="245110"/>
            </a:xfrm>
            <a:custGeom>
              <a:rect b="b" l="l" r="r" t="t"/>
              <a:pathLst>
                <a:path extrusionOk="0" h="245110" w="1800225">
                  <a:moveTo>
                    <a:pt x="363510" y="0"/>
                  </a:moveTo>
                  <a:lnTo>
                    <a:pt x="315081" y="794"/>
                  </a:lnTo>
                  <a:lnTo>
                    <a:pt x="269140" y="2969"/>
                  </a:lnTo>
                  <a:lnTo>
                    <a:pt x="226062" y="6306"/>
                  </a:lnTo>
                  <a:lnTo>
                    <a:pt x="186228" y="10585"/>
                  </a:lnTo>
                  <a:lnTo>
                    <a:pt x="117802" y="21097"/>
                  </a:lnTo>
                  <a:lnTo>
                    <a:pt x="40555" y="76135"/>
                  </a:lnTo>
                  <a:lnTo>
                    <a:pt x="14712" y="113320"/>
                  </a:lnTo>
                  <a:lnTo>
                    <a:pt x="4006" y="157142"/>
                  </a:lnTo>
                  <a:lnTo>
                    <a:pt x="0" y="226295"/>
                  </a:lnTo>
                  <a:lnTo>
                    <a:pt x="782332" y="139605"/>
                  </a:lnTo>
                  <a:lnTo>
                    <a:pt x="791483" y="178837"/>
                  </a:lnTo>
                  <a:lnTo>
                    <a:pt x="816438" y="210993"/>
                  </a:lnTo>
                  <a:lnTo>
                    <a:pt x="853452" y="232922"/>
                  </a:lnTo>
                  <a:lnTo>
                    <a:pt x="898779" y="241471"/>
                  </a:lnTo>
                  <a:lnTo>
                    <a:pt x="898779" y="244723"/>
                  </a:lnTo>
                  <a:lnTo>
                    <a:pt x="944970" y="236730"/>
                  </a:lnTo>
                  <a:lnTo>
                    <a:pt x="982649" y="214920"/>
                  </a:lnTo>
                  <a:lnTo>
                    <a:pt x="1008031" y="182545"/>
                  </a:lnTo>
                  <a:lnTo>
                    <a:pt x="1017333" y="142856"/>
                  </a:lnTo>
                  <a:lnTo>
                    <a:pt x="1799666" y="229546"/>
                  </a:lnTo>
                  <a:lnTo>
                    <a:pt x="1784077" y="148862"/>
                  </a:lnTo>
                  <a:lnTo>
                    <a:pt x="1753473" y="85820"/>
                  </a:lnTo>
                  <a:lnTo>
                    <a:pt x="1723578" y="44791"/>
                  </a:lnTo>
                  <a:lnTo>
                    <a:pt x="1682365" y="24293"/>
                  </a:lnTo>
                  <a:lnTo>
                    <a:pt x="1614150" y="13703"/>
                  </a:lnTo>
                  <a:lnTo>
                    <a:pt x="1574441" y="9396"/>
                  </a:lnTo>
                  <a:lnTo>
                    <a:pt x="1531500" y="6036"/>
                  </a:lnTo>
                  <a:lnTo>
                    <a:pt x="1485705" y="3840"/>
                  </a:lnTo>
                  <a:lnTo>
                    <a:pt x="1437432" y="3022"/>
                  </a:lnTo>
                  <a:lnTo>
                    <a:pt x="1387057" y="3801"/>
                  </a:lnTo>
                  <a:lnTo>
                    <a:pt x="1334958" y="6391"/>
                  </a:lnTo>
                  <a:lnTo>
                    <a:pt x="1281512" y="11009"/>
                  </a:lnTo>
                  <a:lnTo>
                    <a:pt x="1227094" y="17872"/>
                  </a:lnTo>
                  <a:lnTo>
                    <a:pt x="1172083" y="27195"/>
                  </a:lnTo>
                  <a:lnTo>
                    <a:pt x="1116855" y="39194"/>
                  </a:lnTo>
                  <a:lnTo>
                    <a:pt x="1061786" y="54086"/>
                  </a:lnTo>
                  <a:lnTo>
                    <a:pt x="1007254" y="72087"/>
                  </a:lnTo>
                  <a:lnTo>
                    <a:pt x="953635" y="93414"/>
                  </a:lnTo>
                  <a:lnTo>
                    <a:pt x="901306" y="118281"/>
                  </a:lnTo>
                  <a:lnTo>
                    <a:pt x="901306" y="116122"/>
                  </a:lnTo>
                  <a:lnTo>
                    <a:pt x="848823" y="91077"/>
                  </a:lnTo>
                  <a:lnTo>
                    <a:pt x="795043" y="69600"/>
                  </a:lnTo>
                  <a:lnTo>
                    <a:pt x="740344" y="51473"/>
                  </a:lnTo>
                  <a:lnTo>
                    <a:pt x="685105" y="36477"/>
                  </a:lnTo>
                  <a:lnTo>
                    <a:pt x="629704" y="24393"/>
                  </a:lnTo>
                  <a:lnTo>
                    <a:pt x="574519" y="15003"/>
                  </a:lnTo>
                  <a:lnTo>
                    <a:pt x="519929" y="8087"/>
                  </a:lnTo>
                  <a:lnTo>
                    <a:pt x="466312" y="3427"/>
                  </a:lnTo>
                  <a:lnTo>
                    <a:pt x="414046" y="804"/>
                  </a:lnTo>
                  <a:lnTo>
                    <a:pt x="363510" y="0"/>
                  </a:lnTo>
                  <a:close/>
                </a:path>
              </a:pathLst>
            </a:custGeom>
            <a:solidFill>
              <a:srgbClr val="F9F8F7"/>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93" name="Google Shape;93;p9"/>
            <p:cNvSpPr/>
            <p:nvPr/>
          </p:nvSpPr>
          <p:spPr>
            <a:xfrm>
              <a:off x="1187799" y="3443425"/>
              <a:ext cx="1880235" cy="145415"/>
            </a:xfrm>
            <a:custGeom>
              <a:rect b="b" l="l" r="r" t="t"/>
              <a:pathLst>
                <a:path extrusionOk="0" h="145414" w="1880235">
                  <a:moveTo>
                    <a:pt x="1053896" y="0"/>
                  </a:moveTo>
                  <a:lnTo>
                    <a:pt x="1044170" y="1765"/>
                  </a:lnTo>
                  <a:lnTo>
                    <a:pt x="1036294" y="6545"/>
                  </a:lnTo>
                  <a:lnTo>
                    <a:pt x="1031018" y="13560"/>
                  </a:lnTo>
                  <a:lnTo>
                    <a:pt x="1021724" y="53099"/>
                  </a:lnTo>
                  <a:lnTo>
                    <a:pt x="1001664" y="78476"/>
                  </a:lnTo>
                  <a:lnTo>
                    <a:pt x="971990" y="95590"/>
                  </a:lnTo>
                  <a:lnTo>
                    <a:pt x="935774" y="101866"/>
                  </a:lnTo>
                  <a:lnTo>
                    <a:pt x="899558" y="95590"/>
                  </a:lnTo>
                  <a:lnTo>
                    <a:pt x="869883" y="78476"/>
                  </a:lnTo>
                  <a:lnTo>
                    <a:pt x="849824" y="53099"/>
                  </a:lnTo>
                  <a:lnTo>
                    <a:pt x="840529" y="13410"/>
                  </a:lnTo>
                  <a:lnTo>
                    <a:pt x="835253" y="6411"/>
                  </a:lnTo>
                  <a:lnTo>
                    <a:pt x="827377" y="1715"/>
                  </a:lnTo>
                  <a:lnTo>
                    <a:pt x="817651" y="0"/>
                  </a:lnTo>
                  <a:lnTo>
                    <a:pt x="19761" y="79476"/>
                  </a:lnTo>
                  <a:lnTo>
                    <a:pt x="11353" y="79476"/>
                  </a:lnTo>
                  <a:lnTo>
                    <a:pt x="0" y="85255"/>
                  </a:lnTo>
                  <a:lnTo>
                    <a:pt x="0" y="116319"/>
                  </a:lnTo>
                  <a:lnTo>
                    <a:pt x="10934" y="122453"/>
                  </a:lnTo>
                  <a:lnTo>
                    <a:pt x="19761" y="122453"/>
                  </a:lnTo>
                  <a:lnTo>
                    <a:pt x="794105" y="42989"/>
                  </a:lnTo>
                  <a:lnTo>
                    <a:pt x="811453" y="83289"/>
                  </a:lnTo>
                  <a:lnTo>
                    <a:pt x="843027" y="115596"/>
                  </a:lnTo>
                  <a:lnTo>
                    <a:pt x="885558" y="137067"/>
                  </a:lnTo>
                  <a:lnTo>
                    <a:pt x="935774" y="144856"/>
                  </a:lnTo>
                  <a:lnTo>
                    <a:pt x="985990" y="137067"/>
                  </a:lnTo>
                  <a:lnTo>
                    <a:pt x="1028520" y="115596"/>
                  </a:lnTo>
                  <a:lnTo>
                    <a:pt x="1060094" y="83289"/>
                  </a:lnTo>
                  <a:lnTo>
                    <a:pt x="1077442" y="42989"/>
                  </a:lnTo>
                  <a:lnTo>
                    <a:pt x="1864398" y="122453"/>
                  </a:lnTo>
                  <a:lnTo>
                    <a:pt x="1872805" y="122453"/>
                  </a:lnTo>
                  <a:lnTo>
                    <a:pt x="1879955" y="116674"/>
                  </a:lnTo>
                  <a:lnTo>
                    <a:pt x="1879955" y="85610"/>
                  </a:lnTo>
                  <a:lnTo>
                    <a:pt x="1873224" y="79476"/>
                  </a:lnTo>
                  <a:lnTo>
                    <a:pt x="1864398" y="79476"/>
                  </a:lnTo>
                  <a:lnTo>
                    <a:pt x="1053896" y="0"/>
                  </a:lnTo>
                  <a:close/>
                </a:path>
              </a:pathLst>
            </a:custGeom>
            <a:solidFill>
              <a:srgbClr val="215968"/>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94" name="Google Shape;94;p9"/>
            <p:cNvSpPr/>
            <p:nvPr/>
          </p:nvSpPr>
          <p:spPr>
            <a:xfrm>
              <a:off x="1336192" y="3090138"/>
              <a:ext cx="1579245" cy="355600"/>
            </a:xfrm>
            <a:custGeom>
              <a:rect b="b" l="l" r="r" t="t"/>
              <a:pathLst>
                <a:path extrusionOk="0" h="355600" w="1579245">
                  <a:moveTo>
                    <a:pt x="1578648" y="207835"/>
                  </a:moveTo>
                  <a:lnTo>
                    <a:pt x="1549158" y="206641"/>
                  </a:lnTo>
                  <a:lnTo>
                    <a:pt x="1518767" y="205943"/>
                  </a:lnTo>
                  <a:lnTo>
                    <a:pt x="1478762" y="205740"/>
                  </a:lnTo>
                  <a:lnTo>
                    <a:pt x="1430413" y="206451"/>
                  </a:lnTo>
                  <a:lnTo>
                    <a:pt x="1375016" y="208521"/>
                  </a:lnTo>
                  <a:lnTo>
                    <a:pt x="1313815" y="212382"/>
                  </a:lnTo>
                  <a:lnTo>
                    <a:pt x="1248105" y="218465"/>
                  </a:lnTo>
                  <a:lnTo>
                    <a:pt x="1179156" y="227215"/>
                  </a:lnTo>
                  <a:lnTo>
                    <a:pt x="1108240" y="239064"/>
                  </a:lnTo>
                  <a:lnTo>
                    <a:pt x="1036637" y="254457"/>
                  </a:lnTo>
                  <a:lnTo>
                    <a:pt x="965606" y="273812"/>
                  </a:lnTo>
                  <a:lnTo>
                    <a:pt x="973035" y="271284"/>
                  </a:lnTo>
                  <a:lnTo>
                    <a:pt x="1034427" y="252120"/>
                  </a:lnTo>
                  <a:lnTo>
                    <a:pt x="1110259" y="233159"/>
                  </a:lnTo>
                  <a:lnTo>
                    <a:pt x="1153248" y="224180"/>
                  </a:lnTo>
                  <a:lnTo>
                    <a:pt x="1199667" y="215709"/>
                  </a:lnTo>
                  <a:lnTo>
                    <a:pt x="1249527" y="207835"/>
                  </a:lnTo>
                  <a:lnTo>
                    <a:pt x="1302867" y="200685"/>
                  </a:lnTo>
                  <a:lnTo>
                    <a:pt x="1359725" y="194386"/>
                  </a:lnTo>
                  <a:lnTo>
                    <a:pt x="1420114" y="189039"/>
                  </a:lnTo>
                  <a:lnTo>
                    <a:pt x="1484071" y="184772"/>
                  </a:lnTo>
                  <a:lnTo>
                    <a:pt x="1551622" y="181698"/>
                  </a:lnTo>
                  <a:lnTo>
                    <a:pt x="1556245" y="181698"/>
                  </a:lnTo>
                  <a:lnTo>
                    <a:pt x="1560029" y="178092"/>
                  </a:lnTo>
                  <a:lnTo>
                    <a:pt x="1559687" y="174802"/>
                  </a:lnTo>
                  <a:lnTo>
                    <a:pt x="1559610" y="170141"/>
                  </a:lnTo>
                  <a:lnTo>
                    <a:pt x="1555407" y="166890"/>
                  </a:lnTo>
                  <a:lnTo>
                    <a:pt x="1550784" y="167246"/>
                  </a:lnTo>
                  <a:lnTo>
                    <a:pt x="1482598" y="170421"/>
                  </a:lnTo>
                  <a:lnTo>
                    <a:pt x="1417993" y="174802"/>
                  </a:lnTo>
                  <a:lnTo>
                    <a:pt x="1356956" y="180263"/>
                  </a:lnTo>
                  <a:lnTo>
                    <a:pt x="1299464" y="186690"/>
                  </a:lnTo>
                  <a:lnTo>
                    <a:pt x="1245133" y="194030"/>
                  </a:lnTo>
                  <a:lnTo>
                    <a:pt x="1195044" y="201980"/>
                  </a:lnTo>
                  <a:lnTo>
                    <a:pt x="1147851" y="210642"/>
                  </a:lnTo>
                  <a:lnTo>
                    <a:pt x="1104557" y="219697"/>
                  </a:lnTo>
                  <a:lnTo>
                    <a:pt x="1064501" y="229171"/>
                  </a:lnTo>
                  <a:lnTo>
                    <a:pt x="994625" y="248767"/>
                  </a:lnTo>
                  <a:lnTo>
                    <a:pt x="947051" y="264947"/>
                  </a:lnTo>
                  <a:lnTo>
                    <a:pt x="930300" y="271284"/>
                  </a:lnTo>
                  <a:lnTo>
                    <a:pt x="938593" y="268097"/>
                  </a:lnTo>
                  <a:lnTo>
                    <a:pt x="957973" y="260807"/>
                  </a:lnTo>
                  <a:lnTo>
                    <a:pt x="1003046" y="243738"/>
                  </a:lnTo>
                  <a:lnTo>
                    <a:pt x="1075321" y="220726"/>
                  </a:lnTo>
                  <a:lnTo>
                    <a:pt x="1147013" y="201536"/>
                  </a:lnTo>
                  <a:lnTo>
                    <a:pt x="1215898" y="186118"/>
                  </a:lnTo>
                  <a:lnTo>
                    <a:pt x="1281163" y="173951"/>
                  </a:lnTo>
                  <a:lnTo>
                    <a:pt x="1341640" y="164668"/>
                  </a:lnTo>
                  <a:lnTo>
                    <a:pt x="1396174" y="157886"/>
                  </a:lnTo>
                  <a:lnTo>
                    <a:pt x="1443570" y="153200"/>
                  </a:lnTo>
                  <a:lnTo>
                    <a:pt x="1482686" y="150228"/>
                  </a:lnTo>
                  <a:lnTo>
                    <a:pt x="1531366" y="147891"/>
                  </a:lnTo>
                  <a:lnTo>
                    <a:pt x="1538592" y="147739"/>
                  </a:lnTo>
                  <a:lnTo>
                    <a:pt x="1539849" y="147739"/>
                  </a:lnTo>
                  <a:lnTo>
                    <a:pt x="1540700" y="147015"/>
                  </a:lnTo>
                  <a:lnTo>
                    <a:pt x="1540700" y="145046"/>
                  </a:lnTo>
                  <a:lnTo>
                    <a:pt x="1540916" y="145046"/>
                  </a:lnTo>
                  <a:lnTo>
                    <a:pt x="1539849" y="144132"/>
                  </a:lnTo>
                  <a:lnTo>
                    <a:pt x="1538592" y="144132"/>
                  </a:lnTo>
                  <a:lnTo>
                    <a:pt x="1528546" y="144335"/>
                  </a:lnTo>
                  <a:lnTo>
                    <a:pt x="1529892" y="144335"/>
                  </a:lnTo>
                  <a:lnTo>
                    <a:pt x="1510779" y="145046"/>
                  </a:lnTo>
                  <a:lnTo>
                    <a:pt x="1511604" y="145046"/>
                  </a:lnTo>
                  <a:lnTo>
                    <a:pt x="1484655" y="146519"/>
                  </a:lnTo>
                  <a:lnTo>
                    <a:pt x="1446898" y="149339"/>
                  </a:lnTo>
                  <a:lnTo>
                    <a:pt x="1401089" y="153784"/>
                  </a:lnTo>
                  <a:lnTo>
                    <a:pt x="1348320" y="160210"/>
                  </a:lnTo>
                  <a:lnTo>
                    <a:pt x="1289685" y="168986"/>
                  </a:lnTo>
                  <a:lnTo>
                    <a:pt x="1226299" y="180467"/>
                  </a:lnTo>
                  <a:lnTo>
                    <a:pt x="1159243" y="195033"/>
                  </a:lnTo>
                  <a:lnTo>
                    <a:pt x="1089634" y="213029"/>
                  </a:lnTo>
                  <a:lnTo>
                    <a:pt x="1018552" y="234835"/>
                  </a:lnTo>
                  <a:lnTo>
                    <a:pt x="947115" y="260807"/>
                  </a:lnTo>
                  <a:lnTo>
                    <a:pt x="954836" y="257289"/>
                  </a:lnTo>
                  <a:lnTo>
                    <a:pt x="1011250" y="233832"/>
                  </a:lnTo>
                  <a:lnTo>
                    <a:pt x="1082332" y="207835"/>
                  </a:lnTo>
                  <a:lnTo>
                    <a:pt x="1123315" y="194691"/>
                  </a:lnTo>
                  <a:lnTo>
                    <a:pt x="1166939" y="182181"/>
                  </a:lnTo>
                  <a:lnTo>
                    <a:pt x="1213548" y="170421"/>
                  </a:lnTo>
                  <a:lnTo>
                    <a:pt x="1264818" y="159232"/>
                  </a:lnTo>
                  <a:lnTo>
                    <a:pt x="1318831" y="149339"/>
                  </a:lnTo>
                  <a:lnTo>
                    <a:pt x="1318679" y="149339"/>
                  </a:lnTo>
                  <a:lnTo>
                    <a:pt x="1378216" y="140449"/>
                  </a:lnTo>
                  <a:lnTo>
                    <a:pt x="1441234" y="133146"/>
                  </a:lnTo>
                  <a:lnTo>
                    <a:pt x="1513370" y="127152"/>
                  </a:lnTo>
                  <a:lnTo>
                    <a:pt x="1516735" y="123901"/>
                  </a:lnTo>
                  <a:lnTo>
                    <a:pt x="1515897" y="115951"/>
                  </a:lnTo>
                  <a:lnTo>
                    <a:pt x="1511693" y="113068"/>
                  </a:lnTo>
                  <a:lnTo>
                    <a:pt x="1507058" y="113068"/>
                  </a:lnTo>
                  <a:lnTo>
                    <a:pt x="1438668" y="118719"/>
                  </a:lnTo>
                  <a:lnTo>
                    <a:pt x="1374813" y="126072"/>
                  </a:lnTo>
                  <a:lnTo>
                    <a:pt x="1315313" y="134924"/>
                  </a:lnTo>
                  <a:lnTo>
                    <a:pt x="1259954" y="145046"/>
                  </a:lnTo>
                  <a:lnTo>
                    <a:pt x="1208519" y="156222"/>
                  </a:lnTo>
                  <a:lnTo>
                    <a:pt x="1160818" y="168262"/>
                  </a:lnTo>
                  <a:lnTo>
                    <a:pt x="1116634" y="180936"/>
                  </a:lnTo>
                  <a:lnTo>
                    <a:pt x="1075778" y="194030"/>
                  </a:lnTo>
                  <a:lnTo>
                    <a:pt x="1037945" y="207365"/>
                  </a:lnTo>
                  <a:lnTo>
                    <a:pt x="970813" y="233832"/>
                  </a:lnTo>
                  <a:lnTo>
                    <a:pt x="924407" y="254266"/>
                  </a:lnTo>
                  <a:lnTo>
                    <a:pt x="884453" y="273812"/>
                  </a:lnTo>
                  <a:lnTo>
                    <a:pt x="824788" y="307047"/>
                  </a:lnTo>
                  <a:lnTo>
                    <a:pt x="879373" y="263829"/>
                  </a:lnTo>
                  <a:lnTo>
                    <a:pt x="937120" y="224929"/>
                  </a:lnTo>
                  <a:lnTo>
                    <a:pt x="996708" y="190195"/>
                  </a:lnTo>
                  <a:lnTo>
                    <a:pt x="1056855" y="159486"/>
                  </a:lnTo>
                  <a:lnTo>
                    <a:pt x="1116253" y="132626"/>
                  </a:lnTo>
                  <a:lnTo>
                    <a:pt x="1173619" y="109474"/>
                  </a:lnTo>
                  <a:lnTo>
                    <a:pt x="1227645" y="89877"/>
                  </a:lnTo>
                  <a:lnTo>
                    <a:pt x="1277048" y="73685"/>
                  </a:lnTo>
                  <a:lnTo>
                    <a:pt x="1320507" y="60731"/>
                  </a:lnTo>
                  <a:lnTo>
                    <a:pt x="1384465" y="43942"/>
                  </a:lnTo>
                  <a:lnTo>
                    <a:pt x="1409115" y="38290"/>
                  </a:lnTo>
                  <a:lnTo>
                    <a:pt x="1410373" y="37922"/>
                  </a:lnTo>
                  <a:lnTo>
                    <a:pt x="1410792" y="36842"/>
                  </a:lnTo>
                  <a:lnTo>
                    <a:pt x="1409954" y="34671"/>
                  </a:lnTo>
                  <a:lnTo>
                    <a:pt x="1408696" y="34315"/>
                  </a:lnTo>
                  <a:lnTo>
                    <a:pt x="1407439" y="34671"/>
                  </a:lnTo>
                  <a:lnTo>
                    <a:pt x="1384795" y="39941"/>
                  </a:lnTo>
                  <a:lnTo>
                    <a:pt x="1326045" y="55219"/>
                  </a:lnTo>
                  <a:lnTo>
                    <a:pt x="1285938" y="66954"/>
                  </a:lnTo>
                  <a:lnTo>
                    <a:pt x="1240167" y="81597"/>
                  </a:lnTo>
                  <a:lnTo>
                    <a:pt x="1189837" y="99288"/>
                  </a:lnTo>
                  <a:lnTo>
                    <a:pt x="1136078" y="120154"/>
                  </a:lnTo>
                  <a:lnTo>
                    <a:pt x="1080020" y="144335"/>
                  </a:lnTo>
                  <a:lnTo>
                    <a:pt x="1022769" y="171970"/>
                  </a:lnTo>
                  <a:lnTo>
                    <a:pt x="965428" y="203187"/>
                  </a:lnTo>
                  <a:lnTo>
                    <a:pt x="909154" y="238125"/>
                  </a:lnTo>
                  <a:lnTo>
                    <a:pt x="855027" y="276910"/>
                  </a:lnTo>
                  <a:lnTo>
                    <a:pt x="804189" y="319697"/>
                  </a:lnTo>
                  <a:lnTo>
                    <a:pt x="795286" y="325780"/>
                  </a:lnTo>
                  <a:lnTo>
                    <a:pt x="788885" y="330301"/>
                  </a:lnTo>
                  <a:lnTo>
                    <a:pt x="782332" y="325843"/>
                  </a:lnTo>
                  <a:lnTo>
                    <a:pt x="734999" y="279273"/>
                  </a:lnTo>
                  <a:lnTo>
                    <a:pt x="683856" y="236588"/>
                  </a:lnTo>
                  <a:lnTo>
                    <a:pt x="630072" y="197713"/>
                  </a:lnTo>
                  <a:lnTo>
                    <a:pt x="574814" y="162572"/>
                  </a:lnTo>
                  <a:lnTo>
                    <a:pt x="519214" y="131102"/>
                  </a:lnTo>
                  <a:lnTo>
                    <a:pt x="464464" y="103212"/>
                  </a:lnTo>
                  <a:lnTo>
                    <a:pt x="411708" y="78841"/>
                  </a:lnTo>
                  <a:lnTo>
                    <a:pt x="362115" y="57899"/>
                  </a:lnTo>
                  <a:lnTo>
                    <a:pt x="316839" y="40335"/>
                  </a:lnTo>
                  <a:lnTo>
                    <a:pt x="277050" y="26047"/>
                  </a:lnTo>
                  <a:lnTo>
                    <a:pt x="218541" y="7061"/>
                  </a:lnTo>
                  <a:lnTo>
                    <a:pt x="194627" y="0"/>
                  </a:lnTo>
                  <a:lnTo>
                    <a:pt x="193789" y="355"/>
                  </a:lnTo>
                  <a:lnTo>
                    <a:pt x="192951" y="1079"/>
                  </a:lnTo>
                  <a:lnTo>
                    <a:pt x="192532" y="1803"/>
                  </a:lnTo>
                  <a:lnTo>
                    <a:pt x="192951" y="2882"/>
                  </a:lnTo>
                  <a:lnTo>
                    <a:pt x="193789" y="3606"/>
                  </a:lnTo>
                  <a:lnTo>
                    <a:pt x="218757" y="10922"/>
                  </a:lnTo>
                  <a:lnTo>
                    <a:pt x="246748" y="19710"/>
                  </a:lnTo>
                  <a:lnTo>
                    <a:pt x="283235" y="32016"/>
                  </a:lnTo>
                  <a:lnTo>
                    <a:pt x="326847" y="47942"/>
                  </a:lnTo>
                  <a:lnTo>
                    <a:pt x="376212" y="67564"/>
                  </a:lnTo>
                  <a:lnTo>
                    <a:pt x="429945" y="90970"/>
                  </a:lnTo>
                  <a:lnTo>
                    <a:pt x="486676" y="118249"/>
                  </a:lnTo>
                  <a:lnTo>
                    <a:pt x="545033" y="149479"/>
                  </a:lnTo>
                  <a:lnTo>
                    <a:pt x="603643" y="184759"/>
                  </a:lnTo>
                  <a:lnTo>
                    <a:pt x="661123" y="224167"/>
                  </a:lnTo>
                  <a:lnTo>
                    <a:pt x="716102" y="267792"/>
                  </a:lnTo>
                  <a:lnTo>
                    <a:pt x="767194" y="315722"/>
                  </a:lnTo>
                  <a:lnTo>
                    <a:pt x="740689" y="299491"/>
                  </a:lnTo>
                  <a:lnTo>
                    <a:pt x="705192" y="279679"/>
                  </a:lnTo>
                  <a:lnTo>
                    <a:pt x="660539" y="257302"/>
                  </a:lnTo>
                  <a:lnTo>
                    <a:pt x="606602" y="233362"/>
                  </a:lnTo>
                  <a:lnTo>
                    <a:pt x="539800" y="207137"/>
                  </a:lnTo>
                  <a:lnTo>
                    <a:pt x="502094" y="193878"/>
                  </a:lnTo>
                  <a:lnTo>
                    <a:pt x="461251" y="180835"/>
                  </a:lnTo>
                  <a:lnTo>
                    <a:pt x="417080" y="168198"/>
                  </a:lnTo>
                  <a:lnTo>
                    <a:pt x="369379" y="156184"/>
                  </a:lnTo>
                  <a:lnTo>
                    <a:pt x="317957" y="145021"/>
                  </a:lnTo>
                  <a:lnTo>
                    <a:pt x="262597" y="134899"/>
                  </a:lnTo>
                  <a:lnTo>
                    <a:pt x="203136" y="126060"/>
                  </a:lnTo>
                  <a:lnTo>
                    <a:pt x="139344" y="118719"/>
                  </a:lnTo>
                  <a:lnTo>
                    <a:pt x="66421" y="112712"/>
                  </a:lnTo>
                  <a:lnTo>
                    <a:pt x="62217" y="115595"/>
                  </a:lnTo>
                  <a:lnTo>
                    <a:pt x="61366" y="123901"/>
                  </a:lnTo>
                  <a:lnTo>
                    <a:pt x="64731" y="127152"/>
                  </a:lnTo>
                  <a:lnTo>
                    <a:pt x="136867" y="133146"/>
                  </a:lnTo>
                  <a:lnTo>
                    <a:pt x="199885" y="140449"/>
                  </a:lnTo>
                  <a:lnTo>
                    <a:pt x="258635" y="149225"/>
                  </a:lnTo>
                  <a:lnTo>
                    <a:pt x="313283" y="159232"/>
                  </a:lnTo>
                  <a:lnTo>
                    <a:pt x="364070" y="170294"/>
                  </a:lnTo>
                  <a:lnTo>
                    <a:pt x="411162" y="182181"/>
                  </a:lnTo>
                  <a:lnTo>
                    <a:pt x="454799" y="194691"/>
                  </a:lnTo>
                  <a:lnTo>
                    <a:pt x="495147" y="207606"/>
                  </a:lnTo>
                  <a:lnTo>
                    <a:pt x="532447" y="220726"/>
                  </a:lnTo>
                  <a:lnTo>
                    <a:pt x="615276" y="253771"/>
                  </a:lnTo>
                  <a:lnTo>
                    <a:pt x="630986" y="260819"/>
                  </a:lnTo>
                  <a:lnTo>
                    <a:pt x="559549" y="234759"/>
                  </a:lnTo>
                  <a:lnTo>
                    <a:pt x="488480" y="212890"/>
                  </a:lnTo>
                  <a:lnTo>
                    <a:pt x="418871" y="194830"/>
                  </a:lnTo>
                  <a:lnTo>
                    <a:pt x="351828" y="180213"/>
                  </a:lnTo>
                  <a:lnTo>
                    <a:pt x="288455" y="168694"/>
                  </a:lnTo>
                  <a:lnTo>
                    <a:pt x="229844" y="159893"/>
                  </a:lnTo>
                  <a:lnTo>
                    <a:pt x="177101" y="153441"/>
                  </a:lnTo>
                  <a:lnTo>
                    <a:pt x="131330" y="148983"/>
                  </a:lnTo>
                  <a:lnTo>
                    <a:pt x="65087" y="144589"/>
                  </a:lnTo>
                  <a:lnTo>
                    <a:pt x="38671" y="143776"/>
                  </a:lnTo>
                  <a:lnTo>
                    <a:pt x="37833" y="144500"/>
                  </a:lnTo>
                  <a:lnTo>
                    <a:pt x="37833" y="146659"/>
                  </a:lnTo>
                  <a:lnTo>
                    <a:pt x="38671" y="147383"/>
                  </a:lnTo>
                  <a:lnTo>
                    <a:pt x="66192" y="148221"/>
                  </a:lnTo>
                  <a:lnTo>
                    <a:pt x="95846" y="149872"/>
                  </a:lnTo>
                  <a:lnTo>
                    <a:pt x="134950" y="152831"/>
                  </a:lnTo>
                  <a:lnTo>
                    <a:pt x="182359" y="157518"/>
                  </a:lnTo>
                  <a:lnTo>
                    <a:pt x="236880" y="164312"/>
                  </a:lnTo>
                  <a:lnTo>
                    <a:pt x="297357" y="173596"/>
                  </a:lnTo>
                  <a:lnTo>
                    <a:pt x="362623" y="185750"/>
                  </a:lnTo>
                  <a:lnTo>
                    <a:pt x="431520" y="201180"/>
                  </a:lnTo>
                  <a:lnTo>
                    <a:pt x="502856" y="220256"/>
                  </a:lnTo>
                  <a:lnTo>
                    <a:pt x="575475" y="243370"/>
                  </a:lnTo>
                  <a:lnTo>
                    <a:pt x="648220" y="270929"/>
                  </a:lnTo>
                  <a:lnTo>
                    <a:pt x="613752" y="258292"/>
                  </a:lnTo>
                  <a:lnTo>
                    <a:pt x="583819" y="248335"/>
                  </a:lnTo>
                  <a:lnTo>
                    <a:pt x="513854" y="228663"/>
                  </a:lnTo>
                  <a:lnTo>
                    <a:pt x="473786" y="219176"/>
                  </a:lnTo>
                  <a:lnTo>
                    <a:pt x="430288" y="210083"/>
                  </a:lnTo>
                  <a:lnTo>
                    <a:pt x="383336" y="201485"/>
                  </a:lnTo>
                  <a:lnTo>
                    <a:pt x="332905" y="193497"/>
                  </a:lnTo>
                  <a:lnTo>
                    <a:pt x="278980" y="186245"/>
                  </a:lnTo>
                  <a:lnTo>
                    <a:pt x="221513" y="179844"/>
                  </a:lnTo>
                  <a:lnTo>
                    <a:pt x="160515" y="174409"/>
                  </a:lnTo>
                  <a:lnTo>
                    <a:pt x="95923" y="170053"/>
                  </a:lnTo>
                  <a:lnTo>
                    <a:pt x="27736" y="166890"/>
                  </a:lnTo>
                  <a:lnTo>
                    <a:pt x="23114" y="166890"/>
                  </a:lnTo>
                  <a:lnTo>
                    <a:pt x="19329" y="169786"/>
                  </a:lnTo>
                  <a:lnTo>
                    <a:pt x="18910" y="173761"/>
                  </a:lnTo>
                  <a:lnTo>
                    <a:pt x="18910" y="177736"/>
                  </a:lnTo>
                  <a:lnTo>
                    <a:pt x="22275" y="180987"/>
                  </a:lnTo>
                  <a:lnTo>
                    <a:pt x="26898" y="181343"/>
                  </a:lnTo>
                  <a:lnTo>
                    <a:pt x="94361" y="184492"/>
                  </a:lnTo>
                  <a:lnTo>
                    <a:pt x="158267" y="188836"/>
                  </a:lnTo>
                  <a:lnTo>
                    <a:pt x="218630" y="194221"/>
                  </a:lnTo>
                  <a:lnTo>
                    <a:pt x="275475" y="200571"/>
                  </a:lnTo>
                  <a:lnTo>
                    <a:pt x="328828" y="207733"/>
                  </a:lnTo>
                  <a:lnTo>
                    <a:pt x="378714" y="215607"/>
                  </a:lnTo>
                  <a:lnTo>
                    <a:pt x="425157" y="224091"/>
                  </a:lnTo>
                  <a:lnTo>
                    <a:pt x="468185" y="233032"/>
                  </a:lnTo>
                  <a:lnTo>
                    <a:pt x="507809" y="242354"/>
                  </a:lnTo>
                  <a:lnTo>
                    <a:pt x="576999" y="261594"/>
                  </a:lnTo>
                  <a:lnTo>
                    <a:pt x="612914" y="273456"/>
                  </a:lnTo>
                  <a:lnTo>
                    <a:pt x="541883" y="254177"/>
                  </a:lnTo>
                  <a:lnTo>
                    <a:pt x="470255" y="238861"/>
                  </a:lnTo>
                  <a:lnTo>
                    <a:pt x="399300" y="227063"/>
                  </a:lnTo>
                  <a:lnTo>
                    <a:pt x="330301" y="218363"/>
                  </a:lnTo>
                  <a:lnTo>
                    <a:pt x="264553" y="212305"/>
                  </a:lnTo>
                  <a:lnTo>
                    <a:pt x="203301" y="208483"/>
                  </a:lnTo>
                  <a:lnTo>
                    <a:pt x="147840" y="206438"/>
                  </a:lnTo>
                  <a:lnTo>
                    <a:pt x="99453" y="205740"/>
                  </a:lnTo>
                  <a:lnTo>
                    <a:pt x="59410" y="205943"/>
                  </a:lnTo>
                  <a:lnTo>
                    <a:pt x="28981" y="206641"/>
                  </a:lnTo>
                  <a:lnTo>
                    <a:pt x="838" y="207721"/>
                  </a:lnTo>
                  <a:lnTo>
                    <a:pt x="0" y="208432"/>
                  </a:lnTo>
                  <a:lnTo>
                    <a:pt x="0" y="210604"/>
                  </a:lnTo>
                  <a:lnTo>
                    <a:pt x="838" y="211328"/>
                  </a:lnTo>
                  <a:lnTo>
                    <a:pt x="27432" y="210286"/>
                  </a:lnTo>
                  <a:lnTo>
                    <a:pt x="56057" y="209588"/>
                  </a:lnTo>
                  <a:lnTo>
                    <a:pt x="139458" y="209829"/>
                  </a:lnTo>
                  <a:lnTo>
                    <a:pt x="191922" y="211556"/>
                  </a:lnTo>
                  <a:lnTo>
                    <a:pt x="249999" y="214884"/>
                  </a:lnTo>
                  <a:lnTo>
                    <a:pt x="312559" y="220218"/>
                  </a:lnTo>
                  <a:lnTo>
                    <a:pt x="378434" y="227952"/>
                  </a:lnTo>
                  <a:lnTo>
                    <a:pt x="446481" y="238467"/>
                  </a:lnTo>
                  <a:lnTo>
                    <a:pt x="515518" y="252196"/>
                  </a:lnTo>
                  <a:lnTo>
                    <a:pt x="584415" y="269506"/>
                  </a:lnTo>
                  <a:lnTo>
                    <a:pt x="652005" y="290804"/>
                  </a:lnTo>
                  <a:lnTo>
                    <a:pt x="653694" y="290804"/>
                  </a:lnTo>
                  <a:lnTo>
                    <a:pt x="712012" y="314871"/>
                  </a:lnTo>
                  <a:lnTo>
                    <a:pt x="752475" y="335724"/>
                  </a:lnTo>
                  <a:lnTo>
                    <a:pt x="784847" y="355460"/>
                  </a:lnTo>
                  <a:lnTo>
                    <a:pt x="789101" y="351409"/>
                  </a:lnTo>
                  <a:lnTo>
                    <a:pt x="792835" y="355092"/>
                  </a:lnTo>
                  <a:lnTo>
                    <a:pt x="800900" y="349643"/>
                  </a:lnTo>
                  <a:lnTo>
                    <a:pt x="824890" y="335368"/>
                  </a:lnTo>
                  <a:lnTo>
                    <a:pt x="865428" y="314502"/>
                  </a:lnTo>
                  <a:lnTo>
                    <a:pt x="882535" y="307047"/>
                  </a:lnTo>
                  <a:lnTo>
                    <a:pt x="923150" y="289344"/>
                  </a:lnTo>
                  <a:lnTo>
                    <a:pt x="923569" y="290068"/>
                  </a:lnTo>
                  <a:lnTo>
                    <a:pt x="923988" y="290436"/>
                  </a:lnTo>
                  <a:lnTo>
                    <a:pt x="925677" y="290436"/>
                  </a:lnTo>
                  <a:lnTo>
                    <a:pt x="929144" y="289344"/>
                  </a:lnTo>
                  <a:lnTo>
                    <a:pt x="978446" y="273812"/>
                  </a:lnTo>
                  <a:lnTo>
                    <a:pt x="993279" y="269138"/>
                  </a:lnTo>
                  <a:lnTo>
                    <a:pt x="1062189" y="251828"/>
                  </a:lnTo>
                  <a:lnTo>
                    <a:pt x="1131176" y="238125"/>
                  </a:lnTo>
                  <a:lnTo>
                    <a:pt x="1199324" y="227584"/>
                  </a:lnTo>
                  <a:lnTo>
                    <a:pt x="1265237" y="219849"/>
                  </a:lnTo>
                  <a:lnTo>
                    <a:pt x="1327823" y="214528"/>
                  </a:lnTo>
                  <a:lnTo>
                    <a:pt x="1385938" y="211188"/>
                  </a:lnTo>
                  <a:lnTo>
                    <a:pt x="1438414" y="209461"/>
                  </a:lnTo>
                  <a:lnTo>
                    <a:pt x="1484083" y="208940"/>
                  </a:lnTo>
                  <a:lnTo>
                    <a:pt x="1521790" y="209232"/>
                  </a:lnTo>
                  <a:lnTo>
                    <a:pt x="1550390" y="209931"/>
                  </a:lnTo>
                  <a:lnTo>
                    <a:pt x="1575587" y="210959"/>
                  </a:lnTo>
                  <a:lnTo>
                    <a:pt x="1576844" y="210959"/>
                  </a:lnTo>
                  <a:lnTo>
                    <a:pt x="1577682" y="210235"/>
                  </a:lnTo>
                  <a:lnTo>
                    <a:pt x="1577682" y="209232"/>
                  </a:lnTo>
                  <a:lnTo>
                    <a:pt x="1577809" y="208940"/>
                  </a:lnTo>
                  <a:lnTo>
                    <a:pt x="1578063" y="208521"/>
                  </a:lnTo>
                  <a:lnTo>
                    <a:pt x="1578279" y="208521"/>
                  </a:lnTo>
                  <a:lnTo>
                    <a:pt x="1577060" y="207835"/>
                  </a:lnTo>
                  <a:lnTo>
                    <a:pt x="1578648" y="207835"/>
                  </a:lnTo>
                  <a:close/>
                </a:path>
              </a:pathLst>
            </a:custGeom>
            <a:solidFill>
              <a:srgbClr val="F9F8F7"/>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95" name="Google Shape;95;p9"/>
            <p:cNvSpPr/>
            <p:nvPr/>
          </p:nvSpPr>
          <p:spPr>
            <a:xfrm>
              <a:off x="997407" y="1622513"/>
              <a:ext cx="2284095" cy="2179320"/>
            </a:xfrm>
            <a:custGeom>
              <a:rect b="b" l="l" r="r" t="t"/>
              <a:pathLst>
                <a:path extrusionOk="0" h="2179320" w="2284095">
                  <a:moveTo>
                    <a:pt x="2283663" y="2081530"/>
                  </a:moveTo>
                  <a:lnTo>
                    <a:pt x="97764" y="2081530"/>
                  </a:lnTo>
                  <a:lnTo>
                    <a:pt x="97764" y="882650"/>
                  </a:lnTo>
                  <a:lnTo>
                    <a:pt x="97764" y="97790"/>
                  </a:lnTo>
                  <a:lnTo>
                    <a:pt x="1093177" y="97790"/>
                  </a:lnTo>
                  <a:lnTo>
                    <a:pt x="1093177" y="0"/>
                  </a:lnTo>
                  <a:lnTo>
                    <a:pt x="0" y="0"/>
                  </a:lnTo>
                  <a:lnTo>
                    <a:pt x="0" y="97790"/>
                  </a:lnTo>
                  <a:lnTo>
                    <a:pt x="0" y="882650"/>
                  </a:lnTo>
                  <a:lnTo>
                    <a:pt x="0" y="2081530"/>
                  </a:lnTo>
                  <a:lnTo>
                    <a:pt x="0" y="2179320"/>
                  </a:lnTo>
                  <a:lnTo>
                    <a:pt x="2283663" y="2179320"/>
                  </a:lnTo>
                  <a:lnTo>
                    <a:pt x="2283663" y="208153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96" name="Google Shape;96;p9"/>
          <p:cNvSpPr txBox="1"/>
          <p:nvPr>
            <p:ph type="title"/>
          </p:nvPr>
        </p:nvSpPr>
        <p:spPr>
          <a:xfrm>
            <a:off x="4199256" y="2206799"/>
            <a:ext cx="3724275" cy="574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0" lang="en-US">
                <a:solidFill>
                  <a:srgbClr val="002060"/>
                </a:solidFill>
                <a:latin typeface="Malgun Gothic"/>
                <a:ea typeface="Malgun Gothic"/>
                <a:cs typeface="Malgun Gothic"/>
                <a:sym typeface="Malgun Gothic"/>
              </a:rPr>
              <a:t>Machine	Learning</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0"/>
          <p:cNvSpPr txBox="1"/>
          <p:nvPr>
            <p:ph type="title"/>
          </p:nvPr>
        </p:nvSpPr>
        <p:spPr>
          <a:xfrm>
            <a:off x="78739" y="118636"/>
            <a:ext cx="5473065" cy="574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Types of	Machine Learning</a:t>
            </a:r>
            <a:endParaRPr/>
          </a:p>
        </p:txBody>
      </p:sp>
      <p:sp>
        <p:nvSpPr>
          <p:cNvPr id="102" name="Google Shape;102;p10"/>
          <p:cNvSpPr txBox="1"/>
          <p:nvPr/>
        </p:nvSpPr>
        <p:spPr>
          <a:xfrm>
            <a:off x="196775" y="1274700"/>
            <a:ext cx="8807700" cy="2792100"/>
          </a:xfrm>
          <a:prstGeom prst="rect">
            <a:avLst/>
          </a:prstGeom>
          <a:noFill/>
          <a:ln>
            <a:noFill/>
          </a:ln>
        </p:spPr>
        <p:txBody>
          <a:bodyPr anchorCtr="0" anchor="t" bIns="0" lIns="0" spcFirstLastPara="1" rIns="0" wrap="square" tIns="64125">
            <a:spAutoFit/>
          </a:bodyPr>
          <a:lstStyle/>
          <a:p>
            <a:pPr indent="-254000" lvl="0" marL="297815" marR="1407795" rtl="0" algn="l">
              <a:lnSpc>
                <a:spcPct val="108000"/>
              </a:lnSpc>
              <a:spcBef>
                <a:spcPts val="0"/>
              </a:spcBef>
              <a:spcAft>
                <a:spcPts val="0"/>
              </a:spcAft>
              <a:buClr>
                <a:srgbClr val="3E3E3E"/>
              </a:buClr>
              <a:buSzPts val="2500"/>
              <a:buFont typeface="Noto Sans Symbols"/>
              <a:buChar char="▪"/>
            </a:pPr>
            <a:r>
              <a:rPr lang="en-US" sz="2500">
                <a:solidFill>
                  <a:srgbClr val="3E3E3E"/>
                </a:solidFill>
                <a:latin typeface="Times New Roman"/>
                <a:ea typeface="Times New Roman"/>
                <a:cs typeface="Times New Roman"/>
                <a:sym typeface="Times New Roman"/>
              </a:rPr>
              <a:t>There are three types of machine learning algorithms:</a:t>
            </a:r>
            <a:endParaRPr sz="2500">
              <a:latin typeface="Times New Roman"/>
              <a:ea typeface="Times New Roman"/>
              <a:cs typeface="Times New Roman"/>
              <a:sym typeface="Times New Roman"/>
            </a:endParaRPr>
          </a:p>
          <a:p>
            <a:pPr indent="-254000" lvl="1" marL="755015" marR="5080" rtl="0" algn="l">
              <a:lnSpc>
                <a:spcPct val="108076"/>
              </a:lnSpc>
              <a:spcBef>
                <a:spcPts val="645"/>
              </a:spcBef>
              <a:spcAft>
                <a:spcPts val="0"/>
              </a:spcAft>
              <a:buClr>
                <a:srgbClr val="000000"/>
              </a:buClr>
              <a:buSzPts val="2100"/>
              <a:buFont typeface="Arial"/>
              <a:buChar char="–"/>
            </a:pPr>
            <a:r>
              <a:rPr lang="en-US" sz="2100" u="sng">
                <a:solidFill>
                  <a:srgbClr val="0000FF"/>
                </a:solidFill>
                <a:latin typeface="Times New Roman"/>
                <a:ea typeface="Times New Roman"/>
                <a:cs typeface="Times New Roman"/>
                <a:sym typeface="Times New Roman"/>
                <a:hlinkClick r:id="rId3">
                  <a:extLst>
                    <a:ext uri="{A12FA001-AC4F-418D-AE19-62706E023703}">
                      <ahyp:hlinkClr val="tx"/>
                    </a:ext>
                  </a:extLst>
                </a:hlinkClick>
              </a:rPr>
              <a:t>Supervised learning</a:t>
            </a:r>
            <a:r>
              <a:rPr lang="en-US" sz="2100">
                <a:latin typeface="Times New Roman"/>
                <a:ea typeface="Times New Roman"/>
                <a:cs typeface="Times New Roman"/>
                <a:sym typeface="Times New Roman"/>
              </a:rPr>
              <a:t>: Data sets are labeled so that patterns can be detected and used to label new data sets</a:t>
            </a:r>
            <a:endParaRPr sz="2100">
              <a:latin typeface="Times New Roman"/>
              <a:ea typeface="Times New Roman"/>
              <a:cs typeface="Times New Roman"/>
              <a:sym typeface="Times New Roman"/>
            </a:endParaRPr>
          </a:p>
          <a:p>
            <a:pPr indent="-254000" lvl="1" marL="755015" marR="156210" rtl="0" algn="l">
              <a:lnSpc>
                <a:spcPct val="108076"/>
              </a:lnSpc>
              <a:spcBef>
                <a:spcPts val="620"/>
              </a:spcBef>
              <a:spcAft>
                <a:spcPts val="0"/>
              </a:spcAft>
              <a:buClr>
                <a:srgbClr val="000000"/>
              </a:buClr>
              <a:buSzPts val="2100"/>
              <a:buFont typeface="Arial"/>
              <a:buChar char="–"/>
            </a:pPr>
            <a:r>
              <a:rPr lang="en-US" sz="2100" u="sng">
                <a:solidFill>
                  <a:srgbClr val="0000FF"/>
                </a:solidFill>
                <a:latin typeface="Times New Roman"/>
                <a:ea typeface="Times New Roman"/>
                <a:cs typeface="Times New Roman"/>
                <a:sym typeface="Times New Roman"/>
                <a:hlinkClick r:id="rId4">
                  <a:extLst>
                    <a:ext uri="{A12FA001-AC4F-418D-AE19-62706E023703}">
                      <ahyp:hlinkClr val="tx"/>
                    </a:ext>
                  </a:extLst>
                </a:hlinkClick>
              </a:rPr>
              <a:t>Unsupervised learning</a:t>
            </a:r>
            <a:r>
              <a:rPr lang="en-US" sz="2100">
                <a:latin typeface="Times New Roman"/>
                <a:ea typeface="Times New Roman"/>
                <a:cs typeface="Times New Roman"/>
                <a:sym typeface="Times New Roman"/>
              </a:rPr>
              <a:t>: Data sets aren't labeled and are sorted according to similarities or differences</a:t>
            </a:r>
            <a:endParaRPr sz="2100">
              <a:latin typeface="Times New Roman"/>
              <a:ea typeface="Times New Roman"/>
              <a:cs typeface="Times New Roman"/>
              <a:sym typeface="Times New Roman"/>
            </a:endParaRPr>
          </a:p>
          <a:p>
            <a:pPr indent="-254000" lvl="1" marL="755015" marR="257809" rtl="0" algn="l">
              <a:lnSpc>
                <a:spcPct val="108076"/>
              </a:lnSpc>
              <a:spcBef>
                <a:spcPts val="620"/>
              </a:spcBef>
              <a:spcAft>
                <a:spcPts val="0"/>
              </a:spcAft>
              <a:buClr>
                <a:srgbClr val="000000"/>
              </a:buClr>
              <a:buSzPts val="2100"/>
              <a:buFont typeface="Arial"/>
              <a:buChar char="–"/>
            </a:pPr>
            <a:r>
              <a:rPr lang="en-US" sz="2100" u="sng">
                <a:solidFill>
                  <a:srgbClr val="0000FF"/>
                </a:solidFill>
                <a:latin typeface="Times New Roman"/>
                <a:ea typeface="Times New Roman"/>
                <a:cs typeface="Times New Roman"/>
                <a:sym typeface="Times New Roman"/>
                <a:hlinkClick r:id="rId5">
                  <a:extLst>
                    <a:ext uri="{A12FA001-AC4F-418D-AE19-62706E023703}">
                      <ahyp:hlinkClr val="tx"/>
                    </a:ext>
                  </a:extLst>
                </a:hlinkClick>
              </a:rPr>
              <a:t>Reinforcement learning</a:t>
            </a:r>
            <a:r>
              <a:rPr lang="en-US" sz="2100">
                <a:latin typeface="Times New Roman"/>
                <a:ea typeface="Times New Roman"/>
                <a:cs typeface="Times New Roman"/>
                <a:sym typeface="Times New Roman"/>
              </a:rPr>
              <a:t>: Data sets are not labeled but, after performing an action or several actions, the AI 	system is given </a:t>
            </a:r>
            <a:r>
              <a:rPr lang="en-US" sz="2100">
                <a:solidFill>
                  <a:srgbClr val="FF0000"/>
                </a:solidFill>
                <a:latin typeface="Times New Roman"/>
                <a:ea typeface="Times New Roman"/>
                <a:cs typeface="Times New Roman"/>
                <a:sym typeface="Times New Roman"/>
              </a:rPr>
              <a:t>feedback</a:t>
            </a:r>
            <a:endParaRPr sz="2100">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1"/>
          <p:cNvSpPr txBox="1"/>
          <p:nvPr>
            <p:ph type="title"/>
          </p:nvPr>
        </p:nvSpPr>
        <p:spPr>
          <a:xfrm>
            <a:off x="78739" y="118636"/>
            <a:ext cx="8986520" cy="574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Supervised Learning</a:t>
            </a:r>
            <a:endParaRPr/>
          </a:p>
        </p:txBody>
      </p:sp>
      <p:sp>
        <p:nvSpPr>
          <p:cNvPr id="108" name="Google Shape;108;p11"/>
          <p:cNvSpPr txBox="1"/>
          <p:nvPr/>
        </p:nvSpPr>
        <p:spPr>
          <a:xfrm>
            <a:off x="789180" y="955063"/>
            <a:ext cx="7945120" cy="807720"/>
          </a:xfrm>
          <a:prstGeom prst="rect">
            <a:avLst/>
          </a:prstGeom>
          <a:noFill/>
          <a:ln>
            <a:noFill/>
          </a:ln>
        </p:spPr>
        <p:txBody>
          <a:bodyPr anchorCtr="0" anchor="t" bIns="0" lIns="0" spcFirstLastPara="1" rIns="0" wrap="square" tIns="58400">
            <a:spAutoFit/>
          </a:bodyPr>
          <a:lstStyle/>
          <a:p>
            <a:pPr indent="-287019" lvl="0" marL="299085" marR="5080" rtl="0" algn="l">
              <a:lnSpc>
                <a:spcPct val="108148"/>
              </a:lnSpc>
              <a:spcBef>
                <a:spcPts val="0"/>
              </a:spcBef>
              <a:spcAft>
                <a:spcPts val="0"/>
              </a:spcAft>
              <a:buClr>
                <a:srgbClr val="3E3E3E"/>
              </a:buClr>
              <a:buSzPts val="2700"/>
              <a:buFont typeface="Noto Sans Symbols"/>
              <a:buChar char="▪"/>
            </a:pPr>
            <a:r>
              <a:rPr lang="en-US" sz="2700" u="sng">
                <a:solidFill>
                  <a:srgbClr val="0000FF"/>
                </a:solidFill>
                <a:latin typeface="Times New Roman"/>
                <a:ea typeface="Times New Roman"/>
                <a:cs typeface="Times New Roman"/>
                <a:sym typeface="Times New Roman"/>
                <a:hlinkClick r:id="rId3">
                  <a:extLst>
                    <a:ext uri="{A12FA001-AC4F-418D-AE19-62706E023703}">
                      <ahyp:hlinkClr val="tx"/>
                    </a:ext>
                  </a:extLst>
                </a:hlinkClick>
              </a:rPr>
              <a:t>Supervised learning</a:t>
            </a:r>
            <a:r>
              <a:rPr lang="en-US" sz="2700">
                <a:solidFill>
                  <a:srgbClr val="3E3E3E"/>
                </a:solidFill>
                <a:latin typeface="Times New Roman"/>
                <a:ea typeface="Times New Roman"/>
                <a:cs typeface="Times New Roman"/>
                <a:sym typeface="Times New Roman"/>
              </a:rPr>
              <a:t>: Data sets are </a:t>
            </a:r>
            <a:r>
              <a:rPr lang="en-US" sz="2700">
                <a:solidFill>
                  <a:srgbClr val="FF0000"/>
                </a:solidFill>
                <a:latin typeface="Times New Roman"/>
                <a:ea typeface="Times New Roman"/>
                <a:cs typeface="Times New Roman"/>
                <a:sym typeface="Times New Roman"/>
              </a:rPr>
              <a:t>labeled </a:t>
            </a:r>
            <a:r>
              <a:rPr lang="en-US" sz="2700">
                <a:solidFill>
                  <a:srgbClr val="3E3E3E"/>
                </a:solidFill>
                <a:latin typeface="Times New Roman"/>
                <a:ea typeface="Times New Roman"/>
                <a:cs typeface="Times New Roman"/>
                <a:sym typeface="Times New Roman"/>
              </a:rPr>
              <a:t>so that patterns can be detected and used to label new data sets</a:t>
            </a:r>
            <a:endParaRPr sz="2700">
              <a:latin typeface="Times New Roman"/>
              <a:ea typeface="Times New Roman"/>
              <a:cs typeface="Times New Roman"/>
              <a:sym typeface="Times New Roman"/>
            </a:endParaRPr>
          </a:p>
        </p:txBody>
      </p:sp>
      <p:pic>
        <p:nvPicPr>
          <p:cNvPr id="109" name="Google Shape;109;p11"/>
          <p:cNvPicPr preferRelativeResize="0"/>
          <p:nvPr/>
        </p:nvPicPr>
        <p:blipFill rotWithShape="1">
          <a:blip r:embed="rId4">
            <a:alphaModFix/>
          </a:blip>
          <a:srcRect b="0" l="0" r="0" t="0"/>
          <a:stretch/>
        </p:blipFill>
        <p:spPr>
          <a:xfrm>
            <a:off x="1331645" y="1779663"/>
            <a:ext cx="7219937" cy="3200397"/>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2"/>
          <p:cNvSpPr txBox="1"/>
          <p:nvPr>
            <p:ph type="title"/>
          </p:nvPr>
        </p:nvSpPr>
        <p:spPr>
          <a:xfrm>
            <a:off x="78739" y="118636"/>
            <a:ext cx="8986520" cy="574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Unsupervised Learning</a:t>
            </a:r>
            <a:endParaRPr/>
          </a:p>
        </p:txBody>
      </p:sp>
      <p:sp>
        <p:nvSpPr>
          <p:cNvPr id="115" name="Google Shape;115;p12"/>
          <p:cNvSpPr txBox="1"/>
          <p:nvPr/>
        </p:nvSpPr>
        <p:spPr>
          <a:xfrm>
            <a:off x="244275" y="913925"/>
            <a:ext cx="8517300" cy="4039800"/>
          </a:xfrm>
          <a:prstGeom prst="rect">
            <a:avLst/>
          </a:prstGeom>
          <a:noFill/>
          <a:ln>
            <a:noFill/>
          </a:ln>
        </p:spPr>
        <p:txBody>
          <a:bodyPr anchorCtr="0" anchor="t" bIns="0" lIns="0" spcFirstLastPara="1" rIns="0" wrap="square" tIns="104125">
            <a:spAutoFit/>
          </a:bodyPr>
          <a:lstStyle/>
          <a:p>
            <a:pPr indent="-285750" lvl="0" marL="297815" marR="319405" rtl="0" algn="l">
              <a:lnSpc>
                <a:spcPct val="80000"/>
              </a:lnSpc>
              <a:spcBef>
                <a:spcPts val="0"/>
              </a:spcBef>
              <a:spcAft>
                <a:spcPts val="0"/>
              </a:spcAft>
              <a:buClr>
                <a:srgbClr val="FF0000"/>
              </a:buClr>
              <a:buSzPts val="3000"/>
              <a:buFont typeface="Noto Sans Symbols"/>
              <a:buChar char="▪"/>
            </a:pPr>
            <a:r>
              <a:rPr lang="en-US" sz="3000">
                <a:solidFill>
                  <a:srgbClr val="FF0000"/>
                </a:solidFill>
                <a:latin typeface="Times New Roman"/>
                <a:ea typeface="Times New Roman"/>
                <a:cs typeface="Times New Roman"/>
                <a:sym typeface="Times New Roman"/>
              </a:rPr>
              <a:t>Data sets are not labeled </a:t>
            </a:r>
            <a:r>
              <a:rPr lang="en-US" sz="3000">
                <a:solidFill>
                  <a:srgbClr val="3E3E3E"/>
                </a:solidFill>
                <a:latin typeface="Times New Roman"/>
                <a:ea typeface="Times New Roman"/>
                <a:cs typeface="Times New Roman"/>
                <a:sym typeface="Times New Roman"/>
              </a:rPr>
              <a:t>and are sorted according 	to similarities or differences</a:t>
            </a:r>
            <a:endParaRPr sz="3000">
              <a:latin typeface="Times New Roman"/>
              <a:ea typeface="Times New Roman"/>
              <a:cs typeface="Times New Roman"/>
              <a:sym typeface="Times New Roman"/>
            </a:endParaRPr>
          </a:p>
          <a:p>
            <a:pPr indent="-285750" lvl="0" marL="298450" rtl="0" algn="l">
              <a:lnSpc>
                <a:spcPct val="100000"/>
              </a:lnSpc>
              <a:spcBef>
                <a:spcPts val="0"/>
              </a:spcBef>
              <a:spcAft>
                <a:spcPts val="0"/>
              </a:spcAft>
              <a:buClr>
                <a:srgbClr val="FF0000"/>
              </a:buClr>
              <a:buSzPts val="3000"/>
              <a:buFont typeface="Noto Sans Symbols"/>
              <a:buChar char="▪"/>
            </a:pPr>
            <a:r>
              <a:rPr lang="en-US" sz="3000" u="sng">
                <a:solidFill>
                  <a:srgbClr val="FF0000"/>
                </a:solidFill>
                <a:latin typeface="Times New Roman"/>
                <a:ea typeface="Times New Roman"/>
                <a:cs typeface="Times New Roman"/>
                <a:sym typeface="Times New Roman"/>
              </a:rPr>
              <a:t>No predefined classes</a:t>
            </a:r>
            <a:endParaRPr sz="3000">
              <a:latin typeface="Times New Roman"/>
              <a:ea typeface="Times New Roman"/>
              <a:cs typeface="Times New Roman"/>
              <a:sym typeface="Times New Roman"/>
            </a:endParaRPr>
          </a:p>
          <a:p>
            <a:pPr indent="0" lvl="0" marL="0" rtl="0" algn="l">
              <a:lnSpc>
                <a:spcPct val="100000"/>
              </a:lnSpc>
              <a:spcBef>
                <a:spcPts val="0"/>
              </a:spcBef>
              <a:spcAft>
                <a:spcPts val="0"/>
              </a:spcAft>
              <a:buSzPts val="3000"/>
              <a:buFont typeface="Noto Sans Symbols"/>
              <a:buNone/>
            </a:pPr>
            <a:r>
              <a:t/>
            </a:r>
            <a:endParaRPr sz="3000">
              <a:latin typeface="Times New Roman"/>
              <a:ea typeface="Times New Roman"/>
              <a:cs typeface="Times New Roman"/>
              <a:sym typeface="Times New Roman"/>
            </a:endParaRPr>
          </a:p>
          <a:p>
            <a:pPr indent="0" lvl="0" marL="0" rtl="0" algn="l">
              <a:lnSpc>
                <a:spcPct val="100000"/>
              </a:lnSpc>
              <a:spcBef>
                <a:spcPts val="300"/>
              </a:spcBef>
              <a:spcAft>
                <a:spcPts val="0"/>
              </a:spcAft>
              <a:buSzPts val="3000"/>
              <a:buFont typeface="Noto Sans Symbols"/>
              <a:buNone/>
            </a:pPr>
            <a:r>
              <a:t/>
            </a:r>
            <a:endParaRPr sz="3000">
              <a:latin typeface="Times New Roman"/>
              <a:ea typeface="Times New Roman"/>
              <a:cs typeface="Times New Roman"/>
              <a:sym typeface="Times New Roman"/>
            </a:endParaRPr>
          </a:p>
          <a:p>
            <a:pPr indent="-285750" lvl="0" marL="298450" rtl="0" algn="l">
              <a:lnSpc>
                <a:spcPct val="100000"/>
              </a:lnSpc>
              <a:spcBef>
                <a:spcPts val="0"/>
              </a:spcBef>
              <a:spcAft>
                <a:spcPts val="0"/>
              </a:spcAft>
              <a:buClr>
                <a:srgbClr val="3E3E3E"/>
              </a:buClr>
              <a:buSzPts val="3000"/>
              <a:buFont typeface="Noto Sans Symbols"/>
              <a:buChar char="▪"/>
            </a:pPr>
            <a:r>
              <a:rPr lang="en-US" sz="3000">
                <a:solidFill>
                  <a:srgbClr val="3E3E3E"/>
                </a:solidFill>
                <a:latin typeface="Times New Roman"/>
                <a:ea typeface="Times New Roman"/>
                <a:cs typeface="Times New Roman"/>
                <a:sym typeface="Times New Roman"/>
              </a:rPr>
              <a:t>The unsupervised </a:t>
            </a:r>
            <a:r>
              <a:rPr lang="en-US" sz="3000">
                <a:solidFill>
                  <a:srgbClr val="FF0000"/>
                </a:solidFill>
                <a:latin typeface="Times New Roman"/>
                <a:ea typeface="Times New Roman"/>
                <a:cs typeface="Times New Roman"/>
                <a:sym typeface="Times New Roman"/>
              </a:rPr>
              <a:t>model can be used to cluster data</a:t>
            </a:r>
            <a:endParaRPr sz="3000">
              <a:latin typeface="Times New Roman"/>
              <a:ea typeface="Times New Roman"/>
              <a:cs typeface="Times New Roman"/>
              <a:sym typeface="Times New Roman"/>
            </a:endParaRPr>
          </a:p>
          <a:p>
            <a:pPr indent="-287019" lvl="0" marL="756285" marR="193675" rtl="0" algn="l">
              <a:lnSpc>
                <a:spcPct val="96153"/>
              </a:lnSpc>
              <a:spcBef>
                <a:spcPts val="615"/>
              </a:spcBef>
              <a:spcAft>
                <a:spcPts val="0"/>
              </a:spcAft>
              <a:buNone/>
            </a:pPr>
            <a:r>
              <a:rPr lang="en-US" sz="2600">
                <a:latin typeface="Arial"/>
                <a:ea typeface="Arial"/>
                <a:cs typeface="Arial"/>
                <a:sym typeface="Arial"/>
              </a:rPr>
              <a:t>– </a:t>
            </a:r>
            <a:r>
              <a:rPr lang="en-US" sz="2600">
                <a:latin typeface="Times New Roman"/>
                <a:ea typeface="Times New Roman"/>
                <a:cs typeface="Times New Roman"/>
                <a:sym typeface="Times New Roman"/>
              </a:rPr>
              <a:t>clusters where a class has high intra-class similarity and low inter-class similarity</a:t>
            </a:r>
            <a:endParaRPr sz="2600">
              <a:latin typeface="Times New Roman"/>
              <a:ea typeface="Times New Roman"/>
              <a:cs typeface="Times New Roman"/>
              <a:sym typeface="Times New Roman"/>
            </a:endParaRPr>
          </a:p>
          <a:p>
            <a:pPr indent="-285750" lvl="0" marL="298450" rtl="0" algn="l">
              <a:lnSpc>
                <a:spcPct val="100000"/>
              </a:lnSpc>
              <a:spcBef>
                <a:spcPts val="0"/>
              </a:spcBef>
              <a:spcAft>
                <a:spcPts val="0"/>
              </a:spcAft>
              <a:buClr>
                <a:srgbClr val="00B050"/>
              </a:buClr>
              <a:buSzPts val="3000"/>
              <a:buFont typeface="Noto Sans Symbols"/>
              <a:buChar char="▪"/>
            </a:pPr>
            <a:r>
              <a:rPr lang="en-US" sz="3000">
                <a:solidFill>
                  <a:srgbClr val="00B050"/>
                </a:solidFill>
                <a:latin typeface="Times New Roman"/>
                <a:ea typeface="Times New Roman"/>
                <a:cs typeface="Times New Roman"/>
                <a:sym typeface="Times New Roman"/>
              </a:rPr>
              <a:t>Example: grouping of </a:t>
            </a:r>
            <a:r>
              <a:rPr lang="en-US" sz="3000" u="sng">
                <a:solidFill>
                  <a:srgbClr val="00B050"/>
                </a:solidFill>
                <a:latin typeface="Times New Roman"/>
                <a:ea typeface="Times New Roman"/>
                <a:cs typeface="Times New Roman"/>
                <a:sym typeface="Times New Roman"/>
              </a:rPr>
              <a:t>customers based on priority</a:t>
            </a:r>
            <a:endParaRPr sz="3000">
              <a:latin typeface="Times New Roman"/>
              <a:ea typeface="Times New Roman"/>
              <a:cs typeface="Times New Roman"/>
              <a:sym typeface="Times New Roman"/>
            </a:endParaRPr>
          </a:p>
        </p:txBody>
      </p:sp>
      <p:pic>
        <p:nvPicPr>
          <p:cNvPr id="116" name="Google Shape;116;p12"/>
          <p:cNvPicPr preferRelativeResize="0"/>
          <p:nvPr/>
        </p:nvPicPr>
        <p:blipFill rotWithShape="1">
          <a:blip r:embed="rId3">
            <a:alphaModFix/>
          </a:blip>
          <a:srcRect b="0" l="0" r="0" t="0"/>
          <a:stretch/>
        </p:blipFill>
        <p:spPr>
          <a:xfrm>
            <a:off x="6050538" y="1385696"/>
            <a:ext cx="1872207" cy="185681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3"/>
          <p:cNvSpPr txBox="1"/>
          <p:nvPr>
            <p:ph type="title"/>
          </p:nvPr>
        </p:nvSpPr>
        <p:spPr>
          <a:xfrm>
            <a:off x="78752" y="118625"/>
            <a:ext cx="8769600" cy="5670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Limitations of the Machine Learning</a:t>
            </a:r>
            <a:endParaRPr/>
          </a:p>
        </p:txBody>
      </p:sp>
      <p:pic>
        <p:nvPicPr>
          <p:cNvPr id="122" name="Google Shape;122;p13"/>
          <p:cNvPicPr preferRelativeResize="0"/>
          <p:nvPr/>
        </p:nvPicPr>
        <p:blipFill rotWithShape="1">
          <a:blip r:embed="rId3">
            <a:alphaModFix/>
          </a:blip>
          <a:srcRect b="0" l="0" r="0" t="0"/>
          <a:stretch/>
        </p:blipFill>
        <p:spPr>
          <a:xfrm>
            <a:off x="1691679" y="1419621"/>
            <a:ext cx="5679044" cy="332909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14"/>
          <p:cNvSpPr txBox="1"/>
          <p:nvPr>
            <p:ph type="title"/>
          </p:nvPr>
        </p:nvSpPr>
        <p:spPr>
          <a:xfrm>
            <a:off x="78739" y="118636"/>
            <a:ext cx="7270800" cy="5670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Limitations of the Machine Learning</a:t>
            </a:r>
            <a:endParaRPr/>
          </a:p>
        </p:txBody>
      </p:sp>
      <p:sp>
        <p:nvSpPr>
          <p:cNvPr id="128" name="Google Shape;128;p14"/>
          <p:cNvSpPr txBox="1"/>
          <p:nvPr/>
        </p:nvSpPr>
        <p:spPr>
          <a:xfrm>
            <a:off x="244300" y="1038000"/>
            <a:ext cx="8821200" cy="3671400"/>
          </a:xfrm>
          <a:prstGeom prst="rect">
            <a:avLst/>
          </a:prstGeom>
          <a:noFill/>
          <a:ln>
            <a:noFill/>
          </a:ln>
        </p:spPr>
        <p:txBody>
          <a:bodyPr anchorCtr="0" anchor="t" bIns="0" lIns="0" spcFirstLastPara="1" rIns="0" wrap="square" tIns="48875">
            <a:spAutoFit/>
          </a:bodyPr>
          <a:lstStyle/>
          <a:p>
            <a:pPr indent="-286385" lvl="0" marL="299085" rtl="0" algn="l">
              <a:lnSpc>
                <a:spcPct val="100000"/>
              </a:lnSpc>
              <a:spcBef>
                <a:spcPts val="0"/>
              </a:spcBef>
              <a:spcAft>
                <a:spcPts val="0"/>
              </a:spcAft>
              <a:buClr>
                <a:srgbClr val="3E3E3E"/>
              </a:buClr>
              <a:buSzPts val="2000"/>
              <a:buFont typeface="Noto Sans Symbols"/>
              <a:buChar char="▪"/>
            </a:pPr>
            <a:r>
              <a:rPr b="1" lang="en-US" sz="2000">
                <a:solidFill>
                  <a:srgbClr val="3E3E3E"/>
                </a:solidFill>
                <a:latin typeface="Times New Roman"/>
                <a:ea typeface="Times New Roman"/>
                <a:cs typeface="Times New Roman"/>
                <a:sym typeface="Times New Roman"/>
              </a:rPr>
              <a:t>First Major Limitation – </a:t>
            </a:r>
            <a:r>
              <a:rPr b="1" lang="en-US" sz="2000">
                <a:solidFill>
                  <a:srgbClr val="00B050"/>
                </a:solidFill>
                <a:latin typeface="Times New Roman"/>
                <a:ea typeface="Times New Roman"/>
                <a:cs typeface="Times New Roman"/>
                <a:sym typeface="Times New Roman"/>
              </a:rPr>
              <a:t>High Dimensional Data</a:t>
            </a:r>
            <a:endParaRPr sz="2000">
              <a:latin typeface="Times New Roman"/>
              <a:ea typeface="Times New Roman"/>
              <a:cs typeface="Times New Roman"/>
              <a:sym typeface="Times New Roman"/>
            </a:endParaRPr>
          </a:p>
          <a:p>
            <a:pPr indent="-287019" lvl="1" marL="756285" marR="189865" rtl="0" algn="l">
              <a:lnSpc>
                <a:spcPct val="105555"/>
              </a:lnSpc>
              <a:spcBef>
                <a:spcPts val="300"/>
              </a:spcBef>
              <a:spcAft>
                <a:spcPts val="0"/>
              </a:spcAft>
              <a:buSzPts val="1600"/>
              <a:buFont typeface="Arial"/>
              <a:buChar char="–"/>
            </a:pPr>
            <a:r>
              <a:rPr b="1" lang="en-US" sz="1600">
                <a:latin typeface="Times New Roman"/>
                <a:ea typeface="Times New Roman"/>
                <a:cs typeface="Times New Roman"/>
                <a:sym typeface="Times New Roman"/>
              </a:rPr>
              <a:t>High Dimensional Data: </a:t>
            </a:r>
            <a:r>
              <a:rPr lang="en-US" sz="1600">
                <a:latin typeface="Times New Roman"/>
                <a:ea typeface="Times New Roman"/>
                <a:cs typeface="Times New Roman"/>
                <a:sym typeface="Times New Roman"/>
              </a:rPr>
              <a:t>Traditional ML algorithms are not useful while working with high dimensional data, that is, where we have </a:t>
            </a:r>
            <a:r>
              <a:rPr lang="en-US" sz="1800">
                <a:solidFill>
                  <a:srgbClr val="FF0000"/>
                </a:solidFill>
                <a:latin typeface="Times New Roman"/>
                <a:ea typeface="Times New Roman"/>
                <a:cs typeface="Times New Roman"/>
                <a:sym typeface="Times New Roman"/>
              </a:rPr>
              <a:t>a large number of inputs and outputs</a:t>
            </a:r>
            <a:r>
              <a:rPr lang="en-US" sz="1800">
                <a:latin typeface="Times New Roman"/>
                <a:ea typeface="Times New Roman"/>
                <a:cs typeface="Times New Roman"/>
                <a:sym typeface="Times New Roman"/>
              </a:rPr>
              <a:t>.</a:t>
            </a:r>
            <a:endParaRPr sz="1800">
              <a:latin typeface="Times New Roman"/>
              <a:ea typeface="Times New Roman"/>
              <a:cs typeface="Times New Roman"/>
              <a:sym typeface="Times New Roman"/>
            </a:endParaRPr>
          </a:p>
          <a:p>
            <a:pPr indent="-287019" lvl="1" marL="756285" marR="92710" rtl="0" algn="l">
              <a:lnSpc>
                <a:spcPct val="107722"/>
              </a:lnSpc>
              <a:spcBef>
                <a:spcPts val="439"/>
              </a:spcBef>
              <a:spcAft>
                <a:spcPts val="0"/>
              </a:spcAft>
              <a:buSzPts val="1800"/>
              <a:buFont typeface="Arial"/>
              <a:buChar char="–"/>
            </a:pPr>
            <a:r>
              <a:rPr lang="en-US" sz="1800">
                <a:latin typeface="Times New Roman"/>
                <a:ea typeface="Times New Roman"/>
                <a:cs typeface="Times New Roman"/>
                <a:sym typeface="Times New Roman"/>
              </a:rPr>
              <a:t>For example, in case of handwriting recognition we have large amount of input where we will have different type of inputs associated with different type of handwriting.</a:t>
            </a:r>
            <a:endParaRPr sz="1800">
              <a:latin typeface="Times New Roman"/>
              <a:ea typeface="Times New Roman"/>
              <a:cs typeface="Times New Roman"/>
              <a:sym typeface="Times New Roman"/>
            </a:endParaRPr>
          </a:p>
          <a:p>
            <a:pPr indent="0" lvl="1" marL="0" rtl="0" algn="l">
              <a:lnSpc>
                <a:spcPct val="100000"/>
              </a:lnSpc>
              <a:spcBef>
                <a:spcPts val="505"/>
              </a:spcBef>
              <a:spcAft>
                <a:spcPts val="0"/>
              </a:spcAft>
              <a:buSzPts val="1800"/>
              <a:buFont typeface="Arial"/>
              <a:buNone/>
            </a:pPr>
            <a:r>
              <a:t/>
            </a:r>
            <a:endParaRPr sz="1800">
              <a:latin typeface="Times New Roman"/>
              <a:ea typeface="Times New Roman"/>
              <a:cs typeface="Times New Roman"/>
              <a:sym typeface="Times New Roman"/>
            </a:endParaRPr>
          </a:p>
          <a:p>
            <a:pPr indent="-286385" lvl="0" marL="299085" rtl="0" algn="l">
              <a:lnSpc>
                <a:spcPct val="100000"/>
              </a:lnSpc>
              <a:spcBef>
                <a:spcPts val="0"/>
              </a:spcBef>
              <a:spcAft>
                <a:spcPts val="0"/>
              </a:spcAft>
              <a:buClr>
                <a:srgbClr val="3E3E3E"/>
              </a:buClr>
              <a:buSzPts val="2000"/>
              <a:buFont typeface="Noto Sans Symbols"/>
              <a:buChar char="▪"/>
            </a:pPr>
            <a:r>
              <a:rPr b="1" lang="en-US" sz="2000">
                <a:solidFill>
                  <a:srgbClr val="3E3E3E"/>
                </a:solidFill>
                <a:latin typeface="Times New Roman"/>
                <a:ea typeface="Times New Roman"/>
                <a:cs typeface="Times New Roman"/>
                <a:sym typeface="Times New Roman"/>
              </a:rPr>
              <a:t>Second Major Limitation – </a:t>
            </a:r>
            <a:r>
              <a:rPr b="1" lang="en-US" sz="2000">
                <a:solidFill>
                  <a:srgbClr val="00B050"/>
                </a:solidFill>
                <a:latin typeface="Times New Roman"/>
                <a:ea typeface="Times New Roman"/>
                <a:cs typeface="Times New Roman"/>
                <a:sym typeface="Times New Roman"/>
              </a:rPr>
              <a:t>Feature Extraction</a:t>
            </a:r>
            <a:endParaRPr sz="2000">
              <a:latin typeface="Times New Roman"/>
              <a:ea typeface="Times New Roman"/>
              <a:cs typeface="Times New Roman"/>
              <a:sym typeface="Times New Roman"/>
            </a:endParaRPr>
          </a:p>
          <a:p>
            <a:pPr indent="-287019" lvl="1" marL="756285" rtl="0" algn="l">
              <a:lnSpc>
                <a:spcPct val="100000"/>
              </a:lnSpc>
              <a:spcBef>
                <a:spcPts val="220"/>
              </a:spcBef>
              <a:spcAft>
                <a:spcPts val="0"/>
              </a:spcAft>
              <a:buSzPts val="1600"/>
              <a:buFont typeface="Arial"/>
              <a:buChar char="–"/>
            </a:pPr>
            <a:r>
              <a:rPr lang="en-US" sz="1600">
                <a:latin typeface="Times New Roman"/>
                <a:ea typeface="Times New Roman"/>
                <a:cs typeface="Times New Roman"/>
                <a:sym typeface="Times New Roman"/>
              </a:rPr>
              <a:t>Feeding raw data to the ML algorithms rarely ever works</a:t>
            </a:r>
            <a:endParaRPr sz="1600">
              <a:latin typeface="Times New Roman"/>
              <a:ea typeface="Times New Roman"/>
              <a:cs typeface="Times New Roman"/>
              <a:sym typeface="Times New Roman"/>
            </a:endParaRPr>
          </a:p>
          <a:p>
            <a:pPr indent="-287019" lvl="1" marL="756285" marR="5080" rtl="0" algn="l">
              <a:lnSpc>
                <a:spcPct val="108124"/>
              </a:lnSpc>
              <a:spcBef>
                <a:spcPts val="405"/>
              </a:spcBef>
              <a:spcAft>
                <a:spcPts val="0"/>
              </a:spcAft>
              <a:buSzPts val="1600"/>
              <a:buFont typeface="Arial"/>
              <a:buChar char="–"/>
            </a:pPr>
            <a:r>
              <a:rPr b="1" lang="en-US" sz="1600">
                <a:latin typeface="Times New Roman"/>
                <a:ea typeface="Times New Roman"/>
                <a:cs typeface="Times New Roman"/>
                <a:sym typeface="Times New Roman"/>
              </a:rPr>
              <a:t>Feature extraction: </a:t>
            </a:r>
            <a:r>
              <a:rPr lang="en-US" sz="1600">
                <a:latin typeface="Times New Roman"/>
                <a:ea typeface="Times New Roman"/>
                <a:cs typeface="Times New Roman"/>
                <a:sym typeface="Times New Roman"/>
              </a:rPr>
              <a:t>to tell the computer </a:t>
            </a:r>
            <a:r>
              <a:rPr lang="en-US" sz="1600">
                <a:solidFill>
                  <a:srgbClr val="FF0000"/>
                </a:solidFill>
                <a:latin typeface="Times New Roman"/>
                <a:ea typeface="Times New Roman"/>
                <a:cs typeface="Times New Roman"/>
                <a:sym typeface="Times New Roman"/>
              </a:rPr>
              <a:t>what are the features </a:t>
            </a:r>
            <a:r>
              <a:rPr lang="en-US" sz="1600">
                <a:latin typeface="Times New Roman"/>
                <a:ea typeface="Times New Roman"/>
                <a:cs typeface="Times New Roman"/>
                <a:sym typeface="Times New Roman"/>
              </a:rPr>
              <a:t>it should look for that will play an important role in predicting the outcome as well as to achieve better accuracy while doing so.</a:t>
            </a:r>
            <a:endParaRPr sz="1600">
              <a:latin typeface="Times New Roman"/>
              <a:ea typeface="Times New Roman"/>
              <a:cs typeface="Times New Roman"/>
              <a:sym typeface="Times New Roman"/>
            </a:endParaRPr>
          </a:p>
          <a:p>
            <a:pPr indent="-287019" lvl="1" marL="756285" marR="612140" rtl="0" algn="l">
              <a:lnSpc>
                <a:spcPct val="108124"/>
              </a:lnSpc>
              <a:spcBef>
                <a:spcPts val="380"/>
              </a:spcBef>
              <a:spcAft>
                <a:spcPts val="0"/>
              </a:spcAft>
              <a:buClr>
                <a:srgbClr val="FF0000"/>
              </a:buClr>
              <a:buSzPts val="1600"/>
              <a:buFont typeface="Arial"/>
              <a:buChar char="–"/>
            </a:pPr>
            <a:r>
              <a:rPr b="1" lang="en-US" sz="1600">
                <a:solidFill>
                  <a:srgbClr val="FF0000"/>
                </a:solidFill>
                <a:latin typeface="Times New Roman"/>
                <a:ea typeface="Times New Roman"/>
                <a:cs typeface="Times New Roman"/>
                <a:sym typeface="Times New Roman"/>
              </a:rPr>
              <a:t>Selection of good features becomes essential </a:t>
            </a:r>
            <a:r>
              <a:rPr lang="en-US" sz="1600">
                <a:solidFill>
                  <a:srgbClr val="FF0000"/>
                </a:solidFill>
                <a:latin typeface="Times New Roman"/>
                <a:ea typeface="Times New Roman"/>
                <a:cs typeface="Times New Roman"/>
                <a:sym typeface="Times New Roman"/>
              </a:rPr>
              <a:t>– object recognition, handwriting recognition, NLP etc.</a:t>
            </a:r>
            <a:endParaRPr sz="1600">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32" name="Shape 132"/>
        <p:cNvGrpSpPr/>
        <p:nvPr/>
      </p:nvGrpSpPr>
      <p:grpSpPr>
        <a:xfrm>
          <a:off x="0" y="0"/>
          <a:ext cx="0" cy="0"/>
          <a:chOff x="0" y="0"/>
          <a:chExt cx="0" cy="0"/>
        </a:xfrm>
      </p:grpSpPr>
      <p:grpSp>
        <p:nvGrpSpPr>
          <p:cNvPr id="133" name="Google Shape;133;p15"/>
          <p:cNvGrpSpPr/>
          <p:nvPr/>
        </p:nvGrpSpPr>
        <p:grpSpPr>
          <a:xfrm>
            <a:off x="0" y="0"/>
            <a:ext cx="3281502" cy="5143500"/>
            <a:chOff x="0" y="0"/>
            <a:chExt cx="3281502" cy="5143500"/>
          </a:xfrm>
        </p:grpSpPr>
        <p:sp>
          <p:nvSpPr>
            <p:cNvPr id="134" name="Google Shape;134;p15"/>
            <p:cNvSpPr/>
            <p:nvPr/>
          </p:nvSpPr>
          <p:spPr>
            <a:xfrm>
              <a:off x="0" y="0"/>
              <a:ext cx="2106930" cy="5143500"/>
            </a:xfrm>
            <a:custGeom>
              <a:rect b="b" l="l" r="r" t="t"/>
              <a:pathLst>
                <a:path extrusionOk="0" h="5143500" w="2106930">
                  <a:moveTo>
                    <a:pt x="2106625" y="0"/>
                  </a:moveTo>
                  <a:lnTo>
                    <a:pt x="0" y="0"/>
                  </a:lnTo>
                  <a:lnTo>
                    <a:pt x="0" y="5143500"/>
                  </a:lnTo>
                  <a:lnTo>
                    <a:pt x="2106625" y="5143500"/>
                  </a:lnTo>
                  <a:lnTo>
                    <a:pt x="2106625" y="0"/>
                  </a:lnTo>
                  <a:close/>
                </a:path>
              </a:pathLst>
            </a:custGeom>
            <a:solidFill>
              <a:srgbClr val="4F81BD"/>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35" name="Google Shape;135;p15"/>
            <p:cNvSpPr/>
            <p:nvPr/>
          </p:nvSpPr>
          <p:spPr>
            <a:xfrm>
              <a:off x="0" y="0"/>
              <a:ext cx="2106930" cy="5143500"/>
            </a:xfrm>
            <a:custGeom>
              <a:rect b="b" l="l" r="r" t="t"/>
              <a:pathLst>
                <a:path extrusionOk="0" h="5143500" w="2106930">
                  <a:moveTo>
                    <a:pt x="0" y="0"/>
                  </a:moveTo>
                  <a:lnTo>
                    <a:pt x="2106637" y="0"/>
                  </a:lnTo>
                  <a:lnTo>
                    <a:pt x="2106637" y="5143500"/>
                  </a:lnTo>
                  <a:lnTo>
                    <a:pt x="0" y="5143500"/>
                  </a:lnTo>
                  <a:lnTo>
                    <a:pt x="0" y="0"/>
                  </a:lnTo>
                  <a:close/>
                </a:path>
              </a:pathLst>
            </a:custGeom>
            <a:noFill/>
            <a:ln cap="flat" cmpd="sng" w="25400">
              <a:solidFill>
                <a:srgbClr val="385D8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136" name="Google Shape;136;p15"/>
            <p:cNvPicPr preferRelativeResize="0"/>
            <p:nvPr/>
          </p:nvPicPr>
          <p:blipFill rotWithShape="1">
            <a:blip r:embed="rId3">
              <a:alphaModFix/>
            </a:blip>
            <a:srcRect b="0" l="0" r="0" t="0"/>
            <a:stretch/>
          </p:blipFill>
          <p:spPr>
            <a:xfrm>
              <a:off x="2049788" y="2358092"/>
              <a:ext cx="182452" cy="188658"/>
            </a:xfrm>
            <a:prstGeom prst="rect">
              <a:avLst/>
            </a:prstGeom>
            <a:noFill/>
            <a:ln>
              <a:noFill/>
            </a:ln>
          </p:spPr>
        </p:pic>
        <p:sp>
          <p:nvSpPr>
            <p:cNvPr id="137" name="Google Shape;137;p15"/>
            <p:cNvSpPr/>
            <p:nvPr/>
          </p:nvSpPr>
          <p:spPr>
            <a:xfrm>
              <a:off x="1957425" y="2678048"/>
              <a:ext cx="255270" cy="280035"/>
            </a:xfrm>
            <a:custGeom>
              <a:rect b="b" l="l" r="r" t="t"/>
              <a:pathLst>
                <a:path extrusionOk="0" h="280035" w="255269">
                  <a:moveTo>
                    <a:pt x="254660" y="279577"/>
                  </a:moveTo>
                  <a:lnTo>
                    <a:pt x="252996" y="59677"/>
                  </a:lnTo>
                  <a:lnTo>
                    <a:pt x="91427" y="0"/>
                  </a:lnTo>
                  <a:lnTo>
                    <a:pt x="120103" y="44208"/>
                  </a:lnTo>
                  <a:lnTo>
                    <a:pt x="147015" y="91274"/>
                  </a:lnTo>
                  <a:lnTo>
                    <a:pt x="184594" y="161340"/>
                  </a:lnTo>
                  <a:lnTo>
                    <a:pt x="0" y="193230"/>
                  </a:lnTo>
                  <a:lnTo>
                    <a:pt x="239217" y="255790"/>
                  </a:lnTo>
                  <a:lnTo>
                    <a:pt x="254660" y="279577"/>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138" name="Google Shape;138;p15"/>
            <p:cNvPicPr preferRelativeResize="0"/>
            <p:nvPr/>
          </p:nvPicPr>
          <p:blipFill rotWithShape="1">
            <a:blip r:embed="rId4">
              <a:alphaModFix/>
            </a:blip>
            <a:srcRect b="0" l="0" r="0" t="0"/>
            <a:stretch/>
          </p:blipFill>
          <p:spPr>
            <a:xfrm>
              <a:off x="1989672" y="2010773"/>
              <a:ext cx="163647" cy="161066"/>
            </a:xfrm>
            <a:prstGeom prst="rect">
              <a:avLst/>
            </a:prstGeom>
            <a:noFill/>
            <a:ln>
              <a:noFill/>
            </a:ln>
          </p:spPr>
        </p:pic>
        <p:sp>
          <p:nvSpPr>
            <p:cNvPr id="139" name="Google Shape;139;p15"/>
            <p:cNvSpPr/>
            <p:nvPr/>
          </p:nvSpPr>
          <p:spPr>
            <a:xfrm>
              <a:off x="1226894" y="3315020"/>
              <a:ext cx="1800225" cy="245110"/>
            </a:xfrm>
            <a:custGeom>
              <a:rect b="b" l="l" r="r" t="t"/>
              <a:pathLst>
                <a:path extrusionOk="0" h="245110" w="1800225">
                  <a:moveTo>
                    <a:pt x="363510" y="0"/>
                  </a:moveTo>
                  <a:lnTo>
                    <a:pt x="315081" y="794"/>
                  </a:lnTo>
                  <a:lnTo>
                    <a:pt x="269140" y="2969"/>
                  </a:lnTo>
                  <a:lnTo>
                    <a:pt x="226062" y="6306"/>
                  </a:lnTo>
                  <a:lnTo>
                    <a:pt x="186228" y="10585"/>
                  </a:lnTo>
                  <a:lnTo>
                    <a:pt x="117802" y="21097"/>
                  </a:lnTo>
                  <a:lnTo>
                    <a:pt x="40555" y="76135"/>
                  </a:lnTo>
                  <a:lnTo>
                    <a:pt x="14712" y="113320"/>
                  </a:lnTo>
                  <a:lnTo>
                    <a:pt x="4006" y="157142"/>
                  </a:lnTo>
                  <a:lnTo>
                    <a:pt x="0" y="226295"/>
                  </a:lnTo>
                  <a:lnTo>
                    <a:pt x="782332" y="139605"/>
                  </a:lnTo>
                  <a:lnTo>
                    <a:pt x="791483" y="178837"/>
                  </a:lnTo>
                  <a:lnTo>
                    <a:pt x="816438" y="210993"/>
                  </a:lnTo>
                  <a:lnTo>
                    <a:pt x="853452" y="232922"/>
                  </a:lnTo>
                  <a:lnTo>
                    <a:pt x="898779" y="241471"/>
                  </a:lnTo>
                  <a:lnTo>
                    <a:pt x="898779" y="244723"/>
                  </a:lnTo>
                  <a:lnTo>
                    <a:pt x="944970" y="236730"/>
                  </a:lnTo>
                  <a:lnTo>
                    <a:pt x="982649" y="214920"/>
                  </a:lnTo>
                  <a:lnTo>
                    <a:pt x="1008031" y="182545"/>
                  </a:lnTo>
                  <a:lnTo>
                    <a:pt x="1017333" y="142856"/>
                  </a:lnTo>
                  <a:lnTo>
                    <a:pt x="1799666" y="229546"/>
                  </a:lnTo>
                  <a:lnTo>
                    <a:pt x="1784077" y="148862"/>
                  </a:lnTo>
                  <a:lnTo>
                    <a:pt x="1753473" y="85820"/>
                  </a:lnTo>
                  <a:lnTo>
                    <a:pt x="1723578" y="44791"/>
                  </a:lnTo>
                  <a:lnTo>
                    <a:pt x="1682365" y="24293"/>
                  </a:lnTo>
                  <a:lnTo>
                    <a:pt x="1614150" y="13703"/>
                  </a:lnTo>
                  <a:lnTo>
                    <a:pt x="1574441" y="9396"/>
                  </a:lnTo>
                  <a:lnTo>
                    <a:pt x="1531500" y="6036"/>
                  </a:lnTo>
                  <a:lnTo>
                    <a:pt x="1485705" y="3840"/>
                  </a:lnTo>
                  <a:lnTo>
                    <a:pt x="1437432" y="3022"/>
                  </a:lnTo>
                  <a:lnTo>
                    <a:pt x="1387057" y="3801"/>
                  </a:lnTo>
                  <a:lnTo>
                    <a:pt x="1334958" y="6391"/>
                  </a:lnTo>
                  <a:lnTo>
                    <a:pt x="1281512" y="11009"/>
                  </a:lnTo>
                  <a:lnTo>
                    <a:pt x="1227094" y="17872"/>
                  </a:lnTo>
                  <a:lnTo>
                    <a:pt x="1172083" y="27195"/>
                  </a:lnTo>
                  <a:lnTo>
                    <a:pt x="1116855" y="39194"/>
                  </a:lnTo>
                  <a:lnTo>
                    <a:pt x="1061786" y="54086"/>
                  </a:lnTo>
                  <a:lnTo>
                    <a:pt x="1007254" y="72087"/>
                  </a:lnTo>
                  <a:lnTo>
                    <a:pt x="953635" y="93414"/>
                  </a:lnTo>
                  <a:lnTo>
                    <a:pt x="901306" y="118281"/>
                  </a:lnTo>
                  <a:lnTo>
                    <a:pt x="901306" y="116122"/>
                  </a:lnTo>
                  <a:lnTo>
                    <a:pt x="848823" y="91077"/>
                  </a:lnTo>
                  <a:lnTo>
                    <a:pt x="795043" y="69600"/>
                  </a:lnTo>
                  <a:lnTo>
                    <a:pt x="740344" y="51473"/>
                  </a:lnTo>
                  <a:lnTo>
                    <a:pt x="685105" y="36477"/>
                  </a:lnTo>
                  <a:lnTo>
                    <a:pt x="629704" y="24393"/>
                  </a:lnTo>
                  <a:lnTo>
                    <a:pt x="574519" y="15003"/>
                  </a:lnTo>
                  <a:lnTo>
                    <a:pt x="519929" y="8087"/>
                  </a:lnTo>
                  <a:lnTo>
                    <a:pt x="466312" y="3427"/>
                  </a:lnTo>
                  <a:lnTo>
                    <a:pt x="414046" y="804"/>
                  </a:lnTo>
                  <a:lnTo>
                    <a:pt x="363510" y="0"/>
                  </a:lnTo>
                  <a:close/>
                </a:path>
              </a:pathLst>
            </a:custGeom>
            <a:solidFill>
              <a:srgbClr val="F9F8F7"/>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40" name="Google Shape;140;p15"/>
            <p:cNvSpPr/>
            <p:nvPr/>
          </p:nvSpPr>
          <p:spPr>
            <a:xfrm>
              <a:off x="1187799" y="3443425"/>
              <a:ext cx="1880235" cy="145415"/>
            </a:xfrm>
            <a:custGeom>
              <a:rect b="b" l="l" r="r" t="t"/>
              <a:pathLst>
                <a:path extrusionOk="0" h="145414" w="1880235">
                  <a:moveTo>
                    <a:pt x="1053896" y="0"/>
                  </a:moveTo>
                  <a:lnTo>
                    <a:pt x="1044170" y="1765"/>
                  </a:lnTo>
                  <a:lnTo>
                    <a:pt x="1036294" y="6545"/>
                  </a:lnTo>
                  <a:lnTo>
                    <a:pt x="1031018" y="13560"/>
                  </a:lnTo>
                  <a:lnTo>
                    <a:pt x="1021724" y="53099"/>
                  </a:lnTo>
                  <a:lnTo>
                    <a:pt x="1001664" y="78476"/>
                  </a:lnTo>
                  <a:lnTo>
                    <a:pt x="971990" y="95590"/>
                  </a:lnTo>
                  <a:lnTo>
                    <a:pt x="935774" y="101866"/>
                  </a:lnTo>
                  <a:lnTo>
                    <a:pt x="899558" y="95590"/>
                  </a:lnTo>
                  <a:lnTo>
                    <a:pt x="869883" y="78476"/>
                  </a:lnTo>
                  <a:lnTo>
                    <a:pt x="849824" y="53099"/>
                  </a:lnTo>
                  <a:lnTo>
                    <a:pt x="840529" y="13410"/>
                  </a:lnTo>
                  <a:lnTo>
                    <a:pt x="835253" y="6411"/>
                  </a:lnTo>
                  <a:lnTo>
                    <a:pt x="827377" y="1715"/>
                  </a:lnTo>
                  <a:lnTo>
                    <a:pt x="817651" y="0"/>
                  </a:lnTo>
                  <a:lnTo>
                    <a:pt x="19761" y="79476"/>
                  </a:lnTo>
                  <a:lnTo>
                    <a:pt x="11353" y="79476"/>
                  </a:lnTo>
                  <a:lnTo>
                    <a:pt x="0" y="85255"/>
                  </a:lnTo>
                  <a:lnTo>
                    <a:pt x="0" y="116319"/>
                  </a:lnTo>
                  <a:lnTo>
                    <a:pt x="10934" y="122453"/>
                  </a:lnTo>
                  <a:lnTo>
                    <a:pt x="19761" y="122453"/>
                  </a:lnTo>
                  <a:lnTo>
                    <a:pt x="794105" y="42989"/>
                  </a:lnTo>
                  <a:lnTo>
                    <a:pt x="811453" y="83289"/>
                  </a:lnTo>
                  <a:lnTo>
                    <a:pt x="843027" y="115596"/>
                  </a:lnTo>
                  <a:lnTo>
                    <a:pt x="885558" y="137067"/>
                  </a:lnTo>
                  <a:lnTo>
                    <a:pt x="935774" y="144856"/>
                  </a:lnTo>
                  <a:lnTo>
                    <a:pt x="985990" y="137067"/>
                  </a:lnTo>
                  <a:lnTo>
                    <a:pt x="1028520" y="115596"/>
                  </a:lnTo>
                  <a:lnTo>
                    <a:pt x="1060094" y="83289"/>
                  </a:lnTo>
                  <a:lnTo>
                    <a:pt x="1077442" y="42989"/>
                  </a:lnTo>
                  <a:lnTo>
                    <a:pt x="1864398" y="122453"/>
                  </a:lnTo>
                  <a:lnTo>
                    <a:pt x="1872805" y="122453"/>
                  </a:lnTo>
                  <a:lnTo>
                    <a:pt x="1879955" y="116674"/>
                  </a:lnTo>
                  <a:lnTo>
                    <a:pt x="1879955" y="85610"/>
                  </a:lnTo>
                  <a:lnTo>
                    <a:pt x="1873224" y="79476"/>
                  </a:lnTo>
                  <a:lnTo>
                    <a:pt x="1864398" y="79476"/>
                  </a:lnTo>
                  <a:lnTo>
                    <a:pt x="1053896" y="0"/>
                  </a:lnTo>
                  <a:close/>
                </a:path>
              </a:pathLst>
            </a:custGeom>
            <a:solidFill>
              <a:srgbClr val="215968"/>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41" name="Google Shape;141;p15"/>
            <p:cNvSpPr/>
            <p:nvPr/>
          </p:nvSpPr>
          <p:spPr>
            <a:xfrm>
              <a:off x="1336192" y="3090138"/>
              <a:ext cx="1579245" cy="355600"/>
            </a:xfrm>
            <a:custGeom>
              <a:rect b="b" l="l" r="r" t="t"/>
              <a:pathLst>
                <a:path extrusionOk="0" h="355600" w="1579245">
                  <a:moveTo>
                    <a:pt x="1578648" y="207835"/>
                  </a:moveTo>
                  <a:lnTo>
                    <a:pt x="1549158" y="206641"/>
                  </a:lnTo>
                  <a:lnTo>
                    <a:pt x="1518767" y="205943"/>
                  </a:lnTo>
                  <a:lnTo>
                    <a:pt x="1478762" y="205740"/>
                  </a:lnTo>
                  <a:lnTo>
                    <a:pt x="1430413" y="206451"/>
                  </a:lnTo>
                  <a:lnTo>
                    <a:pt x="1375016" y="208521"/>
                  </a:lnTo>
                  <a:lnTo>
                    <a:pt x="1313815" y="212382"/>
                  </a:lnTo>
                  <a:lnTo>
                    <a:pt x="1248105" y="218465"/>
                  </a:lnTo>
                  <a:lnTo>
                    <a:pt x="1179156" y="227215"/>
                  </a:lnTo>
                  <a:lnTo>
                    <a:pt x="1108240" y="239064"/>
                  </a:lnTo>
                  <a:lnTo>
                    <a:pt x="1036637" y="254457"/>
                  </a:lnTo>
                  <a:lnTo>
                    <a:pt x="965606" y="273812"/>
                  </a:lnTo>
                  <a:lnTo>
                    <a:pt x="973035" y="271284"/>
                  </a:lnTo>
                  <a:lnTo>
                    <a:pt x="1034427" y="252120"/>
                  </a:lnTo>
                  <a:lnTo>
                    <a:pt x="1110259" y="233159"/>
                  </a:lnTo>
                  <a:lnTo>
                    <a:pt x="1153248" y="224180"/>
                  </a:lnTo>
                  <a:lnTo>
                    <a:pt x="1199667" y="215709"/>
                  </a:lnTo>
                  <a:lnTo>
                    <a:pt x="1249527" y="207835"/>
                  </a:lnTo>
                  <a:lnTo>
                    <a:pt x="1302867" y="200685"/>
                  </a:lnTo>
                  <a:lnTo>
                    <a:pt x="1359725" y="194386"/>
                  </a:lnTo>
                  <a:lnTo>
                    <a:pt x="1420114" y="189039"/>
                  </a:lnTo>
                  <a:lnTo>
                    <a:pt x="1484071" y="184772"/>
                  </a:lnTo>
                  <a:lnTo>
                    <a:pt x="1551622" y="181698"/>
                  </a:lnTo>
                  <a:lnTo>
                    <a:pt x="1556245" y="181698"/>
                  </a:lnTo>
                  <a:lnTo>
                    <a:pt x="1560029" y="178092"/>
                  </a:lnTo>
                  <a:lnTo>
                    <a:pt x="1559687" y="174802"/>
                  </a:lnTo>
                  <a:lnTo>
                    <a:pt x="1559610" y="170141"/>
                  </a:lnTo>
                  <a:lnTo>
                    <a:pt x="1555407" y="166890"/>
                  </a:lnTo>
                  <a:lnTo>
                    <a:pt x="1550784" y="167246"/>
                  </a:lnTo>
                  <a:lnTo>
                    <a:pt x="1482598" y="170421"/>
                  </a:lnTo>
                  <a:lnTo>
                    <a:pt x="1417993" y="174802"/>
                  </a:lnTo>
                  <a:lnTo>
                    <a:pt x="1356956" y="180263"/>
                  </a:lnTo>
                  <a:lnTo>
                    <a:pt x="1299464" y="186690"/>
                  </a:lnTo>
                  <a:lnTo>
                    <a:pt x="1245133" y="194030"/>
                  </a:lnTo>
                  <a:lnTo>
                    <a:pt x="1195044" y="201980"/>
                  </a:lnTo>
                  <a:lnTo>
                    <a:pt x="1147851" y="210642"/>
                  </a:lnTo>
                  <a:lnTo>
                    <a:pt x="1104557" y="219697"/>
                  </a:lnTo>
                  <a:lnTo>
                    <a:pt x="1064501" y="229171"/>
                  </a:lnTo>
                  <a:lnTo>
                    <a:pt x="994625" y="248767"/>
                  </a:lnTo>
                  <a:lnTo>
                    <a:pt x="947051" y="264947"/>
                  </a:lnTo>
                  <a:lnTo>
                    <a:pt x="930300" y="271284"/>
                  </a:lnTo>
                  <a:lnTo>
                    <a:pt x="938593" y="268097"/>
                  </a:lnTo>
                  <a:lnTo>
                    <a:pt x="957973" y="260807"/>
                  </a:lnTo>
                  <a:lnTo>
                    <a:pt x="1003046" y="243738"/>
                  </a:lnTo>
                  <a:lnTo>
                    <a:pt x="1075321" y="220726"/>
                  </a:lnTo>
                  <a:lnTo>
                    <a:pt x="1147013" y="201536"/>
                  </a:lnTo>
                  <a:lnTo>
                    <a:pt x="1215898" y="186118"/>
                  </a:lnTo>
                  <a:lnTo>
                    <a:pt x="1281163" y="173951"/>
                  </a:lnTo>
                  <a:lnTo>
                    <a:pt x="1341640" y="164668"/>
                  </a:lnTo>
                  <a:lnTo>
                    <a:pt x="1396174" y="157886"/>
                  </a:lnTo>
                  <a:lnTo>
                    <a:pt x="1443570" y="153200"/>
                  </a:lnTo>
                  <a:lnTo>
                    <a:pt x="1482686" y="150228"/>
                  </a:lnTo>
                  <a:lnTo>
                    <a:pt x="1531366" y="147891"/>
                  </a:lnTo>
                  <a:lnTo>
                    <a:pt x="1538592" y="147739"/>
                  </a:lnTo>
                  <a:lnTo>
                    <a:pt x="1539849" y="147739"/>
                  </a:lnTo>
                  <a:lnTo>
                    <a:pt x="1540700" y="147015"/>
                  </a:lnTo>
                  <a:lnTo>
                    <a:pt x="1540700" y="145046"/>
                  </a:lnTo>
                  <a:lnTo>
                    <a:pt x="1540916" y="145046"/>
                  </a:lnTo>
                  <a:lnTo>
                    <a:pt x="1539849" y="144132"/>
                  </a:lnTo>
                  <a:lnTo>
                    <a:pt x="1538592" y="144132"/>
                  </a:lnTo>
                  <a:lnTo>
                    <a:pt x="1528546" y="144335"/>
                  </a:lnTo>
                  <a:lnTo>
                    <a:pt x="1529892" y="144335"/>
                  </a:lnTo>
                  <a:lnTo>
                    <a:pt x="1510779" y="145046"/>
                  </a:lnTo>
                  <a:lnTo>
                    <a:pt x="1511604" y="145046"/>
                  </a:lnTo>
                  <a:lnTo>
                    <a:pt x="1484655" y="146519"/>
                  </a:lnTo>
                  <a:lnTo>
                    <a:pt x="1446898" y="149339"/>
                  </a:lnTo>
                  <a:lnTo>
                    <a:pt x="1401089" y="153784"/>
                  </a:lnTo>
                  <a:lnTo>
                    <a:pt x="1348320" y="160210"/>
                  </a:lnTo>
                  <a:lnTo>
                    <a:pt x="1289685" y="168986"/>
                  </a:lnTo>
                  <a:lnTo>
                    <a:pt x="1226299" y="180467"/>
                  </a:lnTo>
                  <a:lnTo>
                    <a:pt x="1159243" y="195033"/>
                  </a:lnTo>
                  <a:lnTo>
                    <a:pt x="1089634" y="213029"/>
                  </a:lnTo>
                  <a:lnTo>
                    <a:pt x="1018552" y="234835"/>
                  </a:lnTo>
                  <a:lnTo>
                    <a:pt x="947115" y="260807"/>
                  </a:lnTo>
                  <a:lnTo>
                    <a:pt x="954836" y="257289"/>
                  </a:lnTo>
                  <a:lnTo>
                    <a:pt x="1011250" y="233832"/>
                  </a:lnTo>
                  <a:lnTo>
                    <a:pt x="1082332" y="207835"/>
                  </a:lnTo>
                  <a:lnTo>
                    <a:pt x="1123315" y="194691"/>
                  </a:lnTo>
                  <a:lnTo>
                    <a:pt x="1166939" y="182181"/>
                  </a:lnTo>
                  <a:lnTo>
                    <a:pt x="1213548" y="170421"/>
                  </a:lnTo>
                  <a:lnTo>
                    <a:pt x="1264818" y="159232"/>
                  </a:lnTo>
                  <a:lnTo>
                    <a:pt x="1318831" y="149339"/>
                  </a:lnTo>
                  <a:lnTo>
                    <a:pt x="1318679" y="149339"/>
                  </a:lnTo>
                  <a:lnTo>
                    <a:pt x="1378216" y="140449"/>
                  </a:lnTo>
                  <a:lnTo>
                    <a:pt x="1441234" y="133146"/>
                  </a:lnTo>
                  <a:lnTo>
                    <a:pt x="1513370" y="127152"/>
                  </a:lnTo>
                  <a:lnTo>
                    <a:pt x="1516735" y="123901"/>
                  </a:lnTo>
                  <a:lnTo>
                    <a:pt x="1515897" y="115951"/>
                  </a:lnTo>
                  <a:lnTo>
                    <a:pt x="1511693" y="113068"/>
                  </a:lnTo>
                  <a:lnTo>
                    <a:pt x="1507058" y="113068"/>
                  </a:lnTo>
                  <a:lnTo>
                    <a:pt x="1438668" y="118719"/>
                  </a:lnTo>
                  <a:lnTo>
                    <a:pt x="1374813" y="126072"/>
                  </a:lnTo>
                  <a:lnTo>
                    <a:pt x="1315313" y="134924"/>
                  </a:lnTo>
                  <a:lnTo>
                    <a:pt x="1259954" y="145046"/>
                  </a:lnTo>
                  <a:lnTo>
                    <a:pt x="1208519" y="156222"/>
                  </a:lnTo>
                  <a:lnTo>
                    <a:pt x="1160818" y="168262"/>
                  </a:lnTo>
                  <a:lnTo>
                    <a:pt x="1116634" y="180936"/>
                  </a:lnTo>
                  <a:lnTo>
                    <a:pt x="1075778" y="194030"/>
                  </a:lnTo>
                  <a:lnTo>
                    <a:pt x="1037945" y="207365"/>
                  </a:lnTo>
                  <a:lnTo>
                    <a:pt x="970813" y="233832"/>
                  </a:lnTo>
                  <a:lnTo>
                    <a:pt x="924407" y="254266"/>
                  </a:lnTo>
                  <a:lnTo>
                    <a:pt x="884453" y="273812"/>
                  </a:lnTo>
                  <a:lnTo>
                    <a:pt x="824788" y="307047"/>
                  </a:lnTo>
                  <a:lnTo>
                    <a:pt x="879373" y="263829"/>
                  </a:lnTo>
                  <a:lnTo>
                    <a:pt x="937120" y="224929"/>
                  </a:lnTo>
                  <a:lnTo>
                    <a:pt x="996708" y="190195"/>
                  </a:lnTo>
                  <a:lnTo>
                    <a:pt x="1056855" y="159486"/>
                  </a:lnTo>
                  <a:lnTo>
                    <a:pt x="1116253" y="132626"/>
                  </a:lnTo>
                  <a:lnTo>
                    <a:pt x="1173619" y="109474"/>
                  </a:lnTo>
                  <a:lnTo>
                    <a:pt x="1227645" y="89877"/>
                  </a:lnTo>
                  <a:lnTo>
                    <a:pt x="1277048" y="73685"/>
                  </a:lnTo>
                  <a:lnTo>
                    <a:pt x="1320507" y="60731"/>
                  </a:lnTo>
                  <a:lnTo>
                    <a:pt x="1384465" y="43942"/>
                  </a:lnTo>
                  <a:lnTo>
                    <a:pt x="1409115" y="38290"/>
                  </a:lnTo>
                  <a:lnTo>
                    <a:pt x="1410373" y="37922"/>
                  </a:lnTo>
                  <a:lnTo>
                    <a:pt x="1410792" y="36842"/>
                  </a:lnTo>
                  <a:lnTo>
                    <a:pt x="1409954" y="34671"/>
                  </a:lnTo>
                  <a:lnTo>
                    <a:pt x="1408696" y="34315"/>
                  </a:lnTo>
                  <a:lnTo>
                    <a:pt x="1407439" y="34671"/>
                  </a:lnTo>
                  <a:lnTo>
                    <a:pt x="1384795" y="39941"/>
                  </a:lnTo>
                  <a:lnTo>
                    <a:pt x="1326045" y="55219"/>
                  </a:lnTo>
                  <a:lnTo>
                    <a:pt x="1285938" y="66954"/>
                  </a:lnTo>
                  <a:lnTo>
                    <a:pt x="1240167" y="81597"/>
                  </a:lnTo>
                  <a:lnTo>
                    <a:pt x="1189837" y="99288"/>
                  </a:lnTo>
                  <a:lnTo>
                    <a:pt x="1136078" y="120154"/>
                  </a:lnTo>
                  <a:lnTo>
                    <a:pt x="1080020" y="144335"/>
                  </a:lnTo>
                  <a:lnTo>
                    <a:pt x="1022769" y="171970"/>
                  </a:lnTo>
                  <a:lnTo>
                    <a:pt x="965428" y="203187"/>
                  </a:lnTo>
                  <a:lnTo>
                    <a:pt x="909154" y="238125"/>
                  </a:lnTo>
                  <a:lnTo>
                    <a:pt x="855027" y="276910"/>
                  </a:lnTo>
                  <a:lnTo>
                    <a:pt x="804189" y="319697"/>
                  </a:lnTo>
                  <a:lnTo>
                    <a:pt x="795286" y="325780"/>
                  </a:lnTo>
                  <a:lnTo>
                    <a:pt x="788885" y="330301"/>
                  </a:lnTo>
                  <a:lnTo>
                    <a:pt x="782332" y="325843"/>
                  </a:lnTo>
                  <a:lnTo>
                    <a:pt x="734999" y="279273"/>
                  </a:lnTo>
                  <a:lnTo>
                    <a:pt x="683856" y="236588"/>
                  </a:lnTo>
                  <a:lnTo>
                    <a:pt x="630072" y="197713"/>
                  </a:lnTo>
                  <a:lnTo>
                    <a:pt x="574814" y="162572"/>
                  </a:lnTo>
                  <a:lnTo>
                    <a:pt x="519214" y="131102"/>
                  </a:lnTo>
                  <a:lnTo>
                    <a:pt x="464464" y="103212"/>
                  </a:lnTo>
                  <a:lnTo>
                    <a:pt x="411708" y="78841"/>
                  </a:lnTo>
                  <a:lnTo>
                    <a:pt x="362115" y="57899"/>
                  </a:lnTo>
                  <a:lnTo>
                    <a:pt x="316839" y="40335"/>
                  </a:lnTo>
                  <a:lnTo>
                    <a:pt x="277050" y="26047"/>
                  </a:lnTo>
                  <a:lnTo>
                    <a:pt x="218541" y="7061"/>
                  </a:lnTo>
                  <a:lnTo>
                    <a:pt x="194627" y="0"/>
                  </a:lnTo>
                  <a:lnTo>
                    <a:pt x="193789" y="355"/>
                  </a:lnTo>
                  <a:lnTo>
                    <a:pt x="192951" y="1079"/>
                  </a:lnTo>
                  <a:lnTo>
                    <a:pt x="192532" y="1803"/>
                  </a:lnTo>
                  <a:lnTo>
                    <a:pt x="192951" y="2882"/>
                  </a:lnTo>
                  <a:lnTo>
                    <a:pt x="193789" y="3606"/>
                  </a:lnTo>
                  <a:lnTo>
                    <a:pt x="218757" y="10922"/>
                  </a:lnTo>
                  <a:lnTo>
                    <a:pt x="246748" y="19710"/>
                  </a:lnTo>
                  <a:lnTo>
                    <a:pt x="283235" y="32016"/>
                  </a:lnTo>
                  <a:lnTo>
                    <a:pt x="326847" y="47942"/>
                  </a:lnTo>
                  <a:lnTo>
                    <a:pt x="376212" y="67564"/>
                  </a:lnTo>
                  <a:lnTo>
                    <a:pt x="429945" y="90970"/>
                  </a:lnTo>
                  <a:lnTo>
                    <a:pt x="486676" y="118249"/>
                  </a:lnTo>
                  <a:lnTo>
                    <a:pt x="545033" y="149479"/>
                  </a:lnTo>
                  <a:lnTo>
                    <a:pt x="603643" y="184759"/>
                  </a:lnTo>
                  <a:lnTo>
                    <a:pt x="661123" y="224167"/>
                  </a:lnTo>
                  <a:lnTo>
                    <a:pt x="716102" y="267792"/>
                  </a:lnTo>
                  <a:lnTo>
                    <a:pt x="767194" y="315722"/>
                  </a:lnTo>
                  <a:lnTo>
                    <a:pt x="740689" y="299491"/>
                  </a:lnTo>
                  <a:lnTo>
                    <a:pt x="705192" y="279679"/>
                  </a:lnTo>
                  <a:lnTo>
                    <a:pt x="660539" y="257302"/>
                  </a:lnTo>
                  <a:lnTo>
                    <a:pt x="606602" y="233362"/>
                  </a:lnTo>
                  <a:lnTo>
                    <a:pt x="539800" y="207137"/>
                  </a:lnTo>
                  <a:lnTo>
                    <a:pt x="502094" y="193878"/>
                  </a:lnTo>
                  <a:lnTo>
                    <a:pt x="461251" y="180835"/>
                  </a:lnTo>
                  <a:lnTo>
                    <a:pt x="417080" y="168198"/>
                  </a:lnTo>
                  <a:lnTo>
                    <a:pt x="369379" y="156184"/>
                  </a:lnTo>
                  <a:lnTo>
                    <a:pt x="317957" y="145021"/>
                  </a:lnTo>
                  <a:lnTo>
                    <a:pt x="262597" y="134899"/>
                  </a:lnTo>
                  <a:lnTo>
                    <a:pt x="203136" y="126060"/>
                  </a:lnTo>
                  <a:lnTo>
                    <a:pt x="139344" y="118719"/>
                  </a:lnTo>
                  <a:lnTo>
                    <a:pt x="66421" y="112712"/>
                  </a:lnTo>
                  <a:lnTo>
                    <a:pt x="62217" y="115595"/>
                  </a:lnTo>
                  <a:lnTo>
                    <a:pt x="61366" y="123901"/>
                  </a:lnTo>
                  <a:lnTo>
                    <a:pt x="64731" y="127152"/>
                  </a:lnTo>
                  <a:lnTo>
                    <a:pt x="136867" y="133146"/>
                  </a:lnTo>
                  <a:lnTo>
                    <a:pt x="199885" y="140449"/>
                  </a:lnTo>
                  <a:lnTo>
                    <a:pt x="258635" y="149225"/>
                  </a:lnTo>
                  <a:lnTo>
                    <a:pt x="313283" y="159232"/>
                  </a:lnTo>
                  <a:lnTo>
                    <a:pt x="364070" y="170294"/>
                  </a:lnTo>
                  <a:lnTo>
                    <a:pt x="411162" y="182181"/>
                  </a:lnTo>
                  <a:lnTo>
                    <a:pt x="454799" y="194691"/>
                  </a:lnTo>
                  <a:lnTo>
                    <a:pt x="495147" y="207606"/>
                  </a:lnTo>
                  <a:lnTo>
                    <a:pt x="532447" y="220726"/>
                  </a:lnTo>
                  <a:lnTo>
                    <a:pt x="615276" y="253771"/>
                  </a:lnTo>
                  <a:lnTo>
                    <a:pt x="630986" y="260819"/>
                  </a:lnTo>
                  <a:lnTo>
                    <a:pt x="559549" y="234759"/>
                  </a:lnTo>
                  <a:lnTo>
                    <a:pt x="488480" y="212890"/>
                  </a:lnTo>
                  <a:lnTo>
                    <a:pt x="418871" y="194830"/>
                  </a:lnTo>
                  <a:lnTo>
                    <a:pt x="351828" y="180213"/>
                  </a:lnTo>
                  <a:lnTo>
                    <a:pt x="288455" y="168694"/>
                  </a:lnTo>
                  <a:lnTo>
                    <a:pt x="229844" y="159893"/>
                  </a:lnTo>
                  <a:lnTo>
                    <a:pt x="177101" y="153441"/>
                  </a:lnTo>
                  <a:lnTo>
                    <a:pt x="131330" y="148983"/>
                  </a:lnTo>
                  <a:lnTo>
                    <a:pt x="65087" y="144589"/>
                  </a:lnTo>
                  <a:lnTo>
                    <a:pt x="38671" y="143776"/>
                  </a:lnTo>
                  <a:lnTo>
                    <a:pt x="37833" y="144500"/>
                  </a:lnTo>
                  <a:lnTo>
                    <a:pt x="37833" y="146659"/>
                  </a:lnTo>
                  <a:lnTo>
                    <a:pt x="38671" y="147383"/>
                  </a:lnTo>
                  <a:lnTo>
                    <a:pt x="66192" y="148221"/>
                  </a:lnTo>
                  <a:lnTo>
                    <a:pt x="95846" y="149872"/>
                  </a:lnTo>
                  <a:lnTo>
                    <a:pt x="134950" y="152831"/>
                  </a:lnTo>
                  <a:lnTo>
                    <a:pt x="182359" y="157518"/>
                  </a:lnTo>
                  <a:lnTo>
                    <a:pt x="236880" y="164312"/>
                  </a:lnTo>
                  <a:lnTo>
                    <a:pt x="297357" y="173596"/>
                  </a:lnTo>
                  <a:lnTo>
                    <a:pt x="362623" y="185750"/>
                  </a:lnTo>
                  <a:lnTo>
                    <a:pt x="431520" y="201180"/>
                  </a:lnTo>
                  <a:lnTo>
                    <a:pt x="502856" y="220256"/>
                  </a:lnTo>
                  <a:lnTo>
                    <a:pt x="575475" y="243370"/>
                  </a:lnTo>
                  <a:lnTo>
                    <a:pt x="648220" y="270929"/>
                  </a:lnTo>
                  <a:lnTo>
                    <a:pt x="613752" y="258292"/>
                  </a:lnTo>
                  <a:lnTo>
                    <a:pt x="583819" y="248335"/>
                  </a:lnTo>
                  <a:lnTo>
                    <a:pt x="513854" y="228663"/>
                  </a:lnTo>
                  <a:lnTo>
                    <a:pt x="473786" y="219176"/>
                  </a:lnTo>
                  <a:lnTo>
                    <a:pt x="430288" y="210083"/>
                  </a:lnTo>
                  <a:lnTo>
                    <a:pt x="383336" y="201485"/>
                  </a:lnTo>
                  <a:lnTo>
                    <a:pt x="332905" y="193497"/>
                  </a:lnTo>
                  <a:lnTo>
                    <a:pt x="278980" y="186245"/>
                  </a:lnTo>
                  <a:lnTo>
                    <a:pt x="221513" y="179844"/>
                  </a:lnTo>
                  <a:lnTo>
                    <a:pt x="160515" y="174409"/>
                  </a:lnTo>
                  <a:lnTo>
                    <a:pt x="95923" y="170053"/>
                  </a:lnTo>
                  <a:lnTo>
                    <a:pt x="27736" y="166890"/>
                  </a:lnTo>
                  <a:lnTo>
                    <a:pt x="23114" y="166890"/>
                  </a:lnTo>
                  <a:lnTo>
                    <a:pt x="19329" y="169786"/>
                  </a:lnTo>
                  <a:lnTo>
                    <a:pt x="18910" y="173761"/>
                  </a:lnTo>
                  <a:lnTo>
                    <a:pt x="18910" y="177736"/>
                  </a:lnTo>
                  <a:lnTo>
                    <a:pt x="22275" y="180987"/>
                  </a:lnTo>
                  <a:lnTo>
                    <a:pt x="26898" y="181343"/>
                  </a:lnTo>
                  <a:lnTo>
                    <a:pt x="94361" y="184492"/>
                  </a:lnTo>
                  <a:lnTo>
                    <a:pt x="158267" y="188836"/>
                  </a:lnTo>
                  <a:lnTo>
                    <a:pt x="218630" y="194221"/>
                  </a:lnTo>
                  <a:lnTo>
                    <a:pt x="275475" y="200571"/>
                  </a:lnTo>
                  <a:lnTo>
                    <a:pt x="328828" y="207733"/>
                  </a:lnTo>
                  <a:lnTo>
                    <a:pt x="378714" y="215607"/>
                  </a:lnTo>
                  <a:lnTo>
                    <a:pt x="425157" y="224091"/>
                  </a:lnTo>
                  <a:lnTo>
                    <a:pt x="468185" y="233032"/>
                  </a:lnTo>
                  <a:lnTo>
                    <a:pt x="507809" y="242354"/>
                  </a:lnTo>
                  <a:lnTo>
                    <a:pt x="576999" y="261594"/>
                  </a:lnTo>
                  <a:lnTo>
                    <a:pt x="612914" y="273456"/>
                  </a:lnTo>
                  <a:lnTo>
                    <a:pt x="541883" y="254177"/>
                  </a:lnTo>
                  <a:lnTo>
                    <a:pt x="470255" y="238861"/>
                  </a:lnTo>
                  <a:lnTo>
                    <a:pt x="399300" y="227063"/>
                  </a:lnTo>
                  <a:lnTo>
                    <a:pt x="330301" y="218363"/>
                  </a:lnTo>
                  <a:lnTo>
                    <a:pt x="264553" y="212305"/>
                  </a:lnTo>
                  <a:lnTo>
                    <a:pt x="203301" y="208483"/>
                  </a:lnTo>
                  <a:lnTo>
                    <a:pt x="147840" y="206438"/>
                  </a:lnTo>
                  <a:lnTo>
                    <a:pt x="99453" y="205740"/>
                  </a:lnTo>
                  <a:lnTo>
                    <a:pt x="59410" y="205943"/>
                  </a:lnTo>
                  <a:lnTo>
                    <a:pt x="28981" y="206641"/>
                  </a:lnTo>
                  <a:lnTo>
                    <a:pt x="838" y="207721"/>
                  </a:lnTo>
                  <a:lnTo>
                    <a:pt x="0" y="208432"/>
                  </a:lnTo>
                  <a:lnTo>
                    <a:pt x="0" y="210604"/>
                  </a:lnTo>
                  <a:lnTo>
                    <a:pt x="838" y="211328"/>
                  </a:lnTo>
                  <a:lnTo>
                    <a:pt x="27432" y="210286"/>
                  </a:lnTo>
                  <a:lnTo>
                    <a:pt x="56057" y="209588"/>
                  </a:lnTo>
                  <a:lnTo>
                    <a:pt x="139458" y="209829"/>
                  </a:lnTo>
                  <a:lnTo>
                    <a:pt x="191922" y="211556"/>
                  </a:lnTo>
                  <a:lnTo>
                    <a:pt x="249999" y="214884"/>
                  </a:lnTo>
                  <a:lnTo>
                    <a:pt x="312559" y="220218"/>
                  </a:lnTo>
                  <a:lnTo>
                    <a:pt x="378434" y="227952"/>
                  </a:lnTo>
                  <a:lnTo>
                    <a:pt x="446481" y="238467"/>
                  </a:lnTo>
                  <a:lnTo>
                    <a:pt x="515518" y="252196"/>
                  </a:lnTo>
                  <a:lnTo>
                    <a:pt x="584415" y="269506"/>
                  </a:lnTo>
                  <a:lnTo>
                    <a:pt x="652005" y="290804"/>
                  </a:lnTo>
                  <a:lnTo>
                    <a:pt x="653694" y="290804"/>
                  </a:lnTo>
                  <a:lnTo>
                    <a:pt x="712012" y="314871"/>
                  </a:lnTo>
                  <a:lnTo>
                    <a:pt x="752475" y="335724"/>
                  </a:lnTo>
                  <a:lnTo>
                    <a:pt x="784847" y="355460"/>
                  </a:lnTo>
                  <a:lnTo>
                    <a:pt x="789101" y="351409"/>
                  </a:lnTo>
                  <a:lnTo>
                    <a:pt x="792835" y="355092"/>
                  </a:lnTo>
                  <a:lnTo>
                    <a:pt x="800900" y="349643"/>
                  </a:lnTo>
                  <a:lnTo>
                    <a:pt x="824890" y="335368"/>
                  </a:lnTo>
                  <a:lnTo>
                    <a:pt x="865428" y="314502"/>
                  </a:lnTo>
                  <a:lnTo>
                    <a:pt x="882535" y="307047"/>
                  </a:lnTo>
                  <a:lnTo>
                    <a:pt x="923150" y="289344"/>
                  </a:lnTo>
                  <a:lnTo>
                    <a:pt x="923569" y="290068"/>
                  </a:lnTo>
                  <a:lnTo>
                    <a:pt x="923988" y="290436"/>
                  </a:lnTo>
                  <a:lnTo>
                    <a:pt x="925677" y="290436"/>
                  </a:lnTo>
                  <a:lnTo>
                    <a:pt x="929144" y="289344"/>
                  </a:lnTo>
                  <a:lnTo>
                    <a:pt x="978446" y="273812"/>
                  </a:lnTo>
                  <a:lnTo>
                    <a:pt x="993279" y="269138"/>
                  </a:lnTo>
                  <a:lnTo>
                    <a:pt x="1062189" y="251828"/>
                  </a:lnTo>
                  <a:lnTo>
                    <a:pt x="1131176" y="238125"/>
                  </a:lnTo>
                  <a:lnTo>
                    <a:pt x="1199324" y="227584"/>
                  </a:lnTo>
                  <a:lnTo>
                    <a:pt x="1265237" y="219849"/>
                  </a:lnTo>
                  <a:lnTo>
                    <a:pt x="1327823" y="214528"/>
                  </a:lnTo>
                  <a:lnTo>
                    <a:pt x="1385938" y="211188"/>
                  </a:lnTo>
                  <a:lnTo>
                    <a:pt x="1438414" y="209461"/>
                  </a:lnTo>
                  <a:lnTo>
                    <a:pt x="1484083" y="208940"/>
                  </a:lnTo>
                  <a:lnTo>
                    <a:pt x="1521790" y="209232"/>
                  </a:lnTo>
                  <a:lnTo>
                    <a:pt x="1550390" y="209931"/>
                  </a:lnTo>
                  <a:lnTo>
                    <a:pt x="1575587" y="210959"/>
                  </a:lnTo>
                  <a:lnTo>
                    <a:pt x="1576844" y="210959"/>
                  </a:lnTo>
                  <a:lnTo>
                    <a:pt x="1577682" y="210235"/>
                  </a:lnTo>
                  <a:lnTo>
                    <a:pt x="1577682" y="209232"/>
                  </a:lnTo>
                  <a:lnTo>
                    <a:pt x="1577809" y="208940"/>
                  </a:lnTo>
                  <a:lnTo>
                    <a:pt x="1578063" y="208521"/>
                  </a:lnTo>
                  <a:lnTo>
                    <a:pt x="1578279" y="208521"/>
                  </a:lnTo>
                  <a:lnTo>
                    <a:pt x="1577060" y="207835"/>
                  </a:lnTo>
                  <a:lnTo>
                    <a:pt x="1578648" y="207835"/>
                  </a:lnTo>
                  <a:close/>
                </a:path>
              </a:pathLst>
            </a:custGeom>
            <a:solidFill>
              <a:srgbClr val="F9F8F7"/>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42" name="Google Shape;142;p15"/>
            <p:cNvSpPr/>
            <p:nvPr/>
          </p:nvSpPr>
          <p:spPr>
            <a:xfrm>
              <a:off x="997407" y="1622513"/>
              <a:ext cx="2284095" cy="2179320"/>
            </a:xfrm>
            <a:custGeom>
              <a:rect b="b" l="l" r="r" t="t"/>
              <a:pathLst>
                <a:path extrusionOk="0" h="2179320" w="2284095">
                  <a:moveTo>
                    <a:pt x="2283663" y="2081530"/>
                  </a:moveTo>
                  <a:lnTo>
                    <a:pt x="97764" y="2081530"/>
                  </a:lnTo>
                  <a:lnTo>
                    <a:pt x="97764" y="882650"/>
                  </a:lnTo>
                  <a:lnTo>
                    <a:pt x="97764" y="97790"/>
                  </a:lnTo>
                  <a:lnTo>
                    <a:pt x="1093177" y="97790"/>
                  </a:lnTo>
                  <a:lnTo>
                    <a:pt x="1093177" y="0"/>
                  </a:lnTo>
                  <a:lnTo>
                    <a:pt x="0" y="0"/>
                  </a:lnTo>
                  <a:lnTo>
                    <a:pt x="0" y="97790"/>
                  </a:lnTo>
                  <a:lnTo>
                    <a:pt x="0" y="882650"/>
                  </a:lnTo>
                  <a:lnTo>
                    <a:pt x="0" y="2081530"/>
                  </a:lnTo>
                  <a:lnTo>
                    <a:pt x="0" y="2179320"/>
                  </a:lnTo>
                  <a:lnTo>
                    <a:pt x="2283663" y="2179320"/>
                  </a:lnTo>
                  <a:lnTo>
                    <a:pt x="2283663" y="208153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143" name="Google Shape;143;p15"/>
          <p:cNvSpPr txBox="1"/>
          <p:nvPr>
            <p:ph type="title"/>
          </p:nvPr>
        </p:nvSpPr>
        <p:spPr>
          <a:xfrm>
            <a:off x="4199256" y="2206799"/>
            <a:ext cx="3056255" cy="574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0" lang="en-US">
                <a:solidFill>
                  <a:srgbClr val="002060"/>
                </a:solidFill>
                <a:latin typeface="Malgun Gothic"/>
                <a:ea typeface="Malgun Gothic"/>
                <a:cs typeface="Malgun Gothic"/>
                <a:sym typeface="Malgun Gothic"/>
              </a:rPr>
              <a:t>Deep Learning</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6"/>
          <p:cNvSpPr txBox="1"/>
          <p:nvPr>
            <p:ph type="title"/>
          </p:nvPr>
        </p:nvSpPr>
        <p:spPr>
          <a:xfrm>
            <a:off x="78739" y="118636"/>
            <a:ext cx="8986520" cy="574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Deep Learning</a:t>
            </a:r>
            <a:endParaRPr/>
          </a:p>
        </p:txBody>
      </p:sp>
      <p:sp>
        <p:nvSpPr>
          <p:cNvPr id="149" name="Google Shape;149;p16"/>
          <p:cNvSpPr txBox="1"/>
          <p:nvPr/>
        </p:nvSpPr>
        <p:spPr>
          <a:xfrm>
            <a:off x="237500" y="948975"/>
            <a:ext cx="8576400" cy="3823500"/>
          </a:xfrm>
          <a:prstGeom prst="rect">
            <a:avLst/>
          </a:prstGeom>
          <a:noFill/>
          <a:ln>
            <a:noFill/>
          </a:ln>
        </p:spPr>
        <p:txBody>
          <a:bodyPr anchorCtr="0" anchor="t" bIns="0" lIns="0" spcFirstLastPara="1" rIns="0" wrap="square" tIns="13325">
            <a:spAutoFit/>
          </a:bodyPr>
          <a:lstStyle/>
          <a:p>
            <a:pPr indent="-286385" lvl="0" marL="299085" rtl="0" algn="l">
              <a:lnSpc>
                <a:spcPct val="100000"/>
              </a:lnSpc>
              <a:spcBef>
                <a:spcPts val="0"/>
              </a:spcBef>
              <a:spcAft>
                <a:spcPts val="0"/>
              </a:spcAft>
              <a:buClr>
                <a:srgbClr val="FF0000"/>
              </a:buClr>
              <a:buSzPts val="2000"/>
              <a:buFont typeface="Noto Sans Symbols"/>
              <a:buChar char="▪"/>
            </a:pPr>
            <a:r>
              <a:rPr lang="en-US" sz="2000">
                <a:solidFill>
                  <a:srgbClr val="FF0000"/>
                </a:solidFill>
                <a:latin typeface="Times New Roman"/>
                <a:ea typeface="Times New Roman"/>
                <a:cs typeface="Times New Roman"/>
                <a:sym typeface="Times New Roman"/>
              </a:rPr>
              <a:t>No feature extraction required</a:t>
            </a:r>
            <a:endParaRPr sz="2000">
              <a:latin typeface="Times New Roman"/>
              <a:ea typeface="Times New Roman"/>
              <a:cs typeface="Times New Roman"/>
              <a:sym typeface="Times New Roman"/>
            </a:endParaRPr>
          </a:p>
          <a:p>
            <a:pPr indent="-287019" lvl="1" marL="756285" marR="220345" rtl="0" algn="l">
              <a:lnSpc>
                <a:spcPct val="95882"/>
              </a:lnSpc>
              <a:spcBef>
                <a:spcPts val="405"/>
              </a:spcBef>
              <a:spcAft>
                <a:spcPts val="0"/>
              </a:spcAft>
              <a:buSzPts val="1700"/>
              <a:buFont typeface="Arial"/>
              <a:buChar char="–"/>
            </a:pPr>
            <a:r>
              <a:rPr lang="en-US" sz="1700">
                <a:latin typeface="Times New Roman"/>
                <a:ea typeface="Times New Roman"/>
                <a:cs typeface="Times New Roman"/>
                <a:sym typeface="Times New Roman"/>
              </a:rPr>
              <a:t>Deep learning is one of the only methods by which we can overcome the challenges of feature extraction.</a:t>
            </a:r>
            <a:endParaRPr sz="1700">
              <a:latin typeface="Times New Roman"/>
              <a:ea typeface="Times New Roman"/>
              <a:cs typeface="Times New Roman"/>
              <a:sym typeface="Times New Roman"/>
            </a:endParaRPr>
          </a:p>
          <a:p>
            <a:pPr indent="-287019" lvl="1" marL="756285" marR="150495" rtl="0" algn="l">
              <a:lnSpc>
                <a:spcPct val="95882"/>
              </a:lnSpc>
              <a:spcBef>
                <a:spcPts val="409"/>
              </a:spcBef>
              <a:spcAft>
                <a:spcPts val="0"/>
              </a:spcAft>
              <a:buSzPts val="1700"/>
              <a:buFont typeface="Arial"/>
              <a:buChar char="–"/>
            </a:pPr>
            <a:r>
              <a:rPr lang="en-US" sz="1700">
                <a:latin typeface="Times New Roman"/>
                <a:ea typeface="Times New Roman"/>
                <a:cs typeface="Times New Roman"/>
                <a:sym typeface="Times New Roman"/>
              </a:rPr>
              <a:t>Deep networks are drawing inferences from data set consisting of input data without proper labeling.</a:t>
            </a:r>
            <a:endParaRPr sz="1700">
              <a:latin typeface="Times New Roman"/>
              <a:ea typeface="Times New Roman"/>
              <a:cs typeface="Times New Roman"/>
              <a:sym typeface="Times New Roman"/>
            </a:endParaRPr>
          </a:p>
          <a:p>
            <a:pPr indent="0" lvl="1" marL="0" rtl="0" algn="l">
              <a:lnSpc>
                <a:spcPct val="100000"/>
              </a:lnSpc>
              <a:spcBef>
                <a:spcPts val="930"/>
              </a:spcBef>
              <a:spcAft>
                <a:spcPts val="0"/>
              </a:spcAft>
              <a:buSzPts val="1700"/>
              <a:buFont typeface="Arial"/>
              <a:buNone/>
            </a:pPr>
            <a:r>
              <a:t/>
            </a:r>
            <a:endParaRPr sz="1700">
              <a:latin typeface="Times New Roman"/>
              <a:ea typeface="Times New Roman"/>
              <a:cs typeface="Times New Roman"/>
              <a:sym typeface="Times New Roman"/>
            </a:endParaRPr>
          </a:p>
          <a:p>
            <a:pPr indent="-287019" lvl="0" marL="299085" marR="5080" rtl="0" algn="l">
              <a:lnSpc>
                <a:spcPct val="80000"/>
              </a:lnSpc>
              <a:spcBef>
                <a:spcPts val="0"/>
              </a:spcBef>
              <a:spcAft>
                <a:spcPts val="0"/>
              </a:spcAft>
              <a:buClr>
                <a:srgbClr val="3E3E3E"/>
              </a:buClr>
              <a:buSzPts val="2000"/>
              <a:buFont typeface="Noto Sans Symbols"/>
              <a:buChar char="▪"/>
            </a:pPr>
            <a:r>
              <a:rPr lang="en-US" sz="2000">
                <a:solidFill>
                  <a:srgbClr val="3E3E3E"/>
                </a:solidFill>
                <a:latin typeface="Times New Roman"/>
                <a:ea typeface="Times New Roman"/>
                <a:cs typeface="Times New Roman"/>
                <a:sym typeface="Times New Roman"/>
              </a:rPr>
              <a:t>Deep learning models are </a:t>
            </a:r>
            <a:r>
              <a:rPr lang="en-US" sz="2000">
                <a:solidFill>
                  <a:srgbClr val="FF0000"/>
                </a:solidFill>
                <a:latin typeface="Times New Roman"/>
                <a:ea typeface="Times New Roman"/>
                <a:cs typeface="Times New Roman"/>
                <a:sym typeface="Times New Roman"/>
              </a:rPr>
              <a:t>capable of learning to focus on the right features </a:t>
            </a:r>
            <a:r>
              <a:rPr lang="en-US" sz="2000">
                <a:solidFill>
                  <a:srgbClr val="3E3E3E"/>
                </a:solidFill>
                <a:latin typeface="Times New Roman"/>
                <a:ea typeface="Times New Roman"/>
                <a:cs typeface="Times New Roman"/>
                <a:sym typeface="Times New Roman"/>
              </a:rPr>
              <a:t>by themselves</a:t>
            </a:r>
            <a:endParaRPr sz="2000">
              <a:latin typeface="Times New Roman"/>
              <a:ea typeface="Times New Roman"/>
              <a:cs typeface="Times New Roman"/>
              <a:sym typeface="Times New Roman"/>
            </a:endParaRPr>
          </a:p>
          <a:p>
            <a:pPr indent="0" lvl="0" marL="0" rtl="0" algn="l">
              <a:lnSpc>
                <a:spcPct val="100000"/>
              </a:lnSpc>
              <a:spcBef>
                <a:spcPts val="100"/>
              </a:spcBef>
              <a:spcAft>
                <a:spcPts val="0"/>
              </a:spcAft>
              <a:buSzPts val="2000"/>
              <a:buFont typeface="Noto Sans Symbols"/>
              <a:buNone/>
            </a:pPr>
            <a:r>
              <a:t/>
            </a:r>
            <a:endParaRPr sz="2000">
              <a:latin typeface="Times New Roman"/>
              <a:ea typeface="Times New Roman"/>
              <a:cs typeface="Times New Roman"/>
              <a:sym typeface="Times New Roman"/>
            </a:endParaRPr>
          </a:p>
          <a:p>
            <a:pPr indent="-286385" lvl="0" marL="299085" rtl="0" algn="l">
              <a:lnSpc>
                <a:spcPct val="100000"/>
              </a:lnSpc>
              <a:spcBef>
                <a:spcPts val="0"/>
              </a:spcBef>
              <a:spcAft>
                <a:spcPts val="0"/>
              </a:spcAft>
              <a:buClr>
                <a:srgbClr val="00B050"/>
              </a:buClr>
              <a:buSzPts val="2000"/>
              <a:buFont typeface="Noto Sans Symbols"/>
              <a:buChar char="▪"/>
            </a:pPr>
            <a:r>
              <a:rPr lang="en-US" sz="2000" u="sng">
                <a:solidFill>
                  <a:srgbClr val="00B050"/>
                </a:solidFill>
                <a:latin typeface="Times New Roman"/>
                <a:ea typeface="Times New Roman"/>
                <a:cs typeface="Times New Roman"/>
                <a:sym typeface="Times New Roman"/>
              </a:rPr>
              <a:t>Deep learning uses neural networks </a:t>
            </a:r>
            <a:r>
              <a:rPr lang="en-US" sz="2000">
                <a:solidFill>
                  <a:srgbClr val="3E3E3E"/>
                </a:solidFill>
                <a:latin typeface="Times New Roman"/>
                <a:ea typeface="Times New Roman"/>
                <a:cs typeface="Times New Roman"/>
                <a:sym typeface="Times New Roman"/>
              </a:rPr>
              <a:t>to simulate human like decision making</a:t>
            </a:r>
            <a:endParaRPr sz="2000">
              <a:latin typeface="Times New Roman"/>
              <a:ea typeface="Times New Roman"/>
              <a:cs typeface="Times New Roman"/>
              <a:sym typeface="Times New Roman"/>
            </a:endParaRPr>
          </a:p>
          <a:p>
            <a:pPr indent="0" lvl="0" marL="0" rtl="0" algn="l">
              <a:lnSpc>
                <a:spcPct val="100000"/>
              </a:lnSpc>
              <a:spcBef>
                <a:spcPts val="100"/>
              </a:spcBef>
              <a:spcAft>
                <a:spcPts val="0"/>
              </a:spcAft>
              <a:buSzPts val="2000"/>
              <a:buFont typeface="Noto Sans Symbols"/>
              <a:buNone/>
            </a:pPr>
            <a:r>
              <a:t/>
            </a:r>
            <a:endParaRPr sz="2000">
              <a:latin typeface="Times New Roman"/>
              <a:ea typeface="Times New Roman"/>
              <a:cs typeface="Times New Roman"/>
              <a:sym typeface="Times New Roman"/>
            </a:endParaRPr>
          </a:p>
          <a:p>
            <a:pPr indent="-286385" lvl="0" marL="299085" rtl="0" algn="l">
              <a:lnSpc>
                <a:spcPct val="100000"/>
              </a:lnSpc>
              <a:spcBef>
                <a:spcPts val="0"/>
              </a:spcBef>
              <a:spcAft>
                <a:spcPts val="0"/>
              </a:spcAft>
              <a:buClr>
                <a:srgbClr val="002060"/>
              </a:buClr>
              <a:buSzPts val="2000"/>
              <a:buFont typeface="Noto Sans Symbols"/>
              <a:buChar char="▪"/>
            </a:pPr>
            <a:r>
              <a:rPr lang="en-US" sz="2000">
                <a:solidFill>
                  <a:srgbClr val="002060"/>
                </a:solidFill>
                <a:latin typeface="Times New Roman"/>
                <a:ea typeface="Times New Roman"/>
                <a:cs typeface="Times New Roman"/>
                <a:sym typeface="Times New Roman"/>
              </a:rPr>
              <a:t>Deep learning models mimics the way our brain functions</a:t>
            </a:r>
            <a:endParaRPr sz="2000">
              <a:latin typeface="Times New Roman"/>
              <a:ea typeface="Times New Roman"/>
              <a:cs typeface="Times New Roman"/>
              <a:sym typeface="Times New Roman"/>
            </a:endParaRPr>
          </a:p>
          <a:p>
            <a:pPr indent="-287019" lvl="1" marL="756285" rtl="0" algn="l">
              <a:lnSpc>
                <a:spcPct val="100000"/>
              </a:lnSpc>
              <a:spcBef>
                <a:spcPts val="15"/>
              </a:spcBef>
              <a:spcAft>
                <a:spcPts val="0"/>
              </a:spcAft>
              <a:buSzPts val="1700"/>
              <a:buFont typeface="Arial"/>
              <a:buChar char="–"/>
            </a:pPr>
            <a:r>
              <a:rPr lang="en-US" sz="1700">
                <a:latin typeface="Times New Roman"/>
                <a:ea typeface="Times New Roman"/>
                <a:cs typeface="Times New Roman"/>
                <a:sym typeface="Times New Roman"/>
              </a:rPr>
              <a:t>That is, it learns from experience.</a:t>
            </a:r>
            <a:endParaRPr sz="1700">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17"/>
          <p:cNvSpPr txBox="1"/>
          <p:nvPr>
            <p:ph type="title"/>
          </p:nvPr>
        </p:nvSpPr>
        <p:spPr>
          <a:xfrm>
            <a:off x="78739" y="118636"/>
            <a:ext cx="8986520" cy="574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Deep Neural networks</a:t>
            </a:r>
            <a:endParaRPr/>
          </a:p>
        </p:txBody>
      </p:sp>
      <p:sp>
        <p:nvSpPr>
          <p:cNvPr id="155" name="Google Shape;155;p17"/>
          <p:cNvSpPr txBox="1"/>
          <p:nvPr/>
        </p:nvSpPr>
        <p:spPr>
          <a:xfrm>
            <a:off x="341300" y="1074700"/>
            <a:ext cx="8208600" cy="1182600"/>
          </a:xfrm>
          <a:prstGeom prst="rect">
            <a:avLst/>
          </a:prstGeom>
          <a:noFill/>
          <a:ln>
            <a:noFill/>
          </a:ln>
        </p:spPr>
        <p:txBody>
          <a:bodyPr anchorCtr="0" anchor="t" bIns="0" lIns="0" spcFirstLastPara="1" rIns="0" wrap="square" tIns="12050">
            <a:spAutoFit/>
          </a:bodyPr>
          <a:lstStyle/>
          <a:p>
            <a:pPr indent="-286385" lvl="0" marL="299085" rtl="0" algn="l">
              <a:lnSpc>
                <a:spcPct val="100000"/>
              </a:lnSpc>
              <a:spcBef>
                <a:spcPts val="0"/>
              </a:spcBef>
              <a:spcAft>
                <a:spcPts val="0"/>
              </a:spcAft>
              <a:buClr>
                <a:srgbClr val="3E3E3E"/>
              </a:buClr>
              <a:buSzPts val="2500"/>
              <a:buFont typeface="Noto Sans Symbols"/>
              <a:buChar char="▪"/>
            </a:pPr>
            <a:r>
              <a:rPr lang="en-US" sz="2500">
                <a:solidFill>
                  <a:srgbClr val="3E3E3E"/>
                </a:solidFill>
                <a:latin typeface="Times New Roman"/>
                <a:ea typeface="Times New Roman"/>
                <a:cs typeface="Times New Roman"/>
                <a:sym typeface="Times New Roman"/>
              </a:rPr>
              <a:t>Deep Neural networks can have </a:t>
            </a:r>
            <a:r>
              <a:rPr lang="en-US" sz="2500" u="sng">
                <a:solidFill>
                  <a:srgbClr val="FF0000"/>
                </a:solidFill>
                <a:latin typeface="Times New Roman"/>
                <a:ea typeface="Times New Roman"/>
                <a:cs typeface="Times New Roman"/>
                <a:sym typeface="Times New Roman"/>
              </a:rPr>
              <a:t>multiple hidden layers</a:t>
            </a:r>
            <a:endParaRPr sz="2500">
              <a:latin typeface="Times New Roman"/>
              <a:ea typeface="Times New Roman"/>
              <a:cs typeface="Times New Roman"/>
              <a:sym typeface="Times New Roman"/>
            </a:endParaRPr>
          </a:p>
          <a:p>
            <a:pPr indent="0" lvl="0" marL="0" rtl="0" algn="l">
              <a:lnSpc>
                <a:spcPct val="100000"/>
              </a:lnSpc>
              <a:spcBef>
                <a:spcPts val="125"/>
              </a:spcBef>
              <a:spcAft>
                <a:spcPts val="0"/>
              </a:spcAft>
              <a:buClr>
                <a:srgbClr val="3E3E3E"/>
              </a:buClr>
              <a:buSzPts val="2500"/>
              <a:buFont typeface="Noto Sans Symbols"/>
              <a:buNone/>
            </a:pPr>
            <a:r>
              <a:t/>
            </a:r>
            <a:endParaRPr sz="2500">
              <a:latin typeface="Times New Roman"/>
              <a:ea typeface="Times New Roman"/>
              <a:cs typeface="Times New Roman"/>
              <a:sym typeface="Times New Roman"/>
            </a:endParaRPr>
          </a:p>
          <a:p>
            <a:pPr indent="-286385" lvl="0" marL="299085" rtl="0" algn="l">
              <a:lnSpc>
                <a:spcPct val="100000"/>
              </a:lnSpc>
              <a:spcBef>
                <a:spcPts val="0"/>
              </a:spcBef>
              <a:spcAft>
                <a:spcPts val="0"/>
              </a:spcAft>
              <a:buClr>
                <a:srgbClr val="3E3E3E"/>
              </a:buClr>
              <a:buSzPts val="2500"/>
              <a:buFont typeface="Noto Sans Symbols"/>
              <a:buChar char="▪"/>
            </a:pPr>
            <a:r>
              <a:rPr lang="en-US" sz="2500">
                <a:solidFill>
                  <a:srgbClr val="3E3E3E"/>
                </a:solidFill>
                <a:latin typeface="Times New Roman"/>
                <a:ea typeface="Times New Roman"/>
                <a:cs typeface="Times New Roman"/>
                <a:sym typeface="Times New Roman"/>
              </a:rPr>
              <a:t>This was not possible in case of </a:t>
            </a:r>
            <a:r>
              <a:rPr lang="en-US" sz="2500">
                <a:solidFill>
                  <a:srgbClr val="FF0000"/>
                </a:solidFill>
                <a:latin typeface="Times New Roman"/>
                <a:ea typeface="Times New Roman"/>
                <a:cs typeface="Times New Roman"/>
                <a:sym typeface="Times New Roman"/>
              </a:rPr>
              <a:t>traditional neural networks</a:t>
            </a:r>
            <a:endParaRPr sz="2500">
              <a:latin typeface="Times New Roman"/>
              <a:ea typeface="Times New Roman"/>
              <a:cs typeface="Times New Roman"/>
              <a:sym typeface="Times New Roman"/>
            </a:endParaRPr>
          </a:p>
        </p:txBody>
      </p:sp>
      <p:pic>
        <p:nvPicPr>
          <p:cNvPr id="156" name="Google Shape;156;p17"/>
          <p:cNvPicPr preferRelativeResize="0"/>
          <p:nvPr/>
        </p:nvPicPr>
        <p:blipFill rotWithShape="1">
          <a:blip r:embed="rId3">
            <a:alphaModFix/>
          </a:blip>
          <a:srcRect b="0" l="0" r="0" t="0"/>
          <a:stretch/>
        </p:blipFill>
        <p:spPr>
          <a:xfrm>
            <a:off x="2339751" y="2907407"/>
            <a:ext cx="4924424" cy="207644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18"/>
          <p:cNvSpPr txBox="1"/>
          <p:nvPr>
            <p:ph type="title"/>
          </p:nvPr>
        </p:nvSpPr>
        <p:spPr>
          <a:xfrm>
            <a:off x="78752" y="118625"/>
            <a:ext cx="8871600" cy="59700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a:solidFill>
                  <a:srgbClr val="0E0E0E"/>
                </a:solidFill>
              </a:rPr>
              <a:t>Neural Networks </a:t>
            </a:r>
            <a:r>
              <a:rPr i="1" lang="en-US" sz="3800">
                <a:solidFill>
                  <a:srgbClr val="FF0000"/>
                </a:solidFill>
                <a:latin typeface="Times New Roman"/>
                <a:ea typeface="Times New Roman"/>
                <a:cs typeface="Times New Roman"/>
                <a:sym typeface="Times New Roman"/>
              </a:rPr>
              <a:t>vs. </a:t>
            </a:r>
            <a:r>
              <a:rPr lang="en-US">
                <a:solidFill>
                  <a:srgbClr val="0E0E0E"/>
                </a:solidFill>
              </a:rPr>
              <a:t>Deep Learning </a:t>
            </a:r>
            <a:r>
              <a:rPr lang="en-US" sz="2400">
                <a:solidFill>
                  <a:srgbClr val="00B0F0"/>
                </a:solidFill>
              </a:rPr>
              <a:t>(DNN)</a:t>
            </a:r>
            <a:endParaRPr sz="2400">
              <a:latin typeface="Times New Roman"/>
              <a:ea typeface="Times New Roman"/>
              <a:cs typeface="Times New Roman"/>
              <a:sym typeface="Times New Roman"/>
            </a:endParaRPr>
          </a:p>
        </p:txBody>
      </p:sp>
      <p:sp>
        <p:nvSpPr>
          <p:cNvPr id="162" name="Google Shape;162;p18"/>
          <p:cNvSpPr txBox="1"/>
          <p:nvPr/>
        </p:nvSpPr>
        <p:spPr>
          <a:xfrm>
            <a:off x="244275" y="932200"/>
            <a:ext cx="8760300" cy="4156500"/>
          </a:xfrm>
          <a:prstGeom prst="rect">
            <a:avLst/>
          </a:prstGeom>
          <a:noFill/>
          <a:ln>
            <a:noFill/>
          </a:ln>
        </p:spPr>
        <p:txBody>
          <a:bodyPr anchorCtr="0" anchor="t" bIns="0" lIns="0" spcFirstLastPara="1" rIns="0" wrap="square" tIns="85725">
            <a:spAutoFit/>
          </a:bodyPr>
          <a:lstStyle/>
          <a:p>
            <a:pPr indent="-287019" lvl="0" marL="299085" marR="5080" rtl="0" algn="l">
              <a:lnSpc>
                <a:spcPct val="96000"/>
              </a:lnSpc>
              <a:spcBef>
                <a:spcPts val="0"/>
              </a:spcBef>
              <a:spcAft>
                <a:spcPts val="0"/>
              </a:spcAft>
              <a:buClr>
                <a:srgbClr val="3E3E3E"/>
              </a:buClr>
              <a:buSzPts val="2500"/>
              <a:buFont typeface="Noto Sans Symbols"/>
              <a:buChar char="▪"/>
            </a:pPr>
            <a:r>
              <a:rPr lang="en-US" sz="2500">
                <a:solidFill>
                  <a:srgbClr val="3E3E3E"/>
                </a:solidFill>
                <a:latin typeface="Times New Roman"/>
                <a:ea typeface="Times New Roman"/>
                <a:cs typeface="Times New Roman"/>
                <a:sym typeface="Times New Roman"/>
              </a:rPr>
              <a:t>“deep” in deep learning is just referring to the depth of layers in a neural network</a:t>
            </a:r>
            <a:endParaRPr sz="2500">
              <a:latin typeface="Times New Roman"/>
              <a:ea typeface="Times New Roman"/>
              <a:cs typeface="Times New Roman"/>
              <a:sym typeface="Times New Roman"/>
            </a:endParaRPr>
          </a:p>
          <a:p>
            <a:pPr indent="0" lvl="0" marL="0" rtl="0" algn="l">
              <a:lnSpc>
                <a:spcPct val="100000"/>
              </a:lnSpc>
              <a:spcBef>
                <a:spcPts val="145"/>
              </a:spcBef>
              <a:spcAft>
                <a:spcPts val="0"/>
              </a:spcAft>
              <a:buClr>
                <a:srgbClr val="3E3E3E"/>
              </a:buClr>
              <a:buSzPts val="2500"/>
              <a:buFont typeface="Noto Sans Symbols"/>
              <a:buNone/>
            </a:pPr>
            <a:r>
              <a:t/>
            </a:r>
            <a:endParaRPr sz="2500">
              <a:latin typeface="Times New Roman"/>
              <a:ea typeface="Times New Roman"/>
              <a:cs typeface="Times New Roman"/>
              <a:sym typeface="Times New Roman"/>
            </a:endParaRPr>
          </a:p>
          <a:p>
            <a:pPr indent="-286385" lvl="0" marL="299085" rtl="0" algn="l">
              <a:lnSpc>
                <a:spcPct val="100000"/>
              </a:lnSpc>
              <a:spcBef>
                <a:spcPts val="0"/>
              </a:spcBef>
              <a:spcAft>
                <a:spcPts val="0"/>
              </a:spcAft>
              <a:buClr>
                <a:srgbClr val="3E3E3E"/>
              </a:buClr>
              <a:buSzPts val="2500"/>
              <a:buFont typeface="Noto Sans Symbols"/>
              <a:buChar char="▪"/>
            </a:pPr>
            <a:r>
              <a:rPr lang="en-US" sz="2500">
                <a:solidFill>
                  <a:srgbClr val="3E3E3E"/>
                </a:solidFill>
                <a:latin typeface="Times New Roman"/>
                <a:ea typeface="Times New Roman"/>
                <a:cs typeface="Times New Roman"/>
                <a:sym typeface="Times New Roman"/>
              </a:rPr>
              <a:t>Basic Neural Network</a:t>
            </a:r>
            <a:endParaRPr sz="2500">
              <a:latin typeface="Times New Roman"/>
              <a:ea typeface="Times New Roman"/>
              <a:cs typeface="Times New Roman"/>
              <a:sym typeface="Times New Roman"/>
            </a:endParaRPr>
          </a:p>
          <a:p>
            <a:pPr indent="-287019" lvl="1" marL="756285" marR="260984" rtl="0" algn="l">
              <a:lnSpc>
                <a:spcPct val="95909"/>
              </a:lnSpc>
              <a:spcBef>
                <a:spcPts val="525"/>
              </a:spcBef>
              <a:spcAft>
                <a:spcPts val="0"/>
              </a:spcAft>
              <a:buSzPts val="2200"/>
              <a:buFont typeface="Arial"/>
              <a:buChar char="–"/>
            </a:pPr>
            <a:r>
              <a:rPr lang="en-US" sz="2200">
                <a:latin typeface="Times New Roman"/>
                <a:ea typeface="Times New Roman"/>
                <a:cs typeface="Times New Roman"/>
                <a:sym typeface="Times New Roman"/>
              </a:rPr>
              <a:t>A neural network that only has </a:t>
            </a:r>
            <a:r>
              <a:rPr lang="en-US" sz="2200">
                <a:solidFill>
                  <a:srgbClr val="FF0000"/>
                </a:solidFill>
                <a:latin typeface="Times New Roman"/>
                <a:ea typeface="Times New Roman"/>
                <a:cs typeface="Times New Roman"/>
                <a:sym typeface="Times New Roman"/>
              </a:rPr>
              <a:t>two or three layers </a:t>
            </a:r>
            <a:r>
              <a:rPr lang="en-US" sz="2200">
                <a:latin typeface="Times New Roman"/>
                <a:ea typeface="Times New Roman"/>
                <a:cs typeface="Times New Roman"/>
                <a:sym typeface="Times New Roman"/>
              </a:rPr>
              <a:t>is just a basic neural network</a:t>
            </a:r>
            <a:endParaRPr sz="2200">
              <a:latin typeface="Times New Roman"/>
              <a:ea typeface="Times New Roman"/>
              <a:cs typeface="Times New Roman"/>
              <a:sym typeface="Times New Roman"/>
            </a:endParaRPr>
          </a:p>
          <a:p>
            <a:pPr indent="0" lvl="1" marL="0" rtl="0" algn="l">
              <a:lnSpc>
                <a:spcPct val="100000"/>
              </a:lnSpc>
              <a:spcBef>
                <a:spcPts val="475"/>
              </a:spcBef>
              <a:spcAft>
                <a:spcPts val="0"/>
              </a:spcAft>
              <a:buSzPts val="2200"/>
              <a:buFont typeface="Arial"/>
              <a:buNone/>
            </a:pPr>
            <a:r>
              <a:t/>
            </a:r>
            <a:endParaRPr sz="2200">
              <a:latin typeface="Times New Roman"/>
              <a:ea typeface="Times New Roman"/>
              <a:cs typeface="Times New Roman"/>
              <a:sym typeface="Times New Roman"/>
            </a:endParaRPr>
          </a:p>
          <a:p>
            <a:pPr indent="-286385" lvl="0" marL="299085" rtl="0" algn="l">
              <a:lnSpc>
                <a:spcPct val="100000"/>
              </a:lnSpc>
              <a:spcBef>
                <a:spcPts val="0"/>
              </a:spcBef>
              <a:spcAft>
                <a:spcPts val="0"/>
              </a:spcAft>
              <a:buClr>
                <a:srgbClr val="3E3E3E"/>
              </a:buClr>
              <a:buSzPts val="2500"/>
              <a:buFont typeface="Noto Sans Symbols"/>
              <a:buChar char="▪"/>
            </a:pPr>
            <a:r>
              <a:rPr lang="en-US" sz="2500">
                <a:solidFill>
                  <a:srgbClr val="3E3E3E"/>
                </a:solidFill>
                <a:latin typeface="Times New Roman"/>
                <a:ea typeface="Times New Roman"/>
                <a:cs typeface="Times New Roman"/>
                <a:sym typeface="Times New Roman"/>
              </a:rPr>
              <a:t>Deep Neural Network</a:t>
            </a:r>
            <a:endParaRPr sz="2500">
              <a:latin typeface="Times New Roman"/>
              <a:ea typeface="Times New Roman"/>
              <a:cs typeface="Times New Roman"/>
              <a:sym typeface="Times New Roman"/>
            </a:endParaRPr>
          </a:p>
          <a:p>
            <a:pPr indent="-287019" lvl="1" marL="756285" marR="106679" rtl="0" algn="l">
              <a:lnSpc>
                <a:spcPct val="95909"/>
              </a:lnSpc>
              <a:spcBef>
                <a:spcPts val="525"/>
              </a:spcBef>
              <a:spcAft>
                <a:spcPts val="0"/>
              </a:spcAft>
              <a:buSzPts val="2200"/>
              <a:buFont typeface="Arial"/>
              <a:buChar char="–"/>
            </a:pPr>
            <a:r>
              <a:rPr lang="en-US" sz="2200">
                <a:latin typeface="Times New Roman"/>
                <a:ea typeface="Times New Roman"/>
                <a:cs typeface="Times New Roman"/>
                <a:sym typeface="Times New Roman"/>
              </a:rPr>
              <a:t>A neural network that consists of </a:t>
            </a:r>
            <a:r>
              <a:rPr lang="en-US" sz="2200">
                <a:solidFill>
                  <a:srgbClr val="FF0000"/>
                </a:solidFill>
                <a:latin typeface="Times New Roman"/>
                <a:ea typeface="Times New Roman"/>
                <a:cs typeface="Times New Roman"/>
                <a:sym typeface="Times New Roman"/>
              </a:rPr>
              <a:t>more than three layers</a:t>
            </a:r>
            <a:r>
              <a:rPr lang="en-US" sz="2200">
                <a:latin typeface="Times New Roman"/>
                <a:ea typeface="Times New Roman"/>
                <a:cs typeface="Times New Roman"/>
                <a:sym typeface="Times New Roman"/>
              </a:rPr>
              <a:t>—which would be inclusive of the inputs and the output—can be considered a deep learning algorithm</a:t>
            </a:r>
            <a:endParaRPr sz="2200">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pic>
        <p:nvPicPr>
          <p:cNvPr id="167" name="Google Shape;167;p19"/>
          <p:cNvPicPr preferRelativeResize="0"/>
          <p:nvPr/>
        </p:nvPicPr>
        <p:blipFill rotWithShape="1">
          <a:blip r:embed="rId3">
            <a:alphaModFix/>
          </a:blip>
          <a:srcRect b="0" l="0" r="0" t="0"/>
          <a:stretch/>
        </p:blipFill>
        <p:spPr>
          <a:xfrm>
            <a:off x="323850" y="964653"/>
            <a:ext cx="8496298" cy="3583520"/>
          </a:xfrm>
          <a:prstGeom prst="rect">
            <a:avLst/>
          </a:prstGeom>
          <a:noFill/>
          <a:ln>
            <a:noFill/>
          </a:ln>
        </p:spPr>
      </p:pic>
      <p:sp>
        <p:nvSpPr>
          <p:cNvPr id="168" name="Google Shape;168;p19"/>
          <p:cNvSpPr txBox="1"/>
          <p:nvPr>
            <p:ph type="title"/>
          </p:nvPr>
        </p:nvSpPr>
        <p:spPr>
          <a:xfrm>
            <a:off x="78739" y="118636"/>
            <a:ext cx="8986500" cy="505500"/>
          </a:xfrm>
          <a:prstGeom prst="rect">
            <a:avLst/>
          </a:prstGeom>
          <a:noFill/>
          <a:ln>
            <a:noFill/>
          </a:ln>
        </p:spPr>
        <p:txBody>
          <a:bodyPr anchorCtr="0" anchor="t" bIns="0" lIns="0" spcFirstLastPara="1" rIns="0" wrap="square" tIns="12700">
            <a:spAutoFit/>
          </a:bodyPr>
          <a:lstStyle/>
          <a:p>
            <a:pPr indent="0" lvl="0" marL="72390" rtl="0" algn="l">
              <a:lnSpc>
                <a:spcPct val="100000"/>
              </a:lnSpc>
              <a:spcBef>
                <a:spcPts val="0"/>
              </a:spcBef>
              <a:spcAft>
                <a:spcPts val="0"/>
              </a:spcAft>
              <a:buNone/>
            </a:pPr>
            <a:r>
              <a:rPr b="0" lang="en-US" sz="3200">
                <a:solidFill>
                  <a:srgbClr val="FF0000"/>
                </a:solidFill>
                <a:latin typeface="Arial Black"/>
                <a:ea typeface="Arial Black"/>
                <a:cs typeface="Arial Black"/>
                <a:sym typeface="Arial Black"/>
              </a:rPr>
              <a:t>Face Recognition using Deep Networks</a:t>
            </a:r>
            <a:endParaRPr sz="3200"/>
          </a:p>
        </p:txBody>
      </p:sp>
      <p:sp>
        <p:nvSpPr>
          <p:cNvPr id="169" name="Google Shape;169;p19"/>
          <p:cNvSpPr txBox="1"/>
          <p:nvPr/>
        </p:nvSpPr>
        <p:spPr>
          <a:xfrm>
            <a:off x="2626151" y="4650725"/>
            <a:ext cx="5604900" cy="289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800">
                <a:solidFill>
                  <a:srgbClr val="FF0000"/>
                </a:solidFill>
                <a:latin typeface="Lucida Sans"/>
                <a:ea typeface="Lucida Sans"/>
                <a:cs typeface="Lucida Sans"/>
                <a:sym typeface="Lucida Sans"/>
              </a:rPr>
              <a:t>Face Recognition using Deep Networks</a:t>
            </a:r>
            <a:endParaRPr sz="1800">
              <a:latin typeface="Lucida Sans"/>
              <a:ea typeface="Lucida Sans"/>
              <a:cs typeface="Lucida Sans"/>
              <a:sym typeface="Lucida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0"/>
          <p:cNvSpPr/>
          <p:nvPr/>
        </p:nvSpPr>
        <p:spPr>
          <a:xfrm>
            <a:off x="0" y="0"/>
            <a:ext cx="9144000" cy="884555"/>
          </a:xfrm>
          <a:custGeom>
            <a:rect b="b" l="l" r="r" t="t"/>
            <a:pathLst>
              <a:path extrusionOk="0" h="884555" w="9144000">
                <a:moveTo>
                  <a:pt x="0" y="0"/>
                </a:moveTo>
                <a:lnTo>
                  <a:pt x="9144000" y="0"/>
                </a:lnTo>
                <a:lnTo>
                  <a:pt x="9144000" y="884466"/>
                </a:lnTo>
                <a:lnTo>
                  <a:pt x="0" y="884466"/>
                </a:lnTo>
                <a:lnTo>
                  <a:pt x="0" y="0"/>
                </a:lnTo>
                <a:close/>
              </a:path>
            </a:pathLst>
          </a:custGeom>
          <a:noFill/>
          <a:ln cap="flat" cmpd="sng" w="38100">
            <a:solidFill>
              <a:srgbClr val="00B05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75" name="Google Shape;175;p20"/>
          <p:cNvSpPr txBox="1"/>
          <p:nvPr>
            <p:ph type="title"/>
          </p:nvPr>
        </p:nvSpPr>
        <p:spPr>
          <a:xfrm>
            <a:off x="78739" y="118636"/>
            <a:ext cx="8986500" cy="5055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0" lang="en-US" sz="3200">
                <a:solidFill>
                  <a:srgbClr val="FF0000"/>
                </a:solidFill>
                <a:latin typeface="Arial Black"/>
                <a:ea typeface="Arial Black"/>
                <a:cs typeface="Arial Black"/>
                <a:sym typeface="Arial Black"/>
              </a:rPr>
              <a:t>Face Recognition using Deep Networks</a:t>
            </a:r>
            <a:endParaRPr sz="3200"/>
          </a:p>
        </p:txBody>
      </p:sp>
      <p:sp>
        <p:nvSpPr>
          <p:cNvPr id="176" name="Google Shape;176;p20"/>
          <p:cNvSpPr txBox="1"/>
          <p:nvPr/>
        </p:nvSpPr>
        <p:spPr>
          <a:xfrm>
            <a:off x="210350" y="927625"/>
            <a:ext cx="8753400" cy="4072200"/>
          </a:xfrm>
          <a:prstGeom prst="rect">
            <a:avLst/>
          </a:prstGeom>
          <a:noFill/>
          <a:ln>
            <a:noFill/>
          </a:ln>
        </p:spPr>
        <p:txBody>
          <a:bodyPr anchorCtr="0" anchor="t" bIns="0" lIns="0" spcFirstLastPara="1" rIns="0" wrap="square" tIns="89525">
            <a:spAutoFit/>
          </a:bodyPr>
          <a:lstStyle/>
          <a:p>
            <a:pPr indent="-287019" lvl="0" marL="299085" marR="5080" rtl="0" algn="l">
              <a:lnSpc>
                <a:spcPct val="96153"/>
              </a:lnSpc>
              <a:spcBef>
                <a:spcPts val="0"/>
              </a:spcBef>
              <a:spcAft>
                <a:spcPts val="0"/>
              </a:spcAft>
              <a:buClr>
                <a:srgbClr val="FF0000"/>
              </a:buClr>
              <a:buSzPts val="2600"/>
              <a:buFont typeface="Noto Sans Symbols"/>
              <a:buChar char="▪"/>
            </a:pPr>
            <a:r>
              <a:rPr lang="en-US" sz="2600">
                <a:solidFill>
                  <a:srgbClr val="FF0000"/>
                </a:solidFill>
                <a:latin typeface="Times New Roman"/>
                <a:ea typeface="Times New Roman"/>
                <a:cs typeface="Times New Roman"/>
                <a:sym typeface="Times New Roman"/>
              </a:rPr>
              <a:t>A </a:t>
            </a:r>
            <a:r>
              <a:rPr b="1" lang="en-US" sz="2600">
                <a:solidFill>
                  <a:srgbClr val="FF0000"/>
                </a:solidFill>
                <a:latin typeface="Times New Roman"/>
                <a:ea typeface="Times New Roman"/>
                <a:cs typeface="Times New Roman"/>
                <a:sym typeface="Times New Roman"/>
              </a:rPr>
              <a:t>deep neural network </a:t>
            </a:r>
            <a:r>
              <a:rPr lang="en-US" sz="2600">
                <a:solidFill>
                  <a:srgbClr val="FF0000"/>
                </a:solidFill>
                <a:latin typeface="Times New Roman"/>
                <a:ea typeface="Times New Roman"/>
                <a:cs typeface="Times New Roman"/>
                <a:sym typeface="Times New Roman"/>
              </a:rPr>
              <a:t>is capable of composing more and more </a:t>
            </a:r>
            <a:r>
              <a:rPr lang="en-US" sz="2600" u="sng">
                <a:solidFill>
                  <a:srgbClr val="FF0000"/>
                </a:solidFill>
                <a:latin typeface="Times New Roman"/>
                <a:ea typeface="Times New Roman"/>
                <a:cs typeface="Times New Roman"/>
                <a:sym typeface="Times New Roman"/>
              </a:rPr>
              <a:t>complex features in each of its successive layers</a:t>
            </a:r>
            <a:endParaRPr sz="2600">
              <a:latin typeface="Times New Roman"/>
              <a:ea typeface="Times New Roman"/>
              <a:cs typeface="Times New Roman"/>
              <a:sym typeface="Times New Roman"/>
            </a:endParaRPr>
          </a:p>
          <a:p>
            <a:pPr indent="-286385" lvl="1" marL="755650" rtl="0" algn="l">
              <a:lnSpc>
                <a:spcPct val="107954"/>
              </a:lnSpc>
              <a:spcBef>
                <a:spcPts val="2670"/>
              </a:spcBef>
              <a:spcAft>
                <a:spcPts val="0"/>
              </a:spcAft>
              <a:buSzPts val="2200"/>
              <a:buFont typeface="Arial"/>
              <a:buChar char="–"/>
            </a:pPr>
            <a:r>
              <a:rPr lang="en-US" sz="2200">
                <a:latin typeface="Times New Roman"/>
                <a:ea typeface="Times New Roman"/>
                <a:cs typeface="Times New Roman"/>
                <a:sym typeface="Times New Roman"/>
              </a:rPr>
              <a:t>At the lowest level, network fixates on </a:t>
            </a:r>
            <a:r>
              <a:rPr b="1" lang="en-US" sz="2200" u="sng">
                <a:latin typeface="Times New Roman"/>
                <a:ea typeface="Times New Roman"/>
                <a:cs typeface="Times New Roman"/>
                <a:sym typeface="Times New Roman"/>
              </a:rPr>
              <a:t>patterns of local contrast</a:t>
            </a:r>
            <a:endParaRPr sz="2200">
              <a:latin typeface="Times New Roman"/>
              <a:ea typeface="Times New Roman"/>
              <a:cs typeface="Times New Roman"/>
              <a:sym typeface="Times New Roman"/>
            </a:endParaRPr>
          </a:p>
          <a:p>
            <a:pPr indent="0" lvl="0" marL="756285" rtl="0" algn="l">
              <a:lnSpc>
                <a:spcPct val="107954"/>
              </a:lnSpc>
              <a:spcBef>
                <a:spcPts val="0"/>
              </a:spcBef>
              <a:spcAft>
                <a:spcPts val="0"/>
              </a:spcAft>
              <a:buNone/>
            </a:pPr>
            <a:r>
              <a:rPr lang="en-US" sz="2200">
                <a:latin typeface="Times New Roman"/>
                <a:ea typeface="Times New Roman"/>
                <a:cs typeface="Times New Roman"/>
                <a:sym typeface="Times New Roman"/>
              </a:rPr>
              <a:t>as important</a:t>
            </a:r>
            <a:endParaRPr sz="2200">
              <a:latin typeface="Times New Roman"/>
              <a:ea typeface="Times New Roman"/>
              <a:cs typeface="Times New Roman"/>
              <a:sym typeface="Times New Roman"/>
            </a:endParaRPr>
          </a:p>
          <a:p>
            <a:pPr indent="0" lvl="0" marL="0" rtl="0" algn="l">
              <a:lnSpc>
                <a:spcPct val="100000"/>
              </a:lnSpc>
              <a:spcBef>
                <a:spcPts val="620"/>
              </a:spcBef>
              <a:spcAft>
                <a:spcPts val="0"/>
              </a:spcAft>
              <a:buNone/>
            </a:pPr>
            <a:r>
              <a:t/>
            </a:r>
            <a:endParaRPr sz="2200">
              <a:latin typeface="Times New Roman"/>
              <a:ea typeface="Times New Roman"/>
              <a:cs typeface="Times New Roman"/>
              <a:sym typeface="Times New Roman"/>
            </a:endParaRPr>
          </a:p>
          <a:p>
            <a:pPr indent="-287019" lvl="1" marL="756285" marR="132080" rtl="0" algn="l">
              <a:lnSpc>
                <a:spcPct val="95909"/>
              </a:lnSpc>
              <a:spcBef>
                <a:spcPts val="0"/>
              </a:spcBef>
              <a:spcAft>
                <a:spcPts val="0"/>
              </a:spcAft>
              <a:buSzPts val="2200"/>
              <a:buFont typeface="Arial"/>
              <a:buChar char="–"/>
            </a:pPr>
            <a:r>
              <a:rPr lang="en-US" sz="2200">
                <a:latin typeface="Times New Roman"/>
                <a:ea typeface="Times New Roman"/>
                <a:cs typeface="Times New Roman"/>
                <a:sym typeface="Times New Roman"/>
              </a:rPr>
              <a:t>The following layer is then able to </a:t>
            </a:r>
            <a:r>
              <a:rPr lang="en-US" sz="2200" u="sng">
                <a:latin typeface="Times New Roman"/>
                <a:ea typeface="Times New Roman"/>
                <a:cs typeface="Times New Roman"/>
                <a:sym typeface="Times New Roman"/>
              </a:rPr>
              <a:t>use those patterns of local</a:t>
            </a:r>
            <a:r>
              <a:rPr lang="en-US" sz="2200">
                <a:latin typeface="Times New Roman"/>
                <a:ea typeface="Times New Roman"/>
                <a:cs typeface="Times New Roman"/>
                <a:sym typeface="Times New Roman"/>
              </a:rPr>
              <a:t> </a:t>
            </a:r>
            <a:r>
              <a:rPr lang="en-US" sz="2200" u="sng">
                <a:latin typeface="Times New Roman"/>
                <a:ea typeface="Times New Roman"/>
                <a:cs typeface="Times New Roman"/>
                <a:sym typeface="Times New Roman"/>
              </a:rPr>
              <a:t>contrast to fixate on things</a:t>
            </a:r>
            <a:r>
              <a:rPr lang="en-US" sz="2200">
                <a:latin typeface="Times New Roman"/>
                <a:ea typeface="Times New Roman"/>
                <a:cs typeface="Times New Roman"/>
                <a:sym typeface="Times New Roman"/>
              </a:rPr>
              <a:t> that resemble </a:t>
            </a:r>
            <a:r>
              <a:rPr lang="en-US" sz="2200">
                <a:solidFill>
                  <a:srgbClr val="FF0000"/>
                </a:solidFill>
                <a:latin typeface="Times New Roman"/>
                <a:ea typeface="Times New Roman"/>
                <a:cs typeface="Times New Roman"/>
                <a:sym typeface="Times New Roman"/>
              </a:rPr>
              <a:t>eyes</a:t>
            </a:r>
            <a:r>
              <a:rPr lang="en-US" sz="2200">
                <a:latin typeface="Times New Roman"/>
                <a:ea typeface="Times New Roman"/>
                <a:cs typeface="Times New Roman"/>
                <a:sym typeface="Times New Roman"/>
              </a:rPr>
              <a:t>, </a:t>
            </a:r>
            <a:r>
              <a:rPr lang="en-US" sz="2200">
                <a:solidFill>
                  <a:srgbClr val="FF0000"/>
                </a:solidFill>
                <a:latin typeface="Times New Roman"/>
                <a:ea typeface="Times New Roman"/>
                <a:cs typeface="Times New Roman"/>
                <a:sym typeface="Times New Roman"/>
              </a:rPr>
              <a:t>noses</a:t>
            </a:r>
            <a:r>
              <a:rPr lang="en-US" sz="2200">
                <a:latin typeface="Times New Roman"/>
                <a:ea typeface="Times New Roman"/>
                <a:cs typeface="Times New Roman"/>
                <a:sym typeface="Times New Roman"/>
              </a:rPr>
              <a:t>, and </a:t>
            </a:r>
            <a:r>
              <a:rPr lang="en-US" sz="2200">
                <a:solidFill>
                  <a:srgbClr val="FF0000"/>
                </a:solidFill>
                <a:latin typeface="Times New Roman"/>
                <a:ea typeface="Times New Roman"/>
                <a:cs typeface="Times New Roman"/>
                <a:sym typeface="Times New Roman"/>
              </a:rPr>
              <a:t>mouths</a:t>
            </a:r>
            <a:endParaRPr sz="2200">
              <a:latin typeface="Times New Roman"/>
              <a:ea typeface="Times New Roman"/>
              <a:cs typeface="Times New Roman"/>
              <a:sym typeface="Times New Roman"/>
            </a:endParaRPr>
          </a:p>
          <a:p>
            <a:pPr indent="0" lvl="1" marL="0" rtl="0" algn="l">
              <a:lnSpc>
                <a:spcPct val="100000"/>
              </a:lnSpc>
              <a:spcBef>
                <a:spcPts val="640"/>
              </a:spcBef>
              <a:spcAft>
                <a:spcPts val="0"/>
              </a:spcAft>
              <a:buSzPts val="2200"/>
              <a:buFont typeface="Arial"/>
              <a:buNone/>
            </a:pPr>
            <a:r>
              <a:t/>
            </a:r>
            <a:endParaRPr sz="2200">
              <a:latin typeface="Times New Roman"/>
              <a:ea typeface="Times New Roman"/>
              <a:cs typeface="Times New Roman"/>
              <a:sym typeface="Times New Roman"/>
            </a:endParaRPr>
          </a:p>
          <a:p>
            <a:pPr indent="-287019" lvl="1" marL="755650" marR="361950" rtl="0" algn="l">
              <a:lnSpc>
                <a:spcPct val="95909"/>
              </a:lnSpc>
              <a:spcBef>
                <a:spcPts val="5"/>
              </a:spcBef>
              <a:spcAft>
                <a:spcPts val="0"/>
              </a:spcAft>
              <a:buSzPts val="2200"/>
              <a:buFont typeface="Arial"/>
              <a:buChar char="–"/>
            </a:pPr>
            <a:r>
              <a:rPr lang="en-US" sz="2200">
                <a:latin typeface="Times New Roman"/>
                <a:ea typeface="Times New Roman"/>
                <a:cs typeface="Times New Roman"/>
                <a:sym typeface="Times New Roman"/>
              </a:rPr>
              <a:t>Finally, the </a:t>
            </a:r>
            <a:r>
              <a:rPr lang="en-US" sz="2200" u="sng">
                <a:solidFill>
                  <a:srgbClr val="FF0000"/>
                </a:solidFill>
                <a:latin typeface="Times New Roman"/>
                <a:ea typeface="Times New Roman"/>
                <a:cs typeface="Times New Roman"/>
                <a:sym typeface="Times New Roman"/>
              </a:rPr>
              <a:t>top layer is able to apply those facial features</a:t>
            </a:r>
            <a:r>
              <a:rPr lang="en-US" sz="2200">
                <a:solidFill>
                  <a:srgbClr val="FF0000"/>
                </a:solidFill>
                <a:latin typeface="Times New Roman"/>
                <a:ea typeface="Times New Roman"/>
                <a:cs typeface="Times New Roman"/>
                <a:sym typeface="Times New Roman"/>
              </a:rPr>
              <a:t> </a:t>
            </a:r>
            <a:r>
              <a:rPr lang="en-US" sz="2200">
                <a:latin typeface="Times New Roman"/>
                <a:ea typeface="Times New Roman"/>
                <a:cs typeface="Times New Roman"/>
                <a:sym typeface="Times New Roman"/>
              </a:rPr>
              <a:t>to face templates</a:t>
            </a:r>
            <a:endParaRPr sz="2200">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1"/>
          <p:cNvSpPr txBox="1"/>
          <p:nvPr>
            <p:ph type="title"/>
          </p:nvPr>
        </p:nvSpPr>
        <p:spPr>
          <a:xfrm>
            <a:off x="78739" y="118636"/>
            <a:ext cx="8986520" cy="574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CNN: Convolutional Neural Networks</a:t>
            </a:r>
            <a:endParaRPr/>
          </a:p>
        </p:txBody>
      </p:sp>
      <p:sp>
        <p:nvSpPr>
          <p:cNvPr id="182" name="Google Shape;182;p21"/>
          <p:cNvSpPr txBox="1"/>
          <p:nvPr/>
        </p:nvSpPr>
        <p:spPr>
          <a:xfrm>
            <a:off x="789180" y="932202"/>
            <a:ext cx="6652259" cy="3576320"/>
          </a:xfrm>
          <a:prstGeom prst="rect">
            <a:avLst/>
          </a:prstGeom>
          <a:noFill/>
          <a:ln>
            <a:noFill/>
          </a:ln>
        </p:spPr>
        <p:txBody>
          <a:bodyPr anchorCtr="0" anchor="t" bIns="0" lIns="0" spcFirstLastPara="1" rIns="0" wrap="square" tIns="12050">
            <a:spAutoFit/>
          </a:bodyPr>
          <a:lstStyle/>
          <a:p>
            <a:pPr indent="-286385" lvl="0" marL="299085" rtl="0" algn="l">
              <a:lnSpc>
                <a:spcPct val="100000"/>
              </a:lnSpc>
              <a:spcBef>
                <a:spcPts val="0"/>
              </a:spcBef>
              <a:spcAft>
                <a:spcPts val="0"/>
              </a:spcAft>
              <a:buClr>
                <a:srgbClr val="3E3E3E"/>
              </a:buClr>
              <a:buSzPts val="2500"/>
              <a:buFont typeface="Noto Sans Symbols"/>
              <a:buChar char="▪"/>
            </a:pPr>
            <a:r>
              <a:rPr lang="en-US" sz="2500">
                <a:solidFill>
                  <a:srgbClr val="3E3E3E"/>
                </a:solidFill>
                <a:latin typeface="Times New Roman"/>
                <a:ea typeface="Times New Roman"/>
                <a:cs typeface="Times New Roman"/>
                <a:sym typeface="Times New Roman"/>
              </a:rPr>
              <a:t>A popular Deep Learning model</a:t>
            </a:r>
            <a:endParaRPr sz="2500">
              <a:latin typeface="Times New Roman"/>
              <a:ea typeface="Times New Roman"/>
              <a:cs typeface="Times New Roman"/>
              <a:sym typeface="Times New Roman"/>
            </a:endParaRPr>
          </a:p>
          <a:p>
            <a:pPr indent="0" lvl="0" marL="0" rtl="0" algn="l">
              <a:lnSpc>
                <a:spcPct val="100000"/>
              </a:lnSpc>
              <a:spcBef>
                <a:spcPts val="125"/>
              </a:spcBef>
              <a:spcAft>
                <a:spcPts val="0"/>
              </a:spcAft>
              <a:buSzPts val="2500"/>
              <a:buFont typeface="Noto Sans Symbols"/>
              <a:buNone/>
            </a:pPr>
            <a:r>
              <a:t/>
            </a:r>
            <a:endParaRPr sz="2500">
              <a:latin typeface="Times New Roman"/>
              <a:ea typeface="Times New Roman"/>
              <a:cs typeface="Times New Roman"/>
              <a:sym typeface="Times New Roman"/>
            </a:endParaRPr>
          </a:p>
          <a:p>
            <a:pPr indent="-286385" lvl="0" marL="299085" rtl="0" algn="l">
              <a:lnSpc>
                <a:spcPct val="100000"/>
              </a:lnSpc>
              <a:spcBef>
                <a:spcPts val="0"/>
              </a:spcBef>
              <a:spcAft>
                <a:spcPts val="0"/>
              </a:spcAft>
              <a:buClr>
                <a:srgbClr val="FF0000"/>
              </a:buClr>
              <a:buSzPts val="2500"/>
              <a:buFont typeface="Noto Sans Symbols"/>
              <a:buChar char="▪"/>
            </a:pPr>
            <a:r>
              <a:rPr lang="en-US" sz="2500">
                <a:solidFill>
                  <a:srgbClr val="FF0000"/>
                </a:solidFill>
                <a:latin typeface="Times New Roman"/>
                <a:ea typeface="Times New Roman"/>
                <a:cs typeface="Times New Roman"/>
                <a:sym typeface="Times New Roman"/>
              </a:rPr>
              <a:t>CNN has </a:t>
            </a:r>
            <a:r>
              <a:rPr lang="en-US" sz="2500">
                <a:solidFill>
                  <a:srgbClr val="3E3E3E"/>
                </a:solidFill>
                <a:latin typeface="Times New Roman"/>
                <a:ea typeface="Times New Roman"/>
                <a:cs typeface="Times New Roman"/>
                <a:sym typeface="Times New Roman"/>
              </a:rPr>
              <a:t>wide applications in</a:t>
            </a:r>
            <a:endParaRPr sz="2500">
              <a:latin typeface="Times New Roman"/>
              <a:ea typeface="Times New Roman"/>
              <a:cs typeface="Times New Roman"/>
              <a:sym typeface="Times New Roman"/>
            </a:endParaRPr>
          </a:p>
          <a:p>
            <a:pPr indent="-287019" lvl="1" marL="756285" rtl="0" algn="l">
              <a:lnSpc>
                <a:spcPct val="100000"/>
              </a:lnSpc>
              <a:spcBef>
                <a:spcPts val="10"/>
              </a:spcBef>
              <a:spcAft>
                <a:spcPts val="0"/>
              </a:spcAft>
              <a:buSzPts val="2200"/>
              <a:buFont typeface="Arial"/>
              <a:buChar char="–"/>
            </a:pPr>
            <a:r>
              <a:rPr lang="en-US" sz="2200">
                <a:latin typeface="Times New Roman"/>
                <a:ea typeface="Times New Roman"/>
                <a:cs typeface="Times New Roman"/>
                <a:sym typeface="Times New Roman"/>
              </a:rPr>
              <a:t>image recognition</a:t>
            </a:r>
            <a:endParaRPr sz="2200">
              <a:latin typeface="Times New Roman"/>
              <a:ea typeface="Times New Roman"/>
              <a:cs typeface="Times New Roman"/>
              <a:sym typeface="Times New Roman"/>
            </a:endParaRPr>
          </a:p>
          <a:p>
            <a:pPr indent="-287019" lvl="1" marL="756285" rtl="0" algn="l">
              <a:lnSpc>
                <a:spcPct val="100000"/>
              </a:lnSpc>
              <a:spcBef>
                <a:spcPts val="0"/>
              </a:spcBef>
              <a:spcAft>
                <a:spcPts val="0"/>
              </a:spcAft>
              <a:buSzPts val="2200"/>
              <a:buFont typeface="Arial"/>
              <a:buChar char="–"/>
            </a:pPr>
            <a:r>
              <a:rPr lang="en-US" sz="2200">
                <a:latin typeface="Times New Roman"/>
                <a:ea typeface="Times New Roman"/>
                <a:cs typeface="Times New Roman"/>
                <a:sym typeface="Times New Roman"/>
              </a:rPr>
              <a:t>video recognition</a:t>
            </a:r>
            <a:endParaRPr sz="2200">
              <a:latin typeface="Times New Roman"/>
              <a:ea typeface="Times New Roman"/>
              <a:cs typeface="Times New Roman"/>
              <a:sym typeface="Times New Roman"/>
            </a:endParaRPr>
          </a:p>
          <a:p>
            <a:pPr indent="-287019" lvl="1" marL="756285" rtl="0" algn="l">
              <a:lnSpc>
                <a:spcPct val="100000"/>
              </a:lnSpc>
              <a:spcBef>
                <a:spcPts val="0"/>
              </a:spcBef>
              <a:spcAft>
                <a:spcPts val="0"/>
              </a:spcAft>
              <a:buSzPts val="2200"/>
              <a:buFont typeface="Arial"/>
              <a:buChar char="–"/>
            </a:pPr>
            <a:r>
              <a:rPr lang="en-US" sz="2200">
                <a:latin typeface="Times New Roman"/>
                <a:ea typeface="Times New Roman"/>
                <a:cs typeface="Times New Roman"/>
                <a:sym typeface="Times New Roman"/>
              </a:rPr>
              <a:t>recommendation systems</a:t>
            </a:r>
            <a:endParaRPr sz="2200">
              <a:latin typeface="Times New Roman"/>
              <a:ea typeface="Times New Roman"/>
              <a:cs typeface="Times New Roman"/>
              <a:sym typeface="Times New Roman"/>
            </a:endParaRPr>
          </a:p>
          <a:p>
            <a:pPr indent="-287019" lvl="1" marL="756285" rtl="0" algn="l">
              <a:lnSpc>
                <a:spcPct val="100000"/>
              </a:lnSpc>
              <a:spcBef>
                <a:spcPts val="0"/>
              </a:spcBef>
              <a:spcAft>
                <a:spcPts val="0"/>
              </a:spcAft>
              <a:buSzPts val="2200"/>
              <a:buFont typeface="Arial"/>
              <a:buChar char="–"/>
            </a:pPr>
            <a:r>
              <a:rPr b="1" lang="en-US" sz="2200">
                <a:latin typeface="Times New Roman"/>
                <a:ea typeface="Times New Roman"/>
                <a:cs typeface="Times New Roman"/>
                <a:sym typeface="Times New Roman"/>
              </a:rPr>
              <a:t>natural language processing </a:t>
            </a:r>
            <a:r>
              <a:rPr lang="en-US" sz="2200">
                <a:latin typeface="Times New Roman"/>
                <a:ea typeface="Times New Roman"/>
                <a:cs typeface="Times New Roman"/>
                <a:sym typeface="Times New Roman"/>
              </a:rPr>
              <a:t>(NLP)</a:t>
            </a:r>
            <a:endParaRPr sz="2200">
              <a:latin typeface="Times New Roman"/>
              <a:ea typeface="Times New Roman"/>
              <a:cs typeface="Times New Roman"/>
              <a:sym typeface="Times New Roman"/>
            </a:endParaRPr>
          </a:p>
          <a:p>
            <a:pPr indent="0" lvl="1" marL="0" rtl="0" algn="l">
              <a:lnSpc>
                <a:spcPct val="100000"/>
              </a:lnSpc>
              <a:spcBef>
                <a:spcPts val="1040"/>
              </a:spcBef>
              <a:spcAft>
                <a:spcPts val="0"/>
              </a:spcAft>
              <a:buSzPts val="2200"/>
              <a:buFont typeface="Arial"/>
              <a:buNone/>
            </a:pPr>
            <a:r>
              <a:t/>
            </a:r>
            <a:endParaRPr sz="2200">
              <a:latin typeface="Times New Roman"/>
              <a:ea typeface="Times New Roman"/>
              <a:cs typeface="Times New Roman"/>
              <a:sym typeface="Times New Roman"/>
            </a:endParaRPr>
          </a:p>
          <a:p>
            <a:pPr indent="-287019" lvl="0" marL="299085" marR="5080" rtl="0" algn="l">
              <a:lnSpc>
                <a:spcPct val="96000"/>
              </a:lnSpc>
              <a:spcBef>
                <a:spcPts val="0"/>
              </a:spcBef>
              <a:spcAft>
                <a:spcPts val="0"/>
              </a:spcAft>
              <a:buClr>
                <a:srgbClr val="3E3E3E"/>
              </a:buClr>
              <a:buSzPts val="2500"/>
              <a:buFont typeface="Noto Sans Symbols"/>
              <a:buChar char="▪"/>
            </a:pPr>
            <a:r>
              <a:rPr lang="en-US" sz="2500">
                <a:solidFill>
                  <a:srgbClr val="3E3E3E"/>
                </a:solidFill>
                <a:latin typeface="Times New Roman"/>
                <a:ea typeface="Times New Roman"/>
                <a:cs typeface="Times New Roman"/>
                <a:sym typeface="Times New Roman"/>
              </a:rPr>
              <a:t>We will take </a:t>
            </a:r>
            <a:r>
              <a:rPr lang="en-US" sz="2500">
                <a:latin typeface="Times New Roman"/>
                <a:ea typeface="Times New Roman"/>
                <a:cs typeface="Times New Roman"/>
                <a:sym typeface="Times New Roman"/>
              </a:rPr>
              <a:t>up an </a:t>
            </a:r>
            <a:r>
              <a:rPr lang="en-US" sz="2500">
                <a:solidFill>
                  <a:srgbClr val="FF0000"/>
                </a:solidFill>
                <a:latin typeface="Times New Roman"/>
                <a:ea typeface="Times New Roman"/>
                <a:cs typeface="Times New Roman"/>
                <a:sym typeface="Times New Roman"/>
              </a:rPr>
              <a:t>example of image recognition </a:t>
            </a:r>
            <a:r>
              <a:rPr lang="en-US" sz="2500">
                <a:latin typeface="Times New Roman"/>
                <a:ea typeface="Times New Roman"/>
                <a:cs typeface="Times New Roman"/>
                <a:sym typeface="Times New Roman"/>
              </a:rPr>
              <a:t>to understand CNN</a:t>
            </a:r>
            <a:endParaRPr sz="2500">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2"/>
          <p:cNvSpPr txBox="1"/>
          <p:nvPr>
            <p:ph type="title"/>
          </p:nvPr>
        </p:nvSpPr>
        <p:spPr>
          <a:xfrm>
            <a:off x="78739" y="118636"/>
            <a:ext cx="8986520" cy="574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CNN: Convolutional Neural Networks</a:t>
            </a:r>
            <a:endParaRPr/>
          </a:p>
        </p:txBody>
      </p:sp>
      <p:sp>
        <p:nvSpPr>
          <p:cNvPr id="188" name="Google Shape;188;p22"/>
          <p:cNvSpPr txBox="1"/>
          <p:nvPr/>
        </p:nvSpPr>
        <p:spPr>
          <a:xfrm>
            <a:off x="789174" y="948975"/>
            <a:ext cx="7699500" cy="3579600"/>
          </a:xfrm>
          <a:prstGeom prst="rect">
            <a:avLst/>
          </a:prstGeom>
          <a:noFill/>
          <a:ln>
            <a:noFill/>
          </a:ln>
        </p:spPr>
        <p:txBody>
          <a:bodyPr anchorCtr="0" anchor="t" bIns="0" lIns="0" spcFirstLastPara="1" rIns="0" wrap="square" tIns="12700">
            <a:spAutoFit/>
          </a:bodyPr>
          <a:lstStyle/>
          <a:p>
            <a:pPr indent="-285750" lvl="0" marL="298450" rtl="0" algn="l">
              <a:lnSpc>
                <a:spcPct val="100000"/>
              </a:lnSpc>
              <a:spcBef>
                <a:spcPts val="0"/>
              </a:spcBef>
              <a:spcAft>
                <a:spcPts val="0"/>
              </a:spcAft>
              <a:buClr>
                <a:srgbClr val="FF0000"/>
              </a:buClr>
              <a:buSzPts val="3000"/>
              <a:buFont typeface="Noto Sans Symbols"/>
              <a:buChar char="▪"/>
            </a:pPr>
            <a:r>
              <a:rPr lang="en-US" sz="3000">
                <a:solidFill>
                  <a:srgbClr val="FF0000"/>
                </a:solidFill>
                <a:latin typeface="Times New Roman"/>
                <a:ea typeface="Times New Roman"/>
                <a:cs typeface="Times New Roman"/>
                <a:sym typeface="Times New Roman"/>
              </a:rPr>
              <a:t>Why not fully connected networks?</a:t>
            </a:r>
            <a:endParaRPr sz="3000">
              <a:latin typeface="Times New Roman"/>
              <a:ea typeface="Times New Roman"/>
              <a:cs typeface="Times New Roman"/>
              <a:sym typeface="Times New Roman"/>
            </a:endParaRPr>
          </a:p>
          <a:p>
            <a:pPr indent="0" lvl="0" marL="0" rtl="0" algn="l">
              <a:lnSpc>
                <a:spcPct val="100000"/>
              </a:lnSpc>
              <a:spcBef>
                <a:spcPts val="869"/>
              </a:spcBef>
              <a:spcAft>
                <a:spcPts val="0"/>
              </a:spcAft>
              <a:buSzPts val="3000"/>
              <a:buFont typeface="Noto Sans Symbols"/>
              <a:buNone/>
            </a:pPr>
            <a:r>
              <a:t/>
            </a:r>
            <a:endParaRPr sz="3000">
              <a:latin typeface="Times New Roman"/>
              <a:ea typeface="Times New Roman"/>
              <a:cs typeface="Times New Roman"/>
              <a:sym typeface="Times New Roman"/>
            </a:endParaRPr>
          </a:p>
          <a:p>
            <a:pPr indent="-285750" lvl="0" marL="298450" rtl="0" algn="l">
              <a:lnSpc>
                <a:spcPct val="100000"/>
              </a:lnSpc>
              <a:spcBef>
                <a:spcPts val="0"/>
              </a:spcBef>
              <a:spcAft>
                <a:spcPts val="0"/>
              </a:spcAft>
              <a:buClr>
                <a:srgbClr val="31859C"/>
              </a:buClr>
              <a:buSzPts val="3000"/>
              <a:buFont typeface="Noto Sans Symbols"/>
              <a:buChar char="▪"/>
            </a:pPr>
            <a:r>
              <a:rPr lang="en-US" sz="3000">
                <a:solidFill>
                  <a:srgbClr val="31859C"/>
                </a:solidFill>
                <a:latin typeface="Times New Roman"/>
                <a:ea typeface="Times New Roman"/>
                <a:cs typeface="Times New Roman"/>
                <a:sym typeface="Times New Roman"/>
              </a:rPr>
              <a:t>What are CNNs?</a:t>
            </a:r>
            <a:endParaRPr sz="3000">
              <a:latin typeface="Times New Roman"/>
              <a:ea typeface="Times New Roman"/>
              <a:cs typeface="Times New Roman"/>
              <a:sym typeface="Times New Roman"/>
            </a:endParaRPr>
          </a:p>
          <a:p>
            <a:pPr indent="0" lvl="0" marL="0" rtl="0" algn="l">
              <a:lnSpc>
                <a:spcPct val="100000"/>
              </a:lnSpc>
              <a:spcBef>
                <a:spcPts val="869"/>
              </a:spcBef>
              <a:spcAft>
                <a:spcPts val="0"/>
              </a:spcAft>
              <a:buSzPts val="3000"/>
              <a:buFont typeface="Noto Sans Symbols"/>
              <a:buNone/>
            </a:pPr>
            <a:r>
              <a:t/>
            </a:r>
            <a:endParaRPr sz="3000">
              <a:latin typeface="Times New Roman"/>
              <a:ea typeface="Times New Roman"/>
              <a:cs typeface="Times New Roman"/>
              <a:sym typeface="Times New Roman"/>
            </a:endParaRPr>
          </a:p>
          <a:p>
            <a:pPr indent="-285750" lvl="0" marL="298450" rtl="0" algn="l">
              <a:lnSpc>
                <a:spcPct val="100000"/>
              </a:lnSpc>
              <a:spcBef>
                <a:spcPts val="0"/>
              </a:spcBef>
              <a:spcAft>
                <a:spcPts val="0"/>
              </a:spcAft>
              <a:buClr>
                <a:srgbClr val="E46C0A"/>
              </a:buClr>
              <a:buSzPts val="3000"/>
              <a:buFont typeface="Noto Sans Symbols"/>
              <a:buChar char="▪"/>
            </a:pPr>
            <a:r>
              <a:rPr lang="en-US" sz="3000">
                <a:solidFill>
                  <a:srgbClr val="E46C0A"/>
                </a:solidFill>
                <a:latin typeface="Times New Roman"/>
                <a:ea typeface="Times New Roman"/>
                <a:cs typeface="Times New Roman"/>
                <a:sym typeface="Times New Roman"/>
              </a:rPr>
              <a:t>Working of CNNs?</a:t>
            </a:r>
            <a:endParaRPr sz="3000">
              <a:latin typeface="Times New Roman"/>
              <a:ea typeface="Times New Roman"/>
              <a:cs typeface="Times New Roman"/>
              <a:sym typeface="Times New Roman"/>
            </a:endParaRPr>
          </a:p>
          <a:p>
            <a:pPr indent="0" lvl="0" marL="0" rtl="0" algn="l">
              <a:lnSpc>
                <a:spcPct val="100000"/>
              </a:lnSpc>
              <a:spcBef>
                <a:spcPts val="869"/>
              </a:spcBef>
              <a:spcAft>
                <a:spcPts val="0"/>
              </a:spcAft>
              <a:buSzPts val="3000"/>
              <a:buFont typeface="Noto Sans Symbols"/>
              <a:buNone/>
            </a:pPr>
            <a:r>
              <a:t/>
            </a:r>
            <a:endParaRPr sz="3000">
              <a:latin typeface="Times New Roman"/>
              <a:ea typeface="Times New Roman"/>
              <a:cs typeface="Times New Roman"/>
              <a:sym typeface="Times New Roman"/>
            </a:endParaRPr>
          </a:p>
          <a:p>
            <a:pPr indent="-285750" lvl="0" marL="298450" rtl="0" algn="l">
              <a:lnSpc>
                <a:spcPct val="100000"/>
              </a:lnSpc>
              <a:spcBef>
                <a:spcPts val="0"/>
              </a:spcBef>
              <a:spcAft>
                <a:spcPts val="0"/>
              </a:spcAft>
              <a:buClr>
                <a:srgbClr val="00B0F0"/>
              </a:buClr>
              <a:buSzPts val="3000"/>
              <a:buFont typeface="Noto Sans Symbols"/>
              <a:buChar char="▪"/>
            </a:pPr>
            <a:r>
              <a:rPr lang="en-US" sz="3000">
                <a:solidFill>
                  <a:srgbClr val="00B0F0"/>
                </a:solidFill>
                <a:latin typeface="Times New Roman"/>
                <a:ea typeface="Times New Roman"/>
                <a:cs typeface="Times New Roman"/>
                <a:sym typeface="Times New Roman"/>
              </a:rPr>
              <a:t>Case study: CIFAR10 Image Classifier</a:t>
            </a:r>
            <a:endParaRPr sz="3000">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3"/>
          <p:cNvSpPr txBox="1"/>
          <p:nvPr>
            <p:ph type="title"/>
          </p:nvPr>
        </p:nvSpPr>
        <p:spPr>
          <a:xfrm>
            <a:off x="78739" y="118636"/>
            <a:ext cx="8986520" cy="574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Fully Connected Networks</a:t>
            </a:r>
            <a:endParaRPr/>
          </a:p>
        </p:txBody>
      </p:sp>
      <p:sp>
        <p:nvSpPr>
          <p:cNvPr id="194" name="Google Shape;194;p23"/>
          <p:cNvSpPr txBox="1"/>
          <p:nvPr/>
        </p:nvSpPr>
        <p:spPr>
          <a:xfrm>
            <a:off x="763780" y="948966"/>
            <a:ext cx="7981950" cy="1397000"/>
          </a:xfrm>
          <a:prstGeom prst="rect">
            <a:avLst/>
          </a:prstGeom>
          <a:noFill/>
          <a:ln>
            <a:noFill/>
          </a:ln>
        </p:spPr>
        <p:txBody>
          <a:bodyPr anchorCtr="0" anchor="t" bIns="0" lIns="0" spcFirstLastPara="1" rIns="0" wrap="square" tIns="64125">
            <a:spAutoFit/>
          </a:bodyPr>
          <a:lstStyle/>
          <a:p>
            <a:pPr indent="-285750" lvl="0" marL="323215" marR="761365" rtl="0" algn="l">
              <a:lnSpc>
                <a:spcPct val="108000"/>
              </a:lnSpc>
              <a:spcBef>
                <a:spcPts val="0"/>
              </a:spcBef>
              <a:spcAft>
                <a:spcPts val="0"/>
              </a:spcAft>
              <a:buClr>
                <a:srgbClr val="3E3E3E"/>
              </a:buClr>
              <a:buSzPts val="3000"/>
              <a:buFont typeface="Noto Sans Symbols"/>
              <a:buChar char="▪"/>
            </a:pPr>
            <a:r>
              <a:rPr lang="en-US" sz="3000">
                <a:solidFill>
                  <a:srgbClr val="3E3E3E"/>
                </a:solidFill>
                <a:latin typeface="Times New Roman"/>
                <a:ea typeface="Times New Roman"/>
                <a:cs typeface="Times New Roman"/>
                <a:sym typeface="Times New Roman"/>
              </a:rPr>
              <a:t>A fully connected neural network consists of </a:t>
            </a:r>
            <a:r>
              <a:rPr lang="en-US" sz="3000">
                <a:solidFill>
                  <a:srgbClr val="FF0000"/>
                </a:solidFill>
                <a:latin typeface="Times New Roman"/>
                <a:ea typeface="Times New Roman"/>
                <a:cs typeface="Times New Roman"/>
                <a:sym typeface="Times New Roman"/>
              </a:rPr>
              <a:t>a 	series of fully connected layers.</a:t>
            </a:r>
            <a:endParaRPr sz="3000">
              <a:latin typeface="Times New Roman"/>
              <a:ea typeface="Times New Roman"/>
              <a:cs typeface="Times New Roman"/>
              <a:sym typeface="Times New Roman"/>
            </a:endParaRPr>
          </a:p>
          <a:p>
            <a:pPr indent="-285750" lvl="0" marL="323850" rtl="0" algn="l">
              <a:lnSpc>
                <a:spcPct val="100000"/>
              </a:lnSpc>
              <a:spcBef>
                <a:spcPts val="315"/>
              </a:spcBef>
              <a:spcAft>
                <a:spcPts val="0"/>
              </a:spcAft>
              <a:buClr>
                <a:srgbClr val="3E3E3E"/>
              </a:buClr>
              <a:buSzPts val="3000"/>
              <a:buFont typeface="Noto Sans Symbols"/>
              <a:buChar char="▪"/>
            </a:pPr>
            <a:r>
              <a:rPr lang="en-US" sz="3000">
                <a:solidFill>
                  <a:srgbClr val="3E3E3E"/>
                </a:solidFill>
                <a:latin typeface="Times New Roman"/>
                <a:ea typeface="Times New Roman"/>
                <a:cs typeface="Times New Roman"/>
                <a:sym typeface="Times New Roman"/>
              </a:rPr>
              <a:t>A fully connected layer is a function from </a:t>
            </a:r>
            <a:r>
              <a:rPr lang="en-US" sz="3000">
                <a:solidFill>
                  <a:srgbClr val="3E3E3E"/>
                </a:solidFill>
                <a:latin typeface="Cambria Math"/>
                <a:ea typeface="Cambria Math"/>
                <a:cs typeface="Cambria Math"/>
                <a:sym typeface="Cambria Math"/>
              </a:rPr>
              <a:t>ℝ</a:t>
            </a:r>
            <a:r>
              <a:rPr baseline="-25000" lang="en-US" sz="3000">
                <a:solidFill>
                  <a:srgbClr val="3E3E3E"/>
                </a:solidFill>
                <a:latin typeface="Times New Roman"/>
                <a:ea typeface="Times New Roman"/>
                <a:cs typeface="Times New Roman"/>
                <a:sym typeface="Times New Roman"/>
              </a:rPr>
              <a:t>m </a:t>
            </a:r>
            <a:r>
              <a:rPr lang="en-US" sz="3000">
                <a:solidFill>
                  <a:srgbClr val="3E3E3E"/>
                </a:solidFill>
                <a:latin typeface="Times New Roman"/>
                <a:ea typeface="Times New Roman"/>
                <a:cs typeface="Times New Roman"/>
                <a:sym typeface="Times New Roman"/>
              </a:rPr>
              <a:t>to </a:t>
            </a:r>
            <a:r>
              <a:rPr lang="en-US" sz="3000">
                <a:solidFill>
                  <a:srgbClr val="3E3E3E"/>
                </a:solidFill>
                <a:latin typeface="Cambria Math"/>
                <a:ea typeface="Cambria Math"/>
                <a:cs typeface="Cambria Math"/>
                <a:sym typeface="Cambria Math"/>
              </a:rPr>
              <a:t>ℝ</a:t>
            </a:r>
            <a:r>
              <a:rPr baseline="-25000" lang="en-US" sz="3000">
                <a:solidFill>
                  <a:srgbClr val="3E3E3E"/>
                </a:solidFill>
                <a:latin typeface="Times New Roman"/>
                <a:ea typeface="Times New Roman"/>
                <a:cs typeface="Times New Roman"/>
                <a:sym typeface="Times New Roman"/>
              </a:rPr>
              <a:t>n</a:t>
            </a:r>
            <a:endParaRPr baseline="-25000" sz="3000">
              <a:latin typeface="Times New Roman"/>
              <a:ea typeface="Times New Roman"/>
              <a:cs typeface="Times New Roman"/>
              <a:sym typeface="Times New Roman"/>
            </a:endParaRPr>
          </a:p>
        </p:txBody>
      </p:sp>
      <p:pic>
        <p:nvPicPr>
          <p:cNvPr id="195" name="Google Shape;195;p23"/>
          <p:cNvPicPr preferRelativeResize="0"/>
          <p:nvPr/>
        </p:nvPicPr>
        <p:blipFill rotWithShape="1">
          <a:blip r:embed="rId3">
            <a:alphaModFix/>
          </a:blip>
          <a:srcRect b="0" l="0" r="0" t="0"/>
          <a:stretch/>
        </p:blipFill>
        <p:spPr>
          <a:xfrm>
            <a:off x="2915818" y="2429586"/>
            <a:ext cx="2931067" cy="2374404"/>
          </a:xfrm>
          <a:prstGeom prst="rect">
            <a:avLst/>
          </a:prstGeom>
          <a:noFill/>
          <a:ln>
            <a:noFill/>
          </a:ln>
        </p:spPr>
      </p:pic>
      <p:sp>
        <p:nvSpPr>
          <p:cNvPr id="196" name="Google Shape;196;p23"/>
          <p:cNvSpPr txBox="1"/>
          <p:nvPr/>
        </p:nvSpPr>
        <p:spPr>
          <a:xfrm>
            <a:off x="2135802" y="4738300"/>
            <a:ext cx="5592900" cy="30450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1900">
                <a:solidFill>
                  <a:srgbClr val="FF0000"/>
                </a:solidFill>
                <a:latin typeface="Malgun Gothic"/>
                <a:ea typeface="Malgun Gothic"/>
                <a:cs typeface="Malgun Gothic"/>
                <a:sym typeface="Malgun Gothic"/>
              </a:rPr>
              <a:t>A multilayer deep fully connected network.</a:t>
            </a:r>
            <a:endParaRPr sz="1900">
              <a:latin typeface="Malgun Gothic"/>
              <a:ea typeface="Malgun Gothic"/>
              <a:cs typeface="Malgun Gothic"/>
              <a:sym typeface="Malgun Gothic"/>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24"/>
          <p:cNvSpPr txBox="1"/>
          <p:nvPr>
            <p:ph type="title"/>
          </p:nvPr>
        </p:nvSpPr>
        <p:spPr>
          <a:xfrm>
            <a:off x="78739" y="118636"/>
            <a:ext cx="8986520" cy="574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Why Not Fully Connected Networks?</a:t>
            </a:r>
            <a:endParaRPr/>
          </a:p>
        </p:txBody>
      </p:sp>
      <p:sp>
        <p:nvSpPr>
          <p:cNvPr id="202" name="Google Shape;202;p24"/>
          <p:cNvSpPr txBox="1"/>
          <p:nvPr/>
        </p:nvSpPr>
        <p:spPr>
          <a:xfrm>
            <a:off x="789180" y="932201"/>
            <a:ext cx="7747000" cy="2106930"/>
          </a:xfrm>
          <a:prstGeom prst="rect">
            <a:avLst/>
          </a:prstGeom>
          <a:noFill/>
          <a:ln>
            <a:noFill/>
          </a:ln>
        </p:spPr>
        <p:txBody>
          <a:bodyPr anchorCtr="0" anchor="t" bIns="0" lIns="0" spcFirstLastPara="1" rIns="0" wrap="square" tIns="12050">
            <a:spAutoFit/>
          </a:bodyPr>
          <a:lstStyle/>
          <a:p>
            <a:pPr indent="-286385" lvl="0" marL="299085" rtl="0" algn="l">
              <a:lnSpc>
                <a:spcPct val="100000"/>
              </a:lnSpc>
              <a:spcBef>
                <a:spcPts val="0"/>
              </a:spcBef>
              <a:spcAft>
                <a:spcPts val="0"/>
              </a:spcAft>
              <a:buClr>
                <a:srgbClr val="3E3E3E"/>
              </a:buClr>
              <a:buSzPts val="2500"/>
              <a:buFont typeface="Noto Sans Symbols"/>
              <a:buChar char="▪"/>
            </a:pPr>
            <a:r>
              <a:rPr lang="en-US" sz="2500">
                <a:solidFill>
                  <a:srgbClr val="3E3E3E"/>
                </a:solidFill>
                <a:latin typeface="Times New Roman"/>
                <a:ea typeface="Times New Roman"/>
                <a:cs typeface="Times New Roman"/>
                <a:sym typeface="Times New Roman"/>
              </a:rPr>
              <a:t>For CNN, we </a:t>
            </a:r>
            <a:r>
              <a:rPr b="1" lang="en-US" sz="2500">
                <a:solidFill>
                  <a:srgbClr val="3E3E3E"/>
                </a:solidFill>
                <a:latin typeface="Times New Roman"/>
                <a:ea typeface="Times New Roman"/>
                <a:cs typeface="Times New Roman"/>
                <a:sym typeface="Times New Roman"/>
              </a:rPr>
              <a:t>cannot </a:t>
            </a:r>
            <a:r>
              <a:rPr lang="en-US" sz="2500">
                <a:solidFill>
                  <a:srgbClr val="3E3E3E"/>
                </a:solidFill>
                <a:latin typeface="Times New Roman"/>
                <a:ea typeface="Times New Roman"/>
                <a:cs typeface="Times New Roman"/>
                <a:sym typeface="Times New Roman"/>
              </a:rPr>
              <a:t>make use of fully connected networks</a:t>
            </a:r>
            <a:endParaRPr sz="2500">
              <a:latin typeface="Times New Roman"/>
              <a:ea typeface="Times New Roman"/>
              <a:cs typeface="Times New Roman"/>
              <a:sym typeface="Times New Roman"/>
            </a:endParaRPr>
          </a:p>
          <a:p>
            <a:pPr indent="-286385" lvl="0" marL="299085" rtl="0" algn="l">
              <a:lnSpc>
                <a:spcPct val="100000"/>
              </a:lnSpc>
              <a:spcBef>
                <a:spcPts val="0"/>
              </a:spcBef>
              <a:spcAft>
                <a:spcPts val="0"/>
              </a:spcAft>
              <a:buClr>
                <a:srgbClr val="FF0000"/>
              </a:buClr>
              <a:buSzPts val="2500"/>
              <a:buFont typeface="Noto Sans Symbols"/>
              <a:buChar char="▪"/>
            </a:pPr>
            <a:r>
              <a:rPr b="1" lang="en-US" sz="2500">
                <a:solidFill>
                  <a:srgbClr val="FF0000"/>
                </a:solidFill>
                <a:latin typeface="Times New Roman"/>
                <a:ea typeface="Times New Roman"/>
                <a:cs typeface="Times New Roman"/>
                <a:sym typeface="Times New Roman"/>
              </a:rPr>
              <a:t>Reason: Let’s understand by an example</a:t>
            </a:r>
            <a:endParaRPr sz="2500">
              <a:latin typeface="Times New Roman"/>
              <a:ea typeface="Times New Roman"/>
              <a:cs typeface="Times New Roman"/>
              <a:sym typeface="Times New Roman"/>
            </a:endParaRPr>
          </a:p>
          <a:p>
            <a:pPr indent="-287019" lvl="1" marL="756285" rtl="0" algn="l">
              <a:lnSpc>
                <a:spcPct val="100000"/>
              </a:lnSpc>
              <a:spcBef>
                <a:spcPts val="10"/>
              </a:spcBef>
              <a:spcAft>
                <a:spcPts val="0"/>
              </a:spcAft>
              <a:buSzPts val="2200"/>
              <a:buFont typeface="Arial"/>
              <a:buChar char="–"/>
            </a:pPr>
            <a:r>
              <a:rPr lang="en-US" sz="2200">
                <a:latin typeface="Times New Roman"/>
                <a:ea typeface="Times New Roman"/>
                <a:cs typeface="Times New Roman"/>
                <a:sym typeface="Times New Roman"/>
              </a:rPr>
              <a:t>Input: an images of size </a:t>
            </a:r>
            <a:r>
              <a:rPr b="1" lang="en-US" sz="2200">
                <a:latin typeface="Times New Roman"/>
                <a:ea typeface="Times New Roman"/>
                <a:cs typeface="Times New Roman"/>
                <a:sym typeface="Times New Roman"/>
              </a:rPr>
              <a:t>28 x 28 x 3 </a:t>
            </a:r>
            <a:r>
              <a:rPr lang="en-US" sz="2200">
                <a:latin typeface="Times New Roman"/>
                <a:ea typeface="Times New Roman"/>
                <a:cs typeface="Times New Roman"/>
                <a:sym typeface="Times New Roman"/>
              </a:rPr>
              <a:t>pixels</a:t>
            </a:r>
            <a:endParaRPr sz="2200">
              <a:latin typeface="Times New Roman"/>
              <a:ea typeface="Times New Roman"/>
              <a:cs typeface="Times New Roman"/>
              <a:sym typeface="Times New Roman"/>
            </a:endParaRPr>
          </a:p>
          <a:p>
            <a:pPr indent="-287019" lvl="1" marL="756285" marR="283845" rtl="0" algn="l">
              <a:lnSpc>
                <a:spcPct val="95909"/>
              </a:lnSpc>
              <a:spcBef>
                <a:spcPts val="515"/>
              </a:spcBef>
              <a:spcAft>
                <a:spcPts val="0"/>
              </a:spcAft>
              <a:buSzPts val="2200"/>
              <a:buFont typeface="Arial"/>
              <a:buChar char="–"/>
            </a:pPr>
            <a:r>
              <a:rPr lang="en-US" sz="2200">
                <a:latin typeface="Times New Roman"/>
                <a:ea typeface="Times New Roman"/>
                <a:cs typeface="Times New Roman"/>
                <a:sym typeface="Times New Roman"/>
              </a:rPr>
              <a:t>If we </a:t>
            </a:r>
            <a:r>
              <a:rPr b="1" lang="en-US" sz="2200">
                <a:latin typeface="Times New Roman"/>
                <a:ea typeface="Times New Roman"/>
                <a:cs typeface="Times New Roman"/>
                <a:sym typeface="Times New Roman"/>
              </a:rPr>
              <a:t>input </a:t>
            </a:r>
            <a:r>
              <a:rPr lang="en-US" sz="2200">
                <a:latin typeface="Times New Roman"/>
                <a:ea typeface="Times New Roman"/>
                <a:cs typeface="Times New Roman"/>
                <a:sym typeface="Times New Roman"/>
              </a:rPr>
              <a:t>this to CNN, we will have about </a:t>
            </a:r>
            <a:r>
              <a:rPr b="1" lang="en-US" sz="2200">
                <a:solidFill>
                  <a:srgbClr val="FF0000"/>
                </a:solidFill>
                <a:latin typeface="Times New Roman"/>
                <a:ea typeface="Times New Roman"/>
                <a:cs typeface="Times New Roman"/>
                <a:sym typeface="Times New Roman"/>
              </a:rPr>
              <a:t>2352 weights </a:t>
            </a:r>
            <a:r>
              <a:rPr lang="en-US" sz="2200">
                <a:latin typeface="Times New Roman"/>
                <a:ea typeface="Times New Roman"/>
                <a:cs typeface="Times New Roman"/>
                <a:sym typeface="Times New Roman"/>
              </a:rPr>
              <a:t>in the </a:t>
            </a:r>
            <a:r>
              <a:rPr b="1" lang="en-US" sz="2200">
                <a:latin typeface="Times New Roman"/>
                <a:ea typeface="Times New Roman"/>
                <a:cs typeface="Times New Roman"/>
                <a:sym typeface="Times New Roman"/>
              </a:rPr>
              <a:t>first </a:t>
            </a:r>
            <a:r>
              <a:rPr lang="en-US" sz="2200">
                <a:latin typeface="Times New Roman"/>
                <a:ea typeface="Times New Roman"/>
                <a:cs typeface="Times New Roman"/>
                <a:sym typeface="Times New Roman"/>
              </a:rPr>
              <a:t>hidden layer itself</a:t>
            </a:r>
            <a:endParaRPr sz="2200">
              <a:latin typeface="Times New Roman"/>
              <a:ea typeface="Times New Roman"/>
              <a:cs typeface="Times New Roman"/>
              <a:sym typeface="Times New Roman"/>
            </a:endParaRPr>
          </a:p>
          <a:p>
            <a:pPr indent="-286385" lvl="0" marL="299085" rtl="0" algn="l">
              <a:lnSpc>
                <a:spcPct val="100000"/>
              </a:lnSpc>
              <a:spcBef>
                <a:spcPts val="5"/>
              </a:spcBef>
              <a:spcAft>
                <a:spcPts val="0"/>
              </a:spcAft>
              <a:buClr>
                <a:srgbClr val="FF0000"/>
              </a:buClr>
              <a:buSzPts val="2500"/>
              <a:buFont typeface="Noto Sans Symbols"/>
              <a:buChar char="▪"/>
            </a:pPr>
            <a:r>
              <a:rPr lang="en-US" sz="2500">
                <a:solidFill>
                  <a:srgbClr val="FF0000"/>
                </a:solidFill>
                <a:latin typeface="Times New Roman"/>
                <a:ea typeface="Times New Roman"/>
                <a:cs typeface="Times New Roman"/>
                <a:sym typeface="Times New Roman"/>
              </a:rPr>
              <a:t>But </a:t>
            </a:r>
            <a:r>
              <a:rPr b="1" lang="en-US" sz="2500">
                <a:solidFill>
                  <a:srgbClr val="FF0000"/>
                </a:solidFill>
                <a:latin typeface="Times New Roman"/>
                <a:ea typeface="Times New Roman"/>
                <a:cs typeface="Times New Roman"/>
                <a:sym typeface="Times New Roman"/>
              </a:rPr>
              <a:t>is not practical</a:t>
            </a:r>
            <a:endParaRPr sz="2500">
              <a:latin typeface="Times New Roman"/>
              <a:ea typeface="Times New Roman"/>
              <a:cs typeface="Times New Roman"/>
              <a:sym typeface="Times New Roman"/>
            </a:endParaRPr>
          </a:p>
        </p:txBody>
      </p:sp>
      <p:pic>
        <p:nvPicPr>
          <p:cNvPr id="203" name="Google Shape;203;p24"/>
          <p:cNvPicPr preferRelativeResize="0"/>
          <p:nvPr/>
        </p:nvPicPr>
        <p:blipFill rotWithShape="1">
          <a:blip r:embed="rId3">
            <a:alphaModFix/>
          </a:blip>
          <a:srcRect b="0" l="0" r="0" t="0"/>
          <a:stretch/>
        </p:blipFill>
        <p:spPr>
          <a:xfrm>
            <a:off x="217094" y="3129499"/>
            <a:ext cx="8709811" cy="1849638"/>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grpSp>
        <p:nvGrpSpPr>
          <p:cNvPr id="208" name="Google Shape;208;p25"/>
          <p:cNvGrpSpPr/>
          <p:nvPr/>
        </p:nvGrpSpPr>
        <p:grpSpPr>
          <a:xfrm>
            <a:off x="640079" y="885444"/>
            <a:ext cx="2813304" cy="623315"/>
            <a:chOff x="640079" y="885444"/>
            <a:chExt cx="2813304" cy="623315"/>
          </a:xfrm>
        </p:grpSpPr>
        <p:pic>
          <p:nvPicPr>
            <p:cNvPr id="209" name="Google Shape;209;p25"/>
            <p:cNvPicPr preferRelativeResize="0"/>
            <p:nvPr/>
          </p:nvPicPr>
          <p:blipFill rotWithShape="1">
            <a:blip r:embed="rId3">
              <a:alphaModFix/>
            </a:blip>
            <a:srcRect b="0" l="0" r="0" t="0"/>
            <a:stretch/>
          </p:blipFill>
          <p:spPr>
            <a:xfrm>
              <a:off x="640079" y="897635"/>
              <a:ext cx="475487" cy="580643"/>
            </a:xfrm>
            <a:prstGeom prst="rect">
              <a:avLst/>
            </a:prstGeom>
            <a:noFill/>
            <a:ln>
              <a:noFill/>
            </a:ln>
          </p:spPr>
        </p:pic>
        <p:pic>
          <p:nvPicPr>
            <p:cNvPr id="210" name="Google Shape;210;p25"/>
            <p:cNvPicPr preferRelativeResize="0"/>
            <p:nvPr/>
          </p:nvPicPr>
          <p:blipFill rotWithShape="1">
            <a:blip r:embed="rId4">
              <a:alphaModFix/>
            </a:blip>
            <a:srcRect b="0" l="0" r="0" t="0"/>
            <a:stretch/>
          </p:blipFill>
          <p:spPr>
            <a:xfrm>
              <a:off x="914400" y="885444"/>
              <a:ext cx="2538983" cy="623315"/>
            </a:xfrm>
            <a:prstGeom prst="rect">
              <a:avLst/>
            </a:prstGeom>
            <a:noFill/>
            <a:ln>
              <a:noFill/>
            </a:ln>
          </p:spPr>
        </p:pic>
      </p:grpSp>
      <p:sp>
        <p:nvSpPr>
          <p:cNvPr id="211" name="Google Shape;211;p25"/>
          <p:cNvSpPr txBox="1"/>
          <p:nvPr>
            <p:ph type="title"/>
          </p:nvPr>
        </p:nvSpPr>
        <p:spPr>
          <a:xfrm>
            <a:off x="78739" y="118636"/>
            <a:ext cx="8986520" cy="574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Why Not Fully Connected Networks?</a:t>
            </a:r>
            <a:endParaRPr/>
          </a:p>
        </p:txBody>
      </p:sp>
      <p:sp>
        <p:nvSpPr>
          <p:cNvPr id="212" name="Google Shape;212;p25"/>
          <p:cNvSpPr txBox="1"/>
          <p:nvPr/>
        </p:nvSpPr>
        <p:spPr>
          <a:xfrm>
            <a:off x="789180" y="942871"/>
            <a:ext cx="7754620" cy="2244090"/>
          </a:xfrm>
          <a:prstGeom prst="rect">
            <a:avLst/>
          </a:prstGeom>
          <a:noFill/>
          <a:ln>
            <a:noFill/>
          </a:ln>
        </p:spPr>
        <p:txBody>
          <a:bodyPr anchorCtr="0" anchor="t" bIns="0" lIns="0" spcFirstLastPara="1" rIns="0" wrap="square" tIns="12050">
            <a:spAutoFit/>
          </a:bodyPr>
          <a:lstStyle/>
          <a:p>
            <a:pPr indent="-286385" lvl="0" marL="299085" rtl="0" algn="l">
              <a:lnSpc>
                <a:spcPct val="100000"/>
              </a:lnSpc>
              <a:spcBef>
                <a:spcPts val="0"/>
              </a:spcBef>
              <a:spcAft>
                <a:spcPts val="0"/>
              </a:spcAft>
              <a:buClr>
                <a:srgbClr val="FF0000"/>
              </a:buClr>
              <a:buSzPts val="2200"/>
              <a:buFont typeface="Noto Sans Symbols"/>
              <a:buChar char="▪"/>
            </a:pPr>
            <a:r>
              <a:rPr b="1" lang="en-US" sz="2200">
                <a:solidFill>
                  <a:srgbClr val="FF0000"/>
                </a:solidFill>
                <a:latin typeface="Times New Roman"/>
                <a:ea typeface="Times New Roman"/>
                <a:cs typeface="Times New Roman"/>
                <a:sym typeface="Times New Roman"/>
              </a:rPr>
              <a:t>Another example:</a:t>
            </a:r>
            <a:endParaRPr sz="2200">
              <a:latin typeface="Times New Roman"/>
              <a:ea typeface="Times New Roman"/>
              <a:cs typeface="Times New Roman"/>
              <a:sym typeface="Times New Roman"/>
            </a:endParaRPr>
          </a:p>
          <a:p>
            <a:pPr indent="0" lvl="0" marL="469265" rtl="0" algn="l">
              <a:lnSpc>
                <a:spcPct val="100000"/>
              </a:lnSpc>
              <a:spcBef>
                <a:spcPts val="5"/>
              </a:spcBef>
              <a:spcAft>
                <a:spcPts val="0"/>
              </a:spcAft>
              <a:buNone/>
            </a:pPr>
            <a:r>
              <a:rPr lang="en-US" sz="2000">
                <a:latin typeface="Arial"/>
                <a:ea typeface="Arial"/>
                <a:cs typeface="Arial"/>
                <a:sym typeface="Arial"/>
              </a:rPr>
              <a:t>–	</a:t>
            </a:r>
            <a:r>
              <a:rPr b="1" lang="en-US" sz="2000">
                <a:latin typeface="Times New Roman"/>
                <a:ea typeface="Times New Roman"/>
                <a:cs typeface="Times New Roman"/>
                <a:sym typeface="Times New Roman"/>
              </a:rPr>
              <a:t>input image of size 200x200x3 pixels (a very common input size)</a:t>
            </a:r>
            <a:r>
              <a:rPr lang="en-US" sz="2000">
                <a:latin typeface="Times New Roman"/>
                <a:ea typeface="Times New Roman"/>
                <a:cs typeface="Times New Roman"/>
                <a:sym typeface="Times New Roman"/>
              </a:rPr>
              <a:t>.</a:t>
            </a:r>
            <a:endParaRPr sz="2000">
              <a:latin typeface="Times New Roman"/>
              <a:ea typeface="Times New Roman"/>
              <a:cs typeface="Times New Roman"/>
              <a:sym typeface="Times New Roman"/>
            </a:endParaRPr>
          </a:p>
          <a:p>
            <a:pPr indent="0" lvl="0" marL="469265" rtl="0" algn="l">
              <a:lnSpc>
                <a:spcPct val="119750"/>
              </a:lnSpc>
              <a:spcBef>
                <a:spcPts val="0"/>
              </a:spcBef>
              <a:spcAft>
                <a:spcPts val="0"/>
              </a:spcAft>
              <a:buNone/>
            </a:pPr>
            <a:r>
              <a:rPr lang="en-US" sz="2000">
                <a:latin typeface="Arial"/>
                <a:ea typeface="Arial"/>
                <a:cs typeface="Arial"/>
                <a:sym typeface="Arial"/>
              </a:rPr>
              <a:t>–	</a:t>
            </a:r>
            <a:r>
              <a:rPr lang="en-US" sz="2000">
                <a:latin typeface="Times New Roman"/>
                <a:ea typeface="Times New Roman"/>
                <a:cs typeface="Times New Roman"/>
                <a:sym typeface="Times New Roman"/>
              </a:rPr>
              <a:t>The size of the first hidden layer becomes a </a:t>
            </a:r>
            <a:r>
              <a:rPr b="1" lang="en-US" sz="2000">
                <a:latin typeface="Times New Roman"/>
                <a:ea typeface="Times New Roman"/>
                <a:cs typeface="Times New Roman"/>
                <a:sym typeface="Times New Roman"/>
              </a:rPr>
              <a:t>whooping 1,20,000</a:t>
            </a:r>
            <a:r>
              <a:rPr lang="en-US" sz="2000">
                <a:latin typeface="Times New Roman"/>
                <a:ea typeface="Times New Roman"/>
                <a:cs typeface="Times New Roman"/>
                <a:sym typeface="Times New Roman"/>
              </a:rPr>
              <a:t>.</a:t>
            </a:r>
            <a:endParaRPr sz="2000">
              <a:latin typeface="Times New Roman"/>
              <a:ea typeface="Times New Roman"/>
              <a:cs typeface="Times New Roman"/>
              <a:sym typeface="Times New Roman"/>
            </a:endParaRPr>
          </a:p>
          <a:p>
            <a:pPr indent="-287019" lvl="0" marL="299085" marR="1075690" rtl="0" algn="l">
              <a:lnSpc>
                <a:spcPct val="95909"/>
              </a:lnSpc>
              <a:spcBef>
                <a:spcPts val="509"/>
              </a:spcBef>
              <a:spcAft>
                <a:spcPts val="0"/>
              </a:spcAft>
              <a:buClr>
                <a:srgbClr val="3E3E3E"/>
              </a:buClr>
              <a:buSzPts val="2200"/>
              <a:buFont typeface="Noto Sans Symbols"/>
              <a:buChar char="▪"/>
            </a:pPr>
            <a:r>
              <a:rPr lang="en-US" sz="2200">
                <a:solidFill>
                  <a:srgbClr val="3E3E3E"/>
                </a:solidFill>
                <a:latin typeface="Times New Roman"/>
                <a:ea typeface="Times New Roman"/>
                <a:cs typeface="Times New Roman"/>
                <a:sym typeface="Times New Roman"/>
              </a:rPr>
              <a:t>If this is just the </a:t>
            </a:r>
            <a:r>
              <a:rPr b="1" lang="en-US" sz="2200">
                <a:solidFill>
                  <a:srgbClr val="3E3E3E"/>
                </a:solidFill>
                <a:latin typeface="Times New Roman"/>
                <a:ea typeface="Times New Roman"/>
                <a:cs typeface="Times New Roman"/>
                <a:sym typeface="Times New Roman"/>
              </a:rPr>
              <a:t>first </a:t>
            </a:r>
            <a:r>
              <a:rPr lang="en-US" sz="2200">
                <a:solidFill>
                  <a:srgbClr val="3E3E3E"/>
                </a:solidFill>
                <a:latin typeface="Times New Roman"/>
                <a:ea typeface="Times New Roman"/>
                <a:cs typeface="Times New Roman"/>
                <a:sym typeface="Times New Roman"/>
              </a:rPr>
              <a:t>hidden layer, imagine the </a:t>
            </a:r>
            <a:r>
              <a:rPr b="1" lang="en-US" sz="2200">
                <a:solidFill>
                  <a:srgbClr val="3E3E3E"/>
                </a:solidFill>
                <a:latin typeface="Times New Roman"/>
                <a:ea typeface="Times New Roman"/>
                <a:cs typeface="Times New Roman"/>
                <a:sym typeface="Times New Roman"/>
              </a:rPr>
              <a:t>number of neurons </a:t>
            </a:r>
            <a:r>
              <a:rPr lang="en-US" sz="2200">
                <a:solidFill>
                  <a:srgbClr val="3E3E3E"/>
                </a:solidFill>
                <a:latin typeface="Times New Roman"/>
                <a:ea typeface="Times New Roman"/>
                <a:cs typeface="Times New Roman"/>
                <a:sym typeface="Times New Roman"/>
              </a:rPr>
              <a:t>needed to process an </a:t>
            </a:r>
            <a:r>
              <a:rPr b="1" lang="en-US" sz="2200">
                <a:solidFill>
                  <a:srgbClr val="3E3E3E"/>
                </a:solidFill>
                <a:latin typeface="Times New Roman"/>
                <a:ea typeface="Times New Roman"/>
                <a:cs typeface="Times New Roman"/>
                <a:sym typeface="Times New Roman"/>
              </a:rPr>
              <a:t>entire </a:t>
            </a:r>
            <a:r>
              <a:rPr lang="en-US" sz="2200">
                <a:solidFill>
                  <a:srgbClr val="3E3E3E"/>
                </a:solidFill>
                <a:latin typeface="Times New Roman"/>
                <a:ea typeface="Times New Roman"/>
                <a:cs typeface="Times New Roman"/>
                <a:sym typeface="Times New Roman"/>
              </a:rPr>
              <a:t>complex </a:t>
            </a:r>
            <a:r>
              <a:rPr b="1" lang="en-US" sz="2200">
                <a:solidFill>
                  <a:srgbClr val="3E3E3E"/>
                </a:solidFill>
                <a:latin typeface="Times New Roman"/>
                <a:ea typeface="Times New Roman"/>
                <a:cs typeface="Times New Roman"/>
                <a:sym typeface="Times New Roman"/>
              </a:rPr>
              <a:t>image-set</a:t>
            </a:r>
            <a:endParaRPr sz="2200">
              <a:latin typeface="Times New Roman"/>
              <a:ea typeface="Times New Roman"/>
              <a:cs typeface="Times New Roman"/>
              <a:sym typeface="Times New Roman"/>
            </a:endParaRPr>
          </a:p>
          <a:p>
            <a:pPr indent="-286385" lvl="0" marL="299085" rtl="0" algn="l">
              <a:lnSpc>
                <a:spcPct val="100000"/>
              </a:lnSpc>
              <a:spcBef>
                <a:spcPts val="20"/>
              </a:spcBef>
              <a:spcAft>
                <a:spcPts val="0"/>
              </a:spcAft>
              <a:buClr>
                <a:srgbClr val="3E3E3E"/>
              </a:buClr>
              <a:buSzPts val="2200"/>
              <a:buFont typeface="Noto Sans Symbols"/>
              <a:buChar char="▪"/>
            </a:pPr>
            <a:r>
              <a:rPr lang="en-US" sz="2200">
                <a:solidFill>
                  <a:srgbClr val="3E3E3E"/>
                </a:solidFill>
                <a:latin typeface="Times New Roman"/>
                <a:ea typeface="Times New Roman"/>
                <a:cs typeface="Times New Roman"/>
                <a:sym typeface="Times New Roman"/>
              </a:rPr>
              <a:t>This leads to </a:t>
            </a:r>
            <a:r>
              <a:rPr b="1" lang="en-US" sz="2200">
                <a:solidFill>
                  <a:srgbClr val="00B050"/>
                </a:solidFill>
                <a:latin typeface="Times New Roman"/>
                <a:ea typeface="Times New Roman"/>
                <a:cs typeface="Times New Roman"/>
                <a:sym typeface="Times New Roman"/>
              </a:rPr>
              <a:t>over-fitting </a:t>
            </a:r>
            <a:r>
              <a:rPr lang="en-US" sz="2200">
                <a:solidFill>
                  <a:srgbClr val="3E3E3E"/>
                </a:solidFill>
                <a:latin typeface="Times New Roman"/>
                <a:ea typeface="Times New Roman"/>
                <a:cs typeface="Times New Roman"/>
                <a:sym typeface="Times New Roman"/>
              </a:rPr>
              <a:t>and isn’t practical.</a:t>
            </a:r>
            <a:endParaRPr sz="2200">
              <a:latin typeface="Times New Roman"/>
              <a:ea typeface="Times New Roman"/>
              <a:cs typeface="Times New Roman"/>
              <a:sym typeface="Times New Roman"/>
            </a:endParaRPr>
          </a:p>
          <a:p>
            <a:pPr indent="-286385" lvl="0" marL="299085" rtl="0" algn="l">
              <a:lnSpc>
                <a:spcPct val="100000"/>
              </a:lnSpc>
              <a:spcBef>
                <a:spcPts val="0"/>
              </a:spcBef>
              <a:spcAft>
                <a:spcPts val="0"/>
              </a:spcAft>
              <a:buClr>
                <a:srgbClr val="FF0000"/>
              </a:buClr>
              <a:buSzPts val="2200"/>
              <a:buFont typeface="Noto Sans Symbols"/>
              <a:buChar char="▪"/>
            </a:pPr>
            <a:r>
              <a:rPr b="1" lang="en-US" sz="2200">
                <a:solidFill>
                  <a:srgbClr val="FF0000"/>
                </a:solidFill>
                <a:latin typeface="Times New Roman"/>
                <a:ea typeface="Times New Roman"/>
                <a:cs typeface="Times New Roman"/>
                <a:sym typeface="Times New Roman"/>
              </a:rPr>
              <a:t>Hence, we cannot make use of fully connected networks.</a:t>
            </a:r>
            <a:endParaRPr sz="2200">
              <a:latin typeface="Times New Roman"/>
              <a:ea typeface="Times New Roman"/>
              <a:cs typeface="Times New Roman"/>
              <a:sym typeface="Times New Roman"/>
            </a:endParaRPr>
          </a:p>
        </p:txBody>
      </p:sp>
      <p:pic>
        <p:nvPicPr>
          <p:cNvPr id="213" name="Google Shape;213;p25"/>
          <p:cNvPicPr preferRelativeResize="0"/>
          <p:nvPr/>
        </p:nvPicPr>
        <p:blipFill rotWithShape="1">
          <a:blip r:embed="rId5">
            <a:alphaModFix/>
          </a:blip>
          <a:srcRect b="0" l="0" r="0" t="0"/>
          <a:stretch/>
        </p:blipFill>
        <p:spPr>
          <a:xfrm>
            <a:off x="123824" y="3245289"/>
            <a:ext cx="9020174" cy="189821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6"/>
          <p:cNvSpPr txBox="1"/>
          <p:nvPr>
            <p:ph type="title"/>
          </p:nvPr>
        </p:nvSpPr>
        <p:spPr>
          <a:xfrm>
            <a:off x="78739" y="118636"/>
            <a:ext cx="8986520" cy="574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What are CNNs?</a:t>
            </a:r>
            <a:endParaRPr/>
          </a:p>
        </p:txBody>
      </p:sp>
      <p:sp>
        <p:nvSpPr>
          <p:cNvPr id="219" name="Google Shape;219;p26"/>
          <p:cNvSpPr txBox="1"/>
          <p:nvPr/>
        </p:nvSpPr>
        <p:spPr>
          <a:xfrm>
            <a:off x="210350" y="910475"/>
            <a:ext cx="8854800" cy="3974100"/>
          </a:xfrm>
          <a:prstGeom prst="rect">
            <a:avLst/>
          </a:prstGeom>
          <a:noFill/>
          <a:ln>
            <a:noFill/>
          </a:ln>
        </p:spPr>
        <p:txBody>
          <a:bodyPr anchorCtr="0" anchor="t" bIns="0" lIns="0" spcFirstLastPara="1" rIns="0" wrap="square" tIns="57150">
            <a:spAutoFit/>
          </a:bodyPr>
          <a:lstStyle/>
          <a:p>
            <a:pPr indent="-286385" lvl="0" marL="299085" rtl="0" algn="l">
              <a:lnSpc>
                <a:spcPct val="100000"/>
              </a:lnSpc>
              <a:spcBef>
                <a:spcPts val="0"/>
              </a:spcBef>
              <a:spcAft>
                <a:spcPts val="0"/>
              </a:spcAft>
              <a:buClr>
                <a:srgbClr val="FF0000"/>
              </a:buClr>
              <a:buSzPts val="2700"/>
              <a:buFont typeface="Noto Sans Symbols"/>
              <a:buChar char="▪"/>
            </a:pPr>
            <a:r>
              <a:rPr lang="en-US" sz="2700">
                <a:solidFill>
                  <a:srgbClr val="FF0000"/>
                </a:solidFill>
                <a:latin typeface="Times New Roman"/>
                <a:ea typeface="Times New Roman"/>
                <a:cs typeface="Times New Roman"/>
                <a:sym typeface="Times New Roman"/>
              </a:rPr>
              <a:t>CNNs are similar to other neural networks</a:t>
            </a:r>
            <a:endParaRPr sz="2700">
              <a:latin typeface="Times New Roman"/>
              <a:ea typeface="Times New Roman"/>
              <a:cs typeface="Times New Roman"/>
              <a:sym typeface="Times New Roman"/>
            </a:endParaRPr>
          </a:p>
          <a:p>
            <a:pPr indent="-285115" lvl="1" marL="754380" rtl="0" algn="l">
              <a:lnSpc>
                <a:spcPct val="100000"/>
              </a:lnSpc>
              <a:spcBef>
                <a:spcPts val="310"/>
              </a:spcBef>
              <a:spcAft>
                <a:spcPts val="0"/>
              </a:spcAft>
              <a:buSzPts val="2400"/>
              <a:buFont typeface="Arial"/>
              <a:buChar char="–"/>
            </a:pPr>
            <a:r>
              <a:rPr b="1" lang="en-US" sz="2400">
                <a:latin typeface="Times New Roman"/>
                <a:ea typeface="Times New Roman"/>
                <a:cs typeface="Times New Roman"/>
                <a:sym typeface="Times New Roman"/>
              </a:rPr>
              <a:t>Neurons</a:t>
            </a:r>
            <a:endParaRPr sz="2400">
              <a:latin typeface="Times New Roman"/>
              <a:ea typeface="Times New Roman"/>
              <a:cs typeface="Times New Roman"/>
              <a:sym typeface="Times New Roman"/>
            </a:endParaRPr>
          </a:p>
          <a:p>
            <a:pPr indent="-285115" lvl="1" marL="754380" rtl="0" algn="l">
              <a:lnSpc>
                <a:spcPct val="100000"/>
              </a:lnSpc>
              <a:spcBef>
                <a:spcPts val="290"/>
              </a:spcBef>
              <a:spcAft>
                <a:spcPts val="0"/>
              </a:spcAft>
              <a:buSzPts val="2400"/>
              <a:buFont typeface="Arial"/>
              <a:buChar char="–"/>
            </a:pPr>
            <a:r>
              <a:rPr b="1" lang="en-US" sz="2400">
                <a:latin typeface="Times New Roman"/>
                <a:ea typeface="Times New Roman"/>
                <a:cs typeface="Times New Roman"/>
                <a:sym typeface="Times New Roman"/>
              </a:rPr>
              <a:t>learnable weights </a:t>
            </a:r>
            <a:r>
              <a:rPr lang="en-US" sz="2400">
                <a:latin typeface="Times New Roman"/>
                <a:ea typeface="Times New Roman"/>
                <a:cs typeface="Times New Roman"/>
                <a:sym typeface="Times New Roman"/>
              </a:rPr>
              <a:t>and</a:t>
            </a:r>
            <a:endParaRPr sz="2400">
              <a:latin typeface="Times New Roman"/>
              <a:ea typeface="Times New Roman"/>
              <a:cs typeface="Times New Roman"/>
              <a:sym typeface="Times New Roman"/>
            </a:endParaRPr>
          </a:p>
          <a:p>
            <a:pPr indent="-285115" lvl="1" marL="754380" rtl="0" algn="l">
              <a:lnSpc>
                <a:spcPct val="100000"/>
              </a:lnSpc>
              <a:spcBef>
                <a:spcPts val="285"/>
              </a:spcBef>
              <a:spcAft>
                <a:spcPts val="0"/>
              </a:spcAft>
              <a:buSzPts val="2400"/>
              <a:buFont typeface="Arial"/>
              <a:buChar char="–"/>
            </a:pPr>
            <a:r>
              <a:rPr b="1" lang="en-US" sz="2400">
                <a:latin typeface="Times New Roman"/>
                <a:ea typeface="Times New Roman"/>
                <a:cs typeface="Times New Roman"/>
                <a:sym typeface="Times New Roman"/>
              </a:rPr>
              <a:t>biases</a:t>
            </a:r>
            <a:endParaRPr sz="2400">
              <a:latin typeface="Times New Roman"/>
              <a:ea typeface="Times New Roman"/>
              <a:cs typeface="Times New Roman"/>
              <a:sym typeface="Times New Roman"/>
            </a:endParaRPr>
          </a:p>
          <a:p>
            <a:pPr indent="-285115" lvl="1" marL="754380" rtl="0" algn="l">
              <a:lnSpc>
                <a:spcPct val="100000"/>
              </a:lnSpc>
              <a:spcBef>
                <a:spcPts val="290"/>
              </a:spcBef>
              <a:spcAft>
                <a:spcPts val="0"/>
              </a:spcAft>
              <a:buSzPts val="2400"/>
              <a:buFont typeface="Arial"/>
              <a:buChar char="–"/>
            </a:pPr>
            <a:r>
              <a:rPr b="1" lang="en-US" sz="2400">
                <a:latin typeface="Times New Roman"/>
                <a:ea typeface="Times New Roman"/>
                <a:cs typeface="Times New Roman"/>
                <a:sym typeface="Times New Roman"/>
              </a:rPr>
              <a:t>Loss function for the network</a:t>
            </a:r>
            <a:endParaRPr sz="2400">
              <a:latin typeface="Times New Roman"/>
              <a:ea typeface="Times New Roman"/>
              <a:cs typeface="Times New Roman"/>
              <a:sym typeface="Times New Roman"/>
            </a:endParaRPr>
          </a:p>
          <a:p>
            <a:pPr indent="0" lvl="1" marL="0" rtl="0" algn="l">
              <a:lnSpc>
                <a:spcPct val="100000"/>
              </a:lnSpc>
              <a:spcBef>
                <a:spcPts val="1470"/>
              </a:spcBef>
              <a:spcAft>
                <a:spcPts val="0"/>
              </a:spcAft>
              <a:buSzPts val="2400"/>
              <a:buFont typeface="Arial"/>
              <a:buNone/>
            </a:pPr>
            <a:r>
              <a:t/>
            </a:r>
            <a:endParaRPr sz="2400">
              <a:latin typeface="Times New Roman"/>
              <a:ea typeface="Times New Roman"/>
              <a:cs typeface="Times New Roman"/>
              <a:sym typeface="Times New Roman"/>
            </a:endParaRPr>
          </a:p>
          <a:p>
            <a:pPr indent="-287019" lvl="0" marL="299085" marR="1137920" rtl="0" algn="l">
              <a:lnSpc>
                <a:spcPct val="108148"/>
              </a:lnSpc>
              <a:spcBef>
                <a:spcPts val="0"/>
              </a:spcBef>
              <a:spcAft>
                <a:spcPts val="0"/>
              </a:spcAft>
              <a:buClr>
                <a:srgbClr val="3E3E3E"/>
              </a:buClr>
              <a:buSzPts val="2700"/>
              <a:buFont typeface="Noto Sans Symbols"/>
              <a:buChar char="▪"/>
            </a:pPr>
            <a:r>
              <a:rPr lang="en-US" sz="2700">
                <a:solidFill>
                  <a:srgbClr val="3E3E3E"/>
                </a:solidFill>
                <a:latin typeface="Times New Roman"/>
                <a:ea typeface="Times New Roman"/>
                <a:cs typeface="Times New Roman"/>
                <a:sym typeface="Times New Roman"/>
              </a:rPr>
              <a:t>Each </a:t>
            </a:r>
            <a:r>
              <a:rPr b="1" lang="en-US" sz="2700">
                <a:solidFill>
                  <a:srgbClr val="3E3E3E"/>
                </a:solidFill>
                <a:latin typeface="Times New Roman"/>
                <a:ea typeface="Times New Roman"/>
                <a:cs typeface="Times New Roman"/>
                <a:sym typeface="Times New Roman"/>
              </a:rPr>
              <a:t>neuron </a:t>
            </a:r>
            <a:r>
              <a:rPr lang="en-US" sz="2700">
                <a:solidFill>
                  <a:srgbClr val="3E3E3E"/>
                </a:solidFill>
                <a:latin typeface="Times New Roman"/>
                <a:ea typeface="Times New Roman"/>
                <a:cs typeface="Times New Roman"/>
                <a:sym typeface="Times New Roman"/>
              </a:rPr>
              <a:t>receives several </a:t>
            </a:r>
            <a:r>
              <a:rPr b="1" lang="en-US" sz="2700">
                <a:solidFill>
                  <a:srgbClr val="3E3E3E"/>
                </a:solidFill>
                <a:latin typeface="Times New Roman"/>
                <a:ea typeface="Times New Roman"/>
                <a:cs typeface="Times New Roman"/>
                <a:sym typeface="Times New Roman"/>
              </a:rPr>
              <a:t>inputs</a:t>
            </a:r>
            <a:r>
              <a:rPr lang="en-US" sz="2700">
                <a:solidFill>
                  <a:srgbClr val="3E3E3E"/>
                </a:solidFill>
                <a:latin typeface="Times New Roman"/>
                <a:ea typeface="Times New Roman"/>
                <a:cs typeface="Times New Roman"/>
                <a:sym typeface="Times New Roman"/>
              </a:rPr>
              <a:t>, takes a weighted </a:t>
            </a:r>
            <a:r>
              <a:rPr b="1" lang="en-US" sz="2700">
                <a:solidFill>
                  <a:srgbClr val="3E3E3E"/>
                </a:solidFill>
                <a:latin typeface="Times New Roman"/>
                <a:ea typeface="Times New Roman"/>
                <a:cs typeface="Times New Roman"/>
                <a:sym typeface="Times New Roman"/>
              </a:rPr>
              <a:t>sum </a:t>
            </a:r>
            <a:r>
              <a:rPr lang="en-US" sz="2700">
                <a:solidFill>
                  <a:srgbClr val="3E3E3E"/>
                </a:solidFill>
                <a:latin typeface="Times New Roman"/>
                <a:ea typeface="Times New Roman"/>
                <a:cs typeface="Times New Roman"/>
                <a:sym typeface="Times New Roman"/>
              </a:rPr>
              <a:t>over them, </a:t>
            </a:r>
            <a:r>
              <a:rPr b="1" lang="en-US" sz="2700">
                <a:solidFill>
                  <a:srgbClr val="3E3E3E"/>
                </a:solidFill>
                <a:latin typeface="Times New Roman"/>
                <a:ea typeface="Times New Roman"/>
                <a:cs typeface="Times New Roman"/>
                <a:sym typeface="Times New Roman"/>
              </a:rPr>
              <a:t>pass </a:t>
            </a:r>
            <a:r>
              <a:rPr lang="en-US" sz="2700">
                <a:solidFill>
                  <a:srgbClr val="3E3E3E"/>
                </a:solidFill>
                <a:latin typeface="Times New Roman"/>
                <a:ea typeface="Times New Roman"/>
                <a:cs typeface="Times New Roman"/>
                <a:sym typeface="Times New Roman"/>
              </a:rPr>
              <a:t>it through an </a:t>
            </a:r>
            <a:r>
              <a:rPr b="1" lang="en-US" sz="2700">
                <a:solidFill>
                  <a:srgbClr val="3E3E3E"/>
                </a:solidFill>
                <a:latin typeface="Times New Roman"/>
                <a:ea typeface="Times New Roman"/>
                <a:cs typeface="Times New Roman"/>
                <a:sym typeface="Times New Roman"/>
              </a:rPr>
              <a:t>activation function </a:t>
            </a:r>
            <a:r>
              <a:rPr lang="en-US" sz="2700">
                <a:solidFill>
                  <a:srgbClr val="3E3E3E"/>
                </a:solidFill>
                <a:latin typeface="Times New Roman"/>
                <a:ea typeface="Times New Roman"/>
                <a:cs typeface="Times New Roman"/>
                <a:sym typeface="Times New Roman"/>
              </a:rPr>
              <a:t>and responds with an </a:t>
            </a:r>
            <a:r>
              <a:rPr b="1" lang="en-US" sz="2700">
                <a:solidFill>
                  <a:srgbClr val="3E3E3E"/>
                </a:solidFill>
                <a:latin typeface="Times New Roman"/>
                <a:ea typeface="Times New Roman"/>
                <a:cs typeface="Times New Roman"/>
                <a:sym typeface="Times New Roman"/>
              </a:rPr>
              <a:t>output</a:t>
            </a:r>
            <a:endParaRPr sz="2700">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27"/>
          <p:cNvSpPr txBox="1"/>
          <p:nvPr>
            <p:ph type="title"/>
          </p:nvPr>
        </p:nvSpPr>
        <p:spPr>
          <a:xfrm>
            <a:off x="78739" y="152165"/>
            <a:ext cx="4313555" cy="513715"/>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n-US" sz="3200"/>
              <a:t>How does a CNN Work?</a:t>
            </a:r>
            <a:endParaRPr sz="3200"/>
          </a:p>
        </p:txBody>
      </p:sp>
      <p:sp>
        <p:nvSpPr>
          <p:cNvPr id="225" name="Google Shape;225;p27"/>
          <p:cNvSpPr txBox="1"/>
          <p:nvPr/>
        </p:nvSpPr>
        <p:spPr>
          <a:xfrm>
            <a:off x="789180" y="871003"/>
            <a:ext cx="7781925" cy="3032125"/>
          </a:xfrm>
          <a:prstGeom prst="rect">
            <a:avLst/>
          </a:prstGeom>
          <a:noFill/>
          <a:ln>
            <a:noFill/>
          </a:ln>
        </p:spPr>
        <p:txBody>
          <a:bodyPr anchorCtr="0" anchor="t" bIns="0" lIns="0" spcFirstLastPara="1" rIns="0" wrap="square" tIns="125725">
            <a:spAutoFit/>
          </a:bodyPr>
          <a:lstStyle/>
          <a:p>
            <a:pPr indent="-285750" lvl="0" marL="298450" rtl="0" algn="l">
              <a:lnSpc>
                <a:spcPct val="100000"/>
              </a:lnSpc>
              <a:spcBef>
                <a:spcPts val="0"/>
              </a:spcBef>
              <a:spcAft>
                <a:spcPts val="0"/>
              </a:spcAft>
              <a:buClr>
                <a:srgbClr val="3E3E3E"/>
              </a:buClr>
              <a:buSzPts val="3600"/>
              <a:buFont typeface="Noto Sans Symbols"/>
              <a:buChar char="▪"/>
            </a:pPr>
            <a:r>
              <a:rPr b="1" lang="en-US" sz="3600">
                <a:solidFill>
                  <a:srgbClr val="3E3E3E"/>
                </a:solidFill>
                <a:latin typeface="Times New Roman"/>
                <a:ea typeface="Times New Roman"/>
                <a:cs typeface="Times New Roman"/>
                <a:sym typeface="Times New Roman"/>
              </a:rPr>
              <a:t>Four </a:t>
            </a:r>
            <a:r>
              <a:rPr lang="en-US" sz="3600">
                <a:solidFill>
                  <a:srgbClr val="3E3E3E"/>
                </a:solidFill>
                <a:latin typeface="Times New Roman"/>
                <a:ea typeface="Times New Roman"/>
                <a:cs typeface="Times New Roman"/>
                <a:sym typeface="Times New Roman"/>
              </a:rPr>
              <a:t>layered </a:t>
            </a:r>
            <a:r>
              <a:rPr b="1" lang="en-US" sz="3600">
                <a:solidFill>
                  <a:srgbClr val="3E3E3E"/>
                </a:solidFill>
                <a:latin typeface="Times New Roman"/>
                <a:ea typeface="Times New Roman"/>
                <a:cs typeface="Times New Roman"/>
                <a:sym typeface="Times New Roman"/>
              </a:rPr>
              <a:t>concepts </a:t>
            </a:r>
            <a:r>
              <a:rPr lang="en-US" sz="3600">
                <a:solidFill>
                  <a:srgbClr val="3E3E3E"/>
                </a:solidFill>
                <a:latin typeface="Times New Roman"/>
                <a:ea typeface="Times New Roman"/>
                <a:cs typeface="Times New Roman"/>
                <a:sym typeface="Times New Roman"/>
              </a:rPr>
              <a:t>used in CNN:</a:t>
            </a:r>
            <a:endParaRPr sz="3600">
              <a:latin typeface="Times New Roman"/>
              <a:ea typeface="Times New Roman"/>
              <a:cs typeface="Times New Roman"/>
              <a:sym typeface="Times New Roman"/>
            </a:endParaRPr>
          </a:p>
          <a:p>
            <a:pPr indent="-285750" lvl="1" marL="755015" rtl="0" algn="l">
              <a:lnSpc>
                <a:spcPct val="100000"/>
              </a:lnSpc>
              <a:spcBef>
                <a:spcPts val="795"/>
              </a:spcBef>
              <a:spcAft>
                <a:spcPts val="0"/>
              </a:spcAft>
              <a:buClr>
                <a:srgbClr val="FF0000"/>
              </a:buClr>
              <a:buSzPts val="3200"/>
              <a:buFont typeface="Arial"/>
              <a:buChar char="–"/>
            </a:pPr>
            <a:r>
              <a:rPr lang="en-US" sz="3200">
                <a:solidFill>
                  <a:srgbClr val="FF0000"/>
                </a:solidFill>
                <a:latin typeface="Times New Roman"/>
                <a:ea typeface="Times New Roman"/>
                <a:cs typeface="Times New Roman"/>
                <a:sym typeface="Times New Roman"/>
              </a:rPr>
              <a:t>Convolution</a:t>
            </a:r>
            <a:endParaRPr sz="3200">
              <a:latin typeface="Times New Roman"/>
              <a:ea typeface="Times New Roman"/>
              <a:cs typeface="Times New Roman"/>
              <a:sym typeface="Times New Roman"/>
            </a:endParaRPr>
          </a:p>
          <a:p>
            <a:pPr indent="-285750" lvl="1" marL="755015" rtl="0" algn="l">
              <a:lnSpc>
                <a:spcPct val="100000"/>
              </a:lnSpc>
              <a:spcBef>
                <a:spcPts val="765"/>
              </a:spcBef>
              <a:spcAft>
                <a:spcPts val="0"/>
              </a:spcAft>
              <a:buClr>
                <a:srgbClr val="FF0000"/>
              </a:buClr>
              <a:buSzPts val="3200"/>
              <a:buFont typeface="Arial"/>
              <a:buChar char="–"/>
            </a:pPr>
            <a:r>
              <a:rPr lang="en-US" sz="3200">
                <a:solidFill>
                  <a:srgbClr val="FF0000"/>
                </a:solidFill>
                <a:latin typeface="Times New Roman"/>
                <a:ea typeface="Times New Roman"/>
                <a:cs typeface="Times New Roman"/>
                <a:sym typeface="Times New Roman"/>
              </a:rPr>
              <a:t>ReLU (</a:t>
            </a:r>
            <a:r>
              <a:rPr b="1" lang="en-US" sz="3200">
                <a:solidFill>
                  <a:srgbClr val="FF0000"/>
                </a:solidFill>
                <a:latin typeface="Times New Roman"/>
                <a:ea typeface="Times New Roman"/>
                <a:cs typeface="Times New Roman"/>
                <a:sym typeface="Times New Roman"/>
              </a:rPr>
              <a:t>Rectified Linear Unit)</a:t>
            </a:r>
            <a:endParaRPr sz="3200">
              <a:latin typeface="Times New Roman"/>
              <a:ea typeface="Times New Roman"/>
              <a:cs typeface="Times New Roman"/>
              <a:sym typeface="Times New Roman"/>
            </a:endParaRPr>
          </a:p>
          <a:p>
            <a:pPr indent="-285750" lvl="1" marL="755015" rtl="0" algn="l">
              <a:lnSpc>
                <a:spcPct val="100000"/>
              </a:lnSpc>
              <a:spcBef>
                <a:spcPts val="770"/>
              </a:spcBef>
              <a:spcAft>
                <a:spcPts val="0"/>
              </a:spcAft>
              <a:buClr>
                <a:srgbClr val="FF0000"/>
              </a:buClr>
              <a:buSzPts val="3200"/>
              <a:buFont typeface="Arial"/>
              <a:buChar char="–"/>
            </a:pPr>
            <a:r>
              <a:rPr lang="en-US" sz="3200">
                <a:solidFill>
                  <a:srgbClr val="FF0000"/>
                </a:solidFill>
                <a:latin typeface="Times New Roman"/>
                <a:ea typeface="Times New Roman"/>
                <a:cs typeface="Times New Roman"/>
                <a:sym typeface="Times New Roman"/>
              </a:rPr>
              <a:t>Pooling and</a:t>
            </a:r>
            <a:endParaRPr sz="3200">
              <a:latin typeface="Times New Roman"/>
              <a:ea typeface="Times New Roman"/>
              <a:cs typeface="Times New Roman"/>
              <a:sym typeface="Times New Roman"/>
            </a:endParaRPr>
          </a:p>
          <a:p>
            <a:pPr indent="-285750" lvl="1" marL="755015" rtl="0" algn="l">
              <a:lnSpc>
                <a:spcPct val="100000"/>
              </a:lnSpc>
              <a:spcBef>
                <a:spcPts val="770"/>
              </a:spcBef>
              <a:spcAft>
                <a:spcPts val="0"/>
              </a:spcAft>
              <a:buClr>
                <a:srgbClr val="00B050"/>
              </a:buClr>
              <a:buSzPts val="3200"/>
              <a:buFont typeface="Arial"/>
              <a:buChar char="–"/>
            </a:pPr>
            <a:r>
              <a:rPr lang="en-US" sz="3200">
                <a:solidFill>
                  <a:srgbClr val="00B050"/>
                </a:solidFill>
                <a:latin typeface="Times New Roman"/>
                <a:ea typeface="Times New Roman"/>
                <a:cs typeface="Times New Roman"/>
                <a:sym typeface="Times New Roman"/>
              </a:rPr>
              <a:t>Full Connectedness (Fully Connected Layer)</a:t>
            </a:r>
            <a:endParaRPr sz="3200">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8"/>
          <p:cNvSpPr txBox="1"/>
          <p:nvPr>
            <p:ph type="title"/>
          </p:nvPr>
        </p:nvSpPr>
        <p:spPr>
          <a:xfrm>
            <a:off x="78739" y="118636"/>
            <a:ext cx="8986520" cy="574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CNN - Example</a:t>
            </a:r>
            <a:endParaRPr/>
          </a:p>
        </p:txBody>
      </p:sp>
      <p:sp>
        <p:nvSpPr>
          <p:cNvPr id="231" name="Google Shape;231;p28"/>
          <p:cNvSpPr txBox="1"/>
          <p:nvPr/>
        </p:nvSpPr>
        <p:spPr>
          <a:xfrm>
            <a:off x="264650" y="889425"/>
            <a:ext cx="8753400" cy="1511700"/>
          </a:xfrm>
          <a:prstGeom prst="rect">
            <a:avLst/>
          </a:prstGeom>
          <a:noFill/>
          <a:ln>
            <a:noFill/>
          </a:ln>
        </p:spPr>
        <p:txBody>
          <a:bodyPr anchorCtr="0" anchor="t" bIns="0" lIns="0" spcFirstLastPara="1" rIns="0" wrap="square" tIns="66675">
            <a:spAutoFit/>
          </a:bodyPr>
          <a:lstStyle/>
          <a:p>
            <a:pPr indent="-286385" lvl="0" marL="299085" rtl="0" algn="l">
              <a:lnSpc>
                <a:spcPct val="100000"/>
              </a:lnSpc>
              <a:spcBef>
                <a:spcPts val="0"/>
              </a:spcBef>
              <a:spcAft>
                <a:spcPts val="0"/>
              </a:spcAft>
              <a:buClr>
                <a:srgbClr val="3E3E3E"/>
              </a:buClr>
              <a:buSzPts val="3200"/>
              <a:buFont typeface="Noto Sans Symbols"/>
              <a:buChar char="▪"/>
            </a:pPr>
            <a:r>
              <a:rPr lang="en-US" sz="3200">
                <a:solidFill>
                  <a:srgbClr val="3E3E3E"/>
                </a:solidFill>
                <a:latin typeface="Times New Roman"/>
                <a:ea typeface="Times New Roman"/>
                <a:cs typeface="Times New Roman"/>
                <a:sym typeface="Times New Roman"/>
              </a:rPr>
              <a:t>Consider the images below:</a:t>
            </a:r>
            <a:endParaRPr sz="3200">
              <a:latin typeface="Times New Roman"/>
              <a:ea typeface="Times New Roman"/>
              <a:cs typeface="Times New Roman"/>
              <a:sym typeface="Times New Roman"/>
            </a:endParaRPr>
          </a:p>
          <a:p>
            <a:pPr indent="-285115" lvl="1" marL="754380" rtl="0" algn="l">
              <a:lnSpc>
                <a:spcPct val="100000"/>
              </a:lnSpc>
              <a:spcBef>
                <a:spcPts val="360"/>
              </a:spcBef>
              <a:spcAft>
                <a:spcPts val="0"/>
              </a:spcAft>
              <a:buSzPts val="2800"/>
              <a:buFont typeface="Arial"/>
              <a:buChar char="–"/>
            </a:pPr>
            <a:r>
              <a:rPr lang="en-US" sz="2800">
                <a:latin typeface="Times New Roman"/>
                <a:ea typeface="Times New Roman"/>
                <a:cs typeface="Times New Roman"/>
                <a:sym typeface="Times New Roman"/>
              </a:rPr>
              <a:t>there are multiple </a:t>
            </a:r>
            <a:r>
              <a:rPr lang="en-US" sz="2800">
                <a:solidFill>
                  <a:srgbClr val="FF0000"/>
                </a:solidFill>
                <a:latin typeface="Times New Roman"/>
                <a:ea typeface="Times New Roman"/>
                <a:cs typeface="Times New Roman"/>
                <a:sym typeface="Times New Roman"/>
              </a:rPr>
              <a:t>renditions </a:t>
            </a:r>
            <a:r>
              <a:rPr lang="en-US" sz="2800">
                <a:latin typeface="Times New Roman"/>
                <a:ea typeface="Times New Roman"/>
                <a:cs typeface="Times New Roman"/>
                <a:sym typeface="Times New Roman"/>
              </a:rPr>
              <a:t>of	X and O’s</a:t>
            </a:r>
            <a:endParaRPr sz="2800">
              <a:latin typeface="Times New Roman"/>
              <a:ea typeface="Times New Roman"/>
              <a:cs typeface="Times New Roman"/>
              <a:sym typeface="Times New Roman"/>
            </a:endParaRPr>
          </a:p>
          <a:p>
            <a:pPr indent="-285115" lvl="1" marL="754380" rtl="0" algn="l">
              <a:lnSpc>
                <a:spcPct val="100000"/>
              </a:lnSpc>
              <a:spcBef>
                <a:spcPts val="340"/>
              </a:spcBef>
              <a:spcAft>
                <a:spcPts val="0"/>
              </a:spcAft>
              <a:buSzPts val="2800"/>
              <a:buFont typeface="Arial"/>
              <a:buChar char="–"/>
            </a:pPr>
            <a:r>
              <a:rPr lang="en-US" sz="2800">
                <a:latin typeface="Times New Roman"/>
                <a:ea typeface="Times New Roman"/>
                <a:cs typeface="Times New Roman"/>
                <a:sym typeface="Times New Roman"/>
              </a:rPr>
              <a:t>This makes it tricky for the computer to recognize</a:t>
            </a:r>
            <a:endParaRPr sz="2800">
              <a:latin typeface="Times New Roman"/>
              <a:ea typeface="Times New Roman"/>
              <a:cs typeface="Times New Roman"/>
              <a:sym typeface="Times New Roman"/>
            </a:endParaRPr>
          </a:p>
        </p:txBody>
      </p:sp>
      <p:pic>
        <p:nvPicPr>
          <p:cNvPr id="232" name="Google Shape;232;p28"/>
          <p:cNvPicPr preferRelativeResize="0"/>
          <p:nvPr/>
        </p:nvPicPr>
        <p:blipFill rotWithShape="1">
          <a:blip r:embed="rId3">
            <a:alphaModFix/>
          </a:blip>
          <a:srcRect b="0" l="0" r="0" t="0"/>
          <a:stretch/>
        </p:blipFill>
        <p:spPr>
          <a:xfrm>
            <a:off x="914400" y="2672679"/>
            <a:ext cx="7238999" cy="2371724"/>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29"/>
          <p:cNvSpPr txBox="1"/>
          <p:nvPr>
            <p:ph type="title"/>
          </p:nvPr>
        </p:nvSpPr>
        <p:spPr>
          <a:xfrm>
            <a:off x="78739" y="118636"/>
            <a:ext cx="8986520" cy="574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CNN - Example</a:t>
            </a:r>
            <a:endParaRPr/>
          </a:p>
        </p:txBody>
      </p:sp>
      <p:sp>
        <p:nvSpPr>
          <p:cNvPr id="238" name="Google Shape;238;p29"/>
          <p:cNvSpPr txBox="1"/>
          <p:nvPr/>
        </p:nvSpPr>
        <p:spPr>
          <a:xfrm>
            <a:off x="260375" y="913925"/>
            <a:ext cx="8771400" cy="1453500"/>
          </a:xfrm>
          <a:prstGeom prst="rect">
            <a:avLst/>
          </a:prstGeom>
          <a:noFill/>
          <a:ln>
            <a:noFill/>
          </a:ln>
        </p:spPr>
        <p:txBody>
          <a:bodyPr anchorCtr="0" anchor="t" bIns="0" lIns="0" spcFirstLastPara="1" rIns="0" wrap="square" tIns="100950">
            <a:spAutoFit/>
          </a:bodyPr>
          <a:lstStyle/>
          <a:p>
            <a:pPr indent="-285750" lvl="0" marL="297815" marR="5080" rtl="0" algn="l">
              <a:lnSpc>
                <a:spcPct val="96000"/>
              </a:lnSpc>
              <a:spcBef>
                <a:spcPts val="0"/>
              </a:spcBef>
              <a:spcAft>
                <a:spcPts val="0"/>
              </a:spcAft>
              <a:buClr>
                <a:srgbClr val="3E3E3E"/>
              </a:buClr>
              <a:buSzPts val="3000"/>
              <a:buFont typeface="Noto Sans Symbols"/>
              <a:buChar char="▪"/>
            </a:pPr>
            <a:r>
              <a:rPr lang="en-US" sz="3000">
                <a:solidFill>
                  <a:srgbClr val="3E3E3E"/>
                </a:solidFill>
                <a:latin typeface="Times New Roman"/>
                <a:ea typeface="Times New Roman"/>
                <a:cs typeface="Times New Roman"/>
                <a:sym typeface="Times New Roman"/>
              </a:rPr>
              <a:t>If	we </a:t>
            </a:r>
            <a:r>
              <a:rPr b="1" lang="en-US" sz="3000">
                <a:solidFill>
                  <a:srgbClr val="3E3E3E"/>
                </a:solidFill>
                <a:latin typeface="Times New Roman"/>
                <a:ea typeface="Times New Roman"/>
                <a:cs typeface="Times New Roman"/>
                <a:sym typeface="Times New Roman"/>
              </a:rPr>
              <a:t>compare </a:t>
            </a:r>
            <a:r>
              <a:rPr lang="en-US" sz="3000">
                <a:solidFill>
                  <a:srgbClr val="3E3E3E"/>
                </a:solidFill>
                <a:latin typeface="Times New Roman"/>
                <a:ea typeface="Times New Roman"/>
                <a:cs typeface="Times New Roman"/>
                <a:sym typeface="Times New Roman"/>
              </a:rPr>
              <a:t>a normal image and another </a:t>
            </a:r>
            <a:r>
              <a:rPr b="1" lang="en-US" sz="3000">
                <a:solidFill>
                  <a:srgbClr val="3E3E3E"/>
                </a:solidFill>
                <a:latin typeface="Times New Roman"/>
                <a:ea typeface="Times New Roman"/>
                <a:cs typeface="Times New Roman"/>
                <a:sym typeface="Times New Roman"/>
              </a:rPr>
              <a:t>‘X’ 	rendition, </a:t>
            </a:r>
            <a:r>
              <a:rPr lang="en-US" sz="3000">
                <a:solidFill>
                  <a:srgbClr val="3E3E3E"/>
                </a:solidFill>
                <a:latin typeface="Times New Roman"/>
                <a:ea typeface="Times New Roman"/>
                <a:cs typeface="Times New Roman"/>
                <a:sym typeface="Times New Roman"/>
              </a:rPr>
              <a:t>we would get a </a:t>
            </a:r>
            <a:r>
              <a:rPr b="1" lang="en-US" sz="3000">
                <a:solidFill>
                  <a:srgbClr val="FF0000"/>
                </a:solidFill>
                <a:latin typeface="Times New Roman"/>
                <a:ea typeface="Times New Roman"/>
                <a:cs typeface="Times New Roman"/>
                <a:sym typeface="Times New Roman"/>
              </a:rPr>
              <a:t>lot </a:t>
            </a:r>
            <a:r>
              <a:rPr lang="en-US" sz="3000">
                <a:solidFill>
                  <a:srgbClr val="FF0000"/>
                </a:solidFill>
                <a:latin typeface="Times New Roman"/>
                <a:ea typeface="Times New Roman"/>
                <a:cs typeface="Times New Roman"/>
                <a:sym typeface="Times New Roman"/>
              </a:rPr>
              <a:t>of	</a:t>
            </a:r>
            <a:r>
              <a:rPr b="1" lang="en-US" sz="3000">
                <a:solidFill>
                  <a:srgbClr val="FF0000"/>
                </a:solidFill>
                <a:latin typeface="Times New Roman"/>
                <a:ea typeface="Times New Roman"/>
                <a:cs typeface="Times New Roman"/>
                <a:sym typeface="Times New Roman"/>
              </a:rPr>
              <a:t>missing pixels</a:t>
            </a:r>
            <a:endParaRPr sz="3000">
              <a:latin typeface="Times New Roman"/>
              <a:ea typeface="Times New Roman"/>
              <a:cs typeface="Times New Roman"/>
              <a:sym typeface="Times New Roman"/>
            </a:endParaRPr>
          </a:p>
          <a:p>
            <a:pPr indent="-285750" lvl="0" marL="298450" rtl="0" algn="l">
              <a:lnSpc>
                <a:spcPct val="100000"/>
              </a:lnSpc>
              <a:spcBef>
                <a:spcPts val="25"/>
              </a:spcBef>
              <a:spcAft>
                <a:spcPts val="0"/>
              </a:spcAft>
              <a:buClr>
                <a:srgbClr val="3E3E3E"/>
              </a:buClr>
              <a:buSzPts val="3000"/>
              <a:buFont typeface="Noto Sans Symbols"/>
              <a:buChar char="▪"/>
            </a:pPr>
            <a:r>
              <a:rPr b="1" lang="en-US" sz="3000">
                <a:solidFill>
                  <a:srgbClr val="3E3E3E"/>
                </a:solidFill>
                <a:latin typeface="Times New Roman"/>
                <a:ea typeface="Times New Roman"/>
                <a:cs typeface="Times New Roman"/>
                <a:sym typeface="Times New Roman"/>
              </a:rPr>
              <a:t>How do we fix this?</a:t>
            </a:r>
            <a:endParaRPr sz="3000">
              <a:latin typeface="Times New Roman"/>
              <a:ea typeface="Times New Roman"/>
              <a:cs typeface="Times New Roman"/>
              <a:sym typeface="Times New Roman"/>
            </a:endParaRPr>
          </a:p>
        </p:txBody>
      </p:sp>
      <p:pic>
        <p:nvPicPr>
          <p:cNvPr id="239" name="Google Shape;239;p29"/>
          <p:cNvPicPr preferRelativeResize="0"/>
          <p:nvPr/>
        </p:nvPicPr>
        <p:blipFill rotWithShape="1">
          <a:blip r:embed="rId3">
            <a:alphaModFix/>
          </a:blip>
          <a:srcRect b="0" l="0" r="0" t="0"/>
          <a:stretch/>
        </p:blipFill>
        <p:spPr>
          <a:xfrm>
            <a:off x="260383" y="2903587"/>
            <a:ext cx="8628927" cy="1957384"/>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30"/>
          <p:cNvSpPr txBox="1"/>
          <p:nvPr>
            <p:ph type="title"/>
          </p:nvPr>
        </p:nvSpPr>
        <p:spPr>
          <a:xfrm>
            <a:off x="78739" y="118636"/>
            <a:ext cx="6886575" cy="574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CNN – requirement of	</a:t>
            </a:r>
            <a:r>
              <a:rPr lang="en-US">
                <a:solidFill>
                  <a:srgbClr val="FF0000"/>
                </a:solidFill>
              </a:rPr>
              <a:t>convolution</a:t>
            </a:r>
            <a:endParaRPr/>
          </a:p>
        </p:txBody>
      </p:sp>
      <p:sp>
        <p:nvSpPr>
          <p:cNvPr id="245" name="Google Shape;245;p30"/>
          <p:cNvSpPr txBox="1"/>
          <p:nvPr/>
        </p:nvSpPr>
        <p:spPr>
          <a:xfrm>
            <a:off x="257850" y="942875"/>
            <a:ext cx="8814600" cy="1461000"/>
          </a:xfrm>
          <a:prstGeom prst="rect">
            <a:avLst/>
          </a:prstGeom>
          <a:noFill/>
          <a:ln>
            <a:noFill/>
          </a:ln>
        </p:spPr>
        <p:txBody>
          <a:bodyPr anchorCtr="0" anchor="t" bIns="0" lIns="0" spcFirstLastPara="1" rIns="0" wrap="square" tIns="12050">
            <a:spAutoFit/>
          </a:bodyPr>
          <a:lstStyle/>
          <a:p>
            <a:pPr indent="-286385" lvl="0" marL="299085" rtl="0" algn="l">
              <a:lnSpc>
                <a:spcPct val="107954"/>
              </a:lnSpc>
              <a:spcBef>
                <a:spcPts val="0"/>
              </a:spcBef>
              <a:spcAft>
                <a:spcPts val="0"/>
              </a:spcAft>
              <a:buClr>
                <a:srgbClr val="3E3E3E"/>
              </a:buClr>
              <a:buSzPts val="2200"/>
              <a:buFont typeface="Noto Sans Symbols"/>
              <a:buChar char="▪"/>
            </a:pPr>
            <a:r>
              <a:rPr lang="en-US" sz="2200">
                <a:solidFill>
                  <a:srgbClr val="3E3E3E"/>
                </a:solidFill>
                <a:latin typeface="Times New Roman"/>
                <a:ea typeface="Times New Roman"/>
                <a:cs typeface="Times New Roman"/>
                <a:sym typeface="Times New Roman"/>
              </a:rPr>
              <a:t>We take </a:t>
            </a:r>
            <a:r>
              <a:rPr b="1" lang="en-US" sz="2200">
                <a:solidFill>
                  <a:srgbClr val="FF0000"/>
                </a:solidFill>
                <a:latin typeface="Times New Roman"/>
                <a:ea typeface="Times New Roman"/>
                <a:cs typeface="Times New Roman"/>
                <a:sym typeface="Times New Roman"/>
              </a:rPr>
              <a:t>small patches </a:t>
            </a:r>
            <a:r>
              <a:rPr lang="en-US" sz="2200">
                <a:solidFill>
                  <a:srgbClr val="FF0000"/>
                </a:solidFill>
                <a:latin typeface="Times New Roman"/>
                <a:ea typeface="Times New Roman"/>
                <a:cs typeface="Times New Roman"/>
                <a:sym typeface="Times New Roman"/>
              </a:rPr>
              <a:t>of the pixels called </a:t>
            </a:r>
            <a:r>
              <a:rPr b="1" lang="en-US" sz="2200">
                <a:solidFill>
                  <a:srgbClr val="FF0000"/>
                </a:solidFill>
                <a:latin typeface="Times New Roman"/>
                <a:ea typeface="Times New Roman"/>
                <a:cs typeface="Times New Roman"/>
                <a:sym typeface="Times New Roman"/>
              </a:rPr>
              <a:t>filters </a:t>
            </a:r>
            <a:r>
              <a:rPr lang="en-US" sz="2200">
                <a:solidFill>
                  <a:srgbClr val="FF0000"/>
                </a:solidFill>
                <a:latin typeface="Times New Roman"/>
                <a:ea typeface="Times New Roman"/>
                <a:cs typeface="Times New Roman"/>
                <a:sym typeface="Times New Roman"/>
              </a:rPr>
              <a:t>and try to </a:t>
            </a:r>
            <a:r>
              <a:rPr b="1" lang="en-US" sz="2200">
                <a:solidFill>
                  <a:srgbClr val="FF0000"/>
                </a:solidFill>
                <a:latin typeface="Times New Roman"/>
                <a:ea typeface="Times New Roman"/>
                <a:cs typeface="Times New Roman"/>
                <a:sym typeface="Times New Roman"/>
              </a:rPr>
              <a:t>match </a:t>
            </a:r>
            <a:r>
              <a:rPr lang="en-US" sz="2200">
                <a:solidFill>
                  <a:srgbClr val="3E3E3E"/>
                </a:solidFill>
                <a:latin typeface="Times New Roman"/>
                <a:ea typeface="Times New Roman"/>
                <a:cs typeface="Times New Roman"/>
                <a:sym typeface="Times New Roman"/>
              </a:rPr>
              <a:t>them in the corresponding </a:t>
            </a:r>
            <a:r>
              <a:rPr b="1" lang="en-US" sz="2200">
                <a:solidFill>
                  <a:srgbClr val="3E3E3E"/>
                </a:solidFill>
                <a:latin typeface="Times New Roman"/>
                <a:ea typeface="Times New Roman"/>
                <a:cs typeface="Times New Roman"/>
                <a:sym typeface="Times New Roman"/>
              </a:rPr>
              <a:t>nearby </a:t>
            </a:r>
            <a:r>
              <a:rPr lang="en-US" sz="2200">
                <a:solidFill>
                  <a:srgbClr val="3E3E3E"/>
                </a:solidFill>
                <a:latin typeface="Times New Roman"/>
                <a:ea typeface="Times New Roman"/>
                <a:cs typeface="Times New Roman"/>
                <a:sym typeface="Times New Roman"/>
              </a:rPr>
              <a:t>locations to see if we get a </a:t>
            </a:r>
            <a:r>
              <a:rPr b="1" lang="en-US" sz="2200">
                <a:solidFill>
                  <a:srgbClr val="3E3E3E"/>
                </a:solidFill>
                <a:latin typeface="Times New Roman"/>
                <a:ea typeface="Times New Roman"/>
                <a:cs typeface="Times New Roman"/>
                <a:sym typeface="Times New Roman"/>
              </a:rPr>
              <a:t>match</a:t>
            </a:r>
            <a:endParaRPr sz="2200">
              <a:latin typeface="Times New Roman"/>
              <a:ea typeface="Times New Roman"/>
              <a:cs typeface="Times New Roman"/>
              <a:sym typeface="Times New Roman"/>
            </a:endParaRPr>
          </a:p>
          <a:p>
            <a:pPr indent="-287019" lvl="0" marL="299085" marR="127635" rtl="0" algn="l">
              <a:lnSpc>
                <a:spcPct val="95909"/>
              </a:lnSpc>
              <a:spcBef>
                <a:spcPts val="530"/>
              </a:spcBef>
              <a:spcAft>
                <a:spcPts val="0"/>
              </a:spcAft>
              <a:buClr>
                <a:srgbClr val="3E3E3E"/>
              </a:buClr>
              <a:buSzPts val="2200"/>
              <a:buFont typeface="Noto Sans Symbols"/>
              <a:buChar char="▪"/>
            </a:pPr>
            <a:r>
              <a:rPr lang="en-US" sz="2200">
                <a:solidFill>
                  <a:srgbClr val="3E3E3E"/>
                </a:solidFill>
                <a:latin typeface="Times New Roman"/>
                <a:ea typeface="Times New Roman"/>
                <a:cs typeface="Times New Roman"/>
                <a:sym typeface="Times New Roman"/>
              </a:rPr>
              <a:t>By doing this, the Convolutional Neural Network </a:t>
            </a:r>
            <a:r>
              <a:rPr b="1" lang="en-US" sz="2200">
                <a:solidFill>
                  <a:srgbClr val="3E3E3E"/>
                </a:solidFill>
                <a:latin typeface="Times New Roman"/>
                <a:ea typeface="Times New Roman"/>
                <a:cs typeface="Times New Roman"/>
                <a:sym typeface="Times New Roman"/>
              </a:rPr>
              <a:t>gets a lot better </a:t>
            </a:r>
            <a:r>
              <a:rPr lang="en-US" sz="2200">
                <a:solidFill>
                  <a:srgbClr val="3E3E3E"/>
                </a:solidFill>
                <a:latin typeface="Times New Roman"/>
                <a:ea typeface="Times New Roman"/>
                <a:cs typeface="Times New Roman"/>
                <a:sym typeface="Times New Roman"/>
              </a:rPr>
              <a:t>at seeing </a:t>
            </a:r>
            <a:r>
              <a:rPr b="1" lang="en-US" sz="2200">
                <a:solidFill>
                  <a:srgbClr val="3E3E3E"/>
                </a:solidFill>
                <a:latin typeface="Times New Roman"/>
                <a:ea typeface="Times New Roman"/>
                <a:cs typeface="Times New Roman"/>
                <a:sym typeface="Times New Roman"/>
              </a:rPr>
              <a:t>similarity </a:t>
            </a:r>
            <a:r>
              <a:rPr lang="en-US" sz="2200">
                <a:solidFill>
                  <a:srgbClr val="3E3E3E"/>
                </a:solidFill>
                <a:latin typeface="Times New Roman"/>
                <a:ea typeface="Times New Roman"/>
                <a:cs typeface="Times New Roman"/>
                <a:sym typeface="Times New Roman"/>
              </a:rPr>
              <a:t>than directly trying to match the </a:t>
            </a:r>
            <a:r>
              <a:rPr b="1" lang="en-US" sz="2200">
                <a:solidFill>
                  <a:srgbClr val="3E3E3E"/>
                </a:solidFill>
                <a:latin typeface="Times New Roman"/>
                <a:ea typeface="Times New Roman"/>
                <a:cs typeface="Times New Roman"/>
                <a:sym typeface="Times New Roman"/>
              </a:rPr>
              <a:t>entire image</a:t>
            </a:r>
            <a:endParaRPr sz="2200">
              <a:latin typeface="Times New Roman"/>
              <a:ea typeface="Times New Roman"/>
              <a:cs typeface="Times New Roman"/>
              <a:sym typeface="Times New Roman"/>
            </a:endParaRPr>
          </a:p>
        </p:txBody>
      </p:sp>
      <p:pic>
        <p:nvPicPr>
          <p:cNvPr id="246" name="Google Shape;246;p30"/>
          <p:cNvPicPr preferRelativeResize="0"/>
          <p:nvPr/>
        </p:nvPicPr>
        <p:blipFill rotWithShape="1">
          <a:blip r:embed="rId3">
            <a:alphaModFix/>
          </a:blip>
          <a:srcRect b="0" l="0" r="0" t="0"/>
          <a:stretch/>
        </p:blipFill>
        <p:spPr>
          <a:xfrm>
            <a:off x="1187623" y="2625054"/>
            <a:ext cx="7238999" cy="2466974"/>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31"/>
          <p:cNvSpPr txBox="1"/>
          <p:nvPr>
            <p:ph type="title"/>
          </p:nvPr>
        </p:nvSpPr>
        <p:spPr>
          <a:xfrm>
            <a:off x="78756" y="118625"/>
            <a:ext cx="7521300" cy="5670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Convolution of	an Image</a:t>
            </a:r>
            <a:endParaRPr/>
          </a:p>
        </p:txBody>
      </p:sp>
      <p:sp>
        <p:nvSpPr>
          <p:cNvPr id="252" name="Google Shape;252;p31"/>
          <p:cNvSpPr txBox="1"/>
          <p:nvPr/>
        </p:nvSpPr>
        <p:spPr>
          <a:xfrm>
            <a:off x="264650" y="899800"/>
            <a:ext cx="8699100" cy="3929100"/>
          </a:xfrm>
          <a:prstGeom prst="rect">
            <a:avLst/>
          </a:prstGeom>
          <a:noFill/>
          <a:ln>
            <a:noFill/>
          </a:ln>
        </p:spPr>
        <p:txBody>
          <a:bodyPr anchorCtr="0" anchor="t" bIns="0" lIns="0" spcFirstLastPara="1" rIns="0" wrap="square" tIns="61575">
            <a:spAutoFit/>
          </a:bodyPr>
          <a:lstStyle/>
          <a:p>
            <a:pPr indent="-285750" lvl="0" marL="298450" rtl="0" algn="l">
              <a:lnSpc>
                <a:spcPct val="100000"/>
              </a:lnSpc>
              <a:spcBef>
                <a:spcPts val="0"/>
              </a:spcBef>
              <a:spcAft>
                <a:spcPts val="0"/>
              </a:spcAft>
              <a:buClr>
                <a:srgbClr val="3E3E3E"/>
              </a:buClr>
              <a:buSzPts val="3000"/>
              <a:buFont typeface="Noto Sans Symbols"/>
              <a:buChar char="▪"/>
            </a:pPr>
            <a:r>
              <a:rPr lang="en-US" sz="3000">
                <a:solidFill>
                  <a:srgbClr val="3E3E3E"/>
                </a:solidFill>
                <a:latin typeface="Times New Roman"/>
                <a:ea typeface="Times New Roman"/>
                <a:cs typeface="Times New Roman"/>
                <a:sym typeface="Times New Roman"/>
              </a:rPr>
              <a:t>Intuitively,</a:t>
            </a:r>
            <a:endParaRPr sz="3000">
              <a:latin typeface="Times New Roman"/>
              <a:ea typeface="Times New Roman"/>
              <a:cs typeface="Times New Roman"/>
              <a:sym typeface="Times New Roman"/>
            </a:endParaRPr>
          </a:p>
          <a:p>
            <a:pPr indent="-287019" lvl="1" marL="756285" marR="5080" rtl="0" algn="l">
              <a:lnSpc>
                <a:spcPct val="108076"/>
              </a:lnSpc>
              <a:spcBef>
                <a:spcPts val="695"/>
              </a:spcBef>
              <a:spcAft>
                <a:spcPts val="0"/>
              </a:spcAft>
              <a:buSzPts val="2600"/>
              <a:buFont typeface="Arial"/>
              <a:buChar char="–"/>
            </a:pPr>
            <a:r>
              <a:rPr lang="en-US" sz="2600">
                <a:latin typeface="Times New Roman"/>
                <a:ea typeface="Times New Roman"/>
                <a:cs typeface="Times New Roman"/>
                <a:sym typeface="Times New Roman"/>
              </a:rPr>
              <a:t>this means that </a:t>
            </a:r>
            <a:r>
              <a:rPr b="1" lang="en-US" sz="2600">
                <a:latin typeface="Times New Roman"/>
                <a:ea typeface="Times New Roman"/>
                <a:cs typeface="Times New Roman"/>
                <a:sym typeface="Times New Roman"/>
              </a:rPr>
              <a:t>each </a:t>
            </a:r>
            <a:r>
              <a:rPr lang="en-US" sz="2600">
                <a:latin typeface="Times New Roman"/>
                <a:ea typeface="Times New Roman"/>
                <a:cs typeface="Times New Roman"/>
                <a:sym typeface="Times New Roman"/>
              </a:rPr>
              <a:t>convolution filter represents a </a:t>
            </a:r>
            <a:r>
              <a:rPr b="1" lang="en-US" sz="2600">
                <a:latin typeface="Times New Roman"/>
                <a:ea typeface="Times New Roman"/>
                <a:cs typeface="Times New Roman"/>
                <a:sym typeface="Times New Roman"/>
              </a:rPr>
              <a:t>feature </a:t>
            </a:r>
            <a:r>
              <a:rPr lang="en-US" sz="2600">
                <a:latin typeface="Times New Roman"/>
                <a:ea typeface="Times New Roman"/>
                <a:cs typeface="Times New Roman"/>
                <a:sym typeface="Times New Roman"/>
              </a:rPr>
              <a:t>of interest (for example, </a:t>
            </a:r>
            <a:r>
              <a:rPr b="1" lang="en-US" sz="2600">
                <a:latin typeface="Times New Roman"/>
                <a:ea typeface="Times New Roman"/>
                <a:cs typeface="Times New Roman"/>
                <a:sym typeface="Times New Roman"/>
              </a:rPr>
              <a:t>pixels in letters), </a:t>
            </a:r>
            <a:r>
              <a:rPr lang="en-US" sz="2600">
                <a:latin typeface="Times New Roman"/>
                <a:ea typeface="Times New Roman"/>
                <a:cs typeface="Times New Roman"/>
                <a:sym typeface="Times New Roman"/>
              </a:rPr>
              <a:t>and</a:t>
            </a:r>
            <a:endParaRPr sz="2600">
              <a:latin typeface="Times New Roman"/>
              <a:ea typeface="Times New Roman"/>
              <a:cs typeface="Times New Roman"/>
              <a:sym typeface="Times New Roman"/>
            </a:endParaRPr>
          </a:p>
          <a:p>
            <a:pPr indent="-286385" lvl="1" marL="755650" marR="71120" rtl="0" algn="l">
              <a:lnSpc>
                <a:spcPct val="108076"/>
              </a:lnSpc>
              <a:spcBef>
                <a:spcPts val="615"/>
              </a:spcBef>
              <a:spcAft>
                <a:spcPts val="0"/>
              </a:spcAft>
              <a:buSzPts val="2600"/>
              <a:buFont typeface="Arial"/>
              <a:buChar char="–"/>
            </a:pPr>
            <a:r>
              <a:rPr lang="en-US" sz="2600">
                <a:latin typeface="Times New Roman"/>
                <a:ea typeface="Times New Roman"/>
                <a:cs typeface="Times New Roman"/>
                <a:sym typeface="Times New Roman"/>
              </a:rPr>
              <a:t>CNN </a:t>
            </a:r>
            <a:r>
              <a:rPr b="1" lang="en-US" sz="2600">
                <a:latin typeface="Times New Roman"/>
                <a:ea typeface="Times New Roman"/>
                <a:cs typeface="Times New Roman"/>
                <a:sym typeface="Times New Roman"/>
              </a:rPr>
              <a:t>algorithm </a:t>
            </a:r>
            <a:r>
              <a:rPr lang="en-US" sz="2600">
                <a:latin typeface="Times New Roman"/>
                <a:ea typeface="Times New Roman"/>
                <a:cs typeface="Times New Roman"/>
                <a:sym typeface="Times New Roman"/>
              </a:rPr>
              <a:t>learns which </a:t>
            </a:r>
            <a:r>
              <a:rPr b="1" lang="en-US" sz="2600">
                <a:latin typeface="Times New Roman"/>
                <a:ea typeface="Times New Roman"/>
                <a:cs typeface="Times New Roman"/>
                <a:sym typeface="Times New Roman"/>
              </a:rPr>
              <a:t>features </a:t>
            </a:r>
            <a:r>
              <a:rPr lang="en-US" sz="2600">
                <a:latin typeface="Times New Roman"/>
                <a:ea typeface="Times New Roman"/>
                <a:cs typeface="Times New Roman"/>
                <a:sym typeface="Times New Roman"/>
              </a:rPr>
              <a:t>comprise the </a:t>
            </a:r>
            <a:r>
              <a:rPr b="1" lang="en-US" sz="2600">
                <a:latin typeface="Times New Roman"/>
                <a:ea typeface="Times New Roman"/>
                <a:cs typeface="Times New Roman"/>
                <a:sym typeface="Times New Roman"/>
              </a:rPr>
              <a:t>resulting reference </a:t>
            </a:r>
            <a:r>
              <a:rPr lang="en-US" sz="2600">
                <a:latin typeface="Times New Roman"/>
                <a:ea typeface="Times New Roman"/>
                <a:cs typeface="Times New Roman"/>
                <a:sym typeface="Times New Roman"/>
              </a:rPr>
              <a:t>(i.e. alphabet)</a:t>
            </a:r>
            <a:endParaRPr sz="2600">
              <a:latin typeface="Times New Roman"/>
              <a:ea typeface="Times New Roman"/>
              <a:cs typeface="Times New Roman"/>
              <a:sym typeface="Times New Roman"/>
            </a:endParaRPr>
          </a:p>
          <a:p>
            <a:pPr indent="0" lvl="1" marL="0" rtl="0" algn="l">
              <a:lnSpc>
                <a:spcPct val="100000"/>
              </a:lnSpc>
              <a:spcBef>
                <a:spcPts val="1140"/>
              </a:spcBef>
              <a:spcAft>
                <a:spcPts val="0"/>
              </a:spcAft>
              <a:buSzPts val="2600"/>
              <a:buFont typeface="Arial"/>
              <a:buNone/>
            </a:pPr>
            <a:r>
              <a:t/>
            </a:r>
            <a:endParaRPr sz="2600">
              <a:latin typeface="Times New Roman"/>
              <a:ea typeface="Times New Roman"/>
              <a:cs typeface="Times New Roman"/>
              <a:sym typeface="Times New Roman"/>
            </a:endParaRPr>
          </a:p>
          <a:p>
            <a:pPr indent="-285750" lvl="0" marL="297815" marR="1364615" rtl="0" algn="l">
              <a:lnSpc>
                <a:spcPct val="108000"/>
              </a:lnSpc>
              <a:spcBef>
                <a:spcPts val="0"/>
              </a:spcBef>
              <a:spcAft>
                <a:spcPts val="0"/>
              </a:spcAft>
              <a:buClr>
                <a:srgbClr val="3E3E3E"/>
              </a:buClr>
              <a:buSzPts val="3000"/>
              <a:buFont typeface="Noto Sans Symbols"/>
              <a:buChar char="▪"/>
            </a:pPr>
            <a:r>
              <a:rPr lang="en-US" sz="3000">
                <a:solidFill>
                  <a:srgbClr val="3E3E3E"/>
                </a:solidFill>
                <a:latin typeface="Times New Roman"/>
                <a:ea typeface="Times New Roman"/>
                <a:cs typeface="Times New Roman"/>
                <a:sym typeface="Times New Roman"/>
              </a:rPr>
              <a:t>Convolution has the nice property of being </a:t>
            </a:r>
            <a:r>
              <a:rPr b="1" lang="en-US" sz="3000">
                <a:solidFill>
                  <a:srgbClr val="FF0000"/>
                </a:solidFill>
                <a:latin typeface="Times New Roman"/>
                <a:ea typeface="Times New Roman"/>
                <a:cs typeface="Times New Roman"/>
                <a:sym typeface="Times New Roman"/>
              </a:rPr>
              <a:t>translational invariant</a:t>
            </a:r>
            <a:r>
              <a:rPr lang="en-US" sz="3000">
                <a:solidFill>
                  <a:srgbClr val="3E3E3E"/>
                </a:solidFill>
                <a:latin typeface="Times New Roman"/>
                <a:ea typeface="Times New Roman"/>
                <a:cs typeface="Times New Roman"/>
                <a:sym typeface="Times New Roman"/>
              </a:rPr>
              <a:t>.</a:t>
            </a:r>
            <a:endParaRPr sz="3000">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32"/>
          <p:cNvSpPr txBox="1"/>
          <p:nvPr>
            <p:ph type="title"/>
          </p:nvPr>
        </p:nvSpPr>
        <p:spPr>
          <a:xfrm>
            <a:off x="78754" y="118625"/>
            <a:ext cx="6618600" cy="5670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Convolution of	an Image</a:t>
            </a:r>
            <a:endParaRPr/>
          </a:p>
        </p:txBody>
      </p:sp>
      <p:sp>
        <p:nvSpPr>
          <p:cNvPr id="258" name="Google Shape;258;p32"/>
          <p:cNvSpPr txBox="1"/>
          <p:nvPr/>
        </p:nvSpPr>
        <p:spPr>
          <a:xfrm>
            <a:off x="241175" y="942875"/>
            <a:ext cx="8797200" cy="1582800"/>
          </a:xfrm>
          <a:prstGeom prst="rect">
            <a:avLst/>
          </a:prstGeom>
          <a:noFill/>
          <a:ln>
            <a:noFill/>
          </a:ln>
        </p:spPr>
        <p:txBody>
          <a:bodyPr anchorCtr="0" anchor="t" bIns="0" lIns="0" spcFirstLastPara="1" rIns="0" wrap="square" tIns="12050">
            <a:spAutoFit/>
          </a:bodyPr>
          <a:lstStyle/>
          <a:p>
            <a:pPr indent="-286385" lvl="0" marL="299085" rtl="0" algn="l">
              <a:lnSpc>
                <a:spcPct val="100000"/>
              </a:lnSpc>
              <a:spcBef>
                <a:spcPts val="0"/>
              </a:spcBef>
              <a:spcAft>
                <a:spcPts val="0"/>
              </a:spcAft>
              <a:buClr>
                <a:srgbClr val="3E3E3E"/>
              </a:buClr>
              <a:buSzPts val="2200"/>
              <a:buFont typeface="Noto Sans Symbols"/>
              <a:buChar char="▪"/>
            </a:pPr>
            <a:r>
              <a:rPr lang="en-US" sz="2200">
                <a:solidFill>
                  <a:srgbClr val="3E3E3E"/>
                </a:solidFill>
                <a:latin typeface="Times New Roman"/>
                <a:ea typeface="Times New Roman"/>
                <a:cs typeface="Times New Roman"/>
                <a:sym typeface="Times New Roman"/>
              </a:rPr>
              <a:t>We have </a:t>
            </a:r>
            <a:r>
              <a:rPr b="1" lang="en-US" sz="2200">
                <a:solidFill>
                  <a:srgbClr val="3E3E3E"/>
                </a:solidFill>
                <a:latin typeface="Times New Roman"/>
                <a:ea typeface="Times New Roman"/>
                <a:cs typeface="Times New Roman"/>
                <a:sym typeface="Times New Roman"/>
              </a:rPr>
              <a:t>4 steps </a:t>
            </a:r>
            <a:r>
              <a:rPr lang="en-US" sz="2200">
                <a:solidFill>
                  <a:srgbClr val="3E3E3E"/>
                </a:solidFill>
                <a:latin typeface="Times New Roman"/>
                <a:ea typeface="Times New Roman"/>
                <a:cs typeface="Times New Roman"/>
                <a:sym typeface="Times New Roman"/>
              </a:rPr>
              <a:t>for convolution:</a:t>
            </a:r>
            <a:endParaRPr sz="2200">
              <a:latin typeface="Times New Roman"/>
              <a:ea typeface="Times New Roman"/>
              <a:cs typeface="Times New Roman"/>
              <a:sym typeface="Times New Roman"/>
            </a:endParaRPr>
          </a:p>
          <a:p>
            <a:pPr indent="-287019" lvl="1" marL="756285" rtl="0" algn="l">
              <a:lnSpc>
                <a:spcPct val="100000"/>
              </a:lnSpc>
              <a:spcBef>
                <a:spcPts val="5"/>
              </a:spcBef>
              <a:spcAft>
                <a:spcPts val="0"/>
              </a:spcAft>
              <a:buSzPts val="2000"/>
              <a:buFont typeface="Arial"/>
              <a:buChar char="–"/>
            </a:pPr>
            <a:r>
              <a:rPr b="1" lang="en-US" sz="2000">
                <a:latin typeface="Times New Roman"/>
                <a:ea typeface="Times New Roman"/>
                <a:cs typeface="Times New Roman"/>
                <a:sym typeface="Times New Roman"/>
              </a:rPr>
              <a:t>Line up </a:t>
            </a:r>
            <a:r>
              <a:rPr lang="en-US" sz="2000">
                <a:latin typeface="Times New Roman"/>
                <a:ea typeface="Times New Roman"/>
                <a:cs typeface="Times New Roman"/>
                <a:sym typeface="Times New Roman"/>
              </a:rPr>
              <a:t>the feature (filter) and the image</a:t>
            </a:r>
            <a:endParaRPr sz="2000">
              <a:latin typeface="Times New Roman"/>
              <a:ea typeface="Times New Roman"/>
              <a:cs typeface="Times New Roman"/>
              <a:sym typeface="Times New Roman"/>
            </a:endParaRPr>
          </a:p>
          <a:p>
            <a:pPr indent="-287019" lvl="1" marL="756285" rtl="0" algn="l">
              <a:lnSpc>
                <a:spcPct val="100000"/>
              </a:lnSpc>
              <a:spcBef>
                <a:spcPts val="0"/>
              </a:spcBef>
              <a:spcAft>
                <a:spcPts val="0"/>
              </a:spcAft>
              <a:buSzPts val="2000"/>
              <a:buFont typeface="Arial"/>
              <a:buChar char="–"/>
            </a:pPr>
            <a:r>
              <a:rPr b="1" lang="en-US" sz="2000">
                <a:latin typeface="Times New Roman"/>
                <a:ea typeface="Times New Roman"/>
                <a:cs typeface="Times New Roman"/>
                <a:sym typeface="Times New Roman"/>
              </a:rPr>
              <a:t>Multiply </a:t>
            </a:r>
            <a:r>
              <a:rPr lang="en-US" sz="2000">
                <a:latin typeface="Times New Roman"/>
                <a:ea typeface="Times New Roman"/>
                <a:cs typeface="Times New Roman"/>
                <a:sym typeface="Times New Roman"/>
              </a:rPr>
              <a:t>each </a:t>
            </a:r>
            <a:r>
              <a:rPr b="1" lang="en-US" sz="2000">
                <a:latin typeface="Times New Roman"/>
                <a:ea typeface="Times New Roman"/>
                <a:cs typeface="Times New Roman"/>
                <a:sym typeface="Times New Roman"/>
              </a:rPr>
              <a:t>image </a:t>
            </a:r>
            <a:r>
              <a:rPr lang="en-US" sz="2000">
                <a:latin typeface="Times New Roman"/>
                <a:ea typeface="Times New Roman"/>
                <a:cs typeface="Times New Roman"/>
                <a:sym typeface="Times New Roman"/>
              </a:rPr>
              <a:t>pixel by corresponding </a:t>
            </a:r>
            <a:r>
              <a:rPr b="1" lang="en-US" sz="2000">
                <a:latin typeface="Times New Roman"/>
                <a:ea typeface="Times New Roman"/>
                <a:cs typeface="Times New Roman"/>
                <a:sym typeface="Times New Roman"/>
              </a:rPr>
              <a:t>feature </a:t>
            </a:r>
            <a:r>
              <a:rPr lang="en-US" sz="2000">
                <a:latin typeface="Times New Roman"/>
                <a:ea typeface="Times New Roman"/>
                <a:cs typeface="Times New Roman"/>
                <a:sym typeface="Times New Roman"/>
              </a:rPr>
              <a:t>pixel</a:t>
            </a:r>
            <a:endParaRPr sz="2000">
              <a:latin typeface="Times New Roman"/>
              <a:ea typeface="Times New Roman"/>
              <a:cs typeface="Times New Roman"/>
              <a:sym typeface="Times New Roman"/>
            </a:endParaRPr>
          </a:p>
          <a:p>
            <a:pPr indent="-287019" lvl="1" marL="756285" rtl="0" algn="l">
              <a:lnSpc>
                <a:spcPct val="100000"/>
              </a:lnSpc>
              <a:spcBef>
                <a:spcPts val="0"/>
              </a:spcBef>
              <a:spcAft>
                <a:spcPts val="0"/>
              </a:spcAft>
              <a:buSzPts val="2000"/>
              <a:buFont typeface="Arial"/>
              <a:buChar char="–"/>
            </a:pPr>
            <a:r>
              <a:rPr b="1" lang="en-US" sz="2000">
                <a:latin typeface="Times New Roman"/>
                <a:ea typeface="Times New Roman"/>
                <a:cs typeface="Times New Roman"/>
                <a:sym typeface="Times New Roman"/>
              </a:rPr>
              <a:t>Add </a:t>
            </a:r>
            <a:r>
              <a:rPr lang="en-US" sz="2000">
                <a:latin typeface="Times New Roman"/>
                <a:ea typeface="Times New Roman"/>
                <a:cs typeface="Times New Roman"/>
                <a:sym typeface="Times New Roman"/>
              </a:rPr>
              <a:t>the values and find the </a:t>
            </a:r>
            <a:r>
              <a:rPr b="1" lang="en-US" sz="2000">
                <a:latin typeface="Times New Roman"/>
                <a:ea typeface="Times New Roman"/>
                <a:cs typeface="Times New Roman"/>
                <a:sym typeface="Times New Roman"/>
              </a:rPr>
              <a:t>sum</a:t>
            </a:r>
            <a:endParaRPr sz="2000">
              <a:latin typeface="Times New Roman"/>
              <a:ea typeface="Times New Roman"/>
              <a:cs typeface="Times New Roman"/>
              <a:sym typeface="Times New Roman"/>
            </a:endParaRPr>
          </a:p>
          <a:p>
            <a:pPr indent="-287019" lvl="1" marL="756285" rtl="0" algn="l">
              <a:lnSpc>
                <a:spcPct val="100000"/>
              </a:lnSpc>
              <a:spcBef>
                <a:spcPts val="0"/>
              </a:spcBef>
              <a:spcAft>
                <a:spcPts val="0"/>
              </a:spcAft>
              <a:buSzPts val="2000"/>
              <a:buFont typeface="Arial"/>
              <a:buChar char="–"/>
            </a:pPr>
            <a:r>
              <a:rPr b="1" lang="en-US" sz="2000">
                <a:latin typeface="Times New Roman"/>
                <a:ea typeface="Times New Roman"/>
                <a:cs typeface="Times New Roman"/>
                <a:sym typeface="Times New Roman"/>
              </a:rPr>
              <a:t>Divide </a:t>
            </a:r>
            <a:r>
              <a:rPr lang="en-US" sz="2000">
                <a:latin typeface="Times New Roman"/>
                <a:ea typeface="Times New Roman"/>
                <a:cs typeface="Times New Roman"/>
                <a:sym typeface="Times New Roman"/>
              </a:rPr>
              <a:t>the sum by the </a:t>
            </a:r>
            <a:r>
              <a:rPr b="1" lang="en-US" sz="2000">
                <a:latin typeface="Times New Roman"/>
                <a:ea typeface="Times New Roman"/>
                <a:cs typeface="Times New Roman"/>
                <a:sym typeface="Times New Roman"/>
              </a:rPr>
              <a:t>total </a:t>
            </a:r>
            <a:r>
              <a:rPr lang="en-US" sz="2000">
                <a:latin typeface="Times New Roman"/>
                <a:ea typeface="Times New Roman"/>
                <a:cs typeface="Times New Roman"/>
                <a:sym typeface="Times New Roman"/>
              </a:rPr>
              <a:t>number of pixels in the </a:t>
            </a:r>
            <a:r>
              <a:rPr b="1" lang="en-US" sz="2000">
                <a:latin typeface="Times New Roman"/>
                <a:ea typeface="Times New Roman"/>
                <a:cs typeface="Times New Roman"/>
                <a:sym typeface="Times New Roman"/>
              </a:rPr>
              <a:t>feature</a:t>
            </a:r>
            <a:endParaRPr sz="2000">
              <a:latin typeface="Times New Roman"/>
              <a:ea typeface="Times New Roman"/>
              <a:cs typeface="Times New Roman"/>
              <a:sym typeface="Times New Roman"/>
            </a:endParaRPr>
          </a:p>
        </p:txBody>
      </p:sp>
      <p:pic>
        <p:nvPicPr>
          <p:cNvPr id="259" name="Google Shape;259;p32"/>
          <p:cNvPicPr preferRelativeResize="0"/>
          <p:nvPr/>
        </p:nvPicPr>
        <p:blipFill rotWithShape="1">
          <a:blip r:embed="rId3">
            <a:alphaModFix/>
          </a:blip>
          <a:srcRect b="0" l="0" r="0" t="0"/>
          <a:stretch/>
        </p:blipFill>
        <p:spPr>
          <a:xfrm>
            <a:off x="241175" y="2787776"/>
            <a:ext cx="4316701" cy="1872195"/>
          </a:xfrm>
          <a:prstGeom prst="rect">
            <a:avLst/>
          </a:prstGeom>
          <a:noFill/>
          <a:ln>
            <a:noFill/>
          </a:ln>
        </p:spPr>
      </p:pic>
      <p:pic>
        <p:nvPicPr>
          <p:cNvPr id="260" name="Google Shape;260;p32"/>
          <p:cNvPicPr preferRelativeResize="0"/>
          <p:nvPr/>
        </p:nvPicPr>
        <p:blipFill rotWithShape="1">
          <a:blip r:embed="rId4">
            <a:alphaModFix/>
          </a:blip>
          <a:srcRect b="0" l="0" r="0" t="0"/>
          <a:stretch/>
        </p:blipFill>
        <p:spPr>
          <a:xfrm>
            <a:off x="4777535" y="2806010"/>
            <a:ext cx="4342105" cy="1841603"/>
          </a:xfrm>
          <a:prstGeom prst="rect">
            <a:avLst/>
          </a:prstGeom>
          <a:noFill/>
          <a:ln>
            <a:noFill/>
          </a:ln>
        </p:spPr>
      </p:pic>
      <p:sp>
        <p:nvSpPr>
          <p:cNvPr id="261" name="Google Shape;261;p32"/>
          <p:cNvSpPr/>
          <p:nvPr/>
        </p:nvSpPr>
        <p:spPr>
          <a:xfrm>
            <a:off x="4660176" y="2427734"/>
            <a:ext cx="0" cy="2520315"/>
          </a:xfrm>
          <a:custGeom>
            <a:rect b="b" l="l" r="r" t="t"/>
            <a:pathLst>
              <a:path extrusionOk="0" h="2520315" w="120000">
                <a:moveTo>
                  <a:pt x="0" y="0"/>
                </a:moveTo>
                <a:lnTo>
                  <a:pt x="0" y="2520276"/>
                </a:lnTo>
              </a:path>
            </a:pathLst>
          </a:custGeom>
          <a:noFill/>
          <a:ln cap="flat" cmpd="sng" w="9525">
            <a:solidFill>
              <a:srgbClr val="C0504D"/>
            </a:solidFill>
            <a:prstDash val="dash"/>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grpSp>
        <p:nvGrpSpPr>
          <p:cNvPr id="266" name="Google Shape;266;p33"/>
          <p:cNvGrpSpPr/>
          <p:nvPr/>
        </p:nvGrpSpPr>
        <p:grpSpPr>
          <a:xfrm>
            <a:off x="193471" y="915565"/>
            <a:ext cx="8926169" cy="4185388"/>
            <a:chOff x="193471" y="915565"/>
            <a:chExt cx="8926169" cy="4185388"/>
          </a:xfrm>
        </p:grpSpPr>
        <p:pic>
          <p:nvPicPr>
            <p:cNvPr id="267" name="Google Shape;267;p33"/>
            <p:cNvPicPr preferRelativeResize="0"/>
            <p:nvPr/>
          </p:nvPicPr>
          <p:blipFill rotWithShape="1">
            <a:blip r:embed="rId3">
              <a:alphaModFix/>
            </a:blip>
            <a:srcRect b="0" l="0" r="0" t="0"/>
            <a:stretch/>
          </p:blipFill>
          <p:spPr>
            <a:xfrm>
              <a:off x="2652151" y="3350512"/>
              <a:ext cx="4306875" cy="1750441"/>
            </a:xfrm>
            <a:prstGeom prst="rect">
              <a:avLst/>
            </a:prstGeom>
            <a:noFill/>
            <a:ln>
              <a:noFill/>
            </a:ln>
          </p:spPr>
        </p:pic>
        <p:pic>
          <p:nvPicPr>
            <p:cNvPr id="268" name="Google Shape;268;p33"/>
            <p:cNvPicPr preferRelativeResize="0"/>
            <p:nvPr/>
          </p:nvPicPr>
          <p:blipFill rotWithShape="1">
            <a:blip r:embed="rId4">
              <a:alphaModFix/>
            </a:blip>
            <a:srcRect b="0" l="0" r="0" t="0"/>
            <a:stretch/>
          </p:blipFill>
          <p:spPr>
            <a:xfrm>
              <a:off x="241175" y="1059586"/>
              <a:ext cx="4316701" cy="1872204"/>
            </a:xfrm>
            <a:prstGeom prst="rect">
              <a:avLst/>
            </a:prstGeom>
            <a:noFill/>
            <a:ln>
              <a:noFill/>
            </a:ln>
          </p:spPr>
        </p:pic>
        <p:pic>
          <p:nvPicPr>
            <p:cNvPr id="269" name="Google Shape;269;p33"/>
            <p:cNvPicPr preferRelativeResize="0"/>
            <p:nvPr/>
          </p:nvPicPr>
          <p:blipFill rotWithShape="1">
            <a:blip r:embed="rId5">
              <a:alphaModFix/>
            </a:blip>
            <a:srcRect b="0" l="0" r="0" t="0"/>
            <a:stretch/>
          </p:blipFill>
          <p:spPr>
            <a:xfrm>
              <a:off x="4777535" y="1077820"/>
              <a:ext cx="4342105" cy="1841603"/>
            </a:xfrm>
            <a:prstGeom prst="rect">
              <a:avLst/>
            </a:prstGeom>
            <a:noFill/>
            <a:ln>
              <a:noFill/>
            </a:ln>
          </p:spPr>
        </p:pic>
        <p:sp>
          <p:nvSpPr>
            <p:cNvPr id="270" name="Google Shape;270;p33"/>
            <p:cNvSpPr/>
            <p:nvPr/>
          </p:nvSpPr>
          <p:spPr>
            <a:xfrm>
              <a:off x="4660176" y="915565"/>
              <a:ext cx="0" cy="2196465"/>
            </a:xfrm>
            <a:custGeom>
              <a:rect b="b" l="l" r="r" t="t"/>
              <a:pathLst>
                <a:path extrusionOk="0" h="2196465" w="120000">
                  <a:moveTo>
                    <a:pt x="0" y="0"/>
                  </a:moveTo>
                  <a:lnTo>
                    <a:pt x="0" y="2195995"/>
                  </a:lnTo>
                </a:path>
              </a:pathLst>
            </a:custGeom>
            <a:noFill/>
            <a:ln cap="flat" cmpd="sng" w="9525">
              <a:solidFill>
                <a:srgbClr val="C0504D"/>
              </a:solidFill>
              <a:prstDash val="dash"/>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71" name="Google Shape;271;p33"/>
            <p:cNvSpPr/>
            <p:nvPr/>
          </p:nvSpPr>
          <p:spPr>
            <a:xfrm>
              <a:off x="193471" y="3219822"/>
              <a:ext cx="8712200" cy="0"/>
            </a:xfrm>
            <a:custGeom>
              <a:rect b="b" l="l" r="r" t="t"/>
              <a:pathLst>
                <a:path extrusionOk="0" h="120000" w="8712200">
                  <a:moveTo>
                    <a:pt x="0" y="0"/>
                  </a:moveTo>
                  <a:lnTo>
                    <a:pt x="8711996" y="0"/>
                  </a:lnTo>
                </a:path>
              </a:pathLst>
            </a:custGeom>
            <a:noFill/>
            <a:ln cap="flat" cmpd="sng" w="9525">
              <a:solidFill>
                <a:srgbClr val="C0504D"/>
              </a:solidFill>
              <a:prstDash val="dash"/>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72" name="Google Shape;272;p33"/>
            <p:cNvSpPr/>
            <p:nvPr/>
          </p:nvSpPr>
          <p:spPr>
            <a:xfrm>
              <a:off x="4110639" y="2218255"/>
              <a:ext cx="1243330" cy="629285"/>
            </a:xfrm>
            <a:custGeom>
              <a:rect b="b" l="l" r="r" t="t"/>
              <a:pathLst>
                <a:path extrusionOk="0" h="629285" w="1243329">
                  <a:moveTo>
                    <a:pt x="928776" y="0"/>
                  </a:moveTo>
                  <a:lnTo>
                    <a:pt x="928776" y="157264"/>
                  </a:lnTo>
                  <a:lnTo>
                    <a:pt x="0" y="157264"/>
                  </a:lnTo>
                  <a:lnTo>
                    <a:pt x="0" y="471779"/>
                  </a:lnTo>
                  <a:lnTo>
                    <a:pt x="928776" y="471779"/>
                  </a:lnTo>
                  <a:lnTo>
                    <a:pt x="928776" y="629043"/>
                  </a:lnTo>
                  <a:lnTo>
                    <a:pt x="1243291" y="314515"/>
                  </a:lnTo>
                  <a:lnTo>
                    <a:pt x="928776" y="0"/>
                  </a:lnTo>
                  <a:close/>
                </a:path>
              </a:pathLst>
            </a:custGeom>
            <a:solidFill>
              <a:srgbClr val="C0504D"/>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73" name="Google Shape;273;p33"/>
            <p:cNvSpPr/>
            <p:nvPr/>
          </p:nvSpPr>
          <p:spPr>
            <a:xfrm>
              <a:off x="4110639" y="2218255"/>
              <a:ext cx="1243330" cy="629285"/>
            </a:xfrm>
            <a:custGeom>
              <a:rect b="b" l="l" r="r" t="t"/>
              <a:pathLst>
                <a:path extrusionOk="0" h="629285" w="1243329">
                  <a:moveTo>
                    <a:pt x="0" y="471779"/>
                  </a:moveTo>
                  <a:lnTo>
                    <a:pt x="928776" y="471779"/>
                  </a:lnTo>
                  <a:lnTo>
                    <a:pt x="928776" y="629043"/>
                  </a:lnTo>
                  <a:lnTo>
                    <a:pt x="1243291" y="314515"/>
                  </a:lnTo>
                  <a:lnTo>
                    <a:pt x="928776" y="0"/>
                  </a:lnTo>
                  <a:lnTo>
                    <a:pt x="928776" y="157264"/>
                  </a:lnTo>
                  <a:lnTo>
                    <a:pt x="0" y="157264"/>
                  </a:lnTo>
                  <a:lnTo>
                    <a:pt x="0" y="471779"/>
                  </a:lnTo>
                  <a:close/>
                </a:path>
              </a:pathLst>
            </a:custGeom>
            <a:noFill/>
            <a:ln cap="flat" cmpd="sng" w="25400">
              <a:solidFill>
                <a:srgbClr val="385D8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74" name="Google Shape;274;p33"/>
            <p:cNvSpPr/>
            <p:nvPr/>
          </p:nvSpPr>
          <p:spPr>
            <a:xfrm>
              <a:off x="7452322" y="3106699"/>
              <a:ext cx="1296670" cy="1224280"/>
            </a:xfrm>
            <a:custGeom>
              <a:rect b="b" l="l" r="r" t="t"/>
              <a:pathLst>
                <a:path extrusionOk="0" h="1224279" w="1296670">
                  <a:moveTo>
                    <a:pt x="1296149" y="0"/>
                  </a:moveTo>
                  <a:lnTo>
                    <a:pt x="990117" y="0"/>
                  </a:lnTo>
                  <a:lnTo>
                    <a:pt x="990117" y="765086"/>
                  </a:lnTo>
                  <a:lnTo>
                    <a:pt x="306031" y="765086"/>
                  </a:lnTo>
                  <a:lnTo>
                    <a:pt x="306031" y="612063"/>
                  </a:lnTo>
                  <a:lnTo>
                    <a:pt x="0" y="918095"/>
                  </a:lnTo>
                  <a:lnTo>
                    <a:pt x="306031" y="1224140"/>
                  </a:lnTo>
                  <a:lnTo>
                    <a:pt x="306031" y="1071118"/>
                  </a:lnTo>
                  <a:lnTo>
                    <a:pt x="1296149" y="1071118"/>
                  </a:lnTo>
                  <a:lnTo>
                    <a:pt x="1296149" y="0"/>
                  </a:lnTo>
                  <a:close/>
                </a:path>
              </a:pathLst>
            </a:custGeom>
            <a:solidFill>
              <a:srgbClr val="C0504D"/>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75" name="Google Shape;275;p33"/>
            <p:cNvSpPr/>
            <p:nvPr/>
          </p:nvSpPr>
          <p:spPr>
            <a:xfrm>
              <a:off x="7452322" y="3106699"/>
              <a:ext cx="1296670" cy="1224280"/>
            </a:xfrm>
            <a:custGeom>
              <a:rect b="b" l="l" r="r" t="t"/>
              <a:pathLst>
                <a:path extrusionOk="0" h="1224279" w="1296670">
                  <a:moveTo>
                    <a:pt x="990117" y="0"/>
                  </a:moveTo>
                  <a:lnTo>
                    <a:pt x="990117" y="765086"/>
                  </a:lnTo>
                  <a:lnTo>
                    <a:pt x="306031" y="765086"/>
                  </a:lnTo>
                  <a:lnTo>
                    <a:pt x="306031" y="612063"/>
                  </a:lnTo>
                  <a:lnTo>
                    <a:pt x="0" y="918095"/>
                  </a:lnTo>
                  <a:lnTo>
                    <a:pt x="306031" y="1224140"/>
                  </a:lnTo>
                  <a:lnTo>
                    <a:pt x="306031" y="1071118"/>
                  </a:lnTo>
                  <a:lnTo>
                    <a:pt x="1296149" y="1071118"/>
                  </a:lnTo>
                  <a:lnTo>
                    <a:pt x="1296149" y="0"/>
                  </a:lnTo>
                  <a:lnTo>
                    <a:pt x="990117" y="0"/>
                  </a:lnTo>
                  <a:close/>
                </a:path>
              </a:pathLst>
            </a:custGeom>
            <a:noFill/>
            <a:ln cap="flat" cmpd="sng" w="25400">
              <a:solidFill>
                <a:srgbClr val="385D8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76" name="Google Shape;276;p33"/>
            <p:cNvSpPr/>
            <p:nvPr/>
          </p:nvSpPr>
          <p:spPr>
            <a:xfrm>
              <a:off x="2148166" y="1764804"/>
              <a:ext cx="5035550" cy="2614295"/>
            </a:xfrm>
            <a:custGeom>
              <a:rect b="b" l="l" r="r" t="t"/>
              <a:pathLst>
                <a:path extrusionOk="0" h="2614295" w="5035550">
                  <a:moveTo>
                    <a:pt x="0" y="5333"/>
                  </a:moveTo>
                  <a:lnTo>
                    <a:pt x="503999" y="5333"/>
                  </a:lnTo>
                  <a:lnTo>
                    <a:pt x="503999" y="443928"/>
                  </a:lnTo>
                  <a:lnTo>
                    <a:pt x="0" y="443928"/>
                  </a:lnTo>
                  <a:lnTo>
                    <a:pt x="0" y="5333"/>
                  </a:lnTo>
                  <a:close/>
                </a:path>
                <a:path extrusionOk="0" h="2614295" w="5035550">
                  <a:moveTo>
                    <a:pt x="4531169" y="0"/>
                  </a:moveTo>
                  <a:lnTo>
                    <a:pt x="5035169" y="0"/>
                  </a:lnTo>
                  <a:lnTo>
                    <a:pt x="5035169" y="438594"/>
                  </a:lnTo>
                  <a:lnTo>
                    <a:pt x="4531169" y="438594"/>
                  </a:lnTo>
                  <a:lnTo>
                    <a:pt x="4531169" y="0"/>
                  </a:lnTo>
                  <a:close/>
                </a:path>
                <a:path extrusionOk="0" h="2614295" w="5035550">
                  <a:moveTo>
                    <a:pt x="2063851" y="2175090"/>
                  </a:moveTo>
                  <a:lnTo>
                    <a:pt x="2567851" y="2175090"/>
                  </a:lnTo>
                  <a:lnTo>
                    <a:pt x="2567851" y="2613685"/>
                  </a:lnTo>
                  <a:lnTo>
                    <a:pt x="2063851" y="2613685"/>
                  </a:lnTo>
                  <a:lnTo>
                    <a:pt x="2063851" y="2175090"/>
                  </a:lnTo>
                  <a:close/>
                </a:path>
              </a:pathLst>
            </a:custGeom>
            <a:noFill/>
            <a:ln cap="flat" cmpd="sng" w="25400">
              <a:solidFill>
                <a:srgbClr val="00B05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277" name="Google Shape;277;p33"/>
          <p:cNvSpPr txBox="1"/>
          <p:nvPr>
            <p:ph type="title"/>
          </p:nvPr>
        </p:nvSpPr>
        <p:spPr>
          <a:xfrm>
            <a:off x="78753" y="118625"/>
            <a:ext cx="6360900" cy="5670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Convolution of	an Image</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34"/>
          <p:cNvSpPr txBox="1"/>
          <p:nvPr>
            <p:ph type="title"/>
          </p:nvPr>
        </p:nvSpPr>
        <p:spPr>
          <a:xfrm>
            <a:off x="78752" y="118625"/>
            <a:ext cx="5824800" cy="5670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Convolution of	an Image</a:t>
            </a:r>
            <a:endParaRPr/>
          </a:p>
        </p:txBody>
      </p:sp>
      <p:sp>
        <p:nvSpPr>
          <p:cNvPr id="283" name="Google Shape;283;p34"/>
          <p:cNvSpPr txBox="1"/>
          <p:nvPr/>
        </p:nvSpPr>
        <p:spPr>
          <a:xfrm>
            <a:off x="257850" y="924575"/>
            <a:ext cx="8773800" cy="1309200"/>
          </a:xfrm>
          <a:prstGeom prst="rect">
            <a:avLst/>
          </a:prstGeom>
          <a:noFill/>
          <a:ln>
            <a:noFill/>
          </a:ln>
        </p:spPr>
        <p:txBody>
          <a:bodyPr anchorCtr="0" anchor="t" bIns="0" lIns="0" spcFirstLastPara="1" rIns="0" wrap="square" tIns="92075">
            <a:spAutoFit/>
          </a:bodyPr>
          <a:lstStyle/>
          <a:p>
            <a:pPr indent="-286385" lvl="0" marL="298450" marR="5080" rtl="0" algn="l">
              <a:lnSpc>
                <a:spcPct val="95925"/>
              </a:lnSpc>
              <a:spcBef>
                <a:spcPts val="0"/>
              </a:spcBef>
              <a:spcAft>
                <a:spcPts val="0"/>
              </a:spcAft>
              <a:buClr>
                <a:srgbClr val="3E3E3E"/>
              </a:buClr>
              <a:buSzPts val="2700"/>
              <a:buFont typeface="Noto Sans Symbols"/>
              <a:buChar char="▪"/>
            </a:pPr>
            <a:r>
              <a:rPr lang="en-US" sz="2700">
                <a:solidFill>
                  <a:srgbClr val="3E3E3E"/>
                </a:solidFill>
                <a:latin typeface="Times New Roman"/>
                <a:ea typeface="Times New Roman"/>
                <a:cs typeface="Times New Roman"/>
                <a:sym typeface="Times New Roman"/>
              </a:rPr>
              <a:t>We can </a:t>
            </a:r>
            <a:r>
              <a:rPr b="1" lang="en-US" sz="2700">
                <a:solidFill>
                  <a:srgbClr val="3E3E3E"/>
                </a:solidFill>
                <a:latin typeface="Times New Roman"/>
                <a:ea typeface="Times New Roman"/>
                <a:cs typeface="Times New Roman"/>
                <a:sym typeface="Times New Roman"/>
              </a:rPr>
              <a:t>move </a:t>
            </a:r>
            <a:r>
              <a:rPr lang="en-US" sz="2700">
                <a:solidFill>
                  <a:srgbClr val="3E3E3E"/>
                </a:solidFill>
                <a:latin typeface="Times New Roman"/>
                <a:ea typeface="Times New Roman"/>
                <a:cs typeface="Times New Roman"/>
                <a:sym typeface="Times New Roman"/>
              </a:rPr>
              <a:t>this </a:t>
            </a:r>
            <a:r>
              <a:rPr b="1" lang="en-US" sz="2700">
                <a:solidFill>
                  <a:srgbClr val="3E3E3E"/>
                </a:solidFill>
                <a:latin typeface="Times New Roman"/>
                <a:ea typeface="Times New Roman"/>
                <a:cs typeface="Times New Roman"/>
                <a:sym typeface="Times New Roman"/>
              </a:rPr>
              <a:t>filter </a:t>
            </a:r>
            <a:r>
              <a:rPr lang="en-US" sz="2700">
                <a:solidFill>
                  <a:srgbClr val="3E3E3E"/>
                </a:solidFill>
                <a:latin typeface="Times New Roman"/>
                <a:ea typeface="Times New Roman"/>
                <a:cs typeface="Times New Roman"/>
                <a:sym typeface="Times New Roman"/>
              </a:rPr>
              <a:t>around and do the </a:t>
            </a:r>
            <a:r>
              <a:rPr b="1" lang="en-US" sz="2700">
                <a:solidFill>
                  <a:srgbClr val="3E3E3E"/>
                </a:solidFill>
                <a:latin typeface="Times New Roman"/>
                <a:ea typeface="Times New Roman"/>
                <a:cs typeface="Times New Roman"/>
                <a:sym typeface="Times New Roman"/>
              </a:rPr>
              <a:t>same </a:t>
            </a:r>
            <a:r>
              <a:rPr lang="en-US" sz="2700">
                <a:solidFill>
                  <a:srgbClr val="3E3E3E"/>
                </a:solidFill>
                <a:latin typeface="Times New Roman"/>
                <a:ea typeface="Times New Roman"/>
                <a:cs typeface="Times New Roman"/>
                <a:sym typeface="Times New Roman"/>
              </a:rPr>
              <a:t>at </a:t>
            </a:r>
            <a:r>
              <a:rPr b="1" lang="en-US" sz="2700">
                <a:solidFill>
                  <a:srgbClr val="3E3E3E"/>
                </a:solidFill>
                <a:latin typeface="Times New Roman"/>
                <a:ea typeface="Times New Roman"/>
                <a:cs typeface="Times New Roman"/>
                <a:sym typeface="Times New Roman"/>
              </a:rPr>
              <a:t>any pixel </a:t>
            </a:r>
            <a:r>
              <a:rPr lang="en-US" sz="2700">
                <a:solidFill>
                  <a:srgbClr val="3E3E3E"/>
                </a:solidFill>
                <a:latin typeface="Times New Roman"/>
                <a:ea typeface="Times New Roman"/>
                <a:cs typeface="Times New Roman"/>
                <a:sym typeface="Times New Roman"/>
              </a:rPr>
              <a:t>in the image.</a:t>
            </a:r>
            <a:endParaRPr sz="2700">
              <a:latin typeface="Times New Roman"/>
              <a:ea typeface="Times New Roman"/>
              <a:cs typeface="Times New Roman"/>
              <a:sym typeface="Times New Roman"/>
            </a:endParaRPr>
          </a:p>
          <a:p>
            <a:pPr indent="-286385" lvl="0" marL="299085" rtl="0" algn="l">
              <a:lnSpc>
                <a:spcPct val="100000"/>
              </a:lnSpc>
              <a:spcBef>
                <a:spcPts val="25"/>
              </a:spcBef>
              <a:spcAft>
                <a:spcPts val="0"/>
              </a:spcAft>
              <a:buClr>
                <a:srgbClr val="3E3E3E"/>
              </a:buClr>
              <a:buSzPts val="2700"/>
              <a:buFont typeface="Noto Sans Symbols"/>
              <a:buChar char="▪"/>
            </a:pPr>
            <a:r>
              <a:rPr b="1" lang="en-US" sz="2700">
                <a:solidFill>
                  <a:srgbClr val="3E3E3E"/>
                </a:solidFill>
                <a:latin typeface="Times New Roman"/>
                <a:ea typeface="Times New Roman"/>
                <a:cs typeface="Times New Roman"/>
                <a:sym typeface="Times New Roman"/>
              </a:rPr>
              <a:t>Example of	convolution at different pixel below</a:t>
            </a:r>
            <a:endParaRPr sz="2700">
              <a:latin typeface="Times New Roman"/>
              <a:ea typeface="Times New Roman"/>
              <a:cs typeface="Times New Roman"/>
              <a:sym typeface="Times New Roman"/>
            </a:endParaRPr>
          </a:p>
        </p:txBody>
      </p:sp>
      <p:grpSp>
        <p:nvGrpSpPr>
          <p:cNvPr id="284" name="Google Shape;284;p34"/>
          <p:cNvGrpSpPr/>
          <p:nvPr/>
        </p:nvGrpSpPr>
        <p:grpSpPr>
          <a:xfrm>
            <a:off x="107505" y="2457306"/>
            <a:ext cx="4335818" cy="2563337"/>
            <a:chOff x="107505" y="2457306"/>
            <a:chExt cx="4335818" cy="2563337"/>
          </a:xfrm>
        </p:grpSpPr>
        <p:pic>
          <p:nvPicPr>
            <p:cNvPr id="285" name="Google Shape;285;p34"/>
            <p:cNvPicPr preferRelativeResize="0"/>
            <p:nvPr/>
          </p:nvPicPr>
          <p:blipFill rotWithShape="1">
            <a:blip r:embed="rId3">
              <a:alphaModFix/>
            </a:blip>
            <a:srcRect b="0" l="0" r="0" t="0"/>
            <a:stretch/>
          </p:blipFill>
          <p:spPr>
            <a:xfrm>
              <a:off x="107505" y="2653171"/>
              <a:ext cx="4335818" cy="1790785"/>
            </a:xfrm>
            <a:prstGeom prst="rect">
              <a:avLst/>
            </a:prstGeom>
            <a:noFill/>
            <a:ln>
              <a:noFill/>
            </a:ln>
          </p:spPr>
        </p:pic>
        <p:sp>
          <p:nvSpPr>
            <p:cNvPr id="286" name="Google Shape;286;p34"/>
            <p:cNvSpPr/>
            <p:nvPr/>
          </p:nvSpPr>
          <p:spPr>
            <a:xfrm>
              <a:off x="1945803" y="4011628"/>
              <a:ext cx="580390" cy="1009015"/>
            </a:xfrm>
            <a:custGeom>
              <a:rect b="b" l="l" r="r" t="t"/>
              <a:pathLst>
                <a:path extrusionOk="0" h="1009014" w="580389">
                  <a:moveTo>
                    <a:pt x="290106" y="0"/>
                  </a:moveTo>
                  <a:lnTo>
                    <a:pt x="0" y="290106"/>
                  </a:lnTo>
                  <a:lnTo>
                    <a:pt x="145046" y="290106"/>
                  </a:lnTo>
                  <a:lnTo>
                    <a:pt x="145046" y="1008392"/>
                  </a:lnTo>
                  <a:lnTo>
                    <a:pt x="435152" y="1008392"/>
                  </a:lnTo>
                  <a:lnTo>
                    <a:pt x="435152" y="290106"/>
                  </a:lnTo>
                  <a:lnTo>
                    <a:pt x="580199" y="290106"/>
                  </a:lnTo>
                  <a:lnTo>
                    <a:pt x="290106" y="0"/>
                  </a:lnTo>
                  <a:close/>
                </a:path>
              </a:pathLst>
            </a:custGeom>
            <a:solidFill>
              <a:srgbClr val="4F81BD"/>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87" name="Google Shape;287;p34"/>
            <p:cNvSpPr/>
            <p:nvPr/>
          </p:nvSpPr>
          <p:spPr>
            <a:xfrm>
              <a:off x="1945803" y="4011628"/>
              <a:ext cx="580390" cy="1009015"/>
            </a:xfrm>
            <a:custGeom>
              <a:rect b="b" l="l" r="r" t="t"/>
              <a:pathLst>
                <a:path extrusionOk="0" h="1009014" w="580389">
                  <a:moveTo>
                    <a:pt x="435152" y="1008392"/>
                  </a:moveTo>
                  <a:lnTo>
                    <a:pt x="435152" y="290106"/>
                  </a:lnTo>
                  <a:lnTo>
                    <a:pt x="580199" y="290106"/>
                  </a:lnTo>
                  <a:lnTo>
                    <a:pt x="290106" y="0"/>
                  </a:lnTo>
                  <a:lnTo>
                    <a:pt x="0" y="290106"/>
                  </a:lnTo>
                  <a:lnTo>
                    <a:pt x="145046" y="290106"/>
                  </a:lnTo>
                  <a:lnTo>
                    <a:pt x="145046" y="1008392"/>
                  </a:lnTo>
                  <a:lnTo>
                    <a:pt x="435152" y="1008392"/>
                  </a:lnTo>
                  <a:close/>
                </a:path>
              </a:pathLst>
            </a:custGeom>
            <a:noFill/>
            <a:ln cap="flat" cmpd="sng" w="25400">
              <a:solidFill>
                <a:srgbClr val="385D8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88" name="Google Shape;288;p34"/>
            <p:cNvSpPr/>
            <p:nvPr/>
          </p:nvSpPr>
          <p:spPr>
            <a:xfrm>
              <a:off x="1945805" y="3435845"/>
              <a:ext cx="600710" cy="504190"/>
            </a:xfrm>
            <a:custGeom>
              <a:rect b="b" l="l" r="r" t="t"/>
              <a:pathLst>
                <a:path extrusionOk="0" h="504189" w="600710">
                  <a:moveTo>
                    <a:pt x="0" y="0"/>
                  </a:moveTo>
                  <a:lnTo>
                    <a:pt x="600443" y="0"/>
                  </a:lnTo>
                  <a:lnTo>
                    <a:pt x="600443" y="504050"/>
                  </a:lnTo>
                  <a:lnTo>
                    <a:pt x="0" y="504050"/>
                  </a:lnTo>
                  <a:lnTo>
                    <a:pt x="0" y="0"/>
                  </a:lnTo>
                  <a:close/>
                </a:path>
              </a:pathLst>
            </a:custGeom>
            <a:noFill/>
            <a:ln cap="flat" cmpd="sng" w="25400">
              <a:solidFill>
                <a:srgbClr val="FF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89" name="Google Shape;289;p34"/>
            <p:cNvSpPr/>
            <p:nvPr/>
          </p:nvSpPr>
          <p:spPr>
            <a:xfrm>
              <a:off x="4427983" y="2457306"/>
              <a:ext cx="0" cy="2196465"/>
            </a:xfrm>
            <a:custGeom>
              <a:rect b="b" l="l" r="r" t="t"/>
              <a:pathLst>
                <a:path extrusionOk="0" h="2196465" w="120000">
                  <a:moveTo>
                    <a:pt x="0" y="0"/>
                  </a:moveTo>
                  <a:lnTo>
                    <a:pt x="0" y="2195995"/>
                  </a:lnTo>
                </a:path>
              </a:pathLst>
            </a:custGeom>
            <a:noFill/>
            <a:ln cap="flat" cmpd="sng" w="9525">
              <a:solidFill>
                <a:srgbClr val="C0504D"/>
              </a:solidFill>
              <a:prstDash val="dash"/>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grpSp>
        <p:nvGrpSpPr>
          <p:cNvPr id="290" name="Google Shape;290;p34"/>
          <p:cNvGrpSpPr/>
          <p:nvPr/>
        </p:nvGrpSpPr>
        <p:grpSpPr>
          <a:xfrm>
            <a:off x="4536516" y="2702026"/>
            <a:ext cx="4571987" cy="1706560"/>
            <a:chOff x="4536516" y="2702026"/>
            <a:chExt cx="4571987" cy="1706560"/>
          </a:xfrm>
        </p:grpSpPr>
        <p:pic>
          <p:nvPicPr>
            <p:cNvPr id="291" name="Google Shape;291;p34"/>
            <p:cNvPicPr preferRelativeResize="0"/>
            <p:nvPr/>
          </p:nvPicPr>
          <p:blipFill rotWithShape="1">
            <a:blip r:embed="rId4">
              <a:alphaModFix/>
            </a:blip>
            <a:srcRect b="0" l="0" r="0" t="0"/>
            <a:stretch/>
          </p:blipFill>
          <p:spPr>
            <a:xfrm>
              <a:off x="4536516" y="2702026"/>
              <a:ext cx="4571987" cy="1706560"/>
            </a:xfrm>
            <a:prstGeom prst="rect">
              <a:avLst/>
            </a:prstGeom>
            <a:noFill/>
            <a:ln>
              <a:noFill/>
            </a:ln>
          </p:spPr>
        </p:pic>
        <p:sp>
          <p:nvSpPr>
            <p:cNvPr id="292" name="Google Shape;292;p34"/>
            <p:cNvSpPr/>
            <p:nvPr/>
          </p:nvSpPr>
          <p:spPr>
            <a:xfrm>
              <a:off x="5176634" y="3253727"/>
              <a:ext cx="600710" cy="586105"/>
            </a:xfrm>
            <a:custGeom>
              <a:rect b="b" l="l" r="r" t="t"/>
              <a:pathLst>
                <a:path extrusionOk="0" h="586104" w="600710">
                  <a:moveTo>
                    <a:pt x="0" y="0"/>
                  </a:moveTo>
                  <a:lnTo>
                    <a:pt x="600443" y="0"/>
                  </a:lnTo>
                  <a:lnTo>
                    <a:pt x="600443" y="585584"/>
                  </a:lnTo>
                  <a:lnTo>
                    <a:pt x="0" y="585584"/>
                  </a:lnTo>
                  <a:lnTo>
                    <a:pt x="0" y="0"/>
                  </a:lnTo>
                  <a:close/>
                </a:path>
              </a:pathLst>
            </a:custGeom>
            <a:noFill/>
            <a:ln cap="flat" cmpd="sng" w="25400">
              <a:solidFill>
                <a:srgbClr val="FF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grpSp>
        <p:nvGrpSpPr>
          <p:cNvPr id="297" name="Google Shape;297;p35"/>
          <p:cNvGrpSpPr/>
          <p:nvPr/>
        </p:nvGrpSpPr>
        <p:grpSpPr>
          <a:xfrm>
            <a:off x="539559" y="987577"/>
            <a:ext cx="6337098" cy="3672416"/>
            <a:chOff x="539559" y="987577"/>
            <a:chExt cx="6337098" cy="3672416"/>
          </a:xfrm>
        </p:grpSpPr>
        <p:pic>
          <p:nvPicPr>
            <p:cNvPr id="298" name="Google Shape;298;p35"/>
            <p:cNvPicPr preferRelativeResize="0"/>
            <p:nvPr/>
          </p:nvPicPr>
          <p:blipFill rotWithShape="1">
            <a:blip r:embed="rId3">
              <a:alphaModFix/>
            </a:blip>
            <a:srcRect b="0" l="0" r="0" t="0"/>
            <a:stretch/>
          </p:blipFill>
          <p:spPr>
            <a:xfrm>
              <a:off x="539559" y="987577"/>
              <a:ext cx="4754164" cy="3552346"/>
            </a:xfrm>
            <a:prstGeom prst="rect">
              <a:avLst/>
            </a:prstGeom>
            <a:noFill/>
            <a:ln>
              <a:noFill/>
            </a:ln>
          </p:spPr>
        </p:pic>
        <p:sp>
          <p:nvSpPr>
            <p:cNvPr id="299" name="Google Shape;299;p35"/>
            <p:cNvSpPr/>
            <p:nvPr/>
          </p:nvSpPr>
          <p:spPr>
            <a:xfrm>
              <a:off x="5364087" y="3579858"/>
              <a:ext cx="1512570" cy="1080135"/>
            </a:xfrm>
            <a:custGeom>
              <a:rect b="b" l="l" r="r" t="t"/>
              <a:pathLst>
                <a:path extrusionOk="0" h="1080135" w="1512570">
                  <a:moveTo>
                    <a:pt x="1242136" y="0"/>
                  </a:moveTo>
                  <a:lnTo>
                    <a:pt x="972108" y="270040"/>
                  </a:lnTo>
                  <a:lnTo>
                    <a:pt x="1107122" y="270040"/>
                  </a:lnTo>
                  <a:lnTo>
                    <a:pt x="1107122" y="810094"/>
                  </a:lnTo>
                  <a:lnTo>
                    <a:pt x="0" y="810094"/>
                  </a:lnTo>
                  <a:lnTo>
                    <a:pt x="0" y="1080122"/>
                  </a:lnTo>
                  <a:lnTo>
                    <a:pt x="1377149" y="1080122"/>
                  </a:lnTo>
                  <a:lnTo>
                    <a:pt x="1377149" y="270040"/>
                  </a:lnTo>
                  <a:lnTo>
                    <a:pt x="1512163" y="270040"/>
                  </a:lnTo>
                  <a:lnTo>
                    <a:pt x="1242136" y="0"/>
                  </a:lnTo>
                  <a:close/>
                </a:path>
              </a:pathLst>
            </a:custGeom>
            <a:solidFill>
              <a:srgbClr val="4F81BD"/>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00" name="Google Shape;300;p35"/>
            <p:cNvSpPr/>
            <p:nvPr/>
          </p:nvSpPr>
          <p:spPr>
            <a:xfrm>
              <a:off x="5364087" y="3579858"/>
              <a:ext cx="1512570" cy="1080135"/>
            </a:xfrm>
            <a:custGeom>
              <a:rect b="b" l="l" r="r" t="t"/>
              <a:pathLst>
                <a:path extrusionOk="0" h="1080135" w="1512570">
                  <a:moveTo>
                    <a:pt x="0" y="810094"/>
                  </a:moveTo>
                  <a:lnTo>
                    <a:pt x="1107122" y="810094"/>
                  </a:lnTo>
                  <a:lnTo>
                    <a:pt x="1107122" y="270040"/>
                  </a:lnTo>
                  <a:lnTo>
                    <a:pt x="972108" y="270040"/>
                  </a:lnTo>
                  <a:lnTo>
                    <a:pt x="1242136" y="0"/>
                  </a:lnTo>
                  <a:lnTo>
                    <a:pt x="1512163" y="270040"/>
                  </a:lnTo>
                  <a:lnTo>
                    <a:pt x="1377149" y="270040"/>
                  </a:lnTo>
                  <a:lnTo>
                    <a:pt x="1377149" y="1080122"/>
                  </a:lnTo>
                  <a:lnTo>
                    <a:pt x="0" y="1080122"/>
                  </a:lnTo>
                  <a:lnTo>
                    <a:pt x="0" y="810094"/>
                  </a:lnTo>
                  <a:close/>
                </a:path>
              </a:pathLst>
            </a:custGeom>
            <a:noFill/>
            <a:ln cap="flat" cmpd="sng" w="25400">
              <a:solidFill>
                <a:srgbClr val="385D8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301" name="Google Shape;301;p35"/>
          <p:cNvSpPr txBox="1"/>
          <p:nvPr>
            <p:ph type="title"/>
          </p:nvPr>
        </p:nvSpPr>
        <p:spPr>
          <a:xfrm>
            <a:off x="78753" y="118625"/>
            <a:ext cx="6231900" cy="5670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Convolution of	an Image</a:t>
            </a:r>
            <a:endParaRPr/>
          </a:p>
        </p:txBody>
      </p:sp>
      <p:pic>
        <p:nvPicPr>
          <p:cNvPr id="302" name="Google Shape;302;p35"/>
          <p:cNvPicPr preferRelativeResize="0"/>
          <p:nvPr/>
        </p:nvPicPr>
        <p:blipFill rotWithShape="1">
          <a:blip r:embed="rId4">
            <a:alphaModFix/>
          </a:blip>
          <a:srcRect b="0" l="0" r="0" t="0"/>
          <a:stretch/>
        </p:blipFill>
        <p:spPr>
          <a:xfrm>
            <a:off x="5652122" y="1275613"/>
            <a:ext cx="3048254" cy="2182545"/>
          </a:xfrm>
          <a:prstGeom prst="rect">
            <a:avLst/>
          </a:prstGeom>
          <a:noFill/>
          <a:ln>
            <a:noFill/>
          </a:ln>
        </p:spPr>
      </p:pic>
      <p:sp>
        <p:nvSpPr>
          <p:cNvPr id="303" name="Google Shape;303;p35"/>
          <p:cNvSpPr txBox="1"/>
          <p:nvPr/>
        </p:nvSpPr>
        <p:spPr>
          <a:xfrm>
            <a:off x="978331" y="2384173"/>
            <a:ext cx="533400" cy="2997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800">
                <a:latin typeface="Malgun Gothic"/>
                <a:ea typeface="Malgun Gothic"/>
                <a:cs typeface="Malgun Gothic"/>
                <a:sym typeface="Malgun Gothic"/>
              </a:rPr>
              <a:t>Filter</a:t>
            </a:r>
            <a:endParaRPr sz="1800">
              <a:latin typeface="Malgun Gothic"/>
              <a:ea typeface="Malgun Gothic"/>
              <a:cs typeface="Malgun Gothic"/>
              <a:sym typeface="Malgun Gothic"/>
            </a:endParaRPr>
          </a:p>
        </p:txBody>
      </p:sp>
      <p:sp>
        <p:nvSpPr>
          <p:cNvPr id="304" name="Google Shape;304;p35"/>
          <p:cNvSpPr txBox="1"/>
          <p:nvPr/>
        </p:nvSpPr>
        <p:spPr>
          <a:xfrm>
            <a:off x="3714673" y="4503752"/>
            <a:ext cx="667385" cy="2997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800">
                <a:latin typeface="Malgun Gothic"/>
                <a:ea typeface="Malgun Gothic"/>
                <a:cs typeface="Malgun Gothic"/>
                <a:sym typeface="Malgun Gothic"/>
              </a:rPr>
              <a:t>Image</a:t>
            </a:r>
            <a:endParaRPr sz="1800">
              <a:latin typeface="Malgun Gothic"/>
              <a:ea typeface="Malgun Gothic"/>
              <a:cs typeface="Malgun Gothic"/>
              <a:sym typeface="Malgun Gothic"/>
            </a:endParaRPr>
          </a:p>
        </p:txBody>
      </p:sp>
      <p:sp>
        <p:nvSpPr>
          <p:cNvPr id="305" name="Google Shape;305;p35"/>
          <p:cNvSpPr txBox="1"/>
          <p:nvPr/>
        </p:nvSpPr>
        <p:spPr>
          <a:xfrm>
            <a:off x="7387132" y="3526944"/>
            <a:ext cx="1243330" cy="574040"/>
          </a:xfrm>
          <a:prstGeom prst="rect">
            <a:avLst/>
          </a:prstGeom>
          <a:noFill/>
          <a:ln>
            <a:noFill/>
          </a:ln>
        </p:spPr>
        <p:txBody>
          <a:bodyPr anchorCtr="0" anchor="t" bIns="0" lIns="0" spcFirstLastPara="1" rIns="0" wrap="square" tIns="12700">
            <a:spAutoFit/>
          </a:bodyPr>
          <a:lstStyle/>
          <a:p>
            <a:pPr indent="0" lvl="0" marL="12700" marR="5080" rtl="0" algn="l">
              <a:lnSpc>
                <a:spcPct val="100000"/>
              </a:lnSpc>
              <a:spcBef>
                <a:spcPts val="0"/>
              </a:spcBef>
              <a:spcAft>
                <a:spcPts val="0"/>
              </a:spcAft>
              <a:buNone/>
            </a:pPr>
            <a:r>
              <a:rPr lang="en-US" sz="1800">
                <a:solidFill>
                  <a:srgbClr val="FF0000"/>
                </a:solidFill>
                <a:latin typeface="Malgun Gothic"/>
                <a:ea typeface="Malgun Gothic"/>
                <a:cs typeface="Malgun Gothic"/>
                <a:sym typeface="Malgun Gothic"/>
              </a:rPr>
              <a:t>Image after convolution</a:t>
            </a:r>
            <a:endParaRPr sz="1800">
              <a:latin typeface="Malgun Gothic"/>
              <a:ea typeface="Malgun Gothic"/>
              <a:cs typeface="Malgun Gothic"/>
              <a:sym typeface="Malgun Gothic"/>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36"/>
          <p:cNvSpPr txBox="1"/>
          <p:nvPr>
            <p:ph type="title"/>
          </p:nvPr>
        </p:nvSpPr>
        <p:spPr>
          <a:xfrm>
            <a:off x="78739" y="118636"/>
            <a:ext cx="3935095" cy="574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CNN – ReLU Layer</a:t>
            </a:r>
            <a:endParaRPr/>
          </a:p>
        </p:txBody>
      </p:sp>
      <p:sp>
        <p:nvSpPr>
          <p:cNvPr id="311" name="Google Shape;311;p36"/>
          <p:cNvSpPr txBox="1"/>
          <p:nvPr/>
        </p:nvSpPr>
        <p:spPr>
          <a:xfrm>
            <a:off x="251075" y="913925"/>
            <a:ext cx="8773800" cy="3830700"/>
          </a:xfrm>
          <a:prstGeom prst="rect">
            <a:avLst/>
          </a:prstGeom>
          <a:noFill/>
          <a:ln>
            <a:noFill/>
          </a:ln>
        </p:spPr>
        <p:txBody>
          <a:bodyPr anchorCtr="0" anchor="t" bIns="0" lIns="0" spcFirstLastPara="1" rIns="0" wrap="square" tIns="12700">
            <a:spAutoFit/>
          </a:bodyPr>
          <a:lstStyle/>
          <a:p>
            <a:pPr indent="-285750" lvl="0" marL="298450" rtl="0" algn="l">
              <a:lnSpc>
                <a:spcPct val="100000"/>
              </a:lnSpc>
              <a:spcBef>
                <a:spcPts val="0"/>
              </a:spcBef>
              <a:spcAft>
                <a:spcPts val="0"/>
              </a:spcAft>
              <a:buClr>
                <a:srgbClr val="3E3E3E"/>
              </a:buClr>
              <a:buSzPts val="3000"/>
              <a:buFont typeface="Noto Sans Symbols"/>
              <a:buChar char="▪"/>
            </a:pPr>
            <a:r>
              <a:rPr b="1" lang="en-US" sz="3000">
                <a:solidFill>
                  <a:srgbClr val="3E3E3E"/>
                </a:solidFill>
                <a:latin typeface="Times New Roman"/>
                <a:ea typeface="Times New Roman"/>
                <a:cs typeface="Times New Roman"/>
                <a:sym typeface="Times New Roman"/>
              </a:rPr>
              <a:t>Rectified Linear Unit </a:t>
            </a:r>
            <a:r>
              <a:rPr lang="en-US" sz="3000">
                <a:solidFill>
                  <a:srgbClr val="3E3E3E"/>
                </a:solidFill>
                <a:latin typeface="Times New Roman"/>
                <a:ea typeface="Times New Roman"/>
                <a:cs typeface="Times New Roman"/>
                <a:sym typeface="Times New Roman"/>
              </a:rPr>
              <a:t>(ReLU)</a:t>
            </a:r>
            <a:endParaRPr sz="3000">
              <a:latin typeface="Times New Roman"/>
              <a:ea typeface="Times New Roman"/>
              <a:cs typeface="Times New Roman"/>
              <a:sym typeface="Times New Roman"/>
            </a:endParaRPr>
          </a:p>
          <a:p>
            <a:pPr indent="-286385" lvl="1" marL="755650" rtl="0" algn="l">
              <a:lnSpc>
                <a:spcPct val="100000"/>
              </a:lnSpc>
              <a:spcBef>
                <a:spcPts val="15"/>
              </a:spcBef>
              <a:spcAft>
                <a:spcPts val="0"/>
              </a:spcAft>
              <a:buSzPts val="2600"/>
              <a:buFont typeface="Arial"/>
              <a:buChar char="–"/>
            </a:pPr>
            <a:r>
              <a:rPr lang="en-US" sz="2600">
                <a:latin typeface="Times New Roman"/>
                <a:ea typeface="Times New Roman"/>
                <a:cs typeface="Times New Roman"/>
                <a:sym typeface="Times New Roman"/>
              </a:rPr>
              <a:t>ReLU is an </a:t>
            </a:r>
            <a:r>
              <a:rPr lang="en-US" sz="2600">
                <a:solidFill>
                  <a:srgbClr val="FF0000"/>
                </a:solidFill>
                <a:latin typeface="Times New Roman"/>
                <a:ea typeface="Times New Roman"/>
                <a:cs typeface="Times New Roman"/>
                <a:sym typeface="Times New Roman"/>
              </a:rPr>
              <a:t>activation (transform) function</a:t>
            </a:r>
            <a:endParaRPr sz="2600">
              <a:latin typeface="Times New Roman"/>
              <a:ea typeface="Times New Roman"/>
              <a:cs typeface="Times New Roman"/>
              <a:sym typeface="Times New Roman"/>
            </a:endParaRPr>
          </a:p>
          <a:p>
            <a:pPr indent="0" lvl="1" marL="0" rtl="0" algn="l">
              <a:lnSpc>
                <a:spcPct val="100000"/>
              </a:lnSpc>
              <a:spcBef>
                <a:spcPts val="730"/>
              </a:spcBef>
              <a:spcAft>
                <a:spcPts val="0"/>
              </a:spcAft>
              <a:buSzPts val="2600"/>
              <a:buFont typeface="Arial"/>
              <a:buNone/>
            </a:pPr>
            <a:r>
              <a:t/>
            </a:r>
            <a:endParaRPr sz="2000">
              <a:latin typeface="Times New Roman"/>
              <a:ea typeface="Times New Roman"/>
              <a:cs typeface="Times New Roman"/>
              <a:sym typeface="Times New Roman"/>
            </a:endParaRPr>
          </a:p>
          <a:p>
            <a:pPr indent="-287019" lvl="1" marL="756285" marR="5080" rtl="0" algn="l">
              <a:lnSpc>
                <a:spcPct val="96153"/>
              </a:lnSpc>
              <a:spcBef>
                <a:spcPts val="0"/>
              </a:spcBef>
              <a:spcAft>
                <a:spcPts val="0"/>
              </a:spcAft>
              <a:buSzPts val="2600"/>
              <a:buFont typeface="Arial"/>
              <a:buChar char="–"/>
            </a:pPr>
            <a:r>
              <a:rPr lang="en-US" sz="2600">
                <a:latin typeface="Times New Roman"/>
                <a:ea typeface="Times New Roman"/>
                <a:cs typeface="Times New Roman"/>
                <a:sym typeface="Times New Roman"/>
              </a:rPr>
              <a:t>transform function only activates a node </a:t>
            </a:r>
            <a:r>
              <a:rPr lang="en-US" sz="2600">
                <a:solidFill>
                  <a:srgbClr val="FF0000"/>
                </a:solidFill>
                <a:latin typeface="Times New Roman"/>
                <a:ea typeface="Times New Roman"/>
                <a:cs typeface="Times New Roman"/>
                <a:sym typeface="Times New Roman"/>
              </a:rPr>
              <a:t>if the input is above a certain quantity</a:t>
            </a:r>
            <a:endParaRPr sz="2600">
              <a:latin typeface="Times New Roman"/>
              <a:ea typeface="Times New Roman"/>
              <a:cs typeface="Times New Roman"/>
              <a:sym typeface="Times New Roman"/>
            </a:endParaRPr>
          </a:p>
          <a:p>
            <a:pPr indent="0" lvl="1" marL="0" rtl="0" algn="l">
              <a:lnSpc>
                <a:spcPct val="100000"/>
              </a:lnSpc>
              <a:spcBef>
                <a:spcPts val="145"/>
              </a:spcBef>
              <a:spcAft>
                <a:spcPts val="0"/>
              </a:spcAft>
              <a:buSzPts val="2600"/>
              <a:buFont typeface="Arial"/>
              <a:buNone/>
            </a:pPr>
            <a:r>
              <a:t/>
            </a:r>
            <a:endParaRPr sz="2000">
              <a:latin typeface="Times New Roman"/>
              <a:ea typeface="Times New Roman"/>
              <a:cs typeface="Times New Roman"/>
              <a:sym typeface="Times New Roman"/>
            </a:endParaRPr>
          </a:p>
          <a:p>
            <a:pPr indent="-286385" lvl="1" marL="755650" rtl="0" algn="l">
              <a:lnSpc>
                <a:spcPct val="100000"/>
              </a:lnSpc>
              <a:spcBef>
                <a:spcPts val="0"/>
              </a:spcBef>
              <a:spcAft>
                <a:spcPts val="0"/>
              </a:spcAft>
              <a:buSzPts val="2600"/>
              <a:buFont typeface="Arial"/>
              <a:buChar char="–"/>
            </a:pPr>
            <a:r>
              <a:rPr lang="en-US" sz="2600">
                <a:latin typeface="Times New Roman"/>
                <a:ea typeface="Times New Roman"/>
                <a:cs typeface="Times New Roman"/>
                <a:sym typeface="Times New Roman"/>
              </a:rPr>
              <a:t>In ReLU:</a:t>
            </a:r>
            <a:endParaRPr sz="2600">
              <a:latin typeface="Times New Roman"/>
              <a:ea typeface="Times New Roman"/>
              <a:cs typeface="Times New Roman"/>
              <a:sym typeface="Times New Roman"/>
            </a:endParaRPr>
          </a:p>
          <a:p>
            <a:pPr indent="-227964" lvl="2" marL="1155065" rtl="0" algn="l">
              <a:lnSpc>
                <a:spcPct val="100000"/>
              </a:lnSpc>
              <a:spcBef>
                <a:spcPts val="15"/>
              </a:spcBef>
              <a:spcAft>
                <a:spcPts val="0"/>
              </a:spcAft>
              <a:buSzPts val="2200"/>
              <a:buFont typeface="Arial"/>
              <a:buChar char="•"/>
            </a:pPr>
            <a:r>
              <a:rPr lang="en-US" sz="2200">
                <a:latin typeface="Times New Roman"/>
                <a:ea typeface="Times New Roman"/>
                <a:cs typeface="Times New Roman"/>
                <a:sym typeface="Times New Roman"/>
              </a:rPr>
              <a:t>when the input is below zero, the output is zero, and</a:t>
            </a:r>
            <a:endParaRPr sz="2200">
              <a:latin typeface="Times New Roman"/>
              <a:ea typeface="Times New Roman"/>
              <a:cs typeface="Times New Roman"/>
              <a:sym typeface="Times New Roman"/>
            </a:endParaRPr>
          </a:p>
          <a:p>
            <a:pPr indent="-228600" lvl="2" marL="1155700" marR="102235" rtl="0" algn="l">
              <a:lnSpc>
                <a:spcPct val="95909"/>
              </a:lnSpc>
              <a:spcBef>
                <a:spcPts val="515"/>
              </a:spcBef>
              <a:spcAft>
                <a:spcPts val="0"/>
              </a:spcAft>
              <a:buSzPts val="2200"/>
              <a:buFont typeface="Arial"/>
              <a:buChar char="•"/>
            </a:pPr>
            <a:r>
              <a:rPr lang="en-US" sz="2200">
                <a:latin typeface="Times New Roman"/>
                <a:ea typeface="Times New Roman"/>
                <a:cs typeface="Times New Roman"/>
                <a:sym typeface="Times New Roman"/>
              </a:rPr>
              <a:t>when the input rises above a certain threshold, it has a linear relationship with the dependent variable</a:t>
            </a:r>
            <a:endParaRPr sz="2200">
              <a:latin typeface="Times New Roman"/>
              <a:ea typeface="Times New Roman"/>
              <a:cs typeface="Times New Roman"/>
              <a:sym typeface="Times New Roman"/>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37"/>
          <p:cNvSpPr txBox="1"/>
          <p:nvPr>
            <p:ph type="title"/>
          </p:nvPr>
        </p:nvSpPr>
        <p:spPr>
          <a:xfrm>
            <a:off x="78739" y="118636"/>
            <a:ext cx="8986520" cy="574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CNN – ReLU Layer: </a:t>
            </a:r>
            <a:r>
              <a:rPr lang="en-US">
                <a:solidFill>
                  <a:srgbClr val="FF0000"/>
                </a:solidFill>
              </a:rPr>
              <a:t>Example</a:t>
            </a:r>
            <a:endParaRPr/>
          </a:p>
        </p:txBody>
      </p:sp>
      <p:pic>
        <p:nvPicPr>
          <p:cNvPr id="317" name="Google Shape;317;p37"/>
          <p:cNvPicPr preferRelativeResize="0"/>
          <p:nvPr/>
        </p:nvPicPr>
        <p:blipFill rotWithShape="1">
          <a:blip r:embed="rId3">
            <a:alphaModFix/>
          </a:blip>
          <a:srcRect b="0" l="0" r="0" t="0"/>
          <a:stretch/>
        </p:blipFill>
        <p:spPr>
          <a:xfrm>
            <a:off x="1228445" y="1851672"/>
            <a:ext cx="3168350" cy="2548724"/>
          </a:xfrm>
          <a:prstGeom prst="rect">
            <a:avLst/>
          </a:prstGeom>
          <a:noFill/>
          <a:ln>
            <a:noFill/>
          </a:ln>
        </p:spPr>
      </p:pic>
      <p:pic>
        <p:nvPicPr>
          <p:cNvPr id="318" name="Google Shape;318;p37"/>
          <p:cNvPicPr preferRelativeResize="0"/>
          <p:nvPr/>
        </p:nvPicPr>
        <p:blipFill rotWithShape="1">
          <a:blip r:embed="rId4">
            <a:alphaModFix/>
          </a:blip>
          <a:srcRect b="0" l="0" r="0" t="0"/>
          <a:stretch/>
        </p:blipFill>
        <p:spPr>
          <a:xfrm>
            <a:off x="6228184" y="2360898"/>
            <a:ext cx="1907029" cy="2210741"/>
          </a:xfrm>
          <a:prstGeom prst="rect">
            <a:avLst/>
          </a:prstGeom>
          <a:noFill/>
          <a:ln>
            <a:noFill/>
          </a:ln>
        </p:spPr>
      </p:pic>
      <p:grpSp>
        <p:nvGrpSpPr>
          <p:cNvPr id="319" name="Google Shape;319;p37"/>
          <p:cNvGrpSpPr/>
          <p:nvPr/>
        </p:nvGrpSpPr>
        <p:grpSpPr>
          <a:xfrm>
            <a:off x="4572000" y="2818202"/>
            <a:ext cx="1224280" cy="648335"/>
            <a:chOff x="4572000" y="2818202"/>
            <a:chExt cx="1224280" cy="648335"/>
          </a:xfrm>
        </p:grpSpPr>
        <p:sp>
          <p:nvSpPr>
            <p:cNvPr id="320" name="Google Shape;320;p37"/>
            <p:cNvSpPr/>
            <p:nvPr/>
          </p:nvSpPr>
          <p:spPr>
            <a:xfrm>
              <a:off x="4572000" y="2818202"/>
              <a:ext cx="1224280" cy="648335"/>
            </a:xfrm>
            <a:custGeom>
              <a:rect b="b" l="l" r="r" t="t"/>
              <a:pathLst>
                <a:path extrusionOk="0" h="648335" w="1224279">
                  <a:moveTo>
                    <a:pt x="900099" y="0"/>
                  </a:moveTo>
                  <a:lnTo>
                    <a:pt x="900099" y="162013"/>
                  </a:lnTo>
                  <a:lnTo>
                    <a:pt x="0" y="162013"/>
                  </a:lnTo>
                  <a:lnTo>
                    <a:pt x="0" y="486054"/>
                  </a:lnTo>
                  <a:lnTo>
                    <a:pt x="900099" y="486054"/>
                  </a:lnTo>
                  <a:lnTo>
                    <a:pt x="900099" y="648068"/>
                  </a:lnTo>
                  <a:lnTo>
                    <a:pt x="1224140" y="324027"/>
                  </a:lnTo>
                  <a:lnTo>
                    <a:pt x="900099" y="0"/>
                  </a:lnTo>
                  <a:close/>
                </a:path>
              </a:pathLst>
            </a:custGeom>
            <a:solidFill>
              <a:srgbClr val="C6D9F1"/>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21" name="Google Shape;321;p37"/>
            <p:cNvSpPr/>
            <p:nvPr/>
          </p:nvSpPr>
          <p:spPr>
            <a:xfrm>
              <a:off x="4572000" y="2818202"/>
              <a:ext cx="1224280" cy="648335"/>
            </a:xfrm>
            <a:custGeom>
              <a:rect b="b" l="l" r="r" t="t"/>
              <a:pathLst>
                <a:path extrusionOk="0" h="648335" w="1224279">
                  <a:moveTo>
                    <a:pt x="0" y="162013"/>
                  </a:moveTo>
                  <a:lnTo>
                    <a:pt x="900099" y="162013"/>
                  </a:lnTo>
                  <a:lnTo>
                    <a:pt x="900099" y="0"/>
                  </a:lnTo>
                  <a:lnTo>
                    <a:pt x="1224140" y="324027"/>
                  </a:lnTo>
                  <a:lnTo>
                    <a:pt x="900099" y="648068"/>
                  </a:lnTo>
                  <a:lnTo>
                    <a:pt x="900099" y="486054"/>
                  </a:lnTo>
                  <a:lnTo>
                    <a:pt x="0" y="486054"/>
                  </a:lnTo>
                  <a:lnTo>
                    <a:pt x="0" y="162013"/>
                  </a:lnTo>
                  <a:close/>
                </a:path>
              </a:pathLst>
            </a:custGeom>
            <a:noFill/>
            <a:ln cap="flat" cmpd="sng" w="25400">
              <a:solidFill>
                <a:srgbClr val="385D8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38"/>
          <p:cNvSpPr txBox="1"/>
          <p:nvPr>
            <p:ph type="title"/>
          </p:nvPr>
        </p:nvSpPr>
        <p:spPr>
          <a:xfrm>
            <a:off x="78752" y="118625"/>
            <a:ext cx="7439700" cy="5670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Why do we require ReLU here?</a:t>
            </a:r>
            <a:endParaRPr/>
          </a:p>
        </p:txBody>
      </p:sp>
      <p:sp>
        <p:nvSpPr>
          <p:cNvPr id="327" name="Google Shape;327;p38"/>
          <p:cNvSpPr txBox="1"/>
          <p:nvPr>
            <p:ph idx="1" type="body"/>
          </p:nvPr>
        </p:nvSpPr>
        <p:spPr>
          <a:xfrm>
            <a:off x="251075" y="924575"/>
            <a:ext cx="8787300" cy="1578900"/>
          </a:xfrm>
          <a:prstGeom prst="rect">
            <a:avLst/>
          </a:prstGeom>
          <a:noFill/>
          <a:ln>
            <a:noFill/>
          </a:ln>
        </p:spPr>
        <p:txBody>
          <a:bodyPr anchorCtr="0" anchor="t" bIns="0" lIns="0" spcFirstLastPara="1" rIns="0" wrap="square" tIns="12700">
            <a:spAutoFit/>
          </a:bodyPr>
          <a:lstStyle/>
          <a:p>
            <a:pPr indent="-286385" lvl="0" marL="305435" rtl="0" algn="l">
              <a:lnSpc>
                <a:spcPct val="100000"/>
              </a:lnSpc>
              <a:spcBef>
                <a:spcPts val="0"/>
              </a:spcBef>
              <a:spcAft>
                <a:spcPts val="0"/>
              </a:spcAft>
              <a:buClr>
                <a:srgbClr val="3E3E3E"/>
              </a:buClr>
              <a:buSzPts val="2700"/>
              <a:buFont typeface="Noto Sans Symbols"/>
              <a:buChar char="▪"/>
            </a:pPr>
            <a:r>
              <a:rPr lang="en-US"/>
              <a:t>The main aim is</a:t>
            </a:r>
            <a:endParaRPr/>
          </a:p>
          <a:p>
            <a:pPr indent="-285115" lvl="1" marL="760730" rtl="0" algn="l">
              <a:lnSpc>
                <a:spcPct val="100000"/>
              </a:lnSpc>
              <a:spcBef>
                <a:spcPts val="10"/>
              </a:spcBef>
              <a:spcAft>
                <a:spcPts val="0"/>
              </a:spcAft>
              <a:buClr>
                <a:srgbClr val="FF0000"/>
              </a:buClr>
              <a:buSzPts val="2400"/>
              <a:buFont typeface="Arial"/>
              <a:buChar char="–"/>
            </a:pPr>
            <a:r>
              <a:rPr lang="en-US" sz="2400">
                <a:solidFill>
                  <a:srgbClr val="FF0000"/>
                </a:solidFill>
                <a:latin typeface="Times New Roman"/>
                <a:ea typeface="Times New Roman"/>
                <a:cs typeface="Times New Roman"/>
                <a:sym typeface="Times New Roman"/>
              </a:rPr>
              <a:t>to remove all the negative values </a:t>
            </a:r>
            <a:r>
              <a:rPr lang="en-US" sz="2400">
                <a:latin typeface="Times New Roman"/>
                <a:ea typeface="Times New Roman"/>
                <a:cs typeface="Times New Roman"/>
                <a:sym typeface="Times New Roman"/>
              </a:rPr>
              <a:t>from the convolution</a:t>
            </a:r>
            <a:endParaRPr sz="2400">
              <a:latin typeface="Times New Roman"/>
              <a:ea typeface="Times New Roman"/>
              <a:cs typeface="Times New Roman"/>
              <a:sym typeface="Times New Roman"/>
            </a:endParaRPr>
          </a:p>
          <a:p>
            <a:pPr indent="-285115" lvl="1" marL="760730" marR="5080" rtl="0" algn="l">
              <a:lnSpc>
                <a:spcPct val="95833"/>
              </a:lnSpc>
              <a:spcBef>
                <a:spcPts val="560"/>
              </a:spcBef>
              <a:spcAft>
                <a:spcPts val="0"/>
              </a:spcAft>
              <a:buClr>
                <a:srgbClr val="00B050"/>
              </a:buClr>
              <a:buSzPts val="2400"/>
              <a:buFont typeface="Arial"/>
              <a:buChar char="–"/>
            </a:pPr>
            <a:r>
              <a:rPr lang="en-US" sz="2400">
                <a:solidFill>
                  <a:srgbClr val="00B050"/>
                </a:solidFill>
                <a:latin typeface="Times New Roman"/>
                <a:ea typeface="Times New Roman"/>
                <a:cs typeface="Times New Roman"/>
                <a:sym typeface="Times New Roman"/>
              </a:rPr>
              <a:t>all the positive values remain the same </a:t>
            </a:r>
            <a:r>
              <a:rPr lang="en-US" sz="2400">
                <a:latin typeface="Times New Roman"/>
                <a:ea typeface="Times New Roman"/>
                <a:cs typeface="Times New Roman"/>
                <a:sym typeface="Times New Roman"/>
              </a:rPr>
              <a:t>but all the negative 	values get changed to zero</a:t>
            </a:r>
            <a:endParaRPr sz="2400">
              <a:latin typeface="Times New Roman"/>
              <a:ea typeface="Times New Roman"/>
              <a:cs typeface="Times New Roman"/>
              <a:sym typeface="Times New Roman"/>
            </a:endParaRPr>
          </a:p>
        </p:txBody>
      </p:sp>
      <p:grpSp>
        <p:nvGrpSpPr>
          <p:cNvPr id="328" name="Google Shape;328;p38"/>
          <p:cNvGrpSpPr/>
          <p:nvPr/>
        </p:nvGrpSpPr>
        <p:grpSpPr>
          <a:xfrm>
            <a:off x="943652" y="2659930"/>
            <a:ext cx="7808742" cy="2432096"/>
            <a:chOff x="943652" y="2659930"/>
            <a:chExt cx="7808742" cy="2432096"/>
          </a:xfrm>
        </p:grpSpPr>
        <p:pic>
          <p:nvPicPr>
            <p:cNvPr id="329" name="Google Shape;329;p38"/>
            <p:cNvPicPr preferRelativeResize="0"/>
            <p:nvPr/>
          </p:nvPicPr>
          <p:blipFill rotWithShape="1">
            <a:blip r:embed="rId3">
              <a:alphaModFix/>
            </a:blip>
            <a:srcRect b="0" l="0" r="0" t="0"/>
            <a:stretch/>
          </p:blipFill>
          <p:spPr>
            <a:xfrm>
              <a:off x="943652" y="2659930"/>
              <a:ext cx="7808742" cy="2432096"/>
            </a:xfrm>
            <a:prstGeom prst="rect">
              <a:avLst/>
            </a:prstGeom>
            <a:noFill/>
            <a:ln>
              <a:noFill/>
            </a:ln>
          </p:spPr>
        </p:pic>
        <p:sp>
          <p:nvSpPr>
            <p:cNvPr id="330" name="Google Shape;330;p38"/>
            <p:cNvSpPr/>
            <p:nvPr/>
          </p:nvSpPr>
          <p:spPr>
            <a:xfrm>
              <a:off x="4716015" y="4244111"/>
              <a:ext cx="1224280" cy="648335"/>
            </a:xfrm>
            <a:custGeom>
              <a:rect b="b" l="l" r="r" t="t"/>
              <a:pathLst>
                <a:path extrusionOk="0" h="648335" w="1224279">
                  <a:moveTo>
                    <a:pt x="900099" y="0"/>
                  </a:moveTo>
                  <a:lnTo>
                    <a:pt x="900099" y="162013"/>
                  </a:lnTo>
                  <a:lnTo>
                    <a:pt x="0" y="162013"/>
                  </a:lnTo>
                  <a:lnTo>
                    <a:pt x="0" y="486054"/>
                  </a:lnTo>
                  <a:lnTo>
                    <a:pt x="900099" y="486054"/>
                  </a:lnTo>
                  <a:lnTo>
                    <a:pt x="900099" y="648068"/>
                  </a:lnTo>
                  <a:lnTo>
                    <a:pt x="1224140" y="324027"/>
                  </a:lnTo>
                  <a:lnTo>
                    <a:pt x="900099" y="0"/>
                  </a:lnTo>
                  <a:close/>
                </a:path>
              </a:pathLst>
            </a:custGeom>
            <a:solidFill>
              <a:srgbClr val="C6D9F1"/>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31" name="Google Shape;331;p38"/>
            <p:cNvSpPr/>
            <p:nvPr/>
          </p:nvSpPr>
          <p:spPr>
            <a:xfrm>
              <a:off x="4716015" y="4244111"/>
              <a:ext cx="1224280" cy="648335"/>
            </a:xfrm>
            <a:custGeom>
              <a:rect b="b" l="l" r="r" t="t"/>
              <a:pathLst>
                <a:path extrusionOk="0" h="648335" w="1224279">
                  <a:moveTo>
                    <a:pt x="0" y="162013"/>
                  </a:moveTo>
                  <a:lnTo>
                    <a:pt x="900099" y="162013"/>
                  </a:lnTo>
                  <a:lnTo>
                    <a:pt x="900099" y="0"/>
                  </a:lnTo>
                  <a:lnTo>
                    <a:pt x="1224140" y="324027"/>
                  </a:lnTo>
                  <a:lnTo>
                    <a:pt x="900099" y="648068"/>
                  </a:lnTo>
                  <a:lnTo>
                    <a:pt x="900099" y="486054"/>
                  </a:lnTo>
                  <a:lnTo>
                    <a:pt x="0" y="486054"/>
                  </a:lnTo>
                  <a:lnTo>
                    <a:pt x="0" y="162013"/>
                  </a:lnTo>
                  <a:close/>
                </a:path>
              </a:pathLst>
            </a:custGeom>
            <a:noFill/>
            <a:ln cap="flat" cmpd="sng" w="25400">
              <a:solidFill>
                <a:srgbClr val="385D8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39"/>
          <p:cNvSpPr txBox="1"/>
          <p:nvPr>
            <p:ph type="title"/>
          </p:nvPr>
        </p:nvSpPr>
        <p:spPr>
          <a:xfrm>
            <a:off x="78752" y="118625"/>
            <a:ext cx="7331100" cy="5670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Why do we require ReLU here?</a:t>
            </a:r>
            <a:endParaRPr/>
          </a:p>
        </p:txBody>
      </p:sp>
      <p:sp>
        <p:nvSpPr>
          <p:cNvPr id="337" name="Google Shape;337;p39"/>
          <p:cNvSpPr txBox="1"/>
          <p:nvPr/>
        </p:nvSpPr>
        <p:spPr>
          <a:xfrm>
            <a:off x="251075" y="1017500"/>
            <a:ext cx="8773800" cy="3812400"/>
          </a:xfrm>
          <a:prstGeom prst="rect">
            <a:avLst/>
          </a:prstGeom>
          <a:noFill/>
          <a:ln>
            <a:noFill/>
          </a:ln>
        </p:spPr>
        <p:txBody>
          <a:bodyPr anchorCtr="0" anchor="t" bIns="0" lIns="0" spcFirstLastPara="1" rIns="0" wrap="square" tIns="12050">
            <a:spAutoFit/>
          </a:bodyPr>
          <a:lstStyle/>
          <a:p>
            <a:pPr indent="-286385" lvl="0" marL="299085" rtl="0" algn="l">
              <a:lnSpc>
                <a:spcPct val="100000"/>
              </a:lnSpc>
              <a:spcBef>
                <a:spcPts val="0"/>
              </a:spcBef>
              <a:spcAft>
                <a:spcPts val="0"/>
              </a:spcAft>
              <a:buClr>
                <a:srgbClr val="3E3E3E"/>
              </a:buClr>
              <a:buSzPts val="2200"/>
              <a:buFont typeface="Noto Sans Symbols"/>
              <a:buChar char="▪"/>
            </a:pPr>
            <a:r>
              <a:rPr lang="en-US" sz="2200">
                <a:solidFill>
                  <a:srgbClr val="3E3E3E"/>
                </a:solidFill>
                <a:latin typeface="Times New Roman"/>
                <a:ea typeface="Times New Roman"/>
                <a:cs typeface="Times New Roman"/>
                <a:sym typeface="Times New Roman"/>
              </a:rPr>
              <a:t>Introducing </a:t>
            </a:r>
            <a:r>
              <a:rPr lang="en-US" sz="2200">
                <a:solidFill>
                  <a:srgbClr val="FF0000"/>
                </a:solidFill>
                <a:latin typeface="Times New Roman"/>
                <a:ea typeface="Times New Roman"/>
                <a:cs typeface="Times New Roman"/>
                <a:sym typeface="Times New Roman"/>
              </a:rPr>
              <a:t>Non-Linearity</a:t>
            </a:r>
            <a:r>
              <a:rPr lang="en-US" sz="2200">
                <a:solidFill>
                  <a:srgbClr val="3E3E3E"/>
                </a:solidFill>
                <a:latin typeface="Times New Roman"/>
                <a:ea typeface="Times New Roman"/>
                <a:cs typeface="Times New Roman"/>
                <a:sym typeface="Times New Roman"/>
              </a:rPr>
              <a:t>:</a:t>
            </a:r>
            <a:endParaRPr sz="2200">
              <a:latin typeface="Times New Roman"/>
              <a:ea typeface="Times New Roman"/>
              <a:cs typeface="Times New Roman"/>
              <a:sym typeface="Times New Roman"/>
            </a:endParaRPr>
          </a:p>
          <a:p>
            <a:pPr indent="-287019" lvl="1" marL="756285" marR="434340" rtl="0" algn="l">
              <a:lnSpc>
                <a:spcPct val="80000"/>
              </a:lnSpc>
              <a:spcBef>
                <a:spcPts val="484"/>
              </a:spcBef>
              <a:spcAft>
                <a:spcPts val="0"/>
              </a:spcAft>
              <a:buSzPts val="2000"/>
              <a:buFont typeface="Arial"/>
              <a:buChar char="–"/>
            </a:pPr>
            <a:r>
              <a:rPr lang="en-US" sz="2000">
                <a:latin typeface="Times New Roman"/>
                <a:ea typeface="Times New Roman"/>
                <a:cs typeface="Times New Roman"/>
                <a:sym typeface="Times New Roman"/>
              </a:rPr>
              <a:t>CNNs process input data through layers of convolution and pooling, which are linear operations.</a:t>
            </a:r>
            <a:endParaRPr sz="2000">
              <a:latin typeface="Times New Roman"/>
              <a:ea typeface="Times New Roman"/>
              <a:cs typeface="Times New Roman"/>
              <a:sym typeface="Times New Roman"/>
            </a:endParaRPr>
          </a:p>
          <a:p>
            <a:pPr indent="-287019" lvl="0" marL="756285" marR="659765" rtl="0" algn="l">
              <a:lnSpc>
                <a:spcPct val="80000"/>
              </a:lnSpc>
              <a:spcBef>
                <a:spcPts val="484"/>
              </a:spcBef>
              <a:spcAft>
                <a:spcPts val="0"/>
              </a:spcAft>
              <a:buNone/>
            </a:pPr>
            <a:r>
              <a:rPr lang="en-US" sz="2000">
                <a:latin typeface="Arial"/>
                <a:ea typeface="Arial"/>
                <a:cs typeface="Arial"/>
                <a:sym typeface="Arial"/>
              </a:rPr>
              <a:t>–	</a:t>
            </a:r>
            <a:r>
              <a:rPr lang="en-US" sz="2000">
                <a:latin typeface="Times New Roman"/>
                <a:ea typeface="Times New Roman"/>
                <a:cs typeface="Times New Roman"/>
                <a:sym typeface="Times New Roman"/>
              </a:rPr>
              <a:t>Without an activation function, the </a:t>
            </a:r>
            <a:r>
              <a:rPr lang="en-US" sz="2000">
                <a:solidFill>
                  <a:srgbClr val="FF0000"/>
                </a:solidFill>
                <a:latin typeface="Times New Roman"/>
                <a:ea typeface="Times New Roman"/>
                <a:cs typeface="Times New Roman"/>
                <a:sym typeface="Times New Roman"/>
              </a:rPr>
              <a:t>model would behave as a linear transformation</a:t>
            </a:r>
            <a:r>
              <a:rPr lang="en-US" sz="2000">
                <a:latin typeface="Times New Roman"/>
                <a:ea typeface="Times New Roman"/>
                <a:cs typeface="Times New Roman"/>
                <a:sym typeface="Times New Roman"/>
              </a:rPr>
              <a:t>, limiting its ability to capture complex patterns.</a:t>
            </a:r>
            <a:endParaRPr sz="2000">
              <a:latin typeface="Times New Roman"/>
              <a:ea typeface="Times New Roman"/>
              <a:cs typeface="Times New Roman"/>
              <a:sym typeface="Times New Roman"/>
            </a:endParaRPr>
          </a:p>
          <a:p>
            <a:pPr indent="-287019" lvl="0" marL="756285" marR="151130" rtl="0" algn="l">
              <a:lnSpc>
                <a:spcPct val="80000"/>
              </a:lnSpc>
              <a:spcBef>
                <a:spcPts val="480"/>
              </a:spcBef>
              <a:spcAft>
                <a:spcPts val="0"/>
              </a:spcAft>
              <a:buNone/>
            </a:pPr>
            <a:r>
              <a:rPr lang="en-US" sz="2000">
                <a:latin typeface="Arial"/>
                <a:ea typeface="Arial"/>
                <a:cs typeface="Arial"/>
                <a:sym typeface="Arial"/>
              </a:rPr>
              <a:t>–	</a:t>
            </a:r>
            <a:r>
              <a:rPr lang="en-US" sz="2000">
                <a:latin typeface="Times New Roman"/>
                <a:ea typeface="Times New Roman"/>
                <a:cs typeface="Times New Roman"/>
                <a:sym typeface="Times New Roman"/>
              </a:rPr>
              <a:t>ReLU introduces non-linearity, enabling the network to learn and model more sophisticated relationships in data.</a:t>
            </a:r>
            <a:endParaRPr sz="2000">
              <a:latin typeface="Times New Roman"/>
              <a:ea typeface="Times New Roman"/>
              <a:cs typeface="Times New Roman"/>
              <a:sym typeface="Times New Roman"/>
            </a:endParaRPr>
          </a:p>
          <a:p>
            <a:pPr indent="0" lvl="0" marL="0" rtl="0" algn="l">
              <a:lnSpc>
                <a:spcPct val="100000"/>
              </a:lnSpc>
              <a:spcBef>
                <a:spcPts val="330"/>
              </a:spcBef>
              <a:spcAft>
                <a:spcPts val="0"/>
              </a:spcAft>
              <a:buNone/>
            </a:pPr>
            <a:r>
              <a:t/>
            </a:r>
            <a:endParaRPr sz="2000">
              <a:latin typeface="Times New Roman"/>
              <a:ea typeface="Times New Roman"/>
              <a:cs typeface="Times New Roman"/>
              <a:sym typeface="Times New Roman"/>
            </a:endParaRPr>
          </a:p>
          <a:p>
            <a:pPr indent="-286385" lvl="0" marL="299085" rtl="0" algn="l">
              <a:lnSpc>
                <a:spcPct val="100000"/>
              </a:lnSpc>
              <a:spcBef>
                <a:spcPts val="0"/>
              </a:spcBef>
              <a:spcAft>
                <a:spcPts val="0"/>
              </a:spcAft>
              <a:buClr>
                <a:srgbClr val="FF0000"/>
              </a:buClr>
              <a:buSzPts val="2200"/>
              <a:buFont typeface="Noto Sans Symbols"/>
              <a:buChar char="▪"/>
            </a:pPr>
            <a:r>
              <a:rPr lang="en-US" sz="2200">
                <a:solidFill>
                  <a:srgbClr val="FF0000"/>
                </a:solidFill>
                <a:latin typeface="Times New Roman"/>
                <a:ea typeface="Times New Roman"/>
                <a:cs typeface="Times New Roman"/>
                <a:sym typeface="Times New Roman"/>
              </a:rPr>
              <a:t>Sparse Activation</a:t>
            </a:r>
            <a:r>
              <a:rPr lang="en-US" sz="2200">
                <a:solidFill>
                  <a:srgbClr val="3E3E3E"/>
                </a:solidFill>
                <a:latin typeface="Times New Roman"/>
                <a:ea typeface="Times New Roman"/>
                <a:cs typeface="Times New Roman"/>
                <a:sym typeface="Times New Roman"/>
              </a:rPr>
              <a:t>:</a:t>
            </a:r>
            <a:endParaRPr sz="2200">
              <a:latin typeface="Times New Roman"/>
              <a:ea typeface="Times New Roman"/>
              <a:cs typeface="Times New Roman"/>
              <a:sym typeface="Times New Roman"/>
            </a:endParaRPr>
          </a:p>
          <a:p>
            <a:pPr indent="-287019" lvl="1" marL="756285" marR="5080" rtl="0" algn="l">
              <a:lnSpc>
                <a:spcPct val="80000"/>
              </a:lnSpc>
              <a:spcBef>
                <a:spcPts val="489"/>
              </a:spcBef>
              <a:spcAft>
                <a:spcPts val="0"/>
              </a:spcAft>
              <a:buSzPts val="2000"/>
              <a:buFont typeface="Arial"/>
              <a:buChar char="–"/>
            </a:pPr>
            <a:r>
              <a:rPr lang="en-US" sz="2000">
                <a:latin typeface="Times New Roman"/>
                <a:ea typeface="Times New Roman"/>
                <a:cs typeface="Times New Roman"/>
                <a:sym typeface="Times New Roman"/>
              </a:rPr>
              <a:t>ReLU activates only a subset of neurons at a time, as negative outputs are replaced with zero.</a:t>
            </a:r>
            <a:endParaRPr sz="2000">
              <a:latin typeface="Times New Roman"/>
              <a:ea typeface="Times New Roman"/>
              <a:cs typeface="Times New Roman"/>
              <a:sym typeface="Times New Roman"/>
            </a:endParaRPr>
          </a:p>
          <a:p>
            <a:pPr indent="-287019" lvl="1" marL="756285" marR="880744" rtl="0" algn="l">
              <a:lnSpc>
                <a:spcPct val="80000"/>
              </a:lnSpc>
              <a:spcBef>
                <a:spcPts val="480"/>
              </a:spcBef>
              <a:spcAft>
                <a:spcPts val="0"/>
              </a:spcAft>
              <a:buSzPts val="2000"/>
              <a:buFont typeface="Arial"/>
              <a:buChar char="–"/>
            </a:pPr>
            <a:r>
              <a:rPr lang="en-US" sz="2000">
                <a:latin typeface="Times New Roman"/>
                <a:ea typeface="Times New Roman"/>
                <a:cs typeface="Times New Roman"/>
                <a:sym typeface="Times New Roman"/>
              </a:rPr>
              <a:t>This </a:t>
            </a:r>
            <a:r>
              <a:rPr lang="en-US" sz="2000">
                <a:solidFill>
                  <a:srgbClr val="FF0000"/>
                </a:solidFill>
                <a:latin typeface="Times New Roman"/>
                <a:ea typeface="Times New Roman"/>
                <a:cs typeface="Times New Roman"/>
                <a:sym typeface="Times New Roman"/>
              </a:rPr>
              <a:t>sparsity makes the network more efficient </a:t>
            </a:r>
            <a:r>
              <a:rPr lang="en-US" sz="2000">
                <a:latin typeface="Times New Roman"/>
                <a:ea typeface="Times New Roman"/>
                <a:cs typeface="Times New Roman"/>
                <a:sym typeface="Times New Roman"/>
              </a:rPr>
              <a:t>and </a:t>
            </a:r>
            <a:r>
              <a:rPr lang="en-US" sz="2000">
                <a:solidFill>
                  <a:srgbClr val="FF0000"/>
                </a:solidFill>
                <a:latin typeface="Times New Roman"/>
                <a:ea typeface="Times New Roman"/>
                <a:cs typeface="Times New Roman"/>
                <a:sym typeface="Times New Roman"/>
              </a:rPr>
              <a:t>less prone to overfitting</a:t>
            </a:r>
            <a:r>
              <a:rPr lang="en-US" sz="2000">
                <a:latin typeface="Times New Roman"/>
                <a:ea typeface="Times New Roman"/>
                <a:cs typeface="Times New Roman"/>
                <a:sym typeface="Times New Roman"/>
              </a:rPr>
              <a:t>, as it reduces dependency on specific neurons.</a:t>
            </a:r>
            <a:endParaRPr sz="2000">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40"/>
          <p:cNvSpPr txBox="1"/>
          <p:nvPr>
            <p:ph type="title"/>
          </p:nvPr>
        </p:nvSpPr>
        <p:spPr>
          <a:xfrm>
            <a:off x="78752" y="118625"/>
            <a:ext cx="7012200" cy="5670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Why do we require ReLU here?</a:t>
            </a:r>
            <a:endParaRPr/>
          </a:p>
        </p:txBody>
      </p:sp>
      <p:pic>
        <p:nvPicPr>
          <p:cNvPr id="343" name="Google Shape;343;p40"/>
          <p:cNvPicPr preferRelativeResize="0"/>
          <p:nvPr/>
        </p:nvPicPr>
        <p:blipFill rotWithShape="1">
          <a:blip r:embed="rId3">
            <a:alphaModFix/>
          </a:blip>
          <a:srcRect b="0" l="0" r="0" t="0"/>
          <a:stretch/>
        </p:blipFill>
        <p:spPr>
          <a:xfrm>
            <a:off x="2983801" y="1347614"/>
            <a:ext cx="5980685" cy="3749352"/>
          </a:xfrm>
          <a:prstGeom prst="rect">
            <a:avLst/>
          </a:prstGeom>
          <a:noFill/>
          <a:ln>
            <a:noFill/>
          </a:ln>
        </p:spPr>
      </p:pic>
      <p:sp>
        <p:nvSpPr>
          <p:cNvPr id="344" name="Google Shape;344;p40"/>
          <p:cNvSpPr txBox="1"/>
          <p:nvPr/>
        </p:nvSpPr>
        <p:spPr>
          <a:xfrm>
            <a:off x="249150" y="1438925"/>
            <a:ext cx="2560200" cy="1123200"/>
          </a:xfrm>
          <a:prstGeom prst="rect">
            <a:avLst/>
          </a:prstGeom>
          <a:noFill/>
          <a:ln>
            <a:noFill/>
          </a:ln>
        </p:spPr>
        <p:txBody>
          <a:bodyPr anchorCtr="0" anchor="t" bIns="0" lIns="0" spcFirstLastPara="1" rIns="0" wrap="square" tIns="11425">
            <a:spAutoFit/>
          </a:bodyPr>
          <a:lstStyle/>
          <a:p>
            <a:pPr indent="0" lvl="0" marL="12700" marR="5080" rtl="0" algn="just">
              <a:lnSpc>
                <a:spcPct val="100400"/>
              </a:lnSpc>
              <a:spcBef>
                <a:spcPts val="0"/>
              </a:spcBef>
              <a:spcAft>
                <a:spcPts val="0"/>
              </a:spcAft>
              <a:buNone/>
            </a:pPr>
            <a:r>
              <a:rPr lang="en-US" sz="1800">
                <a:solidFill>
                  <a:srgbClr val="FF0000"/>
                </a:solidFill>
                <a:latin typeface="Lucida Sans"/>
                <a:ea typeface="Lucida Sans"/>
                <a:cs typeface="Lucida Sans"/>
                <a:sym typeface="Lucida Sans"/>
              </a:rPr>
              <a:t>Now, similarly we do the same process to </a:t>
            </a:r>
            <a:r>
              <a:rPr lang="en-US" sz="1800" u="sng">
                <a:solidFill>
                  <a:srgbClr val="FF0000"/>
                </a:solidFill>
                <a:latin typeface="Lucida Sans"/>
                <a:ea typeface="Lucida Sans"/>
                <a:cs typeface="Lucida Sans"/>
                <a:sym typeface="Lucida Sans"/>
              </a:rPr>
              <a:t>all the other feature</a:t>
            </a:r>
            <a:r>
              <a:rPr lang="en-US" sz="1800">
                <a:solidFill>
                  <a:srgbClr val="FF0000"/>
                </a:solidFill>
                <a:latin typeface="Lucida Sans"/>
                <a:ea typeface="Lucida Sans"/>
                <a:cs typeface="Lucida Sans"/>
                <a:sym typeface="Lucida Sans"/>
              </a:rPr>
              <a:t> </a:t>
            </a:r>
            <a:r>
              <a:rPr lang="en-US" sz="1800" u="sng">
                <a:solidFill>
                  <a:srgbClr val="FF0000"/>
                </a:solidFill>
                <a:latin typeface="Lucida Sans"/>
                <a:ea typeface="Lucida Sans"/>
                <a:cs typeface="Lucida Sans"/>
                <a:sym typeface="Lucida Sans"/>
              </a:rPr>
              <a:t>images as well</a:t>
            </a:r>
            <a:r>
              <a:rPr lang="en-US" sz="1800">
                <a:solidFill>
                  <a:srgbClr val="FF0000"/>
                </a:solidFill>
                <a:latin typeface="Lucida Sans"/>
                <a:ea typeface="Lucida Sans"/>
                <a:cs typeface="Lucida Sans"/>
                <a:sym typeface="Lucida Sans"/>
              </a:rPr>
              <a:t>:</a:t>
            </a:r>
            <a:endParaRPr sz="1800">
              <a:latin typeface="Lucida Sans"/>
              <a:ea typeface="Lucida Sans"/>
              <a:cs typeface="Lucida Sans"/>
              <a:sym typeface="Lucida Sans"/>
            </a:endParaRPr>
          </a:p>
        </p:txBody>
      </p:sp>
      <p:sp>
        <p:nvSpPr>
          <p:cNvPr id="345" name="Google Shape;345;p40"/>
          <p:cNvSpPr txBox="1"/>
          <p:nvPr/>
        </p:nvSpPr>
        <p:spPr>
          <a:xfrm>
            <a:off x="4584319" y="2240245"/>
            <a:ext cx="738505" cy="574040"/>
          </a:xfrm>
          <a:prstGeom prst="rect">
            <a:avLst/>
          </a:prstGeom>
          <a:noFill/>
          <a:ln>
            <a:noFill/>
          </a:ln>
        </p:spPr>
        <p:txBody>
          <a:bodyPr anchorCtr="0" anchor="t" bIns="0" lIns="0" spcFirstLastPara="1" rIns="0" wrap="square" tIns="12700">
            <a:spAutoFit/>
          </a:bodyPr>
          <a:lstStyle/>
          <a:p>
            <a:pPr indent="0" lvl="0" marL="12700" marR="5080" rtl="0" algn="l">
              <a:lnSpc>
                <a:spcPct val="100000"/>
              </a:lnSpc>
              <a:spcBef>
                <a:spcPts val="0"/>
              </a:spcBef>
              <a:spcAft>
                <a:spcPts val="0"/>
              </a:spcAft>
              <a:buNone/>
            </a:pPr>
            <a:r>
              <a:rPr lang="en-US" sz="1800">
                <a:latin typeface="Malgun Gothic"/>
                <a:ea typeface="Malgun Gothic"/>
                <a:cs typeface="Malgun Gothic"/>
                <a:sym typeface="Malgun Gothic"/>
              </a:rPr>
              <a:t>Filter-1 image</a:t>
            </a:r>
            <a:endParaRPr sz="1800">
              <a:latin typeface="Malgun Gothic"/>
              <a:ea typeface="Malgun Gothic"/>
              <a:cs typeface="Malgun Gothic"/>
              <a:sym typeface="Malgun Gothic"/>
            </a:endParaRPr>
          </a:p>
        </p:txBody>
      </p:sp>
      <p:sp>
        <p:nvSpPr>
          <p:cNvPr id="346" name="Google Shape;346;p40"/>
          <p:cNvSpPr txBox="1"/>
          <p:nvPr/>
        </p:nvSpPr>
        <p:spPr>
          <a:xfrm>
            <a:off x="4583861" y="3104353"/>
            <a:ext cx="738505" cy="1582420"/>
          </a:xfrm>
          <a:prstGeom prst="rect">
            <a:avLst/>
          </a:prstGeom>
          <a:noFill/>
          <a:ln>
            <a:noFill/>
          </a:ln>
        </p:spPr>
        <p:txBody>
          <a:bodyPr anchorCtr="0" anchor="t" bIns="0" lIns="0" spcFirstLastPara="1" rIns="0" wrap="square" tIns="12700">
            <a:spAutoFit/>
          </a:bodyPr>
          <a:lstStyle/>
          <a:p>
            <a:pPr indent="0" lvl="0" marL="12700" marR="5080" rtl="0" algn="l">
              <a:lnSpc>
                <a:spcPct val="100000"/>
              </a:lnSpc>
              <a:spcBef>
                <a:spcPts val="0"/>
              </a:spcBef>
              <a:spcAft>
                <a:spcPts val="0"/>
              </a:spcAft>
              <a:buNone/>
            </a:pPr>
            <a:r>
              <a:rPr lang="en-US" sz="1800">
                <a:latin typeface="Malgun Gothic"/>
                <a:ea typeface="Malgun Gothic"/>
                <a:cs typeface="Malgun Gothic"/>
                <a:sym typeface="Malgun Gothic"/>
              </a:rPr>
              <a:t>Filter-2 image</a:t>
            </a:r>
            <a:endParaRPr sz="1800">
              <a:latin typeface="Malgun Gothic"/>
              <a:ea typeface="Malgun Gothic"/>
              <a:cs typeface="Malgun Gothic"/>
              <a:sym typeface="Malgun Gothic"/>
            </a:endParaRPr>
          </a:p>
          <a:p>
            <a:pPr indent="0" lvl="0" marL="0" rtl="0" algn="l">
              <a:lnSpc>
                <a:spcPct val="100000"/>
              </a:lnSpc>
              <a:spcBef>
                <a:spcPts val="350"/>
              </a:spcBef>
              <a:spcAft>
                <a:spcPts val="0"/>
              </a:spcAft>
              <a:buNone/>
            </a:pPr>
            <a:r>
              <a:t/>
            </a:r>
            <a:endParaRPr sz="1800">
              <a:latin typeface="Malgun Gothic"/>
              <a:ea typeface="Malgun Gothic"/>
              <a:cs typeface="Malgun Gothic"/>
              <a:sym typeface="Malgun Gothic"/>
            </a:endParaRPr>
          </a:p>
          <a:p>
            <a:pPr indent="0" lvl="0" marL="12700" marR="5080" rtl="0" algn="l">
              <a:lnSpc>
                <a:spcPct val="100000"/>
              </a:lnSpc>
              <a:spcBef>
                <a:spcPts val="0"/>
              </a:spcBef>
              <a:spcAft>
                <a:spcPts val="0"/>
              </a:spcAft>
              <a:buNone/>
            </a:pPr>
            <a:r>
              <a:rPr lang="en-US" sz="1800">
                <a:latin typeface="Malgun Gothic"/>
                <a:ea typeface="Malgun Gothic"/>
                <a:cs typeface="Malgun Gothic"/>
                <a:sym typeface="Malgun Gothic"/>
              </a:rPr>
              <a:t>Filter-3 image</a:t>
            </a:r>
            <a:endParaRPr sz="1800">
              <a:latin typeface="Malgun Gothic"/>
              <a:ea typeface="Malgun Gothic"/>
              <a:cs typeface="Malgun Gothic"/>
              <a:sym typeface="Malgun Gothic"/>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41"/>
          <p:cNvSpPr txBox="1"/>
          <p:nvPr>
            <p:ph type="title"/>
          </p:nvPr>
        </p:nvSpPr>
        <p:spPr>
          <a:xfrm>
            <a:off x="78756" y="118625"/>
            <a:ext cx="4114800" cy="5670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solidFill>
                  <a:srgbClr val="FF0000"/>
                </a:solidFill>
              </a:rPr>
              <a:t>Pooling Layer</a:t>
            </a:r>
            <a:endParaRPr/>
          </a:p>
        </p:txBody>
      </p:sp>
      <p:sp>
        <p:nvSpPr>
          <p:cNvPr id="352" name="Google Shape;352;p41"/>
          <p:cNvSpPr txBox="1"/>
          <p:nvPr/>
        </p:nvSpPr>
        <p:spPr>
          <a:xfrm>
            <a:off x="264650" y="993150"/>
            <a:ext cx="8760300" cy="3219600"/>
          </a:xfrm>
          <a:prstGeom prst="rect">
            <a:avLst/>
          </a:prstGeom>
          <a:noFill/>
          <a:ln>
            <a:noFill/>
          </a:ln>
        </p:spPr>
        <p:txBody>
          <a:bodyPr anchorCtr="0" anchor="t" bIns="0" lIns="0" spcFirstLastPara="1" rIns="0" wrap="square" tIns="12050">
            <a:spAutoFit/>
          </a:bodyPr>
          <a:lstStyle/>
          <a:p>
            <a:pPr indent="-285750" lvl="0" marL="298450" rtl="0" algn="l">
              <a:lnSpc>
                <a:spcPct val="100000"/>
              </a:lnSpc>
              <a:spcBef>
                <a:spcPts val="0"/>
              </a:spcBef>
              <a:spcAft>
                <a:spcPts val="0"/>
              </a:spcAft>
              <a:buClr>
                <a:srgbClr val="3E3E3E"/>
              </a:buClr>
              <a:buSzPts val="2800"/>
              <a:buFont typeface="Noto Sans Symbols"/>
              <a:buChar char="▪"/>
            </a:pPr>
            <a:r>
              <a:rPr b="1" lang="en-US" sz="2800">
                <a:solidFill>
                  <a:srgbClr val="3E3E3E"/>
                </a:solidFill>
                <a:latin typeface="Times New Roman"/>
                <a:ea typeface="Times New Roman"/>
                <a:cs typeface="Times New Roman"/>
                <a:sym typeface="Times New Roman"/>
              </a:rPr>
              <a:t>Inputs </a:t>
            </a:r>
            <a:r>
              <a:rPr lang="en-US" sz="2800">
                <a:solidFill>
                  <a:srgbClr val="3E3E3E"/>
                </a:solidFill>
                <a:latin typeface="Times New Roman"/>
                <a:ea typeface="Times New Roman"/>
                <a:cs typeface="Times New Roman"/>
                <a:sym typeface="Times New Roman"/>
              </a:rPr>
              <a:t>from the convolution layer can be </a:t>
            </a:r>
            <a:r>
              <a:rPr b="1" lang="en-US" sz="2800">
                <a:solidFill>
                  <a:srgbClr val="3E3E3E"/>
                </a:solidFill>
                <a:latin typeface="Times New Roman"/>
                <a:ea typeface="Times New Roman"/>
                <a:cs typeface="Times New Roman"/>
                <a:sym typeface="Times New Roman"/>
              </a:rPr>
              <a:t>“smoothened” </a:t>
            </a:r>
            <a:r>
              <a:rPr lang="en-US" sz="2800">
                <a:solidFill>
                  <a:srgbClr val="3E3E3E"/>
                </a:solidFill>
                <a:latin typeface="Times New Roman"/>
                <a:ea typeface="Times New Roman"/>
                <a:cs typeface="Times New Roman"/>
                <a:sym typeface="Times New Roman"/>
              </a:rPr>
              <a:t>to </a:t>
            </a:r>
            <a:r>
              <a:rPr b="1" lang="en-US" sz="2800">
                <a:solidFill>
                  <a:srgbClr val="3E3E3E"/>
                </a:solidFill>
                <a:latin typeface="Times New Roman"/>
                <a:ea typeface="Times New Roman"/>
                <a:cs typeface="Times New Roman"/>
                <a:sym typeface="Times New Roman"/>
              </a:rPr>
              <a:t>reduce </a:t>
            </a:r>
            <a:r>
              <a:rPr lang="en-US" sz="2800">
                <a:solidFill>
                  <a:srgbClr val="3E3E3E"/>
                </a:solidFill>
                <a:latin typeface="Times New Roman"/>
                <a:ea typeface="Times New Roman"/>
                <a:cs typeface="Times New Roman"/>
                <a:sym typeface="Times New Roman"/>
              </a:rPr>
              <a:t>the </a:t>
            </a:r>
            <a:r>
              <a:rPr b="1" lang="en-US" sz="2800">
                <a:solidFill>
                  <a:srgbClr val="3E3E3E"/>
                </a:solidFill>
                <a:latin typeface="Times New Roman"/>
                <a:ea typeface="Times New Roman"/>
                <a:cs typeface="Times New Roman"/>
                <a:sym typeface="Times New Roman"/>
              </a:rPr>
              <a:t>sensitivity </a:t>
            </a:r>
            <a:r>
              <a:rPr lang="en-US" sz="2800">
                <a:solidFill>
                  <a:srgbClr val="3E3E3E"/>
                </a:solidFill>
                <a:latin typeface="Times New Roman"/>
                <a:ea typeface="Times New Roman"/>
                <a:cs typeface="Times New Roman"/>
                <a:sym typeface="Times New Roman"/>
              </a:rPr>
              <a:t>of the </a:t>
            </a:r>
            <a:r>
              <a:rPr b="1" lang="en-US" sz="2800">
                <a:solidFill>
                  <a:srgbClr val="3E3E3E"/>
                </a:solidFill>
                <a:latin typeface="Times New Roman"/>
                <a:ea typeface="Times New Roman"/>
                <a:cs typeface="Times New Roman"/>
                <a:sym typeface="Times New Roman"/>
              </a:rPr>
              <a:t>filters </a:t>
            </a:r>
            <a:r>
              <a:rPr lang="en-US" sz="2800">
                <a:solidFill>
                  <a:srgbClr val="3E3E3E"/>
                </a:solidFill>
                <a:latin typeface="Times New Roman"/>
                <a:ea typeface="Times New Roman"/>
                <a:cs typeface="Times New Roman"/>
                <a:sym typeface="Times New Roman"/>
              </a:rPr>
              <a:t>to </a:t>
            </a:r>
            <a:r>
              <a:rPr b="1" lang="en-US" sz="2800">
                <a:solidFill>
                  <a:srgbClr val="3E3E3E"/>
                </a:solidFill>
                <a:latin typeface="Times New Roman"/>
                <a:ea typeface="Times New Roman"/>
                <a:cs typeface="Times New Roman"/>
                <a:sym typeface="Times New Roman"/>
              </a:rPr>
              <a:t>noise </a:t>
            </a:r>
            <a:r>
              <a:rPr lang="en-US" sz="2800">
                <a:solidFill>
                  <a:srgbClr val="3E3E3E"/>
                </a:solidFill>
                <a:latin typeface="Times New Roman"/>
                <a:ea typeface="Times New Roman"/>
                <a:cs typeface="Times New Roman"/>
                <a:sym typeface="Times New Roman"/>
              </a:rPr>
              <a:t>and </a:t>
            </a:r>
            <a:r>
              <a:rPr b="1" lang="en-US" sz="2800">
                <a:solidFill>
                  <a:srgbClr val="3E3E3E"/>
                </a:solidFill>
                <a:latin typeface="Times New Roman"/>
                <a:ea typeface="Times New Roman"/>
                <a:cs typeface="Times New Roman"/>
                <a:sym typeface="Times New Roman"/>
              </a:rPr>
              <a:t>variations.</a:t>
            </a:r>
            <a:endParaRPr sz="2800">
              <a:latin typeface="Times New Roman"/>
              <a:ea typeface="Times New Roman"/>
              <a:cs typeface="Times New Roman"/>
              <a:sym typeface="Times New Roman"/>
            </a:endParaRPr>
          </a:p>
          <a:p>
            <a:pPr indent="0" lvl="0" marL="0" rtl="0" algn="l">
              <a:lnSpc>
                <a:spcPct val="100000"/>
              </a:lnSpc>
              <a:spcBef>
                <a:spcPts val="1485"/>
              </a:spcBef>
              <a:spcAft>
                <a:spcPts val="0"/>
              </a:spcAft>
              <a:buNone/>
            </a:pPr>
            <a:r>
              <a:t/>
            </a:r>
            <a:endParaRPr sz="2800">
              <a:latin typeface="Times New Roman"/>
              <a:ea typeface="Times New Roman"/>
              <a:cs typeface="Times New Roman"/>
              <a:sym typeface="Times New Roman"/>
            </a:endParaRPr>
          </a:p>
          <a:p>
            <a:pPr indent="-285750" lvl="0" marL="297815" marR="5080" rtl="0" algn="l">
              <a:lnSpc>
                <a:spcPct val="100000"/>
              </a:lnSpc>
              <a:spcBef>
                <a:spcPts val="0"/>
              </a:spcBef>
              <a:spcAft>
                <a:spcPts val="0"/>
              </a:spcAft>
              <a:buClr>
                <a:srgbClr val="3E3E3E"/>
              </a:buClr>
              <a:buSzPts val="2800"/>
              <a:buFont typeface="Noto Sans Symbols"/>
              <a:buChar char="▪"/>
            </a:pPr>
            <a:r>
              <a:rPr lang="en-US" sz="2800">
                <a:solidFill>
                  <a:srgbClr val="3E3E3E"/>
                </a:solidFill>
                <a:latin typeface="Times New Roman"/>
                <a:ea typeface="Times New Roman"/>
                <a:cs typeface="Times New Roman"/>
                <a:sym typeface="Times New Roman"/>
              </a:rPr>
              <a:t>This </a:t>
            </a:r>
            <a:r>
              <a:rPr lang="en-US" sz="2800">
                <a:solidFill>
                  <a:srgbClr val="FF0000"/>
                </a:solidFill>
                <a:latin typeface="Times New Roman"/>
                <a:ea typeface="Times New Roman"/>
                <a:cs typeface="Times New Roman"/>
                <a:sym typeface="Times New Roman"/>
              </a:rPr>
              <a:t>smoothing process </a:t>
            </a:r>
            <a:r>
              <a:rPr lang="en-US" sz="2800">
                <a:solidFill>
                  <a:srgbClr val="3E3E3E"/>
                </a:solidFill>
                <a:latin typeface="Times New Roman"/>
                <a:ea typeface="Times New Roman"/>
                <a:cs typeface="Times New Roman"/>
                <a:sym typeface="Times New Roman"/>
              </a:rPr>
              <a:t>is called </a:t>
            </a:r>
            <a:r>
              <a:rPr b="1" lang="en-US" sz="2800">
                <a:solidFill>
                  <a:srgbClr val="3E3E3E"/>
                </a:solidFill>
                <a:latin typeface="Times New Roman"/>
                <a:ea typeface="Times New Roman"/>
                <a:cs typeface="Times New Roman"/>
                <a:sym typeface="Times New Roman"/>
              </a:rPr>
              <a:t>subsampling </a:t>
            </a:r>
            <a:r>
              <a:rPr lang="en-US" sz="2800">
                <a:solidFill>
                  <a:srgbClr val="3E3E3E"/>
                </a:solidFill>
                <a:latin typeface="Times New Roman"/>
                <a:ea typeface="Times New Roman"/>
                <a:cs typeface="Times New Roman"/>
                <a:sym typeface="Times New Roman"/>
              </a:rPr>
              <a:t>and can 	be </a:t>
            </a:r>
            <a:r>
              <a:rPr b="1" lang="en-US" sz="2800">
                <a:solidFill>
                  <a:srgbClr val="3E3E3E"/>
                </a:solidFill>
                <a:latin typeface="Times New Roman"/>
                <a:ea typeface="Times New Roman"/>
                <a:cs typeface="Times New Roman"/>
                <a:sym typeface="Times New Roman"/>
              </a:rPr>
              <a:t>achieved </a:t>
            </a:r>
            <a:r>
              <a:rPr lang="en-US" sz="2800">
                <a:solidFill>
                  <a:srgbClr val="3E3E3E"/>
                </a:solidFill>
                <a:latin typeface="Times New Roman"/>
                <a:ea typeface="Times New Roman"/>
                <a:cs typeface="Times New Roman"/>
                <a:sym typeface="Times New Roman"/>
              </a:rPr>
              <a:t>by taking </a:t>
            </a:r>
            <a:r>
              <a:rPr b="1" lang="en-US" sz="2800">
                <a:solidFill>
                  <a:srgbClr val="3E3E3E"/>
                </a:solidFill>
                <a:latin typeface="Times New Roman"/>
                <a:ea typeface="Times New Roman"/>
                <a:cs typeface="Times New Roman"/>
                <a:sym typeface="Times New Roman"/>
              </a:rPr>
              <a:t>averages </a:t>
            </a:r>
            <a:r>
              <a:rPr lang="en-US" sz="2800">
                <a:solidFill>
                  <a:srgbClr val="3E3E3E"/>
                </a:solidFill>
                <a:latin typeface="Times New Roman"/>
                <a:ea typeface="Times New Roman"/>
                <a:cs typeface="Times New Roman"/>
                <a:sym typeface="Times New Roman"/>
              </a:rPr>
              <a:t>or taking the </a:t>
            </a:r>
            <a:r>
              <a:rPr b="1" lang="en-US" sz="2800">
                <a:solidFill>
                  <a:srgbClr val="3E3E3E"/>
                </a:solidFill>
                <a:latin typeface="Times New Roman"/>
                <a:ea typeface="Times New Roman"/>
                <a:cs typeface="Times New Roman"/>
                <a:sym typeface="Times New Roman"/>
              </a:rPr>
              <a:t>maximum </a:t>
            </a:r>
            <a:r>
              <a:rPr lang="en-US" sz="2800">
                <a:solidFill>
                  <a:srgbClr val="3E3E3E"/>
                </a:solidFill>
                <a:latin typeface="Times New Roman"/>
                <a:ea typeface="Times New Roman"/>
                <a:cs typeface="Times New Roman"/>
                <a:sym typeface="Times New Roman"/>
              </a:rPr>
              <a:t>over a </a:t>
            </a:r>
            <a:r>
              <a:rPr b="1" lang="en-US" sz="2800">
                <a:solidFill>
                  <a:srgbClr val="3E3E3E"/>
                </a:solidFill>
                <a:latin typeface="Times New Roman"/>
                <a:ea typeface="Times New Roman"/>
                <a:cs typeface="Times New Roman"/>
                <a:sym typeface="Times New Roman"/>
              </a:rPr>
              <a:t>sample </a:t>
            </a:r>
            <a:r>
              <a:rPr lang="en-US" sz="2800">
                <a:solidFill>
                  <a:srgbClr val="3E3E3E"/>
                </a:solidFill>
                <a:latin typeface="Times New Roman"/>
                <a:ea typeface="Times New Roman"/>
                <a:cs typeface="Times New Roman"/>
                <a:sym typeface="Times New Roman"/>
              </a:rPr>
              <a:t>of	the signal.</a:t>
            </a:r>
            <a:endParaRPr sz="2800">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42"/>
          <p:cNvSpPr txBox="1"/>
          <p:nvPr>
            <p:ph type="title"/>
          </p:nvPr>
        </p:nvSpPr>
        <p:spPr>
          <a:xfrm>
            <a:off x="78756" y="118625"/>
            <a:ext cx="4148700" cy="5670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Pooling Layer</a:t>
            </a:r>
            <a:endParaRPr/>
          </a:p>
        </p:txBody>
      </p:sp>
      <p:sp>
        <p:nvSpPr>
          <p:cNvPr id="358" name="Google Shape;358;p42"/>
          <p:cNvSpPr txBox="1"/>
          <p:nvPr/>
        </p:nvSpPr>
        <p:spPr>
          <a:xfrm>
            <a:off x="291775" y="958100"/>
            <a:ext cx="8479500" cy="3701100"/>
          </a:xfrm>
          <a:prstGeom prst="rect">
            <a:avLst/>
          </a:prstGeom>
          <a:noFill/>
          <a:ln>
            <a:noFill/>
          </a:ln>
        </p:spPr>
        <p:txBody>
          <a:bodyPr anchorCtr="0" anchor="t" bIns="0" lIns="0" spcFirstLastPara="1" rIns="0" wrap="square" tIns="13325">
            <a:spAutoFit/>
          </a:bodyPr>
          <a:lstStyle/>
          <a:p>
            <a:pPr indent="-286385" lvl="0" marL="299085" rtl="0" algn="l">
              <a:lnSpc>
                <a:spcPct val="100000"/>
              </a:lnSpc>
              <a:spcBef>
                <a:spcPts val="0"/>
              </a:spcBef>
              <a:spcAft>
                <a:spcPts val="0"/>
              </a:spcAft>
              <a:buClr>
                <a:srgbClr val="3E3E3E"/>
              </a:buClr>
              <a:buSzPts val="2600"/>
              <a:buFont typeface="Noto Sans Symbols"/>
              <a:buChar char="▪"/>
            </a:pPr>
            <a:r>
              <a:rPr lang="en-US" sz="2600">
                <a:solidFill>
                  <a:srgbClr val="3E3E3E"/>
                </a:solidFill>
                <a:latin typeface="Times New Roman"/>
                <a:ea typeface="Times New Roman"/>
                <a:cs typeface="Times New Roman"/>
                <a:sym typeface="Times New Roman"/>
              </a:rPr>
              <a:t>In this layer, we </a:t>
            </a:r>
            <a:r>
              <a:rPr b="1" lang="en-US" sz="2600">
                <a:solidFill>
                  <a:srgbClr val="FF0000"/>
                </a:solidFill>
                <a:latin typeface="Times New Roman"/>
                <a:ea typeface="Times New Roman"/>
                <a:cs typeface="Times New Roman"/>
                <a:sym typeface="Times New Roman"/>
              </a:rPr>
              <a:t>shrink </a:t>
            </a:r>
            <a:r>
              <a:rPr lang="en-US" sz="2600">
                <a:solidFill>
                  <a:srgbClr val="FF0000"/>
                </a:solidFill>
                <a:latin typeface="Times New Roman"/>
                <a:ea typeface="Times New Roman"/>
                <a:cs typeface="Times New Roman"/>
                <a:sym typeface="Times New Roman"/>
              </a:rPr>
              <a:t>the </a:t>
            </a:r>
            <a:r>
              <a:rPr b="1" lang="en-US" sz="2600">
                <a:solidFill>
                  <a:srgbClr val="FF0000"/>
                </a:solidFill>
                <a:latin typeface="Times New Roman"/>
                <a:ea typeface="Times New Roman"/>
                <a:cs typeface="Times New Roman"/>
                <a:sym typeface="Times New Roman"/>
              </a:rPr>
              <a:t>image </a:t>
            </a:r>
            <a:r>
              <a:rPr lang="en-US" sz="2600">
                <a:solidFill>
                  <a:srgbClr val="3E3E3E"/>
                </a:solidFill>
                <a:latin typeface="Times New Roman"/>
                <a:ea typeface="Times New Roman"/>
                <a:cs typeface="Times New Roman"/>
                <a:sym typeface="Times New Roman"/>
              </a:rPr>
              <a:t>stack into a </a:t>
            </a:r>
            <a:r>
              <a:rPr b="1" lang="en-US" sz="2600">
                <a:solidFill>
                  <a:srgbClr val="3E3E3E"/>
                </a:solidFill>
                <a:latin typeface="Times New Roman"/>
                <a:ea typeface="Times New Roman"/>
                <a:cs typeface="Times New Roman"/>
                <a:sym typeface="Times New Roman"/>
              </a:rPr>
              <a:t>smaller size</a:t>
            </a:r>
            <a:endParaRPr sz="2600">
              <a:latin typeface="Times New Roman"/>
              <a:ea typeface="Times New Roman"/>
              <a:cs typeface="Times New Roman"/>
              <a:sym typeface="Times New Roman"/>
            </a:endParaRPr>
          </a:p>
          <a:p>
            <a:pPr indent="0" lvl="0" marL="0" rtl="0" algn="l">
              <a:lnSpc>
                <a:spcPct val="100000"/>
              </a:lnSpc>
              <a:spcBef>
                <a:spcPts val="750"/>
              </a:spcBef>
              <a:spcAft>
                <a:spcPts val="0"/>
              </a:spcAft>
              <a:buSzPts val="2600"/>
              <a:buFont typeface="Noto Sans Symbols"/>
              <a:buNone/>
            </a:pPr>
            <a:r>
              <a:t/>
            </a:r>
            <a:endParaRPr sz="2600">
              <a:latin typeface="Times New Roman"/>
              <a:ea typeface="Times New Roman"/>
              <a:cs typeface="Times New Roman"/>
              <a:sym typeface="Times New Roman"/>
            </a:endParaRPr>
          </a:p>
          <a:p>
            <a:pPr indent="-286385" lvl="0" marL="299085" rtl="0" algn="l">
              <a:lnSpc>
                <a:spcPct val="100000"/>
              </a:lnSpc>
              <a:spcBef>
                <a:spcPts val="0"/>
              </a:spcBef>
              <a:spcAft>
                <a:spcPts val="0"/>
              </a:spcAft>
              <a:buClr>
                <a:srgbClr val="00B050"/>
              </a:buClr>
              <a:buSzPts val="2600"/>
              <a:buFont typeface="Noto Sans Symbols"/>
              <a:buChar char="▪"/>
            </a:pPr>
            <a:r>
              <a:rPr lang="en-US" sz="2600">
                <a:solidFill>
                  <a:srgbClr val="00B050"/>
                </a:solidFill>
                <a:latin typeface="Times New Roman"/>
                <a:ea typeface="Times New Roman"/>
                <a:cs typeface="Times New Roman"/>
                <a:sym typeface="Times New Roman"/>
              </a:rPr>
              <a:t>Pooling is done </a:t>
            </a:r>
            <a:r>
              <a:rPr b="1" lang="en-US" sz="2600">
                <a:solidFill>
                  <a:srgbClr val="00B050"/>
                </a:solidFill>
                <a:latin typeface="Times New Roman"/>
                <a:ea typeface="Times New Roman"/>
                <a:cs typeface="Times New Roman"/>
                <a:sym typeface="Times New Roman"/>
              </a:rPr>
              <a:t>after passing </a:t>
            </a:r>
            <a:r>
              <a:rPr lang="en-US" sz="2600">
                <a:solidFill>
                  <a:srgbClr val="00B050"/>
                </a:solidFill>
                <a:latin typeface="Times New Roman"/>
                <a:ea typeface="Times New Roman"/>
                <a:cs typeface="Times New Roman"/>
                <a:sym typeface="Times New Roman"/>
              </a:rPr>
              <a:t>through the </a:t>
            </a:r>
            <a:r>
              <a:rPr b="1" lang="en-US" sz="2600">
                <a:solidFill>
                  <a:srgbClr val="00B050"/>
                </a:solidFill>
                <a:latin typeface="Times New Roman"/>
                <a:ea typeface="Times New Roman"/>
                <a:cs typeface="Times New Roman"/>
                <a:sym typeface="Times New Roman"/>
              </a:rPr>
              <a:t>activation </a:t>
            </a:r>
            <a:r>
              <a:rPr lang="en-US" sz="2600">
                <a:solidFill>
                  <a:srgbClr val="00B050"/>
                </a:solidFill>
                <a:latin typeface="Times New Roman"/>
                <a:ea typeface="Times New Roman"/>
                <a:cs typeface="Times New Roman"/>
                <a:sym typeface="Times New Roman"/>
              </a:rPr>
              <a:t>layer</a:t>
            </a:r>
            <a:endParaRPr sz="2600">
              <a:latin typeface="Times New Roman"/>
              <a:ea typeface="Times New Roman"/>
              <a:cs typeface="Times New Roman"/>
              <a:sym typeface="Times New Roman"/>
            </a:endParaRPr>
          </a:p>
          <a:p>
            <a:pPr indent="0" lvl="0" marL="0" rtl="0" algn="l">
              <a:lnSpc>
                <a:spcPct val="100000"/>
              </a:lnSpc>
              <a:spcBef>
                <a:spcPts val="755"/>
              </a:spcBef>
              <a:spcAft>
                <a:spcPts val="0"/>
              </a:spcAft>
              <a:buSzPts val="2600"/>
              <a:buFont typeface="Noto Sans Symbols"/>
              <a:buNone/>
            </a:pPr>
            <a:r>
              <a:t/>
            </a:r>
            <a:endParaRPr sz="2600">
              <a:latin typeface="Times New Roman"/>
              <a:ea typeface="Times New Roman"/>
              <a:cs typeface="Times New Roman"/>
              <a:sym typeface="Times New Roman"/>
            </a:endParaRPr>
          </a:p>
          <a:p>
            <a:pPr indent="-286385" lvl="0" marL="299085" rtl="0" algn="l">
              <a:lnSpc>
                <a:spcPct val="100000"/>
              </a:lnSpc>
              <a:spcBef>
                <a:spcPts val="0"/>
              </a:spcBef>
              <a:spcAft>
                <a:spcPts val="0"/>
              </a:spcAft>
              <a:buClr>
                <a:srgbClr val="3E3E3E"/>
              </a:buClr>
              <a:buSzPts val="2600"/>
              <a:buFont typeface="Noto Sans Symbols"/>
              <a:buChar char="▪"/>
            </a:pPr>
            <a:r>
              <a:rPr lang="en-US" sz="2600">
                <a:solidFill>
                  <a:srgbClr val="3E3E3E"/>
                </a:solidFill>
                <a:latin typeface="Times New Roman"/>
                <a:ea typeface="Times New Roman"/>
                <a:cs typeface="Times New Roman"/>
                <a:sym typeface="Times New Roman"/>
              </a:rPr>
              <a:t>4 steps process:</a:t>
            </a:r>
            <a:endParaRPr sz="2600">
              <a:latin typeface="Times New Roman"/>
              <a:ea typeface="Times New Roman"/>
              <a:cs typeface="Times New Roman"/>
              <a:sym typeface="Times New Roman"/>
            </a:endParaRPr>
          </a:p>
          <a:p>
            <a:pPr indent="-287019" lvl="1" marL="756285" rtl="0" algn="l">
              <a:lnSpc>
                <a:spcPct val="100000"/>
              </a:lnSpc>
              <a:spcBef>
                <a:spcPts val="295"/>
              </a:spcBef>
              <a:spcAft>
                <a:spcPts val="0"/>
              </a:spcAft>
              <a:buSzPts val="2200"/>
              <a:buFont typeface="Arial"/>
              <a:buChar char="–"/>
            </a:pPr>
            <a:r>
              <a:rPr lang="en-US" sz="2200">
                <a:latin typeface="Times New Roman"/>
                <a:ea typeface="Times New Roman"/>
                <a:cs typeface="Times New Roman"/>
                <a:sym typeface="Times New Roman"/>
              </a:rPr>
              <a:t>Pick a </a:t>
            </a:r>
            <a:r>
              <a:rPr b="1" lang="en-US" sz="2200">
                <a:latin typeface="Times New Roman"/>
                <a:ea typeface="Times New Roman"/>
                <a:cs typeface="Times New Roman"/>
                <a:sym typeface="Times New Roman"/>
              </a:rPr>
              <a:t>window size </a:t>
            </a:r>
            <a:r>
              <a:rPr lang="en-US" sz="2200">
                <a:latin typeface="Times New Roman"/>
                <a:ea typeface="Times New Roman"/>
                <a:cs typeface="Times New Roman"/>
                <a:sym typeface="Times New Roman"/>
              </a:rPr>
              <a:t>(usually 2 or 3)</a:t>
            </a:r>
            <a:endParaRPr sz="2200">
              <a:latin typeface="Times New Roman"/>
              <a:ea typeface="Times New Roman"/>
              <a:cs typeface="Times New Roman"/>
              <a:sym typeface="Times New Roman"/>
            </a:endParaRPr>
          </a:p>
          <a:p>
            <a:pPr indent="-287019" lvl="1" marL="756285" rtl="0" algn="l">
              <a:lnSpc>
                <a:spcPct val="100000"/>
              </a:lnSpc>
              <a:spcBef>
                <a:spcPts val="260"/>
              </a:spcBef>
              <a:spcAft>
                <a:spcPts val="0"/>
              </a:spcAft>
              <a:buSzPts val="2200"/>
              <a:buFont typeface="Arial"/>
              <a:buChar char="–"/>
            </a:pPr>
            <a:r>
              <a:rPr lang="en-US" sz="2200">
                <a:latin typeface="Times New Roman"/>
                <a:ea typeface="Times New Roman"/>
                <a:cs typeface="Times New Roman"/>
                <a:sym typeface="Times New Roman"/>
              </a:rPr>
              <a:t>Pick a </a:t>
            </a:r>
            <a:r>
              <a:rPr b="1" lang="en-US" sz="2200">
                <a:latin typeface="Times New Roman"/>
                <a:ea typeface="Times New Roman"/>
                <a:cs typeface="Times New Roman"/>
                <a:sym typeface="Times New Roman"/>
              </a:rPr>
              <a:t>stride </a:t>
            </a:r>
            <a:r>
              <a:rPr lang="en-US" sz="2200">
                <a:latin typeface="Times New Roman"/>
                <a:ea typeface="Times New Roman"/>
                <a:cs typeface="Times New Roman"/>
                <a:sym typeface="Times New Roman"/>
              </a:rPr>
              <a:t>(usually 2)</a:t>
            </a:r>
            <a:endParaRPr sz="2200">
              <a:latin typeface="Times New Roman"/>
              <a:ea typeface="Times New Roman"/>
              <a:cs typeface="Times New Roman"/>
              <a:sym typeface="Times New Roman"/>
            </a:endParaRPr>
          </a:p>
          <a:p>
            <a:pPr indent="-287019" lvl="1" marL="756285" rtl="0" algn="l">
              <a:lnSpc>
                <a:spcPct val="100000"/>
              </a:lnSpc>
              <a:spcBef>
                <a:spcPts val="265"/>
              </a:spcBef>
              <a:spcAft>
                <a:spcPts val="0"/>
              </a:spcAft>
              <a:buSzPts val="2200"/>
              <a:buFont typeface="Arial"/>
              <a:buChar char="–"/>
            </a:pPr>
            <a:r>
              <a:rPr b="1" lang="en-US" sz="2200">
                <a:latin typeface="Times New Roman"/>
                <a:ea typeface="Times New Roman"/>
                <a:cs typeface="Times New Roman"/>
                <a:sym typeface="Times New Roman"/>
              </a:rPr>
              <a:t>Walk </a:t>
            </a:r>
            <a:r>
              <a:rPr lang="en-US" sz="2200">
                <a:latin typeface="Times New Roman"/>
                <a:ea typeface="Times New Roman"/>
                <a:cs typeface="Times New Roman"/>
                <a:sym typeface="Times New Roman"/>
              </a:rPr>
              <a:t>your window </a:t>
            </a:r>
            <a:r>
              <a:rPr b="1" lang="en-US" sz="2200">
                <a:latin typeface="Times New Roman"/>
                <a:ea typeface="Times New Roman"/>
                <a:cs typeface="Times New Roman"/>
                <a:sym typeface="Times New Roman"/>
              </a:rPr>
              <a:t>across </a:t>
            </a:r>
            <a:r>
              <a:rPr lang="en-US" sz="2200">
                <a:latin typeface="Times New Roman"/>
                <a:ea typeface="Times New Roman"/>
                <a:cs typeface="Times New Roman"/>
                <a:sym typeface="Times New Roman"/>
              </a:rPr>
              <a:t>your </a:t>
            </a:r>
            <a:r>
              <a:rPr b="1" lang="en-US" sz="2200">
                <a:latin typeface="Times New Roman"/>
                <a:ea typeface="Times New Roman"/>
                <a:cs typeface="Times New Roman"/>
                <a:sym typeface="Times New Roman"/>
              </a:rPr>
              <a:t>filtered </a:t>
            </a:r>
            <a:r>
              <a:rPr lang="en-US" sz="2200">
                <a:latin typeface="Times New Roman"/>
                <a:ea typeface="Times New Roman"/>
                <a:cs typeface="Times New Roman"/>
                <a:sym typeface="Times New Roman"/>
              </a:rPr>
              <a:t>images</a:t>
            </a:r>
            <a:endParaRPr sz="2200">
              <a:latin typeface="Times New Roman"/>
              <a:ea typeface="Times New Roman"/>
              <a:cs typeface="Times New Roman"/>
              <a:sym typeface="Times New Roman"/>
            </a:endParaRPr>
          </a:p>
          <a:p>
            <a:pPr indent="-287019" lvl="1" marL="756285" rtl="0" algn="l">
              <a:lnSpc>
                <a:spcPct val="100000"/>
              </a:lnSpc>
              <a:spcBef>
                <a:spcPts val="265"/>
              </a:spcBef>
              <a:spcAft>
                <a:spcPts val="0"/>
              </a:spcAft>
              <a:buSzPts val="2200"/>
              <a:buFont typeface="Arial"/>
              <a:buChar char="–"/>
            </a:pPr>
            <a:r>
              <a:rPr lang="en-US" sz="2200">
                <a:latin typeface="Times New Roman"/>
                <a:ea typeface="Times New Roman"/>
                <a:cs typeface="Times New Roman"/>
                <a:sym typeface="Times New Roman"/>
              </a:rPr>
              <a:t>From each </a:t>
            </a:r>
            <a:r>
              <a:rPr b="1" lang="en-US" sz="2200">
                <a:latin typeface="Times New Roman"/>
                <a:ea typeface="Times New Roman"/>
                <a:cs typeface="Times New Roman"/>
                <a:sym typeface="Times New Roman"/>
              </a:rPr>
              <a:t>window, </a:t>
            </a:r>
            <a:r>
              <a:rPr lang="en-US" sz="2200">
                <a:latin typeface="Times New Roman"/>
                <a:ea typeface="Times New Roman"/>
                <a:cs typeface="Times New Roman"/>
                <a:sym typeface="Times New Roman"/>
              </a:rPr>
              <a:t>take the </a:t>
            </a:r>
            <a:r>
              <a:rPr b="1" lang="en-US" sz="2200">
                <a:latin typeface="Times New Roman"/>
                <a:ea typeface="Times New Roman"/>
                <a:cs typeface="Times New Roman"/>
                <a:sym typeface="Times New Roman"/>
              </a:rPr>
              <a:t>maximum </a:t>
            </a:r>
            <a:r>
              <a:rPr lang="en-US" sz="2200">
                <a:latin typeface="Times New Roman"/>
                <a:ea typeface="Times New Roman"/>
                <a:cs typeface="Times New Roman"/>
                <a:sym typeface="Times New Roman"/>
              </a:rPr>
              <a:t>value</a:t>
            </a:r>
            <a:endParaRPr sz="2200">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43"/>
          <p:cNvSpPr txBox="1"/>
          <p:nvPr>
            <p:ph type="title"/>
          </p:nvPr>
        </p:nvSpPr>
        <p:spPr>
          <a:xfrm>
            <a:off x="78739" y="118636"/>
            <a:ext cx="8986520" cy="574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Pooling Layer – Example</a:t>
            </a:r>
            <a:endParaRPr/>
          </a:p>
        </p:txBody>
      </p:sp>
      <p:sp>
        <p:nvSpPr>
          <p:cNvPr id="364" name="Google Shape;364;p43"/>
          <p:cNvSpPr txBox="1"/>
          <p:nvPr/>
        </p:nvSpPr>
        <p:spPr>
          <a:xfrm>
            <a:off x="789174" y="987075"/>
            <a:ext cx="8113800" cy="998700"/>
          </a:xfrm>
          <a:prstGeom prst="rect">
            <a:avLst/>
          </a:prstGeom>
          <a:noFill/>
          <a:ln>
            <a:noFill/>
          </a:ln>
        </p:spPr>
        <p:txBody>
          <a:bodyPr anchorCtr="0" anchor="t" bIns="0" lIns="0" spcFirstLastPara="1" rIns="0" wrap="square" tIns="13325">
            <a:spAutoFit/>
          </a:bodyPr>
          <a:lstStyle/>
          <a:p>
            <a:pPr indent="-287019" lvl="0" marL="299085" marR="5080" rtl="0" algn="l">
              <a:lnSpc>
                <a:spcPct val="100000"/>
              </a:lnSpc>
              <a:spcBef>
                <a:spcPts val="0"/>
              </a:spcBef>
              <a:spcAft>
                <a:spcPts val="0"/>
              </a:spcAft>
              <a:buClr>
                <a:srgbClr val="3E3E3E"/>
              </a:buClr>
              <a:buSzPts val="3200"/>
              <a:buFont typeface="Noto Sans Symbols"/>
              <a:buChar char="▪"/>
            </a:pPr>
            <a:r>
              <a:rPr lang="en-US" sz="3200">
                <a:solidFill>
                  <a:srgbClr val="3E3E3E"/>
                </a:solidFill>
                <a:latin typeface="Times New Roman"/>
                <a:ea typeface="Times New Roman"/>
                <a:cs typeface="Times New Roman"/>
                <a:sym typeface="Times New Roman"/>
              </a:rPr>
              <a:t>Consider performing pooling with a window size of	 2 and stride being 2 as well.</a:t>
            </a:r>
            <a:endParaRPr sz="3200">
              <a:latin typeface="Times New Roman"/>
              <a:ea typeface="Times New Roman"/>
              <a:cs typeface="Times New Roman"/>
              <a:sym typeface="Times New Roman"/>
            </a:endParaRPr>
          </a:p>
        </p:txBody>
      </p:sp>
      <p:grpSp>
        <p:nvGrpSpPr>
          <p:cNvPr id="365" name="Google Shape;365;p43"/>
          <p:cNvGrpSpPr/>
          <p:nvPr/>
        </p:nvGrpSpPr>
        <p:grpSpPr>
          <a:xfrm>
            <a:off x="1051401" y="2146846"/>
            <a:ext cx="7851412" cy="2760256"/>
            <a:chOff x="1051401" y="2146846"/>
            <a:chExt cx="7851412" cy="2760256"/>
          </a:xfrm>
        </p:grpSpPr>
        <p:pic>
          <p:nvPicPr>
            <p:cNvPr id="366" name="Google Shape;366;p43"/>
            <p:cNvPicPr preferRelativeResize="0"/>
            <p:nvPr/>
          </p:nvPicPr>
          <p:blipFill rotWithShape="1">
            <a:blip r:embed="rId3">
              <a:alphaModFix/>
            </a:blip>
            <a:srcRect b="0" l="0" r="0" t="0"/>
            <a:stretch/>
          </p:blipFill>
          <p:spPr>
            <a:xfrm>
              <a:off x="1051401" y="2146846"/>
              <a:ext cx="7851412" cy="2760256"/>
            </a:xfrm>
            <a:prstGeom prst="rect">
              <a:avLst/>
            </a:prstGeom>
            <a:noFill/>
            <a:ln>
              <a:noFill/>
            </a:ln>
          </p:spPr>
        </p:pic>
        <p:sp>
          <p:nvSpPr>
            <p:cNvPr id="367" name="Google Shape;367;p43"/>
            <p:cNvSpPr/>
            <p:nvPr/>
          </p:nvSpPr>
          <p:spPr>
            <a:xfrm>
              <a:off x="4657682" y="3435850"/>
              <a:ext cx="1224280" cy="648335"/>
            </a:xfrm>
            <a:custGeom>
              <a:rect b="b" l="l" r="r" t="t"/>
              <a:pathLst>
                <a:path extrusionOk="0" h="648335" w="1224279">
                  <a:moveTo>
                    <a:pt x="900099" y="0"/>
                  </a:moveTo>
                  <a:lnTo>
                    <a:pt x="900099" y="162013"/>
                  </a:lnTo>
                  <a:lnTo>
                    <a:pt x="0" y="162013"/>
                  </a:lnTo>
                  <a:lnTo>
                    <a:pt x="0" y="486054"/>
                  </a:lnTo>
                  <a:lnTo>
                    <a:pt x="900099" y="486054"/>
                  </a:lnTo>
                  <a:lnTo>
                    <a:pt x="900099" y="648068"/>
                  </a:lnTo>
                  <a:lnTo>
                    <a:pt x="1224140" y="324027"/>
                  </a:lnTo>
                  <a:lnTo>
                    <a:pt x="900099" y="0"/>
                  </a:lnTo>
                  <a:close/>
                </a:path>
              </a:pathLst>
            </a:custGeom>
            <a:solidFill>
              <a:srgbClr val="C6D9F1"/>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68" name="Google Shape;368;p43"/>
            <p:cNvSpPr/>
            <p:nvPr/>
          </p:nvSpPr>
          <p:spPr>
            <a:xfrm>
              <a:off x="4657682" y="3435850"/>
              <a:ext cx="1224280" cy="648335"/>
            </a:xfrm>
            <a:custGeom>
              <a:rect b="b" l="l" r="r" t="t"/>
              <a:pathLst>
                <a:path extrusionOk="0" h="648335" w="1224279">
                  <a:moveTo>
                    <a:pt x="0" y="162013"/>
                  </a:moveTo>
                  <a:lnTo>
                    <a:pt x="900099" y="162013"/>
                  </a:lnTo>
                  <a:lnTo>
                    <a:pt x="900099" y="0"/>
                  </a:lnTo>
                  <a:lnTo>
                    <a:pt x="1224140" y="324027"/>
                  </a:lnTo>
                  <a:lnTo>
                    <a:pt x="900099" y="648068"/>
                  </a:lnTo>
                  <a:lnTo>
                    <a:pt x="900099" y="486054"/>
                  </a:lnTo>
                  <a:lnTo>
                    <a:pt x="0" y="486054"/>
                  </a:lnTo>
                  <a:lnTo>
                    <a:pt x="0" y="162013"/>
                  </a:lnTo>
                  <a:close/>
                </a:path>
              </a:pathLst>
            </a:custGeom>
            <a:noFill/>
            <a:ln cap="flat" cmpd="sng" w="25400">
              <a:solidFill>
                <a:srgbClr val="385D8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44"/>
          <p:cNvSpPr txBox="1"/>
          <p:nvPr>
            <p:ph type="title"/>
          </p:nvPr>
        </p:nvSpPr>
        <p:spPr>
          <a:xfrm>
            <a:off x="78739" y="118636"/>
            <a:ext cx="8986520" cy="574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Pooling Layer – Example</a:t>
            </a:r>
            <a:endParaRPr/>
          </a:p>
        </p:txBody>
      </p:sp>
      <p:sp>
        <p:nvSpPr>
          <p:cNvPr id="374" name="Google Shape;374;p44"/>
          <p:cNvSpPr txBox="1"/>
          <p:nvPr/>
        </p:nvSpPr>
        <p:spPr>
          <a:xfrm>
            <a:off x="789173" y="987075"/>
            <a:ext cx="7753800" cy="998700"/>
          </a:xfrm>
          <a:prstGeom prst="rect">
            <a:avLst/>
          </a:prstGeom>
          <a:noFill/>
          <a:ln>
            <a:noFill/>
          </a:ln>
        </p:spPr>
        <p:txBody>
          <a:bodyPr anchorCtr="0" anchor="t" bIns="0" lIns="0" spcFirstLastPara="1" rIns="0" wrap="square" tIns="13325">
            <a:spAutoFit/>
          </a:bodyPr>
          <a:lstStyle/>
          <a:p>
            <a:pPr indent="-287019" lvl="0" marL="299085" marR="5080" rtl="0" algn="l">
              <a:lnSpc>
                <a:spcPct val="100000"/>
              </a:lnSpc>
              <a:spcBef>
                <a:spcPts val="0"/>
              </a:spcBef>
              <a:spcAft>
                <a:spcPts val="0"/>
              </a:spcAft>
              <a:buClr>
                <a:srgbClr val="3E3E3E"/>
              </a:buClr>
              <a:buSzPts val="3200"/>
              <a:buFont typeface="Noto Sans Symbols"/>
              <a:buChar char="▪"/>
            </a:pPr>
            <a:r>
              <a:rPr lang="en-US" sz="3200">
                <a:solidFill>
                  <a:srgbClr val="3E3E3E"/>
                </a:solidFill>
                <a:latin typeface="Times New Roman"/>
                <a:ea typeface="Times New Roman"/>
                <a:cs typeface="Times New Roman"/>
                <a:sym typeface="Times New Roman"/>
              </a:rPr>
              <a:t>But we need to </a:t>
            </a:r>
            <a:r>
              <a:rPr b="1" lang="en-US" sz="3200">
                <a:solidFill>
                  <a:srgbClr val="FF0000"/>
                </a:solidFill>
                <a:latin typeface="Times New Roman"/>
                <a:ea typeface="Times New Roman"/>
                <a:cs typeface="Times New Roman"/>
                <a:sym typeface="Times New Roman"/>
              </a:rPr>
              <a:t>move </a:t>
            </a:r>
            <a:r>
              <a:rPr lang="en-US" sz="3200">
                <a:solidFill>
                  <a:srgbClr val="FF0000"/>
                </a:solidFill>
                <a:latin typeface="Times New Roman"/>
                <a:ea typeface="Times New Roman"/>
                <a:cs typeface="Times New Roman"/>
                <a:sym typeface="Times New Roman"/>
              </a:rPr>
              <a:t>the </a:t>
            </a:r>
            <a:r>
              <a:rPr b="1" lang="en-US" sz="3200">
                <a:solidFill>
                  <a:srgbClr val="FF0000"/>
                </a:solidFill>
                <a:latin typeface="Times New Roman"/>
                <a:ea typeface="Times New Roman"/>
                <a:cs typeface="Times New Roman"/>
                <a:sym typeface="Times New Roman"/>
              </a:rPr>
              <a:t>window across </a:t>
            </a:r>
            <a:r>
              <a:rPr lang="en-US" sz="3200">
                <a:solidFill>
                  <a:srgbClr val="FF0000"/>
                </a:solidFill>
                <a:latin typeface="Times New Roman"/>
                <a:ea typeface="Times New Roman"/>
                <a:cs typeface="Times New Roman"/>
                <a:sym typeface="Times New Roman"/>
              </a:rPr>
              <a:t>the </a:t>
            </a:r>
            <a:r>
              <a:rPr b="1" lang="en-US" sz="3200">
                <a:solidFill>
                  <a:srgbClr val="FF0000"/>
                </a:solidFill>
                <a:latin typeface="Times New Roman"/>
                <a:ea typeface="Times New Roman"/>
                <a:cs typeface="Times New Roman"/>
                <a:sym typeface="Times New Roman"/>
              </a:rPr>
              <a:t>entire </a:t>
            </a:r>
            <a:r>
              <a:rPr lang="en-US" sz="3200">
                <a:solidFill>
                  <a:srgbClr val="FF0000"/>
                </a:solidFill>
                <a:latin typeface="Times New Roman"/>
                <a:ea typeface="Times New Roman"/>
                <a:cs typeface="Times New Roman"/>
                <a:sym typeface="Times New Roman"/>
              </a:rPr>
              <a:t>image</a:t>
            </a:r>
            <a:endParaRPr sz="3200">
              <a:latin typeface="Times New Roman"/>
              <a:ea typeface="Times New Roman"/>
              <a:cs typeface="Times New Roman"/>
              <a:sym typeface="Times New Roman"/>
            </a:endParaRPr>
          </a:p>
        </p:txBody>
      </p:sp>
      <p:grpSp>
        <p:nvGrpSpPr>
          <p:cNvPr id="375" name="Google Shape;375;p44"/>
          <p:cNvGrpSpPr/>
          <p:nvPr/>
        </p:nvGrpSpPr>
        <p:grpSpPr>
          <a:xfrm>
            <a:off x="1043609" y="2283717"/>
            <a:ext cx="7233373" cy="2544237"/>
            <a:chOff x="1043609" y="2283717"/>
            <a:chExt cx="7233373" cy="2544237"/>
          </a:xfrm>
        </p:grpSpPr>
        <p:pic>
          <p:nvPicPr>
            <p:cNvPr id="376" name="Google Shape;376;p44"/>
            <p:cNvPicPr preferRelativeResize="0"/>
            <p:nvPr/>
          </p:nvPicPr>
          <p:blipFill rotWithShape="1">
            <a:blip r:embed="rId3">
              <a:alphaModFix/>
            </a:blip>
            <a:srcRect b="0" l="0" r="0" t="0"/>
            <a:stretch/>
          </p:blipFill>
          <p:spPr>
            <a:xfrm>
              <a:off x="1043609" y="2283717"/>
              <a:ext cx="7233373" cy="2544237"/>
            </a:xfrm>
            <a:prstGeom prst="rect">
              <a:avLst/>
            </a:prstGeom>
            <a:noFill/>
            <a:ln>
              <a:noFill/>
            </a:ln>
          </p:spPr>
        </p:pic>
        <p:sp>
          <p:nvSpPr>
            <p:cNvPr id="377" name="Google Shape;377;p44"/>
            <p:cNvSpPr/>
            <p:nvPr/>
          </p:nvSpPr>
          <p:spPr>
            <a:xfrm>
              <a:off x="3995935" y="3231805"/>
              <a:ext cx="1656714" cy="648335"/>
            </a:xfrm>
            <a:custGeom>
              <a:rect b="b" l="l" r="r" t="t"/>
              <a:pathLst>
                <a:path extrusionOk="0" h="648335" w="1656714">
                  <a:moveTo>
                    <a:pt x="1332153" y="0"/>
                  </a:moveTo>
                  <a:lnTo>
                    <a:pt x="1332153" y="162013"/>
                  </a:lnTo>
                  <a:lnTo>
                    <a:pt x="0" y="162013"/>
                  </a:lnTo>
                  <a:lnTo>
                    <a:pt x="0" y="486054"/>
                  </a:lnTo>
                  <a:lnTo>
                    <a:pt x="1332153" y="486054"/>
                  </a:lnTo>
                  <a:lnTo>
                    <a:pt x="1332153" y="648068"/>
                  </a:lnTo>
                  <a:lnTo>
                    <a:pt x="1656181" y="324027"/>
                  </a:lnTo>
                  <a:lnTo>
                    <a:pt x="1332153" y="0"/>
                  </a:lnTo>
                  <a:close/>
                </a:path>
              </a:pathLst>
            </a:custGeom>
            <a:solidFill>
              <a:srgbClr val="C6D9F1"/>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78" name="Google Shape;378;p44"/>
            <p:cNvSpPr/>
            <p:nvPr/>
          </p:nvSpPr>
          <p:spPr>
            <a:xfrm>
              <a:off x="3995935" y="3231805"/>
              <a:ext cx="1656714" cy="648335"/>
            </a:xfrm>
            <a:custGeom>
              <a:rect b="b" l="l" r="r" t="t"/>
              <a:pathLst>
                <a:path extrusionOk="0" h="648335" w="1656714">
                  <a:moveTo>
                    <a:pt x="0" y="162013"/>
                  </a:moveTo>
                  <a:lnTo>
                    <a:pt x="1332153" y="162013"/>
                  </a:lnTo>
                  <a:lnTo>
                    <a:pt x="1332153" y="0"/>
                  </a:lnTo>
                  <a:lnTo>
                    <a:pt x="1656181" y="324027"/>
                  </a:lnTo>
                  <a:lnTo>
                    <a:pt x="1332153" y="648068"/>
                  </a:lnTo>
                  <a:lnTo>
                    <a:pt x="1332153" y="486054"/>
                  </a:lnTo>
                  <a:lnTo>
                    <a:pt x="0" y="486054"/>
                  </a:lnTo>
                  <a:lnTo>
                    <a:pt x="0" y="162013"/>
                  </a:lnTo>
                  <a:close/>
                </a:path>
              </a:pathLst>
            </a:custGeom>
            <a:noFill/>
            <a:ln cap="flat" cmpd="sng" w="25400">
              <a:solidFill>
                <a:srgbClr val="385D8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45"/>
          <p:cNvSpPr txBox="1"/>
          <p:nvPr>
            <p:ph type="title"/>
          </p:nvPr>
        </p:nvSpPr>
        <p:spPr>
          <a:xfrm>
            <a:off x="78739" y="118636"/>
            <a:ext cx="8986520" cy="574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Pooling Layer – Example</a:t>
            </a:r>
            <a:endParaRPr/>
          </a:p>
        </p:txBody>
      </p:sp>
      <p:sp>
        <p:nvSpPr>
          <p:cNvPr id="384" name="Google Shape;384;p45"/>
          <p:cNvSpPr txBox="1"/>
          <p:nvPr/>
        </p:nvSpPr>
        <p:spPr>
          <a:xfrm>
            <a:off x="257850" y="942875"/>
            <a:ext cx="8753400" cy="530400"/>
          </a:xfrm>
          <a:prstGeom prst="rect">
            <a:avLst/>
          </a:prstGeom>
          <a:noFill/>
          <a:ln>
            <a:noFill/>
          </a:ln>
        </p:spPr>
        <p:txBody>
          <a:bodyPr anchorCtr="0" anchor="t" bIns="0" lIns="0" spcFirstLastPara="1" rIns="0" wrap="square" tIns="67925">
            <a:spAutoFit/>
          </a:bodyPr>
          <a:lstStyle/>
          <a:p>
            <a:pPr indent="-274319" lvl="0" marL="299085" marR="5080" rtl="0" algn="l">
              <a:lnSpc>
                <a:spcPct val="108124"/>
              </a:lnSpc>
              <a:spcBef>
                <a:spcPts val="0"/>
              </a:spcBef>
              <a:spcAft>
                <a:spcPts val="0"/>
              </a:spcAft>
              <a:buClr>
                <a:srgbClr val="3E3E3E"/>
              </a:buClr>
              <a:buSzPts val="3000"/>
              <a:buFont typeface="Noto Sans Symbols"/>
              <a:buChar char="▪"/>
            </a:pPr>
            <a:r>
              <a:rPr b="1" lang="en-US" sz="3000">
                <a:solidFill>
                  <a:srgbClr val="3E3E3E"/>
                </a:solidFill>
                <a:latin typeface="Times New Roman"/>
                <a:ea typeface="Times New Roman"/>
                <a:cs typeface="Times New Roman"/>
                <a:sym typeface="Times New Roman"/>
              </a:rPr>
              <a:t>Process need to repeated for all the filtered images</a:t>
            </a:r>
            <a:r>
              <a:rPr lang="en-US" sz="3000">
                <a:solidFill>
                  <a:srgbClr val="3E3E3E"/>
                </a:solidFill>
                <a:latin typeface="Times New Roman"/>
                <a:ea typeface="Times New Roman"/>
                <a:cs typeface="Times New Roman"/>
                <a:sym typeface="Times New Roman"/>
              </a:rPr>
              <a:t>.</a:t>
            </a:r>
            <a:endParaRPr sz="3000">
              <a:latin typeface="Times New Roman"/>
              <a:ea typeface="Times New Roman"/>
              <a:cs typeface="Times New Roman"/>
              <a:sym typeface="Times New Roman"/>
            </a:endParaRPr>
          </a:p>
        </p:txBody>
      </p:sp>
      <p:grpSp>
        <p:nvGrpSpPr>
          <p:cNvPr id="385" name="Google Shape;385;p45"/>
          <p:cNvGrpSpPr/>
          <p:nvPr/>
        </p:nvGrpSpPr>
        <p:grpSpPr>
          <a:xfrm>
            <a:off x="2411768" y="1851672"/>
            <a:ext cx="5203637" cy="3242511"/>
            <a:chOff x="2411768" y="1851672"/>
            <a:chExt cx="5203637" cy="3242511"/>
          </a:xfrm>
        </p:grpSpPr>
        <p:pic>
          <p:nvPicPr>
            <p:cNvPr id="386" name="Google Shape;386;p45"/>
            <p:cNvPicPr preferRelativeResize="0"/>
            <p:nvPr/>
          </p:nvPicPr>
          <p:blipFill rotWithShape="1">
            <a:blip r:embed="rId3">
              <a:alphaModFix/>
            </a:blip>
            <a:srcRect b="0" l="0" r="0" t="0"/>
            <a:stretch/>
          </p:blipFill>
          <p:spPr>
            <a:xfrm>
              <a:off x="2411768" y="1851672"/>
              <a:ext cx="5203637" cy="3223053"/>
            </a:xfrm>
            <a:prstGeom prst="rect">
              <a:avLst/>
            </a:prstGeom>
            <a:noFill/>
            <a:ln>
              <a:noFill/>
            </a:ln>
          </p:spPr>
        </p:pic>
        <p:sp>
          <p:nvSpPr>
            <p:cNvPr id="387" name="Google Shape;387;p45"/>
            <p:cNvSpPr/>
            <p:nvPr/>
          </p:nvSpPr>
          <p:spPr>
            <a:xfrm>
              <a:off x="3893799" y="2001660"/>
              <a:ext cx="1656714" cy="1149985"/>
            </a:xfrm>
            <a:custGeom>
              <a:rect b="b" l="l" r="r" t="t"/>
              <a:pathLst>
                <a:path extrusionOk="0" h="1149985" w="1656714">
                  <a:moveTo>
                    <a:pt x="1081493" y="0"/>
                  </a:moveTo>
                  <a:lnTo>
                    <a:pt x="1081493" y="287350"/>
                  </a:lnTo>
                  <a:lnTo>
                    <a:pt x="0" y="287350"/>
                  </a:lnTo>
                  <a:lnTo>
                    <a:pt x="0" y="862037"/>
                  </a:lnTo>
                  <a:lnTo>
                    <a:pt x="1081493" y="862037"/>
                  </a:lnTo>
                  <a:lnTo>
                    <a:pt x="1081493" y="1149388"/>
                  </a:lnTo>
                  <a:lnTo>
                    <a:pt x="1656181" y="574700"/>
                  </a:lnTo>
                  <a:lnTo>
                    <a:pt x="1081493" y="0"/>
                  </a:lnTo>
                  <a:close/>
                </a:path>
              </a:pathLst>
            </a:custGeom>
            <a:solidFill>
              <a:srgbClr val="C6D9F1"/>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88" name="Google Shape;388;p45"/>
            <p:cNvSpPr/>
            <p:nvPr/>
          </p:nvSpPr>
          <p:spPr>
            <a:xfrm>
              <a:off x="3893799" y="2001660"/>
              <a:ext cx="1656714" cy="1149985"/>
            </a:xfrm>
            <a:custGeom>
              <a:rect b="b" l="l" r="r" t="t"/>
              <a:pathLst>
                <a:path extrusionOk="0" h="1149985" w="1656714">
                  <a:moveTo>
                    <a:pt x="0" y="287350"/>
                  </a:moveTo>
                  <a:lnTo>
                    <a:pt x="1081493" y="287350"/>
                  </a:lnTo>
                  <a:lnTo>
                    <a:pt x="1081493" y="0"/>
                  </a:lnTo>
                  <a:lnTo>
                    <a:pt x="1656181" y="574700"/>
                  </a:lnTo>
                  <a:lnTo>
                    <a:pt x="1081493" y="1149388"/>
                  </a:lnTo>
                  <a:lnTo>
                    <a:pt x="1081493" y="862037"/>
                  </a:lnTo>
                  <a:lnTo>
                    <a:pt x="0" y="862037"/>
                  </a:lnTo>
                  <a:lnTo>
                    <a:pt x="0" y="287350"/>
                  </a:lnTo>
                  <a:close/>
                </a:path>
              </a:pathLst>
            </a:custGeom>
            <a:noFill/>
            <a:ln cap="flat" cmpd="sng" w="25400">
              <a:solidFill>
                <a:srgbClr val="385D8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89" name="Google Shape;389;p45"/>
            <p:cNvSpPr/>
            <p:nvPr/>
          </p:nvSpPr>
          <p:spPr>
            <a:xfrm>
              <a:off x="3995935" y="2998132"/>
              <a:ext cx="1800225" cy="1149985"/>
            </a:xfrm>
            <a:custGeom>
              <a:rect b="b" l="l" r="r" t="t"/>
              <a:pathLst>
                <a:path extrusionOk="0" h="1149985" w="1800225">
                  <a:moveTo>
                    <a:pt x="1225511" y="0"/>
                  </a:moveTo>
                  <a:lnTo>
                    <a:pt x="1225511" y="287350"/>
                  </a:lnTo>
                  <a:lnTo>
                    <a:pt x="0" y="287350"/>
                  </a:lnTo>
                  <a:lnTo>
                    <a:pt x="0" y="862037"/>
                  </a:lnTo>
                  <a:lnTo>
                    <a:pt x="1225511" y="862037"/>
                  </a:lnTo>
                  <a:lnTo>
                    <a:pt x="1225511" y="1149388"/>
                  </a:lnTo>
                  <a:lnTo>
                    <a:pt x="1800199" y="574700"/>
                  </a:lnTo>
                  <a:lnTo>
                    <a:pt x="1225511" y="0"/>
                  </a:lnTo>
                  <a:close/>
                </a:path>
              </a:pathLst>
            </a:custGeom>
            <a:solidFill>
              <a:srgbClr val="C6D9F1"/>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90" name="Google Shape;390;p45"/>
            <p:cNvSpPr/>
            <p:nvPr/>
          </p:nvSpPr>
          <p:spPr>
            <a:xfrm>
              <a:off x="3995935" y="2998132"/>
              <a:ext cx="1800225" cy="1149985"/>
            </a:xfrm>
            <a:custGeom>
              <a:rect b="b" l="l" r="r" t="t"/>
              <a:pathLst>
                <a:path extrusionOk="0" h="1149985" w="1800225">
                  <a:moveTo>
                    <a:pt x="0" y="287350"/>
                  </a:moveTo>
                  <a:lnTo>
                    <a:pt x="1225511" y="287350"/>
                  </a:lnTo>
                  <a:lnTo>
                    <a:pt x="1225511" y="0"/>
                  </a:lnTo>
                  <a:lnTo>
                    <a:pt x="1800199" y="574700"/>
                  </a:lnTo>
                  <a:lnTo>
                    <a:pt x="1225511" y="1149388"/>
                  </a:lnTo>
                  <a:lnTo>
                    <a:pt x="1225511" y="862037"/>
                  </a:lnTo>
                  <a:lnTo>
                    <a:pt x="0" y="862037"/>
                  </a:lnTo>
                  <a:lnTo>
                    <a:pt x="0" y="287350"/>
                  </a:lnTo>
                  <a:close/>
                </a:path>
              </a:pathLst>
            </a:custGeom>
            <a:noFill/>
            <a:ln cap="flat" cmpd="sng" w="25400">
              <a:solidFill>
                <a:srgbClr val="385D8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91" name="Google Shape;391;p45"/>
            <p:cNvSpPr/>
            <p:nvPr/>
          </p:nvSpPr>
          <p:spPr>
            <a:xfrm>
              <a:off x="4211960" y="3944198"/>
              <a:ext cx="1944370" cy="1149985"/>
            </a:xfrm>
            <a:custGeom>
              <a:rect b="b" l="l" r="r" t="t"/>
              <a:pathLst>
                <a:path extrusionOk="0" h="1149985" w="1944370">
                  <a:moveTo>
                    <a:pt x="1369529" y="0"/>
                  </a:moveTo>
                  <a:lnTo>
                    <a:pt x="1369529" y="287350"/>
                  </a:lnTo>
                  <a:lnTo>
                    <a:pt x="0" y="287350"/>
                  </a:lnTo>
                  <a:lnTo>
                    <a:pt x="0" y="862037"/>
                  </a:lnTo>
                  <a:lnTo>
                    <a:pt x="1369529" y="862037"/>
                  </a:lnTo>
                  <a:lnTo>
                    <a:pt x="1369529" y="1149388"/>
                  </a:lnTo>
                  <a:lnTo>
                    <a:pt x="1944217" y="574700"/>
                  </a:lnTo>
                  <a:lnTo>
                    <a:pt x="1369529" y="0"/>
                  </a:lnTo>
                  <a:close/>
                </a:path>
              </a:pathLst>
            </a:custGeom>
            <a:solidFill>
              <a:srgbClr val="C6D9F1"/>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92" name="Google Shape;392;p45"/>
            <p:cNvSpPr/>
            <p:nvPr/>
          </p:nvSpPr>
          <p:spPr>
            <a:xfrm>
              <a:off x="4211960" y="3944198"/>
              <a:ext cx="1944370" cy="1149985"/>
            </a:xfrm>
            <a:custGeom>
              <a:rect b="b" l="l" r="r" t="t"/>
              <a:pathLst>
                <a:path extrusionOk="0" h="1149985" w="1944370">
                  <a:moveTo>
                    <a:pt x="0" y="287350"/>
                  </a:moveTo>
                  <a:lnTo>
                    <a:pt x="1369529" y="287350"/>
                  </a:lnTo>
                  <a:lnTo>
                    <a:pt x="1369529" y="0"/>
                  </a:lnTo>
                  <a:lnTo>
                    <a:pt x="1944217" y="574700"/>
                  </a:lnTo>
                  <a:lnTo>
                    <a:pt x="1369529" y="1149388"/>
                  </a:lnTo>
                  <a:lnTo>
                    <a:pt x="1369529" y="862037"/>
                  </a:lnTo>
                  <a:lnTo>
                    <a:pt x="0" y="862037"/>
                  </a:lnTo>
                  <a:lnTo>
                    <a:pt x="0" y="287350"/>
                  </a:lnTo>
                  <a:close/>
                </a:path>
              </a:pathLst>
            </a:custGeom>
            <a:noFill/>
            <a:ln cap="flat" cmpd="sng" w="25400">
              <a:solidFill>
                <a:srgbClr val="385D8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46"/>
          <p:cNvSpPr txBox="1"/>
          <p:nvPr>
            <p:ph type="title"/>
          </p:nvPr>
        </p:nvSpPr>
        <p:spPr>
          <a:xfrm>
            <a:off x="78739" y="118636"/>
            <a:ext cx="8986520" cy="574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Why pooling layer?</a:t>
            </a:r>
            <a:endParaRPr/>
          </a:p>
        </p:txBody>
      </p:sp>
      <p:sp>
        <p:nvSpPr>
          <p:cNvPr id="398" name="Google Shape;398;p46"/>
          <p:cNvSpPr txBox="1"/>
          <p:nvPr/>
        </p:nvSpPr>
        <p:spPr>
          <a:xfrm>
            <a:off x="251075" y="955825"/>
            <a:ext cx="8766900" cy="4163400"/>
          </a:xfrm>
          <a:prstGeom prst="rect">
            <a:avLst/>
          </a:prstGeom>
          <a:noFill/>
          <a:ln>
            <a:noFill/>
          </a:ln>
        </p:spPr>
        <p:txBody>
          <a:bodyPr anchorCtr="0" anchor="t" bIns="0" lIns="0" spcFirstLastPara="1" rIns="0" wrap="square" tIns="38725">
            <a:spAutoFit/>
          </a:bodyPr>
          <a:lstStyle/>
          <a:p>
            <a:pPr indent="-286385" lvl="0" marL="299085" rtl="0" algn="l">
              <a:lnSpc>
                <a:spcPct val="100000"/>
              </a:lnSpc>
              <a:spcBef>
                <a:spcPts val="0"/>
              </a:spcBef>
              <a:spcAft>
                <a:spcPts val="0"/>
              </a:spcAft>
              <a:buClr>
                <a:srgbClr val="3E3E3E"/>
              </a:buClr>
              <a:buSzPts val="1600"/>
              <a:buFont typeface="Noto Sans Symbols"/>
              <a:buChar char="▪"/>
            </a:pPr>
            <a:r>
              <a:rPr lang="en-US" sz="1600">
                <a:solidFill>
                  <a:srgbClr val="3E3E3E"/>
                </a:solidFill>
                <a:latin typeface="Times New Roman"/>
                <a:ea typeface="Times New Roman"/>
                <a:cs typeface="Times New Roman"/>
                <a:sym typeface="Times New Roman"/>
              </a:rPr>
              <a:t>Feature Extraction:</a:t>
            </a:r>
            <a:endParaRPr sz="1600">
              <a:latin typeface="Times New Roman"/>
              <a:ea typeface="Times New Roman"/>
              <a:cs typeface="Times New Roman"/>
              <a:sym typeface="Times New Roman"/>
            </a:endParaRPr>
          </a:p>
          <a:p>
            <a:pPr indent="-287019" lvl="1" marL="756285" marR="52069" rtl="0" algn="l">
              <a:lnSpc>
                <a:spcPct val="107857"/>
              </a:lnSpc>
              <a:spcBef>
                <a:spcPts val="380"/>
              </a:spcBef>
              <a:spcAft>
                <a:spcPts val="0"/>
              </a:spcAft>
              <a:buSzPts val="1400"/>
              <a:buFont typeface="Arial"/>
              <a:buChar char="–"/>
            </a:pPr>
            <a:r>
              <a:rPr lang="en-US" sz="1400">
                <a:latin typeface="Times New Roman"/>
                <a:ea typeface="Times New Roman"/>
                <a:cs typeface="Times New Roman"/>
                <a:sym typeface="Times New Roman"/>
              </a:rPr>
              <a:t>By summarizing features in localized regions (e.g., through maximum or average pooling), the pooling layer captures the most important or dominant features, enhancing the network's ability to focus on key patterns.</a:t>
            </a:r>
            <a:endParaRPr sz="1400">
              <a:latin typeface="Times New Roman"/>
              <a:ea typeface="Times New Roman"/>
              <a:cs typeface="Times New Roman"/>
              <a:sym typeface="Times New Roman"/>
            </a:endParaRPr>
          </a:p>
          <a:p>
            <a:pPr indent="0" lvl="1" marL="0" rtl="0" algn="l">
              <a:lnSpc>
                <a:spcPct val="100000"/>
              </a:lnSpc>
              <a:spcBef>
                <a:spcPts val="390"/>
              </a:spcBef>
              <a:spcAft>
                <a:spcPts val="0"/>
              </a:spcAft>
              <a:buSzPts val="1400"/>
              <a:buFont typeface="Arial"/>
              <a:buNone/>
            </a:pPr>
            <a:r>
              <a:t/>
            </a:r>
            <a:endParaRPr sz="1400">
              <a:latin typeface="Times New Roman"/>
              <a:ea typeface="Times New Roman"/>
              <a:cs typeface="Times New Roman"/>
              <a:sym typeface="Times New Roman"/>
            </a:endParaRPr>
          </a:p>
          <a:p>
            <a:pPr indent="-286385" lvl="0" marL="299085" rtl="0" algn="l">
              <a:lnSpc>
                <a:spcPct val="100000"/>
              </a:lnSpc>
              <a:spcBef>
                <a:spcPts val="0"/>
              </a:spcBef>
              <a:spcAft>
                <a:spcPts val="0"/>
              </a:spcAft>
              <a:buClr>
                <a:srgbClr val="3E3E3E"/>
              </a:buClr>
              <a:buSzPts val="1600"/>
              <a:buFont typeface="Noto Sans Symbols"/>
              <a:buChar char="▪"/>
            </a:pPr>
            <a:r>
              <a:rPr lang="en-US" sz="1600">
                <a:solidFill>
                  <a:srgbClr val="3E3E3E"/>
                </a:solidFill>
                <a:latin typeface="Times New Roman"/>
                <a:ea typeface="Times New Roman"/>
                <a:cs typeface="Times New Roman"/>
                <a:sym typeface="Times New Roman"/>
              </a:rPr>
              <a:t>Dimensionality Reduction:</a:t>
            </a:r>
            <a:endParaRPr sz="1600">
              <a:latin typeface="Times New Roman"/>
              <a:ea typeface="Times New Roman"/>
              <a:cs typeface="Times New Roman"/>
              <a:sym typeface="Times New Roman"/>
            </a:endParaRPr>
          </a:p>
          <a:p>
            <a:pPr indent="-287019" lvl="1" marL="756285" marR="613410" rtl="0" algn="l">
              <a:lnSpc>
                <a:spcPct val="107857"/>
              </a:lnSpc>
              <a:spcBef>
                <a:spcPts val="380"/>
              </a:spcBef>
              <a:spcAft>
                <a:spcPts val="0"/>
              </a:spcAft>
              <a:buSzPts val="1400"/>
              <a:buFont typeface="Arial"/>
              <a:buChar char="–"/>
            </a:pPr>
            <a:r>
              <a:rPr lang="en-US" sz="1400">
                <a:latin typeface="Times New Roman"/>
                <a:ea typeface="Times New Roman"/>
                <a:cs typeface="Times New Roman"/>
                <a:sym typeface="Times New Roman"/>
              </a:rPr>
              <a:t>Pooling reduces the spatial dimensions (height and width) of feature maps, which decreases the computational complexity and memory usage.</a:t>
            </a:r>
            <a:endParaRPr sz="1400">
              <a:latin typeface="Times New Roman"/>
              <a:ea typeface="Times New Roman"/>
              <a:cs typeface="Times New Roman"/>
              <a:sym typeface="Times New Roman"/>
            </a:endParaRPr>
          </a:p>
          <a:p>
            <a:pPr indent="-287019" lvl="1" marL="756285" rtl="0" algn="l">
              <a:lnSpc>
                <a:spcPct val="100000"/>
              </a:lnSpc>
              <a:spcBef>
                <a:spcPts val="150"/>
              </a:spcBef>
              <a:spcAft>
                <a:spcPts val="0"/>
              </a:spcAft>
              <a:buSzPts val="1400"/>
              <a:buFont typeface="Arial"/>
              <a:buChar char="–"/>
            </a:pPr>
            <a:r>
              <a:rPr lang="en-US" sz="1400">
                <a:latin typeface="Times New Roman"/>
                <a:ea typeface="Times New Roman"/>
                <a:cs typeface="Times New Roman"/>
                <a:sym typeface="Times New Roman"/>
              </a:rPr>
              <a:t>This makes the model more efficient, especially when dealing with large datasets.</a:t>
            </a:r>
            <a:endParaRPr sz="1400">
              <a:latin typeface="Times New Roman"/>
              <a:ea typeface="Times New Roman"/>
              <a:cs typeface="Times New Roman"/>
              <a:sym typeface="Times New Roman"/>
            </a:endParaRPr>
          </a:p>
          <a:p>
            <a:pPr indent="0" lvl="1" marL="0" rtl="0" algn="l">
              <a:lnSpc>
                <a:spcPct val="100000"/>
              </a:lnSpc>
              <a:spcBef>
                <a:spcPts val="675"/>
              </a:spcBef>
              <a:spcAft>
                <a:spcPts val="0"/>
              </a:spcAft>
              <a:buSzPts val="1400"/>
              <a:buFont typeface="Arial"/>
              <a:buNone/>
            </a:pPr>
            <a:r>
              <a:t/>
            </a:r>
            <a:endParaRPr sz="1400">
              <a:latin typeface="Times New Roman"/>
              <a:ea typeface="Times New Roman"/>
              <a:cs typeface="Times New Roman"/>
              <a:sym typeface="Times New Roman"/>
            </a:endParaRPr>
          </a:p>
          <a:p>
            <a:pPr indent="-286385" lvl="0" marL="299085" rtl="0" algn="l">
              <a:lnSpc>
                <a:spcPct val="100000"/>
              </a:lnSpc>
              <a:spcBef>
                <a:spcPts val="0"/>
              </a:spcBef>
              <a:spcAft>
                <a:spcPts val="0"/>
              </a:spcAft>
              <a:buClr>
                <a:srgbClr val="3E3E3E"/>
              </a:buClr>
              <a:buSzPts val="1600"/>
              <a:buFont typeface="Noto Sans Symbols"/>
              <a:buChar char="▪"/>
            </a:pPr>
            <a:r>
              <a:rPr lang="en-US" sz="1600">
                <a:solidFill>
                  <a:srgbClr val="3E3E3E"/>
                </a:solidFill>
                <a:latin typeface="Times New Roman"/>
                <a:ea typeface="Times New Roman"/>
                <a:cs typeface="Times New Roman"/>
                <a:sym typeface="Times New Roman"/>
              </a:rPr>
              <a:t>Translation Invariance:</a:t>
            </a:r>
            <a:endParaRPr sz="1600">
              <a:latin typeface="Times New Roman"/>
              <a:ea typeface="Times New Roman"/>
              <a:cs typeface="Times New Roman"/>
              <a:sym typeface="Times New Roman"/>
            </a:endParaRPr>
          </a:p>
          <a:p>
            <a:pPr indent="-287019" lvl="1" marL="756285" marR="5080" rtl="0" algn="l">
              <a:lnSpc>
                <a:spcPct val="107857"/>
              </a:lnSpc>
              <a:spcBef>
                <a:spcPts val="380"/>
              </a:spcBef>
              <a:spcAft>
                <a:spcPts val="0"/>
              </a:spcAft>
              <a:buSzPts val="1400"/>
              <a:buFont typeface="Arial"/>
              <a:buChar char="–"/>
            </a:pPr>
            <a:r>
              <a:rPr lang="en-US" sz="1400">
                <a:latin typeface="Times New Roman"/>
                <a:ea typeface="Times New Roman"/>
                <a:cs typeface="Times New Roman"/>
                <a:sym typeface="Times New Roman"/>
              </a:rPr>
              <a:t>Pooling provides a degree of robustness to small shifts or distortions in the input image. For example, if an object in an image moves slightly, pooling ensures that the network still detects the object correctly.</a:t>
            </a:r>
            <a:endParaRPr sz="1400">
              <a:latin typeface="Times New Roman"/>
              <a:ea typeface="Times New Roman"/>
              <a:cs typeface="Times New Roman"/>
              <a:sym typeface="Times New Roman"/>
            </a:endParaRPr>
          </a:p>
          <a:p>
            <a:pPr indent="0" lvl="1" marL="0" rtl="0" algn="l">
              <a:lnSpc>
                <a:spcPct val="100000"/>
              </a:lnSpc>
              <a:spcBef>
                <a:spcPts val="650"/>
              </a:spcBef>
              <a:spcAft>
                <a:spcPts val="0"/>
              </a:spcAft>
              <a:buSzPts val="1400"/>
              <a:buFont typeface="Arial"/>
              <a:buNone/>
            </a:pPr>
            <a:r>
              <a:t/>
            </a:r>
            <a:endParaRPr sz="1400">
              <a:latin typeface="Times New Roman"/>
              <a:ea typeface="Times New Roman"/>
              <a:cs typeface="Times New Roman"/>
              <a:sym typeface="Times New Roman"/>
            </a:endParaRPr>
          </a:p>
          <a:p>
            <a:pPr indent="-286385" lvl="0" marL="299085" rtl="0" algn="l">
              <a:lnSpc>
                <a:spcPct val="100000"/>
              </a:lnSpc>
              <a:spcBef>
                <a:spcPts val="5"/>
              </a:spcBef>
              <a:spcAft>
                <a:spcPts val="0"/>
              </a:spcAft>
              <a:buClr>
                <a:srgbClr val="3E3E3E"/>
              </a:buClr>
              <a:buSzPts val="1600"/>
              <a:buFont typeface="Noto Sans Symbols"/>
              <a:buChar char="▪"/>
            </a:pPr>
            <a:r>
              <a:rPr lang="en-US" sz="1600">
                <a:solidFill>
                  <a:srgbClr val="3E3E3E"/>
                </a:solidFill>
                <a:latin typeface="Times New Roman"/>
                <a:ea typeface="Times New Roman"/>
                <a:cs typeface="Times New Roman"/>
                <a:sym typeface="Times New Roman"/>
              </a:rPr>
              <a:t>Preventing Overfitting:</a:t>
            </a:r>
            <a:endParaRPr sz="1600">
              <a:latin typeface="Times New Roman"/>
              <a:ea typeface="Times New Roman"/>
              <a:cs typeface="Times New Roman"/>
              <a:sym typeface="Times New Roman"/>
            </a:endParaRPr>
          </a:p>
          <a:p>
            <a:pPr indent="-287019" lvl="1" marL="756285" marR="48895" rtl="0" algn="l">
              <a:lnSpc>
                <a:spcPct val="107857"/>
              </a:lnSpc>
              <a:spcBef>
                <a:spcPts val="380"/>
              </a:spcBef>
              <a:spcAft>
                <a:spcPts val="0"/>
              </a:spcAft>
              <a:buSzPts val="1400"/>
              <a:buFont typeface="Arial"/>
              <a:buChar char="–"/>
            </a:pPr>
            <a:r>
              <a:rPr lang="en-US" sz="1400">
                <a:latin typeface="Times New Roman"/>
                <a:ea typeface="Times New Roman"/>
                <a:cs typeface="Times New Roman"/>
                <a:sym typeface="Times New Roman"/>
              </a:rPr>
              <a:t>By reducing the number of parameters in the network, pooling acts as a form of </a:t>
            </a:r>
            <a:r>
              <a:rPr lang="en-US" sz="1400">
                <a:solidFill>
                  <a:srgbClr val="FF0000"/>
                </a:solidFill>
                <a:latin typeface="Times New Roman"/>
                <a:ea typeface="Times New Roman"/>
                <a:cs typeface="Times New Roman"/>
                <a:sym typeface="Times New Roman"/>
              </a:rPr>
              <a:t>regularization</a:t>
            </a:r>
            <a:r>
              <a:rPr lang="en-US" sz="1400">
                <a:latin typeface="Times New Roman"/>
                <a:ea typeface="Times New Roman"/>
                <a:cs typeface="Times New Roman"/>
                <a:sym typeface="Times New Roman"/>
              </a:rPr>
              <a:t>, helping to mitigate overfitting.</a:t>
            </a:r>
            <a:endParaRPr sz="1400">
              <a:latin typeface="Times New Roman"/>
              <a:ea typeface="Times New Roman"/>
              <a:cs typeface="Times New Roman"/>
              <a:sym typeface="Times New Roman"/>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47"/>
          <p:cNvSpPr txBox="1"/>
          <p:nvPr>
            <p:ph type="title"/>
          </p:nvPr>
        </p:nvSpPr>
        <p:spPr>
          <a:xfrm>
            <a:off x="78753" y="118625"/>
            <a:ext cx="6116400" cy="5670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Stacking Up The Layers</a:t>
            </a:r>
            <a:endParaRPr/>
          </a:p>
        </p:txBody>
      </p:sp>
      <p:sp>
        <p:nvSpPr>
          <p:cNvPr id="404" name="Google Shape;404;p47"/>
          <p:cNvSpPr txBox="1"/>
          <p:nvPr/>
        </p:nvSpPr>
        <p:spPr>
          <a:xfrm>
            <a:off x="244275" y="924575"/>
            <a:ext cx="8739900" cy="1156200"/>
          </a:xfrm>
          <a:prstGeom prst="rect">
            <a:avLst/>
          </a:prstGeom>
          <a:noFill/>
          <a:ln>
            <a:noFill/>
          </a:ln>
        </p:spPr>
        <p:txBody>
          <a:bodyPr anchorCtr="0" anchor="t" bIns="0" lIns="0" spcFirstLastPara="1" rIns="0" wrap="square" tIns="92075">
            <a:spAutoFit/>
          </a:bodyPr>
          <a:lstStyle/>
          <a:p>
            <a:pPr indent="-267969" lvl="0" marL="299085" marR="5080" rtl="0" algn="l">
              <a:lnSpc>
                <a:spcPct val="95925"/>
              </a:lnSpc>
              <a:spcBef>
                <a:spcPts val="0"/>
              </a:spcBef>
              <a:spcAft>
                <a:spcPts val="0"/>
              </a:spcAft>
              <a:buClr>
                <a:srgbClr val="3E3E3E"/>
              </a:buClr>
              <a:buSzPts val="2400"/>
              <a:buFont typeface="Noto Sans Symbols"/>
              <a:buChar char="▪"/>
            </a:pPr>
            <a:r>
              <a:rPr lang="en-US" sz="2400">
                <a:solidFill>
                  <a:srgbClr val="3E3E3E"/>
                </a:solidFill>
                <a:latin typeface="Times New Roman"/>
                <a:ea typeface="Times New Roman"/>
                <a:cs typeface="Times New Roman"/>
                <a:sym typeface="Times New Roman"/>
              </a:rPr>
              <a:t>So, to get the </a:t>
            </a:r>
            <a:r>
              <a:rPr b="1" lang="en-US" sz="2400">
                <a:solidFill>
                  <a:srgbClr val="3E3E3E"/>
                </a:solidFill>
                <a:latin typeface="Times New Roman"/>
                <a:ea typeface="Times New Roman"/>
                <a:cs typeface="Times New Roman"/>
                <a:sym typeface="Times New Roman"/>
              </a:rPr>
              <a:t>time-frame </a:t>
            </a:r>
            <a:r>
              <a:rPr lang="en-US" sz="2400">
                <a:solidFill>
                  <a:srgbClr val="3E3E3E"/>
                </a:solidFill>
                <a:latin typeface="Times New Roman"/>
                <a:ea typeface="Times New Roman"/>
                <a:cs typeface="Times New Roman"/>
                <a:sym typeface="Times New Roman"/>
              </a:rPr>
              <a:t>in one picture we are here with a </a:t>
            </a:r>
            <a:r>
              <a:rPr b="1" lang="en-US" sz="2400">
                <a:solidFill>
                  <a:srgbClr val="3E3E3E"/>
                </a:solidFill>
                <a:latin typeface="Times New Roman"/>
                <a:ea typeface="Times New Roman"/>
                <a:cs typeface="Times New Roman"/>
                <a:sym typeface="Times New Roman"/>
              </a:rPr>
              <a:t>4</a:t>
            </a:r>
            <a:r>
              <a:rPr b="1" lang="en-US" sz="2400">
                <a:solidFill>
                  <a:srgbClr val="3E3E3E"/>
                </a:solidFill>
                <a:latin typeface="Arial"/>
                <a:ea typeface="Arial"/>
                <a:cs typeface="Arial"/>
                <a:sym typeface="Arial"/>
              </a:rPr>
              <a:t>×</a:t>
            </a:r>
            <a:r>
              <a:rPr b="1" lang="en-US" sz="2400">
                <a:solidFill>
                  <a:srgbClr val="3E3E3E"/>
                </a:solidFill>
                <a:latin typeface="Times New Roman"/>
                <a:ea typeface="Times New Roman"/>
                <a:cs typeface="Times New Roman"/>
                <a:sym typeface="Times New Roman"/>
              </a:rPr>
              <a:t>4 </a:t>
            </a:r>
            <a:r>
              <a:rPr lang="en-US" sz="2400">
                <a:solidFill>
                  <a:srgbClr val="3E3E3E"/>
                </a:solidFill>
                <a:latin typeface="Times New Roman"/>
                <a:ea typeface="Times New Roman"/>
                <a:cs typeface="Times New Roman"/>
                <a:sym typeface="Times New Roman"/>
              </a:rPr>
              <a:t>matrix from a </a:t>
            </a:r>
            <a:r>
              <a:rPr b="1" lang="en-US" sz="2400">
                <a:solidFill>
                  <a:srgbClr val="3E3E3E"/>
                </a:solidFill>
                <a:latin typeface="Times New Roman"/>
                <a:ea typeface="Times New Roman"/>
                <a:cs typeface="Times New Roman"/>
                <a:sym typeface="Times New Roman"/>
              </a:rPr>
              <a:t>7</a:t>
            </a:r>
            <a:r>
              <a:rPr b="1" lang="en-US" sz="2400">
                <a:solidFill>
                  <a:srgbClr val="3E3E3E"/>
                </a:solidFill>
                <a:latin typeface="Arial"/>
                <a:ea typeface="Arial"/>
                <a:cs typeface="Arial"/>
                <a:sym typeface="Arial"/>
              </a:rPr>
              <a:t>×</a:t>
            </a:r>
            <a:r>
              <a:rPr b="1" lang="en-US" sz="2400">
                <a:solidFill>
                  <a:srgbClr val="3E3E3E"/>
                </a:solidFill>
                <a:latin typeface="Times New Roman"/>
                <a:ea typeface="Times New Roman"/>
                <a:cs typeface="Times New Roman"/>
                <a:sym typeface="Times New Roman"/>
              </a:rPr>
              <a:t>7 </a:t>
            </a:r>
            <a:r>
              <a:rPr lang="en-US" sz="2400">
                <a:solidFill>
                  <a:srgbClr val="3E3E3E"/>
                </a:solidFill>
                <a:latin typeface="Times New Roman"/>
                <a:ea typeface="Times New Roman"/>
                <a:cs typeface="Times New Roman"/>
                <a:sym typeface="Times New Roman"/>
              </a:rPr>
              <a:t>matrix after passing the input through 3 layers – </a:t>
            </a:r>
            <a:r>
              <a:rPr b="1" lang="en-US" sz="2400">
                <a:solidFill>
                  <a:srgbClr val="3E3E3E"/>
                </a:solidFill>
                <a:latin typeface="Times New Roman"/>
                <a:ea typeface="Times New Roman"/>
                <a:cs typeface="Times New Roman"/>
                <a:sym typeface="Times New Roman"/>
              </a:rPr>
              <a:t>Convolution, ReLU </a:t>
            </a:r>
            <a:r>
              <a:rPr lang="en-US" sz="2400">
                <a:solidFill>
                  <a:srgbClr val="3E3E3E"/>
                </a:solidFill>
                <a:latin typeface="Times New Roman"/>
                <a:ea typeface="Times New Roman"/>
                <a:cs typeface="Times New Roman"/>
                <a:sym typeface="Times New Roman"/>
              </a:rPr>
              <a:t>and </a:t>
            </a:r>
            <a:r>
              <a:rPr b="1" lang="en-US" sz="2400">
                <a:solidFill>
                  <a:srgbClr val="3E3E3E"/>
                </a:solidFill>
                <a:latin typeface="Times New Roman"/>
                <a:ea typeface="Times New Roman"/>
                <a:cs typeface="Times New Roman"/>
                <a:sym typeface="Times New Roman"/>
              </a:rPr>
              <a:t>Pooling </a:t>
            </a:r>
            <a:r>
              <a:rPr lang="en-US" sz="2400">
                <a:solidFill>
                  <a:srgbClr val="3E3E3E"/>
                </a:solidFill>
                <a:latin typeface="Times New Roman"/>
                <a:ea typeface="Times New Roman"/>
                <a:cs typeface="Times New Roman"/>
                <a:sym typeface="Times New Roman"/>
              </a:rPr>
              <a:t>as shown below:</a:t>
            </a:r>
            <a:endParaRPr sz="2400">
              <a:latin typeface="Times New Roman"/>
              <a:ea typeface="Times New Roman"/>
              <a:cs typeface="Times New Roman"/>
              <a:sym typeface="Times New Roman"/>
            </a:endParaRPr>
          </a:p>
        </p:txBody>
      </p:sp>
      <p:pic>
        <p:nvPicPr>
          <p:cNvPr id="405" name="Google Shape;405;p47"/>
          <p:cNvPicPr preferRelativeResize="0"/>
          <p:nvPr/>
        </p:nvPicPr>
        <p:blipFill rotWithShape="1">
          <a:blip r:embed="rId3">
            <a:alphaModFix/>
          </a:blip>
          <a:srcRect b="0" l="0" r="0" t="0"/>
          <a:stretch/>
        </p:blipFill>
        <p:spPr>
          <a:xfrm>
            <a:off x="1344777" y="2139708"/>
            <a:ext cx="6454444" cy="2962764"/>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48"/>
          <p:cNvSpPr txBox="1"/>
          <p:nvPr>
            <p:ph type="title"/>
          </p:nvPr>
        </p:nvSpPr>
        <p:spPr>
          <a:xfrm>
            <a:off x="78753" y="118625"/>
            <a:ext cx="5892600" cy="5670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Stacking Up The Layers</a:t>
            </a:r>
            <a:endParaRPr/>
          </a:p>
        </p:txBody>
      </p:sp>
      <p:sp>
        <p:nvSpPr>
          <p:cNvPr id="411" name="Google Shape;411;p48"/>
          <p:cNvSpPr txBox="1"/>
          <p:nvPr/>
        </p:nvSpPr>
        <p:spPr>
          <a:xfrm>
            <a:off x="203575" y="932200"/>
            <a:ext cx="8794200" cy="1615200"/>
          </a:xfrm>
          <a:prstGeom prst="rect">
            <a:avLst/>
          </a:prstGeom>
          <a:noFill/>
          <a:ln>
            <a:noFill/>
          </a:ln>
        </p:spPr>
        <p:txBody>
          <a:bodyPr anchorCtr="0" anchor="t" bIns="0" lIns="0" spcFirstLastPara="1" rIns="0" wrap="square" tIns="85725">
            <a:spAutoFit/>
          </a:bodyPr>
          <a:lstStyle/>
          <a:p>
            <a:pPr indent="-280669" lvl="0" marL="299085" marR="275590" rtl="0" algn="l">
              <a:lnSpc>
                <a:spcPct val="96000"/>
              </a:lnSpc>
              <a:spcBef>
                <a:spcPts val="0"/>
              </a:spcBef>
              <a:spcAft>
                <a:spcPts val="0"/>
              </a:spcAft>
              <a:buClr>
                <a:srgbClr val="00B050"/>
              </a:buClr>
              <a:buSzPts val="2400"/>
              <a:buFont typeface="Noto Sans Symbols"/>
              <a:buChar char="▪"/>
            </a:pPr>
            <a:r>
              <a:rPr lang="en-US" sz="2400">
                <a:solidFill>
                  <a:srgbClr val="00B050"/>
                </a:solidFill>
                <a:latin typeface="Times New Roman"/>
                <a:ea typeface="Times New Roman"/>
                <a:cs typeface="Times New Roman"/>
                <a:sym typeface="Times New Roman"/>
              </a:rPr>
              <a:t>Can we </a:t>
            </a:r>
            <a:r>
              <a:rPr b="1" lang="en-US" sz="2400">
                <a:solidFill>
                  <a:srgbClr val="00B050"/>
                </a:solidFill>
                <a:latin typeface="Times New Roman"/>
                <a:ea typeface="Times New Roman"/>
                <a:cs typeface="Times New Roman"/>
                <a:sym typeface="Times New Roman"/>
              </a:rPr>
              <a:t>further reduce </a:t>
            </a:r>
            <a:r>
              <a:rPr lang="en-US" sz="2400">
                <a:solidFill>
                  <a:srgbClr val="00B050"/>
                </a:solidFill>
                <a:latin typeface="Times New Roman"/>
                <a:ea typeface="Times New Roman"/>
                <a:cs typeface="Times New Roman"/>
                <a:sym typeface="Times New Roman"/>
              </a:rPr>
              <a:t>the image from </a:t>
            </a:r>
            <a:r>
              <a:rPr b="1" lang="en-US" sz="2400">
                <a:solidFill>
                  <a:srgbClr val="00B050"/>
                </a:solidFill>
                <a:latin typeface="Times New Roman"/>
                <a:ea typeface="Times New Roman"/>
                <a:cs typeface="Times New Roman"/>
                <a:sym typeface="Times New Roman"/>
              </a:rPr>
              <a:t>4</a:t>
            </a:r>
            <a:r>
              <a:rPr b="1" lang="en-US" sz="2400">
                <a:solidFill>
                  <a:srgbClr val="00B050"/>
                </a:solidFill>
                <a:latin typeface="Arial"/>
                <a:ea typeface="Arial"/>
                <a:cs typeface="Arial"/>
                <a:sym typeface="Arial"/>
              </a:rPr>
              <a:t>×</a:t>
            </a:r>
            <a:r>
              <a:rPr b="1" lang="en-US" sz="2400">
                <a:solidFill>
                  <a:srgbClr val="00B050"/>
                </a:solidFill>
                <a:latin typeface="Times New Roman"/>
                <a:ea typeface="Times New Roman"/>
                <a:cs typeface="Times New Roman"/>
                <a:sym typeface="Times New Roman"/>
              </a:rPr>
              <a:t>4 </a:t>
            </a:r>
            <a:r>
              <a:rPr lang="en-US" sz="2400">
                <a:solidFill>
                  <a:srgbClr val="00B050"/>
                </a:solidFill>
                <a:latin typeface="Times New Roman"/>
                <a:ea typeface="Times New Roman"/>
                <a:cs typeface="Times New Roman"/>
                <a:sym typeface="Times New Roman"/>
              </a:rPr>
              <a:t>to </a:t>
            </a:r>
            <a:r>
              <a:rPr b="1" lang="en-US" sz="2400">
                <a:solidFill>
                  <a:srgbClr val="00B050"/>
                </a:solidFill>
                <a:latin typeface="Times New Roman"/>
                <a:ea typeface="Times New Roman"/>
                <a:cs typeface="Times New Roman"/>
                <a:sym typeface="Times New Roman"/>
              </a:rPr>
              <a:t>something lesser?</a:t>
            </a:r>
            <a:endParaRPr sz="2400">
              <a:latin typeface="Times New Roman"/>
              <a:ea typeface="Times New Roman"/>
              <a:cs typeface="Times New Roman"/>
              <a:sym typeface="Times New Roman"/>
            </a:endParaRPr>
          </a:p>
          <a:p>
            <a:pPr indent="0" lvl="0" marL="469265" rtl="0" algn="l">
              <a:lnSpc>
                <a:spcPct val="119772"/>
              </a:lnSpc>
              <a:spcBef>
                <a:spcPts val="30"/>
              </a:spcBef>
              <a:spcAft>
                <a:spcPts val="0"/>
              </a:spcAft>
              <a:buNone/>
            </a:pPr>
            <a:r>
              <a:rPr lang="en-US" sz="2100">
                <a:latin typeface="Arial"/>
                <a:ea typeface="Arial"/>
                <a:cs typeface="Arial"/>
                <a:sym typeface="Arial"/>
              </a:rPr>
              <a:t>–	</a:t>
            </a:r>
            <a:r>
              <a:rPr b="1" lang="en-US" sz="2100">
                <a:latin typeface="Times New Roman"/>
                <a:ea typeface="Times New Roman"/>
                <a:cs typeface="Times New Roman"/>
                <a:sym typeface="Times New Roman"/>
              </a:rPr>
              <a:t>Yes, we can! </a:t>
            </a:r>
            <a:r>
              <a:rPr lang="en-US" sz="2100">
                <a:latin typeface="Times New Roman"/>
                <a:ea typeface="Times New Roman"/>
                <a:cs typeface="Times New Roman"/>
                <a:sym typeface="Times New Roman"/>
              </a:rPr>
              <a:t>(By repeating the previous operations once more)</a:t>
            </a:r>
            <a:endParaRPr sz="2100">
              <a:latin typeface="Times New Roman"/>
              <a:ea typeface="Times New Roman"/>
              <a:cs typeface="Times New Roman"/>
              <a:sym typeface="Times New Roman"/>
            </a:endParaRPr>
          </a:p>
          <a:p>
            <a:pPr indent="-280669" lvl="0" marL="299085" marR="5080" rtl="0" algn="l">
              <a:lnSpc>
                <a:spcPct val="96000"/>
              </a:lnSpc>
              <a:spcBef>
                <a:spcPts val="575"/>
              </a:spcBef>
              <a:spcAft>
                <a:spcPts val="0"/>
              </a:spcAft>
              <a:buClr>
                <a:srgbClr val="3E3E3E"/>
              </a:buClr>
              <a:buSzPts val="2400"/>
              <a:buFont typeface="Noto Sans Symbols"/>
              <a:buChar char="▪"/>
            </a:pPr>
            <a:r>
              <a:rPr lang="en-US" sz="2400">
                <a:solidFill>
                  <a:srgbClr val="3E3E3E"/>
                </a:solidFill>
                <a:latin typeface="Times New Roman"/>
                <a:ea typeface="Times New Roman"/>
                <a:cs typeface="Times New Roman"/>
                <a:sym typeface="Times New Roman"/>
              </a:rPr>
              <a:t>After the second pass of above operations, we arrive at a 2</a:t>
            </a:r>
            <a:r>
              <a:rPr lang="en-US" sz="2400">
                <a:solidFill>
                  <a:srgbClr val="3E3E3E"/>
                </a:solidFill>
                <a:latin typeface="Arial"/>
                <a:ea typeface="Arial"/>
                <a:cs typeface="Arial"/>
                <a:sym typeface="Arial"/>
              </a:rPr>
              <a:t>×</a:t>
            </a:r>
            <a:r>
              <a:rPr lang="en-US" sz="2400">
                <a:solidFill>
                  <a:srgbClr val="3E3E3E"/>
                </a:solidFill>
                <a:latin typeface="Times New Roman"/>
                <a:ea typeface="Times New Roman"/>
                <a:cs typeface="Times New Roman"/>
                <a:sym typeface="Times New Roman"/>
              </a:rPr>
              <a:t>2 matrix as shown below:</a:t>
            </a:r>
            <a:endParaRPr sz="2400">
              <a:latin typeface="Times New Roman"/>
              <a:ea typeface="Times New Roman"/>
              <a:cs typeface="Times New Roman"/>
              <a:sym typeface="Times New Roman"/>
            </a:endParaRPr>
          </a:p>
        </p:txBody>
      </p:sp>
      <p:pic>
        <p:nvPicPr>
          <p:cNvPr id="412" name="Google Shape;412;p48"/>
          <p:cNvPicPr preferRelativeResize="0"/>
          <p:nvPr/>
        </p:nvPicPr>
        <p:blipFill rotWithShape="1">
          <a:blip r:embed="rId3">
            <a:alphaModFix/>
          </a:blip>
          <a:srcRect b="0" l="0" r="0" t="0"/>
          <a:stretch/>
        </p:blipFill>
        <p:spPr>
          <a:xfrm>
            <a:off x="2123732" y="2469972"/>
            <a:ext cx="6400795" cy="2610317"/>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49"/>
          <p:cNvSpPr txBox="1"/>
          <p:nvPr>
            <p:ph type="title"/>
          </p:nvPr>
        </p:nvSpPr>
        <p:spPr>
          <a:xfrm>
            <a:off x="78739" y="118636"/>
            <a:ext cx="8986520" cy="574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Fully connected layer</a:t>
            </a:r>
            <a:endParaRPr/>
          </a:p>
        </p:txBody>
      </p:sp>
      <p:sp>
        <p:nvSpPr>
          <p:cNvPr id="418" name="Google Shape;418;p49"/>
          <p:cNvSpPr txBox="1"/>
          <p:nvPr/>
        </p:nvSpPr>
        <p:spPr>
          <a:xfrm>
            <a:off x="244275" y="956575"/>
            <a:ext cx="5150400" cy="2598900"/>
          </a:xfrm>
          <a:prstGeom prst="rect">
            <a:avLst/>
          </a:prstGeom>
          <a:noFill/>
          <a:ln>
            <a:noFill/>
          </a:ln>
        </p:spPr>
        <p:txBody>
          <a:bodyPr anchorCtr="0" anchor="t" bIns="0" lIns="0" spcFirstLastPara="1" rIns="0" wrap="square" tIns="67300">
            <a:spAutoFit/>
          </a:bodyPr>
          <a:lstStyle/>
          <a:p>
            <a:pPr indent="-287019" lvl="0" marL="299085" marR="508000" rtl="0" algn="l">
              <a:lnSpc>
                <a:spcPct val="80000"/>
              </a:lnSpc>
              <a:spcBef>
                <a:spcPts val="0"/>
              </a:spcBef>
              <a:spcAft>
                <a:spcPts val="0"/>
              </a:spcAft>
              <a:buClr>
                <a:srgbClr val="3E3E3E"/>
              </a:buClr>
              <a:buSzPts val="1800"/>
              <a:buFont typeface="Noto Sans Symbols"/>
              <a:buChar char="▪"/>
            </a:pPr>
            <a:r>
              <a:rPr lang="en-US" sz="1800">
                <a:solidFill>
                  <a:srgbClr val="3E3E3E"/>
                </a:solidFill>
                <a:latin typeface="Times New Roman"/>
                <a:ea typeface="Times New Roman"/>
                <a:cs typeface="Times New Roman"/>
                <a:sym typeface="Times New Roman"/>
              </a:rPr>
              <a:t>The last layers in the network are </a:t>
            </a:r>
            <a:r>
              <a:rPr b="1" lang="en-US" sz="1800">
                <a:solidFill>
                  <a:srgbClr val="FF0000"/>
                </a:solidFill>
                <a:latin typeface="Times New Roman"/>
                <a:ea typeface="Times New Roman"/>
                <a:cs typeface="Times New Roman"/>
                <a:sym typeface="Times New Roman"/>
              </a:rPr>
              <a:t>fully connected</a:t>
            </a:r>
            <a:r>
              <a:rPr b="1" lang="en-US" sz="1800">
                <a:solidFill>
                  <a:srgbClr val="3E3E3E"/>
                </a:solidFill>
                <a:latin typeface="Times New Roman"/>
                <a:ea typeface="Times New Roman"/>
                <a:cs typeface="Times New Roman"/>
                <a:sym typeface="Times New Roman"/>
              </a:rPr>
              <a:t>,</a:t>
            </a:r>
            <a:endParaRPr sz="1800">
              <a:latin typeface="Times New Roman"/>
              <a:ea typeface="Times New Roman"/>
              <a:cs typeface="Times New Roman"/>
              <a:sym typeface="Times New Roman"/>
            </a:endParaRPr>
          </a:p>
          <a:p>
            <a:pPr indent="-287019" lvl="1" marL="756285" marR="235385" rtl="0" algn="l">
              <a:lnSpc>
                <a:spcPct val="80000"/>
              </a:lnSpc>
              <a:spcBef>
                <a:spcPts val="375"/>
              </a:spcBef>
              <a:spcAft>
                <a:spcPts val="0"/>
              </a:spcAft>
              <a:buSzPts val="1500"/>
              <a:buFont typeface="Arial"/>
              <a:buChar char="–"/>
            </a:pPr>
            <a:r>
              <a:rPr lang="en-US" sz="1500">
                <a:latin typeface="Times New Roman"/>
                <a:ea typeface="Times New Roman"/>
                <a:cs typeface="Times New Roman"/>
                <a:sym typeface="Times New Roman"/>
              </a:rPr>
              <a:t>Means neurons of preceding layers are </a:t>
            </a:r>
            <a:r>
              <a:rPr b="1" lang="en-US" sz="1500">
                <a:latin typeface="Times New Roman"/>
                <a:ea typeface="Times New Roman"/>
                <a:cs typeface="Times New Roman"/>
                <a:sym typeface="Times New Roman"/>
              </a:rPr>
              <a:t>connected </a:t>
            </a:r>
            <a:r>
              <a:rPr lang="en-US" sz="1500">
                <a:latin typeface="Times New Roman"/>
                <a:ea typeface="Times New Roman"/>
                <a:cs typeface="Times New Roman"/>
                <a:sym typeface="Times New Roman"/>
              </a:rPr>
              <a:t>to </a:t>
            </a:r>
            <a:r>
              <a:rPr b="1" lang="en-US" sz="1500">
                <a:latin typeface="Times New Roman"/>
                <a:ea typeface="Times New Roman"/>
                <a:cs typeface="Times New Roman"/>
                <a:sym typeface="Times New Roman"/>
              </a:rPr>
              <a:t>every</a:t>
            </a:r>
            <a:endParaRPr sz="1500">
              <a:latin typeface="Times New Roman"/>
              <a:ea typeface="Times New Roman"/>
              <a:cs typeface="Times New Roman"/>
              <a:sym typeface="Times New Roman"/>
            </a:endParaRPr>
          </a:p>
          <a:p>
            <a:pPr indent="0" lvl="0" marL="756285" rtl="0" algn="l">
              <a:lnSpc>
                <a:spcPct val="96000"/>
              </a:lnSpc>
              <a:spcBef>
                <a:spcPts val="0"/>
              </a:spcBef>
              <a:spcAft>
                <a:spcPts val="0"/>
              </a:spcAft>
              <a:buNone/>
            </a:pPr>
            <a:r>
              <a:rPr b="1" lang="en-US" sz="1500">
                <a:latin typeface="Times New Roman"/>
                <a:ea typeface="Times New Roman"/>
                <a:cs typeface="Times New Roman"/>
                <a:sym typeface="Times New Roman"/>
              </a:rPr>
              <a:t>neuron </a:t>
            </a:r>
            <a:r>
              <a:rPr lang="en-US" sz="1500">
                <a:latin typeface="Times New Roman"/>
                <a:ea typeface="Times New Roman"/>
                <a:cs typeface="Times New Roman"/>
                <a:sym typeface="Times New Roman"/>
              </a:rPr>
              <a:t>in </a:t>
            </a:r>
            <a:r>
              <a:rPr b="1" lang="en-US" sz="1500">
                <a:latin typeface="Times New Roman"/>
                <a:ea typeface="Times New Roman"/>
                <a:cs typeface="Times New Roman"/>
                <a:sym typeface="Times New Roman"/>
              </a:rPr>
              <a:t>subsequent </a:t>
            </a:r>
            <a:r>
              <a:rPr lang="en-US" sz="1500">
                <a:latin typeface="Times New Roman"/>
                <a:ea typeface="Times New Roman"/>
                <a:cs typeface="Times New Roman"/>
                <a:sym typeface="Times New Roman"/>
              </a:rPr>
              <a:t>layers</a:t>
            </a:r>
            <a:endParaRPr sz="1500">
              <a:latin typeface="Times New Roman"/>
              <a:ea typeface="Times New Roman"/>
              <a:cs typeface="Times New Roman"/>
              <a:sym typeface="Times New Roman"/>
            </a:endParaRPr>
          </a:p>
          <a:p>
            <a:pPr indent="-287019" lvl="1" marL="756285" marR="112395" rtl="0" algn="l">
              <a:lnSpc>
                <a:spcPct val="96000"/>
              </a:lnSpc>
              <a:spcBef>
                <a:spcPts val="345"/>
              </a:spcBef>
              <a:spcAft>
                <a:spcPts val="0"/>
              </a:spcAft>
              <a:buClr>
                <a:srgbClr val="FF0000"/>
              </a:buClr>
              <a:buSzPts val="1500"/>
              <a:buFont typeface="Arial"/>
              <a:buChar char="–"/>
            </a:pPr>
            <a:r>
              <a:rPr lang="en-US" sz="1500">
                <a:solidFill>
                  <a:srgbClr val="FF0000"/>
                </a:solidFill>
                <a:latin typeface="Times New Roman"/>
                <a:ea typeface="Times New Roman"/>
                <a:cs typeface="Times New Roman"/>
                <a:sym typeface="Times New Roman"/>
              </a:rPr>
              <a:t>This </a:t>
            </a:r>
            <a:r>
              <a:rPr b="1" lang="en-US" sz="1500">
                <a:solidFill>
                  <a:srgbClr val="FF0000"/>
                </a:solidFill>
                <a:latin typeface="Times New Roman"/>
                <a:ea typeface="Times New Roman"/>
                <a:cs typeface="Times New Roman"/>
                <a:sym typeface="Times New Roman"/>
              </a:rPr>
              <a:t>mimics high level reasoning </a:t>
            </a:r>
            <a:r>
              <a:rPr lang="en-US" sz="1500">
                <a:solidFill>
                  <a:srgbClr val="FF0000"/>
                </a:solidFill>
                <a:latin typeface="Times New Roman"/>
                <a:ea typeface="Times New Roman"/>
                <a:cs typeface="Times New Roman"/>
                <a:sym typeface="Times New Roman"/>
              </a:rPr>
              <a:t>where all possible </a:t>
            </a:r>
            <a:r>
              <a:rPr b="1" lang="en-US" sz="1500">
                <a:solidFill>
                  <a:srgbClr val="FF0000"/>
                </a:solidFill>
                <a:latin typeface="Times New Roman"/>
                <a:ea typeface="Times New Roman"/>
                <a:cs typeface="Times New Roman"/>
                <a:sym typeface="Times New Roman"/>
              </a:rPr>
              <a:t>pathways </a:t>
            </a:r>
            <a:r>
              <a:rPr lang="en-US" sz="1500">
                <a:solidFill>
                  <a:srgbClr val="FF0000"/>
                </a:solidFill>
                <a:latin typeface="Times New Roman"/>
                <a:ea typeface="Times New Roman"/>
                <a:cs typeface="Times New Roman"/>
                <a:sym typeface="Times New Roman"/>
              </a:rPr>
              <a:t>from</a:t>
            </a:r>
            <a:endParaRPr sz="1500">
              <a:latin typeface="Times New Roman"/>
              <a:ea typeface="Times New Roman"/>
              <a:cs typeface="Times New Roman"/>
              <a:sym typeface="Times New Roman"/>
            </a:endParaRPr>
          </a:p>
          <a:p>
            <a:pPr indent="0" lvl="0" marL="756285" rtl="0" algn="l">
              <a:lnSpc>
                <a:spcPct val="96666"/>
              </a:lnSpc>
              <a:spcBef>
                <a:spcPts val="0"/>
              </a:spcBef>
              <a:spcAft>
                <a:spcPts val="0"/>
              </a:spcAft>
              <a:buNone/>
            </a:pPr>
            <a:r>
              <a:rPr lang="en-US" sz="1500">
                <a:solidFill>
                  <a:srgbClr val="FF0000"/>
                </a:solidFill>
                <a:latin typeface="Times New Roman"/>
                <a:ea typeface="Times New Roman"/>
                <a:cs typeface="Times New Roman"/>
                <a:sym typeface="Times New Roman"/>
              </a:rPr>
              <a:t>the </a:t>
            </a:r>
            <a:r>
              <a:rPr b="1" lang="en-US" sz="1500">
                <a:solidFill>
                  <a:srgbClr val="FF0000"/>
                </a:solidFill>
                <a:latin typeface="Times New Roman"/>
                <a:ea typeface="Times New Roman"/>
                <a:cs typeface="Times New Roman"/>
                <a:sym typeface="Times New Roman"/>
              </a:rPr>
              <a:t>input </a:t>
            </a:r>
            <a:r>
              <a:rPr lang="en-US" sz="1500">
                <a:solidFill>
                  <a:srgbClr val="FF0000"/>
                </a:solidFill>
                <a:latin typeface="Times New Roman"/>
                <a:ea typeface="Times New Roman"/>
                <a:cs typeface="Times New Roman"/>
                <a:sym typeface="Times New Roman"/>
              </a:rPr>
              <a:t>to </a:t>
            </a:r>
            <a:r>
              <a:rPr b="1" lang="en-US" sz="1500">
                <a:solidFill>
                  <a:srgbClr val="FF0000"/>
                </a:solidFill>
                <a:latin typeface="Times New Roman"/>
                <a:ea typeface="Times New Roman"/>
                <a:cs typeface="Times New Roman"/>
                <a:sym typeface="Times New Roman"/>
              </a:rPr>
              <a:t>output </a:t>
            </a:r>
            <a:r>
              <a:rPr lang="en-US" sz="1500">
                <a:solidFill>
                  <a:srgbClr val="FF0000"/>
                </a:solidFill>
                <a:latin typeface="Times New Roman"/>
                <a:ea typeface="Times New Roman"/>
                <a:cs typeface="Times New Roman"/>
                <a:sym typeface="Times New Roman"/>
              </a:rPr>
              <a:t>are considered</a:t>
            </a:r>
            <a:endParaRPr sz="1500">
              <a:latin typeface="Times New Roman"/>
              <a:ea typeface="Times New Roman"/>
              <a:cs typeface="Times New Roman"/>
              <a:sym typeface="Times New Roman"/>
            </a:endParaRPr>
          </a:p>
          <a:p>
            <a:pPr indent="0" lvl="0" marL="0" rtl="0" algn="l">
              <a:lnSpc>
                <a:spcPct val="100000"/>
              </a:lnSpc>
              <a:spcBef>
                <a:spcPts val="495"/>
              </a:spcBef>
              <a:spcAft>
                <a:spcPts val="0"/>
              </a:spcAft>
              <a:buNone/>
            </a:pPr>
            <a:r>
              <a:t/>
            </a:r>
            <a:endParaRPr sz="1500">
              <a:latin typeface="Times New Roman"/>
              <a:ea typeface="Times New Roman"/>
              <a:cs typeface="Times New Roman"/>
              <a:sym typeface="Times New Roman"/>
            </a:endParaRPr>
          </a:p>
          <a:p>
            <a:pPr indent="-287019" lvl="0" marL="299085" marR="5080" rtl="0" algn="l">
              <a:lnSpc>
                <a:spcPct val="80000"/>
              </a:lnSpc>
              <a:spcBef>
                <a:spcPts val="0"/>
              </a:spcBef>
              <a:spcAft>
                <a:spcPts val="0"/>
              </a:spcAft>
              <a:buClr>
                <a:srgbClr val="3E3E3E"/>
              </a:buClr>
              <a:buSzPts val="1800"/>
              <a:buFont typeface="Noto Sans Symbols"/>
              <a:buChar char="▪"/>
            </a:pPr>
            <a:r>
              <a:rPr lang="en-US" sz="1800">
                <a:solidFill>
                  <a:srgbClr val="3E3E3E"/>
                </a:solidFill>
                <a:latin typeface="Times New Roman"/>
                <a:ea typeface="Times New Roman"/>
                <a:cs typeface="Times New Roman"/>
                <a:sym typeface="Times New Roman"/>
              </a:rPr>
              <a:t>Fully connected layer is the final layer where the classification actually happens.</a:t>
            </a:r>
            <a:endParaRPr sz="1800">
              <a:latin typeface="Times New Roman"/>
              <a:ea typeface="Times New Roman"/>
              <a:cs typeface="Times New Roman"/>
              <a:sym typeface="Times New Roman"/>
            </a:endParaRPr>
          </a:p>
        </p:txBody>
      </p:sp>
      <p:sp>
        <p:nvSpPr>
          <p:cNvPr id="419" name="Google Shape;419;p49"/>
          <p:cNvSpPr txBox="1"/>
          <p:nvPr/>
        </p:nvSpPr>
        <p:spPr>
          <a:xfrm>
            <a:off x="179525" y="3643874"/>
            <a:ext cx="4968900" cy="1490400"/>
          </a:xfrm>
          <a:prstGeom prst="rect">
            <a:avLst/>
          </a:prstGeom>
          <a:solidFill>
            <a:srgbClr val="4F81BD">
              <a:alpha val="56078"/>
            </a:srgbClr>
          </a:solidFill>
          <a:ln cap="flat" cmpd="sng" w="25400">
            <a:solidFill>
              <a:srgbClr val="385D8A"/>
            </a:solidFill>
            <a:prstDash val="solid"/>
            <a:round/>
            <a:headEnd len="sm" w="sm" type="none"/>
            <a:tailEnd len="sm" w="sm" type="none"/>
          </a:ln>
        </p:spPr>
        <p:txBody>
          <a:bodyPr anchorCtr="0" anchor="t" bIns="0" lIns="0" spcFirstLastPara="1" rIns="0" wrap="square" tIns="212725">
            <a:spAutoFit/>
          </a:bodyPr>
          <a:lstStyle/>
          <a:p>
            <a:pPr indent="-286385" lvl="0" marL="908685" rtl="0" algn="l">
              <a:lnSpc>
                <a:spcPct val="100000"/>
              </a:lnSpc>
              <a:spcBef>
                <a:spcPts val="0"/>
              </a:spcBef>
              <a:spcAft>
                <a:spcPts val="0"/>
              </a:spcAft>
              <a:buClr>
                <a:srgbClr val="FF0000"/>
              </a:buClr>
              <a:buSzPts val="1800"/>
              <a:buFont typeface="Noto Sans Symbols"/>
              <a:buChar char="▪"/>
            </a:pPr>
            <a:r>
              <a:rPr b="1" lang="en-US" sz="1800">
                <a:solidFill>
                  <a:srgbClr val="FF0000"/>
                </a:solidFill>
                <a:latin typeface="Times New Roman"/>
                <a:ea typeface="Times New Roman"/>
                <a:cs typeface="Times New Roman"/>
                <a:sym typeface="Times New Roman"/>
              </a:rPr>
              <a:t>I</a:t>
            </a:r>
            <a:r>
              <a:rPr b="1" lang="en-US" sz="1800">
                <a:solidFill>
                  <a:srgbClr val="FF0000"/>
                </a:solidFill>
                <a:latin typeface="Times New Roman"/>
                <a:ea typeface="Times New Roman"/>
                <a:cs typeface="Times New Roman"/>
                <a:sym typeface="Times New Roman"/>
              </a:rPr>
              <a:t>nput</a:t>
            </a:r>
            <a:r>
              <a:rPr lang="en-US" sz="1800">
                <a:solidFill>
                  <a:srgbClr val="3E3E3E"/>
                </a:solidFill>
                <a:latin typeface="Times New Roman"/>
                <a:ea typeface="Times New Roman"/>
                <a:cs typeface="Times New Roman"/>
                <a:sym typeface="Times New Roman"/>
              </a:rPr>
              <a:t>:</a:t>
            </a:r>
            <a:endParaRPr sz="1800">
              <a:latin typeface="Times New Roman"/>
              <a:ea typeface="Times New Roman"/>
              <a:cs typeface="Times New Roman"/>
              <a:sym typeface="Times New Roman"/>
            </a:endParaRPr>
          </a:p>
          <a:p>
            <a:pPr indent="-287020" lvl="1" marL="1365885" marR="144145" rtl="0" algn="l">
              <a:lnSpc>
                <a:spcPct val="96000"/>
              </a:lnSpc>
              <a:spcBef>
                <a:spcPts val="359"/>
              </a:spcBef>
              <a:spcAft>
                <a:spcPts val="0"/>
              </a:spcAft>
              <a:buSzPts val="1500"/>
              <a:buFont typeface="Arial"/>
              <a:buChar char="–"/>
            </a:pPr>
            <a:r>
              <a:rPr lang="en-US" sz="1500">
                <a:latin typeface="Times New Roman"/>
                <a:ea typeface="Times New Roman"/>
                <a:cs typeface="Times New Roman"/>
                <a:sym typeface="Times New Roman"/>
              </a:rPr>
              <a:t>filtered and shrinked images and put them into one single list as shown</a:t>
            </a:r>
            <a:endParaRPr sz="1500">
              <a:latin typeface="Times New Roman"/>
              <a:ea typeface="Times New Roman"/>
              <a:cs typeface="Times New Roman"/>
              <a:sym typeface="Times New Roman"/>
            </a:endParaRPr>
          </a:p>
          <a:p>
            <a:pPr indent="-286385" lvl="0" marL="908685" rtl="0" algn="l">
              <a:lnSpc>
                <a:spcPct val="100000"/>
              </a:lnSpc>
              <a:spcBef>
                <a:spcPts val="0"/>
              </a:spcBef>
              <a:spcAft>
                <a:spcPts val="0"/>
              </a:spcAft>
              <a:buClr>
                <a:srgbClr val="3E3E3E"/>
              </a:buClr>
              <a:buSzPts val="1800"/>
              <a:buFont typeface="Noto Sans Symbols"/>
              <a:buChar char="▪"/>
            </a:pPr>
            <a:r>
              <a:rPr b="1" lang="en-US" sz="1800">
                <a:solidFill>
                  <a:srgbClr val="3E3E3E"/>
                </a:solidFill>
                <a:latin typeface="Times New Roman"/>
                <a:ea typeface="Times New Roman"/>
                <a:cs typeface="Times New Roman"/>
                <a:sym typeface="Times New Roman"/>
              </a:rPr>
              <a:t>Output</a:t>
            </a:r>
            <a:r>
              <a:rPr lang="en-US" sz="1800">
                <a:solidFill>
                  <a:srgbClr val="3E3E3E"/>
                </a:solidFill>
                <a:latin typeface="Times New Roman"/>
                <a:ea typeface="Times New Roman"/>
                <a:cs typeface="Times New Roman"/>
                <a:sym typeface="Times New Roman"/>
              </a:rPr>
              <a:t>:</a:t>
            </a:r>
            <a:endParaRPr sz="1800">
              <a:latin typeface="Times New Roman"/>
              <a:ea typeface="Times New Roman"/>
              <a:cs typeface="Times New Roman"/>
              <a:sym typeface="Times New Roman"/>
            </a:endParaRPr>
          </a:p>
          <a:p>
            <a:pPr indent="-286385" lvl="1" marL="1365885" rtl="0" algn="l">
              <a:lnSpc>
                <a:spcPct val="100000"/>
              </a:lnSpc>
              <a:spcBef>
                <a:spcPts val="10"/>
              </a:spcBef>
              <a:spcAft>
                <a:spcPts val="0"/>
              </a:spcAft>
              <a:buSzPts val="1500"/>
              <a:buFont typeface="Arial"/>
              <a:buChar char="–"/>
            </a:pPr>
            <a:r>
              <a:rPr lang="en-US" sz="1500">
                <a:latin typeface="Times New Roman"/>
                <a:ea typeface="Times New Roman"/>
                <a:cs typeface="Times New Roman"/>
                <a:sym typeface="Times New Roman"/>
              </a:rPr>
              <a:t>Class label</a:t>
            </a:r>
            <a:endParaRPr sz="1500">
              <a:latin typeface="Times New Roman"/>
              <a:ea typeface="Times New Roman"/>
              <a:cs typeface="Times New Roman"/>
              <a:sym typeface="Times New Roman"/>
            </a:endParaRPr>
          </a:p>
        </p:txBody>
      </p:sp>
      <p:grpSp>
        <p:nvGrpSpPr>
          <p:cNvPr id="420" name="Google Shape;420;p49"/>
          <p:cNvGrpSpPr/>
          <p:nvPr/>
        </p:nvGrpSpPr>
        <p:grpSpPr>
          <a:xfrm>
            <a:off x="5540820" y="1059581"/>
            <a:ext cx="3495674" cy="3971924"/>
            <a:chOff x="5540820" y="1059581"/>
            <a:chExt cx="3495674" cy="3971924"/>
          </a:xfrm>
        </p:grpSpPr>
        <p:pic>
          <p:nvPicPr>
            <p:cNvPr id="421" name="Google Shape;421;p49"/>
            <p:cNvPicPr preferRelativeResize="0"/>
            <p:nvPr/>
          </p:nvPicPr>
          <p:blipFill rotWithShape="1">
            <a:blip r:embed="rId3">
              <a:alphaModFix/>
            </a:blip>
            <a:srcRect b="0" l="0" r="0" t="0"/>
            <a:stretch/>
          </p:blipFill>
          <p:spPr>
            <a:xfrm>
              <a:off x="5540820" y="1059581"/>
              <a:ext cx="3495674" cy="3971924"/>
            </a:xfrm>
            <a:prstGeom prst="rect">
              <a:avLst/>
            </a:prstGeom>
            <a:noFill/>
            <a:ln>
              <a:noFill/>
            </a:ln>
          </p:spPr>
        </p:pic>
        <p:sp>
          <p:nvSpPr>
            <p:cNvPr id="422" name="Google Shape;422;p49"/>
            <p:cNvSpPr/>
            <p:nvPr/>
          </p:nvSpPr>
          <p:spPr>
            <a:xfrm>
              <a:off x="7222910" y="2470847"/>
              <a:ext cx="834390" cy="1149985"/>
            </a:xfrm>
            <a:custGeom>
              <a:rect b="b" l="l" r="r" t="t"/>
              <a:pathLst>
                <a:path extrusionOk="0" h="1149985" w="834390">
                  <a:moveTo>
                    <a:pt x="416979" y="0"/>
                  </a:moveTo>
                  <a:lnTo>
                    <a:pt x="416979" y="287350"/>
                  </a:lnTo>
                  <a:lnTo>
                    <a:pt x="0" y="287350"/>
                  </a:lnTo>
                  <a:lnTo>
                    <a:pt x="0" y="862037"/>
                  </a:lnTo>
                  <a:lnTo>
                    <a:pt x="416979" y="862037"/>
                  </a:lnTo>
                  <a:lnTo>
                    <a:pt x="416979" y="1149388"/>
                  </a:lnTo>
                  <a:lnTo>
                    <a:pt x="833970" y="574700"/>
                  </a:lnTo>
                  <a:lnTo>
                    <a:pt x="416979" y="0"/>
                  </a:lnTo>
                  <a:close/>
                </a:path>
              </a:pathLst>
            </a:custGeom>
            <a:solidFill>
              <a:srgbClr val="C6D9F1"/>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23" name="Google Shape;423;p49"/>
            <p:cNvSpPr/>
            <p:nvPr/>
          </p:nvSpPr>
          <p:spPr>
            <a:xfrm>
              <a:off x="7222910" y="2470847"/>
              <a:ext cx="834390" cy="1149985"/>
            </a:xfrm>
            <a:custGeom>
              <a:rect b="b" l="l" r="r" t="t"/>
              <a:pathLst>
                <a:path extrusionOk="0" h="1149985" w="834390">
                  <a:moveTo>
                    <a:pt x="0" y="287350"/>
                  </a:moveTo>
                  <a:lnTo>
                    <a:pt x="416979" y="287350"/>
                  </a:lnTo>
                  <a:lnTo>
                    <a:pt x="416979" y="0"/>
                  </a:lnTo>
                  <a:lnTo>
                    <a:pt x="833970" y="574700"/>
                  </a:lnTo>
                  <a:lnTo>
                    <a:pt x="416979" y="1149388"/>
                  </a:lnTo>
                  <a:lnTo>
                    <a:pt x="416979" y="862037"/>
                  </a:lnTo>
                  <a:lnTo>
                    <a:pt x="0" y="862037"/>
                  </a:lnTo>
                  <a:lnTo>
                    <a:pt x="0" y="287350"/>
                  </a:lnTo>
                  <a:close/>
                </a:path>
              </a:pathLst>
            </a:custGeom>
            <a:noFill/>
            <a:ln cap="flat" cmpd="sng" w="25400">
              <a:solidFill>
                <a:srgbClr val="385D8A"/>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50"/>
          <p:cNvSpPr txBox="1"/>
          <p:nvPr>
            <p:ph type="title"/>
          </p:nvPr>
        </p:nvSpPr>
        <p:spPr>
          <a:xfrm>
            <a:off x="78739" y="118636"/>
            <a:ext cx="8986520" cy="574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Fully connected layer – </a:t>
            </a:r>
            <a:r>
              <a:rPr lang="en-US">
                <a:solidFill>
                  <a:srgbClr val="FF0000"/>
                </a:solidFill>
              </a:rPr>
              <a:t>Alphabets recognition</a:t>
            </a:r>
            <a:endParaRPr/>
          </a:p>
        </p:txBody>
      </p:sp>
      <p:sp>
        <p:nvSpPr>
          <p:cNvPr id="429" name="Google Shape;429;p50"/>
          <p:cNvSpPr txBox="1"/>
          <p:nvPr/>
        </p:nvSpPr>
        <p:spPr>
          <a:xfrm>
            <a:off x="789180" y="942871"/>
            <a:ext cx="7294880" cy="1574800"/>
          </a:xfrm>
          <a:prstGeom prst="rect">
            <a:avLst/>
          </a:prstGeom>
          <a:noFill/>
          <a:ln>
            <a:noFill/>
          </a:ln>
        </p:spPr>
        <p:txBody>
          <a:bodyPr anchorCtr="0" anchor="t" bIns="0" lIns="0" spcFirstLastPara="1" rIns="0" wrap="square" tIns="76825">
            <a:spAutoFit/>
          </a:bodyPr>
          <a:lstStyle/>
          <a:p>
            <a:pPr indent="-287019" lvl="0" marL="299085" marR="5080" rtl="0" algn="l">
              <a:lnSpc>
                <a:spcPct val="95909"/>
              </a:lnSpc>
              <a:spcBef>
                <a:spcPts val="0"/>
              </a:spcBef>
              <a:spcAft>
                <a:spcPts val="0"/>
              </a:spcAft>
              <a:buClr>
                <a:srgbClr val="3E3E3E"/>
              </a:buClr>
              <a:buSzPts val="2200"/>
              <a:buFont typeface="Noto Sans Symbols"/>
              <a:buChar char="▪"/>
            </a:pPr>
            <a:r>
              <a:rPr lang="en-US" sz="2200">
                <a:solidFill>
                  <a:srgbClr val="3E3E3E"/>
                </a:solidFill>
                <a:latin typeface="Times New Roman"/>
                <a:ea typeface="Times New Roman"/>
                <a:cs typeface="Times New Roman"/>
                <a:sym typeface="Times New Roman"/>
              </a:rPr>
              <a:t>When we feed in, </a:t>
            </a:r>
            <a:r>
              <a:rPr b="1" lang="en-US" sz="2200">
                <a:solidFill>
                  <a:srgbClr val="3E3E3E"/>
                </a:solidFill>
                <a:latin typeface="Times New Roman"/>
                <a:ea typeface="Times New Roman"/>
                <a:cs typeface="Times New Roman"/>
                <a:sym typeface="Times New Roman"/>
              </a:rPr>
              <a:t>‘X’ </a:t>
            </a:r>
            <a:r>
              <a:rPr lang="en-US" sz="2200">
                <a:solidFill>
                  <a:srgbClr val="3E3E3E"/>
                </a:solidFill>
                <a:latin typeface="Times New Roman"/>
                <a:ea typeface="Times New Roman"/>
                <a:cs typeface="Times New Roman"/>
                <a:sym typeface="Times New Roman"/>
              </a:rPr>
              <a:t>and </a:t>
            </a:r>
            <a:r>
              <a:rPr b="1" lang="en-US" sz="2200">
                <a:solidFill>
                  <a:srgbClr val="3E3E3E"/>
                </a:solidFill>
                <a:latin typeface="Times New Roman"/>
                <a:ea typeface="Times New Roman"/>
                <a:cs typeface="Times New Roman"/>
                <a:sym typeface="Times New Roman"/>
              </a:rPr>
              <a:t>‘O’ </a:t>
            </a:r>
            <a:r>
              <a:rPr lang="en-US" sz="2200">
                <a:solidFill>
                  <a:srgbClr val="3E3E3E"/>
                </a:solidFill>
                <a:latin typeface="Times New Roman"/>
                <a:ea typeface="Times New Roman"/>
                <a:cs typeface="Times New Roman"/>
                <a:sym typeface="Times New Roman"/>
              </a:rPr>
              <a:t>there will be </a:t>
            </a:r>
            <a:r>
              <a:rPr b="1" lang="en-US" sz="2200">
                <a:solidFill>
                  <a:srgbClr val="3E3E3E"/>
                </a:solidFill>
                <a:latin typeface="Times New Roman"/>
                <a:ea typeface="Times New Roman"/>
                <a:cs typeface="Times New Roman"/>
                <a:sym typeface="Times New Roman"/>
              </a:rPr>
              <a:t>some element </a:t>
            </a:r>
            <a:r>
              <a:rPr lang="en-US" sz="2200">
                <a:solidFill>
                  <a:srgbClr val="3E3E3E"/>
                </a:solidFill>
                <a:latin typeface="Times New Roman"/>
                <a:ea typeface="Times New Roman"/>
                <a:cs typeface="Times New Roman"/>
                <a:sym typeface="Times New Roman"/>
              </a:rPr>
              <a:t>in the vector that will be </a:t>
            </a:r>
            <a:r>
              <a:rPr b="1" lang="en-US" sz="2200">
                <a:solidFill>
                  <a:srgbClr val="3E3E3E"/>
                </a:solidFill>
                <a:latin typeface="Times New Roman"/>
                <a:ea typeface="Times New Roman"/>
                <a:cs typeface="Times New Roman"/>
                <a:sym typeface="Times New Roman"/>
              </a:rPr>
              <a:t>high.</a:t>
            </a:r>
            <a:endParaRPr sz="2200">
              <a:latin typeface="Times New Roman"/>
              <a:ea typeface="Times New Roman"/>
              <a:cs typeface="Times New Roman"/>
              <a:sym typeface="Times New Roman"/>
            </a:endParaRPr>
          </a:p>
          <a:p>
            <a:pPr indent="-286385" lvl="0" marL="299085" rtl="0" algn="l">
              <a:lnSpc>
                <a:spcPct val="100000"/>
              </a:lnSpc>
              <a:spcBef>
                <a:spcPts val="20"/>
              </a:spcBef>
              <a:spcAft>
                <a:spcPts val="0"/>
              </a:spcAft>
              <a:buClr>
                <a:srgbClr val="3E3E3E"/>
              </a:buClr>
              <a:buSzPts val="2200"/>
              <a:buFont typeface="Noto Sans Symbols"/>
              <a:buChar char="▪"/>
            </a:pPr>
            <a:r>
              <a:rPr lang="en-US" sz="2200">
                <a:solidFill>
                  <a:srgbClr val="3E3E3E"/>
                </a:solidFill>
                <a:latin typeface="Times New Roman"/>
                <a:ea typeface="Times New Roman"/>
                <a:cs typeface="Times New Roman"/>
                <a:sym typeface="Times New Roman"/>
              </a:rPr>
              <a:t>In below images,</a:t>
            </a:r>
            <a:endParaRPr sz="2200">
              <a:latin typeface="Times New Roman"/>
              <a:ea typeface="Times New Roman"/>
              <a:cs typeface="Times New Roman"/>
              <a:sym typeface="Times New Roman"/>
            </a:endParaRPr>
          </a:p>
          <a:p>
            <a:pPr indent="-287019" lvl="1" marL="756285" rtl="0" algn="l">
              <a:lnSpc>
                <a:spcPct val="100000"/>
              </a:lnSpc>
              <a:spcBef>
                <a:spcPts val="10"/>
              </a:spcBef>
              <a:spcAft>
                <a:spcPts val="0"/>
              </a:spcAft>
              <a:buSzPts val="2000"/>
              <a:buFont typeface="Arial"/>
              <a:buChar char="–"/>
            </a:pPr>
            <a:r>
              <a:rPr lang="en-US" sz="2000">
                <a:latin typeface="Times New Roman"/>
                <a:ea typeface="Times New Roman"/>
                <a:cs typeface="Times New Roman"/>
                <a:sym typeface="Times New Roman"/>
              </a:rPr>
              <a:t>for ‘X’ there are </a:t>
            </a:r>
            <a:r>
              <a:rPr b="1" lang="en-US" sz="2000">
                <a:latin typeface="Times New Roman"/>
                <a:ea typeface="Times New Roman"/>
                <a:cs typeface="Times New Roman"/>
                <a:sym typeface="Times New Roman"/>
              </a:rPr>
              <a:t>different elements </a:t>
            </a:r>
            <a:r>
              <a:rPr lang="en-US" sz="2000">
                <a:latin typeface="Times New Roman"/>
                <a:ea typeface="Times New Roman"/>
                <a:cs typeface="Times New Roman"/>
                <a:sym typeface="Times New Roman"/>
              </a:rPr>
              <a:t>that are </a:t>
            </a:r>
            <a:r>
              <a:rPr b="1" lang="en-US" sz="2000">
                <a:latin typeface="Times New Roman"/>
                <a:ea typeface="Times New Roman"/>
                <a:cs typeface="Times New Roman"/>
                <a:sym typeface="Times New Roman"/>
              </a:rPr>
              <a:t>high </a:t>
            </a:r>
            <a:r>
              <a:rPr lang="en-US" sz="2000">
                <a:latin typeface="Times New Roman"/>
                <a:ea typeface="Times New Roman"/>
                <a:cs typeface="Times New Roman"/>
                <a:sym typeface="Times New Roman"/>
              </a:rPr>
              <a:t>and </a:t>
            </a:r>
            <a:r>
              <a:rPr b="1" lang="en-US" sz="2000">
                <a:latin typeface="Times New Roman"/>
                <a:ea typeface="Times New Roman"/>
                <a:cs typeface="Times New Roman"/>
                <a:sym typeface="Times New Roman"/>
              </a:rPr>
              <a:t>similarly,</a:t>
            </a:r>
            <a:endParaRPr sz="2000">
              <a:latin typeface="Times New Roman"/>
              <a:ea typeface="Times New Roman"/>
              <a:cs typeface="Times New Roman"/>
              <a:sym typeface="Times New Roman"/>
            </a:endParaRPr>
          </a:p>
          <a:p>
            <a:pPr indent="-287019" lvl="1" marL="756285" rtl="0" algn="l">
              <a:lnSpc>
                <a:spcPct val="100000"/>
              </a:lnSpc>
              <a:spcBef>
                <a:spcPts val="0"/>
              </a:spcBef>
              <a:spcAft>
                <a:spcPts val="0"/>
              </a:spcAft>
              <a:buSzPts val="2000"/>
              <a:buFont typeface="Arial"/>
              <a:buChar char="–"/>
            </a:pPr>
            <a:r>
              <a:rPr lang="en-US" sz="2000">
                <a:latin typeface="Times New Roman"/>
                <a:ea typeface="Times New Roman"/>
                <a:cs typeface="Times New Roman"/>
                <a:sym typeface="Times New Roman"/>
              </a:rPr>
              <a:t>for </a:t>
            </a:r>
            <a:r>
              <a:rPr b="1" lang="en-US" sz="2000">
                <a:latin typeface="Times New Roman"/>
                <a:ea typeface="Times New Roman"/>
                <a:cs typeface="Times New Roman"/>
                <a:sym typeface="Times New Roman"/>
              </a:rPr>
              <a:t>‘O’ </a:t>
            </a:r>
            <a:r>
              <a:rPr lang="en-US" sz="2000">
                <a:latin typeface="Times New Roman"/>
                <a:ea typeface="Times New Roman"/>
                <a:cs typeface="Times New Roman"/>
                <a:sym typeface="Times New Roman"/>
              </a:rPr>
              <a:t>we have </a:t>
            </a:r>
            <a:r>
              <a:rPr b="1" lang="en-US" sz="2000">
                <a:latin typeface="Times New Roman"/>
                <a:ea typeface="Times New Roman"/>
                <a:cs typeface="Times New Roman"/>
                <a:sym typeface="Times New Roman"/>
              </a:rPr>
              <a:t>different elements </a:t>
            </a:r>
            <a:r>
              <a:rPr lang="en-US" sz="2000">
                <a:latin typeface="Times New Roman"/>
                <a:ea typeface="Times New Roman"/>
                <a:cs typeface="Times New Roman"/>
                <a:sym typeface="Times New Roman"/>
              </a:rPr>
              <a:t>that are </a:t>
            </a:r>
            <a:r>
              <a:rPr b="1" lang="en-US" sz="2000">
                <a:latin typeface="Times New Roman"/>
                <a:ea typeface="Times New Roman"/>
                <a:cs typeface="Times New Roman"/>
                <a:sym typeface="Times New Roman"/>
              </a:rPr>
              <a:t>high</a:t>
            </a:r>
            <a:endParaRPr sz="2000">
              <a:latin typeface="Times New Roman"/>
              <a:ea typeface="Times New Roman"/>
              <a:cs typeface="Times New Roman"/>
              <a:sym typeface="Times New Roman"/>
            </a:endParaRPr>
          </a:p>
        </p:txBody>
      </p:sp>
      <p:pic>
        <p:nvPicPr>
          <p:cNvPr id="430" name="Google Shape;430;p50"/>
          <p:cNvPicPr preferRelativeResize="0"/>
          <p:nvPr/>
        </p:nvPicPr>
        <p:blipFill rotWithShape="1">
          <a:blip r:embed="rId3">
            <a:alphaModFix/>
          </a:blip>
          <a:srcRect b="0" l="0" r="0" t="0"/>
          <a:stretch/>
        </p:blipFill>
        <p:spPr>
          <a:xfrm>
            <a:off x="1691679" y="2586202"/>
            <a:ext cx="6871599" cy="2366882"/>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51"/>
          <p:cNvSpPr txBox="1"/>
          <p:nvPr/>
        </p:nvSpPr>
        <p:spPr>
          <a:xfrm>
            <a:off x="78739" y="152165"/>
            <a:ext cx="8242300" cy="3006725"/>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b="1" lang="en-US" sz="3200">
                <a:solidFill>
                  <a:srgbClr val="FF0000"/>
                </a:solidFill>
                <a:latin typeface="Times New Roman"/>
                <a:ea typeface="Times New Roman"/>
                <a:cs typeface="Times New Roman"/>
                <a:sym typeface="Times New Roman"/>
              </a:rPr>
              <a:t>Prediction </a:t>
            </a:r>
            <a:r>
              <a:rPr b="1" lang="en-US" sz="3200">
                <a:solidFill>
                  <a:srgbClr val="3E3E3E"/>
                </a:solidFill>
                <a:latin typeface="Times New Roman"/>
                <a:ea typeface="Times New Roman"/>
                <a:cs typeface="Times New Roman"/>
                <a:sym typeface="Times New Roman"/>
              </a:rPr>
              <a:t>using CNN – Fully Connected Layer</a:t>
            </a:r>
            <a:endParaRPr sz="3200">
              <a:latin typeface="Times New Roman"/>
              <a:ea typeface="Times New Roman"/>
              <a:cs typeface="Times New Roman"/>
              <a:sym typeface="Times New Roman"/>
            </a:endParaRPr>
          </a:p>
          <a:p>
            <a:pPr indent="-286384" lvl="0" marL="1009014" rtl="0" algn="l">
              <a:lnSpc>
                <a:spcPct val="100000"/>
              </a:lnSpc>
              <a:spcBef>
                <a:spcPts val="2730"/>
              </a:spcBef>
              <a:spcAft>
                <a:spcPts val="0"/>
              </a:spcAft>
              <a:buClr>
                <a:srgbClr val="3E3E3E"/>
              </a:buClr>
              <a:buSzPts val="3200"/>
              <a:buFont typeface="Noto Sans Symbols"/>
              <a:buChar char="▪"/>
            </a:pPr>
            <a:r>
              <a:rPr lang="en-US" sz="3200">
                <a:solidFill>
                  <a:srgbClr val="3E3E3E"/>
                </a:solidFill>
                <a:latin typeface="Times New Roman"/>
                <a:ea typeface="Times New Roman"/>
                <a:cs typeface="Times New Roman"/>
                <a:sym typeface="Times New Roman"/>
              </a:rPr>
              <a:t>Now the </a:t>
            </a:r>
            <a:r>
              <a:rPr lang="en-US" sz="3200">
                <a:solidFill>
                  <a:srgbClr val="FF0000"/>
                </a:solidFill>
                <a:latin typeface="Times New Roman"/>
                <a:ea typeface="Times New Roman"/>
                <a:cs typeface="Times New Roman"/>
                <a:sym typeface="Times New Roman"/>
              </a:rPr>
              <a:t>training is done</a:t>
            </a:r>
            <a:endParaRPr sz="3200">
              <a:latin typeface="Times New Roman"/>
              <a:ea typeface="Times New Roman"/>
              <a:cs typeface="Times New Roman"/>
              <a:sym typeface="Times New Roman"/>
            </a:endParaRPr>
          </a:p>
          <a:p>
            <a:pPr indent="0" lvl="0" marL="0" rtl="0" algn="l">
              <a:lnSpc>
                <a:spcPct val="100000"/>
              </a:lnSpc>
              <a:spcBef>
                <a:spcPts val="1695"/>
              </a:spcBef>
              <a:spcAft>
                <a:spcPts val="0"/>
              </a:spcAft>
              <a:buClr>
                <a:srgbClr val="3E3E3E"/>
              </a:buClr>
              <a:buSzPts val="3200"/>
              <a:buFont typeface="Noto Sans Symbols"/>
              <a:buNone/>
            </a:pPr>
            <a:r>
              <a:t/>
            </a:r>
            <a:endParaRPr sz="3200">
              <a:latin typeface="Times New Roman"/>
              <a:ea typeface="Times New Roman"/>
              <a:cs typeface="Times New Roman"/>
              <a:sym typeface="Times New Roman"/>
            </a:endParaRPr>
          </a:p>
          <a:p>
            <a:pPr indent="-286384" lvl="0" marL="1009014" rtl="0" algn="l">
              <a:lnSpc>
                <a:spcPct val="120000"/>
              </a:lnSpc>
              <a:spcBef>
                <a:spcPts val="5"/>
              </a:spcBef>
              <a:spcAft>
                <a:spcPts val="0"/>
              </a:spcAft>
              <a:buClr>
                <a:srgbClr val="3E3E3E"/>
              </a:buClr>
              <a:buSzPts val="3200"/>
              <a:buFont typeface="Noto Sans Symbols"/>
              <a:buChar char="▪"/>
            </a:pPr>
            <a:r>
              <a:rPr lang="en-US" sz="3200">
                <a:solidFill>
                  <a:srgbClr val="3E3E3E"/>
                </a:solidFill>
                <a:latin typeface="Times New Roman"/>
                <a:ea typeface="Times New Roman"/>
                <a:cs typeface="Times New Roman"/>
                <a:sym typeface="Times New Roman"/>
              </a:rPr>
              <a:t>Now, we can predict</a:t>
            </a:r>
            <a:endParaRPr sz="3200">
              <a:latin typeface="Times New Roman"/>
              <a:ea typeface="Times New Roman"/>
              <a:cs typeface="Times New Roman"/>
              <a:sym typeface="Times New Roman"/>
            </a:endParaRPr>
          </a:p>
          <a:p>
            <a:pPr indent="0" lvl="0" marL="1009650" rtl="0" algn="l">
              <a:lnSpc>
                <a:spcPct val="100000"/>
              </a:lnSpc>
              <a:spcBef>
                <a:spcPts val="0"/>
              </a:spcBef>
              <a:spcAft>
                <a:spcPts val="0"/>
              </a:spcAft>
              <a:buNone/>
            </a:pPr>
            <a:r>
              <a:rPr lang="en-US" sz="3200">
                <a:solidFill>
                  <a:srgbClr val="3E3E3E"/>
                </a:solidFill>
                <a:latin typeface="Times New Roman"/>
                <a:ea typeface="Times New Roman"/>
                <a:cs typeface="Times New Roman"/>
                <a:sym typeface="Times New Roman"/>
              </a:rPr>
              <a:t>and </a:t>
            </a:r>
            <a:r>
              <a:rPr b="1" lang="en-US" sz="3200">
                <a:solidFill>
                  <a:srgbClr val="3E3E3E"/>
                </a:solidFill>
                <a:latin typeface="Times New Roman"/>
                <a:ea typeface="Times New Roman"/>
                <a:cs typeface="Times New Roman"/>
                <a:sym typeface="Times New Roman"/>
              </a:rPr>
              <a:t>check </a:t>
            </a:r>
            <a:r>
              <a:rPr lang="en-US" sz="3200">
                <a:solidFill>
                  <a:srgbClr val="3E3E3E"/>
                </a:solidFill>
                <a:latin typeface="Times New Roman"/>
                <a:ea typeface="Times New Roman"/>
                <a:cs typeface="Times New Roman"/>
                <a:sym typeface="Times New Roman"/>
              </a:rPr>
              <a:t>the </a:t>
            </a:r>
            <a:r>
              <a:rPr b="1" lang="en-US" sz="3200">
                <a:solidFill>
                  <a:srgbClr val="3E3E3E"/>
                </a:solidFill>
                <a:latin typeface="Times New Roman"/>
                <a:ea typeface="Times New Roman"/>
                <a:cs typeface="Times New Roman"/>
                <a:sym typeface="Times New Roman"/>
              </a:rPr>
              <a:t>working </a:t>
            </a:r>
            <a:r>
              <a:rPr lang="en-US" sz="3200">
                <a:solidFill>
                  <a:srgbClr val="3E3E3E"/>
                </a:solidFill>
                <a:latin typeface="Times New Roman"/>
                <a:ea typeface="Times New Roman"/>
                <a:cs typeface="Times New Roman"/>
                <a:sym typeface="Times New Roman"/>
              </a:rPr>
              <a:t>of	the </a:t>
            </a:r>
            <a:r>
              <a:rPr b="1" lang="en-US" sz="3200">
                <a:solidFill>
                  <a:srgbClr val="3E3E3E"/>
                </a:solidFill>
                <a:latin typeface="Times New Roman"/>
                <a:ea typeface="Times New Roman"/>
                <a:cs typeface="Times New Roman"/>
                <a:sym typeface="Times New Roman"/>
              </a:rPr>
              <a:t>classifier</a:t>
            </a:r>
            <a:endParaRPr sz="3200">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52"/>
          <p:cNvSpPr txBox="1"/>
          <p:nvPr>
            <p:ph type="title"/>
          </p:nvPr>
        </p:nvSpPr>
        <p:spPr>
          <a:xfrm>
            <a:off x="78739" y="118636"/>
            <a:ext cx="8986520" cy="574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Example</a:t>
            </a:r>
            <a:endParaRPr/>
          </a:p>
        </p:txBody>
      </p:sp>
      <p:sp>
        <p:nvSpPr>
          <p:cNvPr id="441" name="Google Shape;441;p52"/>
          <p:cNvSpPr txBox="1"/>
          <p:nvPr/>
        </p:nvSpPr>
        <p:spPr>
          <a:xfrm>
            <a:off x="230700" y="913925"/>
            <a:ext cx="6174900" cy="3778200"/>
          </a:xfrm>
          <a:prstGeom prst="rect">
            <a:avLst/>
          </a:prstGeom>
          <a:noFill/>
          <a:ln>
            <a:noFill/>
          </a:ln>
        </p:spPr>
        <p:txBody>
          <a:bodyPr anchorCtr="0" anchor="t" bIns="0" lIns="0" spcFirstLastPara="1" rIns="0" wrap="square" tIns="100950">
            <a:spAutoFit/>
          </a:bodyPr>
          <a:lstStyle/>
          <a:p>
            <a:pPr indent="-285750" lvl="0" marL="297815" marR="5080" rtl="0" algn="l">
              <a:lnSpc>
                <a:spcPct val="96000"/>
              </a:lnSpc>
              <a:spcBef>
                <a:spcPts val="0"/>
              </a:spcBef>
              <a:spcAft>
                <a:spcPts val="0"/>
              </a:spcAft>
              <a:buClr>
                <a:srgbClr val="3E3E3E"/>
              </a:buClr>
              <a:buSzPts val="3000"/>
              <a:buFont typeface="Noto Sans Symbols"/>
              <a:buChar char="▪"/>
            </a:pPr>
            <a:r>
              <a:rPr lang="en-US" sz="3000">
                <a:solidFill>
                  <a:srgbClr val="3E3E3E"/>
                </a:solidFill>
                <a:latin typeface="Times New Roman"/>
                <a:ea typeface="Times New Roman"/>
                <a:cs typeface="Times New Roman"/>
                <a:sym typeface="Times New Roman"/>
              </a:rPr>
              <a:t>In the above image, we have a </a:t>
            </a:r>
            <a:r>
              <a:rPr b="1" lang="en-US" sz="3000">
                <a:solidFill>
                  <a:srgbClr val="FF0000"/>
                </a:solidFill>
                <a:latin typeface="Times New Roman"/>
                <a:ea typeface="Times New Roman"/>
                <a:cs typeface="Times New Roman"/>
                <a:sym typeface="Times New Roman"/>
              </a:rPr>
              <a:t>12 	element </a:t>
            </a:r>
            <a:r>
              <a:rPr lang="en-US" sz="3000">
                <a:solidFill>
                  <a:srgbClr val="FF0000"/>
                </a:solidFill>
                <a:latin typeface="Times New Roman"/>
                <a:ea typeface="Times New Roman"/>
                <a:cs typeface="Times New Roman"/>
                <a:sym typeface="Times New Roman"/>
              </a:rPr>
              <a:t>vector </a:t>
            </a:r>
            <a:r>
              <a:rPr lang="en-US" sz="3000">
                <a:solidFill>
                  <a:srgbClr val="3E3E3E"/>
                </a:solidFill>
                <a:latin typeface="Times New Roman"/>
                <a:ea typeface="Times New Roman"/>
                <a:cs typeface="Times New Roman"/>
                <a:sym typeface="Times New Roman"/>
              </a:rPr>
              <a:t>obtained</a:t>
            </a:r>
            <a:endParaRPr sz="3000">
              <a:latin typeface="Times New Roman"/>
              <a:ea typeface="Times New Roman"/>
              <a:cs typeface="Times New Roman"/>
              <a:sym typeface="Times New Roman"/>
            </a:endParaRPr>
          </a:p>
          <a:p>
            <a:pPr indent="0" lvl="0" marL="299085" marR="721995" rtl="0" algn="l">
              <a:lnSpc>
                <a:spcPct val="96000"/>
              </a:lnSpc>
              <a:spcBef>
                <a:spcPts val="0"/>
              </a:spcBef>
              <a:spcAft>
                <a:spcPts val="0"/>
              </a:spcAft>
              <a:buNone/>
            </a:pPr>
            <a:r>
              <a:rPr lang="en-US" sz="3000">
                <a:solidFill>
                  <a:srgbClr val="3E3E3E"/>
                </a:solidFill>
                <a:latin typeface="Times New Roman"/>
                <a:ea typeface="Times New Roman"/>
                <a:cs typeface="Times New Roman"/>
                <a:sym typeface="Times New Roman"/>
              </a:rPr>
              <a:t>after </a:t>
            </a:r>
            <a:r>
              <a:rPr b="1" lang="en-US" sz="3000">
                <a:solidFill>
                  <a:srgbClr val="3E3E3E"/>
                </a:solidFill>
                <a:latin typeface="Times New Roman"/>
                <a:ea typeface="Times New Roman"/>
                <a:cs typeface="Times New Roman"/>
                <a:sym typeface="Times New Roman"/>
              </a:rPr>
              <a:t>passing </a:t>
            </a:r>
            <a:r>
              <a:rPr lang="en-US" sz="3000">
                <a:solidFill>
                  <a:srgbClr val="3E3E3E"/>
                </a:solidFill>
                <a:latin typeface="Times New Roman"/>
                <a:ea typeface="Times New Roman"/>
                <a:cs typeface="Times New Roman"/>
                <a:sym typeface="Times New Roman"/>
              </a:rPr>
              <a:t>the </a:t>
            </a:r>
            <a:r>
              <a:rPr b="1" lang="en-US" sz="3000">
                <a:solidFill>
                  <a:srgbClr val="3E3E3E"/>
                </a:solidFill>
                <a:latin typeface="Times New Roman"/>
                <a:ea typeface="Times New Roman"/>
                <a:cs typeface="Times New Roman"/>
                <a:sym typeface="Times New Roman"/>
              </a:rPr>
              <a:t>input </a:t>
            </a:r>
            <a:r>
              <a:rPr lang="en-US" sz="3000">
                <a:solidFill>
                  <a:srgbClr val="3E3E3E"/>
                </a:solidFill>
                <a:latin typeface="Times New Roman"/>
                <a:ea typeface="Times New Roman"/>
                <a:cs typeface="Times New Roman"/>
                <a:sym typeface="Times New Roman"/>
              </a:rPr>
              <a:t>of a </a:t>
            </a:r>
            <a:r>
              <a:rPr b="1" lang="en-US" sz="3000">
                <a:solidFill>
                  <a:srgbClr val="3E3E3E"/>
                </a:solidFill>
                <a:latin typeface="Times New Roman"/>
                <a:ea typeface="Times New Roman"/>
                <a:cs typeface="Times New Roman"/>
                <a:sym typeface="Times New Roman"/>
              </a:rPr>
              <a:t>random letter </a:t>
            </a:r>
            <a:r>
              <a:rPr lang="en-US" sz="3000">
                <a:solidFill>
                  <a:srgbClr val="3E3E3E"/>
                </a:solidFill>
                <a:latin typeface="Times New Roman"/>
                <a:ea typeface="Times New Roman"/>
                <a:cs typeface="Times New Roman"/>
                <a:sym typeface="Times New Roman"/>
              </a:rPr>
              <a:t>through all the </a:t>
            </a:r>
            <a:r>
              <a:rPr b="1" lang="en-US" sz="3000">
                <a:solidFill>
                  <a:srgbClr val="3E3E3E"/>
                </a:solidFill>
                <a:latin typeface="Times New Roman"/>
                <a:ea typeface="Times New Roman"/>
                <a:cs typeface="Times New Roman"/>
                <a:sym typeface="Times New Roman"/>
              </a:rPr>
              <a:t>layers </a:t>
            </a:r>
            <a:r>
              <a:rPr lang="en-US" sz="3000">
                <a:solidFill>
                  <a:srgbClr val="3E3E3E"/>
                </a:solidFill>
                <a:latin typeface="Times New Roman"/>
                <a:ea typeface="Times New Roman"/>
                <a:cs typeface="Times New Roman"/>
                <a:sym typeface="Times New Roman"/>
              </a:rPr>
              <a:t>of our </a:t>
            </a:r>
            <a:r>
              <a:rPr b="1" lang="en-US" sz="3000">
                <a:solidFill>
                  <a:srgbClr val="3E3E3E"/>
                </a:solidFill>
                <a:latin typeface="Times New Roman"/>
                <a:ea typeface="Times New Roman"/>
                <a:cs typeface="Times New Roman"/>
                <a:sym typeface="Times New Roman"/>
              </a:rPr>
              <a:t>network</a:t>
            </a:r>
            <a:endParaRPr sz="3000">
              <a:latin typeface="Times New Roman"/>
              <a:ea typeface="Times New Roman"/>
              <a:cs typeface="Times New Roman"/>
              <a:sym typeface="Times New Roman"/>
            </a:endParaRPr>
          </a:p>
          <a:p>
            <a:pPr indent="0" lvl="0" marL="0" rtl="0" algn="l">
              <a:lnSpc>
                <a:spcPct val="100000"/>
              </a:lnSpc>
              <a:spcBef>
                <a:spcPts val="869"/>
              </a:spcBef>
              <a:spcAft>
                <a:spcPts val="0"/>
              </a:spcAft>
              <a:buNone/>
            </a:pPr>
            <a:r>
              <a:t/>
            </a:r>
            <a:endParaRPr sz="3000">
              <a:latin typeface="Times New Roman"/>
              <a:ea typeface="Times New Roman"/>
              <a:cs typeface="Times New Roman"/>
              <a:sym typeface="Times New Roman"/>
            </a:endParaRPr>
          </a:p>
          <a:p>
            <a:pPr indent="-285750" lvl="0" marL="297815" marR="196215" rtl="0" algn="l">
              <a:lnSpc>
                <a:spcPct val="96000"/>
              </a:lnSpc>
              <a:spcBef>
                <a:spcPts val="0"/>
              </a:spcBef>
              <a:spcAft>
                <a:spcPts val="0"/>
              </a:spcAft>
              <a:buClr>
                <a:srgbClr val="00B050"/>
              </a:buClr>
              <a:buSzPts val="3000"/>
              <a:buFont typeface="Noto Sans Symbols"/>
              <a:buChar char="▪"/>
            </a:pPr>
            <a:r>
              <a:rPr lang="en-US" sz="3000">
                <a:solidFill>
                  <a:srgbClr val="00B050"/>
                </a:solidFill>
                <a:latin typeface="Times New Roman"/>
                <a:ea typeface="Times New Roman"/>
                <a:cs typeface="Times New Roman"/>
                <a:sym typeface="Times New Roman"/>
              </a:rPr>
              <a:t>But, </a:t>
            </a:r>
            <a:r>
              <a:rPr b="1" lang="en-US" sz="3000">
                <a:solidFill>
                  <a:srgbClr val="00B050"/>
                </a:solidFill>
                <a:latin typeface="Times New Roman"/>
                <a:ea typeface="Times New Roman"/>
                <a:cs typeface="Times New Roman"/>
                <a:sym typeface="Times New Roman"/>
              </a:rPr>
              <a:t>how </a:t>
            </a:r>
            <a:r>
              <a:rPr lang="en-US" sz="3000">
                <a:solidFill>
                  <a:srgbClr val="00B050"/>
                </a:solidFill>
                <a:latin typeface="Times New Roman"/>
                <a:ea typeface="Times New Roman"/>
                <a:cs typeface="Times New Roman"/>
                <a:sym typeface="Times New Roman"/>
              </a:rPr>
              <a:t>do we check what </a:t>
            </a:r>
            <a:r>
              <a:rPr b="1" lang="en-US" sz="3000">
                <a:solidFill>
                  <a:srgbClr val="00B050"/>
                </a:solidFill>
                <a:latin typeface="Times New Roman"/>
                <a:ea typeface="Times New Roman"/>
                <a:cs typeface="Times New Roman"/>
                <a:sym typeface="Times New Roman"/>
              </a:rPr>
              <a:t>we 	have obtained </a:t>
            </a:r>
            <a:r>
              <a:rPr lang="en-US" sz="3000">
                <a:solidFill>
                  <a:srgbClr val="00B050"/>
                </a:solidFill>
                <a:latin typeface="Times New Roman"/>
                <a:ea typeface="Times New Roman"/>
                <a:cs typeface="Times New Roman"/>
                <a:sym typeface="Times New Roman"/>
              </a:rPr>
              <a:t>is </a:t>
            </a:r>
            <a:r>
              <a:rPr lang="en-US" sz="3000" u="sng">
                <a:solidFill>
                  <a:srgbClr val="00B050"/>
                </a:solidFill>
                <a:latin typeface="Times New Roman"/>
                <a:ea typeface="Times New Roman"/>
                <a:cs typeface="Times New Roman"/>
                <a:sym typeface="Times New Roman"/>
              </a:rPr>
              <a:t>right or</a:t>
            </a:r>
            <a:r>
              <a:rPr lang="en-US" sz="3000">
                <a:solidFill>
                  <a:srgbClr val="00B050"/>
                </a:solidFill>
                <a:latin typeface="Times New Roman"/>
                <a:ea typeface="Times New Roman"/>
                <a:cs typeface="Times New Roman"/>
                <a:sym typeface="Times New Roman"/>
              </a:rPr>
              <a:t> 	</a:t>
            </a:r>
            <a:r>
              <a:rPr lang="en-US" sz="3000" u="sng">
                <a:solidFill>
                  <a:srgbClr val="00B050"/>
                </a:solidFill>
                <a:latin typeface="Times New Roman"/>
                <a:ea typeface="Times New Roman"/>
                <a:cs typeface="Times New Roman"/>
                <a:sym typeface="Times New Roman"/>
              </a:rPr>
              <a:t>wrong?</a:t>
            </a:r>
            <a:endParaRPr sz="3000">
              <a:latin typeface="Times New Roman"/>
              <a:ea typeface="Times New Roman"/>
              <a:cs typeface="Times New Roman"/>
              <a:sym typeface="Times New Roman"/>
            </a:endParaRPr>
          </a:p>
        </p:txBody>
      </p:sp>
      <p:pic>
        <p:nvPicPr>
          <p:cNvPr id="442" name="Google Shape;442;p52"/>
          <p:cNvPicPr preferRelativeResize="0"/>
          <p:nvPr/>
        </p:nvPicPr>
        <p:blipFill rotWithShape="1">
          <a:blip r:embed="rId3">
            <a:alphaModFix/>
          </a:blip>
          <a:srcRect b="0" l="0" r="0" t="0"/>
          <a:stretch/>
        </p:blipFill>
        <p:spPr>
          <a:xfrm>
            <a:off x="6588223" y="1020395"/>
            <a:ext cx="923924" cy="3962399"/>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53"/>
          <p:cNvSpPr txBox="1"/>
          <p:nvPr>
            <p:ph type="title"/>
          </p:nvPr>
        </p:nvSpPr>
        <p:spPr>
          <a:xfrm>
            <a:off x="78739" y="118636"/>
            <a:ext cx="8986520" cy="574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Example</a:t>
            </a:r>
            <a:endParaRPr/>
          </a:p>
        </p:txBody>
      </p:sp>
      <p:sp>
        <p:nvSpPr>
          <p:cNvPr id="448" name="Google Shape;448;p53"/>
          <p:cNvSpPr txBox="1"/>
          <p:nvPr/>
        </p:nvSpPr>
        <p:spPr>
          <a:xfrm>
            <a:off x="789180" y="955063"/>
            <a:ext cx="7571740" cy="807720"/>
          </a:xfrm>
          <a:prstGeom prst="rect">
            <a:avLst/>
          </a:prstGeom>
          <a:noFill/>
          <a:ln>
            <a:noFill/>
          </a:ln>
        </p:spPr>
        <p:txBody>
          <a:bodyPr anchorCtr="0" anchor="t" bIns="0" lIns="0" spcFirstLastPara="1" rIns="0" wrap="square" tIns="58400">
            <a:spAutoFit/>
          </a:bodyPr>
          <a:lstStyle/>
          <a:p>
            <a:pPr indent="-287019" lvl="0" marL="299085" marR="5080" rtl="0" algn="l">
              <a:lnSpc>
                <a:spcPct val="108148"/>
              </a:lnSpc>
              <a:spcBef>
                <a:spcPts val="0"/>
              </a:spcBef>
              <a:spcAft>
                <a:spcPts val="0"/>
              </a:spcAft>
              <a:buClr>
                <a:srgbClr val="3E3E3E"/>
              </a:buClr>
              <a:buSzPts val="2700"/>
              <a:buFont typeface="Noto Sans Symbols"/>
              <a:buChar char="▪"/>
            </a:pPr>
            <a:r>
              <a:rPr lang="en-US" sz="2700">
                <a:solidFill>
                  <a:srgbClr val="3E3E3E"/>
                </a:solidFill>
                <a:latin typeface="Times New Roman"/>
                <a:ea typeface="Times New Roman"/>
                <a:cs typeface="Times New Roman"/>
                <a:sym typeface="Times New Roman"/>
              </a:rPr>
              <a:t>We </a:t>
            </a:r>
            <a:r>
              <a:rPr b="1" lang="en-US" sz="2700">
                <a:solidFill>
                  <a:srgbClr val="3E3E3E"/>
                </a:solidFill>
                <a:latin typeface="Times New Roman"/>
                <a:ea typeface="Times New Roman"/>
                <a:cs typeface="Times New Roman"/>
                <a:sym typeface="Times New Roman"/>
              </a:rPr>
              <a:t>make predictions </a:t>
            </a:r>
            <a:r>
              <a:rPr lang="en-US" sz="2700">
                <a:solidFill>
                  <a:srgbClr val="3E3E3E"/>
                </a:solidFill>
                <a:latin typeface="Times New Roman"/>
                <a:ea typeface="Times New Roman"/>
                <a:cs typeface="Times New Roman"/>
                <a:sym typeface="Times New Roman"/>
              </a:rPr>
              <a:t>based on the </a:t>
            </a:r>
            <a:r>
              <a:rPr b="1" lang="en-US" sz="2700">
                <a:solidFill>
                  <a:srgbClr val="3E3E3E"/>
                </a:solidFill>
                <a:latin typeface="Times New Roman"/>
                <a:ea typeface="Times New Roman"/>
                <a:cs typeface="Times New Roman"/>
                <a:sym typeface="Times New Roman"/>
              </a:rPr>
              <a:t>output </a:t>
            </a:r>
            <a:r>
              <a:rPr lang="en-US" sz="2700">
                <a:solidFill>
                  <a:srgbClr val="3E3E3E"/>
                </a:solidFill>
                <a:latin typeface="Times New Roman"/>
                <a:ea typeface="Times New Roman"/>
                <a:cs typeface="Times New Roman"/>
                <a:sym typeface="Times New Roman"/>
              </a:rPr>
              <a:t>data by comparing the </a:t>
            </a:r>
            <a:r>
              <a:rPr b="1" lang="en-US" sz="2700">
                <a:solidFill>
                  <a:srgbClr val="3E3E3E"/>
                </a:solidFill>
                <a:latin typeface="Times New Roman"/>
                <a:ea typeface="Times New Roman"/>
                <a:cs typeface="Times New Roman"/>
                <a:sym typeface="Times New Roman"/>
              </a:rPr>
              <a:t>obtained values </a:t>
            </a:r>
            <a:r>
              <a:rPr lang="en-US" sz="2700">
                <a:solidFill>
                  <a:srgbClr val="3E3E3E"/>
                </a:solidFill>
                <a:latin typeface="Times New Roman"/>
                <a:ea typeface="Times New Roman"/>
                <a:cs typeface="Times New Roman"/>
                <a:sym typeface="Times New Roman"/>
              </a:rPr>
              <a:t>with list of	‘x’ and ‘o’!</a:t>
            </a:r>
            <a:endParaRPr sz="2700">
              <a:latin typeface="Times New Roman"/>
              <a:ea typeface="Times New Roman"/>
              <a:cs typeface="Times New Roman"/>
              <a:sym typeface="Times New Roman"/>
            </a:endParaRPr>
          </a:p>
        </p:txBody>
      </p:sp>
      <p:pic>
        <p:nvPicPr>
          <p:cNvPr id="449" name="Google Shape;449;p53"/>
          <p:cNvPicPr preferRelativeResize="0"/>
          <p:nvPr/>
        </p:nvPicPr>
        <p:blipFill rotWithShape="1">
          <a:blip r:embed="rId3">
            <a:alphaModFix/>
          </a:blip>
          <a:srcRect b="0" l="0" r="0" t="0"/>
          <a:stretch/>
        </p:blipFill>
        <p:spPr>
          <a:xfrm>
            <a:off x="1619681" y="1832343"/>
            <a:ext cx="6579031" cy="3311156"/>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54"/>
          <p:cNvSpPr txBox="1"/>
          <p:nvPr>
            <p:ph type="title"/>
          </p:nvPr>
        </p:nvSpPr>
        <p:spPr>
          <a:xfrm>
            <a:off x="78739" y="118636"/>
            <a:ext cx="8986520" cy="574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Example</a:t>
            </a:r>
            <a:endParaRPr/>
          </a:p>
        </p:txBody>
      </p:sp>
      <p:sp>
        <p:nvSpPr>
          <p:cNvPr id="455" name="Google Shape;455;p54"/>
          <p:cNvSpPr txBox="1"/>
          <p:nvPr/>
        </p:nvSpPr>
        <p:spPr>
          <a:xfrm>
            <a:off x="203575" y="987075"/>
            <a:ext cx="8861700" cy="506100"/>
          </a:xfrm>
          <a:prstGeom prst="rect">
            <a:avLst/>
          </a:prstGeom>
          <a:noFill/>
          <a:ln>
            <a:noFill/>
          </a:ln>
        </p:spPr>
        <p:txBody>
          <a:bodyPr anchorCtr="0" anchor="t" bIns="0" lIns="0" spcFirstLastPara="1" rIns="0" wrap="square" tIns="13325">
            <a:spAutoFit/>
          </a:bodyPr>
          <a:lstStyle/>
          <a:p>
            <a:pPr indent="-286385" lvl="0" marL="299085" rtl="0" algn="l">
              <a:lnSpc>
                <a:spcPct val="100000"/>
              </a:lnSpc>
              <a:spcBef>
                <a:spcPts val="0"/>
              </a:spcBef>
              <a:spcAft>
                <a:spcPts val="0"/>
              </a:spcAft>
              <a:buClr>
                <a:srgbClr val="3E3E3E"/>
              </a:buClr>
              <a:buSzPts val="3200"/>
              <a:buFont typeface="Noto Sans Symbols"/>
              <a:buChar char="▪"/>
            </a:pPr>
            <a:r>
              <a:rPr lang="en-US" sz="3200">
                <a:solidFill>
                  <a:srgbClr val="3E3E3E"/>
                </a:solidFill>
                <a:latin typeface="Times New Roman"/>
                <a:ea typeface="Times New Roman"/>
                <a:cs typeface="Times New Roman"/>
                <a:sym typeface="Times New Roman"/>
              </a:rPr>
              <a:t>Doing the same with </a:t>
            </a:r>
            <a:r>
              <a:rPr b="1" lang="en-US" sz="3200">
                <a:solidFill>
                  <a:srgbClr val="3E3E3E"/>
                </a:solidFill>
                <a:latin typeface="Times New Roman"/>
                <a:ea typeface="Times New Roman"/>
                <a:cs typeface="Times New Roman"/>
                <a:sym typeface="Times New Roman"/>
              </a:rPr>
              <a:t>vector table </a:t>
            </a:r>
            <a:r>
              <a:rPr lang="en-US" sz="3200">
                <a:solidFill>
                  <a:srgbClr val="3E3E3E"/>
                </a:solidFill>
                <a:latin typeface="Times New Roman"/>
                <a:ea typeface="Times New Roman"/>
                <a:cs typeface="Times New Roman"/>
                <a:sym typeface="Times New Roman"/>
              </a:rPr>
              <a:t>of	</a:t>
            </a:r>
            <a:r>
              <a:rPr b="1" lang="en-US" sz="3200">
                <a:solidFill>
                  <a:srgbClr val="3E3E3E"/>
                </a:solidFill>
                <a:latin typeface="Times New Roman"/>
                <a:ea typeface="Times New Roman"/>
                <a:cs typeface="Times New Roman"/>
                <a:sym typeface="Times New Roman"/>
              </a:rPr>
              <a:t>‘o’ </a:t>
            </a:r>
            <a:r>
              <a:rPr lang="en-US" sz="3200">
                <a:solidFill>
                  <a:srgbClr val="3E3E3E"/>
                </a:solidFill>
                <a:latin typeface="Times New Roman"/>
                <a:ea typeface="Times New Roman"/>
                <a:cs typeface="Times New Roman"/>
                <a:sym typeface="Times New Roman"/>
              </a:rPr>
              <a:t>now.</a:t>
            </a:r>
            <a:endParaRPr sz="3200">
              <a:latin typeface="Times New Roman"/>
              <a:ea typeface="Times New Roman"/>
              <a:cs typeface="Times New Roman"/>
              <a:sym typeface="Times New Roman"/>
            </a:endParaRPr>
          </a:p>
        </p:txBody>
      </p:sp>
      <p:pic>
        <p:nvPicPr>
          <p:cNvPr id="456" name="Google Shape;456;p54"/>
          <p:cNvPicPr preferRelativeResize="0"/>
          <p:nvPr/>
        </p:nvPicPr>
        <p:blipFill rotWithShape="1">
          <a:blip r:embed="rId3">
            <a:alphaModFix/>
          </a:blip>
          <a:srcRect b="0" l="0" r="0" t="0"/>
          <a:stretch/>
        </p:blipFill>
        <p:spPr>
          <a:xfrm>
            <a:off x="1139393" y="1635646"/>
            <a:ext cx="7092045" cy="3507853"/>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55"/>
          <p:cNvSpPr txBox="1"/>
          <p:nvPr>
            <p:ph type="title"/>
          </p:nvPr>
        </p:nvSpPr>
        <p:spPr>
          <a:xfrm>
            <a:off x="78739" y="118636"/>
            <a:ext cx="8986520" cy="574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Example</a:t>
            </a:r>
            <a:endParaRPr/>
          </a:p>
        </p:txBody>
      </p:sp>
      <p:sp>
        <p:nvSpPr>
          <p:cNvPr id="462" name="Google Shape;462;p55"/>
          <p:cNvSpPr txBox="1"/>
          <p:nvPr/>
        </p:nvSpPr>
        <p:spPr>
          <a:xfrm>
            <a:off x="789180" y="987066"/>
            <a:ext cx="7811770" cy="3603625"/>
          </a:xfrm>
          <a:prstGeom prst="rect">
            <a:avLst/>
          </a:prstGeom>
          <a:noFill/>
          <a:ln>
            <a:noFill/>
          </a:ln>
        </p:spPr>
        <p:txBody>
          <a:bodyPr anchorCtr="0" anchor="t" bIns="0" lIns="0" spcFirstLastPara="1" rIns="0" wrap="square" tIns="13325">
            <a:spAutoFit/>
          </a:bodyPr>
          <a:lstStyle/>
          <a:p>
            <a:pPr indent="-287019" lvl="0" marL="299085" marR="589915" rtl="0" algn="l">
              <a:lnSpc>
                <a:spcPct val="100000"/>
              </a:lnSpc>
              <a:spcBef>
                <a:spcPts val="0"/>
              </a:spcBef>
              <a:spcAft>
                <a:spcPts val="0"/>
              </a:spcAft>
              <a:buClr>
                <a:srgbClr val="3E3E3E"/>
              </a:buClr>
              <a:buSzPts val="3200"/>
              <a:buFont typeface="Noto Sans Symbols"/>
              <a:buChar char="▪"/>
            </a:pPr>
            <a:r>
              <a:rPr lang="en-US" sz="3200">
                <a:solidFill>
                  <a:srgbClr val="3E3E3E"/>
                </a:solidFill>
                <a:latin typeface="Times New Roman"/>
                <a:ea typeface="Times New Roman"/>
                <a:cs typeface="Times New Roman"/>
                <a:sym typeface="Times New Roman"/>
              </a:rPr>
              <a:t>We have the </a:t>
            </a:r>
            <a:r>
              <a:rPr b="1" lang="en-US" sz="3200">
                <a:solidFill>
                  <a:srgbClr val="3E3E3E"/>
                </a:solidFill>
                <a:latin typeface="Times New Roman"/>
                <a:ea typeface="Times New Roman"/>
                <a:cs typeface="Times New Roman"/>
                <a:sym typeface="Times New Roman"/>
              </a:rPr>
              <a:t>output </a:t>
            </a:r>
            <a:r>
              <a:rPr lang="en-US" sz="3200">
                <a:solidFill>
                  <a:srgbClr val="3E3E3E"/>
                </a:solidFill>
                <a:latin typeface="Times New Roman"/>
                <a:ea typeface="Times New Roman"/>
                <a:cs typeface="Times New Roman"/>
                <a:sym typeface="Times New Roman"/>
              </a:rPr>
              <a:t>probability as </a:t>
            </a:r>
            <a:r>
              <a:rPr b="1" lang="en-US" sz="3200">
                <a:solidFill>
                  <a:srgbClr val="3E3E3E"/>
                </a:solidFill>
                <a:latin typeface="Times New Roman"/>
                <a:ea typeface="Times New Roman"/>
                <a:cs typeface="Times New Roman"/>
                <a:sym typeface="Times New Roman"/>
              </a:rPr>
              <a:t>0.91 </a:t>
            </a:r>
            <a:r>
              <a:rPr lang="en-US" sz="3200">
                <a:solidFill>
                  <a:srgbClr val="3E3E3E"/>
                </a:solidFill>
                <a:latin typeface="Times New Roman"/>
                <a:ea typeface="Times New Roman"/>
                <a:cs typeface="Times New Roman"/>
                <a:sym typeface="Times New Roman"/>
              </a:rPr>
              <a:t>with table of	X.</a:t>
            </a:r>
            <a:endParaRPr sz="3200">
              <a:latin typeface="Times New Roman"/>
              <a:ea typeface="Times New Roman"/>
              <a:cs typeface="Times New Roman"/>
              <a:sym typeface="Times New Roman"/>
            </a:endParaRPr>
          </a:p>
          <a:p>
            <a:pPr indent="-287019" lvl="0" marL="299085" marR="589915" rtl="0" algn="l">
              <a:lnSpc>
                <a:spcPct val="100000"/>
              </a:lnSpc>
              <a:spcBef>
                <a:spcPts val="765"/>
              </a:spcBef>
              <a:spcAft>
                <a:spcPts val="0"/>
              </a:spcAft>
              <a:buClr>
                <a:srgbClr val="3E3E3E"/>
              </a:buClr>
              <a:buSzPts val="3200"/>
              <a:buFont typeface="Noto Sans Symbols"/>
              <a:buChar char="▪"/>
            </a:pPr>
            <a:r>
              <a:rPr lang="en-US" sz="3200">
                <a:solidFill>
                  <a:srgbClr val="3E3E3E"/>
                </a:solidFill>
                <a:latin typeface="Times New Roman"/>
                <a:ea typeface="Times New Roman"/>
                <a:cs typeface="Times New Roman"/>
                <a:sym typeface="Times New Roman"/>
              </a:rPr>
              <a:t>We have the </a:t>
            </a:r>
            <a:r>
              <a:rPr b="1" lang="en-US" sz="3200">
                <a:solidFill>
                  <a:srgbClr val="3E3E3E"/>
                </a:solidFill>
                <a:latin typeface="Times New Roman"/>
                <a:ea typeface="Times New Roman"/>
                <a:cs typeface="Times New Roman"/>
                <a:sym typeface="Times New Roman"/>
              </a:rPr>
              <a:t>output </a:t>
            </a:r>
            <a:r>
              <a:rPr lang="en-US" sz="3200">
                <a:solidFill>
                  <a:srgbClr val="3E3E3E"/>
                </a:solidFill>
                <a:latin typeface="Times New Roman"/>
                <a:ea typeface="Times New Roman"/>
                <a:cs typeface="Times New Roman"/>
                <a:sym typeface="Times New Roman"/>
              </a:rPr>
              <a:t>probability as </a:t>
            </a:r>
            <a:r>
              <a:rPr b="1" lang="en-US" sz="3200">
                <a:solidFill>
                  <a:srgbClr val="3E3E3E"/>
                </a:solidFill>
                <a:latin typeface="Times New Roman"/>
                <a:ea typeface="Times New Roman"/>
                <a:cs typeface="Times New Roman"/>
                <a:sym typeface="Times New Roman"/>
              </a:rPr>
              <a:t>0.51 </a:t>
            </a:r>
            <a:r>
              <a:rPr lang="en-US" sz="3200">
                <a:solidFill>
                  <a:srgbClr val="3E3E3E"/>
                </a:solidFill>
                <a:latin typeface="Times New Roman"/>
                <a:ea typeface="Times New Roman"/>
                <a:cs typeface="Times New Roman"/>
                <a:sym typeface="Times New Roman"/>
              </a:rPr>
              <a:t>with table of	O.</a:t>
            </a:r>
            <a:endParaRPr sz="3200">
              <a:latin typeface="Times New Roman"/>
              <a:ea typeface="Times New Roman"/>
              <a:cs typeface="Times New Roman"/>
              <a:sym typeface="Times New Roman"/>
            </a:endParaRPr>
          </a:p>
          <a:p>
            <a:pPr indent="-286385" lvl="0" marL="299085" rtl="0" algn="l">
              <a:lnSpc>
                <a:spcPct val="100000"/>
              </a:lnSpc>
              <a:spcBef>
                <a:spcPts val="770"/>
              </a:spcBef>
              <a:spcAft>
                <a:spcPts val="0"/>
              </a:spcAft>
              <a:buClr>
                <a:srgbClr val="3E3E3E"/>
              </a:buClr>
              <a:buSzPts val="3200"/>
              <a:buFont typeface="Noto Sans Symbols"/>
              <a:buChar char="▪"/>
            </a:pPr>
            <a:r>
              <a:rPr lang="en-US" sz="3200">
                <a:solidFill>
                  <a:srgbClr val="3E3E3E"/>
                </a:solidFill>
                <a:latin typeface="Times New Roman"/>
                <a:ea typeface="Times New Roman"/>
                <a:cs typeface="Times New Roman"/>
                <a:sym typeface="Times New Roman"/>
              </a:rPr>
              <a:t>Since </a:t>
            </a:r>
            <a:r>
              <a:rPr b="1" lang="en-US" sz="3200">
                <a:solidFill>
                  <a:srgbClr val="3E3E3E"/>
                </a:solidFill>
                <a:latin typeface="Times New Roman"/>
                <a:ea typeface="Times New Roman"/>
                <a:cs typeface="Times New Roman"/>
                <a:sym typeface="Times New Roman"/>
              </a:rPr>
              <a:t>0.51 &lt;= 0.91</a:t>
            </a:r>
            <a:endParaRPr sz="3200">
              <a:latin typeface="Times New Roman"/>
              <a:ea typeface="Times New Roman"/>
              <a:cs typeface="Times New Roman"/>
              <a:sym typeface="Times New Roman"/>
            </a:endParaRPr>
          </a:p>
          <a:p>
            <a:pPr indent="-287019" lvl="0" marL="756285" marR="5080" rtl="0" algn="l">
              <a:lnSpc>
                <a:spcPct val="100000"/>
              </a:lnSpc>
              <a:spcBef>
                <a:spcPts val="710"/>
              </a:spcBef>
              <a:spcAft>
                <a:spcPts val="0"/>
              </a:spcAft>
              <a:buNone/>
            </a:pPr>
            <a:r>
              <a:rPr lang="en-US" sz="2800">
                <a:latin typeface="Arial"/>
                <a:ea typeface="Arial"/>
                <a:cs typeface="Arial"/>
                <a:sym typeface="Arial"/>
              </a:rPr>
              <a:t>– </a:t>
            </a:r>
            <a:r>
              <a:rPr lang="en-US" sz="2800">
                <a:latin typeface="Times New Roman"/>
                <a:ea typeface="Times New Roman"/>
                <a:cs typeface="Times New Roman"/>
                <a:sym typeface="Times New Roman"/>
              </a:rPr>
              <a:t>we can conclude that the </a:t>
            </a:r>
            <a:r>
              <a:rPr b="1" lang="en-US" sz="2800">
                <a:latin typeface="Times New Roman"/>
                <a:ea typeface="Times New Roman"/>
                <a:cs typeface="Times New Roman"/>
                <a:sym typeface="Times New Roman"/>
              </a:rPr>
              <a:t>resulting input image </a:t>
            </a:r>
            <a:r>
              <a:rPr lang="en-US" sz="2800">
                <a:latin typeface="Times New Roman"/>
                <a:ea typeface="Times New Roman"/>
                <a:cs typeface="Times New Roman"/>
                <a:sym typeface="Times New Roman"/>
              </a:rPr>
              <a:t>is an </a:t>
            </a:r>
            <a:r>
              <a:rPr b="1" lang="en-US" sz="2800">
                <a:latin typeface="Times New Roman"/>
                <a:ea typeface="Times New Roman"/>
                <a:cs typeface="Times New Roman"/>
                <a:sym typeface="Times New Roman"/>
              </a:rPr>
              <a:t>‘x’!</a:t>
            </a:r>
            <a:endParaRPr sz="2800">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56"/>
          <p:cNvSpPr txBox="1"/>
          <p:nvPr>
            <p:ph type="title"/>
          </p:nvPr>
        </p:nvSpPr>
        <p:spPr>
          <a:xfrm>
            <a:off x="78751" y="118625"/>
            <a:ext cx="8851200" cy="5670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0" lang="en-US">
                <a:latin typeface="Times New Roman"/>
                <a:ea typeface="Times New Roman"/>
                <a:cs typeface="Times New Roman"/>
                <a:sym typeface="Times New Roman"/>
              </a:rPr>
              <a:t>Classification of	Images of	</a:t>
            </a:r>
            <a:r>
              <a:rPr lang="en-US"/>
              <a:t>CIFAR10 </a:t>
            </a:r>
            <a:r>
              <a:rPr b="0" lang="en-US">
                <a:latin typeface="Times New Roman"/>
                <a:ea typeface="Times New Roman"/>
                <a:cs typeface="Times New Roman"/>
                <a:sym typeface="Times New Roman"/>
              </a:rPr>
              <a:t>Dataset</a:t>
            </a:r>
            <a:endParaRPr/>
          </a:p>
        </p:txBody>
      </p:sp>
      <p:sp>
        <p:nvSpPr>
          <p:cNvPr id="468" name="Google Shape;468;p56"/>
          <p:cNvSpPr txBox="1"/>
          <p:nvPr/>
        </p:nvSpPr>
        <p:spPr>
          <a:xfrm>
            <a:off x="789180" y="990113"/>
            <a:ext cx="3301365" cy="2860040"/>
          </a:xfrm>
          <a:prstGeom prst="rect">
            <a:avLst/>
          </a:prstGeom>
          <a:noFill/>
          <a:ln>
            <a:noFill/>
          </a:ln>
        </p:spPr>
        <p:txBody>
          <a:bodyPr anchorCtr="0" anchor="t" bIns="0" lIns="0" spcFirstLastPara="1" rIns="0" wrap="square" tIns="12700">
            <a:spAutoFit/>
          </a:bodyPr>
          <a:lstStyle/>
          <a:p>
            <a:pPr indent="-285750" lvl="0" marL="297815" marR="5080" rtl="0" algn="l">
              <a:lnSpc>
                <a:spcPct val="100000"/>
              </a:lnSpc>
              <a:spcBef>
                <a:spcPts val="0"/>
              </a:spcBef>
              <a:spcAft>
                <a:spcPts val="0"/>
              </a:spcAft>
              <a:buClr>
                <a:srgbClr val="3E3E3E"/>
              </a:buClr>
              <a:buSzPts val="3000"/>
              <a:buFont typeface="Noto Sans Symbols"/>
              <a:buChar char="▪"/>
            </a:pPr>
            <a:r>
              <a:rPr b="1" lang="en-US" sz="3000">
                <a:solidFill>
                  <a:srgbClr val="3E3E3E"/>
                </a:solidFill>
                <a:latin typeface="Times New Roman"/>
                <a:ea typeface="Times New Roman"/>
                <a:cs typeface="Times New Roman"/>
                <a:sym typeface="Times New Roman"/>
              </a:rPr>
              <a:t>Train </a:t>
            </a:r>
            <a:r>
              <a:rPr lang="en-US" sz="3000">
                <a:solidFill>
                  <a:srgbClr val="3E3E3E"/>
                </a:solidFill>
                <a:latin typeface="Times New Roman"/>
                <a:ea typeface="Times New Roman"/>
                <a:cs typeface="Times New Roman"/>
                <a:sym typeface="Times New Roman"/>
              </a:rPr>
              <a:t>a </a:t>
            </a:r>
            <a:r>
              <a:rPr b="1" lang="en-US" sz="3000">
                <a:solidFill>
                  <a:srgbClr val="3E3E3E"/>
                </a:solidFill>
                <a:latin typeface="Times New Roman"/>
                <a:ea typeface="Times New Roman"/>
                <a:cs typeface="Times New Roman"/>
                <a:sym typeface="Times New Roman"/>
              </a:rPr>
              <a:t>network </a:t>
            </a:r>
            <a:r>
              <a:rPr lang="en-US" sz="3000">
                <a:solidFill>
                  <a:srgbClr val="3E3E3E"/>
                </a:solidFill>
                <a:latin typeface="Times New Roman"/>
                <a:ea typeface="Times New Roman"/>
                <a:cs typeface="Times New Roman"/>
                <a:sym typeface="Times New Roman"/>
              </a:rPr>
              <a:t>to 	classify images from 	the </a:t>
            </a:r>
            <a:r>
              <a:rPr b="1" lang="en-US" sz="3000">
                <a:solidFill>
                  <a:srgbClr val="00B050"/>
                </a:solidFill>
                <a:latin typeface="Times New Roman"/>
                <a:ea typeface="Times New Roman"/>
                <a:cs typeface="Times New Roman"/>
                <a:sym typeface="Times New Roman"/>
              </a:rPr>
              <a:t>CIFAR10 	</a:t>
            </a:r>
            <a:r>
              <a:rPr b="1" lang="en-US" sz="3000">
                <a:solidFill>
                  <a:srgbClr val="3E3E3E"/>
                </a:solidFill>
                <a:latin typeface="Times New Roman"/>
                <a:ea typeface="Times New Roman"/>
                <a:cs typeface="Times New Roman"/>
                <a:sym typeface="Times New Roman"/>
              </a:rPr>
              <a:t>Dataset</a:t>
            </a:r>
            <a:endParaRPr sz="3000">
              <a:latin typeface="Times New Roman"/>
              <a:ea typeface="Times New Roman"/>
              <a:cs typeface="Times New Roman"/>
              <a:sym typeface="Times New Roman"/>
            </a:endParaRPr>
          </a:p>
          <a:p>
            <a:pPr indent="-285750" lvl="0" marL="297815" marR="205104" rtl="0" algn="l">
              <a:lnSpc>
                <a:spcPct val="100000"/>
              </a:lnSpc>
              <a:spcBef>
                <a:spcPts val="720"/>
              </a:spcBef>
              <a:spcAft>
                <a:spcPts val="0"/>
              </a:spcAft>
              <a:buClr>
                <a:srgbClr val="3E3E3E"/>
              </a:buClr>
              <a:buSzPts val="3000"/>
              <a:buFont typeface="Noto Sans Symbols"/>
              <a:buChar char="▪"/>
            </a:pPr>
            <a:r>
              <a:rPr lang="en-US" sz="3000">
                <a:solidFill>
                  <a:srgbClr val="3E3E3E"/>
                </a:solidFill>
                <a:latin typeface="Times New Roman"/>
                <a:ea typeface="Times New Roman"/>
                <a:cs typeface="Times New Roman"/>
                <a:sym typeface="Times New Roman"/>
              </a:rPr>
              <a:t>Use of	</a:t>
            </a:r>
            <a:r>
              <a:rPr b="1" lang="en-US" sz="3000">
                <a:solidFill>
                  <a:srgbClr val="3E3E3E"/>
                </a:solidFill>
                <a:latin typeface="Times New Roman"/>
                <a:ea typeface="Times New Roman"/>
                <a:cs typeface="Times New Roman"/>
                <a:sym typeface="Times New Roman"/>
              </a:rPr>
              <a:t>CNN </a:t>
            </a:r>
            <a:r>
              <a:rPr lang="en-US" sz="3000">
                <a:solidFill>
                  <a:srgbClr val="3E3E3E"/>
                </a:solidFill>
                <a:latin typeface="Times New Roman"/>
                <a:ea typeface="Times New Roman"/>
                <a:cs typeface="Times New Roman"/>
                <a:sym typeface="Times New Roman"/>
              </a:rPr>
              <a:t>built 	in </a:t>
            </a:r>
            <a:r>
              <a:rPr b="1" lang="en-US" sz="3000">
                <a:solidFill>
                  <a:srgbClr val="3E3E3E"/>
                </a:solidFill>
                <a:latin typeface="Times New Roman"/>
                <a:ea typeface="Times New Roman"/>
                <a:cs typeface="Times New Roman"/>
                <a:sym typeface="Times New Roman"/>
              </a:rPr>
              <a:t>TensorFlow</a:t>
            </a:r>
            <a:r>
              <a:rPr lang="en-US" sz="3000">
                <a:solidFill>
                  <a:srgbClr val="3E3E3E"/>
                </a:solidFill>
                <a:latin typeface="Times New Roman"/>
                <a:ea typeface="Times New Roman"/>
                <a:cs typeface="Times New Roman"/>
                <a:sym typeface="Times New Roman"/>
              </a:rPr>
              <a:t>.</a:t>
            </a:r>
            <a:endParaRPr sz="3000">
              <a:latin typeface="Times New Roman"/>
              <a:ea typeface="Times New Roman"/>
              <a:cs typeface="Times New Roman"/>
              <a:sym typeface="Times New Roman"/>
            </a:endParaRPr>
          </a:p>
        </p:txBody>
      </p:sp>
      <p:pic>
        <p:nvPicPr>
          <p:cNvPr id="469" name="Google Shape;469;p56"/>
          <p:cNvPicPr preferRelativeResize="0"/>
          <p:nvPr/>
        </p:nvPicPr>
        <p:blipFill rotWithShape="1">
          <a:blip r:embed="rId3">
            <a:alphaModFix/>
          </a:blip>
          <a:srcRect b="0" l="0" r="0" t="0"/>
          <a:stretch/>
        </p:blipFill>
        <p:spPr>
          <a:xfrm>
            <a:off x="4355975" y="1266093"/>
            <a:ext cx="4616421" cy="3811861"/>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p57"/>
          <p:cNvSpPr txBox="1"/>
          <p:nvPr>
            <p:ph type="title"/>
          </p:nvPr>
        </p:nvSpPr>
        <p:spPr>
          <a:xfrm>
            <a:off x="78739" y="118636"/>
            <a:ext cx="8986520" cy="574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Flow diagram</a:t>
            </a:r>
            <a:endParaRPr/>
          </a:p>
        </p:txBody>
      </p:sp>
      <p:pic>
        <p:nvPicPr>
          <p:cNvPr id="475" name="Google Shape;475;p57"/>
          <p:cNvPicPr preferRelativeResize="0"/>
          <p:nvPr/>
        </p:nvPicPr>
        <p:blipFill rotWithShape="1">
          <a:blip r:embed="rId3">
            <a:alphaModFix/>
          </a:blip>
          <a:srcRect b="0" l="0" r="0" t="0"/>
          <a:stretch/>
        </p:blipFill>
        <p:spPr>
          <a:xfrm>
            <a:off x="406399" y="1228725"/>
            <a:ext cx="8496299" cy="3333749"/>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p58"/>
          <p:cNvSpPr txBox="1"/>
          <p:nvPr>
            <p:ph type="title"/>
          </p:nvPr>
        </p:nvSpPr>
        <p:spPr>
          <a:xfrm>
            <a:off x="78739" y="118636"/>
            <a:ext cx="8986520" cy="57404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Bibliography</a:t>
            </a:r>
            <a:endParaRPr/>
          </a:p>
        </p:txBody>
      </p:sp>
      <p:sp>
        <p:nvSpPr>
          <p:cNvPr id="481" name="Google Shape;481;p58"/>
          <p:cNvSpPr txBox="1"/>
          <p:nvPr/>
        </p:nvSpPr>
        <p:spPr>
          <a:xfrm>
            <a:off x="789180" y="999258"/>
            <a:ext cx="7611109" cy="1672589"/>
          </a:xfrm>
          <a:prstGeom prst="rect">
            <a:avLst/>
          </a:prstGeom>
          <a:noFill/>
          <a:ln>
            <a:noFill/>
          </a:ln>
        </p:spPr>
        <p:txBody>
          <a:bodyPr anchorCtr="0" anchor="t" bIns="0" lIns="0" spcFirstLastPara="1" rIns="0" wrap="square" tIns="13325">
            <a:spAutoFit/>
          </a:bodyPr>
          <a:lstStyle/>
          <a:p>
            <a:pPr indent="-286385" lvl="0" marL="298450" marR="5080" rtl="0" algn="l">
              <a:lnSpc>
                <a:spcPct val="100000"/>
              </a:lnSpc>
              <a:spcBef>
                <a:spcPts val="0"/>
              </a:spcBef>
              <a:spcAft>
                <a:spcPts val="0"/>
              </a:spcAft>
              <a:buClr>
                <a:srgbClr val="3E3E3E"/>
              </a:buClr>
              <a:buSzPts val="2000"/>
              <a:buFont typeface="Noto Sans Symbols"/>
              <a:buChar char="▪"/>
            </a:pPr>
            <a:r>
              <a:rPr lang="en-US" sz="2000">
                <a:solidFill>
                  <a:srgbClr val="3E3E3E"/>
                </a:solidFill>
                <a:latin typeface="Times New Roman"/>
                <a:ea typeface="Times New Roman"/>
                <a:cs typeface="Times New Roman"/>
                <a:sym typeface="Times New Roman"/>
              </a:rPr>
              <a:t>TensorFlow for Deep Learning, Reza Bosagh Zadeh, Bharath Ramsundar, O'Reilly Media, Inc., ISBN: 9781491980446</a:t>
            </a:r>
            <a:endParaRPr sz="2000">
              <a:latin typeface="Times New Roman"/>
              <a:ea typeface="Times New Roman"/>
              <a:cs typeface="Times New Roman"/>
              <a:sym typeface="Times New Roman"/>
            </a:endParaRPr>
          </a:p>
          <a:p>
            <a:pPr indent="-286385" lvl="0" marL="299085" rtl="0" algn="l">
              <a:lnSpc>
                <a:spcPct val="100000"/>
              </a:lnSpc>
              <a:spcBef>
                <a:spcPts val="480"/>
              </a:spcBef>
              <a:spcAft>
                <a:spcPts val="0"/>
              </a:spcAft>
              <a:buClr>
                <a:srgbClr val="3E3E3E"/>
              </a:buClr>
              <a:buSzPts val="2000"/>
              <a:buFont typeface="Noto Sans Symbols"/>
              <a:buChar char="▪"/>
            </a:pPr>
            <a:r>
              <a:rPr lang="en-US" sz="2000">
                <a:solidFill>
                  <a:srgbClr val="3E3E3E"/>
                </a:solidFill>
                <a:latin typeface="Times New Roman"/>
                <a:ea typeface="Times New Roman"/>
                <a:cs typeface="Times New Roman"/>
                <a:sym typeface="Times New Roman"/>
              </a:rPr>
              <a:t>Edureka: </a:t>
            </a:r>
            <a:r>
              <a:rPr lang="en-US" sz="2000" u="sng">
                <a:solidFill>
                  <a:srgbClr val="0000FF"/>
                </a:solidFill>
                <a:latin typeface="Times New Roman"/>
                <a:ea typeface="Times New Roman"/>
                <a:cs typeface="Times New Roman"/>
                <a:sym typeface="Times New Roman"/>
                <a:hlinkClick r:id="rId3">
                  <a:extLst>
                    <a:ext uri="{A12FA001-AC4F-418D-AE19-62706E023703}">
                      <ahyp:hlinkClr val="tx"/>
                    </a:ext>
                  </a:extLst>
                </a:hlinkClick>
              </a:rPr>
              <a:t>https://www.edureka.co/</a:t>
            </a:r>
            <a:endParaRPr sz="2000">
              <a:latin typeface="Times New Roman"/>
              <a:ea typeface="Times New Roman"/>
              <a:cs typeface="Times New Roman"/>
              <a:sym typeface="Times New Roman"/>
            </a:endParaRPr>
          </a:p>
          <a:p>
            <a:pPr indent="-286385" lvl="0" marL="299085" rtl="0" algn="l">
              <a:lnSpc>
                <a:spcPct val="100000"/>
              </a:lnSpc>
              <a:spcBef>
                <a:spcPts val="475"/>
              </a:spcBef>
              <a:spcAft>
                <a:spcPts val="0"/>
              </a:spcAft>
              <a:buClr>
                <a:srgbClr val="3E3E3E"/>
              </a:buClr>
              <a:buSzPts val="2000"/>
              <a:buFont typeface="Noto Sans Symbols"/>
              <a:buChar char="▪"/>
            </a:pPr>
            <a:r>
              <a:rPr lang="en-US" sz="2000">
                <a:solidFill>
                  <a:srgbClr val="3E3E3E"/>
                </a:solidFill>
                <a:latin typeface="Times New Roman"/>
                <a:ea typeface="Times New Roman"/>
                <a:cs typeface="Times New Roman"/>
                <a:sym typeface="Times New Roman"/>
              </a:rPr>
              <a:t>TenserFlow: </a:t>
            </a:r>
            <a:r>
              <a:rPr b="1" lang="en-US" sz="2000">
                <a:solidFill>
                  <a:srgbClr val="3E3E3E"/>
                </a:solidFill>
                <a:latin typeface="Times New Roman"/>
                <a:ea typeface="Times New Roman"/>
                <a:cs typeface="Times New Roman"/>
                <a:sym typeface="Times New Roman"/>
              </a:rPr>
              <a:t>An end-to-end open source machine learning platform:</a:t>
            </a:r>
            <a:endParaRPr sz="2000">
              <a:latin typeface="Times New Roman"/>
              <a:ea typeface="Times New Roman"/>
              <a:cs typeface="Times New Roman"/>
              <a:sym typeface="Times New Roman"/>
            </a:endParaRPr>
          </a:p>
          <a:p>
            <a:pPr indent="0" lvl="0" marL="298450" rtl="0" algn="l">
              <a:lnSpc>
                <a:spcPct val="100000"/>
              </a:lnSpc>
              <a:spcBef>
                <a:spcPts val="5"/>
              </a:spcBef>
              <a:spcAft>
                <a:spcPts val="0"/>
              </a:spcAft>
              <a:buNone/>
            </a:pPr>
            <a:r>
              <a:rPr lang="en-US" sz="2000" u="sng">
                <a:solidFill>
                  <a:srgbClr val="0000FF"/>
                </a:solidFill>
                <a:latin typeface="Times New Roman"/>
                <a:ea typeface="Times New Roman"/>
                <a:cs typeface="Times New Roman"/>
                <a:sym typeface="Times New Roman"/>
                <a:hlinkClick r:id="rId4">
                  <a:extLst>
                    <a:ext uri="{A12FA001-AC4F-418D-AE19-62706E023703}">
                      <ahyp:hlinkClr val="tx"/>
                    </a:ext>
                  </a:extLst>
                </a:hlinkClick>
              </a:rPr>
              <a:t>https://www.tensorflow.org/</a:t>
            </a:r>
            <a:endParaRPr sz="2000">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