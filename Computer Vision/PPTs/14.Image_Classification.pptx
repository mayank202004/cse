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703A70-CE24-4A99-AA1F-13C4E2D0D5FD}">
  <a:tblStyle styleId="{BB703A70-CE24-4A99-AA1F-13C4E2D0D5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739472" y="1731080"/>
            <a:ext cx="56650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ctrTitle"/>
          </p:nvPr>
        </p:nvSpPr>
        <p:spPr>
          <a:xfrm>
            <a:off x="1739472" y="1731080"/>
            <a:ext cx="56650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Image Classification using CNN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8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Classification Overview</a:t>
            </a:r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194293" y="723238"/>
            <a:ext cx="3790315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Goal: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Assign an image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to one of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K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classes.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Example: Cat vs Dog vs Car, etc.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Output: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Class probabilities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p(y</a:t>
            </a:r>
            <a:r>
              <a:rPr lang="en-US" sz="1400">
                <a:latin typeface="SimSun-ExtB"/>
                <a:ea typeface="SimSun-ExtB"/>
                <a:cs typeface="SimSun-ExtB"/>
                <a:sym typeface="SimSun-ExtB"/>
              </a:rPr>
              <a:t>∣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x).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Methods (Before CNNs)</a:t>
            </a:r>
            <a:endParaRPr/>
          </a:p>
        </p:txBody>
      </p:sp>
      <p:sp>
        <p:nvSpPr>
          <p:cNvPr id="57" name="Google Shape;57;p9"/>
          <p:cNvSpPr txBox="1"/>
          <p:nvPr/>
        </p:nvSpPr>
        <p:spPr>
          <a:xfrm>
            <a:off x="73025" y="723238"/>
            <a:ext cx="2943860" cy="356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Handcrafted features: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SIFT, HOG, color histograms.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Separate classifier: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SVM, Random Forest, etc.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Limitations: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Feature extraction was manual.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Not end-to-end trainable.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Structure of a CNN</a:t>
            </a:r>
            <a:endParaRPr/>
          </a:p>
        </p:txBody>
      </p:sp>
      <p:sp>
        <p:nvSpPr>
          <p:cNvPr id="64" name="Google Shape;64;p10"/>
          <p:cNvSpPr txBox="1"/>
          <p:nvPr/>
        </p:nvSpPr>
        <p:spPr>
          <a:xfrm>
            <a:off x="73025" y="723238"/>
            <a:ext cx="7042784" cy="273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Basic layers: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Convolutional Layer: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feature extraction (local patterns).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Activation Function: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introduces non-linearity (e.g., ReLU).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Pooling Layer: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downsampling (reduce size and computation).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Fully Connected Layer: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classification (final prediction).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966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mbria"/>
                <a:ea typeface="Cambria"/>
                <a:cs typeface="Cambria"/>
                <a:sym typeface="Cambria"/>
              </a:rPr>
              <a:t>[Input → Conv → ReLU → Pool → FC → Output]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CNN Architecture</a:t>
            </a:r>
            <a:endParaRPr/>
          </a:p>
        </p:txBody>
      </p:sp>
      <p:sp>
        <p:nvSpPr>
          <p:cNvPr id="70" name="Google Shape;70;p11"/>
          <p:cNvSpPr txBox="1"/>
          <p:nvPr/>
        </p:nvSpPr>
        <p:spPr>
          <a:xfrm>
            <a:off x="3156613" y="4543706"/>
            <a:ext cx="28301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Fig. Basic CNN architecture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7550" y="657325"/>
            <a:ext cx="2828924" cy="3822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Mathematically, What Happens?</a:t>
            </a:r>
            <a:endParaRPr/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6195" y="821952"/>
            <a:ext cx="5563866" cy="382515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a CNN</a:t>
            </a:r>
            <a:endParaRPr/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322" y="951302"/>
            <a:ext cx="5891694" cy="32057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 Training Loop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3645763" y="4311938"/>
            <a:ext cx="185356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Fig. CNN training loop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677" y="800425"/>
            <a:ext cx="3840625" cy="334167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 in Deep CNNs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3025" y="723238"/>
            <a:ext cx="4324350" cy="225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As networks get deeper: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Vanishing gradients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: early layers stop learning.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Overfitting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: too complex, fits noise.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Optimization difficulties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: stuck during training.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Deeper ≠ Always better!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6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Transition: Motivation for Residual Networks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163549" y="1269846"/>
            <a:ext cx="60744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Can we build 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very deep 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CNNs without these problems?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63549" y="2367125"/>
            <a:ext cx="4098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Enter: 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ResNet (Residual Networks)!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ResNet?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194293" y="723238"/>
            <a:ext cx="5363845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ResNet is a type of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deep convolutional neural network (CNN)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It was introduced in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2015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by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Kaiming He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and his team.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It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won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the ImageNet competition in 2015 by a large margin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ResNet special?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194293" y="723238"/>
            <a:ext cx="860171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Normal deep networks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suffer from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degradation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: after a certain depth, adding more layers actually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makes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3486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performance worse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, not better.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ResNet solves this with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skip connections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(or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residual connections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194293" y="723238"/>
            <a:ext cx="5228590" cy="15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Deep networks improve image recognition.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But deeper networks are harder to train due to: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805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Vanishing/Exploding gradients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805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Degradation problem (accuracy saturates and degrades)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Residual Block Architecture</a:t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194293" y="615358"/>
            <a:ext cx="5183505" cy="985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Shortcut connections: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80518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Identity mapping without extra parameters.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80518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Combine with stacked layers by element-wise addition.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2994223" y="4584907"/>
            <a:ext cx="315722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Fig. Residual learning: a building block.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7950" y="2079587"/>
            <a:ext cx="3657599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ResNet special?</a:t>
            </a:r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178921" y="722222"/>
            <a:ext cx="8524240" cy="3274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1155" lvl="0" marL="3638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Instead of learning a direct mapping, it learns a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residual mapping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: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262255" rtl="0" algn="ctr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None/>
            </a:pPr>
            <a:r>
              <a:rPr i="1" lang="en-US" sz="1600">
                <a:latin typeface="Cambria"/>
                <a:ea typeface="Cambria"/>
                <a:cs typeface="Cambria"/>
                <a:sym typeface="Cambria"/>
              </a:rPr>
              <a:t>H(x)=F(x)+xH(x)=F(x)+x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36385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where: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51790" lvl="1" marL="82105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i="1" lang="en-US" sz="1600"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= input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51790" lvl="1" marL="82105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i="1" lang="en-US" sz="1600">
                <a:latin typeface="Cambria"/>
                <a:ea typeface="Cambria"/>
                <a:cs typeface="Cambria"/>
                <a:sym typeface="Cambria"/>
              </a:rPr>
              <a:t>F(x)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= something learned (residual)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51790" lvl="1" marL="82105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i="1" lang="en-US" sz="1600">
                <a:latin typeface="Cambria"/>
                <a:ea typeface="Cambria"/>
                <a:cs typeface="Cambria"/>
                <a:sym typeface="Cambria"/>
              </a:rPr>
              <a:t>H(x)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= output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51155" lvl="0" marL="36385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This makes it easier for the network to optimize - if learning nothing is better, it can just set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363855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i="1" lang="en-US" sz="1600">
                <a:latin typeface="Cambria"/>
                <a:ea typeface="Cambria"/>
                <a:cs typeface="Cambria"/>
                <a:sym typeface="Cambria"/>
              </a:rPr>
              <a:t>F(x)=0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A deeper residual function</a:t>
            </a:r>
            <a:endParaRPr sz="3000"/>
          </a:p>
        </p:txBody>
      </p:sp>
      <p:sp>
        <p:nvSpPr>
          <p:cNvPr id="152" name="Google Shape;152;p22"/>
          <p:cNvSpPr txBox="1"/>
          <p:nvPr/>
        </p:nvSpPr>
        <p:spPr>
          <a:xfrm>
            <a:off x="2187002" y="3948496"/>
            <a:ext cx="4772660" cy="51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Fig. Left: a building block (on 56×56 feature maps).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Right: a “bottleneck” building block for ResNet-50/101/152.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3087" y="1519237"/>
            <a:ext cx="5486399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Example network architectures</a:t>
            </a:r>
            <a:endParaRPr sz="2000"/>
          </a:p>
        </p:txBody>
      </p:sp>
      <p:sp>
        <p:nvSpPr>
          <p:cNvPr id="160" name="Google Shape;160;p23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3900" y="429550"/>
            <a:ext cx="1989424" cy="4627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465200" y="3893347"/>
            <a:ext cx="4702175" cy="107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"/>
                <a:ea typeface="Cambria"/>
                <a:cs typeface="Cambria"/>
                <a:sym typeface="Cambria"/>
              </a:rPr>
              <a:t>Fig. Example network architecture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1200">
                <a:latin typeface="Cambria"/>
                <a:ea typeface="Cambria"/>
                <a:cs typeface="Cambria"/>
                <a:sym typeface="Cambria"/>
              </a:rPr>
              <a:t>Left: the VGG-19 model (19.6 billion FLOPs) as a reference.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mbria"/>
                <a:ea typeface="Cambria"/>
                <a:cs typeface="Cambria"/>
                <a:sym typeface="Cambria"/>
              </a:rPr>
              <a:t>Middle: a plain network with 34 parameter layers (3.6 billion FLOPs). Right: a residual network with 34 parameter layers (3.6 billion FLOPs). The dotted shortcuts increase dimensions.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Highway Networks vs Residual Networks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73025" y="723238"/>
            <a:ext cx="6169660" cy="3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What are Highway Networks?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Proposed earlier than ResNets (Srivastava et al., 2015).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Key idea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: Use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learnable gates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to regulate information flow.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Formulation: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329819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y=H(x,WH)</a:t>
            </a:r>
            <a:r>
              <a:rPr lang="en-US" sz="1400">
                <a:latin typeface="SimSun-ExtB"/>
                <a:ea typeface="SimSun-ExtB"/>
                <a:cs typeface="SimSun-ExtB"/>
                <a:sym typeface="SimSun-ExtB"/>
              </a:rPr>
              <a:t>⋅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T(x,WT)+x</a:t>
            </a:r>
            <a:r>
              <a:rPr lang="en-US" sz="1400">
                <a:latin typeface="SimSun-ExtB"/>
                <a:ea typeface="SimSun-ExtB"/>
                <a:cs typeface="SimSun-ExtB"/>
                <a:sym typeface="SimSun-ExtB"/>
              </a:rPr>
              <a:t>⋅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(1−T(x,WT))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where: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4" lvl="1" marL="926464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H(x,WH) = nonlinear transform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4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T(x,WT) = </a:t>
            </a:r>
            <a:r>
              <a:rPr b="1" i="1" lang="en-US" sz="1400">
                <a:latin typeface="Cambria"/>
                <a:ea typeface="Cambria"/>
                <a:cs typeface="Cambria"/>
                <a:sym typeface="Cambria"/>
              </a:rPr>
              <a:t>transform gate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(values between 0 and 1)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i="1" lang="en-US" sz="1400">
                <a:latin typeface="Cambria"/>
                <a:ea typeface="Cambria"/>
                <a:cs typeface="Cambria"/>
                <a:sym typeface="Cambria"/>
              </a:rPr>
              <a:t>T(x)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is typically implemented using a sigmoid activation.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Differences</a:t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2637177" y="3989213"/>
            <a:ext cx="386905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Table. Highway Networks vs Residual Networks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50" y="896087"/>
            <a:ext cx="7391399" cy="266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6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Highway vs ResNet - Mathematical View</a:t>
            </a:r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194293" y="723238"/>
            <a:ext cx="7192009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Highway has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two paths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(transform and carry), and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learns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how much to transform.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Residual simply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adds the input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, forcing all layers to learn a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small residual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adjustment.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7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Highway Networks vs Residual Networks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73025" y="723238"/>
            <a:ext cx="5432425" cy="252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Highway Networks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were an important step toward deeper learning.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Residual Networks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simplified the idea: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No gates.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Pure addition.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Much easier to optimize.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Became the standard for deep architectures!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>
            <a:off x="73025" y="60833"/>
            <a:ext cx="427545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Residual Networks Work</a:t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217305" y="723238"/>
            <a:ext cx="3790315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2420" lvl="0" marL="3251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Residuals have smaller magnitude.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12420" lvl="0" marL="3251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Layers modify signals slightly (stability).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12420" lvl="0" marL="3251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Easier convergence and better optimization.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Architectures for different variants of ResNet</a:t>
            </a:r>
            <a:endParaRPr/>
          </a:p>
        </p:txBody>
      </p:sp>
      <p:sp>
        <p:nvSpPr>
          <p:cNvPr id="204" name="Google Shape;204;p29"/>
          <p:cNvSpPr txBox="1"/>
          <p:nvPr/>
        </p:nvSpPr>
        <p:spPr>
          <a:xfrm>
            <a:off x="245814" y="4412875"/>
            <a:ext cx="865441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Table. Architectures for ImageNet. Building blocks are shown in brackets, with the numbers of blocks stacked.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1409492" y="4658240"/>
            <a:ext cx="632650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Downsampling is performed by conv3 1, conv4 1, and conv5 1 with a stride of 2.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596" y="702771"/>
            <a:ext cx="8840981" cy="351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ResNet-18 vs ResNet-34 vs ResNet-50</a:t>
            </a:r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2859216" y="3235813"/>
            <a:ext cx="34270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Table. Comparison of ResNet 18 vs 34 vs 50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4" name="Google Shape;2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1300087"/>
            <a:ext cx="7467599" cy="144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31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of ResNet</a:t>
            </a:r>
            <a:endParaRPr/>
          </a:p>
        </p:txBody>
      </p:sp>
      <p:graphicFrame>
        <p:nvGraphicFramePr>
          <p:cNvPr id="222" name="Google Shape;222;p31"/>
          <p:cNvGraphicFramePr/>
          <p:nvPr/>
        </p:nvGraphicFramePr>
        <p:xfrm>
          <a:off x="149299" y="7496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{BB703A70-CE24-4A99-AA1F-13C4E2D0D5FD}</a:tableStyleId>
              </a:tblPr>
              <a:tblGrid>
                <a:gridCol w="279400"/>
                <a:gridCol w="8336925"/>
              </a:tblGrid>
              <a:tr h="138685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12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57150" marR="0" rtl="0" algn="l">
                        <a:lnSpc>
                          <a:spcPct val="100000"/>
                        </a:lnSpc>
                        <a:spcBef>
                          <a:spcPts val="8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57150" marR="0" rtl="0" algn="l">
                        <a:lnSpc>
                          <a:spcPct val="100000"/>
                        </a:lnSpc>
                        <a:spcBef>
                          <a:spcPts val="8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57150" marR="0" rtl="0" algn="l">
                        <a:lnSpc>
                          <a:spcPct val="100000"/>
                        </a:lnSpc>
                        <a:spcBef>
                          <a:spcPts val="8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13664" marR="0" rtl="0" algn="l">
                        <a:lnSpc>
                          <a:spcPct val="112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Computational Cost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113664" marR="307276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Deeper networks require </a:t>
                      </a: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more memory </a:t>
                      </a: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and </a:t>
                      </a: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more compute</a:t>
                      </a: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. Even with bottlenecks, </a:t>
                      </a: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training 152+ layer ResNets is expensive</a:t>
                      </a: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. Hard to deploy on devices with limited resources (e.g., mobile).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0" marL="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7429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198750" marB="0" marR="0" marL="0"/>
                </a:tc>
                <a:tc>
                  <a:txBody>
                    <a:bodyPr/>
                    <a:lstStyle/>
                    <a:p>
                      <a:pPr indent="0" lvl="0" marL="11366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Optimization Becomes Hard at Very Large Depth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198750" marB="0" marR="0" marL="0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4889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725" marB="0" marR="0" marL="0"/>
                </a:tc>
                <a:tc>
                  <a:txBody>
                    <a:bodyPr/>
                    <a:lstStyle/>
                    <a:p>
                      <a:pPr indent="0" lvl="0" marL="11366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Although ResNets mitigate degradation, </a:t>
                      </a: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extremely deep </a:t>
                      </a: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ResNets (e.g., 1202 layers) still </a:t>
                      </a:r>
                      <a:r>
                        <a:rPr b="1"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overfit </a:t>
                      </a: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on small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725" marB="0" marR="0" marL="0"/>
                </a:tc>
              </a:tr>
              <a:tr h="58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4889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4300" marB="0" marR="0" marL="0"/>
                </a:tc>
                <a:tc>
                  <a:txBody>
                    <a:bodyPr/>
                    <a:lstStyle/>
                    <a:p>
                      <a:pPr indent="0" lvl="0" marL="11366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datasets like CIFAR-10.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113664" marR="0" rtl="0" algn="l">
                        <a:lnSpc>
                          <a:spcPct val="100000"/>
                        </a:lnSpc>
                        <a:spcBef>
                          <a:spcPts val="8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Longer training time, diminishing returns after certain depth.</a:t>
                      </a:r>
                      <a:endParaRPr sz="1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72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32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of ResNet</a:t>
            </a:r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73025" y="616557"/>
            <a:ext cx="8657590" cy="258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 startAt="3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Shortcut Connections May Bypass Too Much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In some cases,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shortcuts dominate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, and learning becomes less meaningful.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Later improvements (e.g., DenseNet) attempt to better utilize intermediate features.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 startAt="3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Lack of Feature Reuse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4699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ResNet reuses inputs by addition, but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doesn’t explicitly encourage combining features across multiple layers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Later models (DenseNet, EfficientNet) address this by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feature concatenation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33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of ResNet</a:t>
            </a:r>
            <a:endParaRPr/>
          </a:p>
        </p:txBody>
      </p:sp>
      <p:sp>
        <p:nvSpPr>
          <p:cNvPr id="236" name="Google Shape;236;p33"/>
          <p:cNvSpPr txBox="1"/>
          <p:nvPr/>
        </p:nvSpPr>
        <p:spPr>
          <a:xfrm>
            <a:off x="73025" y="616557"/>
            <a:ext cx="8484870" cy="258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 startAt="5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Architectural Rigidity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All blocks are roughly the same structure (conv layers and addition).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Hard to directly incorporate attention mechanisms, multi-scale features without modifications.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1" marL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 startAt="5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No Dynamic Adaptation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Standard ResNet behaves the same for all inputs.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4699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Later models (e.g., ResNeXt, EfficientNet) improve flexibility by using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group convolutions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width scaling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34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Variants of ResNet</a:t>
            </a:r>
            <a:endParaRPr/>
          </a:p>
        </p:txBody>
      </p:sp>
      <p:sp>
        <p:nvSpPr>
          <p:cNvPr id="243" name="Google Shape;243;p34"/>
          <p:cNvSpPr txBox="1"/>
          <p:nvPr/>
        </p:nvSpPr>
        <p:spPr>
          <a:xfrm>
            <a:off x="73025" y="616557"/>
            <a:ext cx="8017509" cy="386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ResNeXt (2017)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Idea: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Use grouped convolutions.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Block structure: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Split, Transform, Merge.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Formula: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Instead of increasing depth/width, increase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cardinality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(number of parallel paths).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Advantage: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Better accuracy with similar complexity as ResNet.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Key Paper: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Aggregated Residual Transformations for Deep Neural Networks (Xie et al.)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 startAt="2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DenseNet (2017)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Idea: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Each layer gets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inputs from all previous layers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via concatenation.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Difference from ResNet: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Instead of adding features (residual), DenseNet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concatenates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features.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Advantage: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Feature reuse, fewer parameters.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Key Paper: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Densely Connected Convolutional Networks (Huang et al.)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Variants of ResNet</a:t>
            </a:r>
            <a:endParaRPr/>
          </a:p>
        </p:txBody>
      </p:sp>
      <p:sp>
        <p:nvSpPr>
          <p:cNvPr id="250" name="Google Shape;250;p35"/>
          <p:cNvSpPr txBox="1"/>
          <p:nvPr/>
        </p:nvSpPr>
        <p:spPr>
          <a:xfrm>
            <a:off x="73025" y="616557"/>
            <a:ext cx="7625715" cy="3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 startAt="3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ResNet v2 (2016)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Idea: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Modify the original ResNet with: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4" lvl="2" marL="926464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Pre-activation ordering: BN → ReLU → Conv (instead of Conv → BN → ReLU).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Advantage: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Better optimization, especially for deeper networks.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Key Paper: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Identity Mappings in Deep Residual Networks (He et al.)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 startAt="4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Wide ResNet (WRN) (2016)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Idea: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Instead of making deeper networks, make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wider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networks (more channels per layer).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Observation: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Wider ResNets are easier to optimize and generalize better.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Key Paper: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Wide Residual Networks (Zagoruyko and Komodakis)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Variants of ResNet</a:t>
            </a:r>
            <a:endParaRPr/>
          </a:p>
        </p:txBody>
      </p:sp>
      <p:sp>
        <p:nvSpPr>
          <p:cNvPr id="256" name="Google Shape;256;p36"/>
          <p:cNvSpPr txBox="1"/>
          <p:nvPr/>
        </p:nvSpPr>
        <p:spPr>
          <a:xfrm>
            <a:off x="73025" y="723238"/>
            <a:ext cx="7525384" cy="152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AutoNum type="arabicPeriod" startAt="5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Attention-ResNet (e.g., SE-ResNet)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Idea: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Add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attention mechanisms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inside ResNet blocks.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4" lvl="2" marL="92646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Example: Squeeze-and-Excitation (SE) modules adaptively recalibrate feature maps.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915" lvl="1" marL="46926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Advantage: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Focus on more important features.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None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Key Paper: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Squeeze-and-Excitation Networks (Hu et al.)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57" name="Google Shape;2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8925" y="2390750"/>
            <a:ext cx="4533899" cy="219074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6"/>
          <p:cNvSpPr txBox="1"/>
          <p:nvPr/>
        </p:nvSpPr>
        <p:spPr>
          <a:xfrm>
            <a:off x="2548326" y="4742855"/>
            <a:ext cx="404939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Fig. ResNet architecture hierarchical representation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9" name="Google Shape;259;p36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266" name="Google Shape;266;p37"/>
          <p:cNvSpPr txBox="1"/>
          <p:nvPr/>
        </p:nvSpPr>
        <p:spPr>
          <a:xfrm>
            <a:off x="194293" y="723238"/>
            <a:ext cx="7936230" cy="279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ResNet (2015)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is the </a:t>
            </a:r>
            <a:r>
              <a:rPr i="1" lang="en-US" sz="1400">
                <a:latin typeface="Cambria"/>
                <a:ea typeface="Cambria"/>
                <a:cs typeface="Cambria"/>
                <a:sym typeface="Cambria"/>
              </a:rPr>
              <a:t>root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ResNet v2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→ Pre-activation ordering.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Wide ResNet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→ Wider blocks instead of deeper.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ResNeXt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→ Parallel aggregated transforms (grouped convs).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SE-ResNet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→ Channel-wise attention inside blocks.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348615" marR="508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DenseNet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→ Concatenated features (inspired partially by ResNet’s success but </a:t>
            </a:r>
            <a:r>
              <a:rPr b="1" lang="en-US" sz="1400">
                <a:latin typeface="Cambria"/>
                <a:ea typeface="Cambria"/>
                <a:cs typeface="Cambria"/>
                <a:sym typeface="Cambria"/>
              </a:rPr>
              <a:t>not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a strict direct descendant).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>
            <p:ph type="title"/>
          </p:nvPr>
        </p:nvSpPr>
        <p:spPr>
          <a:xfrm>
            <a:off x="73025" y="29809"/>
            <a:ext cx="63957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Additional topics</a:t>
            </a:r>
            <a:endParaRPr/>
          </a:p>
        </p:txBody>
      </p:sp>
      <p:sp>
        <p:nvSpPr>
          <p:cNvPr id="272" name="Google Shape;272;p38"/>
          <p:cNvSpPr txBox="1"/>
          <p:nvPr/>
        </p:nvSpPr>
        <p:spPr>
          <a:xfrm>
            <a:off x="2852318" y="4000913"/>
            <a:ext cx="34391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Table. Residual vs Inverted Residual Blocks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73" name="Google Shape;2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953662"/>
            <a:ext cx="7391399" cy="274319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