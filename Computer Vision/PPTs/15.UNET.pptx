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12192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4228338" y="626440"/>
            <a:ext cx="3735323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916939" y="1782539"/>
            <a:ext cx="10088880" cy="277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4228338" y="626440"/>
            <a:ext cx="3735323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4228338" y="626440"/>
            <a:ext cx="3735323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228338" y="626440"/>
            <a:ext cx="3735323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16939" y="1782539"/>
            <a:ext cx="10088880" cy="277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Relationship Id="rId4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Relationship Id="rId4" Type="http://schemas.openxmlformats.org/officeDocument/2006/relationships/image" Target="../media/image4.jpg"/><Relationship Id="rId5" Type="http://schemas.openxmlformats.org/officeDocument/2006/relationships/image" Target="../media/image3.jpg"/><Relationship Id="rId6" Type="http://schemas.openxmlformats.org/officeDocument/2006/relationships/image" Target="../media/image16.jpg"/><Relationship Id="rId7" Type="http://schemas.openxmlformats.org/officeDocument/2006/relationships/image" Target="../media/image7.jpg"/><Relationship Id="rId8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Relationship Id="rId4" Type="http://schemas.openxmlformats.org/officeDocument/2006/relationships/image" Target="../media/image11.jpg"/><Relationship Id="rId5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Relationship Id="rId4" Type="http://schemas.openxmlformats.org/officeDocument/2006/relationships/image" Target="../media/image1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Relationship Id="rId4" Type="http://schemas.openxmlformats.org/officeDocument/2006/relationships/image" Target="../media/image2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Relationship Id="rId4" Type="http://schemas.openxmlformats.org/officeDocument/2006/relationships/image" Target="../media/image2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7"/>
          <p:cNvSpPr txBox="1"/>
          <p:nvPr>
            <p:ph type="title"/>
          </p:nvPr>
        </p:nvSpPr>
        <p:spPr>
          <a:xfrm>
            <a:off x="2241169" y="793127"/>
            <a:ext cx="7780020" cy="9334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747395" rtl="0" algn="l">
              <a:lnSpc>
                <a:spcPct val="113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/>
              <a:t>Image Segmentation</a:t>
            </a:r>
            <a:endParaRPr sz="6000"/>
          </a:p>
        </p:txBody>
      </p:sp>
      <p:sp>
        <p:nvSpPr>
          <p:cNvPr id="45" name="Google Shape;45;p7"/>
          <p:cNvSpPr txBox="1"/>
          <p:nvPr/>
        </p:nvSpPr>
        <p:spPr>
          <a:xfrm>
            <a:off x="1162811" y="3009138"/>
            <a:ext cx="4933315" cy="2595245"/>
          </a:xfrm>
          <a:prstGeom prst="rect">
            <a:avLst/>
          </a:prstGeom>
          <a:solidFill>
            <a:srgbClr val="D9D9D9"/>
          </a:solidFill>
          <a:ln cap="flat" cmpd="sng" w="12700">
            <a:solidFill>
              <a:srgbClr val="6FAC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2375">
            <a:spAutoFit/>
          </a:bodyPr>
          <a:lstStyle/>
          <a:p>
            <a:pPr indent="-285750" lvl="0" marL="6851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⮚"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CONVOLUTIONAL NEURAL NETWORK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SzPts val="1600"/>
              <a:buFont typeface="Noto Sans Symbols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13620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⮚"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IMAGE CLASSIFICATION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SzPts val="1600"/>
              <a:buFont typeface="Noto Sans Symbols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1403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⮚"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IMAGE SEGMENTATION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SzPts val="1600"/>
              <a:buFont typeface="Noto Sans Symbols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2" marL="15005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⮚"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U-Net ARCHITECTURE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SzPts val="1600"/>
              <a:buFont typeface="Noto Sans Symbols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2" marL="15081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⮚"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V-Net ARCHITECTURE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5479" y="1830666"/>
            <a:ext cx="10161016" cy="4187571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8"/>
          <p:cNvSpPr txBox="1"/>
          <p:nvPr>
            <p:ph type="title"/>
          </p:nvPr>
        </p:nvSpPr>
        <p:spPr>
          <a:xfrm>
            <a:off x="2694939" y="513245"/>
            <a:ext cx="7233284" cy="84963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7E7E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98100">
            <a:spAutoFit/>
          </a:bodyPr>
          <a:lstStyle/>
          <a:p>
            <a:pPr indent="0" lvl="0" marL="2444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CONVOLUTIONAL NEURAL NETWORK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title"/>
          </p:nvPr>
        </p:nvSpPr>
        <p:spPr>
          <a:xfrm>
            <a:off x="2694939" y="513245"/>
            <a:ext cx="7233284" cy="84963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7E7E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98100">
            <a:spAutoFit/>
          </a:bodyPr>
          <a:lstStyle/>
          <a:p>
            <a:pPr indent="0" lvl="0" marL="190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IMAGE CLASSIFICATION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7" name="Google Shape;57;p9"/>
          <p:cNvGrpSpPr/>
          <p:nvPr/>
        </p:nvGrpSpPr>
        <p:grpSpPr>
          <a:xfrm>
            <a:off x="568388" y="2813837"/>
            <a:ext cx="1973135" cy="1230223"/>
            <a:chOff x="568388" y="2813837"/>
            <a:chExt cx="1973135" cy="1230223"/>
          </a:xfrm>
        </p:grpSpPr>
        <p:pic>
          <p:nvPicPr>
            <p:cNvPr id="58" name="Google Shape;58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8388" y="2813837"/>
              <a:ext cx="1478407" cy="12302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" name="Google Shape;59;p9"/>
            <p:cNvSpPr/>
            <p:nvPr/>
          </p:nvSpPr>
          <p:spPr>
            <a:xfrm>
              <a:off x="2074798" y="3371849"/>
              <a:ext cx="466725" cy="114300"/>
            </a:xfrm>
            <a:custGeom>
              <a:rect b="b" l="l" r="r" t="t"/>
              <a:pathLst>
                <a:path extrusionOk="0" h="114300" w="466725">
                  <a:moveTo>
                    <a:pt x="352170" y="0"/>
                  </a:moveTo>
                  <a:lnTo>
                    <a:pt x="352170" y="114300"/>
                  </a:lnTo>
                  <a:lnTo>
                    <a:pt x="428370" y="76200"/>
                  </a:lnTo>
                  <a:lnTo>
                    <a:pt x="371220" y="76200"/>
                  </a:lnTo>
                  <a:lnTo>
                    <a:pt x="371220" y="38100"/>
                  </a:lnTo>
                  <a:lnTo>
                    <a:pt x="428370" y="38100"/>
                  </a:lnTo>
                  <a:lnTo>
                    <a:pt x="352170" y="0"/>
                  </a:lnTo>
                  <a:close/>
                </a:path>
                <a:path extrusionOk="0" h="114300" w="466725">
                  <a:moveTo>
                    <a:pt x="352170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352170" y="76200"/>
                  </a:lnTo>
                  <a:lnTo>
                    <a:pt x="352170" y="38100"/>
                  </a:lnTo>
                  <a:close/>
                </a:path>
                <a:path extrusionOk="0" h="114300" w="466725">
                  <a:moveTo>
                    <a:pt x="428370" y="38100"/>
                  </a:moveTo>
                  <a:lnTo>
                    <a:pt x="371220" y="38100"/>
                  </a:lnTo>
                  <a:lnTo>
                    <a:pt x="371220" y="76200"/>
                  </a:lnTo>
                  <a:lnTo>
                    <a:pt x="428370" y="76200"/>
                  </a:lnTo>
                  <a:lnTo>
                    <a:pt x="466470" y="57150"/>
                  </a:lnTo>
                  <a:lnTo>
                    <a:pt x="428370" y="381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9"/>
          <p:cNvSpPr txBox="1"/>
          <p:nvPr/>
        </p:nvSpPr>
        <p:spPr>
          <a:xfrm>
            <a:off x="2578607" y="3116427"/>
            <a:ext cx="1259840" cy="700405"/>
          </a:xfrm>
          <a:prstGeom prst="rect">
            <a:avLst/>
          </a:prstGeom>
          <a:noFill/>
          <a:ln cap="flat" cmpd="sng" w="12700">
            <a:solidFill>
              <a:srgbClr val="6FAC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31425">
            <a:spAutoFit/>
          </a:bodyPr>
          <a:lstStyle/>
          <a:p>
            <a:pPr indent="-352425" lvl="0" marL="469900" marR="11302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Convolutional Unit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9"/>
          <p:cNvSpPr/>
          <p:nvPr/>
        </p:nvSpPr>
        <p:spPr>
          <a:xfrm>
            <a:off x="3916045" y="3384296"/>
            <a:ext cx="466725" cy="114300"/>
          </a:xfrm>
          <a:custGeom>
            <a:rect b="b" l="l" r="r" t="t"/>
            <a:pathLst>
              <a:path extrusionOk="0" h="114300" w="466725">
                <a:moveTo>
                  <a:pt x="352170" y="0"/>
                </a:moveTo>
                <a:lnTo>
                  <a:pt x="352170" y="114300"/>
                </a:lnTo>
                <a:lnTo>
                  <a:pt x="428370" y="76200"/>
                </a:lnTo>
                <a:lnTo>
                  <a:pt x="371220" y="76200"/>
                </a:lnTo>
                <a:lnTo>
                  <a:pt x="371220" y="38100"/>
                </a:lnTo>
                <a:lnTo>
                  <a:pt x="428370" y="38100"/>
                </a:lnTo>
                <a:lnTo>
                  <a:pt x="352170" y="0"/>
                </a:lnTo>
                <a:close/>
              </a:path>
              <a:path extrusionOk="0" h="114300" w="466725">
                <a:moveTo>
                  <a:pt x="35217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52170" y="76200"/>
                </a:lnTo>
                <a:lnTo>
                  <a:pt x="352170" y="38100"/>
                </a:lnTo>
                <a:close/>
              </a:path>
              <a:path extrusionOk="0" h="114300" w="466725">
                <a:moveTo>
                  <a:pt x="428370" y="38100"/>
                </a:moveTo>
                <a:lnTo>
                  <a:pt x="371220" y="38100"/>
                </a:lnTo>
                <a:lnTo>
                  <a:pt x="371220" y="76200"/>
                </a:lnTo>
                <a:lnTo>
                  <a:pt x="428370" y="76200"/>
                </a:lnTo>
                <a:lnTo>
                  <a:pt x="466470" y="57150"/>
                </a:lnTo>
                <a:lnTo>
                  <a:pt x="428370" y="381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9"/>
          <p:cNvSpPr txBox="1"/>
          <p:nvPr/>
        </p:nvSpPr>
        <p:spPr>
          <a:xfrm>
            <a:off x="4457191" y="3100933"/>
            <a:ext cx="1340485" cy="700405"/>
          </a:xfrm>
          <a:prstGeom prst="rect">
            <a:avLst/>
          </a:prstGeom>
          <a:noFill/>
          <a:ln cap="flat" cmpd="sng" w="12700">
            <a:solidFill>
              <a:srgbClr val="6FAC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31425">
            <a:spAutoFit/>
          </a:bodyPr>
          <a:lstStyle/>
          <a:p>
            <a:pPr indent="-416558" lvl="0" marL="511175" marR="88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Down-sampling Unit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9"/>
          <p:cNvSpPr txBox="1"/>
          <p:nvPr/>
        </p:nvSpPr>
        <p:spPr>
          <a:xfrm>
            <a:off x="6481953" y="3091535"/>
            <a:ext cx="1259840" cy="700405"/>
          </a:xfrm>
          <a:prstGeom prst="rect">
            <a:avLst/>
          </a:prstGeom>
          <a:noFill/>
          <a:ln cap="flat" cmpd="sng" w="12700">
            <a:solidFill>
              <a:srgbClr val="6FAC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31425">
            <a:spAutoFit/>
          </a:bodyPr>
          <a:lstStyle/>
          <a:p>
            <a:pPr indent="-352425" lvl="0" marL="470534" marR="1123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Convolutional Unit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9"/>
          <p:cNvSpPr/>
          <p:nvPr/>
        </p:nvSpPr>
        <p:spPr>
          <a:xfrm>
            <a:off x="5897245" y="3387344"/>
            <a:ext cx="466725" cy="114300"/>
          </a:xfrm>
          <a:custGeom>
            <a:rect b="b" l="l" r="r" t="t"/>
            <a:pathLst>
              <a:path extrusionOk="0" h="114300" w="466725">
                <a:moveTo>
                  <a:pt x="352297" y="0"/>
                </a:moveTo>
                <a:lnTo>
                  <a:pt x="352297" y="114300"/>
                </a:lnTo>
                <a:lnTo>
                  <a:pt x="428497" y="76200"/>
                </a:lnTo>
                <a:lnTo>
                  <a:pt x="371347" y="76200"/>
                </a:lnTo>
                <a:lnTo>
                  <a:pt x="371347" y="38100"/>
                </a:lnTo>
                <a:lnTo>
                  <a:pt x="428497" y="38100"/>
                </a:lnTo>
                <a:lnTo>
                  <a:pt x="352297" y="0"/>
                </a:lnTo>
                <a:close/>
              </a:path>
              <a:path extrusionOk="0" h="114300" w="466725">
                <a:moveTo>
                  <a:pt x="35229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52297" y="76200"/>
                </a:lnTo>
                <a:lnTo>
                  <a:pt x="352297" y="38100"/>
                </a:lnTo>
                <a:close/>
              </a:path>
              <a:path extrusionOk="0" h="114300" w="466725">
                <a:moveTo>
                  <a:pt x="428497" y="38100"/>
                </a:moveTo>
                <a:lnTo>
                  <a:pt x="371347" y="38100"/>
                </a:lnTo>
                <a:lnTo>
                  <a:pt x="371347" y="76200"/>
                </a:lnTo>
                <a:lnTo>
                  <a:pt x="428497" y="76200"/>
                </a:lnTo>
                <a:lnTo>
                  <a:pt x="466597" y="57150"/>
                </a:lnTo>
                <a:lnTo>
                  <a:pt x="428497" y="381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9"/>
          <p:cNvSpPr txBox="1"/>
          <p:nvPr/>
        </p:nvSpPr>
        <p:spPr>
          <a:xfrm>
            <a:off x="8362060" y="3100933"/>
            <a:ext cx="1340485" cy="700405"/>
          </a:xfrm>
          <a:prstGeom prst="rect">
            <a:avLst/>
          </a:prstGeom>
          <a:noFill/>
          <a:ln cap="flat" cmpd="sng" w="12700">
            <a:solidFill>
              <a:srgbClr val="6FAC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31425">
            <a:spAutoFit/>
          </a:bodyPr>
          <a:lstStyle/>
          <a:p>
            <a:pPr indent="-416559" lvl="0" marL="511809" marR="88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Down-sampling Unit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9"/>
          <p:cNvSpPr/>
          <p:nvPr/>
        </p:nvSpPr>
        <p:spPr>
          <a:xfrm>
            <a:off x="7813167" y="3371850"/>
            <a:ext cx="466725" cy="114300"/>
          </a:xfrm>
          <a:custGeom>
            <a:rect b="b" l="l" r="r" t="t"/>
            <a:pathLst>
              <a:path extrusionOk="0" h="114300" w="466725">
                <a:moveTo>
                  <a:pt x="352171" y="0"/>
                </a:moveTo>
                <a:lnTo>
                  <a:pt x="352171" y="114300"/>
                </a:lnTo>
                <a:lnTo>
                  <a:pt x="428371" y="76200"/>
                </a:lnTo>
                <a:lnTo>
                  <a:pt x="371221" y="76200"/>
                </a:lnTo>
                <a:lnTo>
                  <a:pt x="371221" y="38100"/>
                </a:lnTo>
                <a:lnTo>
                  <a:pt x="428371" y="38100"/>
                </a:lnTo>
                <a:lnTo>
                  <a:pt x="352171" y="0"/>
                </a:lnTo>
                <a:close/>
              </a:path>
              <a:path extrusionOk="0" h="114300" w="466725">
                <a:moveTo>
                  <a:pt x="35217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52171" y="76200"/>
                </a:lnTo>
                <a:lnTo>
                  <a:pt x="352171" y="38100"/>
                </a:lnTo>
                <a:close/>
              </a:path>
              <a:path extrusionOk="0" h="114300" w="466725">
                <a:moveTo>
                  <a:pt x="428371" y="38100"/>
                </a:moveTo>
                <a:lnTo>
                  <a:pt x="371221" y="38100"/>
                </a:lnTo>
                <a:lnTo>
                  <a:pt x="371221" y="76200"/>
                </a:lnTo>
                <a:lnTo>
                  <a:pt x="428371" y="76200"/>
                </a:lnTo>
                <a:lnTo>
                  <a:pt x="466471" y="57150"/>
                </a:lnTo>
                <a:lnTo>
                  <a:pt x="428371" y="381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9"/>
          <p:cNvSpPr txBox="1"/>
          <p:nvPr/>
        </p:nvSpPr>
        <p:spPr>
          <a:xfrm>
            <a:off x="10338561" y="3103981"/>
            <a:ext cx="1259840" cy="700405"/>
          </a:xfrm>
          <a:prstGeom prst="rect">
            <a:avLst/>
          </a:prstGeom>
          <a:noFill/>
          <a:ln cap="flat" cmpd="sng" w="12700">
            <a:solidFill>
              <a:srgbClr val="6FAC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31425">
            <a:spAutoFit/>
          </a:bodyPr>
          <a:lstStyle/>
          <a:p>
            <a:pPr indent="-352424" lvl="0" marL="471169" marR="111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Convolutional Unit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9"/>
          <p:cNvSpPr/>
          <p:nvPr/>
        </p:nvSpPr>
        <p:spPr>
          <a:xfrm>
            <a:off x="9822306" y="3356228"/>
            <a:ext cx="466725" cy="114300"/>
          </a:xfrm>
          <a:custGeom>
            <a:rect b="b" l="l" r="r" t="t"/>
            <a:pathLst>
              <a:path extrusionOk="0" h="114300" w="466725">
                <a:moveTo>
                  <a:pt x="352298" y="0"/>
                </a:moveTo>
                <a:lnTo>
                  <a:pt x="352298" y="114300"/>
                </a:lnTo>
                <a:lnTo>
                  <a:pt x="428498" y="76200"/>
                </a:lnTo>
                <a:lnTo>
                  <a:pt x="371348" y="76200"/>
                </a:lnTo>
                <a:lnTo>
                  <a:pt x="371348" y="38100"/>
                </a:lnTo>
                <a:lnTo>
                  <a:pt x="428498" y="38100"/>
                </a:lnTo>
                <a:lnTo>
                  <a:pt x="352298" y="0"/>
                </a:lnTo>
                <a:close/>
              </a:path>
              <a:path extrusionOk="0" h="114300" w="466725">
                <a:moveTo>
                  <a:pt x="35229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52298" y="76200"/>
                </a:lnTo>
                <a:lnTo>
                  <a:pt x="352298" y="38100"/>
                </a:lnTo>
                <a:close/>
              </a:path>
              <a:path extrusionOk="0" h="114300" w="466725">
                <a:moveTo>
                  <a:pt x="428498" y="38100"/>
                </a:moveTo>
                <a:lnTo>
                  <a:pt x="371348" y="38100"/>
                </a:lnTo>
                <a:lnTo>
                  <a:pt x="371348" y="76200"/>
                </a:lnTo>
                <a:lnTo>
                  <a:pt x="428498" y="76200"/>
                </a:lnTo>
                <a:lnTo>
                  <a:pt x="466598" y="57150"/>
                </a:lnTo>
                <a:lnTo>
                  <a:pt x="428498" y="381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9"/>
          <p:cNvSpPr/>
          <p:nvPr/>
        </p:nvSpPr>
        <p:spPr>
          <a:xfrm>
            <a:off x="10981308" y="3885438"/>
            <a:ext cx="114300" cy="539115"/>
          </a:xfrm>
          <a:custGeom>
            <a:rect b="b" l="l" r="r" t="t"/>
            <a:pathLst>
              <a:path extrusionOk="0" h="539114" w="114300">
                <a:moveTo>
                  <a:pt x="38100" y="424561"/>
                </a:moveTo>
                <a:lnTo>
                  <a:pt x="0" y="424561"/>
                </a:lnTo>
                <a:lnTo>
                  <a:pt x="57150" y="538861"/>
                </a:lnTo>
                <a:lnTo>
                  <a:pt x="104775" y="443611"/>
                </a:lnTo>
                <a:lnTo>
                  <a:pt x="38100" y="443611"/>
                </a:lnTo>
                <a:lnTo>
                  <a:pt x="38100" y="424561"/>
                </a:lnTo>
                <a:close/>
              </a:path>
              <a:path extrusionOk="0" h="539114" w="114300">
                <a:moveTo>
                  <a:pt x="76200" y="0"/>
                </a:moveTo>
                <a:lnTo>
                  <a:pt x="38100" y="0"/>
                </a:lnTo>
                <a:lnTo>
                  <a:pt x="38100" y="443611"/>
                </a:lnTo>
                <a:lnTo>
                  <a:pt x="76200" y="443611"/>
                </a:lnTo>
                <a:lnTo>
                  <a:pt x="76200" y="0"/>
                </a:lnTo>
                <a:close/>
              </a:path>
              <a:path extrusionOk="0" h="539114" w="114300">
                <a:moveTo>
                  <a:pt x="114300" y="424561"/>
                </a:moveTo>
                <a:lnTo>
                  <a:pt x="76200" y="424561"/>
                </a:lnTo>
                <a:lnTo>
                  <a:pt x="76200" y="443611"/>
                </a:lnTo>
                <a:lnTo>
                  <a:pt x="104775" y="443611"/>
                </a:lnTo>
                <a:lnTo>
                  <a:pt x="114300" y="42456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9"/>
          <p:cNvSpPr txBox="1"/>
          <p:nvPr/>
        </p:nvSpPr>
        <p:spPr>
          <a:xfrm>
            <a:off x="10379075" y="4515967"/>
            <a:ext cx="1259840" cy="700405"/>
          </a:xfrm>
          <a:prstGeom prst="rect">
            <a:avLst/>
          </a:prstGeom>
          <a:noFill/>
          <a:ln cap="flat" cmpd="sng" w="12700">
            <a:solidFill>
              <a:srgbClr val="6FAC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4750">
            <a:spAutoFit/>
          </a:bodyPr>
          <a:lstStyle/>
          <a:p>
            <a:pPr indent="51434" lvl="0" marL="334645" marR="32575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Global Average Pooling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9"/>
          <p:cNvSpPr txBox="1"/>
          <p:nvPr/>
        </p:nvSpPr>
        <p:spPr>
          <a:xfrm>
            <a:off x="8351139" y="4528413"/>
            <a:ext cx="1340485" cy="700405"/>
          </a:xfrm>
          <a:prstGeom prst="rect">
            <a:avLst/>
          </a:prstGeom>
          <a:noFill/>
          <a:ln cap="flat" cmpd="sng" w="12700">
            <a:solidFill>
              <a:srgbClr val="6FAC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31425">
            <a:spAutoFit/>
          </a:bodyPr>
          <a:lstStyle/>
          <a:p>
            <a:pPr indent="0" lvl="0" marL="190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Fully-connected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layer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9"/>
          <p:cNvSpPr/>
          <p:nvPr/>
        </p:nvSpPr>
        <p:spPr>
          <a:xfrm>
            <a:off x="9757029" y="4844541"/>
            <a:ext cx="532130" cy="114300"/>
          </a:xfrm>
          <a:custGeom>
            <a:rect b="b" l="l" r="r" t="t"/>
            <a:pathLst>
              <a:path extrusionOk="0" h="114300" w="532129">
                <a:moveTo>
                  <a:pt x="114300" y="0"/>
                </a:moveTo>
                <a:lnTo>
                  <a:pt x="0" y="57149"/>
                </a:lnTo>
                <a:lnTo>
                  <a:pt x="114300" y="114299"/>
                </a:lnTo>
                <a:lnTo>
                  <a:pt x="114300" y="76199"/>
                </a:lnTo>
                <a:lnTo>
                  <a:pt x="95250" y="76199"/>
                </a:lnTo>
                <a:lnTo>
                  <a:pt x="95250" y="38099"/>
                </a:lnTo>
                <a:lnTo>
                  <a:pt x="114300" y="38099"/>
                </a:lnTo>
                <a:lnTo>
                  <a:pt x="114300" y="0"/>
                </a:lnTo>
                <a:close/>
              </a:path>
              <a:path extrusionOk="0" h="114300" w="532129">
                <a:moveTo>
                  <a:pt x="114300" y="38099"/>
                </a:moveTo>
                <a:lnTo>
                  <a:pt x="95250" y="38099"/>
                </a:lnTo>
                <a:lnTo>
                  <a:pt x="95250" y="76199"/>
                </a:lnTo>
                <a:lnTo>
                  <a:pt x="114300" y="76199"/>
                </a:lnTo>
                <a:lnTo>
                  <a:pt x="114300" y="38099"/>
                </a:lnTo>
                <a:close/>
              </a:path>
              <a:path extrusionOk="0" h="114300" w="532129">
                <a:moveTo>
                  <a:pt x="531876" y="38099"/>
                </a:moveTo>
                <a:lnTo>
                  <a:pt x="114300" y="38099"/>
                </a:lnTo>
                <a:lnTo>
                  <a:pt x="114300" y="76199"/>
                </a:lnTo>
                <a:lnTo>
                  <a:pt x="531876" y="76199"/>
                </a:lnTo>
                <a:lnTo>
                  <a:pt x="531876" y="3809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9"/>
          <p:cNvSpPr/>
          <p:nvPr/>
        </p:nvSpPr>
        <p:spPr>
          <a:xfrm>
            <a:off x="7735443" y="4838319"/>
            <a:ext cx="532130" cy="114300"/>
          </a:xfrm>
          <a:custGeom>
            <a:rect b="b" l="l" r="r" t="t"/>
            <a:pathLst>
              <a:path extrusionOk="0" h="114300" w="532129">
                <a:moveTo>
                  <a:pt x="114300" y="0"/>
                </a:moveTo>
                <a:lnTo>
                  <a:pt x="0" y="57149"/>
                </a:lnTo>
                <a:lnTo>
                  <a:pt x="114300" y="114299"/>
                </a:lnTo>
                <a:lnTo>
                  <a:pt x="114300" y="76199"/>
                </a:lnTo>
                <a:lnTo>
                  <a:pt x="95250" y="76199"/>
                </a:lnTo>
                <a:lnTo>
                  <a:pt x="95250" y="38099"/>
                </a:lnTo>
                <a:lnTo>
                  <a:pt x="114300" y="38099"/>
                </a:lnTo>
                <a:lnTo>
                  <a:pt x="114300" y="0"/>
                </a:lnTo>
                <a:close/>
              </a:path>
              <a:path extrusionOk="0" h="114300" w="532129">
                <a:moveTo>
                  <a:pt x="114300" y="38099"/>
                </a:moveTo>
                <a:lnTo>
                  <a:pt x="95250" y="38099"/>
                </a:lnTo>
                <a:lnTo>
                  <a:pt x="95250" y="76199"/>
                </a:lnTo>
                <a:lnTo>
                  <a:pt x="114300" y="76199"/>
                </a:lnTo>
                <a:lnTo>
                  <a:pt x="114300" y="38099"/>
                </a:lnTo>
                <a:close/>
              </a:path>
              <a:path extrusionOk="0" h="114300" w="532129">
                <a:moveTo>
                  <a:pt x="531749" y="38099"/>
                </a:moveTo>
                <a:lnTo>
                  <a:pt x="114300" y="38099"/>
                </a:lnTo>
                <a:lnTo>
                  <a:pt x="114300" y="76199"/>
                </a:lnTo>
                <a:lnTo>
                  <a:pt x="531749" y="76199"/>
                </a:lnTo>
                <a:lnTo>
                  <a:pt x="531749" y="3809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9"/>
          <p:cNvSpPr txBox="1"/>
          <p:nvPr/>
        </p:nvSpPr>
        <p:spPr>
          <a:xfrm>
            <a:off x="6329553" y="4522190"/>
            <a:ext cx="1340485" cy="700405"/>
          </a:xfrm>
          <a:prstGeom prst="rect">
            <a:avLst/>
          </a:prstGeom>
          <a:noFill/>
          <a:ln cap="flat" cmpd="sng" w="12700">
            <a:solidFill>
              <a:srgbClr val="6FAC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36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Cat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9"/>
          <p:cNvSpPr txBox="1"/>
          <p:nvPr/>
        </p:nvSpPr>
        <p:spPr>
          <a:xfrm>
            <a:off x="1017828" y="4096003"/>
            <a:ext cx="55880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56 x 56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9"/>
          <p:cNvSpPr txBox="1"/>
          <p:nvPr/>
        </p:nvSpPr>
        <p:spPr>
          <a:xfrm>
            <a:off x="2924682" y="2792044"/>
            <a:ext cx="558800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56 x 56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9"/>
          <p:cNvSpPr txBox="1"/>
          <p:nvPr/>
        </p:nvSpPr>
        <p:spPr>
          <a:xfrm>
            <a:off x="4831460" y="2767711"/>
            <a:ext cx="55880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28 x 28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9"/>
          <p:cNvSpPr txBox="1"/>
          <p:nvPr/>
        </p:nvSpPr>
        <p:spPr>
          <a:xfrm>
            <a:off x="6831583" y="2780157"/>
            <a:ext cx="55880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28 x 28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9"/>
          <p:cNvSpPr txBox="1"/>
          <p:nvPr/>
        </p:nvSpPr>
        <p:spPr>
          <a:xfrm>
            <a:off x="8766429" y="2773807"/>
            <a:ext cx="55880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14 x 14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9"/>
          <p:cNvSpPr txBox="1"/>
          <p:nvPr/>
        </p:nvSpPr>
        <p:spPr>
          <a:xfrm>
            <a:off x="10663808" y="2795777"/>
            <a:ext cx="55880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14 x 14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9"/>
          <p:cNvSpPr txBox="1"/>
          <p:nvPr/>
        </p:nvSpPr>
        <p:spPr>
          <a:xfrm>
            <a:off x="10803381" y="5299964"/>
            <a:ext cx="38163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1 x 1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type="title"/>
          </p:nvPr>
        </p:nvSpPr>
        <p:spPr>
          <a:xfrm>
            <a:off x="2694939" y="513245"/>
            <a:ext cx="7233284" cy="84963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7E7E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98100">
            <a:spAutoFit/>
          </a:bodyPr>
          <a:lstStyle/>
          <a:p>
            <a:pPr indent="0" lvl="0" marL="127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IMAGE SEGMENTATION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0"/>
          <p:cNvSpPr txBox="1"/>
          <p:nvPr/>
        </p:nvSpPr>
        <p:spPr>
          <a:xfrm>
            <a:off x="8283956" y="3606546"/>
            <a:ext cx="3314700" cy="75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456565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✔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Pixel-wise Semantic Segmentation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SzPts val="1600"/>
              <a:buFont typeface="Noto Sans Symbols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1" marL="11734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✔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Label every pixel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8" name="Google Shape;88;p10"/>
          <p:cNvGrpSpPr/>
          <p:nvPr/>
        </p:nvGrpSpPr>
        <p:grpSpPr>
          <a:xfrm>
            <a:off x="442971" y="1735480"/>
            <a:ext cx="7640158" cy="4587865"/>
            <a:chOff x="442971" y="1735480"/>
            <a:chExt cx="7640158" cy="4587865"/>
          </a:xfrm>
        </p:grpSpPr>
        <p:pic>
          <p:nvPicPr>
            <p:cNvPr id="89" name="Google Shape;89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42971" y="1735480"/>
              <a:ext cx="7640158" cy="45878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" name="Google Shape;90;p10"/>
            <p:cNvSpPr/>
            <p:nvPr/>
          </p:nvSpPr>
          <p:spPr>
            <a:xfrm>
              <a:off x="5029199" y="1800809"/>
              <a:ext cx="1978660" cy="186690"/>
            </a:xfrm>
            <a:custGeom>
              <a:rect b="b" l="l" r="r" t="t"/>
              <a:pathLst>
                <a:path extrusionOk="0" h="186689" w="1978659">
                  <a:moveTo>
                    <a:pt x="1978152" y="0"/>
                  </a:moveTo>
                  <a:lnTo>
                    <a:pt x="0" y="0"/>
                  </a:lnTo>
                  <a:lnTo>
                    <a:pt x="0" y="186613"/>
                  </a:lnTo>
                  <a:lnTo>
                    <a:pt x="1978152" y="186613"/>
                  </a:lnTo>
                  <a:lnTo>
                    <a:pt x="19781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8201" y="2089150"/>
            <a:ext cx="257302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53756" y="2089150"/>
            <a:ext cx="257302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1"/>
          <p:cNvSpPr txBox="1"/>
          <p:nvPr/>
        </p:nvSpPr>
        <p:spPr>
          <a:xfrm>
            <a:off x="1723770" y="5737352"/>
            <a:ext cx="11353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Input Image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1"/>
          <p:cNvSpPr txBox="1"/>
          <p:nvPr/>
        </p:nvSpPr>
        <p:spPr>
          <a:xfrm>
            <a:off x="7848092" y="5679135"/>
            <a:ext cx="24511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Output Segmentation Map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1"/>
          <p:cNvSpPr/>
          <p:nvPr/>
        </p:nvSpPr>
        <p:spPr>
          <a:xfrm>
            <a:off x="3925951" y="3606038"/>
            <a:ext cx="685165" cy="417830"/>
          </a:xfrm>
          <a:custGeom>
            <a:rect b="b" l="l" r="r" t="t"/>
            <a:pathLst>
              <a:path extrusionOk="0" h="417829" w="685164">
                <a:moveTo>
                  <a:pt x="476250" y="0"/>
                </a:moveTo>
                <a:lnTo>
                  <a:pt x="476250" y="104267"/>
                </a:lnTo>
                <a:lnTo>
                  <a:pt x="0" y="104267"/>
                </a:lnTo>
                <a:lnTo>
                  <a:pt x="0" y="313055"/>
                </a:lnTo>
                <a:lnTo>
                  <a:pt x="476250" y="313055"/>
                </a:lnTo>
                <a:lnTo>
                  <a:pt x="476250" y="417449"/>
                </a:lnTo>
                <a:lnTo>
                  <a:pt x="685038" y="208661"/>
                </a:lnTo>
                <a:lnTo>
                  <a:pt x="476250" y="0"/>
                </a:lnTo>
                <a:close/>
              </a:path>
            </a:pathLst>
          </a:custGeom>
          <a:solidFill>
            <a:srgbClr val="006F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1"/>
          <p:cNvSpPr/>
          <p:nvPr/>
        </p:nvSpPr>
        <p:spPr>
          <a:xfrm>
            <a:off x="7074027" y="3606038"/>
            <a:ext cx="685165" cy="417830"/>
          </a:xfrm>
          <a:custGeom>
            <a:rect b="b" l="l" r="r" t="t"/>
            <a:pathLst>
              <a:path extrusionOk="0" h="417829" w="685165">
                <a:moveTo>
                  <a:pt x="476250" y="0"/>
                </a:moveTo>
                <a:lnTo>
                  <a:pt x="476250" y="104267"/>
                </a:lnTo>
                <a:lnTo>
                  <a:pt x="0" y="104267"/>
                </a:lnTo>
                <a:lnTo>
                  <a:pt x="0" y="313055"/>
                </a:lnTo>
                <a:lnTo>
                  <a:pt x="476250" y="313055"/>
                </a:lnTo>
                <a:lnTo>
                  <a:pt x="476250" y="417449"/>
                </a:lnTo>
                <a:lnTo>
                  <a:pt x="684911" y="208661"/>
                </a:lnTo>
                <a:lnTo>
                  <a:pt x="476250" y="0"/>
                </a:lnTo>
                <a:close/>
              </a:path>
            </a:pathLst>
          </a:custGeom>
          <a:solidFill>
            <a:srgbClr val="006F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1"/>
          <p:cNvSpPr txBox="1"/>
          <p:nvPr/>
        </p:nvSpPr>
        <p:spPr>
          <a:xfrm>
            <a:off x="4717796" y="2805429"/>
            <a:ext cx="210185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Learns Segmentation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1"/>
          <p:cNvSpPr txBox="1"/>
          <p:nvPr/>
        </p:nvSpPr>
        <p:spPr>
          <a:xfrm>
            <a:off x="4800853" y="3316782"/>
            <a:ext cx="1941195" cy="956944"/>
          </a:xfrm>
          <a:prstGeom prst="rect">
            <a:avLst/>
          </a:prstGeom>
          <a:solidFill>
            <a:srgbClr val="F1F1F1"/>
          </a:solidFill>
          <a:ln cap="flat" cmpd="sng" w="9525">
            <a:solidFill>
              <a:srgbClr val="7E7E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85100">
            <a:spAutoFit/>
          </a:bodyPr>
          <a:lstStyle/>
          <a:p>
            <a:pPr indent="0" lvl="0" marL="4978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U-NET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1"/>
          <p:cNvSpPr txBox="1"/>
          <p:nvPr>
            <p:ph type="title"/>
          </p:nvPr>
        </p:nvSpPr>
        <p:spPr>
          <a:xfrm>
            <a:off x="1610486" y="513245"/>
            <a:ext cx="8317230" cy="84963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7E7E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981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U-Net: Objective and Functionality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2"/>
          <p:cNvSpPr txBox="1"/>
          <p:nvPr/>
        </p:nvSpPr>
        <p:spPr>
          <a:xfrm>
            <a:off x="1694179" y="6346952"/>
            <a:ext cx="11353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Input Image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12"/>
          <p:cNvSpPr txBox="1"/>
          <p:nvPr/>
        </p:nvSpPr>
        <p:spPr>
          <a:xfrm>
            <a:off x="8929878" y="6278981"/>
            <a:ext cx="24511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Output Segmentation Map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12"/>
          <p:cNvSpPr/>
          <p:nvPr/>
        </p:nvSpPr>
        <p:spPr>
          <a:xfrm>
            <a:off x="3215385" y="3429000"/>
            <a:ext cx="1847850" cy="417830"/>
          </a:xfrm>
          <a:custGeom>
            <a:rect b="b" l="l" r="r" t="t"/>
            <a:pathLst>
              <a:path extrusionOk="0" h="417829" w="1847850">
                <a:moveTo>
                  <a:pt x="1639189" y="0"/>
                </a:moveTo>
                <a:lnTo>
                  <a:pt x="1639189" y="104394"/>
                </a:lnTo>
                <a:lnTo>
                  <a:pt x="0" y="104394"/>
                </a:lnTo>
                <a:lnTo>
                  <a:pt x="0" y="313055"/>
                </a:lnTo>
                <a:lnTo>
                  <a:pt x="1639189" y="313055"/>
                </a:lnTo>
                <a:lnTo>
                  <a:pt x="1639189" y="417449"/>
                </a:lnTo>
                <a:lnTo>
                  <a:pt x="1847850" y="208661"/>
                </a:lnTo>
                <a:lnTo>
                  <a:pt x="1639189" y="0"/>
                </a:lnTo>
                <a:close/>
              </a:path>
            </a:pathLst>
          </a:custGeom>
          <a:solidFill>
            <a:srgbClr val="7E7E7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2"/>
          <p:cNvSpPr/>
          <p:nvPr/>
        </p:nvSpPr>
        <p:spPr>
          <a:xfrm>
            <a:off x="7378827" y="3429000"/>
            <a:ext cx="1792605" cy="417830"/>
          </a:xfrm>
          <a:custGeom>
            <a:rect b="b" l="l" r="r" t="t"/>
            <a:pathLst>
              <a:path extrusionOk="0" h="417829" w="1792604">
                <a:moveTo>
                  <a:pt x="1583690" y="0"/>
                </a:moveTo>
                <a:lnTo>
                  <a:pt x="1583690" y="104394"/>
                </a:lnTo>
                <a:lnTo>
                  <a:pt x="0" y="104394"/>
                </a:lnTo>
                <a:lnTo>
                  <a:pt x="0" y="313055"/>
                </a:lnTo>
                <a:lnTo>
                  <a:pt x="1583690" y="313055"/>
                </a:lnTo>
                <a:lnTo>
                  <a:pt x="1583690" y="417449"/>
                </a:lnTo>
                <a:lnTo>
                  <a:pt x="1792477" y="208661"/>
                </a:lnTo>
                <a:lnTo>
                  <a:pt x="1583690" y="0"/>
                </a:lnTo>
                <a:close/>
              </a:path>
            </a:pathLst>
          </a:custGeom>
          <a:solidFill>
            <a:srgbClr val="7E7E7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2"/>
          <p:cNvSpPr txBox="1"/>
          <p:nvPr/>
        </p:nvSpPr>
        <p:spPr>
          <a:xfrm>
            <a:off x="3658361" y="1871217"/>
            <a:ext cx="497967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U-Net learns segmentation in an end-to-end setting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2"/>
          <p:cNvSpPr txBox="1"/>
          <p:nvPr/>
        </p:nvSpPr>
        <p:spPr>
          <a:xfrm>
            <a:off x="5253101" y="3139744"/>
            <a:ext cx="1941195" cy="956944"/>
          </a:xfrm>
          <a:prstGeom prst="rect">
            <a:avLst/>
          </a:prstGeom>
          <a:solidFill>
            <a:srgbClr val="F1F1F1"/>
          </a:solidFill>
          <a:ln cap="flat" cmpd="sng" w="9525">
            <a:solidFill>
              <a:srgbClr val="7E7E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85100">
            <a:spAutoFit/>
          </a:bodyPr>
          <a:lstStyle/>
          <a:p>
            <a:pPr indent="0" lvl="0" marL="5480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UNET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2"/>
          <p:cNvSpPr txBox="1"/>
          <p:nvPr>
            <p:ph type="title"/>
          </p:nvPr>
        </p:nvSpPr>
        <p:spPr>
          <a:xfrm>
            <a:off x="1649857" y="414820"/>
            <a:ext cx="8317230" cy="84963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7E7E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98750">
            <a:spAutoFit/>
          </a:bodyPr>
          <a:lstStyle/>
          <a:p>
            <a:pPr indent="0" lvl="0" marL="8305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Biomedical Image Segmentation with U-Net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5" name="Google Shape;115;p12"/>
          <p:cNvGrpSpPr/>
          <p:nvPr/>
        </p:nvGrpSpPr>
        <p:grpSpPr>
          <a:xfrm>
            <a:off x="1518285" y="1727707"/>
            <a:ext cx="1600452" cy="2866644"/>
            <a:chOff x="1518285" y="1727707"/>
            <a:chExt cx="1600452" cy="2866644"/>
          </a:xfrm>
        </p:grpSpPr>
        <p:pic>
          <p:nvPicPr>
            <p:cNvPr id="116" name="Google Shape;116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38986" y="1727707"/>
              <a:ext cx="1524250" cy="14119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" name="Google Shape;117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18285" y="3182365"/>
              <a:ext cx="1600452" cy="141198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8" name="Google Shape;118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18752" y="1912790"/>
            <a:ext cx="1524246" cy="1343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28284" y="3328442"/>
            <a:ext cx="1533762" cy="1403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18285" y="4653369"/>
            <a:ext cx="1562354" cy="1552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61427" y="4815166"/>
            <a:ext cx="1486150" cy="139101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2"/>
          <p:cNvSpPr txBox="1"/>
          <p:nvPr/>
        </p:nvSpPr>
        <p:spPr>
          <a:xfrm>
            <a:off x="5051297" y="4499864"/>
            <a:ext cx="234759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Times New Roman"/>
                <a:ea typeface="Times New Roman"/>
                <a:cs typeface="Times New Roman"/>
                <a:sym typeface="Times New Roman"/>
              </a:rPr>
              <a:t>Ronneberger et al. (2015) U-Net Architecture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12"/>
          <p:cNvSpPr txBox="1"/>
          <p:nvPr/>
        </p:nvSpPr>
        <p:spPr>
          <a:xfrm>
            <a:off x="4692522" y="5050663"/>
            <a:ext cx="320675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Times New Roman"/>
                <a:ea typeface="Times New Roman"/>
                <a:cs typeface="Times New Roman"/>
                <a:sym typeface="Times New Roman"/>
              </a:rPr>
              <a:t>IEEE International Symposium on Biomedical Imaging (ISBI)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8459" y="1902832"/>
            <a:ext cx="7356590" cy="413584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3"/>
          <p:cNvSpPr txBox="1"/>
          <p:nvPr/>
        </p:nvSpPr>
        <p:spPr>
          <a:xfrm>
            <a:off x="9201150" y="6430162"/>
            <a:ext cx="234759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Times New Roman"/>
                <a:ea typeface="Times New Roman"/>
                <a:cs typeface="Times New Roman"/>
                <a:sym typeface="Times New Roman"/>
              </a:rPr>
              <a:t>Ronneberger et al. (2015) U-Net Architecture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13"/>
          <p:cNvSpPr txBox="1"/>
          <p:nvPr>
            <p:ph type="title"/>
          </p:nvPr>
        </p:nvSpPr>
        <p:spPr>
          <a:xfrm>
            <a:off x="1610486" y="513245"/>
            <a:ext cx="8317230" cy="84963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7E7E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98100">
            <a:spAutoFit/>
          </a:bodyPr>
          <a:lstStyle/>
          <a:p>
            <a:pPr indent="0" lvl="0" marL="63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U-Net Architecture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p14"/>
          <p:cNvGrpSpPr/>
          <p:nvPr/>
        </p:nvGrpSpPr>
        <p:grpSpPr>
          <a:xfrm>
            <a:off x="2012617" y="1902832"/>
            <a:ext cx="8005390" cy="4135845"/>
            <a:chOff x="2012617" y="1902832"/>
            <a:chExt cx="8005390" cy="4135845"/>
          </a:xfrm>
        </p:grpSpPr>
        <p:pic>
          <p:nvPicPr>
            <p:cNvPr id="136" name="Google Shape;136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012617" y="1902832"/>
              <a:ext cx="8005390" cy="41358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" name="Google Shape;137;p14"/>
            <p:cNvSpPr/>
            <p:nvPr/>
          </p:nvSpPr>
          <p:spPr>
            <a:xfrm>
              <a:off x="4010279" y="3014852"/>
              <a:ext cx="1666875" cy="2322195"/>
            </a:xfrm>
            <a:custGeom>
              <a:rect b="b" l="l" r="r" t="t"/>
              <a:pathLst>
                <a:path extrusionOk="0" h="2322195" w="1666875">
                  <a:moveTo>
                    <a:pt x="104267" y="0"/>
                  </a:moveTo>
                  <a:lnTo>
                    <a:pt x="0" y="72136"/>
                  </a:lnTo>
                  <a:lnTo>
                    <a:pt x="1510030" y="2253996"/>
                  </a:lnTo>
                  <a:lnTo>
                    <a:pt x="1457960" y="2290064"/>
                  </a:lnTo>
                  <a:lnTo>
                    <a:pt x="1634236" y="2322195"/>
                  </a:lnTo>
                  <a:lnTo>
                    <a:pt x="1666367" y="2145919"/>
                  </a:lnTo>
                  <a:lnTo>
                    <a:pt x="1614297" y="2181987"/>
                  </a:lnTo>
                  <a:lnTo>
                    <a:pt x="104267" y="0"/>
                  </a:lnTo>
                  <a:close/>
                </a:path>
              </a:pathLst>
            </a:custGeom>
            <a:solidFill>
              <a:srgbClr val="EC7C3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4"/>
            <p:cNvSpPr/>
            <p:nvPr/>
          </p:nvSpPr>
          <p:spPr>
            <a:xfrm>
              <a:off x="4010279" y="3014852"/>
              <a:ext cx="1666875" cy="2322195"/>
            </a:xfrm>
            <a:custGeom>
              <a:rect b="b" l="l" r="r" t="t"/>
              <a:pathLst>
                <a:path extrusionOk="0" h="2322195" w="1666875">
                  <a:moveTo>
                    <a:pt x="104267" y="0"/>
                  </a:moveTo>
                  <a:lnTo>
                    <a:pt x="1614297" y="2181987"/>
                  </a:lnTo>
                  <a:lnTo>
                    <a:pt x="1666367" y="2145919"/>
                  </a:lnTo>
                  <a:lnTo>
                    <a:pt x="1634236" y="2322195"/>
                  </a:lnTo>
                  <a:lnTo>
                    <a:pt x="1457960" y="2290064"/>
                  </a:lnTo>
                  <a:lnTo>
                    <a:pt x="1510030" y="2253996"/>
                  </a:lnTo>
                  <a:lnTo>
                    <a:pt x="0" y="72136"/>
                  </a:lnTo>
                  <a:lnTo>
                    <a:pt x="104267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AD5A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4"/>
          <p:cNvSpPr txBox="1"/>
          <p:nvPr/>
        </p:nvSpPr>
        <p:spPr>
          <a:xfrm>
            <a:off x="4297426" y="2945384"/>
            <a:ext cx="2523490" cy="926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Contraction path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87350" rtl="0" algn="l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Increases field of view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99109" rtl="0" algn="l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AF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Lose Spatial Information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14"/>
          <p:cNvSpPr txBox="1"/>
          <p:nvPr>
            <p:ph type="title"/>
          </p:nvPr>
        </p:nvSpPr>
        <p:spPr>
          <a:xfrm>
            <a:off x="1610486" y="513245"/>
            <a:ext cx="8317230" cy="84963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7E7E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98100">
            <a:spAutoFit/>
          </a:bodyPr>
          <a:lstStyle/>
          <a:p>
            <a:pPr indent="0" lvl="0" marL="63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U-Net Architecture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9201150" y="6430162"/>
            <a:ext cx="234759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Times New Roman"/>
                <a:ea typeface="Times New Roman"/>
                <a:cs typeface="Times New Roman"/>
                <a:sym typeface="Times New Roman"/>
              </a:rPr>
              <a:t>Ronneberger et al. (2015) U-Net Architecture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15"/>
          <p:cNvGrpSpPr/>
          <p:nvPr/>
        </p:nvGrpSpPr>
        <p:grpSpPr>
          <a:xfrm>
            <a:off x="2333333" y="1829731"/>
            <a:ext cx="7530234" cy="4135845"/>
            <a:chOff x="2333333" y="1829731"/>
            <a:chExt cx="7530234" cy="4135845"/>
          </a:xfrm>
        </p:grpSpPr>
        <p:pic>
          <p:nvPicPr>
            <p:cNvPr id="147" name="Google Shape;147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33333" y="1829731"/>
              <a:ext cx="7530234" cy="41358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" name="Google Shape;148;p15"/>
            <p:cNvSpPr/>
            <p:nvPr/>
          </p:nvSpPr>
          <p:spPr>
            <a:xfrm>
              <a:off x="5813933" y="3138169"/>
              <a:ext cx="1614170" cy="2360295"/>
            </a:xfrm>
            <a:custGeom>
              <a:rect b="b" l="l" r="r" t="t"/>
              <a:pathLst>
                <a:path extrusionOk="0" h="2360295" w="1614170">
                  <a:moveTo>
                    <a:pt x="1577339" y="0"/>
                  </a:moveTo>
                  <a:lnTo>
                    <a:pt x="1401952" y="36449"/>
                  </a:lnTo>
                  <a:lnTo>
                    <a:pt x="1454912" y="71246"/>
                  </a:lnTo>
                  <a:lnTo>
                    <a:pt x="0" y="2290317"/>
                  </a:lnTo>
                  <a:lnTo>
                    <a:pt x="105917" y="2359786"/>
                  </a:lnTo>
                  <a:lnTo>
                    <a:pt x="1560957" y="140715"/>
                  </a:lnTo>
                  <a:lnTo>
                    <a:pt x="1613915" y="175387"/>
                  </a:lnTo>
                  <a:lnTo>
                    <a:pt x="1577339" y="0"/>
                  </a:lnTo>
                  <a:close/>
                </a:path>
              </a:pathLst>
            </a:custGeom>
            <a:solidFill>
              <a:srgbClr val="EC7C3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5"/>
            <p:cNvSpPr/>
            <p:nvPr/>
          </p:nvSpPr>
          <p:spPr>
            <a:xfrm>
              <a:off x="5813933" y="3138169"/>
              <a:ext cx="1614170" cy="2360295"/>
            </a:xfrm>
            <a:custGeom>
              <a:rect b="b" l="l" r="r" t="t"/>
              <a:pathLst>
                <a:path extrusionOk="0" h="2360295" w="1614170">
                  <a:moveTo>
                    <a:pt x="0" y="2290317"/>
                  </a:moveTo>
                  <a:lnTo>
                    <a:pt x="1454912" y="71246"/>
                  </a:lnTo>
                  <a:lnTo>
                    <a:pt x="1401952" y="36449"/>
                  </a:lnTo>
                  <a:lnTo>
                    <a:pt x="1577339" y="0"/>
                  </a:lnTo>
                  <a:lnTo>
                    <a:pt x="1613915" y="175387"/>
                  </a:lnTo>
                  <a:lnTo>
                    <a:pt x="1560957" y="140715"/>
                  </a:lnTo>
                  <a:lnTo>
                    <a:pt x="105917" y="2359786"/>
                  </a:lnTo>
                  <a:lnTo>
                    <a:pt x="0" y="2290317"/>
                  </a:lnTo>
                  <a:close/>
                </a:path>
              </a:pathLst>
            </a:custGeom>
            <a:noFill/>
            <a:ln cap="flat" cmpd="sng" w="12700">
              <a:solidFill>
                <a:srgbClr val="AD5A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0" name="Google Shape;150;p15"/>
          <p:cNvSpPr txBox="1"/>
          <p:nvPr/>
        </p:nvSpPr>
        <p:spPr>
          <a:xfrm>
            <a:off x="5003672" y="2992276"/>
            <a:ext cx="1986280" cy="926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450">
            <a:spAutoFit/>
          </a:bodyPr>
          <a:lstStyle/>
          <a:p>
            <a:pPr indent="0" lvl="0" marL="1739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Expansion path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32460" lvl="0" marL="645160" marR="5080" rtl="0" algn="l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AF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 </a:t>
            </a:r>
            <a:r>
              <a:rPr b="1" lang="en-US" sz="1400">
                <a:solidFill>
                  <a:srgbClr val="00AF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High Resolution Mapping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15"/>
          <p:cNvSpPr txBox="1"/>
          <p:nvPr>
            <p:ph type="title"/>
          </p:nvPr>
        </p:nvSpPr>
        <p:spPr>
          <a:xfrm>
            <a:off x="1610486" y="513245"/>
            <a:ext cx="8317230" cy="84963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7E7E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98100">
            <a:spAutoFit/>
          </a:bodyPr>
          <a:lstStyle/>
          <a:p>
            <a:pPr indent="0" lvl="0" marL="63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U-Net Architecture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9201150" y="6430162"/>
            <a:ext cx="234759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Times New Roman"/>
                <a:ea typeface="Times New Roman"/>
                <a:cs typeface="Times New Roman"/>
                <a:sym typeface="Times New Roman"/>
              </a:rPr>
              <a:t>Ronneberger et al. (2015) U-Net Architecture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oogle Shape;157;p16"/>
          <p:cNvGrpSpPr/>
          <p:nvPr/>
        </p:nvGrpSpPr>
        <p:grpSpPr>
          <a:xfrm>
            <a:off x="2355617" y="1818860"/>
            <a:ext cx="7341539" cy="4135845"/>
            <a:chOff x="2355617" y="1818860"/>
            <a:chExt cx="7341539" cy="4135845"/>
          </a:xfrm>
        </p:grpSpPr>
        <p:pic>
          <p:nvPicPr>
            <p:cNvPr id="158" name="Google Shape;158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55617" y="1818860"/>
              <a:ext cx="7341539" cy="41358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" name="Google Shape;159;p16"/>
            <p:cNvSpPr/>
            <p:nvPr/>
          </p:nvSpPr>
          <p:spPr>
            <a:xfrm>
              <a:off x="3768217" y="2468498"/>
              <a:ext cx="3629025" cy="3067685"/>
            </a:xfrm>
            <a:custGeom>
              <a:rect b="b" l="l" r="r" t="t"/>
              <a:pathLst>
                <a:path extrusionOk="0" h="3067685" w="3629025">
                  <a:moveTo>
                    <a:pt x="1842516" y="2944622"/>
                  </a:moveTo>
                  <a:lnTo>
                    <a:pt x="1813966" y="2882735"/>
                  </a:lnTo>
                  <a:lnTo>
                    <a:pt x="1781276" y="2857906"/>
                  </a:lnTo>
                  <a:lnTo>
                    <a:pt x="1738972" y="2838704"/>
                  </a:lnTo>
                  <a:lnTo>
                    <a:pt x="1689036" y="2826334"/>
                  </a:lnTo>
                  <a:lnTo>
                    <a:pt x="1633474" y="2821940"/>
                  </a:lnTo>
                  <a:lnTo>
                    <a:pt x="1577911" y="2826334"/>
                  </a:lnTo>
                  <a:lnTo>
                    <a:pt x="1528000" y="2838704"/>
                  </a:lnTo>
                  <a:lnTo>
                    <a:pt x="1485722" y="2857906"/>
                  </a:lnTo>
                  <a:lnTo>
                    <a:pt x="1453057" y="2882735"/>
                  </a:lnTo>
                  <a:lnTo>
                    <a:pt x="1424559" y="2944622"/>
                  </a:lnTo>
                  <a:lnTo>
                    <a:pt x="1432013" y="2977261"/>
                  </a:lnTo>
                  <a:lnTo>
                    <a:pt x="1485722" y="3031401"/>
                  </a:lnTo>
                  <a:lnTo>
                    <a:pt x="1528000" y="3050578"/>
                  </a:lnTo>
                  <a:lnTo>
                    <a:pt x="1577911" y="3062935"/>
                  </a:lnTo>
                  <a:lnTo>
                    <a:pt x="1633474" y="3067304"/>
                  </a:lnTo>
                  <a:lnTo>
                    <a:pt x="1689036" y="3062935"/>
                  </a:lnTo>
                  <a:lnTo>
                    <a:pt x="1738972" y="3050578"/>
                  </a:lnTo>
                  <a:lnTo>
                    <a:pt x="1781276" y="3031401"/>
                  </a:lnTo>
                  <a:lnTo>
                    <a:pt x="1813966" y="3006572"/>
                  </a:lnTo>
                  <a:lnTo>
                    <a:pt x="1842516" y="2944622"/>
                  </a:lnTo>
                  <a:close/>
                </a:path>
                <a:path extrusionOk="0" h="3067685" w="3629025">
                  <a:moveTo>
                    <a:pt x="2815082" y="2474722"/>
                  </a:moveTo>
                  <a:lnTo>
                    <a:pt x="2791015" y="2437676"/>
                  </a:lnTo>
                  <a:lnTo>
                    <a:pt x="2749867" y="2414511"/>
                  </a:lnTo>
                  <a:lnTo>
                    <a:pt x="2690406" y="2392883"/>
                  </a:lnTo>
                  <a:lnTo>
                    <a:pt x="2614206" y="2373045"/>
                  </a:lnTo>
                  <a:lnTo>
                    <a:pt x="2570315" y="2363889"/>
                  </a:lnTo>
                  <a:lnTo>
                    <a:pt x="2522804" y="2355265"/>
                  </a:lnTo>
                  <a:lnTo>
                    <a:pt x="2471877" y="2347226"/>
                  </a:lnTo>
                  <a:lnTo>
                    <a:pt x="2417724" y="2339797"/>
                  </a:lnTo>
                  <a:lnTo>
                    <a:pt x="2360549" y="2333015"/>
                  </a:lnTo>
                  <a:lnTo>
                    <a:pt x="2300541" y="2326906"/>
                  </a:lnTo>
                  <a:lnTo>
                    <a:pt x="2237879" y="2321509"/>
                  </a:lnTo>
                  <a:lnTo>
                    <a:pt x="2172779" y="2316848"/>
                  </a:lnTo>
                  <a:lnTo>
                    <a:pt x="2105406" y="2312962"/>
                  </a:lnTo>
                  <a:lnTo>
                    <a:pt x="2035987" y="2309888"/>
                  </a:lnTo>
                  <a:lnTo>
                    <a:pt x="1964677" y="2307653"/>
                  </a:lnTo>
                  <a:lnTo>
                    <a:pt x="1891703" y="2306282"/>
                  </a:lnTo>
                  <a:lnTo>
                    <a:pt x="1817243" y="2305812"/>
                  </a:lnTo>
                  <a:lnTo>
                    <a:pt x="1742782" y="2306282"/>
                  </a:lnTo>
                  <a:lnTo>
                    <a:pt x="1669821" y="2307653"/>
                  </a:lnTo>
                  <a:lnTo>
                    <a:pt x="1598536" y="2309888"/>
                  </a:lnTo>
                  <a:lnTo>
                    <a:pt x="1529118" y="2312962"/>
                  </a:lnTo>
                  <a:lnTo>
                    <a:pt x="1461770" y="2316848"/>
                  </a:lnTo>
                  <a:lnTo>
                    <a:pt x="1396669" y="2321509"/>
                  </a:lnTo>
                  <a:lnTo>
                    <a:pt x="1334020" y="2326906"/>
                  </a:lnTo>
                  <a:lnTo>
                    <a:pt x="1274013" y="2333015"/>
                  </a:lnTo>
                  <a:lnTo>
                    <a:pt x="1216837" y="2339797"/>
                  </a:lnTo>
                  <a:lnTo>
                    <a:pt x="1162697" y="2347226"/>
                  </a:lnTo>
                  <a:lnTo>
                    <a:pt x="1111783" y="2355265"/>
                  </a:lnTo>
                  <a:lnTo>
                    <a:pt x="1064272" y="2363889"/>
                  </a:lnTo>
                  <a:lnTo>
                    <a:pt x="1020381" y="2373045"/>
                  </a:lnTo>
                  <a:lnTo>
                    <a:pt x="980287" y="2382723"/>
                  </a:lnTo>
                  <a:lnTo>
                    <a:pt x="912266" y="2403500"/>
                  </a:lnTo>
                  <a:lnTo>
                    <a:pt x="861771" y="2425928"/>
                  </a:lnTo>
                  <a:lnTo>
                    <a:pt x="830338" y="2449753"/>
                  </a:lnTo>
                  <a:lnTo>
                    <a:pt x="819531" y="2474722"/>
                  </a:lnTo>
                  <a:lnTo>
                    <a:pt x="822261" y="2487320"/>
                  </a:lnTo>
                  <a:lnTo>
                    <a:pt x="861771" y="2523477"/>
                  </a:lnTo>
                  <a:lnTo>
                    <a:pt x="912266" y="2545880"/>
                  </a:lnTo>
                  <a:lnTo>
                    <a:pt x="980287" y="2566632"/>
                  </a:lnTo>
                  <a:lnTo>
                    <a:pt x="1020381" y="2576309"/>
                  </a:lnTo>
                  <a:lnTo>
                    <a:pt x="1064272" y="2585466"/>
                  </a:lnTo>
                  <a:lnTo>
                    <a:pt x="1111783" y="2594076"/>
                  </a:lnTo>
                  <a:lnTo>
                    <a:pt x="1162697" y="2602115"/>
                  </a:lnTo>
                  <a:lnTo>
                    <a:pt x="1216837" y="2609532"/>
                  </a:lnTo>
                  <a:lnTo>
                    <a:pt x="1274013" y="2616314"/>
                  </a:lnTo>
                  <a:lnTo>
                    <a:pt x="1334020" y="2622423"/>
                  </a:lnTo>
                  <a:lnTo>
                    <a:pt x="1396669" y="2627820"/>
                  </a:lnTo>
                  <a:lnTo>
                    <a:pt x="1461770" y="2632481"/>
                  </a:lnTo>
                  <a:lnTo>
                    <a:pt x="1529118" y="2636367"/>
                  </a:lnTo>
                  <a:lnTo>
                    <a:pt x="1598536" y="2639441"/>
                  </a:lnTo>
                  <a:lnTo>
                    <a:pt x="1669821" y="2641676"/>
                  </a:lnTo>
                  <a:lnTo>
                    <a:pt x="1742782" y="2643047"/>
                  </a:lnTo>
                  <a:lnTo>
                    <a:pt x="1817243" y="2643505"/>
                  </a:lnTo>
                  <a:lnTo>
                    <a:pt x="1891703" y="2643047"/>
                  </a:lnTo>
                  <a:lnTo>
                    <a:pt x="1964677" y="2641676"/>
                  </a:lnTo>
                  <a:lnTo>
                    <a:pt x="2035987" y="2639441"/>
                  </a:lnTo>
                  <a:lnTo>
                    <a:pt x="2105406" y="2636367"/>
                  </a:lnTo>
                  <a:lnTo>
                    <a:pt x="2172779" y="2632481"/>
                  </a:lnTo>
                  <a:lnTo>
                    <a:pt x="2237879" y="2627820"/>
                  </a:lnTo>
                  <a:lnTo>
                    <a:pt x="2300541" y="2622423"/>
                  </a:lnTo>
                  <a:lnTo>
                    <a:pt x="2360549" y="2616314"/>
                  </a:lnTo>
                  <a:lnTo>
                    <a:pt x="2417724" y="2609532"/>
                  </a:lnTo>
                  <a:lnTo>
                    <a:pt x="2471877" y="2602115"/>
                  </a:lnTo>
                  <a:lnTo>
                    <a:pt x="2522804" y="2594076"/>
                  </a:lnTo>
                  <a:lnTo>
                    <a:pt x="2570315" y="2585466"/>
                  </a:lnTo>
                  <a:lnTo>
                    <a:pt x="2614206" y="2576309"/>
                  </a:lnTo>
                  <a:lnTo>
                    <a:pt x="2654312" y="2566632"/>
                  </a:lnTo>
                  <a:lnTo>
                    <a:pt x="2722334" y="2545880"/>
                  </a:lnTo>
                  <a:lnTo>
                    <a:pt x="2772829" y="2523477"/>
                  </a:lnTo>
                  <a:lnTo>
                    <a:pt x="2804261" y="2499664"/>
                  </a:lnTo>
                  <a:lnTo>
                    <a:pt x="2815082" y="2474722"/>
                  </a:lnTo>
                  <a:close/>
                </a:path>
                <a:path extrusionOk="0" h="3067685" w="3629025">
                  <a:moveTo>
                    <a:pt x="3425063" y="1659890"/>
                  </a:moveTo>
                  <a:lnTo>
                    <a:pt x="3407930" y="1620570"/>
                  </a:lnTo>
                  <a:lnTo>
                    <a:pt x="3378276" y="1595361"/>
                  </a:lnTo>
                  <a:lnTo>
                    <a:pt x="3334893" y="1571117"/>
                  </a:lnTo>
                  <a:lnTo>
                    <a:pt x="3278530" y="1547952"/>
                  </a:lnTo>
                  <a:lnTo>
                    <a:pt x="3209950" y="1526006"/>
                  </a:lnTo>
                  <a:lnTo>
                    <a:pt x="3171291" y="1515529"/>
                  </a:lnTo>
                  <a:lnTo>
                    <a:pt x="3129877" y="1505407"/>
                  </a:lnTo>
                  <a:lnTo>
                    <a:pt x="3085757" y="1495653"/>
                  </a:lnTo>
                  <a:lnTo>
                    <a:pt x="3039059" y="1486281"/>
                  </a:lnTo>
                  <a:lnTo>
                    <a:pt x="2989859" y="1477314"/>
                  </a:lnTo>
                  <a:lnTo>
                    <a:pt x="2938259" y="1468767"/>
                  </a:lnTo>
                  <a:lnTo>
                    <a:pt x="2884335" y="1460652"/>
                  </a:lnTo>
                  <a:lnTo>
                    <a:pt x="2828213" y="1452994"/>
                  </a:lnTo>
                  <a:lnTo>
                    <a:pt x="2769946" y="1445793"/>
                  </a:lnTo>
                  <a:lnTo>
                    <a:pt x="2709659" y="1439075"/>
                  </a:lnTo>
                  <a:lnTo>
                    <a:pt x="2647442" y="1432864"/>
                  </a:lnTo>
                  <a:lnTo>
                    <a:pt x="2583370" y="1427162"/>
                  </a:lnTo>
                  <a:lnTo>
                    <a:pt x="2517546" y="1421993"/>
                  </a:lnTo>
                  <a:lnTo>
                    <a:pt x="2450071" y="1417370"/>
                  </a:lnTo>
                  <a:lnTo>
                    <a:pt x="2381034" y="1413306"/>
                  </a:lnTo>
                  <a:lnTo>
                    <a:pt x="2310523" y="1409827"/>
                  </a:lnTo>
                  <a:lnTo>
                    <a:pt x="2238629" y="1406944"/>
                  </a:lnTo>
                  <a:lnTo>
                    <a:pt x="2165451" y="1404683"/>
                  </a:lnTo>
                  <a:lnTo>
                    <a:pt x="2091093" y="1403032"/>
                  </a:lnTo>
                  <a:lnTo>
                    <a:pt x="2015629" y="1402041"/>
                  </a:lnTo>
                  <a:lnTo>
                    <a:pt x="1939163" y="1401699"/>
                  </a:lnTo>
                  <a:lnTo>
                    <a:pt x="1862696" y="1402041"/>
                  </a:lnTo>
                  <a:lnTo>
                    <a:pt x="1787245" y="1403032"/>
                  </a:lnTo>
                  <a:lnTo>
                    <a:pt x="1712887" y="1404683"/>
                  </a:lnTo>
                  <a:lnTo>
                    <a:pt x="1639722" y="1406944"/>
                  </a:lnTo>
                  <a:lnTo>
                    <a:pt x="1567840" y="1409827"/>
                  </a:lnTo>
                  <a:lnTo>
                    <a:pt x="1497330" y="1413306"/>
                  </a:lnTo>
                  <a:lnTo>
                    <a:pt x="1428292" y="1417370"/>
                  </a:lnTo>
                  <a:lnTo>
                    <a:pt x="1360817" y="1421993"/>
                  </a:lnTo>
                  <a:lnTo>
                    <a:pt x="1294993" y="1427162"/>
                  </a:lnTo>
                  <a:lnTo>
                    <a:pt x="1230934" y="1432864"/>
                  </a:lnTo>
                  <a:lnTo>
                    <a:pt x="1168704" y="1439075"/>
                  </a:lnTo>
                  <a:lnTo>
                    <a:pt x="1108417" y="1445793"/>
                  </a:lnTo>
                  <a:lnTo>
                    <a:pt x="1050163" y="1452994"/>
                  </a:lnTo>
                  <a:lnTo>
                    <a:pt x="994029" y="1460652"/>
                  </a:lnTo>
                  <a:lnTo>
                    <a:pt x="940104" y="1468767"/>
                  </a:lnTo>
                  <a:lnTo>
                    <a:pt x="888504" y="1477314"/>
                  </a:lnTo>
                  <a:lnTo>
                    <a:pt x="839304" y="1486281"/>
                  </a:lnTo>
                  <a:lnTo>
                    <a:pt x="792594" y="1495653"/>
                  </a:lnTo>
                  <a:lnTo>
                    <a:pt x="748474" y="1505407"/>
                  </a:lnTo>
                  <a:lnTo>
                    <a:pt x="707047" y="1515529"/>
                  </a:lnTo>
                  <a:lnTo>
                    <a:pt x="668401" y="1526006"/>
                  </a:lnTo>
                  <a:lnTo>
                    <a:pt x="599795" y="1547952"/>
                  </a:lnTo>
                  <a:lnTo>
                    <a:pt x="543433" y="1571117"/>
                  </a:lnTo>
                  <a:lnTo>
                    <a:pt x="500037" y="1595361"/>
                  </a:lnTo>
                  <a:lnTo>
                    <a:pt x="470382" y="1620570"/>
                  </a:lnTo>
                  <a:lnTo>
                    <a:pt x="453263" y="1659890"/>
                  </a:lnTo>
                  <a:lnTo>
                    <a:pt x="455193" y="1673199"/>
                  </a:lnTo>
                  <a:lnTo>
                    <a:pt x="483450" y="1711985"/>
                  </a:lnTo>
                  <a:lnTo>
                    <a:pt x="520065" y="1736737"/>
                  </a:lnTo>
                  <a:lnTo>
                    <a:pt x="570039" y="1760474"/>
                  </a:lnTo>
                  <a:lnTo>
                    <a:pt x="632612" y="1783067"/>
                  </a:lnTo>
                  <a:lnTo>
                    <a:pt x="707047" y="1804365"/>
                  </a:lnTo>
                  <a:lnTo>
                    <a:pt x="748474" y="1814487"/>
                  </a:lnTo>
                  <a:lnTo>
                    <a:pt x="792594" y="1824240"/>
                  </a:lnTo>
                  <a:lnTo>
                    <a:pt x="839304" y="1833613"/>
                  </a:lnTo>
                  <a:lnTo>
                    <a:pt x="888504" y="1842592"/>
                  </a:lnTo>
                  <a:lnTo>
                    <a:pt x="940104" y="1851139"/>
                  </a:lnTo>
                  <a:lnTo>
                    <a:pt x="994029" y="1859254"/>
                  </a:lnTo>
                  <a:lnTo>
                    <a:pt x="1050163" y="1866925"/>
                  </a:lnTo>
                  <a:lnTo>
                    <a:pt x="1108417" y="1874113"/>
                  </a:lnTo>
                  <a:lnTo>
                    <a:pt x="1168704" y="1880831"/>
                  </a:lnTo>
                  <a:lnTo>
                    <a:pt x="1230934" y="1887054"/>
                  </a:lnTo>
                  <a:lnTo>
                    <a:pt x="1294993" y="1892757"/>
                  </a:lnTo>
                  <a:lnTo>
                    <a:pt x="1360817" y="1897926"/>
                  </a:lnTo>
                  <a:lnTo>
                    <a:pt x="1428292" y="1902548"/>
                  </a:lnTo>
                  <a:lnTo>
                    <a:pt x="1497330" y="1906612"/>
                  </a:lnTo>
                  <a:lnTo>
                    <a:pt x="1567840" y="1910092"/>
                  </a:lnTo>
                  <a:lnTo>
                    <a:pt x="1639722" y="1912975"/>
                  </a:lnTo>
                  <a:lnTo>
                    <a:pt x="1712887" y="1915236"/>
                  </a:lnTo>
                  <a:lnTo>
                    <a:pt x="1787245" y="1916887"/>
                  </a:lnTo>
                  <a:lnTo>
                    <a:pt x="1862696" y="1917877"/>
                  </a:lnTo>
                  <a:lnTo>
                    <a:pt x="1939163" y="1918208"/>
                  </a:lnTo>
                  <a:lnTo>
                    <a:pt x="2015629" y="1917877"/>
                  </a:lnTo>
                  <a:lnTo>
                    <a:pt x="2091093" y="1916887"/>
                  </a:lnTo>
                  <a:lnTo>
                    <a:pt x="2165451" y="1915236"/>
                  </a:lnTo>
                  <a:lnTo>
                    <a:pt x="2238629" y="1912975"/>
                  </a:lnTo>
                  <a:lnTo>
                    <a:pt x="2310523" y="1910092"/>
                  </a:lnTo>
                  <a:lnTo>
                    <a:pt x="2381034" y="1906612"/>
                  </a:lnTo>
                  <a:lnTo>
                    <a:pt x="2450071" y="1902548"/>
                  </a:lnTo>
                  <a:lnTo>
                    <a:pt x="2517546" y="1897926"/>
                  </a:lnTo>
                  <a:lnTo>
                    <a:pt x="2583370" y="1892757"/>
                  </a:lnTo>
                  <a:lnTo>
                    <a:pt x="2647442" y="1887054"/>
                  </a:lnTo>
                  <a:lnTo>
                    <a:pt x="2709659" y="1880831"/>
                  </a:lnTo>
                  <a:lnTo>
                    <a:pt x="2769946" y="1874113"/>
                  </a:lnTo>
                  <a:lnTo>
                    <a:pt x="2828213" y="1866925"/>
                  </a:lnTo>
                  <a:lnTo>
                    <a:pt x="2884335" y="1859254"/>
                  </a:lnTo>
                  <a:lnTo>
                    <a:pt x="2938259" y="1851139"/>
                  </a:lnTo>
                  <a:lnTo>
                    <a:pt x="2989859" y="1842579"/>
                  </a:lnTo>
                  <a:lnTo>
                    <a:pt x="3039059" y="1833613"/>
                  </a:lnTo>
                  <a:lnTo>
                    <a:pt x="3085757" y="1824240"/>
                  </a:lnTo>
                  <a:lnTo>
                    <a:pt x="3129877" y="1814487"/>
                  </a:lnTo>
                  <a:lnTo>
                    <a:pt x="3171291" y="1804365"/>
                  </a:lnTo>
                  <a:lnTo>
                    <a:pt x="3209950" y="1793875"/>
                  </a:lnTo>
                  <a:lnTo>
                    <a:pt x="3278530" y="1771929"/>
                  </a:lnTo>
                  <a:lnTo>
                    <a:pt x="3334893" y="1748751"/>
                  </a:lnTo>
                  <a:lnTo>
                    <a:pt x="3378276" y="1724482"/>
                  </a:lnTo>
                  <a:lnTo>
                    <a:pt x="3407930" y="1699260"/>
                  </a:lnTo>
                  <a:lnTo>
                    <a:pt x="3425063" y="1659890"/>
                  </a:lnTo>
                  <a:close/>
                </a:path>
                <a:path extrusionOk="0" h="3067685" w="3629025">
                  <a:moveTo>
                    <a:pt x="3629025" y="258318"/>
                  </a:moveTo>
                  <a:lnTo>
                    <a:pt x="3604056" y="215392"/>
                  </a:lnTo>
                  <a:lnTo>
                    <a:pt x="3554107" y="184645"/>
                  </a:lnTo>
                  <a:lnTo>
                    <a:pt x="3506876" y="164973"/>
                  </a:lnTo>
                  <a:lnTo>
                    <a:pt x="3449104" y="146062"/>
                  </a:lnTo>
                  <a:lnTo>
                    <a:pt x="3381273" y="127965"/>
                  </a:lnTo>
                  <a:lnTo>
                    <a:pt x="3343757" y="119253"/>
                  </a:lnTo>
                  <a:lnTo>
                    <a:pt x="3303905" y="110756"/>
                  </a:lnTo>
                  <a:lnTo>
                    <a:pt x="3261804" y="102514"/>
                  </a:lnTo>
                  <a:lnTo>
                    <a:pt x="3217494" y="94513"/>
                  </a:lnTo>
                  <a:lnTo>
                    <a:pt x="3171063" y="86779"/>
                  </a:lnTo>
                  <a:lnTo>
                    <a:pt x="3122549" y="79311"/>
                  </a:lnTo>
                  <a:lnTo>
                    <a:pt x="3072028" y="72123"/>
                  </a:lnTo>
                  <a:lnTo>
                    <a:pt x="3019577" y="65214"/>
                  </a:lnTo>
                  <a:lnTo>
                    <a:pt x="2965234" y="58597"/>
                  </a:lnTo>
                  <a:lnTo>
                    <a:pt x="2909062" y="52298"/>
                  </a:lnTo>
                  <a:lnTo>
                    <a:pt x="2851150" y="46304"/>
                  </a:lnTo>
                  <a:lnTo>
                    <a:pt x="2791536" y="40627"/>
                  </a:lnTo>
                  <a:lnTo>
                    <a:pt x="2730296" y="35280"/>
                  </a:lnTo>
                  <a:lnTo>
                    <a:pt x="2667482" y="30276"/>
                  </a:lnTo>
                  <a:lnTo>
                    <a:pt x="2603169" y="25628"/>
                  </a:lnTo>
                  <a:lnTo>
                    <a:pt x="2537409" y="21336"/>
                  </a:lnTo>
                  <a:lnTo>
                    <a:pt x="2470277" y="17399"/>
                  </a:lnTo>
                  <a:lnTo>
                    <a:pt x="2401824" y="13843"/>
                  </a:lnTo>
                  <a:lnTo>
                    <a:pt x="2332126" y="10680"/>
                  </a:lnTo>
                  <a:lnTo>
                    <a:pt x="2261235" y="7899"/>
                  </a:lnTo>
                  <a:lnTo>
                    <a:pt x="2189213" y="5524"/>
                  </a:lnTo>
                  <a:lnTo>
                    <a:pt x="2116137" y="3556"/>
                  </a:lnTo>
                  <a:lnTo>
                    <a:pt x="2042058" y="2019"/>
                  </a:lnTo>
                  <a:lnTo>
                    <a:pt x="1967039" y="901"/>
                  </a:lnTo>
                  <a:lnTo>
                    <a:pt x="1891144" y="228"/>
                  </a:lnTo>
                  <a:lnTo>
                    <a:pt x="1814449" y="0"/>
                  </a:lnTo>
                  <a:lnTo>
                    <a:pt x="1737753" y="228"/>
                  </a:lnTo>
                  <a:lnTo>
                    <a:pt x="1661858" y="901"/>
                  </a:lnTo>
                  <a:lnTo>
                    <a:pt x="1586852" y="2019"/>
                  </a:lnTo>
                  <a:lnTo>
                    <a:pt x="1512785" y="3556"/>
                  </a:lnTo>
                  <a:lnTo>
                    <a:pt x="1439710" y="5524"/>
                  </a:lnTo>
                  <a:lnTo>
                    <a:pt x="1367701" y="7899"/>
                  </a:lnTo>
                  <a:lnTo>
                    <a:pt x="1296809" y="10680"/>
                  </a:lnTo>
                  <a:lnTo>
                    <a:pt x="1227124" y="13843"/>
                  </a:lnTo>
                  <a:lnTo>
                    <a:pt x="1158671" y="17399"/>
                  </a:lnTo>
                  <a:lnTo>
                    <a:pt x="1091552" y="21336"/>
                  </a:lnTo>
                  <a:lnTo>
                    <a:pt x="1025791" y="25628"/>
                  </a:lnTo>
                  <a:lnTo>
                    <a:pt x="961491" y="30276"/>
                  </a:lnTo>
                  <a:lnTo>
                    <a:pt x="898677" y="35280"/>
                  </a:lnTo>
                  <a:lnTo>
                    <a:pt x="837450" y="40627"/>
                  </a:lnTo>
                  <a:lnTo>
                    <a:pt x="777836" y="46304"/>
                  </a:lnTo>
                  <a:lnTo>
                    <a:pt x="719924" y="52298"/>
                  </a:lnTo>
                  <a:lnTo>
                    <a:pt x="663765" y="58597"/>
                  </a:lnTo>
                  <a:lnTo>
                    <a:pt x="609422" y="65214"/>
                  </a:lnTo>
                  <a:lnTo>
                    <a:pt x="556958" y="72123"/>
                  </a:lnTo>
                  <a:lnTo>
                    <a:pt x="506450" y="79311"/>
                  </a:lnTo>
                  <a:lnTo>
                    <a:pt x="457936" y="86779"/>
                  </a:lnTo>
                  <a:lnTo>
                    <a:pt x="411505" y="94513"/>
                  </a:lnTo>
                  <a:lnTo>
                    <a:pt x="367207" y="102514"/>
                  </a:lnTo>
                  <a:lnTo>
                    <a:pt x="325094" y="110756"/>
                  </a:lnTo>
                  <a:lnTo>
                    <a:pt x="285254" y="119253"/>
                  </a:lnTo>
                  <a:lnTo>
                    <a:pt x="247738" y="127965"/>
                  </a:lnTo>
                  <a:lnTo>
                    <a:pt x="179908" y="146062"/>
                  </a:lnTo>
                  <a:lnTo>
                    <a:pt x="122135" y="164973"/>
                  </a:lnTo>
                  <a:lnTo>
                    <a:pt x="74904" y="184645"/>
                  </a:lnTo>
                  <a:lnTo>
                    <a:pt x="38735" y="204990"/>
                  </a:lnTo>
                  <a:lnTo>
                    <a:pt x="6324" y="236601"/>
                  </a:lnTo>
                  <a:lnTo>
                    <a:pt x="0" y="258318"/>
                  </a:lnTo>
                  <a:lnTo>
                    <a:pt x="1587" y="269240"/>
                  </a:lnTo>
                  <a:lnTo>
                    <a:pt x="24955" y="301256"/>
                  </a:lnTo>
                  <a:lnTo>
                    <a:pt x="74904" y="332003"/>
                  </a:lnTo>
                  <a:lnTo>
                    <a:pt x="122135" y="351675"/>
                  </a:lnTo>
                  <a:lnTo>
                    <a:pt x="179908" y="370586"/>
                  </a:lnTo>
                  <a:lnTo>
                    <a:pt x="247738" y="388683"/>
                  </a:lnTo>
                  <a:lnTo>
                    <a:pt x="285254" y="397395"/>
                  </a:lnTo>
                  <a:lnTo>
                    <a:pt x="325094" y="405892"/>
                  </a:lnTo>
                  <a:lnTo>
                    <a:pt x="367207" y="414134"/>
                  </a:lnTo>
                  <a:lnTo>
                    <a:pt x="411505" y="422135"/>
                  </a:lnTo>
                  <a:lnTo>
                    <a:pt x="457936" y="429869"/>
                  </a:lnTo>
                  <a:lnTo>
                    <a:pt x="506450" y="437337"/>
                  </a:lnTo>
                  <a:lnTo>
                    <a:pt x="556958" y="444525"/>
                  </a:lnTo>
                  <a:lnTo>
                    <a:pt x="609422" y="451434"/>
                  </a:lnTo>
                  <a:lnTo>
                    <a:pt x="663765" y="458050"/>
                  </a:lnTo>
                  <a:lnTo>
                    <a:pt x="719924" y="464350"/>
                  </a:lnTo>
                  <a:lnTo>
                    <a:pt x="777836" y="470344"/>
                  </a:lnTo>
                  <a:lnTo>
                    <a:pt x="837450" y="476021"/>
                  </a:lnTo>
                  <a:lnTo>
                    <a:pt x="898677" y="481368"/>
                  </a:lnTo>
                  <a:lnTo>
                    <a:pt x="961491" y="486371"/>
                  </a:lnTo>
                  <a:lnTo>
                    <a:pt x="1025791" y="491020"/>
                  </a:lnTo>
                  <a:lnTo>
                    <a:pt x="1091552" y="495312"/>
                  </a:lnTo>
                  <a:lnTo>
                    <a:pt x="1158671" y="499249"/>
                  </a:lnTo>
                  <a:lnTo>
                    <a:pt x="1227124" y="502805"/>
                  </a:lnTo>
                  <a:lnTo>
                    <a:pt x="1296809" y="505968"/>
                  </a:lnTo>
                  <a:lnTo>
                    <a:pt x="1367701" y="508749"/>
                  </a:lnTo>
                  <a:lnTo>
                    <a:pt x="1439710" y="511124"/>
                  </a:lnTo>
                  <a:lnTo>
                    <a:pt x="1512785" y="513092"/>
                  </a:lnTo>
                  <a:lnTo>
                    <a:pt x="1586852" y="514629"/>
                  </a:lnTo>
                  <a:lnTo>
                    <a:pt x="1661858" y="515747"/>
                  </a:lnTo>
                  <a:lnTo>
                    <a:pt x="1737753" y="516420"/>
                  </a:lnTo>
                  <a:lnTo>
                    <a:pt x="1814449" y="516636"/>
                  </a:lnTo>
                  <a:lnTo>
                    <a:pt x="1891144" y="516420"/>
                  </a:lnTo>
                  <a:lnTo>
                    <a:pt x="1967039" y="515747"/>
                  </a:lnTo>
                  <a:lnTo>
                    <a:pt x="2042058" y="514629"/>
                  </a:lnTo>
                  <a:lnTo>
                    <a:pt x="2116137" y="513092"/>
                  </a:lnTo>
                  <a:lnTo>
                    <a:pt x="2189213" y="511124"/>
                  </a:lnTo>
                  <a:lnTo>
                    <a:pt x="2261235" y="508749"/>
                  </a:lnTo>
                  <a:lnTo>
                    <a:pt x="2332126" y="505968"/>
                  </a:lnTo>
                  <a:lnTo>
                    <a:pt x="2401824" y="502805"/>
                  </a:lnTo>
                  <a:lnTo>
                    <a:pt x="2470277" y="499249"/>
                  </a:lnTo>
                  <a:lnTo>
                    <a:pt x="2537409" y="495312"/>
                  </a:lnTo>
                  <a:lnTo>
                    <a:pt x="2603169" y="491020"/>
                  </a:lnTo>
                  <a:lnTo>
                    <a:pt x="2667482" y="486371"/>
                  </a:lnTo>
                  <a:lnTo>
                    <a:pt x="2730296" y="481368"/>
                  </a:lnTo>
                  <a:lnTo>
                    <a:pt x="2791536" y="476021"/>
                  </a:lnTo>
                  <a:lnTo>
                    <a:pt x="2851150" y="470344"/>
                  </a:lnTo>
                  <a:lnTo>
                    <a:pt x="2909062" y="464350"/>
                  </a:lnTo>
                  <a:lnTo>
                    <a:pt x="2965234" y="458050"/>
                  </a:lnTo>
                  <a:lnTo>
                    <a:pt x="3019577" y="451434"/>
                  </a:lnTo>
                  <a:lnTo>
                    <a:pt x="3072028" y="444525"/>
                  </a:lnTo>
                  <a:lnTo>
                    <a:pt x="3122549" y="437337"/>
                  </a:lnTo>
                  <a:lnTo>
                    <a:pt x="3171063" y="429869"/>
                  </a:lnTo>
                  <a:lnTo>
                    <a:pt x="3217494" y="422135"/>
                  </a:lnTo>
                  <a:lnTo>
                    <a:pt x="3261804" y="414134"/>
                  </a:lnTo>
                  <a:lnTo>
                    <a:pt x="3303905" y="405892"/>
                  </a:lnTo>
                  <a:lnTo>
                    <a:pt x="3343757" y="397395"/>
                  </a:lnTo>
                  <a:lnTo>
                    <a:pt x="3381273" y="388683"/>
                  </a:lnTo>
                  <a:lnTo>
                    <a:pt x="3449104" y="370586"/>
                  </a:lnTo>
                  <a:lnTo>
                    <a:pt x="3506876" y="351675"/>
                  </a:lnTo>
                  <a:lnTo>
                    <a:pt x="3554107" y="332003"/>
                  </a:lnTo>
                  <a:lnTo>
                    <a:pt x="3590264" y="311658"/>
                  </a:lnTo>
                  <a:lnTo>
                    <a:pt x="3622687" y="280047"/>
                  </a:lnTo>
                  <a:lnTo>
                    <a:pt x="3629025" y="258318"/>
                  </a:lnTo>
                  <a:close/>
                </a:path>
              </a:pathLst>
            </a:custGeom>
            <a:solidFill>
              <a:srgbClr val="FFFF00">
                <a:alpha val="31764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0" name="Google Shape;160;p16"/>
          <p:cNvSpPr txBox="1"/>
          <p:nvPr/>
        </p:nvSpPr>
        <p:spPr>
          <a:xfrm>
            <a:off x="4415790" y="1855977"/>
            <a:ext cx="2433955" cy="75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Concatenate with high- resolution feature maps from the Contraction Phase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16"/>
          <p:cNvSpPr txBox="1"/>
          <p:nvPr>
            <p:ph type="title"/>
          </p:nvPr>
        </p:nvSpPr>
        <p:spPr>
          <a:xfrm>
            <a:off x="1610486" y="513245"/>
            <a:ext cx="8317230" cy="84963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7E7E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98100">
            <a:spAutoFit/>
          </a:bodyPr>
          <a:lstStyle/>
          <a:p>
            <a:pPr indent="0" lvl="0" marL="63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U-Net Architecture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9201150" y="6430162"/>
            <a:ext cx="234759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Times New Roman"/>
                <a:ea typeface="Times New Roman"/>
                <a:cs typeface="Times New Roman"/>
                <a:sym typeface="Times New Roman"/>
              </a:rPr>
              <a:t>Ronneberger et al. (2015) U-Net Architecture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7"/>
          <p:cNvSpPr txBox="1"/>
          <p:nvPr>
            <p:ph type="title"/>
          </p:nvPr>
        </p:nvSpPr>
        <p:spPr>
          <a:xfrm>
            <a:off x="1669542" y="355892"/>
            <a:ext cx="8317230" cy="84963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7E7E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98100">
            <a:spAutoFit/>
          </a:bodyPr>
          <a:lstStyle/>
          <a:p>
            <a:pPr indent="0" lvl="0" marL="63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U-Net Architecture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9" name="Google Shape;16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9652" y="1676907"/>
            <a:ext cx="6196457" cy="349161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17"/>
          <p:cNvGrpSpPr/>
          <p:nvPr/>
        </p:nvGrpSpPr>
        <p:grpSpPr>
          <a:xfrm>
            <a:off x="2105025" y="2051685"/>
            <a:ext cx="1517523" cy="3220211"/>
            <a:chOff x="2105025" y="2051685"/>
            <a:chExt cx="1517523" cy="3220211"/>
          </a:xfrm>
        </p:grpSpPr>
        <p:pic>
          <p:nvPicPr>
            <p:cNvPr id="171" name="Google Shape;171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105025" y="2051685"/>
              <a:ext cx="1366012" cy="19147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17"/>
            <p:cNvSpPr/>
            <p:nvPr/>
          </p:nvSpPr>
          <p:spPr>
            <a:xfrm>
              <a:off x="2537968" y="3959351"/>
              <a:ext cx="1084580" cy="1312545"/>
            </a:xfrm>
            <a:custGeom>
              <a:rect b="b" l="l" r="r" t="t"/>
              <a:pathLst>
                <a:path extrusionOk="0" h="1312545" w="1084579">
                  <a:moveTo>
                    <a:pt x="416814" y="14351"/>
                  </a:moveTo>
                  <a:lnTo>
                    <a:pt x="404241" y="0"/>
                  </a:lnTo>
                  <a:lnTo>
                    <a:pt x="50749" y="312432"/>
                  </a:lnTo>
                  <a:lnTo>
                    <a:pt x="31877" y="291084"/>
                  </a:lnTo>
                  <a:lnTo>
                    <a:pt x="0" y="370078"/>
                  </a:lnTo>
                  <a:lnTo>
                    <a:pt x="82296" y="348107"/>
                  </a:lnTo>
                  <a:lnTo>
                    <a:pt x="70840" y="335153"/>
                  </a:lnTo>
                  <a:lnTo>
                    <a:pt x="63385" y="326732"/>
                  </a:lnTo>
                  <a:lnTo>
                    <a:pt x="416814" y="14351"/>
                  </a:lnTo>
                  <a:close/>
                </a:path>
                <a:path extrusionOk="0" h="1312545" w="1084579">
                  <a:moveTo>
                    <a:pt x="1084326" y="1229868"/>
                  </a:moveTo>
                  <a:lnTo>
                    <a:pt x="1056424" y="1236027"/>
                  </a:lnTo>
                  <a:lnTo>
                    <a:pt x="796798" y="63246"/>
                  </a:lnTo>
                  <a:lnTo>
                    <a:pt x="778129" y="67310"/>
                  </a:lnTo>
                  <a:lnTo>
                    <a:pt x="1037894" y="1240116"/>
                  </a:lnTo>
                  <a:lnTo>
                    <a:pt x="1010031" y="1246251"/>
                  </a:lnTo>
                  <a:lnTo>
                    <a:pt x="1063625" y="1312418"/>
                  </a:lnTo>
                  <a:lnTo>
                    <a:pt x="1078649" y="1252474"/>
                  </a:lnTo>
                  <a:lnTo>
                    <a:pt x="1084326" y="122986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3" name="Google Shape;173;p17"/>
          <p:cNvSpPr txBox="1"/>
          <p:nvPr/>
        </p:nvSpPr>
        <p:spPr>
          <a:xfrm>
            <a:off x="699795" y="4198734"/>
            <a:ext cx="1772920" cy="11760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6FAC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35" rtl="0" algn="ctr">
              <a:lnSpc>
                <a:spcPct val="11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OUTPUT SIZE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3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(First Conv)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35" rtl="0" algn="ct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= (|572 -3 + 2*0|1)+1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= 570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8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(570 x 570)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2923539" y="5330901"/>
            <a:ext cx="1772920" cy="11760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6FAC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" rtl="0" algn="ctr">
              <a:lnSpc>
                <a:spcPct val="11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OUTPUT SIZE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3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(Second Conv)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" rtl="0" algn="ct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= (|570 -3 + 2*0|1)+1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= 568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(568 x 568)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17"/>
          <p:cNvSpPr txBox="1"/>
          <p:nvPr/>
        </p:nvSpPr>
        <p:spPr>
          <a:xfrm>
            <a:off x="5456809" y="5895402"/>
            <a:ext cx="2186940" cy="86486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6FAC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W- 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Input volume size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3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F- 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Filter size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P- 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Zero padding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S- 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Stride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8761476" y="5483301"/>
            <a:ext cx="2524760" cy="712470"/>
          </a:xfrm>
          <a:custGeom>
            <a:rect b="b" l="l" r="r" t="t"/>
            <a:pathLst>
              <a:path extrusionOk="0" h="712470" w="2524759">
                <a:moveTo>
                  <a:pt x="2524760" y="0"/>
                </a:moveTo>
                <a:lnTo>
                  <a:pt x="0" y="0"/>
                </a:lnTo>
                <a:lnTo>
                  <a:pt x="0" y="712228"/>
                </a:lnTo>
                <a:lnTo>
                  <a:pt x="2524760" y="712228"/>
                </a:lnTo>
                <a:lnTo>
                  <a:pt x="252476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8761476" y="5483301"/>
            <a:ext cx="2524760" cy="712470"/>
          </a:xfrm>
          <a:prstGeom prst="rect">
            <a:avLst/>
          </a:prstGeom>
          <a:noFill/>
          <a:ln cap="flat" cmpd="sng" w="12700">
            <a:solidFill>
              <a:srgbClr val="6FAC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12075">
            <a:spAutoFit/>
          </a:bodyPr>
          <a:lstStyle/>
          <a:p>
            <a:pPr indent="0" lvl="0" marL="4216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 3 x 3, ReLU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78" name="Google Shape;178;p17"/>
          <p:cNvGrpSpPr/>
          <p:nvPr/>
        </p:nvGrpSpPr>
        <p:grpSpPr>
          <a:xfrm>
            <a:off x="8817482" y="5718111"/>
            <a:ext cx="335915" cy="243204"/>
            <a:chOff x="8817482" y="5718111"/>
            <a:chExt cx="335915" cy="243204"/>
          </a:xfrm>
        </p:grpSpPr>
        <p:sp>
          <p:nvSpPr>
            <p:cNvPr id="179" name="Google Shape;179;p17"/>
            <p:cNvSpPr/>
            <p:nvPr/>
          </p:nvSpPr>
          <p:spPr>
            <a:xfrm>
              <a:off x="8817482" y="5718111"/>
              <a:ext cx="335915" cy="243204"/>
            </a:xfrm>
            <a:custGeom>
              <a:rect b="b" l="l" r="r" t="t"/>
              <a:pathLst>
                <a:path extrusionOk="0" h="243204" w="335915">
                  <a:moveTo>
                    <a:pt x="214502" y="0"/>
                  </a:moveTo>
                  <a:lnTo>
                    <a:pt x="214502" y="60655"/>
                  </a:lnTo>
                  <a:lnTo>
                    <a:pt x="0" y="60655"/>
                  </a:lnTo>
                  <a:lnTo>
                    <a:pt x="0" y="181952"/>
                  </a:lnTo>
                  <a:lnTo>
                    <a:pt x="214502" y="181952"/>
                  </a:lnTo>
                  <a:lnTo>
                    <a:pt x="214502" y="242595"/>
                  </a:lnTo>
                  <a:lnTo>
                    <a:pt x="335788" y="121297"/>
                  </a:lnTo>
                  <a:lnTo>
                    <a:pt x="214502" y="0"/>
                  </a:lnTo>
                  <a:close/>
                </a:path>
              </a:pathLst>
            </a:custGeom>
            <a:solidFill>
              <a:srgbClr val="2E549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7"/>
            <p:cNvSpPr/>
            <p:nvPr/>
          </p:nvSpPr>
          <p:spPr>
            <a:xfrm>
              <a:off x="8817482" y="5718111"/>
              <a:ext cx="335915" cy="243204"/>
            </a:xfrm>
            <a:custGeom>
              <a:rect b="b" l="l" r="r" t="t"/>
              <a:pathLst>
                <a:path extrusionOk="0" h="243204" w="335915">
                  <a:moveTo>
                    <a:pt x="0" y="60655"/>
                  </a:moveTo>
                  <a:lnTo>
                    <a:pt x="214502" y="60655"/>
                  </a:lnTo>
                  <a:lnTo>
                    <a:pt x="214502" y="0"/>
                  </a:lnTo>
                  <a:lnTo>
                    <a:pt x="335788" y="121297"/>
                  </a:lnTo>
                  <a:lnTo>
                    <a:pt x="214502" y="242595"/>
                  </a:lnTo>
                  <a:lnTo>
                    <a:pt x="214502" y="181952"/>
                  </a:lnTo>
                  <a:lnTo>
                    <a:pt x="0" y="181952"/>
                  </a:lnTo>
                  <a:lnTo>
                    <a:pt x="0" y="60655"/>
                  </a:lnTo>
                  <a:close/>
                </a:path>
              </a:pathLst>
            </a:custGeom>
            <a:noFill/>
            <a:ln cap="flat" cmpd="sng" w="12700">
              <a:solidFill>
                <a:srgbClr val="172C5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81" name="Google Shape;18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56251" y="5189029"/>
            <a:ext cx="2913126" cy="67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8"/>
          <p:cNvSpPr txBox="1"/>
          <p:nvPr>
            <p:ph type="title"/>
          </p:nvPr>
        </p:nvSpPr>
        <p:spPr>
          <a:xfrm>
            <a:off x="1610486" y="513245"/>
            <a:ext cx="8317230" cy="84963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7E7E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98100">
            <a:spAutoFit/>
          </a:bodyPr>
          <a:lstStyle/>
          <a:p>
            <a:pPr indent="0" lvl="0" marL="63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U-Net Architecture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88" name="Google Shape;188;p18"/>
          <p:cNvGrpSpPr/>
          <p:nvPr/>
        </p:nvGrpSpPr>
        <p:grpSpPr>
          <a:xfrm>
            <a:off x="1259827" y="1859914"/>
            <a:ext cx="9643883" cy="4195649"/>
            <a:chOff x="1259827" y="1859914"/>
            <a:chExt cx="9643883" cy="4195649"/>
          </a:xfrm>
        </p:grpSpPr>
        <p:pic>
          <p:nvPicPr>
            <p:cNvPr id="189" name="Google Shape;189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90438" y="1859914"/>
              <a:ext cx="5613272" cy="32887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" name="Google Shape;190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59827" y="1912823"/>
              <a:ext cx="4013835" cy="41427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" name="Google Shape;191;p18"/>
            <p:cNvSpPr/>
            <p:nvPr/>
          </p:nvSpPr>
          <p:spPr>
            <a:xfrm>
              <a:off x="8270875" y="5671464"/>
              <a:ext cx="335915" cy="243204"/>
            </a:xfrm>
            <a:custGeom>
              <a:rect b="b" l="l" r="r" t="t"/>
              <a:pathLst>
                <a:path extrusionOk="0" h="243204" w="335915">
                  <a:moveTo>
                    <a:pt x="214629" y="0"/>
                  </a:moveTo>
                  <a:lnTo>
                    <a:pt x="214629" y="60642"/>
                  </a:lnTo>
                  <a:lnTo>
                    <a:pt x="0" y="60642"/>
                  </a:lnTo>
                  <a:lnTo>
                    <a:pt x="0" y="181940"/>
                  </a:lnTo>
                  <a:lnTo>
                    <a:pt x="214629" y="181940"/>
                  </a:lnTo>
                  <a:lnTo>
                    <a:pt x="214629" y="242595"/>
                  </a:lnTo>
                  <a:lnTo>
                    <a:pt x="335915" y="121297"/>
                  </a:lnTo>
                  <a:lnTo>
                    <a:pt x="214629" y="0"/>
                  </a:lnTo>
                  <a:close/>
                </a:path>
              </a:pathLst>
            </a:custGeom>
            <a:solidFill>
              <a:srgbClr val="2E549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8"/>
            <p:cNvSpPr/>
            <p:nvPr/>
          </p:nvSpPr>
          <p:spPr>
            <a:xfrm>
              <a:off x="8270875" y="5671464"/>
              <a:ext cx="335915" cy="243204"/>
            </a:xfrm>
            <a:custGeom>
              <a:rect b="b" l="l" r="r" t="t"/>
              <a:pathLst>
                <a:path extrusionOk="0" h="243204" w="335915">
                  <a:moveTo>
                    <a:pt x="0" y="60642"/>
                  </a:moveTo>
                  <a:lnTo>
                    <a:pt x="214629" y="60642"/>
                  </a:lnTo>
                  <a:lnTo>
                    <a:pt x="214629" y="0"/>
                  </a:lnTo>
                  <a:lnTo>
                    <a:pt x="335915" y="121297"/>
                  </a:lnTo>
                  <a:lnTo>
                    <a:pt x="214629" y="242595"/>
                  </a:lnTo>
                  <a:lnTo>
                    <a:pt x="214629" y="181940"/>
                  </a:lnTo>
                  <a:lnTo>
                    <a:pt x="0" y="181940"/>
                  </a:lnTo>
                  <a:lnTo>
                    <a:pt x="0" y="60642"/>
                  </a:lnTo>
                  <a:close/>
                </a:path>
              </a:pathLst>
            </a:custGeom>
            <a:noFill/>
            <a:ln cap="flat" cmpd="sng" w="12700">
              <a:solidFill>
                <a:srgbClr val="172C5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8"/>
            <p:cNvSpPr/>
            <p:nvPr/>
          </p:nvSpPr>
          <p:spPr>
            <a:xfrm>
              <a:off x="2343912" y="2593936"/>
              <a:ext cx="2921000" cy="2553970"/>
            </a:xfrm>
            <a:custGeom>
              <a:rect b="b" l="l" r="r" t="t"/>
              <a:pathLst>
                <a:path extrusionOk="0" h="2553970" w="2921000">
                  <a:moveTo>
                    <a:pt x="2313940" y="2217229"/>
                  </a:moveTo>
                  <a:lnTo>
                    <a:pt x="754507" y="2217229"/>
                  </a:lnTo>
                  <a:lnTo>
                    <a:pt x="754507" y="2553754"/>
                  </a:lnTo>
                  <a:lnTo>
                    <a:pt x="2313940" y="2553754"/>
                  </a:lnTo>
                  <a:lnTo>
                    <a:pt x="2313940" y="2217229"/>
                  </a:lnTo>
                  <a:close/>
                </a:path>
                <a:path extrusionOk="0" h="2553970" w="2921000">
                  <a:moveTo>
                    <a:pt x="2901696" y="1262773"/>
                  </a:moveTo>
                  <a:lnTo>
                    <a:pt x="441579" y="1262773"/>
                  </a:lnTo>
                  <a:lnTo>
                    <a:pt x="441579" y="1925231"/>
                  </a:lnTo>
                  <a:lnTo>
                    <a:pt x="2901696" y="1925231"/>
                  </a:lnTo>
                  <a:lnTo>
                    <a:pt x="2901696" y="1262773"/>
                  </a:lnTo>
                  <a:close/>
                </a:path>
                <a:path extrusionOk="0" h="2553970" w="2921000">
                  <a:moveTo>
                    <a:pt x="2920492" y="0"/>
                  </a:moveTo>
                  <a:lnTo>
                    <a:pt x="0" y="0"/>
                  </a:lnTo>
                  <a:lnTo>
                    <a:pt x="0" y="662470"/>
                  </a:lnTo>
                  <a:lnTo>
                    <a:pt x="2920492" y="662470"/>
                  </a:lnTo>
                  <a:lnTo>
                    <a:pt x="29204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4" name="Google Shape;194;p18"/>
          <p:cNvSpPr txBox="1"/>
          <p:nvPr/>
        </p:nvSpPr>
        <p:spPr>
          <a:xfrm>
            <a:off x="8654033" y="5483288"/>
            <a:ext cx="1969135" cy="57277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6FAC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42225">
            <a:spAutoFit/>
          </a:bodyPr>
          <a:lstStyle/>
          <a:p>
            <a:pPr indent="0" lvl="0" marL="1435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 3 x 3, ReLU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95" name="Google Shape;195;p18"/>
          <p:cNvGrpSpPr/>
          <p:nvPr/>
        </p:nvGrpSpPr>
        <p:grpSpPr>
          <a:xfrm>
            <a:off x="8283320" y="6159766"/>
            <a:ext cx="243204" cy="335915"/>
            <a:chOff x="8283320" y="6159766"/>
            <a:chExt cx="243204" cy="335915"/>
          </a:xfrm>
        </p:grpSpPr>
        <p:sp>
          <p:nvSpPr>
            <p:cNvPr id="196" name="Google Shape;196;p18"/>
            <p:cNvSpPr/>
            <p:nvPr/>
          </p:nvSpPr>
          <p:spPr>
            <a:xfrm>
              <a:off x="8283320" y="6159766"/>
              <a:ext cx="243204" cy="335915"/>
            </a:xfrm>
            <a:custGeom>
              <a:rect b="b" l="l" r="r" t="t"/>
              <a:pathLst>
                <a:path extrusionOk="0" h="335914" w="243204">
                  <a:moveTo>
                    <a:pt x="181990" y="0"/>
                  </a:moveTo>
                  <a:lnTo>
                    <a:pt x="60705" y="0"/>
                  </a:lnTo>
                  <a:lnTo>
                    <a:pt x="60705" y="214604"/>
                  </a:lnTo>
                  <a:lnTo>
                    <a:pt x="0" y="214604"/>
                  </a:lnTo>
                  <a:lnTo>
                    <a:pt x="121411" y="335902"/>
                  </a:lnTo>
                  <a:lnTo>
                    <a:pt x="242697" y="214604"/>
                  </a:lnTo>
                  <a:lnTo>
                    <a:pt x="181990" y="214604"/>
                  </a:lnTo>
                  <a:lnTo>
                    <a:pt x="18199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8"/>
            <p:cNvSpPr/>
            <p:nvPr/>
          </p:nvSpPr>
          <p:spPr>
            <a:xfrm>
              <a:off x="8283320" y="6159766"/>
              <a:ext cx="243204" cy="335915"/>
            </a:xfrm>
            <a:custGeom>
              <a:rect b="b" l="l" r="r" t="t"/>
              <a:pathLst>
                <a:path extrusionOk="0" h="335914" w="243204">
                  <a:moveTo>
                    <a:pt x="181990" y="0"/>
                  </a:moveTo>
                  <a:lnTo>
                    <a:pt x="181990" y="214604"/>
                  </a:lnTo>
                  <a:lnTo>
                    <a:pt x="242697" y="214604"/>
                  </a:lnTo>
                  <a:lnTo>
                    <a:pt x="121411" y="335902"/>
                  </a:lnTo>
                  <a:lnTo>
                    <a:pt x="0" y="214604"/>
                  </a:lnTo>
                  <a:lnTo>
                    <a:pt x="60705" y="214604"/>
                  </a:lnTo>
                  <a:lnTo>
                    <a:pt x="60705" y="0"/>
                  </a:lnTo>
                  <a:lnTo>
                    <a:pt x="181990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172C5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8" name="Google Shape;198;p18"/>
          <p:cNvSpPr txBox="1"/>
          <p:nvPr/>
        </p:nvSpPr>
        <p:spPr>
          <a:xfrm>
            <a:off x="8647303" y="6111557"/>
            <a:ext cx="1969135" cy="57277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6FAC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27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 pool 2 x 2,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3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stride 2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9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9"/>
          <p:cNvSpPr txBox="1"/>
          <p:nvPr>
            <p:ph type="title"/>
          </p:nvPr>
        </p:nvSpPr>
        <p:spPr>
          <a:xfrm>
            <a:off x="1610486" y="513245"/>
            <a:ext cx="8317230" cy="84963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7E7E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98100">
            <a:spAutoFit/>
          </a:bodyPr>
          <a:lstStyle/>
          <a:p>
            <a:pPr indent="0" lvl="0" marL="63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U-Net Architecture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05" name="Google Shape;205;p19"/>
          <p:cNvGrpSpPr/>
          <p:nvPr/>
        </p:nvGrpSpPr>
        <p:grpSpPr>
          <a:xfrm>
            <a:off x="856703" y="1627758"/>
            <a:ext cx="10560851" cy="4964341"/>
            <a:chOff x="856703" y="1627758"/>
            <a:chExt cx="10560851" cy="4964341"/>
          </a:xfrm>
        </p:grpSpPr>
        <p:pic>
          <p:nvPicPr>
            <p:cNvPr id="206" name="Google Shape;206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56703" y="1663357"/>
              <a:ext cx="4013835" cy="48298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19"/>
            <p:cNvSpPr/>
            <p:nvPr/>
          </p:nvSpPr>
          <p:spPr>
            <a:xfrm>
              <a:off x="1884807" y="2593936"/>
              <a:ext cx="3502025" cy="2694305"/>
            </a:xfrm>
            <a:custGeom>
              <a:rect b="b" l="l" r="r" t="t"/>
              <a:pathLst>
                <a:path extrusionOk="0" h="2694304" w="3502025">
                  <a:moveTo>
                    <a:pt x="2369947" y="2357170"/>
                  </a:moveTo>
                  <a:lnTo>
                    <a:pt x="810514" y="2357170"/>
                  </a:lnTo>
                  <a:lnTo>
                    <a:pt x="810514" y="2693708"/>
                  </a:lnTo>
                  <a:lnTo>
                    <a:pt x="2369947" y="2693708"/>
                  </a:lnTo>
                  <a:lnTo>
                    <a:pt x="2369947" y="2357170"/>
                  </a:lnTo>
                  <a:close/>
                </a:path>
                <a:path extrusionOk="0" h="2694304" w="3502025">
                  <a:moveTo>
                    <a:pt x="3107055" y="0"/>
                  </a:moveTo>
                  <a:lnTo>
                    <a:pt x="0" y="0"/>
                  </a:lnTo>
                  <a:lnTo>
                    <a:pt x="0" y="662470"/>
                  </a:lnTo>
                  <a:lnTo>
                    <a:pt x="3107055" y="662470"/>
                  </a:lnTo>
                  <a:lnTo>
                    <a:pt x="3107055" y="0"/>
                  </a:lnTo>
                  <a:close/>
                </a:path>
                <a:path extrusionOk="0" h="2694304" w="3502025">
                  <a:moveTo>
                    <a:pt x="3502012" y="1262773"/>
                  </a:moveTo>
                  <a:lnTo>
                    <a:pt x="394970" y="1262773"/>
                  </a:lnTo>
                  <a:lnTo>
                    <a:pt x="394970" y="1925231"/>
                  </a:lnTo>
                  <a:lnTo>
                    <a:pt x="3502012" y="1925231"/>
                  </a:lnTo>
                  <a:lnTo>
                    <a:pt x="3502012" y="126277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08" name="Google Shape;208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86833" y="1627758"/>
              <a:ext cx="6530721" cy="30572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" name="Google Shape;209;p19"/>
            <p:cNvSpPr/>
            <p:nvPr/>
          </p:nvSpPr>
          <p:spPr>
            <a:xfrm>
              <a:off x="9154667" y="6256184"/>
              <a:ext cx="242570" cy="335915"/>
            </a:xfrm>
            <a:custGeom>
              <a:rect b="b" l="l" r="r" t="t"/>
              <a:pathLst>
                <a:path extrusionOk="0" h="335915" w="242570">
                  <a:moveTo>
                    <a:pt x="121284" y="0"/>
                  </a:moveTo>
                  <a:lnTo>
                    <a:pt x="0" y="121297"/>
                  </a:lnTo>
                  <a:lnTo>
                    <a:pt x="60578" y="121297"/>
                  </a:lnTo>
                  <a:lnTo>
                    <a:pt x="60578" y="335902"/>
                  </a:lnTo>
                  <a:lnTo>
                    <a:pt x="181863" y="335902"/>
                  </a:lnTo>
                  <a:lnTo>
                    <a:pt x="181863" y="121297"/>
                  </a:lnTo>
                  <a:lnTo>
                    <a:pt x="242570" y="121297"/>
                  </a:lnTo>
                  <a:lnTo>
                    <a:pt x="121284" y="0"/>
                  </a:lnTo>
                  <a:close/>
                </a:path>
              </a:pathLst>
            </a:custGeom>
            <a:solidFill>
              <a:srgbClr val="00AF5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9"/>
            <p:cNvSpPr/>
            <p:nvPr/>
          </p:nvSpPr>
          <p:spPr>
            <a:xfrm>
              <a:off x="9154667" y="6256184"/>
              <a:ext cx="242570" cy="335915"/>
            </a:xfrm>
            <a:custGeom>
              <a:rect b="b" l="l" r="r" t="t"/>
              <a:pathLst>
                <a:path extrusionOk="0" h="335915" w="242570">
                  <a:moveTo>
                    <a:pt x="60578" y="335902"/>
                  </a:moveTo>
                  <a:lnTo>
                    <a:pt x="60578" y="121297"/>
                  </a:lnTo>
                  <a:lnTo>
                    <a:pt x="0" y="121297"/>
                  </a:lnTo>
                  <a:lnTo>
                    <a:pt x="121284" y="0"/>
                  </a:lnTo>
                  <a:lnTo>
                    <a:pt x="242570" y="121297"/>
                  </a:lnTo>
                  <a:lnTo>
                    <a:pt x="181863" y="121297"/>
                  </a:lnTo>
                  <a:lnTo>
                    <a:pt x="181863" y="335902"/>
                  </a:lnTo>
                  <a:lnTo>
                    <a:pt x="60578" y="335902"/>
                  </a:lnTo>
                  <a:close/>
                </a:path>
              </a:pathLst>
            </a:custGeom>
            <a:noFill/>
            <a:ln cap="flat" cmpd="sng" w="12675">
              <a:solidFill>
                <a:srgbClr val="172C5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1" name="Google Shape;211;p19"/>
          <p:cNvSpPr txBox="1"/>
          <p:nvPr/>
        </p:nvSpPr>
        <p:spPr>
          <a:xfrm>
            <a:off x="9503029" y="4820780"/>
            <a:ext cx="1969135" cy="57277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6FAC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42225">
            <a:spAutoFit/>
          </a:bodyPr>
          <a:lstStyle/>
          <a:p>
            <a:pPr indent="0" lvl="0" marL="1435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 3 x 3, ReLU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12" name="Google Shape;212;p19"/>
          <p:cNvGrpSpPr/>
          <p:nvPr/>
        </p:nvGrpSpPr>
        <p:grpSpPr>
          <a:xfrm>
            <a:off x="9129776" y="5009007"/>
            <a:ext cx="335915" cy="242570"/>
            <a:chOff x="9129776" y="5009007"/>
            <a:chExt cx="335915" cy="242570"/>
          </a:xfrm>
        </p:grpSpPr>
        <p:sp>
          <p:nvSpPr>
            <p:cNvPr id="213" name="Google Shape;213;p19"/>
            <p:cNvSpPr/>
            <p:nvPr/>
          </p:nvSpPr>
          <p:spPr>
            <a:xfrm>
              <a:off x="9129776" y="5009007"/>
              <a:ext cx="335915" cy="242570"/>
            </a:xfrm>
            <a:custGeom>
              <a:rect b="b" l="l" r="r" t="t"/>
              <a:pathLst>
                <a:path extrusionOk="0" h="242570" w="335915">
                  <a:moveTo>
                    <a:pt x="214629" y="0"/>
                  </a:moveTo>
                  <a:lnTo>
                    <a:pt x="214629" y="60579"/>
                  </a:lnTo>
                  <a:lnTo>
                    <a:pt x="0" y="60579"/>
                  </a:lnTo>
                  <a:lnTo>
                    <a:pt x="0" y="181864"/>
                  </a:lnTo>
                  <a:lnTo>
                    <a:pt x="214629" y="181864"/>
                  </a:lnTo>
                  <a:lnTo>
                    <a:pt x="214629" y="242570"/>
                  </a:lnTo>
                  <a:lnTo>
                    <a:pt x="335915" y="121285"/>
                  </a:lnTo>
                  <a:lnTo>
                    <a:pt x="214629" y="0"/>
                  </a:lnTo>
                  <a:close/>
                </a:path>
              </a:pathLst>
            </a:custGeom>
            <a:solidFill>
              <a:srgbClr val="2E549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9"/>
            <p:cNvSpPr/>
            <p:nvPr/>
          </p:nvSpPr>
          <p:spPr>
            <a:xfrm>
              <a:off x="9129776" y="5009007"/>
              <a:ext cx="335915" cy="242570"/>
            </a:xfrm>
            <a:custGeom>
              <a:rect b="b" l="l" r="r" t="t"/>
              <a:pathLst>
                <a:path extrusionOk="0" h="242570" w="335915">
                  <a:moveTo>
                    <a:pt x="0" y="60579"/>
                  </a:moveTo>
                  <a:lnTo>
                    <a:pt x="214629" y="60579"/>
                  </a:lnTo>
                  <a:lnTo>
                    <a:pt x="214629" y="0"/>
                  </a:lnTo>
                  <a:lnTo>
                    <a:pt x="335915" y="121285"/>
                  </a:lnTo>
                  <a:lnTo>
                    <a:pt x="214629" y="242570"/>
                  </a:lnTo>
                  <a:lnTo>
                    <a:pt x="214629" y="181864"/>
                  </a:lnTo>
                  <a:lnTo>
                    <a:pt x="0" y="181864"/>
                  </a:lnTo>
                  <a:lnTo>
                    <a:pt x="0" y="60579"/>
                  </a:lnTo>
                  <a:close/>
                </a:path>
              </a:pathLst>
            </a:custGeom>
            <a:noFill/>
            <a:ln cap="flat" cmpd="sng" w="12700">
              <a:solidFill>
                <a:srgbClr val="172C5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5" name="Google Shape;215;p19"/>
          <p:cNvGrpSpPr/>
          <p:nvPr/>
        </p:nvGrpSpPr>
        <p:grpSpPr>
          <a:xfrm>
            <a:off x="9142221" y="5497321"/>
            <a:ext cx="242570" cy="335915"/>
            <a:chOff x="9142221" y="5497321"/>
            <a:chExt cx="242570" cy="335915"/>
          </a:xfrm>
        </p:grpSpPr>
        <p:sp>
          <p:nvSpPr>
            <p:cNvPr id="216" name="Google Shape;216;p19"/>
            <p:cNvSpPr/>
            <p:nvPr/>
          </p:nvSpPr>
          <p:spPr>
            <a:xfrm>
              <a:off x="9142221" y="5497321"/>
              <a:ext cx="242570" cy="335915"/>
            </a:xfrm>
            <a:custGeom>
              <a:rect b="b" l="l" r="r" t="t"/>
              <a:pathLst>
                <a:path extrusionOk="0" h="335914" w="242570">
                  <a:moveTo>
                    <a:pt x="181863" y="0"/>
                  </a:moveTo>
                  <a:lnTo>
                    <a:pt x="60578" y="0"/>
                  </a:lnTo>
                  <a:lnTo>
                    <a:pt x="60578" y="214579"/>
                  </a:lnTo>
                  <a:lnTo>
                    <a:pt x="0" y="214579"/>
                  </a:lnTo>
                  <a:lnTo>
                    <a:pt x="121284" y="335876"/>
                  </a:lnTo>
                  <a:lnTo>
                    <a:pt x="242570" y="214579"/>
                  </a:lnTo>
                  <a:lnTo>
                    <a:pt x="181863" y="214579"/>
                  </a:lnTo>
                  <a:lnTo>
                    <a:pt x="181863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9"/>
            <p:cNvSpPr/>
            <p:nvPr/>
          </p:nvSpPr>
          <p:spPr>
            <a:xfrm>
              <a:off x="9142221" y="5497321"/>
              <a:ext cx="242570" cy="335915"/>
            </a:xfrm>
            <a:custGeom>
              <a:rect b="b" l="l" r="r" t="t"/>
              <a:pathLst>
                <a:path extrusionOk="0" h="335914" w="242570">
                  <a:moveTo>
                    <a:pt x="181863" y="0"/>
                  </a:moveTo>
                  <a:lnTo>
                    <a:pt x="181863" y="214579"/>
                  </a:lnTo>
                  <a:lnTo>
                    <a:pt x="242570" y="214579"/>
                  </a:lnTo>
                  <a:lnTo>
                    <a:pt x="121284" y="335876"/>
                  </a:lnTo>
                  <a:lnTo>
                    <a:pt x="0" y="214579"/>
                  </a:lnTo>
                  <a:lnTo>
                    <a:pt x="60578" y="214579"/>
                  </a:lnTo>
                  <a:lnTo>
                    <a:pt x="60578" y="0"/>
                  </a:lnTo>
                  <a:lnTo>
                    <a:pt x="181863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172C5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8" name="Google Shape;218;p19"/>
          <p:cNvSpPr txBox="1"/>
          <p:nvPr/>
        </p:nvSpPr>
        <p:spPr>
          <a:xfrm>
            <a:off x="9506077" y="5449087"/>
            <a:ext cx="1969135" cy="57277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6FAC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27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 pool 2 x 2,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stride 2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p19"/>
          <p:cNvSpPr txBox="1"/>
          <p:nvPr/>
        </p:nvSpPr>
        <p:spPr>
          <a:xfrm>
            <a:off x="9524745" y="6120879"/>
            <a:ext cx="1969135" cy="57277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6FAC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85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Up-conv 2 x 2,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3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856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stride 2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oogle Shape;224;p20"/>
          <p:cNvGrpSpPr/>
          <p:nvPr/>
        </p:nvGrpSpPr>
        <p:grpSpPr>
          <a:xfrm>
            <a:off x="2355617" y="1856173"/>
            <a:ext cx="7341539" cy="4135845"/>
            <a:chOff x="2355617" y="1856173"/>
            <a:chExt cx="7341539" cy="4135845"/>
          </a:xfrm>
        </p:grpSpPr>
        <p:pic>
          <p:nvPicPr>
            <p:cNvPr id="225" name="Google Shape;225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55617" y="1856173"/>
              <a:ext cx="7341539" cy="41358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6" name="Google Shape;226;p20"/>
            <p:cNvSpPr/>
            <p:nvPr/>
          </p:nvSpPr>
          <p:spPr>
            <a:xfrm>
              <a:off x="3768217" y="2468498"/>
              <a:ext cx="3629025" cy="3067685"/>
            </a:xfrm>
            <a:custGeom>
              <a:rect b="b" l="l" r="r" t="t"/>
              <a:pathLst>
                <a:path extrusionOk="0" h="3067685" w="3629025">
                  <a:moveTo>
                    <a:pt x="1842516" y="2944622"/>
                  </a:moveTo>
                  <a:lnTo>
                    <a:pt x="1813966" y="2882735"/>
                  </a:lnTo>
                  <a:lnTo>
                    <a:pt x="1781276" y="2857906"/>
                  </a:lnTo>
                  <a:lnTo>
                    <a:pt x="1738972" y="2838704"/>
                  </a:lnTo>
                  <a:lnTo>
                    <a:pt x="1689036" y="2826334"/>
                  </a:lnTo>
                  <a:lnTo>
                    <a:pt x="1633474" y="2821940"/>
                  </a:lnTo>
                  <a:lnTo>
                    <a:pt x="1577911" y="2826334"/>
                  </a:lnTo>
                  <a:lnTo>
                    <a:pt x="1528000" y="2838704"/>
                  </a:lnTo>
                  <a:lnTo>
                    <a:pt x="1485722" y="2857906"/>
                  </a:lnTo>
                  <a:lnTo>
                    <a:pt x="1453057" y="2882735"/>
                  </a:lnTo>
                  <a:lnTo>
                    <a:pt x="1424559" y="2944622"/>
                  </a:lnTo>
                  <a:lnTo>
                    <a:pt x="1432013" y="2977261"/>
                  </a:lnTo>
                  <a:lnTo>
                    <a:pt x="1485722" y="3031401"/>
                  </a:lnTo>
                  <a:lnTo>
                    <a:pt x="1528000" y="3050578"/>
                  </a:lnTo>
                  <a:lnTo>
                    <a:pt x="1577911" y="3062935"/>
                  </a:lnTo>
                  <a:lnTo>
                    <a:pt x="1633474" y="3067304"/>
                  </a:lnTo>
                  <a:lnTo>
                    <a:pt x="1689036" y="3062935"/>
                  </a:lnTo>
                  <a:lnTo>
                    <a:pt x="1738972" y="3050578"/>
                  </a:lnTo>
                  <a:lnTo>
                    <a:pt x="1781276" y="3031401"/>
                  </a:lnTo>
                  <a:lnTo>
                    <a:pt x="1813966" y="3006572"/>
                  </a:lnTo>
                  <a:lnTo>
                    <a:pt x="1842516" y="2944622"/>
                  </a:lnTo>
                  <a:close/>
                </a:path>
                <a:path extrusionOk="0" h="3067685" w="3629025">
                  <a:moveTo>
                    <a:pt x="2815082" y="2474722"/>
                  </a:moveTo>
                  <a:lnTo>
                    <a:pt x="2791015" y="2437676"/>
                  </a:lnTo>
                  <a:lnTo>
                    <a:pt x="2749867" y="2414511"/>
                  </a:lnTo>
                  <a:lnTo>
                    <a:pt x="2690406" y="2392883"/>
                  </a:lnTo>
                  <a:lnTo>
                    <a:pt x="2614206" y="2373045"/>
                  </a:lnTo>
                  <a:lnTo>
                    <a:pt x="2570315" y="2363889"/>
                  </a:lnTo>
                  <a:lnTo>
                    <a:pt x="2522804" y="2355265"/>
                  </a:lnTo>
                  <a:lnTo>
                    <a:pt x="2471877" y="2347226"/>
                  </a:lnTo>
                  <a:lnTo>
                    <a:pt x="2417724" y="2339797"/>
                  </a:lnTo>
                  <a:lnTo>
                    <a:pt x="2360549" y="2333015"/>
                  </a:lnTo>
                  <a:lnTo>
                    <a:pt x="2300541" y="2326906"/>
                  </a:lnTo>
                  <a:lnTo>
                    <a:pt x="2237879" y="2321509"/>
                  </a:lnTo>
                  <a:lnTo>
                    <a:pt x="2172779" y="2316848"/>
                  </a:lnTo>
                  <a:lnTo>
                    <a:pt x="2105406" y="2312962"/>
                  </a:lnTo>
                  <a:lnTo>
                    <a:pt x="2035987" y="2309888"/>
                  </a:lnTo>
                  <a:lnTo>
                    <a:pt x="1964677" y="2307653"/>
                  </a:lnTo>
                  <a:lnTo>
                    <a:pt x="1891703" y="2306282"/>
                  </a:lnTo>
                  <a:lnTo>
                    <a:pt x="1817243" y="2305812"/>
                  </a:lnTo>
                  <a:lnTo>
                    <a:pt x="1742782" y="2306282"/>
                  </a:lnTo>
                  <a:lnTo>
                    <a:pt x="1669821" y="2307653"/>
                  </a:lnTo>
                  <a:lnTo>
                    <a:pt x="1598536" y="2309888"/>
                  </a:lnTo>
                  <a:lnTo>
                    <a:pt x="1529118" y="2312962"/>
                  </a:lnTo>
                  <a:lnTo>
                    <a:pt x="1461770" y="2316848"/>
                  </a:lnTo>
                  <a:lnTo>
                    <a:pt x="1396669" y="2321509"/>
                  </a:lnTo>
                  <a:lnTo>
                    <a:pt x="1334020" y="2326906"/>
                  </a:lnTo>
                  <a:lnTo>
                    <a:pt x="1274013" y="2333015"/>
                  </a:lnTo>
                  <a:lnTo>
                    <a:pt x="1216837" y="2339797"/>
                  </a:lnTo>
                  <a:lnTo>
                    <a:pt x="1162697" y="2347226"/>
                  </a:lnTo>
                  <a:lnTo>
                    <a:pt x="1111783" y="2355265"/>
                  </a:lnTo>
                  <a:lnTo>
                    <a:pt x="1064272" y="2363889"/>
                  </a:lnTo>
                  <a:lnTo>
                    <a:pt x="1020381" y="2373045"/>
                  </a:lnTo>
                  <a:lnTo>
                    <a:pt x="980287" y="2382723"/>
                  </a:lnTo>
                  <a:lnTo>
                    <a:pt x="912266" y="2403500"/>
                  </a:lnTo>
                  <a:lnTo>
                    <a:pt x="861771" y="2425928"/>
                  </a:lnTo>
                  <a:lnTo>
                    <a:pt x="830338" y="2449753"/>
                  </a:lnTo>
                  <a:lnTo>
                    <a:pt x="819531" y="2474722"/>
                  </a:lnTo>
                  <a:lnTo>
                    <a:pt x="822261" y="2487320"/>
                  </a:lnTo>
                  <a:lnTo>
                    <a:pt x="861771" y="2523477"/>
                  </a:lnTo>
                  <a:lnTo>
                    <a:pt x="912266" y="2545880"/>
                  </a:lnTo>
                  <a:lnTo>
                    <a:pt x="980287" y="2566632"/>
                  </a:lnTo>
                  <a:lnTo>
                    <a:pt x="1020381" y="2576309"/>
                  </a:lnTo>
                  <a:lnTo>
                    <a:pt x="1064272" y="2585466"/>
                  </a:lnTo>
                  <a:lnTo>
                    <a:pt x="1111783" y="2594076"/>
                  </a:lnTo>
                  <a:lnTo>
                    <a:pt x="1162697" y="2602115"/>
                  </a:lnTo>
                  <a:lnTo>
                    <a:pt x="1216837" y="2609532"/>
                  </a:lnTo>
                  <a:lnTo>
                    <a:pt x="1274013" y="2616314"/>
                  </a:lnTo>
                  <a:lnTo>
                    <a:pt x="1334020" y="2622423"/>
                  </a:lnTo>
                  <a:lnTo>
                    <a:pt x="1396669" y="2627820"/>
                  </a:lnTo>
                  <a:lnTo>
                    <a:pt x="1461770" y="2632481"/>
                  </a:lnTo>
                  <a:lnTo>
                    <a:pt x="1529118" y="2636367"/>
                  </a:lnTo>
                  <a:lnTo>
                    <a:pt x="1598536" y="2639441"/>
                  </a:lnTo>
                  <a:lnTo>
                    <a:pt x="1669821" y="2641676"/>
                  </a:lnTo>
                  <a:lnTo>
                    <a:pt x="1742782" y="2643047"/>
                  </a:lnTo>
                  <a:lnTo>
                    <a:pt x="1817243" y="2643505"/>
                  </a:lnTo>
                  <a:lnTo>
                    <a:pt x="1891703" y="2643047"/>
                  </a:lnTo>
                  <a:lnTo>
                    <a:pt x="1964677" y="2641676"/>
                  </a:lnTo>
                  <a:lnTo>
                    <a:pt x="2035987" y="2639441"/>
                  </a:lnTo>
                  <a:lnTo>
                    <a:pt x="2105406" y="2636367"/>
                  </a:lnTo>
                  <a:lnTo>
                    <a:pt x="2172779" y="2632481"/>
                  </a:lnTo>
                  <a:lnTo>
                    <a:pt x="2237879" y="2627820"/>
                  </a:lnTo>
                  <a:lnTo>
                    <a:pt x="2300541" y="2622423"/>
                  </a:lnTo>
                  <a:lnTo>
                    <a:pt x="2360549" y="2616314"/>
                  </a:lnTo>
                  <a:lnTo>
                    <a:pt x="2417724" y="2609532"/>
                  </a:lnTo>
                  <a:lnTo>
                    <a:pt x="2471877" y="2602115"/>
                  </a:lnTo>
                  <a:lnTo>
                    <a:pt x="2522804" y="2594076"/>
                  </a:lnTo>
                  <a:lnTo>
                    <a:pt x="2570315" y="2585466"/>
                  </a:lnTo>
                  <a:lnTo>
                    <a:pt x="2614206" y="2576309"/>
                  </a:lnTo>
                  <a:lnTo>
                    <a:pt x="2654312" y="2566632"/>
                  </a:lnTo>
                  <a:lnTo>
                    <a:pt x="2722334" y="2545880"/>
                  </a:lnTo>
                  <a:lnTo>
                    <a:pt x="2772829" y="2523477"/>
                  </a:lnTo>
                  <a:lnTo>
                    <a:pt x="2804261" y="2499664"/>
                  </a:lnTo>
                  <a:lnTo>
                    <a:pt x="2815082" y="2474722"/>
                  </a:lnTo>
                  <a:close/>
                </a:path>
                <a:path extrusionOk="0" h="3067685" w="3629025">
                  <a:moveTo>
                    <a:pt x="3425063" y="1659890"/>
                  </a:moveTo>
                  <a:lnTo>
                    <a:pt x="3407930" y="1620570"/>
                  </a:lnTo>
                  <a:lnTo>
                    <a:pt x="3378276" y="1595361"/>
                  </a:lnTo>
                  <a:lnTo>
                    <a:pt x="3334893" y="1571117"/>
                  </a:lnTo>
                  <a:lnTo>
                    <a:pt x="3278530" y="1547952"/>
                  </a:lnTo>
                  <a:lnTo>
                    <a:pt x="3209950" y="1526006"/>
                  </a:lnTo>
                  <a:lnTo>
                    <a:pt x="3171291" y="1515529"/>
                  </a:lnTo>
                  <a:lnTo>
                    <a:pt x="3129877" y="1505407"/>
                  </a:lnTo>
                  <a:lnTo>
                    <a:pt x="3085757" y="1495653"/>
                  </a:lnTo>
                  <a:lnTo>
                    <a:pt x="3039059" y="1486281"/>
                  </a:lnTo>
                  <a:lnTo>
                    <a:pt x="2989859" y="1477314"/>
                  </a:lnTo>
                  <a:lnTo>
                    <a:pt x="2938259" y="1468767"/>
                  </a:lnTo>
                  <a:lnTo>
                    <a:pt x="2884335" y="1460652"/>
                  </a:lnTo>
                  <a:lnTo>
                    <a:pt x="2828213" y="1452994"/>
                  </a:lnTo>
                  <a:lnTo>
                    <a:pt x="2769946" y="1445793"/>
                  </a:lnTo>
                  <a:lnTo>
                    <a:pt x="2709659" y="1439075"/>
                  </a:lnTo>
                  <a:lnTo>
                    <a:pt x="2647442" y="1432864"/>
                  </a:lnTo>
                  <a:lnTo>
                    <a:pt x="2583370" y="1427162"/>
                  </a:lnTo>
                  <a:lnTo>
                    <a:pt x="2517546" y="1421993"/>
                  </a:lnTo>
                  <a:lnTo>
                    <a:pt x="2450071" y="1417370"/>
                  </a:lnTo>
                  <a:lnTo>
                    <a:pt x="2381034" y="1413306"/>
                  </a:lnTo>
                  <a:lnTo>
                    <a:pt x="2310523" y="1409827"/>
                  </a:lnTo>
                  <a:lnTo>
                    <a:pt x="2238629" y="1406944"/>
                  </a:lnTo>
                  <a:lnTo>
                    <a:pt x="2165451" y="1404683"/>
                  </a:lnTo>
                  <a:lnTo>
                    <a:pt x="2091093" y="1403032"/>
                  </a:lnTo>
                  <a:lnTo>
                    <a:pt x="2015629" y="1402041"/>
                  </a:lnTo>
                  <a:lnTo>
                    <a:pt x="1939163" y="1401699"/>
                  </a:lnTo>
                  <a:lnTo>
                    <a:pt x="1862696" y="1402041"/>
                  </a:lnTo>
                  <a:lnTo>
                    <a:pt x="1787245" y="1403032"/>
                  </a:lnTo>
                  <a:lnTo>
                    <a:pt x="1712887" y="1404683"/>
                  </a:lnTo>
                  <a:lnTo>
                    <a:pt x="1639722" y="1406944"/>
                  </a:lnTo>
                  <a:lnTo>
                    <a:pt x="1567840" y="1409827"/>
                  </a:lnTo>
                  <a:lnTo>
                    <a:pt x="1497330" y="1413306"/>
                  </a:lnTo>
                  <a:lnTo>
                    <a:pt x="1428292" y="1417370"/>
                  </a:lnTo>
                  <a:lnTo>
                    <a:pt x="1360817" y="1421993"/>
                  </a:lnTo>
                  <a:lnTo>
                    <a:pt x="1294993" y="1427162"/>
                  </a:lnTo>
                  <a:lnTo>
                    <a:pt x="1230934" y="1432864"/>
                  </a:lnTo>
                  <a:lnTo>
                    <a:pt x="1168704" y="1439075"/>
                  </a:lnTo>
                  <a:lnTo>
                    <a:pt x="1108417" y="1445793"/>
                  </a:lnTo>
                  <a:lnTo>
                    <a:pt x="1050163" y="1452994"/>
                  </a:lnTo>
                  <a:lnTo>
                    <a:pt x="994029" y="1460652"/>
                  </a:lnTo>
                  <a:lnTo>
                    <a:pt x="940104" y="1468767"/>
                  </a:lnTo>
                  <a:lnTo>
                    <a:pt x="888504" y="1477314"/>
                  </a:lnTo>
                  <a:lnTo>
                    <a:pt x="839304" y="1486281"/>
                  </a:lnTo>
                  <a:lnTo>
                    <a:pt x="792594" y="1495653"/>
                  </a:lnTo>
                  <a:lnTo>
                    <a:pt x="748474" y="1505407"/>
                  </a:lnTo>
                  <a:lnTo>
                    <a:pt x="707047" y="1515529"/>
                  </a:lnTo>
                  <a:lnTo>
                    <a:pt x="668401" y="1526006"/>
                  </a:lnTo>
                  <a:lnTo>
                    <a:pt x="599795" y="1547952"/>
                  </a:lnTo>
                  <a:lnTo>
                    <a:pt x="543433" y="1571117"/>
                  </a:lnTo>
                  <a:lnTo>
                    <a:pt x="500037" y="1595361"/>
                  </a:lnTo>
                  <a:lnTo>
                    <a:pt x="470382" y="1620570"/>
                  </a:lnTo>
                  <a:lnTo>
                    <a:pt x="453263" y="1659890"/>
                  </a:lnTo>
                  <a:lnTo>
                    <a:pt x="455193" y="1673199"/>
                  </a:lnTo>
                  <a:lnTo>
                    <a:pt x="483450" y="1711985"/>
                  </a:lnTo>
                  <a:lnTo>
                    <a:pt x="520065" y="1736737"/>
                  </a:lnTo>
                  <a:lnTo>
                    <a:pt x="570039" y="1760474"/>
                  </a:lnTo>
                  <a:lnTo>
                    <a:pt x="632612" y="1783067"/>
                  </a:lnTo>
                  <a:lnTo>
                    <a:pt x="707047" y="1804365"/>
                  </a:lnTo>
                  <a:lnTo>
                    <a:pt x="748474" y="1814487"/>
                  </a:lnTo>
                  <a:lnTo>
                    <a:pt x="792594" y="1824240"/>
                  </a:lnTo>
                  <a:lnTo>
                    <a:pt x="839304" y="1833613"/>
                  </a:lnTo>
                  <a:lnTo>
                    <a:pt x="888504" y="1842592"/>
                  </a:lnTo>
                  <a:lnTo>
                    <a:pt x="940104" y="1851139"/>
                  </a:lnTo>
                  <a:lnTo>
                    <a:pt x="994029" y="1859254"/>
                  </a:lnTo>
                  <a:lnTo>
                    <a:pt x="1050163" y="1866925"/>
                  </a:lnTo>
                  <a:lnTo>
                    <a:pt x="1108417" y="1874113"/>
                  </a:lnTo>
                  <a:lnTo>
                    <a:pt x="1168704" y="1880831"/>
                  </a:lnTo>
                  <a:lnTo>
                    <a:pt x="1230934" y="1887054"/>
                  </a:lnTo>
                  <a:lnTo>
                    <a:pt x="1294993" y="1892757"/>
                  </a:lnTo>
                  <a:lnTo>
                    <a:pt x="1360817" y="1897926"/>
                  </a:lnTo>
                  <a:lnTo>
                    <a:pt x="1428292" y="1902548"/>
                  </a:lnTo>
                  <a:lnTo>
                    <a:pt x="1497330" y="1906612"/>
                  </a:lnTo>
                  <a:lnTo>
                    <a:pt x="1567840" y="1910092"/>
                  </a:lnTo>
                  <a:lnTo>
                    <a:pt x="1639722" y="1912975"/>
                  </a:lnTo>
                  <a:lnTo>
                    <a:pt x="1712887" y="1915236"/>
                  </a:lnTo>
                  <a:lnTo>
                    <a:pt x="1787245" y="1916887"/>
                  </a:lnTo>
                  <a:lnTo>
                    <a:pt x="1862696" y="1917877"/>
                  </a:lnTo>
                  <a:lnTo>
                    <a:pt x="1939163" y="1918208"/>
                  </a:lnTo>
                  <a:lnTo>
                    <a:pt x="2015629" y="1917877"/>
                  </a:lnTo>
                  <a:lnTo>
                    <a:pt x="2091093" y="1916887"/>
                  </a:lnTo>
                  <a:lnTo>
                    <a:pt x="2165451" y="1915236"/>
                  </a:lnTo>
                  <a:lnTo>
                    <a:pt x="2238629" y="1912975"/>
                  </a:lnTo>
                  <a:lnTo>
                    <a:pt x="2310523" y="1910092"/>
                  </a:lnTo>
                  <a:lnTo>
                    <a:pt x="2381034" y="1906612"/>
                  </a:lnTo>
                  <a:lnTo>
                    <a:pt x="2450071" y="1902548"/>
                  </a:lnTo>
                  <a:lnTo>
                    <a:pt x="2517546" y="1897926"/>
                  </a:lnTo>
                  <a:lnTo>
                    <a:pt x="2583370" y="1892757"/>
                  </a:lnTo>
                  <a:lnTo>
                    <a:pt x="2647442" y="1887054"/>
                  </a:lnTo>
                  <a:lnTo>
                    <a:pt x="2709659" y="1880831"/>
                  </a:lnTo>
                  <a:lnTo>
                    <a:pt x="2769946" y="1874113"/>
                  </a:lnTo>
                  <a:lnTo>
                    <a:pt x="2828213" y="1866925"/>
                  </a:lnTo>
                  <a:lnTo>
                    <a:pt x="2884335" y="1859254"/>
                  </a:lnTo>
                  <a:lnTo>
                    <a:pt x="2938259" y="1851139"/>
                  </a:lnTo>
                  <a:lnTo>
                    <a:pt x="2989859" y="1842579"/>
                  </a:lnTo>
                  <a:lnTo>
                    <a:pt x="3039059" y="1833613"/>
                  </a:lnTo>
                  <a:lnTo>
                    <a:pt x="3085757" y="1824240"/>
                  </a:lnTo>
                  <a:lnTo>
                    <a:pt x="3129877" y="1814487"/>
                  </a:lnTo>
                  <a:lnTo>
                    <a:pt x="3171291" y="1804365"/>
                  </a:lnTo>
                  <a:lnTo>
                    <a:pt x="3209950" y="1793875"/>
                  </a:lnTo>
                  <a:lnTo>
                    <a:pt x="3278530" y="1771929"/>
                  </a:lnTo>
                  <a:lnTo>
                    <a:pt x="3334893" y="1748751"/>
                  </a:lnTo>
                  <a:lnTo>
                    <a:pt x="3378276" y="1724482"/>
                  </a:lnTo>
                  <a:lnTo>
                    <a:pt x="3407930" y="1699260"/>
                  </a:lnTo>
                  <a:lnTo>
                    <a:pt x="3425063" y="1659890"/>
                  </a:lnTo>
                  <a:close/>
                </a:path>
                <a:path extrusionOk="0" h="3067685" w="3629025">
                  <a:moveTo>
                    <a:pt x="3629025" y="258318"/>
                  </a:moveTo>
                  <a:lnTo>
                    <a:pt x="3604056" y="215392"/>
                  </a:lnTo>
                  <a:lnTo>
                    <a:pt x="3554107" y="184645"/>
                  </a:lnTo>
                  <a:lnTo>
                    <a:pt x="3506876" y="164973"/>
                  </a:lnTo>
                  <a:lnTo>
                    <a:pt x="3449104" y="146062"/>
                  </a:lnTo>
                  <a:lnTo>
                    <a:pt x="3381273" y="127965"/>
                  </a:lnTo>
                  <a:lnTo>
                    <a:pt x="3343757" y="119253"/>
                  </a:lnTo>
                  <a:lnTo>
                    <a:pt x="3303905" y="110756"/>
                  </a:lnTo>
                  <a:lnTo>
                    <a:pt x="3261804" y="102514"/>
                  </a:lnTo>
                  <a:lnTo>
                    <a:pt x="3217494" y="94513"/>
                  </a:lnTo>
                  <a:lnTo>
                    <a:pt x="3171063" y="86779"/>
                  </a:lnTo>
                  <a:lnTo>
                    <a:pt x="3122549" y="79311"/>
                  </a:lnTo>
                  <a:lnTo>
                    <a:pt x="3072028" y="72123"/>
                  </a:lnTo>
                  <a:lnTo>
                    <a:pt x="3019577" y="65214"/>
                  </a:lnTo>
                  <a:lnTo>
                    <a:pt x="2965234" y="58597"/>
                  </a:lnTo>
                  <a:lnTo>
                    <a:pt x="2909062" y="52298"/>
                  </a:lnTo>
                  <a:lnTo>
                    <a:pt x="2851150" y="46304"/>
                  </a:lnTo>
                  <a:lnTo>
                    <a:pt x="2791536" y="40627"/>
                  </a:lnTo>
                  <a:lnTo>
                    <a:pt x="2730296" y="35280"/>
                  </a:lnTo>
                  <a:lnTo>
                    <a:pt x="2667482" y="30276"/>
                  </a:lnTo>
                  <a:lnTo>
                    <a:pt x="2603169" y="25628"/>
                  </a:lnTo>
                  <a:lnTo>
                    <a:pt x="2537409" y="21336"/>
                  </a:lnTo>
                  <a:lnTo>
                    <a:pt x="2470277" y="17399"/>
                  </a:lnTo>
                  <a:lnTo>
                    <a:pt x="2401824" y="13843"/>
                  </a:lnTo>
                  <a:lnTo>
                    <a:pt x="2332126" y="10680"/>
                  </a:lnTo>
                  <a:lnTo>
                    <a:pt x="2261235" y="7899"/>
                  </a:lnTo>
                  <a:lnTo>
                    <a:pt x="2189213" y="5524"/>
                  </a:lnTo>
                  <a:lnTo>
                    <a:pt x="2116137" y="3556"/>
                  </a:lnTo>
                  <a:lnTo>
                    <a:pt x="2042058" y="2019"/>
                  </a:lnTo>
                  <a:lnTo>
                    <a:pt x="1967039" y="901"/>
                  </a:lnTo>
                  <a:lnTo>
                    <a:pt x="1891144" y="228"/>
                  </a:lnTo>
                  <a:lnTo>
                    <a:pt x="1814449" y="0"/>
                  </a:lnTo>
                  <a:lnTo>
                    <a:pt x="1737753" y="228"/>
                  </a:lnTo>
                  <a:lnTo>
                    <a:pt x="1661858" y="901"/>
                  </a:lnTo>
                  <a:lnTo>
                    <a:pt x="1586852" y="2019"/>
                  </a:lnTo>
                  <a:lnTo>
                    <a:pt x="1512785" y="3556"/>
                  </a:lnTo>
                  <a:lnTo>
                    <a:pt x="1439710" y="5524"/>
                  </a:lnTo>
                  <a:lnTo>
                    <a:pt x="1367701" y="7899"/>
                  </a:lnTo>
                  <a:lnTo>
                    <a:pt x="1296809" y="10680"/>
                  </a:lnTo>
                  <a:lnTo>
                    <a:pt x="1227124" y="13843"/>
                  </a:lnTo>
                  <a:lnTo>
                    <a:pt x="1158671" y="17399"/>
                  </a:lnTo>
                  <a:lnTo>
                    <a:pt x="1091552" y="21336"/>
                  </a:lnTo>
                  <a:lnTo>
                    <a:pt x="1025791" y="25628"/>
                  </a:lnTo>
                  <a:lnTo>
                    <a:pt x="961491" y="30276"/>
                  </a:lnTo>
                  <a:lnTo>
                    <a:pt x="898677" y="35280"/>
                  </a:lnTo>
                  <a:lnTo>
                    <a:pt x="837450" y="40627"/>
                  </a:lnTo>
                  <a:lnTo>
                    <a:pt x="777836" y="46304"/>
                  </a:lnTo>
                  <a:lnTo>
                    <a:pt x="719924" y="52298"/>
                  </a:lnTo>
                  <a:lnTo>
                    <a:pt x="663765" y="58597"/>
                  </a:lnTo>
                  <a:lnTo>
                    <a:pt x="609422" y="65214"/>
                  </a:lnTo>
                  <a:lnTo>
                    <a:pt x="556958" y="72123"/>
                  </a:lnTo>
                  <a:lnTo>
                    <a:pt x="506450" y="79311"/>
                  </a:lnTo>
                  <a:lnTo>
                    <a:pt x="457936" y="86779"/>
                  </a:lnTo>
                  <a:lnTo>
                    <a:pt x="411505" y="94513"/>
                  </a:lnTo>
                  <a:lnTo>
                    <a:pt x="367207" y="102514"/>
                  </a:lnTo>
                  <a:lnTo>
                    <a:pt x="325094" y="110756"/>
                  </a:lnTo>
                  <a:lnTo>
                    <a:pt x="285254" y="119253"/>
                  </a:lnTo>
                  <a:lnTo>
                    <a:pt x="247738" y="127965"/>
                  </a:lnTo>
                  <a:lnTo>
                    <a:pt x="179908" y="146062"/>
                  </a:lnTo>
                  <a:lnTo>
                    <a:pt x="122135" y="164973"/>
                  </a:lnTo>
                  <a:lnTo>
                    <a:pt x="74904" y="184645"/>
                  </a:lnTo>
                  <a:lnTo>
                    <a:pt x="38735" y="204990"/>
                  </a:lnTo>
                  <a:lnTo>
                    <a:pt x="6324" y="236601"/>
                  </a:lnTo>
                  <a:lnTo>
                    <a:pt x="0" y="258318"/>
                  </a:lnTo>
                  <a:lnTo>
                    <a:pt x="1587" y="269240"/>
                  </a:lnTo>
                  <a:lnTo>
                    <a:pt x="24955" y="301256"/>
                  </a:lnTo>
                  <a:lnTo>
                    <a:pt x="74904" y="332003"/>
                  </a:lnTo>
                  <a:lnTo>
                    <a:pt x="122135" y="351675"/>
                  </a:lnTo>
                  <a:lnTo>
                    <a:pt x="179908" y="370586"/>
                  </a:lnTo>
                  <a:lnTo>
                    <a:pt x="247738" y="388683"/>
                  </a:lnTo>
                  <a:lnTo>
                    <a:pt x="285254" y="397395"/>
                  </a:lnTo>
                  <a:lnTo>
                    <a:pt x="325094" y="405892"/>
                  </a:lnTo>
                  <a:lnTo>
                    <a:pt x="367207" y="414134"/>
                  </a:lnTo>
                  <a:lnTo>
                    <a:pt x="411505" y="422135"/>
                  </a:lnTo>
                  <a:lnTo>
                    <a:pt x="457936" y="429869"/>
                  </a:lnTo>
                  <a:lnTo>
                    <a:pt x="506450" y="437337"/>
                  </a:lnTo>
                  <a:lnTo>
                    <a:pt x="556958" y="444525"/>
                  </a:lnTo>
                  <a:lnTo>
                    <a:pt x="609422" y="451434"/>
                  </a:lnTo>
                  <a:lnTo>
                    <a:pt x="663765" y="458050"/>
                  </a:lnTo>
                  <a:lnTo>
                    <a:pt x="719924" y="464350"/>
                  </a:lnTo>
                  <a:lnTo>
                    <a:pt x="777836" y="470344"/>
                  </a:lnTo>
                  <a:lnTo>
                    <a:pt x="837450" y="476021"/>
                  </a:lnTo>
                  <a:lnTo>
                    <a:pt x="898677" y="481368"/>
                  </a:lnTo>
                  <a:lnTo>
                    <a:pt x="961491" y="486371"/>
                  </a:lnTo>
                  <a:lnTo>
                    <a:pt x="1025791" y="491020"/>
                  </a:lnTo>
                  <a:lnTo>
                    <a:pt x="1091552" y="495312"/>
                  </a:lnTo>
                  <a:lnTo>
                    <a:pt x="1158671" y="499249"/>
                  </a:lnTo>
                  <a:lnTo>
                    <a:pt x="1227124" y="502805"/>
                  </a:lnTo>
                  <a:lnTo>
                    <a:pt x="1296809" y="505968"/>
                  </a:lnTo>
                  <a:lnTo>
                    <a:pt x="1367701" y="508749"/>
                  </a:lnTo>
                  <a:lnTo>
                    <a:pt x="1439710" y="511124"/>
                  </a:lnTo>
                  <a:lnTo>
                    <a:pt x="1512785" y="513092"/>
                  </a:lnTo>
                  <a:lnTo>
                    <a:pt x="1586852" y="514629"/>
                  </a:lnTo>
                  <a:lnTo>
                    <a:pt x="1661858" y="515747"/>
                  </a:lnTo>
                  <a:lnTo>
                    <a:pt x="1737753" y="516420"/>
                  </a:lnTo>
                  <a:lnTo>
                    <a:pt x="1814449" y="516636"/>
                  </a:lnTo>
                  <a:lnTo>
                    <a:pt x="1891144" y="516420"/>
                  </a:lnTo>
                  <a:lnTo>
                    <a:pt x="1967039" y="515747"/>
                  </a:lnTo>
                  <a:lnTo>
                    <a:pt x="2042058" y="514629"/>
                  </a:lnTo>
                  <a:lnTo>
                    <a:pt x="2116137" y="513092"/>
                  </a:lnTo>
                  <a:lnTo>
                    <a:pt x="2189213" y="511124"/>
                  </a:lnTo>
                  <a:lnTo>
                    <a:pt x="2261235" y="508749"/>
                  </a:lnTo>
                  <a:lnTo>
                    <a:pt x="2332126" y="505968"/>
                  </a:lnTo>
                  <a:lnTo>
                    <a:pt x="2401824" y="502805"/>
                  </a:lnTo>
                  <a:lnTo>
                    <a:pt x="2470277" y="499249"/>
                  </a:lnTo>
                  <a:lnTo>
                    <a:pt x="2537409" y="495312"/>
                  </a:lnTo>
                  <a:lnTo>
                    <a:pt x="2603169" y="491020"/>
                  </a:lnTo>
                  <a:lnTo>
                    <a:pt x="2667482" y="486371"/>
                  </a:lnTo>
                  <a:lnTo>
                    <a:pt x="2730296" y="481368"/>
                  </a:lnTo>
                  <a:lnTo>
                    <a:pt x="2791536" y="476021"/>
                  </a:lnTo>
                  <a:lnTo>
                    <a:pt x="2851150" y="470344"/>
                  </a:lnTo>
                  <a:lnTo>
                    <a:pt x="2909062" y="464350"/>
                  </a:lnTo>
                  <a:lnTo>
                    <a:pt x="2965234" y="458050"/>
                  </a:lnTo>
                  <a:lnTo>
                    <a:pt x="3019577" y="451434"/>
                  </a:lnTo>
                  <a:lnTo>
                    <a:pt x="3072028" y="444525"/>
                  </a:lnTo>
                  <a:lnTo>
                    <a:pt x="3122549" y="437337"/>
                  </a:lnTo>
                  <a:lnTo>
                    <a:pt x="3171063" y="429869"/>
                  </a:lnTo>
                  <a:lnTo>
                    <a:pt x="3217494" y="422135"/>
                  </a:lnTo>
                  <a:lnTo>
                    <a:pt x="3261804" y="414134"/>
                  </a:lnTo>
                  <a:lnTo>
                    <a:pt x="3303905" y="405892"/>
                  </a:lnTo>
                  <a:lnTo>
                    <a:pt x="3343757" y="397395"/>
                  </a:lnTo>
                  <a:lnTo>
                    <a:pt x="3381273" y="388683"/>
                  </a:lnTo>
                  <a:lnTo>
                    <a:pt x="3449104" y="370586"/>
                  </a:lnTo>
                  <a:lnTo>
                    <a:pt x="3506876" y="351675"/>
                  </a:lnTo>
                  <a:lnTo>
                    <a:pt x="3554107" y="332003"/>
                  </a:lnTo>
                  <a:lnTo>
                    <a:pt x="3590264" y="311658"/>
                  </a:lnTo>
                  <a:lnTo>
                    <a:pt x="3622687" y="280047"/>
                  </a:lnTo>
                  <a:lnTo>
                    <a:pt x="3629025" y="258318"/>
                  </a:lnTo>
                  <a:close/>
                </a:path>
              </a:pathLst>
            </a:custGeom>
            <a:solidFill>
              <a:srgbClr val="FFFF00">
                <a:alpha val="31764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0"/>
            <p:cNvSpPr/>
            <p:nvPr/>
          </p:nvSpPr>
          <p:spPr>
            <a:xfrm>
              <a:off x="4221479" y="3480562"/>
              <a:ext cx="521334" cy="648335"/>
            </a:xfrm>
            <a:custGeom>
              <a:rect b="b" l="l" r="r" t="t"/>
              <a:pathLst>
                <a:path extrusionOk="0" h="648335" w="521335">
                  <a:moveTo>
                    <a:pt x="18034" y="564642"/>
                  </a:moveTo>
                  <a:lnTo>
                    <a:pt x="0" y="647826"/>
                  </a:lnTo>
                  <a:lnTo>
                    <a:pt x="77470" y="612267"/>
                  </a:lnTo>
                  <a:lnTo>
                    <a:pt x="62571" y="600329"/>
                  </a:lnTo>
                  <a:lnTo>
                    <a:pt x="42291" y="600329"/>
                  </a:lnTo>
                  <a:lnTo>
                    <a:pt x="37337" y="596392"/>
                  </a:lnTo>
                  <a:lnTo>
                    <a:pt x="45291" y="586482"/>
                  </a:lnTo>
                  <a:lnTo>
                    <a:pt x="18034" y="564642"/>
                  </a:lnTo>
                  <a:close/>
                </a:path>
                <a:path extrusionOk="0" h="648335" w="521335">
                  <a:moveTo>
                    <a:pt x="45291" y="586482"/>
                  </a:moveTo>
                  <a:lnTo>
                    <a:pt x="37337" y="596392"/>
                  </a:lnTo>
                  <a:lnTo>
                    <a:pt x="42291" y="600329"/>
                  </a:lnTo>
                  <a:lnTo>
                    <a:pt x="50228" y="590439"/>
                  </a:lnTo>
                  <a:lnTo>
                    <a:pt x="45291" y="586482"/>
                  </a:lnTo>
                  <a:close/>
                </a:path>
                <a:path extrusionOk="0" h="648335" w="521335">
                  <a:moveTo>
                    <a:pt x="50228" y="590439"/>
                  </a:moveTo>
                  <a:lnTo>
                    <a:pt x="42291" y="600329"/>
                  </a:lnTo>
                  <a:lnTo>
                    <a:pt x="62571" y="600329"/>
                  </a:lnTo>
                  <a:lnTo>
                    <a:pt x="50228" y="590439"/>
                  </a:lnTo>
                  <a:close/>
                </a:path>
                <a:path extrusionOk="0" h="648335" w="521335">
                  <a:moveTo>
                    <a:pt x="516000" y="0"/>
                  </a:moveTo>
                  <a:lnTo>
                    <a:pt x="45291" y="586482"/>
                  </a:lnTo>
                  <a:lnTo>
                    <a:pt x="50228" y="590439"/>
                  </a:lnTo>
                  <a:lnTo>
                    <a:pt x="520954" y="3937"/>
                  </a:lnTo>
                  <a:lnTo>
                    <a:pt x="5160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8" name="Google Shape;228;p20"/>
          <p:cNvSpPr txBox="1"/>
          <p:nvPr>
            <p:ph type="title"/>
          </p:nvPr>
        </p:nvSpPr>
        <p:spPr>
          <a:xfrm>
            <a:off x="1610486" y="513245"/>
            <a:ext cx="8317230" cy="84963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7E7E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98100">
            <a:spAutoFit/>
          </a:bodyPr>
          <a:lstStyle/>
          <a:p>
            <a:pPr indent="0" lvl="0" marL="63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U-Net Architecture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4739894" y="3153791"/>
            <a:ext cx="2080895" cy="61595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9200">
            <a:spAutoFit/>
          </a:bodyPr>
          <a:lstStyle/>
          <a:p>
            <a:pPr indent="-635" lvl="0" marL="95250" marR="8445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Concatenate with high- resolution feature maps from the Contraction Phase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4299712" y="2909442"/>
            <a:ext cx="1314450" cy="2381250"/>
          </a:xfrm>
          <a:custGeom>
            <a:rect b="b" l="l" r="r" t="t"/>
            <a:pathLst>
              <a:path extrusionOk="0" h="2381250" w="1314450">
                <a:moveTo>
                  <a:pt x="442722" y="550291"/>
                </a:moveTo>
                <a:lnTo>
                  <a:pt x="49949" y="57556"/>
                </a:lnTo>
                <a:lnTo>
                  <a:pt x="62395" y="47625"/>
                </a:lnTo>
                <a:lnTo>
                  <a:pt x="77216" y="35814"/>
                </a:lnTo>
                <a:lnTo>
                  <a:pt x="0" y="0"/>
                </a:lnTo>
                <a:lnTo>
                  <a:pt x="17653" y="83312"/>
                </a:lnTo>
                <a:lnTo>
                  <a:pt x="44996" y="61506"/>
                </a:lnTo>
                <a:lnTo>
                  <a:pt x="437769" y="554228"/>
                </a:lnTo>
                <a:lnTo>
                  <a:pt x="442722" y="550291"/>
                </a:lnTo>
                <a:close/>
              </a:path>
              <a:path extrusionOk="0" h="2381250" w="1314450">
                <a:moveTo>
                  <a:pt x="1314196" y="872871"/>
                </a:moveTo>
                <a:lnTo>
                  <a:pt x="1310932" y="872426"/>
                </a:lnTo>
                <a:lnTo>
                  <a:pt x="1308227" y="870839"/>
                </a:lnTo>
                <a:lnTo>
                  <a:pt x="780402" y="1785061"/>
                </a:lnTo>
                <a:lnTo>
                  <a:pt x="750189" y="1767586"/>
                </a:lnTo>
                <a:lnTo>
                  <a:pt x="744982" y="1852549"/>
                </a:lnTo>
                <a:lnTo>
                  <a:pt x="816102" y="1805686"/>
                </a:lnTo>
                <a:lnTo>
                  <a:pt x="804887" y="1799209"/>
                </a:lnTo>
                <a:lnTo>
                  <a:pt x="785863" y="1788223"/>
                </a:lnTo>
                <a:lnTo>
                  <a:pt x="1305623" y="887971"/>
                </a:lnTo>
                <a:lnTo>
                  <a:pt x="1109306" y="2305126"/>
                </a:lnTo>
                <a:lnTo>
                  <a:pt x="1074674" y="2300351"/>
                </a:lnTo>
                <a:lnTo>
                  <a:pt x="1101979" y="2380996"/>
                </a:lnTo>
                <a:lnTo>
                  <a:pt x="1144905" y="2318512"/>
                </a:lnTo>
                <a:lnTo>
                  <a:pt x="1150239" y="2310765"/>
                </a:lnTo>
                <a:lnTo>
                  <a:pt x="1115644" y="2306002"/>
                </a:lnTo>
                <a:lnTo>
                  <a:pt x="1314196" y="87287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8238870" y="3467899"/>
            <a:ext cx="1521460" cy="849630"/>
          </a:xfrm>
          <a:prstGeom prst="rect">
            <a:avLst/>
          </a:prstGeom>
          <a:noFill/>
          <a:ln cap="flat" cmpd="sng" w="12700">
            <a:solidFill>
              <a:srgbClr val="6FAC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52700">
            <a:spAutoFit/>
          </a:bodyPr>
          <a:lstStyle/>
          <a:p>
            <a:pPr indent="52704" lvl="0" marL="101600" marR="9525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classes (background and foreground)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9201150" y="6430162"/>
            <a:ext cx="234759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Times New Roman"/>
                <a:ea typeface="Times New Roman"/>
                <a:cs typeface="Times New Roman"/>
                <a:sym typeface="Times New Roman"/>
              </a:rPr>
              <a:t>Ronneberger et al. (2015) U-Net Architecture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p21"/>
          <p:cNvGrpSpPr/>
          <p:nvPr/>
        </p:nvGrpSpPr>
        <p:grpSpPr>
          <a:xfrm>
            <a:off x="1209052" y="1408015"/>
            <a:ext cx="8327575" cy="5162457"/>
            <a:chOff x="1209052" y="1408015"/>
            <a:chExt cx="8327575" cy="5162457"/>
          </a:xfrm>
        </p:grpSpPr>
        <p:pic>
          <p:nvPicPr>
            <p:cNvPr id="238" name="Google Shape;238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180037" y="1408015"/>
              <a:ext cx="7356590" cy="41358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9" name="Google Shape;239;p21"/>
            <p:cNvSpPr/>
            <p:nvPr/>
          </p:nvSpPr>
          <p:spPr>
            <a:xfrm>
              <a:off x="1209052" y="2354453"/>
              <a:ext cx="2715260" cy="4010660"/>
            </a:xfrm>
            <a:custGeom>
              <a:rect b="b" l="l" r="r" t="t"/>
              <a:pathLst>
                <a:path extrusionOk="0" h="4010660" w="2715260">
                  <a:moveTo>
                    <a:pt x="408165" y="0"/>
                  </a:moveTo>
                  <a:lnTo>
                    <a:pt x="0" y="246252"/>
                  </a:lnTo>
                  <a:lnTo>
                    <a:pt x="2102726" y="3731247"/>
                  </a:lnTo>
                  <a:lnTo>
                    <a:pt x="1898637" y="3854386"/>
                  </a:lnTo>
                  <a:lnTo>
                    <a:pt x="2549639" y="4010596"/>
                  </a:lnTo>
                  <a:lnTo>
                    <a:pt x="2714993" y="3361829"/>
                  </a:lnTo>
                  <a:lnTo>
                    <a:pt x="2510904" y="3484968"/>
                  </a:lnTo>
                  <a:lnTo>
                    <a:pt x="408165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1"/>
            <p:cNvSpPr/>
            <p:nvPr/>
          </p:nvSpPr>
          <p:spPr>
            <a:xfrm>
              <a:off x="1209052" y="2354453"/>
              <a:ext cx="2715260" cy="4010660"/>
            </a:xfrm>
            <a:custGeom>
              <a:rect b="b" l="l" r="r" t="t"/>
              <a:pathLst>
                <a:path extrusionOk="0" h="4010660" w="2715260">
                  <a:moveTo>
                    <a:pt x="408165" y="0"/>
                  </a:moveTo>
                  <a:lnTo>
                    <a:pt x="2510904" y="3484968"/>
                  </a:lnTo>
                  <a:lnTo>
                    <a:pt x="2714993" y="3361829"/>
                  </a:lnTo>
                  <a:lnTo>
                    <a:pt x="2549639" y="4010596"/>
                  </a:lnTo>
                  <a:lnTo>
                    <a:pt x="1898637" y="3854386"/>
                  </a:lnTo>
                  <a:lnTo>
                    <a:pt x="2102726" y="3731247"/>
                  </a:lnTo>
                  <a:lnTo>
                    <a:pt x="0" y="246252"/>
                  </a:lnTo>
                  <a:lnTo>
                    <a:pt x="408165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172C5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1" name="Google Shape;241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843770" y="3307080"/>
              <a:ext cx="1333388" cy="20956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1"/>
            <p:cNvSpPr/>
            <p:nvPr/>
          </p:nvSpPr>
          <p:spPr>
            <a:xfrm>
              <a:off x="6368795" y="2654427"/>
              <a:ext cx="2846070" cy="3916045"/>
            </a:xfrm>
            <a:custGeom>
              <a:rect b="b" l="l" r="r" t="t"/>
              <a:pathLst>
                <a:path extrusionOk="0" h="3916045" w="2846070">
                  <a:moveTo>
                    <a:pt x="2708148" y="0"/>
                  </a:moveTo>
                  <a:lnTo>
                    <a:pt x="2050923" y="128270"/>
                  </a:lnTo>
                  <a:lnTo>
                    <a:pt x="2249678" y="260096"/>
                  </a:lnTo>
                  <a:lnTo>
                    <a:pt x="0" y="3652024"/>
                  </a:lnTo>
                  <a:lnTo>
                    <a:pt x="397255" y="3915511"/>
                  </a:lnTo>
                  <a:lnTo>
                    <a:pt x="2646933" y="523494"/>
                  </a:lnTo>
                  <a:lnTo>
                    <a:pt x="2845561" y="655320"/>
                  </a:lnTo>
                  <a:lnTo>
                    <a:pt x="2708148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1"/>
            <p:cNvSpPr/>
            <p:nvPr/>
          </p:nvSpPr>
          <p:spPr>
            <a:xfrm>
              <a:off x="6368795" y="2654427"/>
              <a:ext cx="2846070" cy="3916045"/>
            </a:xfrm>
            <a:custGeom>
              <a:rect b="b" l="l" r="r" t="t"/>
              <a:pathLst>
                <a:path extrusionOk="0" h="3916045" w="2846070">
                  <a:moveTo>
                    <a:pt x="0" y="3652024"/>
                  </a:moveTo>
                  <a:lnTo>
                    <a:pt x="2249678" y="260096"/>
                  </a:lnTo>
                  <a:lnTo>
                    <a:pt x="2050923" y="128270"/>
                  </a:lnTo>
                  <a:lnTo>
                    <a:pt x="2708148" y="0"/>
                  </a:lnTo>
                  <a:lnTo>
                    <a:pt x="2845561" y="655320"/>
                  </a:lnTo>
                  <a:lnTo>
                    <a:pt x="2646933" y="523494"/>
                  </a:lnTo>
                  <a:lnTo>
                    <a:pt x="397255" y="3915511"/>
                  </a:lnTo>
                  <a:lnTo>
                    <a:pt x="0" y="3652024"/>
                  </a:lnTo>
                  <a:close/>
                </a:path>
              </a:pathLst>
            </a:custGeom>
            <a:noFill/>
            <a:ln cap="flat" cmpd="sng" w="12675">
              <a:solidFill>
                <a:srgbClr val="172C5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4" name="Google Shape;244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064120" y="3748557"/>
              <a:ext cx="1407413" cy="1879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5" name="Google Shape;245;p21"/>
          <p:cNvSpPr txBox="1"/>
          <p:nvPr>
            <p:ph type="title"/>
          </p:nvPr>
        </p:nvSpPr>
        <p:spPr>
          <a:xfrm>
            <a:off x="1610486" y="261277"/>
            <a:ext cx="8317230" cy="84963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7E7E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98750">
            <a:spAutoFit/>
          </a:bodyPr>
          <a:lstStyle/>
          <a:p>
            <a:pPr indent="0" lvl="0" marL="63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U-Net Architecture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9274682" y="3523906"/>
            <a:ext cx="1969135" cy="849630"/>
          </a:xfrm>
          <a:prstGeom prst="rect">
            <a:avLst/>
          </a:prstGeom>
          <a:noFill/>
          <a:ln cap="flat" cmpd="sng" w="12700">
            <a:solidFill>
              <a:srgbClr val="6FAC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55879" lvl="0" marL="151130" marR="14224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high- resolution segmentation map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9540240" y="1779054"/>
            <a:ext cx="1969135" cy="849630"/>
          </a:xfrm>
          <a:prstGeom prst="rect">
            <a:avLst/>
          </a:prstGeom>
          <a:noFill/>
          <a:ln cap="flat" cmpd="sng" w="12700">
            <a:solidFill>
              <a:srgbClr val="6FAC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5700">
            <a:spAutoFit/>
          </a:bodyPr>
          <a:lstStyle/>
          <a:p>
            <a:pPr indent="57150" lvl="0" marL="213359" marR="20383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classes (background and foreground)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9201150" y="6430162"/>
            <a:ext cx="234759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Times New Roman"/>
                <a:ea typeface="Times New Roman"/>
                <a:cs typeface="Times New Roman"/>
                <a:sym typeface="Times New Roman"/>
              </a:rPr>
              <a:t>Ronneberger et al. (2015) U-Net Architecture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2"/>
          <p:cNvSpPr txBox="1"/>
          <p:nvPr>
            <p:ph type="title"/>
          </p:nvPr>
        </p:nvSpPr>
        <p:spPr>
          <a:xfrm>
            <a:off x="2694939" y="513245"/>
            <a:ext cx="7233284" cy="84963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7E7E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98100">
            <a:spAutoFit/>
          </a:bodyPr>
          <a:lstStyle/>
          <a:p>
            <a:pPr indent="0" lvl="0" marL="127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IMAGE SEGMENTATION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1642236" y="2979927"/>
            <a:ext cx="466725" cy="114300"/>
          </a:xfrm>
          <a:custGeom>
            <a:rect b="b" l="l" r="r" t="t"/>
            <a:pathLst>
              <a:path extrusionOk="0" h="114300" w="466725">
                <a:moveTo>
                  <a:pt x="352170" y="0"/>
                </a:moveTo>
                <a:lnTo>
                  <a:pt x="352170" y="114300"/>
                </a:lnTo>
                <a:lnTo>
                  <a:pt x="428370" y="76200"/>
                </a:lnTo>
                <a:lnTo>
                  <a:pt x="371220" y="76200"/>
                </a:lnTo>
                <a:lnTo>
                  <a:pt x="371220" y="38100"/>
                </a:lnTo>
                <a:lnTo>
                  <a:pt x="428370" y="38100"/>
                </a:lnTo>
                <a:lnTo>
                  <a:pt x="352170" y="0"/>
                </a:lnTo>
                <a:close/>
              </a:path>
              <a:path extrusionOk="0" h="114300" w="466725">
                <a:moveTo>
                  <a:pt x="35217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52170" y="76200"/>
                </a:lnTo>
                <a:lnTo>
                  <a:pt x="352170" y="38100"/>
                </a:lnTo>
                <a:close/>
              </a:path>
              <a:path extrusionOk="0" h="114300" w="466725">
                <a:moveTo>
                  <a:pt x="428370" y="38100"/>
                </a:moveTo>
                <a:lnTo>
                  <a:pt x="371220" y="38100"/>
                </a:lnTo>
                <a:lnTo>
                  <a:pt x="371220" y="76200"/>
                </a:lnTo>
                <a:lnTo>
                  <a:pt x="428370" y="76200"/>
                </a:lnTo>
                <a:lnTo>
                  <a:pt x="466470" y="57150"/>
                </a:lnTo>
                <a:lnTo>
                  <a:pt x="428370" y="381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2146045" y="2724505"/>
            <a:ext cx="1259840" cy="700405"/>
          </a:xfrm>
          <a:prstGeom prst="rect">
            <a:avLst/>
          </a:prstGeom>
          <a:noFill/>
          <a:ln cap="flat" cmpd="sng" w="12700">
            <a:solidFill>
              <a:srgbClr val="6FAC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31425">
            <a:spAutoFit/>
          </a:bodyPr>
          <a:lstStyle/>
          <a:p>
            <a:pPr indent="-352425" lvl="0" marL="469900" marR="11302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Convolutional Unit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3483483" y="2992373"/>
            <a:ext cx="466725" cy="114300"/>
          </a:xfrm>
          <a:custGeom>
            <a:rect b="b" l="l" r="r" t="t"/>
            <a:pathLst>
              <a:path extrusionOk="0" h="114300" w="466725">
                <a:moveTo>
                  <a:pt x="352170" y="0"/>
                </a:moveTo>
                <a:lnTo>
                  <a:pt x="352170" y="114300"/>
                </a:lnTo>
                <a:lnTo>
                  <a:pt x="428370" y="76200"/>
                </a:lnTo>
                <a:lnTo>
                  <a:pt x="371220" y="76200"/>
                </a:lnTo>
                <a:lnTo>
                  <a:pt x="371220" y="38100"/>
                </a:lnTo>
                <a:lnTo>
                  <a:pt x="428370" y="38100"/>
                </a:lnTo>
                <a:lnTo>
                  <a:pt x="352170" y="0"/>
                </a:lnTo>
                <a:close/>
              </a:path>
              <a:path extrusionOk="0" h="114300" w="466725">
                <a:moveTo>
                  <a:pt x="35217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52170" y="76200"/>
                </a:lnTo>
                <a:lnTo>
                  <a:pt x="352170" y="38100"/>
                </a:lnTo>
                <a:close/>
              </a:path>
              <a:path extrusionOk="0" h="114300" w="466725">
                <a:moveTo>
                  <a:pt x="428370" y="38100"/>
                </a:moveTo>
                <a:lnTo>
                  <a:pt x="371220" y="38100"/>
                </a:lnTo>
                <a:lnTo>
                  <a:pt x="371220" y="76200"/>
                </a:lnTo>
                <a:lnTo>
                  <a:pt x="428370" y="76200"/>
                </a:lnTo>
                <a:lnTo>
                  <a:pt x="466470" y="57150"/>
                </a:lnTo>
                <a:lnTo>
                  <a:pt x="428370" y="381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4024629" y="2709011"/>
            <a:ext cx="1340485" cy="700405"/>
          </a:xfrm>
          <a:prstGeom prst="rect">
            <a:avLst/>
          </a:prstGeom>
          <a:noFill/>
          <a:ln cap="flat" cmpd="sng" w="12700">
            <a:solidFill>
              <a:srgbClr val="6FAC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31425">
            <a:spAutoFit/>
          </a:bodyPr>
          <a:lstStyle/>
          <a:p>
            <a:pPr indent="-416558" lvl="0" marL="511175" marR="88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Down-sampling Unit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p22"/>
          <p:cNvSpPr txBox="1"/>
          <p:nvPr/>
        </p:nvSpPr>
        <p:spPr>
          <a:xfrm>
            <a:off x="6049390" y="2699613"/>
            <a:ext cx="1259840" cy="700405"/>
          </a:xfrm>
          <a:prstGeom prst="rect">
            <a:avLst/>
          </a:prstGeom>
          <a:noFill/>
          <a:ln cap="flat" cmpd="sng" w="12700">
            <a:solidFill>
              <a:srgbClr val="6FAC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31425">
            <a:spAutoFit/>
          </a:bodyPr>
          <a:lstStyle/>
          <a:p>
            <a:pPr indent="-352425" lvl="0" marL="470534" marR="11302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Convolutional Unit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" name="Google Shape;259;p22"/>
          <p:cNvSpPr/>
          <p:nvPr/>
        </p:nvSpPr>
        <p:spPr>
          <a:xfrm>
            <a:off x="5464683" y="2995548"/>
            <a:ext cx="466725" cy="114300"/>
          </a:xfrm>
          <a:custGeom>
            <a:rect b="b" l="l" r="r" t="t"/>
            <a:pathLst>
              <a:path extrusionOk="0" h="114300" w="466725">
                <a:moveTo>
                  <a:pt x="352170" y="0"/>
                </a:moveTo>
                <a:lnTo>
                  <a:pt x="352170" y="114300"/>
                </a:lnTo>
                <a:lnTo>
                  <a:pt x="428370" y="76200"/>
                </a:lnTo>
                <a:lnTo>
                  <a:pt x="371220" y="76200"/>
                </a:lnTo>
                <a:lnTo>
                  <a:pt x="371220" y="38100"/>
                </a:lnTo>
                <a:lnTo>
                  <a:pt x="428370" y="38100"/>
                </a:lnTo>
                <a:lnTo>
                  <a:pt x="352170" y="0"/>
                </a:lnTo>
                <a:close/>
              </a:path>
              <a:path extrusionOk="0" h="114300" w="466725">
                <a:moveTo>
                  <a:pt x="35217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52170" y="76200"/>
                </a:lnTo>
                <a:lnTo>
                  <a:pt x="352170" y="38100"/>
                </a:lnTo>
                <a:close/>
              </a:path>
              <a:path extrusionOk="0" h="114300" w="466725">
                <a:moveTo>
                  <a:pt x="428370" y="38100"/>
                </a:moveTo>
                <a:lnTo>
                  <a:pt x="371220" y="38100"/>
                </a:lnTo>
                <a:lnTo>
                  <a:pt x="371220" y="76200"/>
                </a:lnTo>
                <a:lnTo>
                  <a:pt x="428370" y="76200"/>
                </a:lnTo>
                <a:lnTo>
                  <a:pt x="466470" y="57150"/>
                </a:lnTo>
                <a:lnTo>
                  <a:pt x="428370" y="381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7929498" y="2709011"/>
            <a:ext cx="1340485" cy="700405"/>
          </a:xfrm>
          <a:prstGeom prst="rect">
            <a:avLst/>
          </a:prstGeom>
          <a:noFill/>
          <a:ln cap="flat" cmpd="sng" w="12700">
            <a:solidFill>
              <a:srgbClr val="6FAC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31425">
            <a:spAutoFit/>
          </a:bodyPr>
          <a:lstStyle/>
          <a:p>
            <a:pPr indent="-416559" lvl="0" marL="511809" marR="88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Down-sampling Unit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7380478" y="2979927"/>
            <a:ext cx="466725" cy="114300"/>
          </a:xfrm>
          <a:custGeom>
            <a:rect b="b" l="l" r="r" t="t"/>
            <a:pathLst>
              <a:path extrusionOk="0" h="114300" w="466725">
                <a:moveTo>
                  <a:pt x="352298" y="0"/>
                </a:moveTo>
                <a:lnTo>
                  <a:pt x="352298" y="114300"/>
                </a:lnTo>
                <a:lnTo>
                  <a:pt x="428498" y="76200"/>
                </a:lnTo>
                <a:lnTo>
                  <a:pt x="371348" y="76200"/>
                </a:lnTo>
                <a:lnTo>
                  <a:pt x="371348" y="38100"/>
                </a:lnTo>
                <a:lnTo>
                  <a:pt x="428498" y="38100"/>
                </a:lnTo>
                <a:lnTo>
                  <a:pt x="352298" y="0"/>
                </a:lnTo>
                <a:close/>
              </a:path>
              <a:path extrusionOk="0" h="114300" w="466725">
                <a:moveTo>
                  <a:pt x="35229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52298" y="76200"/>
                </a:lnTo>
                <a:lnTo>
                  <a:pt x="352298" y="38100"/>
                </a:lnTo>
                <a:close/>
              </a:path>
              <a:path extrusionOk="0" h="114300" w="466725">
                <a:moveTo>
                  <a:pt x="428498" y="38100"/>
                </a:moveTo>
                <a:lnTo>
                  <a:pt x="371348" y="38100"/>
                </a:lnTo>
                <a:lnTo>
                  <a:pt x="371348" y="76200"/>
                </a:lnTo>
                <a:lnTo>
                  <a:pt x="428498" y="76200"/>
                </a:lnTo>
                <a:lnTo>
                  <a:pt x="466598" y="57150"/>
                </a:lnTo>
                <a:lnTo>
                  <a:pt x="428498" y="381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9906000" y="2712059"/>
            <a:ext cx="1259840" cy="700405"/>
          </a:xfrm>
          <a:prstGeom prst="rect">
            <a:avLst/>
          </a:prstGeom>
          <a:noFill/>
          <a:ln cap="flat" cmpd="sng" w="12700">
            <a:solidFill>
              <a:srgbClr val="6FAC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31425">
            <a:spAutoFit/>
          </a:bodyPr>
          <a:lstStyle/>
          <a:p>
            <a:pPr indent="-352425" lvl="0" marL="470534" marR="1123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Convolutional Unit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p22"/>
          <p:cNvSpPr/>
          <p:nvPr/>
        </p:nvSpPr>
        <p:spPr>
          <a:xfrm>
            <a:off x="9389744" y="2964433"/>
            <a:ext cx="466725" cy="114300"/>
          </a:xfrm>
          <a:custGeom>
            <a:rect b="b" l="l" r="r" t="t"/>
            <a:pathLst>
              <a:path extrusionOk="0" h="114300" w="466725">
                <a:moveTo>
                  <a:pt x="352171" y="0"/>
                </a:moveTo>
                <a:lnTo>
                  <a:pt x="352171" y="114300"/>
                </a:lnTo>
                <a:lnTo>
                  <a:pt x="428371" y="76200"/>
                </a:lnTo>
                <a:lnTo>
                  <a:pt x="371221" y="76200"/>
                </a:lnTo>
                <a:lnTo>
                  <a:pt x="371221" y="38100"/>
                </a:lnTo>
                <a:lnTo>
                  <a:pt x="428371" y="38100"/>
                </a:lnTo>
                <a:lnTo>
                  <a:pt x="352171" y="0"/>
                </a:lnTo>
                <a:close/>
              </a:path>
              <a:path extrusionOk="0" h="114300" w="466725">
                <a:moveTo>
                  <a:pt x="35217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52171" y="76200"/>
                </a:lnTo>
                <a:lnTo>
                  <a:pt x="352171" y="38100"/>
                </a:lnTo>
                <a:close/>
              </a:path>
              <a:path extrusionOk="0" h="114300" w="466725">
                <a:moveTo>
                  <a:pt x="428371" y="38100"/>
                </a:moveTo>
                <a:lnTo>
                  <a:pt x="371221" y="38100"/>
                </a:lnTo>
                <a:lnTo>
                  <a:pt x="371221" y="76200"/>
                </a:lnTo>
                <a:lnTo>
                  <a:pt x="428371" y="76200"/>
                </a:lnTo>
                <a:lnTo>
                  <a:pt x="466471" y="57150"/>
                </a:lnTo>
                <a:lnTo>
                  <a:pt x="428371" y="381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4" name="Google Shape;264;p22"/>
          <p:cNvGrpSpPr/>
          <p:nvPr/>
        </p:nvGrpSpPr>
        <p:grpSpPr>
          <a:xfrm>
            <a:off x="9389744" y="3442970"/>
            <a:ext cx="1125855" cy="1071118"/>
            <a:chOff x="9389744" y="3442970"/>
            <a:chExt cx="1125855" cy="1071118"/>
          </a:xfrm>
        </p:grpSpPr>
        <p:sp>
          <p:nvSpPr>
            <p:cNvPr id="265" name="Google Shape;265;p22"/>
            <p:cNvSpPr/>
            <p:nvPr/>
          </p:nvSpPr>
          <p:spPr>
            <a:xfrm>
              <a:off x="9389744" y="4399788"/>
              <a:ext cx="1125855" cy="114300"/>
            </a:xfrm>
            <a:custGeom>
              <a:rect b="b" l="l" r="r" t="t"/>
              <a:pathLst>
                <a:path extrusionOk="0" h="114300" w="1125854">
                  <a:moveTo>
                    <a:pt x="114300" y="0"/>
                  </a:moveTo>
                  <a:lnTo>
                    <a:pt x="0" y="57150"/>
                  </a:lnTo>
                  <a:lnTo>
                    <a:pt x="114300" y="114300"/>
                  </a:lnTo>
                  <a:lnTo>
                    <a:pt x="114300" y="76200"/>
                  </a:lnTo>
                  <a:lnTo>
                    <a:pt x="95250" y="76200"/>
                  </a:lnTo>
                  <a:lnTo>
                    <a:pt x="95250" y="38100"/>
                  </a:lnTo>
                  <a:lnTo>
                    <a:pt x="114300" y="38100"/>
                  </a:lnTo>
                  <a:lnTo>
                    <a:pt x="114300" y="0"/>
                  </a:lnTo>
                  <a:close/>
                </a:path>
                <a:path extrusionOk="0" h="114300" w="1125854">
                  <a:moveTo>
                    <a:pt x="114300" y="38100"/>
                  </a:moveTo>
                  <a:lnTo>
                    <a:pt x="95250" y="38100"/>
                  </a:lnTo>
                  <a:lnTo>
                    <a:pt x="95250" y="76200"/>
                  </a:lnTo>
                  <a:lnTo>
                    <a:pt x="114300" y="76200"/>
                  </a:lnTo>
                  <a:lnTo>
                    <a:pt x="114300" y="38100"/>
                  </a:lnTo>
                  <a:close/>
                </a:path>
                <a:path extrusionOk="0" h="114300" w="1125854">
                  <a:moveTo>
                    <a:pt x="1125854" y="38100"/>
                  </a:moveTo>
                  <a:lnTo>
                    <a:pt x="114300" y="38100"/>
                  </a:lnTo>
                  <a:lnTo>
                    <a:pt x="114300" y="76200"/>
                  </a:lnTo>
                  <a:lnTo>
                    <a:pt x="1125854" y="76200"/>
                  </a:lnTo>
                  <a:lnTo>
                    <a:pt x="1125854" y="381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2"/>
            <p:cNvSpPr/>
            <p:nvPr/>
          </p:nvSpPr>
          <p:spPr>
            <a:xfrm>
              <a:off x="10506328" y="3442970"/>
              <a:ext cx="0" cy="1033144"/>
            </a:xfrm>
            <a:custGeom>
              <a:rect b="b" l="l" r="r" t="t"/>
              <a:pathLst>
                <a:path extrusionOk="0" h="1033145" w="120000">
                  <a:moveTo>
                    <a:pt x="0" y="0"/>
                  </a:moveTo>
                  <a:lnTo>
                    <a:pt x="0" y="1032636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7" name="Google Shape;267;p22"/>
          <p:cNvSpPr txBox="1"/>
          <p:nvPr/>
        </p:nvSpPr>
        <p:spPr>
          <a:xfrm>
            <a:off x="7977631" y="4124172"/>
            <a:ext cx="1259840" cy="700405"/>
          </a:xfrm>
          <a:prstGeom prst="rect">
            <a:avLst/>
          </a:prstGeom>
          <a:noFill/>
          <a:ln cap="flat" cmpd="sng" w="12700">
            <a:solidFill>
              <a:srgbClr val="6FAC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3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Up-sampling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Unit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68" name="Google Shape;268;p22"/>
          <p:cNvGrpSpPr/>
          <p:nvPr/>
        </p:nvGrpSpPr>
        <p:grpSpPr>
          <a:xfrm>
            <a:off x="429196" y="4042790"/>
            <a:ext cx="1689164" cy="1133475"/>
            <a:chOff x="429196" y="4042790"/>
            <a:chExt cx="1689164" cy="1133475"/>
          </a:xfrm>
        </p:grpSpPr>
        <p:sp>
          <p:nvSpPr>
            <p:cNvPr id="269" name="Google Shape;269;p22"/>
            <p:cNvSpPr/>
            <p:nvPr/>
          </p:nvSpPr>
          <p:spPr>
            <a:xfrm>
              <a:off x="1586230" y="4489957"/>
              <a:ext cx="532130" cy="114300"/>
            </a:xfrm>
            <a:custGeom>
              <a:rect b="b" l="l" r="r" t="t"/>
              <a:pathLst>
                <a:path extrusionOk="0" h="114300" w="532130">
                  <a:moveTo>
                    <a:pt x="114300" y="0"/>
                  </a:moveTo>
                  <a:lnTo>
                    <a:pt x="0" y="57150"/>
                  </a:lnTo>
                  <a:lnTo>
                    <a:pt x="114300" y="114300"/>
                  </a:lnTo>
                  <a:lnTo>
                    <a:pt x="114300" y="76200"/>
                  </a:lnTo>
                  <a:lnTo>
                    <a:pt x="95250" y="76200"/>
                  </a:lnTo>
                  <a:lnTo>
                    <a:pt x="95250" y="38100"/>
                  </a:lnTo>
                  <a:lnTo>
                    <a:pt x="114300" y="38100"/>
                  </a:lnTo>
                  <a:lnTo>
                    <a:pt x="114300" y="0"/>
                  </a:lnTo>
                  <a:close/>
                </a:path>
                <a:path extrusionOk="0" h="114300" w="532130">
                  <a:moveTo>
                    <a:pt x="114300" y="38100"/>
                  </a:moveTo>
                  <a:lnTo>
                    <a:pt x="95250" y="38100"/>
                  </a:lnTo>
                  <a:lnTo>
                    <a:pt x="95250" y="76200"/>
                  </a:lnTo>
                  <a:lnTo>
                    <a:pt x="114300" y="76200"/>
                  </a:lnTo>
                  <a:lnTo>
                    <a:pt x="114300" y="38100"/>
                  </a:lnTo>
                  <a:close/>
                </a:path>
                <a:path extrusionOk="0" h="114300" w="532130">
                  <a:moveTo>
                    <a:pt x="531876" y="38100"/>
                  </a:moveTo>
                  <a:lnTo>
                    <a:pt x="114300" y="38100"/>
                  </a:lnTo>
                  <a:lnTo>
                    <a:pt x="114300" y="76200"/>
                  </a:lnTo>
                  <a:lnTo>
                    <a:pt x="531876" y="76200"/>
                  </a:lnTo>
                  <a:lnTo>
                    <a:pt x="531876" y="381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70" name="Google Shape;270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29196" y="4042790"/>
              <a:ext cx="1172972" cy="11334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1" name="Google Shape;271;p22"/>
          <p:cNvSpPr/>
          <p:nvPr/>
        </p:nvSpPr>
        <p:spPr>
          <a:xfrm>
            <a:off x="7330820" y="4446396"/>
            <a:ext cx="532130" cy="114300"/>
          </a:xfrm>
          <a:custGeom>
            <a:rect b="b" l="l" r="r" t="t"/>
            <a:pathLst>
              <a:path extrusionOk="0" h="114300" w="532129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extrusionOk="0" h="114300" w="532129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extrusionOk="0" h="114300" w="532129">
                <a:moveTo>
                  <a:pt x="531749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531749" y="76200"/>
                </a:lnTo>
                <a:lnTo>
                  <a:pt x="531749" y="381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2"/>
          <p:cNvSpPr txBox="1"/>
          <p:nvPr/>
        </p:nvSpPr>
        <p:spPr>
          <a:xfrm>
            <a:off x="4080509" y="4164558"/>
            <a:ext cx="1259840" cy="700405"/>
          </a:xfrm>
          <a:prstGeom prst="rect">
            <a:avLst/>
          </a:prstGeom>
          <a:noFill/>
          <a:ln cap="flat" cmpd="sng" w="12700">
            <a:solidFill>
              <a:srgbClr val="6FAC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31425">
            <a:spAutoFit/>
          </a:bodyPr>
          <a:lstStyle/>
          <a:p>
            <a:pPr indent="-306705" lvl="0" marL="469900" marR="1568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Up-sampling Unit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22"/>
          <p:cNvSpPr txBox="1"/>
          <p:nvPr/>
        </p:nvSpPr>
        <p:spPr>
          <a:xfrm>
            <a:off x="2177160" y="4173956"/>
            <a:ext cx="1259840" cy="700405"/>
          </a:xfrm>
          <a:prstGeom prst="rect">
            <a:avLst/>
          </a:prstGeom>
          <a:noFill/>
          <a:ln cap="flat" cmpd="sng" w="12700">
            <a:solidFill>
              <a:srgbClr val="6FAC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31425">
            <a:spAutoFit/>
          </a:bodyPr>
          <a:lstStyle/>
          <a:p>
            <a:pPr indent="-352425" lvl="0" marL="469900" marR="11302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Convolutional Unit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" name="Google Shape;274;p22"/>
          <p:cNvSpPr txBox="1"/>
          <p:nvPr/>
        </p:nvSpPr>
        <p:spPr>
          <a:xfrm>
            <a:off x="6015101" y="4149064"/>
            <a:ext cx="1259840" cy="700405"/>
          </a:xfrm>
          <a:prstGeom prst="rect">
            <a:avLst/>
          </a:prstGeom>
          <a:noFill/>
          <a:ln cap="flat" cmpd="sng" w="12700">
            <a:solidFill>
              <a:srgbClr val="6FAC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31425">
            <a:spAutoFit/>
          </a:bodyPr>
          <a:lstStyle/>
          <a:p>
            <a:pPr indent="-352425" lvl="0" marL="469900" marR="1123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Convolutional Unit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5374513" y="4449571"/>
            <a:ext cx="532130" cy="114300"/>
          </a:xfrm>
          <a:custGeom>
            <a:rect b="b" l="l" r="r" t="t"/>
            <a:pathLst>
              <a:path extrusionOk="0" h="114300" w="532129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extrusionOk="0" h="114300" w="532129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extrusionOk="0" h="114300" w="532129">
                <a:moveTo>
                  <a:pt x="531749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531749" y="76200"/>
                </a:lnTo>
                <a:lnTo>
                  <a:pt x="531749" y="381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2"/>
          <p:cNvSpPr/>
          <p:nvPr/>
        </p:nvSpPr>
        <p:spPr>
          <a:xfrm>
            <a:off x="3483483" y="4471289"/>
            <a:ext cx="532130" cy="114300"/>
          </a:xfrm>
          <a:custGeom>
            <a:rect b="b" l="l" r="r" t="t"/>
            <a:pathLst>
              <a:path extrusionOk="0" h="114300" w="532129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extrusionOk="0" h="114300" w="532129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extrusionOk="0" h="114300" w="532129">
                <a:moveTo>
                  <a:pt x="531749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531749" y="76200"/>
                </a:lnTo>
                <a:lnTo>
                  <a:pt x="531749" y="381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196" y="2658617"/>
            <a:ext cx="1142936" cy="113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3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3"/>
          <p:cNvSpPr txBox="1"/>
          <p:nvPr>
            <p:ph type="title"/>
          </p:nvPr>
        </p:nvSpPr>
        <p:spPr>
          <a:xfrm>
            <a:off x="4228338" y="626440"/>
            <a:ext cx="3735323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U-Net Summary</a:t>
            </a:r>
            <a:endParaRPr/>
          </a:p>
        </p:txBody>
      </p:sp>
      <p:sp>
        <p:nvSpPr>
          <p:cNvPr id="284" name="Google Shape;284;p23"/>
          <p:cNvSpPr txBox="1"/>
          <p:nvPr>
            <p:ph idx="1" type="body"/>
          </p:nvPr>
        </p:nvSpPr>
        <p:spPr>
          <a:xfrm>
            <a:off x="916939" y="1782539"/>
            <a:ext cx="10088880" cy="277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650">
            <a:spAutoFit/>
          </a:bodyPr>
          <a:lstStyle/>
          <a:p>
            <a:pPr indent="-227965" lvl="0" marL="2406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Contraction Phase</a:t>
            </a:r>
            <a:endParaRPr/>
          </a:p>
          <a:p>
            <a:pPr indent="-227329" lvl="1" marL="697230" rtl="0" algn="l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Reduce spatial dimension, but increases the “what.”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7965" lvl="0" marL="240665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Expansion Phase</a:t>
            </a:r>
            <a:endParaRPr/>
          </a:p>
          <a:p>
            <a:pPr indent="-227329" lvl="1" marL="697230" rtl="0" algn="l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Recovers object details and the dimensions, which is the “where.”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7965" lvl="0" marL="240029" marR="554990" rtl="0" algn="l">
              <a:lnSpc>
                <a:spcPct val="107857"/>
              </a:lnSpc>
              <a:spcBef>
                <a:spcPts val="104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Concatenating feature maps from the Contraction phase helps the 	Expansion phase with recovering the “where” information.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4"/>
          <p:cNvSpPr txBox="1"/>
          <p:nvPr/>
        </p:nvSpPr>
        <p:spPr>
          <a:xfrm>
            <a:off x="9555860" y="6514286"/>
            <a:ext cx="202755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Times New Roman"/>
                <a:ea typeface="Times New Roman"/>
                <a:cs typeface="Times New Roman"/>
                <a:sym typeface="Times New Roman"/>
              </a:rPr>
              <a:t>Fausto et al. (2015) V-Net Architecture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p24"/>
          <p:cNvSpPr txBox="1"/>
          <p:nvPr>
            <p:ph type="title"/>
          </p:nvPr>
        </p:nvSpPr>
        <p:spPr>
          <a:xfrm>
            <a:off x="1610486" y="513245"/>
            <a:ext cx="8317230" cy="84963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7E7E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98100">
            <a:spAutoFit/>
          </a:bodyPr>
          <a:lstStyle/>
          <a:p>
            <a:pPr indent="0" lvl="0" marL="190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V-Net Architecture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1" name="Google Shape;29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2473" y="1800847"/>
            <a:ext cx="7613628" cy="43284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