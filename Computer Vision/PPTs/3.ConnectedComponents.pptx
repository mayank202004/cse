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12192000" cy="6858000"/>
  <p:embeddedFontLst>
    <p:embeddedFont>
      <p:font typeface="Book Antiqua"/>
      <p:regular r:id="rId33"/>
      <p:bold r:id="rId34"/>
      <p:italic r:id="rId35"/>
      <p:boldItalic r:id="rId36"/>
    </p:embeddedFont>
    <p:embeddedFont>
      <p:font typeface="Noto Sans Symbols"/>
      <p:regular r:id="rId37"/>
      <p:bold r:id="rId38"/>
    </p:embeddedFont>
    <p:embeddedFont>
      <p:font typeface="Bell MT"/>
      <p:regular r:id="rId39"/>
      <p:bold r:id="rId40"/>
      <p:italic r:id="rId41"/>
      <p:boldItalic r:id="rId42"/>
    </p:embeddedFont>
    <p:embeddedFont>
      <p:font typeface="Cambria Math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964399-3D12-4AA0-8739-A30B523BE5CA}">
  <a:tblStyle styleId="{DC964399-3D12-4AA0-8739-A30B523BE5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llMT-bold.fntdata"/><Relationship Id="rId20" Type="http://schemas.openxmlformats.org/officeDocument/2006/relationships/slide" Target="slides/slide14.xml"/><Relationship Id="rId42" Type="http://schemas.openxmlformats.org/officeDocument/2006/relationships/font" Target="fonts/BellMT-boldItalic.fntdata"/><Relationship Id="rId41" Type="http://schemas.openxmlformats.org/officeDocument/2006/relationships/font" Target="fonts/BellM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CambriaMath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BookAntiqua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BookAntiqua-italic.fntdata"/><Relationship Id="rId12" Type="http://schemas.openxmlformats.org/officeDocument/2006/relationships/slide" Target="slides/slide6.xml"/><Relationship Id="rId34" Type="http://schemas.openxmlformats.org/officeDocument/2006/relationships/font" Target="fonts/BookAntiqua-bold.fntdata"/><Relationship Id="rId15" Type="http://schemas.openxmlformats.org/officeDocument/2006/relationships/slide" Target="slides/slide9.xml"/><Relationship Id="rId37" Type="http://schemas.openxmlformats.org/officeDocument/2006/relationships/font" Target="fonts/NotoSansSymbols-regular.fntdata"/><Relationship Id="rId14" Type="http://schemas.openxmlformats.org/officeDocument/2006/relationships/slide" Target="slides/slide8.xml"/><Relationship Id="rId36" Type="http://schemas.openxmlformats.org/officeDocument/2006/relationships/font" Target="fonts/BookAntiqua-boldItalic.fntdata"/><Relationship Id="rId17" Type="http://schemas.openxmlformats.org/officeDocument/2006/relationships/slide" Target="slides/slide11.xml"/><Relationship Id="rId39" Type="http://schemas.openxmlformats.org/officeDocument/2006/relationships/font" Target="fonts/BellMT-regular.fntdata"/><Relationship Id="rId16" Type="http://schemas.openxmlformats.org/officeDocument/2006/relationships/slide" Target="slides/slide10.xml"/><Relationship Id="rId38" Type="http://schemas.openxmlformats.org/officeDocument/2006/relationships/font" Target="fonts/NotoSansSymbol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8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7500" y="779350"/>
            <a:ext cx="12175800" cy="18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4294967295" type="title"/>
          </p:nvPr>
        </p:nvSpPr>
        <p:spPr>
          <a:xfrm>
            <a:off x="0" y="1345350"/>
            <a:ext cx="1219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577465" lvl="0" marL="258953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Neighborhood &amp; Connectivity of	Pixels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2743200"/>
            <a:ext cx="1904999" cy="18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535956" y="1037125"/>
            <a:ext cx="6495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Representation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39" name="Google Shape;39;p5"/>
          <p:cNvGraphicFramePr/>
          <p:nvPr/>
        </p:nvGraphicFramePr>
        <p:xfrm>
          <a:off x="6375300" y="1893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{DC964399-3D12-4AA0-8739-A30B523BE5CA}</a:tableStyleId>
              </a:tblPr>
              <a:tblGrid>
                <a:gridCol w="428625"/>
                <a:gridCol w="411475"/>
                <a:gridCol w="411475"/>
                <a:gridCol w="411475"/>
                <a:gridCol w="411475"/>
                <a:gridCol w="411475"/>
                <a:gridCol w="411475"/>
                <a:gridCol w="411475"/>
                <a:gridCol w="411475"/>
                <a:gridCol w="411475"/>
              </a:tblGrid>
              <a:tr h="456425">
                <a:tc>
                  <a:txBody>
                    <a:bodyPr/>
                    <a:lstStyle/>
                    <a:p>
                      <a:pPr indent="0" lvl="0" marL="0" marR="234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>
                        <a:alpha val="48627"/>
                      </a:srgbClr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2349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962" y="1893925"/>
            <a:ext cx="4267187" cy="307015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5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535940" y="987044"/>
            <a:ext cx="552132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Connected-component labeling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975" y="1612200"/>
            <a:ext cx="4206227" cy="223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0775" y="1612200"/>
            <a:ext cx="4206240" cy="22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/>
        </p:nvSpPr>
        <p:spPr>
          <a:xfrm>
            <a:off x="3584434" y="3971233"/>
            <a:ext cx="52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7279753" y="3938772"/>
            <a:ext cx="2106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Output: labeled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1715" y="4513895"/>
            <a:ext cx="1737359" cy="1737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6575" y="4585523"/>
            <a:ext cx="1723644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 txBox="1"/>
          <p:nvPr/>
        </p:nvSpPr>
        <p:spPr>
          <a:xfrm>
            <a:off x="4950128" y="5823659"/>
            <a:ext cx="52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8239911" y="5546596"/>
            <a:ext cx="132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Output: labeled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6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Motivation</a:t>
            </a:r>
            <a:endParaRPr/>
          </a:p>
        </p:txBody>
      </p:sp>
      <p:sp>
        <p:nvSpPr>
          <p:cNvPr id="70" name="Google Shape;70;p7"/>
          <p:cNvSpPr txBox="1"/>
          <p:nvPr/>
        </p:nvSpPr>
        <p:spPr>
          <a:xfrm>
            <a:off x="535940" y="1024751"/>
            <a:ext cx="329819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Boundary tracing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3699" y="1700396"/>
            <a:ext cx="6004603" cy="435538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7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Content</a:t>
            </a:r>
            <a:endParaRPr/>
          </a:p>
        </p:txBody>
      </p:sp>
      <p:sp>
        <p:nvSpPr>
          <p:cNvPr id="82" name="Google Shape;82;p8"/>
          <p:cNvSpPr txBox="1"/>
          <p:nvPr/>
        </p:nvSpPr>
        <p:spPr>
          <a:xfrm>
            <a:off x="535940" y="884737"/>
            <a:ext cx="4729480" cy="370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Topics to be covered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Neighborhood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Adjacency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Connectivity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Paths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Regions and boundaries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057400"/>
            <a:ext cx="1904999" cy="18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p8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6" name="Google Shape;86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8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Neighbors of	a Pixel</a:t>
            </a:r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485140" y="1061372"/>
            <a:ext cx="7236459" cy="26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4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- 4-neighbors (</a:t>
            </a:r>
            <a:r>
              <a:rPr i="1" lang="en-US" sz="3200" u="sng">
                <a:latin typeface="Bell MT"/>
                <a:ea typeface="Bell MT"/>
                <a:cs typeface="Bell MT"/>
                <a:sym typeface="Bell MT"/>
              </a:rPr>
              <a:t>2 Horizontal, 2 Vertical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460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diagonal neighbors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460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8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- 8-neighbors (N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4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 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9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Neighbors of	a Pixel</a:t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838202" y="1206025"/>
            <a:ext cx="80772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343535" lvl="0" marL="381000" marR="3048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="1" baseline="-25000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 : 4-Neighbors of	Pixel P are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 vertical 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neighbors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 horizontal</a:t>
            </a:r>
            <a:r>
              <a:rPr b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neighbors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06" name="Google Shape;106;p10"/>
          <p:cNvGrpSpPr/>
          <p:nvPr/>
        </p:nvGrpSpPr>
        <p:grpSpPr>
          <a:xfrm>
            <a:off x="333756" y="4599432"/>
            <a:ext cx="5580887" cy="1687067"/>
            <a:chOff x="333756" y="4599432"/>
            <a:chExt cx="5580887" cy="1687067"/>
          </a:xfrm>
        </p:grpSpPr>
        <p:pic>
          <p:nvPicPr>
            <p:cNvPr id="107" name="Google Shape;10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756" y="4655820"/>
              <a:ext cx="5580887" cy="1479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5948" y="4599432"/>
              <a:ext cx="5565647" cy="1687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0" y="4683251"/>
              <a:ext cx="5486400" cy="1385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0"/>
          <p:cNvSpPr txBox="1"/>
          <p:nvPr/>
        </p:nvSpPr>
        <p:spPr>
          <a:xfrm>
            <a:off x="381000" y="4683250"/>
            <a:ext cx="6956400" cy="1480200"/>
          </a:xfrm>
          <a:prstGeom prst="rect">
            <a:avLst/>
          </a:pr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rtl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Distance from p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Each of	the neighboring pixels 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="1" baseline="-25000" lang="en-US" sz="27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are at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unit distance from P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8845" y="2073680"/>
            <a:ext cx="2514929" cy="32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838200" y="3505200"/>
            <a:ext cx="3886200" cy="784860"/>
          </a:xfrm>
          <a:prstGeom prst="rect">
            <a:avLst/>
          </a:prstGeom>
          <a:solidFill>
            <a:srgbClr val="93CDDD"/>
          </a:solidFill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Coordinates of neighbors of </a:t>
            </a:r>
            <a:r>
              <a:rPr lang="en-US" sz="1800">
                <a:latin typeface="Book Antiqua"/>
                <a:ea typeface="Book Antiqua"/>
                <a:cs typeface="Book Antiqua"/>
                <a:sym typeface="Book Antiqua"/>
              </a:rPr>
              <a:t>P (x,y)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28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(x+1, y), (x-1, y), (x, y+1), (x, y-1)</a:t>
            </a:r>
            <a:endParaRPr sz="1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436019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7" name="Google Shape;117;p10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Neighbors of	a Pixel</a:t>
            </a:r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485150" y="933000"/>
            <a:ext cx="11421300" cy="28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(P): 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Diagonal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Neighbors of Pixel P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4358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The four diagonal neighbors of	p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(x, y) are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given by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711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(x+1, y+1), (x+1, y-1), (x-1, y+1), (x-1 ,y-1)</a:t>
            </a:r>
            <a:endParaRPr i="1"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807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This set is denoted by N</a:t>
            </a:r>
            <a:r>
              <a:rPr baseline="-25000" lang="en-US" sz="255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(P)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6693623" y="5467449"/>
            <a:ext cx="19608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10184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-25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(P): </a:t>
            </a:r>
            <a:r>
              <a:rPr b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Diagonal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Neighbors of Pixel 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1"/>
          <p:cNvGrpSpPr/>
          <p:nvPr/>
        </p:nvGrpSpPr>
        <p:grpSpPr>
          <a:xfrm>
            <a:off x="257556" y="4550664"/>
            <a:ext cx="5580887" cy="1685543"/>
            <a:chOff x="257556" y="4550664"/>
            <a:chExt cx="5580887" cy="1685543"/>
          </a:xfrm>
        </p:grpSpPr>
        <p:pic>
          <p:nvPicPr>
            <p:cNvPr id="126" name="Google Shape;12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556" y="4607052"/>
              <a:ext cx="5580887" cy="1479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656" y="4550664"/>
              <a:ext cx="5503163" cy="1685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4800" y="4634484"/>
              <a:ext cx="5486400" cy="13853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1"/>
          <p:cNvSpPr txBox="1"/>
          <p:nvPr/>
        </p:nvSpPr>
        <p:spPr>
          <a:xfrm>
            <a:off x="304800" y="4634484"/>
            <a:ext cx="5486400" cy="1385570"/>
          </a:xfrm>
          <a:prstGeom prst="rect">
            <a:avLst/>
          </a:pr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Distance from P: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270" lvl="0" marL="247015" marR="23939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Each of neighboring pixels are at Euclidean </a:t>
            </a:r>
            <a:r>
              <a:rPr lang="en-US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distance of 1.414</a:t>
            </a:r>
            <a:r>
              <a:rPr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u="none">
                <a:latin typeface="Calibri"/>
                <a:ea typeface="Calibri"/>
                <a:cs typeface="Calibri"/>
                <a:sym typeface="Calibri"/>
              </a:rPr>
              <a:t>from 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363" y="3200400"/>
            <a:ext cx="2201874" cy="219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" name="Google Shape;132;p11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3" name="Google Shape;133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5" name="Google Shape;135;p11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/>
        </p:nvSpPr>
        <p:spPr>
          <a:xfrm>
            <a:off x="205750" y="1091200"/>
            <a:ext cx="11764200" cy="4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="1" baseline="-25000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 : 8-Neighbors of	Pixel P are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points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(P) and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(P) are together	(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7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 </a:t>
            </a:r>
            <a:r>
              <a:rPr lang="en-US" sz="2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7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(P)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known as 8-neighbors of	the point P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denoted by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(P)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1" marL="119253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 vertical </a:t>
            </a:r>
            <a:r>
              <a:rPr b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neighbors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1" marL="119253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 horizontal </a:t>
            </a:r>
            <a:r>
              <a:rPr b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neighbors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1" marL="1192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 diagonal </a:t>
            </a:r>
            <a:r>
              <a:rPr b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neighbors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Boundary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93750" marR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Some of	the points in the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D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N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8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may fall outside image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when P lies on the 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border of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0925" y="2507975"/>
            <a:ext cx="2547025" cy="27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Neighbors of	a Pixel</a:t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" name="Google Shape;144;p12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5" name="Google Shape;145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7" name="Google Shape;147;p12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Neighbors of	 a Pixel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564815" y="987580"/>
            <a:ext cx="7185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4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- 4-neighbors (</a:t>
            </a:r>
            <a:r>
              <a:rPr i="1" lang="en-US" sz="3200" u="sng">
                <a:latin typeface="Bell MT"/>
                <a:ea typeface="Bell MT"/>
                <a:cs typeface="Bell MT"/>
                <a:sym typeface="Bell MT"/>
              </a:rPr>
              <a:t>2 Horizontal, 2 Vertical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diagonal neighbors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8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- 8-neighbors (N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4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 N</a:t>
            </a:r>
            <a:r>
              <a:rPr baseline="-25000" lang="en-US" sz="315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54" name="Google Shape;154;p13"/>
          <p:cNvGraphicFramePr/>
          <p:nvPr/>
        </p:nvGraphicFramePr>
        <p:xfrm>
          <a:off x="1822450" y="3270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{DC964399-3D12-4AA0-8739-A30B523BE5CA}</a:tableStyleId>
              </a:tblPr>
              <a:tblGrid>
                <a:gridCol w="1879600"/>
                <a:gridCol w="1879600"/>
                <a:gridCol w="1879600"/>
              </a:tblGrid>
              <a:tr h="88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3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baseline="-25000" lang="en-US" sz="3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baseline="-25000" sz="3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8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13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7" name="Google Shape;157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9" name="Google Shape;159;p13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Adjacency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205750" y="1111475"/>
            <a:ext cx="11782200" cy="3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Property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Two pixels are connected if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they are neighbors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and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9055" rtl="0" algn="l">
              <a:lnSpc>
                <a:spcPct val="107857"/>
              </a:lnSpc>
              <a:spcBef>
                <a:spcPts val="6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their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gray levels satisfy some specified criterion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similarity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380365" rtl="0" algn="l">
              <a:lnSpc>
                <a:spcPct val="108124"/>
              </a:lnSpc>
              <a:spcBef>
                <a:spcPts val="49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Example: in a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binary image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two pixels are connected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they are 4-neighbors and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have same value (0/1)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7" name="Google Shape;167;p14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68" name="Google Shape;168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0" name="Google Shape;170;p14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Adjacency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535954" y="907800"/>
            <a:ext cx="10999500" cy="4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Various types of adjacency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4-adjacency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8-adjacency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m-adjacency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28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To understand adjacency let us define V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10299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Let 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be set of 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gray levels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used to define adjacency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641498" y="5388850"/>
            <a:ext cx="4788407" cy="1045463"/>
            <a:chOff x="2136648" y="5448300"/>
            <a:chExt cx="4788407" cy="1045463"/>
          </a:xfrm>
        </p:grpSpPr>
        <p:pic>
          <p:nvPicPr>
            <p:cNvPr id="178" name="Google Shape;1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956" y="5535168"/>
              <a:ext cx="4475987" cy="740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6648" y="5448300"/>
              <a:ext cx="4788407" cy="1045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2200" y="5562600"/>
              <a:ext cx="4381500" cy="646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5"/>
          <p:cNvSpPr txBox="1"/>
          <p:nvPr/>
        </p:nvSpPr>
        <p:spPr>
          <a:xfrm>
            <a:off x="3844950" y="5535450"/>
            <a:ext cx="4381500" cy="570900"/>
          </a:xfrm>
          <a:prstGeom prst="rect">
            <a:avLst/>
          </a:prstGeom>
          <a:noFill/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V = {set of </a:t>
            </a:r>
            <a:r>
              <a:rPr lang="en-US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gray levels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" name="Google Shape;183;p15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84" name="Google Shape;184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6" name="Google Shape;186;p15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Adjacency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33650" y="1273975"/>
            <a:ext cx="11924700" cy="4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4-adjacency: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79780" marR="137160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Two pixels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p and q with values from V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 are 4-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adjacent if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is in the set N</a:t>
            </a:r>
            <a:r>
              <a:rPr baseline="-25000" lang="en-US" sz="2775" u="none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p)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8-adjacency: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79780" marR="137160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Two pixels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p and q with values from V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 are 8-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adjacent if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is in the set N</a:t>
            </a:r>
            <a:r>
              <a:rPr baseline="-25000" lang="en-US" sz="2775" u="none"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p)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m-adjacency (mixed adjacency):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14107"/>
              </a:lnSpc>
              <a:spcBef>
                <a:spcPts val="3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Two pixels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p and q with values from V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 are m-adjacent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7983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is in N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or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8" lvl="2" marL="1179195" marR="30480" rtl="0" algn="l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is in N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 and the set [N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400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q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)] is empty (has no pixels with values from V)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1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95" name="Google Shape;195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7" name="Google Shape;197;p16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</a:t>
            </a:r>
            <a:endParaRPr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820" y="1854707"/>
            <a:ext cx="675131" cy="6797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17"/>
          <p:cNvGraphicFramePr/>
          <p:nvPr/>
        </p:nvGraphicFramePr>
        <p:xfrm>
          <a:off x="984250" y="3346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{DC964399-3D12-4AA0-8739-A30B523BE5CA}</a:tableStyleId>
              </a:tblPr>
              <a:tblGrid>
                <a:gridCol w="670550"/>
                <a:gridCol w="670550"/>
                <a:gridCol w="670550"/>
                <a:gridCol w="670550"/>
                <a:gridCol w="67055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o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7"/>
          <p:cNvSpPr txBox="1"/>
          <p:nvPr/>
        </p:nvSpPr>
        <p:spPr>
          <a:xfrm>
            <a:off x="345454" y="931100"/>
            <a:ext cx="11579100" cy="3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m-adjacency (mixed adjacency):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Two pixels </a:t>
            </a:r>
            <a:r>
              <a:rPr i="1" lang="en-US" sz="2600" u="sng">
                <a:latin typeface="Bell MT"/>
                <a:ea typeface="Bell MT"/>
                <a:cs typeface="Bell MT"/>
                <a:sym typeface="Bell MT"/>
              </a:rPr>
              <a:t>p &amp; q with values from V 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are m-adjacent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if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9316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is in N</a:t>
            </a:r>
            <a:r>
              <a:rPr baseline="-25000" lang="en-US" sz="2175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or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9235" lvl="2" marL="1193800" marR="43180" rtl="0" algn="l">
              <a:lnSpc>
                <a:spcPct val="108181"/>
              </a:lnSpc>
              <a:spcBef>
                <a:spcPts val="58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is in N</a:t>
            </a:r>
            <a:r>
              <a:rPr baseline="-25000" lang="en-US" sz="2175"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) and the set [N</a:t>
            </a:r>
            <a:r>
              <a:rPr baseline="-25000" lang="en-US" sz="2175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175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latin typeface="Bell MT"/>
                <a:ea typeface="Bell MT"/>
                <a:cs typeface="Bell MT"/>
                <a:sym typeface="Bell MT"/>
              </a:rPr>
              <a:t>q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)] is empty (has no pixels whose values are from V) 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[yellow circles should not have anything common]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0" rtl="0" algn="l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: neighbor of p: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-25000" lang="en-US" sz="2775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: neighbor of q: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-25000" lang="en-US" sz="2775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2362961" y="4039361"/>
            <a:ext cx="609600" cy="533400"/>
          </a:xfrm>
          <a:custGeom>
            <a:rect b="b" l="l" r="r" t="t"/>
            <a:pathLst>
              <a:path extrusionOk="0" h="533400" w="609600">
                <a:moveTo>
                  <a:pt x="0" y="266700"/>
                </a:moveTo>
                <a:lnTo>
                  <a:pt x="3989" y="223439"/>
                </a:lnTo>
                <a:lnTo>
                  <a:pt x="15538" y="182402"/>
                </a:lnTo>
                <a:lnTo>
                  <a:pt x="34020" y="144135"/>
                </a:lnTo>
                <a:lnTo>
                  <a:pt x="58808" y="109190"/>
                </a:lnTo>
                <a:lnTo>
                  <a:pt x="89273" y="78114"/>
                </a:lnTo>
                <a:lnTo>
                  <a:pt x="124788" y="51457"/>
                </a:lnTo>
                <a:lnTo>
                  <a:pt x="164725" y="29768"/>
                </a:lnTo>
                <a:lnTo>
                  <a:pt x="208458" y="13596"/>
                </a:lnTo>
                <a:lnTo>
                  <a:pt x="255359" y="3490"/>
                </a:lnTo>
                <a:lnTo>
                  <a:pt x="304800" y="0"/>
                </a:lnTo>
                <a:lnTo>
                  <a:pt x="354240" y="3490"/>
                </a:lnTo>
                <a:lnTo>
                  <a:pt x="401141" y="13596"/>
                </a:lnTo>
                <a:lnTo>
                  <a:pt x="444874" y="29768"/>
                </a:lnTo>
                <a:lnTo>
                  <a:pt x="484811" y="51457"/>
                </a:lnTo>
                <a:lnTo>
                  <a:pt x="520326" y="78114"/>
                </a:lnTo>
                <a:lnTo>
                  <a:pt x="550791" y="109190"/>
                </a:lnTo>
                <a:lnTo>
                  <a:pt x="575579" y="144135"/>
                </a:lnTo>
                <a:lnTo>
                  <a:pt x="594061" y="182402"/>
                </a:lnTo>
                <a:lnTo>
                  <a:pt x="605610" y="223439"/>
                </a:lnTo>
                <a:lnTo>
                  <a:pt x="609600" y="266700"/>
                </a:lnTo>
                <a:lnTo>
                  <a:pt x="605610" y="309960"/>
                </a:lnTo>
                <a:lnTo>
                  <a:pt x="594061" y="350997"/>
                </a:lnTo>
                <a:lnTo>
                  <a:pt x="575579" y="389264"/>
                </a:lnTo>
                <a:lnTo>
                  <a:pt x="550791" y="424209"/>
                </a:lnTo>
                <a:lnTo>
                  <a:pt x="520326" y="455285"/>
                </a:lnTo>
                <a:lnTo>
                  <a:pt x="484811" y="481942"/>
                </a:lnTo>
                <a:lnTo>
                  <a:pt x="444874" y="503631"/>
                </a:lnTo>
                <a:lnTo>
                  <a:pt x="401141" y="519803"/>
                </a:lnTo>
                <a:lnTo>
                  <a:pt x="354240" y="529909"/>
                </a:lnTo>
                <a:lnTo>
                  <a:pt x="304800" y="533400"/>
                </a:lnTo>
                <a:lnTo>
                  <a:pt x="255359" y="529909"/>
                </a:lnTo>
                <a:lnTo>
                  <a:pt x="208458" y="519803"/>
                </a:lnTo>
                <a:lnTo>
                  <a:pt x="164725" y="503631"/>
                </a:lnTo>
                <a:lnTo>
                  <a:pt x="124788" y="481942"/>
                </a:lnTo>
                <a:lnTo>
                  <a:pt x="89273" y="455285"/>
                </a:lnTo>
                <a:lnTo>
                  <a:pt x="58808" y="424209"/>
                </a:lnTo>
                <a:lnTo>
                  <a:pt x="34020" y="389264"/>
                </a:lnTo>
                <a:lnTo>
                  <a:pt x="15538" y="350997"/>
                </a:lnTo>
                <a:lnTo>
                  <a:pt x="3989" y="309960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" name="Google Shape;207;p17"/>
          <p:cNvSpPr/>
          <p:nvPr/>
        </p:nvSpPr>
        <p:spPr>
          <a:xfrm>
            <a:off x="3048761" y="4648961"/>
            <a:ext cx="609600" cy="533400"/>
          </a:xfrm>
          <a:custGeom>
            <a:rect b="b" l="l" r="r" t="t"/>
            <a:pathLst>
              <a:path extrusionOk="0" h="533400" w="609600">
                <a:moveTo>
                  <a:pt x="0" y="266700"/>
                </a:moveTo>
                <a:lnTo>
                  <a:pt x="3989" y="223439"/>
                </a:lnTo>
                <a:lnTo>
                  <a:pt x="15538" y="182402"/>
                </a:lnTo>
                <a:lnTo>
                  <a:pt x="34020" y="144135"/>
                </a:lnTo>
                <a:lnTo>
                  <a:pt x="58808" y="109190"/>
                </a:lnTo>
                <a:lnTo>
                  <a:pt x="89273" y="78114"/>
                </a:lnTo>
                <a:lnTo>
                  <a:pt x="124788" y="51457"/>
                </a:lnTo>
                <a:lnTo>
                  <a:pt x="164725" y="29768"/>
                </a:lnTo>
                <a:lnTo>
                  <a:pt x="208458" y="13596"/>
                </a:lnTo>
                <a:lnTo>
                  <a:pt x="255359" y="3490"/>
                </a:lnTo>
                <a:lnTo>
                  <a:pt x="304800" y="0"/>
                </a:lnTo>
                <a:lnTo>
                  <a:pt x="354240" y="3490"/>
                </a:lnTo>
                <a:lnTo>
                  <a:pt x="401141" y="13596"/>
                </a:lnTo>
                <a:lnTo>
                  <a:pt x="444874" y="29768"/>
                </a:lnTo>
                <a:lnTo>
                  <a:pt x="484811" y="51457"/>
                </a:lnTo>
                <a:lnTo>
                  <a:pt x="520326" y="78114"/>
                </a:lnTo>
                <a:lnTo>
                  <a:pt x="550791" y="109190"/>
                </a:lnTo>
                <a:lnTo>
                  <a:pt x="575579" y="144135"/>
                </a:lnTo>
                <a:lnTo>
                  <a:pt x="594061" y="182402"/>
                </a:lnTo>
                <a:lnTo>
                  <a:pt x="605610" y="223439"/>
                </a:lnTo>
                <a:lnTo>
                  <a:pt x="609600" y="266700"/>
                </a:lnTo>
                <a:lnTo>
                  <a:pt x="605610" y="309960"/>
                </a:lnTo>
                <a:lnTo>
                  <a:pt x="594061" y="350997"/>
                </a:lnTo>
                <a:lnTo>
                  <a:pt x="575579" y="389264"/>
                </a:lnTo>
                <a:lnTo>
                  <a:pt x="550791" y="424209"/>
                </a:lnTo>
                <a:lnTo>
                  <a:pt x="520326" y="455285"/>
                </a:lnTo>
                <a:lnTo>
                  <a:pt x="484811" y="481942"/>
                </a:lnTo>
                <a:lnTo>
                  <a:pt x="444874" y="503631"/>
                </a:lnTo>
                <a:lnTo>
                  <a:pt x="401141" y="519803"/>
                </a:lnTo>
                <a:lnTo>
                  <a:pt x="354240" y="529909"/>
                </a:lnTo>
                <a:lnTo>
                  <a:pt x="304800" y="533400"/>
                </a:lnTo>
                <a:lnTo>
                  <a:pt x="255359" y="529909"/>
                </a:lnTo>
                <a:lnTo>
                  <a:pt x="208458" y="519803"/>
                </a:lnTo>
                <a:lnTo>
                  <a:pt x="164725" y="503631"/>
                </a:lnTo>
                <a:lnTo>
                  <a:pt x="124788" y="481942"/>
                </a:lnTo>
                <a:lnTo>
                  <a:pt x="89273" y="455285"/>
                </a:lnTo>
                <a:lnTo>
                  <a:pt x="58808" y="424209"/>
                </a:lnTo>
                <a:lnTo>
                  <a:pt x="34020" y="389264"/>
                </a:lnTo>
                <a:lnTo>
                  <a:pt x="15538" y="350997"/>
                </a:lnTo>
                <a:lnTo>
                  <a:pt x="3989" y="309960"/>
                </a:lnTo>
                <a:lnTo>
                  <a:pt x="0" y="266700"/>
                </a:lnTo>
                <a:close/>
              </a:path>
            </a:pathLst>
          </a:cu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" name="Google Shape;208;p17"/>
          <p:cNvSpPr txBox="1"/>
          <p:nvPr/>
        </p:nvSpPr>
        <p:spPr>
          <a:xfrm>
            <a:off x="5547086" y="4474424"/>
            <a:ext cx="3810000" cy="16926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-284480" lvl="0" marL="374650" marR="363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m-adjacency is modification of 8- adjacency.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374650" marR="133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It is used to remove the ambiguities of 8-adjacency.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374650" marR="37401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can be used to define single path between pixels.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17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3" name="Google Shape;213;p17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Connectivity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205750" y="1189163"/>
            <a:ext cx="6683400" cy="4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C000"/>
                </a:solidFill>
                <a:latin typeface="Bell MT"/>
                <a:ea typeface="Bell MT"/>
                <a:cs typeface="Bell MT"/>
                <a:sym typeface="Bell MT"/>
              </a:rPr>
              <a:t>Assume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94385" marR="164465" rtl="0" algn="l">
              <a:lnSpc>
                <a:spcPct val="115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V be the set of	gray-level values used to define connectivity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93065" marR="55880" rtl="0" algn="l">
              <a:lnSpc>
                <a:spcPct val="115000"/>
              </a:lnSpc>
              <a:spcBef>
                <a:spcPts val="71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Two pixels </a:t>
            </a:r>
            <a:r>
              <a:rPr i="1"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that have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values from the set V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are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3750" marR="55880" rtl="0" algn="l">
              <a:lnSpc>
                <a:spcPct val="115000"/>
              </a:lnSpc>
              <a:spcBef>
                <a:spcPts val="6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4-connected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, if 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is in the set N</a:t>
            </a:r>
            <a:r>
              <a:rPr baseline="-25000" lang="en-US" sz="2550" u="none"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3750" marR="55880" rtl="0" algn="l">
              <a:lnSpc>
                <a:spcPct val="115000"/>
              </a:lnSpc>
              <a:spcBef>
                <a:spcPts val="62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8-connected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, if 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is in the set N</a:t>
            </a:r>
            <a:r>
              <a:rPr baseline="-25000" lang="en-US" sz="2550" u="none">
                <a:latin typeface="Bell MT"/>
                <a:ea typeface="Bell MT"/>
                <a:cs typeface="Bell MT"/>
                <a:sym typeface="Bell MT"/>
              </a:rPr>
              <a:t>8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m-connected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iff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93165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in N4(</a:t>
            </a: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or</a:t>
            </a:r>
            <a:endParaRPr sz="22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93165" rtl="0" algn="l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in N</a:t>
            </a:r>
            <a:r>
              <a:rPr baseline="-25000" lang="en-US" sz="21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and the set N</a:t>
            </a:r>
            <a:r>
              <a:rPr baseline="-25000" lang="en-US" sz="21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2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1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q</a:t>
            </a:r>
            <a:r>
              <a:rPr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 is empty</a:t>
            </a:r>
            <a:endParaRPr sz="22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0" name="Google Shape;220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2" name="Google Shape;222;p18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1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" name="Google Shape;224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18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7321200" y="1010388"/>
            <a:ext cx="2726575" cy="5238774"/>
            <a:chOff x="5568600" y="1010388"/>
            <a:chExt cx="2726575" cy="5238774"/>
          </a:xfrm>
        </p:grpSpPr>
        <p:grpSp>
          <p:nvGrpSpPr>
            <p:cNvPr id="227" name="Google Shape;227;p18"/>
            <p:cNvGrpSpPr/>
            <p:nvPr/>
          </p:nvGrpSpPr>
          <p:grpSpPr>
            <a:xfrm>
              <a:off x="6261353" y="1524761"/>
              <a:ext cx="1524000" cy="1447800"/>
              <a:chOff x="6261353" y="1524761"/>
              <a:chExt cx="1524000" cy="1447800"/>
            </a:xfrm>
          </p:grpSpPr>
          <p:sp>
            <p:nvSpPr>
              <p:cNvPr id="228" name="Google Shape;228;p18"/>
              <p:cNvSpPr/>
              <p:nvPr/>
            </p:nvSpPr>
            <p:spPr>
              <a:xfrm>
                <a:off x="6261353" y="1524761"/>
                <a:ext cx="1524000" cy="1447800"/>
              </a:xfrm>
              <a:custGeom>
                <a:rect b="b" l="l" r="r" t="t"/>
                <a:pathLst>
                  <a:path extrusionOk="0" h="14478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447800"/>
                    </a:lnTo>
                    <a:lnTo>
                      <a:pt x="0" y="14478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6319265" y="1593341"/>
                <a:ext cx="281940" cy="277494"/>
              </a:xfrm>
              <a:custGeom>
                <a:rect b="b" l="l" r="r" t="t"/>
                <a:pathLst>
                  <a:path extrusionOk="0" h="277494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7396733" y="1593341"/>
                <a:ext cx="283845" cy="277494"/>
              </a:xfrm>
              <a:custGeom>
                <a:rect b="b" l="l" r="r" t="t"/>
                <a:pathLst>
                  <a:path extrusionOk="0" h="277494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6857237" y="1593341"/>
                <a:ext cx="283845" cy="277494"/>
              </a:xfrm>
              <a:custGeom>
                <a:rect b="b" l="l" r="r" t="t"/>
                <a:pathLst>
                  <a:path extrusionOk="0" h="277494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6319265" y="2109977"/>
                <a:ext cx="281940" cy="277494"/>
              </a:xfrm>
              <a:custGeom>
                <a:rect b="b" l="l" r="r" t="t"/>
                <a:pathLst>
                  <a:path extrusionOk="0" h="277494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6319265" y="2626613"/>
                <a:ext cx="281940" cy="277494"/>
              </a:xfrm>
              <a:custGeom>
                <a:rect b="b" l="l" r="r" t="t"/>
                <a:pathLst>
                  <a:path extrusionOk="0" h="277494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6864857" y="2109977"/>
                <a:ext cx="283845" cy="277494"/>
              </a:xfrm>
              <a:custGeom>
                <a:rect b="b" l="l" r="r" t="t"/>
                <a:pathLst>
                  <a:path extrusionOk="0" h="277494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7396733" y="2128265"/>
                <a:ext cx="283845" cy="277494"/>
              </a:xfrm>
              <a:custGeom>
                <a:rect b="b" l="l" r="r" t="t"/>
                <a:pathLst>
                  <a:path extrusionOk="0" h="277494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" name="Google Shape;236;p18"/>
            <p:cNvSpPr txBox="1"/>
            <p:nvPr/>
          </p:nvSpPr>
          <p:spPr>
            <a:xfrm>
              <a:off x="7473500" y="2083766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33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7" name="Google Shape;237;p18"/>
            <p:cNvGrpSpPr/>
            <p:nvPr/>
          </p:nvGrpSpPr>
          <p:grpSpPr>
            <a:xfrm>
              <a:off x="6883145" y="1732026"/>
              <a:ext cx="797433" cy="1176654"/>
              <a:chOff x="6883145" y="1732026"/>
              <a:chExt cx="797433" cy="1176654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6883145" y="2626614"/>
                <a:ext cx="281940" cy="277494"/>
              </a:xfrm>
              <a:custGeom>
                <a:rect b="b" l="l" r="r" t="t"/>
                <a:pathLst>
                  <a:path extrusionOk="0" h="277494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7396733" y="2631186"/>
                <a:ext cx="283845" cy="277494"/>
              </a:xfrm>
              <a:custGeom>
                <a:rect b="b" l="l" r="r" t="t"/>
                <a:pathLst>
                  <a:path extrusionOk="0" h="277494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998968" y="1870703"/>
                <a:ext cx="7620" cy="240030"/>
              </a:xfrm>
              <a:custGeom>
                <a:rect b="b" l="l" r="r" t="t"/>
                <a:pathLst>
                  <a:path extrusionOk="0" h="240030" w="7620">
                    <a:moveTo>
                      <a:pt x="7404" y="239585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140701" y="1732026"/>
                <a:ext cx="257809" cy="0"/>
              </a:xfrm>
              <a:custGeom>
                <a:rect b="b" l="l" r="r" t="t"/>
                <a:pathLst>
                  <a:path extrusionOk="0" h="120000" w="257809">
                    <a:moveTo>
                      <a:pt x="0" y="0"/>
                    </a:moveTo>
                    <a:lnTo>
                      <a:pt x="257238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18"/>
            <p:cNvGrpSpPr/>
            <p:nvPr/>
          </p:nvGrpSpPr>
          <p:grpSpPr>
            <a:xfrm>
              <a:off x="6278117" y="3150870"/>
              <a:ext cx="1524000" cy="1447800"/>
              <a:chOff x="6278117" y="3150870"/>
              <a:chExt cx="1524000" cy="1447800"/>
            </a:xfrm>
          </p:grpSpPr>
          <p:sp>
            <p:nvSpPr>
              <p:cNvPr id="243" name="Google Shape;243;p18"/>
              <p:cNvSpPr/>
              <p:nvPr/>
            </p:nvSpPr>
            <p:spPr>
              <a:xfrm>
                <a:off x="6278117" y="3150870"/>
                <a:ext cx="1524000" cy="1447800"/>
              </a:xfrm>
              <a:custGeom>
                <a:rect b="b" l="l" r="r" t="t"/>
                <a:pathLst>
                  <a:path extrusionOk="0" h="1447800" w="1524000">
                    <a:moveTo>
                      <a:pt x="0" y="0"/>
                    </a:moveTo>
                    <a:lnTo>
                      <a:pt x="1523999" y="0"/>
                    </a:lnTo>
                    <a:lnTo>
                      <a:pt x="1523999" y="1447800"/>
                    </a:lnTo>
                    <a:lnTo>
                      <a:pt x="0" y="14478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6334505" y="3217926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8"/>
              <p:cNvSpPr/>
              <p:nvPr/>
            </p:nvSpPr>
            <p:spPr>
              <a:xfrm>
                <a:off x="7413497" y="3217926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6874001" y="3217926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6334505" y="3736086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6334505" y="4252722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6880097" y="3736086"/>
                <a:ext cx="283845" cy="277495"/>
              </a:xfrm>
              <a:custGeom>
                <a:rect b="b" l="l" r="r" t="t"/>
                <a:pathLst>
                  <a:path extrusionOk="0" h="277495" w="283845">
                    <a:moveTo>
                      <a:pt x="0" y="138683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3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7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7413497" y="3752850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18"/>
            <p:cNvSpPr txBox="1"/>
            <p:nvPr/>
          </p:nvSpPr>
          <p:spPr>
            <a:xfrm>
              <a:off x="7488970" y="3709262"/>
              <a:ext cx="14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270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2" name="Google Shape;252;p18"/>
            <p:cNvGrpSpPr/>
            <p:nvPr/>
          </p:nvGrpSpPr>
          <p:grpSpPr>
            <a:xfrm>
              <a:off x="6278117" y="4801361"/>
              <a:ext cx="1524000" cy="1447800"/>
              <a:chOff x="6278117" y="4801361"/>
              <a:chExt cx="1524000" cy="1447800"/>
            </a:xfrm>
          </p:grpSpPr>
          <p:sp>
            <p:nvSpPr>
              <p:cNvPr id="253" name="Google Shape;253;p18"/>
              <p:cNvSpPr/>
              <p:nvPr/>
            </p:nvSpPr>
            <p:spPr>
              <a:xfrm>
                <a:off x="6278117" y="4801361"/>
                <a:ext cx="1524000" cy="1447800"/>
              </a:xfrm>
              <a:custGeom>
                <a:rect b="b" l="l" r="r" t="t"/>
                <a:pathLst>
                  <a:path extrusionOk="0" h="1447800" w="1524000">
                    <a:moveTo>
                      <a:pt x="0" y="0"/>
                    </a:moveTo>
                    <a:lnTo>
                      <a:pt x="1523999" y="0"/>
                    </a:lnTo>
                    <a:lnTo>
                      <a:pt x="1523999" y="1447800"/>
                    </a:lnTo>
                    <a:lnTo>
                      <a:pt x="0" y="14478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6334505" y="4869941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7413497" y="4869941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6874001" y="4869941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6334505" y="5386577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6334505" y="5903213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6880097" y="5386577"/>
                <a:ext cx="283845" cy="277495"/>
              </a:xfrm>
              <a:custGeom>
                <a:rect b="b" l="l" r="r" t="t"/>
                <a:pathLst>
                  <a:path extrusionOk="0" h="277495" w="283845">
                    <a:moveTo>
                      <a:pt x="0" y="138684"/>
                    </a:moveTo>
                    <a:lnTo>
                      <a:pt x="7226" y="94848"/>
                    </a:lnTo>
                    <a:lnTo>
                      <a:pt x="27347" y="56778"/>
                    </a:lnTo>
                    <a:lnTo>
                      <a:pt x="58029" y="26757"/>
                    </a:lnTo>
                    <a:lnTo>
                      <a:pt x="96936" y="7070"/>
                    </a:lnTo>
                    <a:lnTo>
                      <a:pt x="141732" y="0"/>
                    </a:lnTo>
                    <a:lnTo>
                      <a:pt x="186527" y="7070"/>
                    </a:lnTo>
                    <a:lnTo>
                      <a:pt x="225434" y="26757"/>
                    </a:lnTo>
                    <a:lnTo>
                      <a:pt x="256116" y="56778"/>
                    </a:lnTo>
                    <a:lnTo>
                      <a:pt x="276237" y="94848"/>
                    </a:lnTo>
                    <a:lnTo>
                      <a:pt x="283464" y="138684"/>
                    </a:lnTo>
                    <a:lnTo>
                      <a:pt x="276237" y="182519"/>
                    </a:lnTo>
                    <a:lnTo>
                      <a:pt x="256116" y="220589"/>
                    </a:lnTo>
                    <a:lnTo>
                      <a:pt x="225434" y="250610"/>
                    </a:lnTo>
                    <a:lnTo>
                      <a:pt x="186527" y="270297"/>
                    </a:lnTo>
                    <a:lnTo>
                      <a:pt x="141732" y="277368"/>
                    </a:lnTo>
                    <a:lnTo>
                      <a:pt x="96936" y="270297"/>
                    </a:lnTo>
                    <a:lnTo>
                      <a:pt x="58029" y="250610"/>
                    </a:lnTo>
                    <a:lnTo>
                      <a:pt x="27347" y="220589"/>
                    </a:lnTo>
                    <a:lnTo>
                      <a:pt x="7226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7413497" y="5404865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18"/>
            <p:cNvGrpSpPr/>
            <p:nvPr/>
          </p:nvGrpSpPr>
          <p:grpSpPr>
            <a:xfrm>
              <a:off x="6898385" y="3356609"/>
              <a:ext cx="797052" cy="1176655"/>
              <a:chOff x="6898385" y="3356609"/>
              <a:chExt cx="797052" cy="1176655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6898385" y="4252721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7413497" y="4255769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7014208" y="3495287"/>
                <a:ext cx="7620" cy="240029"/>
              </a:xfrm>
              <a:custGeom>
                <a:rect b="b" l="l" r="r" t="t"/>
                <a:pathLst>
                  <a:path extrusionOk="0" h="240029" w="7620">
                    <a:moveTo>
                      <a:pt x="7404" y="239585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7155941" y="3356609"/>
                <a:ext cx="257809" cy="0"/>
              </a:xfrm>
              <a:custGeom>
                <a:rect b="b" l="l" r="r" t="t"/>
                <a:pathLst>
                  <a:path extrusionOk="0" h="120000" w="257809">
                    <a:moveTo>
                      <a:pt x="0" y="0"/>
                    </a:moveTo>
                    <a:lnTo>
                      <a:pt x="257238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7122413" y="3455672"/>
                <a:ext cx="332740" cy="321310"/>
              </a:xfrm>
              <a:custGeom>
                <a:rect b="b" l="l" r="r" t="t"/>
                <a:pathLst>
                  <a:path extrusionOk="0" h="321310" w="332740">
                    <a:moveTo>
                      <a:pt x="0" y="320852"/>
                    </a:moveTo>
                    <a:lnTo>
                      <a:pt x="332498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7122413" y="3972305"/>
                <a:ext cx="332740" cy="325120"/>
              </a:xfrm>
              <a:custGeom>
                <a:rect b="b" l="l" r="r" t="t"/>
                <a:pathLst>
                  <a:path extrusionOk="0" h="325120" w="332740">
                    <a:moveTo>
                      <a:pt x="0" y="0"/>
                    </a:moveTo>
                    <a:lnTo>
                      <a:pt x="332498" y="32465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8"/>
            <p:cNvSpPr txBox="1"/>
            <p:nvPr/>
          </p:nvSpPr>
          <p:spPr>
            <a:xfrm>
              <a:off x="7488970" y="5360366"/>
              <a:ext cx="1422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270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" name="Google Shape;269;p18"/>
            <p:cNvGrpSpPr/>
            <p:nvPr/>
          </p:nvGrpSpPr>
          <p:grpSpPr>
            <a:xfrm>
              <a:off x="6898385" y="5008626"/>
              <a:ext cx="797052" cy="1176655"/>
              <a:chOff x="6898385" y="5008626"/>
              <a:chExt cx="797052" cy="1176655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6898385" y="5903214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4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4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8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4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7413497" y="5907786"/>
                <a:ext cx="281940" cy="277495"/>
              </a:xfrm>
              <a:custGeom>
                <a:rect b="b" l="l" r="r" t="t"/>
                <a:pathLst>
                  <a:path extrusionOk="0" h="277495" w="281940">
                    <a:moveTo>
                      <a:pt x="0" y="138683"/>
                    </a:moveTo>
                    <a:lnTo>
                      <a:pt x="7187" y="94848"/>
                    </a:lnTo>
                    <a:lnTo>
                      <a:pt x="27200" y="56778"/>
                    </a:lnTo>
                    <a:lnTo>
                      <a:pt x="57716" y="26757"/>
                    </a:lnTo>
                    <a:lnTo>
                      <a:pt x="96414" y="7070"/>
                    </a:lnTo>
                    <a:lnTo>
                      <a:pt x="140970" y="0"/>
                    </a:lnTo>
                    <a:lnTo>
                      <a:pt x="185525" y="7070"/>
                    </a:lnTo>
                    <a:lnTo>
                      <a:pt x="224223" y="26757"/>
                    </a:lnTo>
                    <a:lnTo>
                      <a:pt x="254739" y="56778"/>
                    </a:lnTo>
                    <a:lnTo>
                      <a:pt x="274752" y="94848"/>
                    </a:lnTo>
                    <a:lnTo>
                      <a:pt x="281940" y="138683"/>
                    </a:lnTo>
                    <a:lnTo>
                      <a:pt x="274752" y="182519"/>
                    </a:lnTo>
                    <a:lnTo>
                      <a:pt x="254739" y="220589"/>
                    </a:lnTo>
                    <a:lnTo>
                      <a:pt x="224223" y="250610"/>
                    </a:lnTo>
                    <a:lnTo>
                      <a:pt x="185525" y="270297"/>
                    </a:lnTo>
                    <a:lnTo>
                      <a:pt x="140970" y="277367"/>
                    </a:lnTo>
                    <a:lnTo>
                      <a:pt x="96414" y="270297"/>
                    </a:lnTo>
                    <a:lnTo>
                      <a:pt x="57716" y="250610"/>
                    </a:lnTo>
                    <a:lnTo>
                      <a:pt x="27200" y="220589"/>
                    </a:lnTo>
                    <a:lnTo>
                      <a:pt x="7187" y="182519"/>
                    </a:lnTo>
                    <a:lnTo>
                      <a:pt x="0" y="138683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7014208" y="5147316"/>
                <a:ext cx="7620" cy="240029"/>
              </a:xfrm>
              <a:custGeom>
                <a:rect b="b" l="l" r="r" t="t"/>
                <a:pathLst>
                  <a:path extrusionOk="0" h="240029" w="7620">
                    <a:moveTo>
                      <a:pt x="7404" y="239572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7155941" y="5008626"/>
                <a:ext cx="257809" cy="0"/>
              </a:xfrm>
              <a:custGeom>
                <a:rect b="b" l="l" r="r" t="t"/>
                <a:pathLst>
                  <a:path extrusionOk="0" h="120000" w="257809">
                    <a:moveTo>
                      <a:pt x="0" y="0"/>
                    </a:moveTo>
                    <a:lnTo>
                      <a:pt x="257238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7122413" y="5622798"/>
                <a:ext cx="332740" cy="325120"/>
              </a:xfrm>
              <a:custGeom>
                <a:rect b="b" l="l" r="r" t="t"/>
                <a:pathLst>
                  <a:path extrusionOk="0" h="325120" w="332740">
                    <a:moveTo>
                      <a:pt x="0" y="0"/>
                    </a:moveTo>
                    <a:lnTo>
                      <a:pt x="332498" y="32465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18"/>
            <p:cNvSpPr txBox="1"/>
            <p:nvPr/>
          </p:nvSpPr>
          <p:spPr>
            <a:xfrm>
              <a:off x="5785075" y="1010388"/>
              <a:ext cx="25101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2700">
              <a:noAutofit/>
            </a:bodyPr>
            <a:lstStyle/>
            <a:p>
              <a:pPr indent="0" lvl="0" marL="12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𝑽 = {𝟏, 𝟐}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5676600" y="2050930"/>
              <a:ext cx="3951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3325">
              <a:noAutofit/>
            </a:bodyPr>
            <a:lstStyle/>
            <a:p>
              <a:pPr indent="0" lvl="0" marL="12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(𝒂)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5733637" y="5327530"/>
              <a:ext cx="3645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2700">
              <a:noAutofit/>
            </a:bodyPr>
            <a:lstStyle/>
            <a:p>
              <a:pPr indent="0" lvl="0" marL="12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(𝒄)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 txBox="1"/>
            <p:nvPr/>
          </p:nvSpPr>
          <p:spPr>
            <a:xfrm>
              <a:off x="5568600" y="3784300"/>
              <a:ext cx="3951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13325">
              <a:noAutofit/>
            </a:bodyPr>
            <a:lstStyle/>
            <a:p>
              <a:pPr indent="0" lvl="0" marL="1270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(b)</a:t>
              </a:r>
              <a:endParaRPr b="1"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Adjacency / Connectivity</a:t>
            </a:r>
            <a:endParaRPr/>
          </a:p>
        </p:txBody>
      </p:sp>
      <p:grpSp>
        <p:nvGrpSpPr>
          <p:cNvPr id="284" name="Google Shape;284;p19"/>
          <p:cNvGrpSpPr/>
          <p:nvPr/>
        </p:nvGrpSpPr>
        <p:grpSpPr>
          <a:xfrm>
            <a:off x="4648189" y="1689263"/>
            <a:ext cx="2895600" cy="4270249"/>
            <a:chOff x="2929889" y="1255013"/>
            <a:chExt cx="2895600" cy="4270249"/>
          </a:xfrm>
        </p:grpSpPr>
        <p:grpSp>
          <p:nvGrpSpPr>
            <p:cNvPr id="285" name="Google Shape;285;p19"/>
            <p:cNvGrpSpPr/>
            <p:nvPr/>
          </p:nvGrpSpPr>
          <p:grpSpPr>
            <a:xfrm>
              <a:off x="2929889" y="1255013"/>
              <a:ext cx="2895600" cy="2819400"/>
              <a:chOff x="2929889" y="1255013"/>
              <a:chExt cx="2895600" cy="2819400"/>
            </a:xfrm>
          </p:grpSpPr>
          <p:sp>
            <p:nvSpPr>
              <p:cNvPr id="286" name="Google Shape;286;p19"/>
              <p:cNvSpPr/>
              <p:nvPr/>
            </p:nvSpPr>
            <p:spPr>
              <a:xfrm>
                <a:off x="2929889" y="1255013"/>
                <a:ext cx="2895600" cy="2819400"/>
              </a:xfrm>
              <a:custGeom>
                <a:rect b="b" l="l" r="r" t="t"/>
                <a:pathLst>
                  <a:path extrusionOk="0" h="2819400" w="2895600">
                    <a:moveTo>
                      <a:pt x="0" y="0"/>
                    </a:moveTo>
                    <a:lnTo>
                      <a:pt x="2895600" y="0"/>
                    </a:lnTo>
                    <a:lnTo>
                      <a:pt x="2895600" y="2819400"/>
                    </a:lnTo>
                    <a:lnTo>
                      <a:pt x="0" y="28194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3038093" y="1387601"/>
                <a:ext cx="535305" cy="539750"/>
              </a:xfrm>
              <a:custGeom>
                <a:rect b="b" l="l" r="r" t="t"/>
                <a:pathLst>
                  <a:path extrusionOk="0" h="539750" w="535304">
                    <a:moveTo>
                      <a:pt x="0" y="269748"/>
                    </a:moveTo>
                    <a:lnTo>
                      <a:pt x="4309" y="221258"/>
                    </a:lnTo>
                    <a:lnTo>
                      <a:pt x="16733" y="175621"/>
                    </a:lnTo>
                    <a:lnTo>
                      <a:pt x="36516" y="133598"/>
                    </a:lnTo>
                    <a:lnTo>
                      <a:pt x="62904" y="95950"/>
                    </a:lnTo>
                    <a:lnTo>
                      <a:pt x="95140" y="63439"/>
                    </a:lnTo>
                    <a:lnTo>
                      <a:pt x="132469" y="36827"/>
                    </a:lnTo>
                    <a:lnTo>
                      <a:pt x="174136" y="16875"/>
                    </a:lnTo>
                    <a:lnTo>
                      <a:pt x="219385" y="4345"/>
                    </a:lnTo>
                    <a:lnTo>
                      <a:pt x="267462" y="0"/>
                    </a:lnTo>
                    <a:lnTo>
                      <a:pt x="315538" y="4345"/>
                    </a:lnTo>
                    <a:lnTo>
                      <a:pt x="360787" y="16875"/>
                    </a:lnTo>
                    <a:lnTo>
                      <a:pt x="402454" y="36827"/>
                    </a:lnTo>
                    <a:lnTo>
                      <a:pt x="439783" y="63439"/>
                    </a:lnTo>
                    <a:lnTo>
                      <a:pt x="472019" y="95950"/>
                    </a:lnTo>
                    <a:lnTo>
                      <a:pt x="498407" y="133598"/>
                    </a:lnTo>
                    <a:lnTo>
                      <a:pt x="518190" y="175621"/>
                    </a:lnTo>
                    <a:lnTo>
                      <a:pt x="530614" y="221258"/>
                    </a:lnTo>
                    <a:lnTo>
                      <a:pt x="534924" y="269748"/>
                    </a:lnTo>
                    <a:lnTo>
                      <a:pt x="530614" y="318237"/>
                    </a:lnTo>
                    <a:lnTo>
                      <a:pt x="518190" y="363874"/>
                    </a:lnTo>
                    <a:lnTo>
                      <a:pt x="498407" y="405897"/>
                    </a:lnTo>
                    <a:lnTo>
                      <a:pt x="472019" y="443545"/>
                    </a:lnTo>
                    <a:lnTo>
                      <a:pt x="439783" y="476056"/>
                    </a:lnTo>
                    <a:lnTo>
                      <a:pt x="402454" y="502668"/>
                    </a:lnTo>
                    <a:lnTo>
                      <a:pt x="360787" y="522620"/>
                    </a:lnTo>
                    <a:lnTo>
                      <a:pt x="315538" y="535150"/>
                    </a:lnTo>
                    <a:lnTo>
                      <a:pt x="267462" y="539496"/>
                    </a:lnTo>
                    <a:lnTo>
                      <a:pt x="219385" y="535150"/>
                    </a:lnTo>
                    <a:lnTo>
                      <a:pt x="174136" y="522620"/>
                    </a:lnTo>
                    <a:lnTo>
                      <a:pt x="132469" y="502668"/>
                    </a:lnTo>
                    <a:lnTo>
                      <a:pt x="95140" y="476056"/>
                    </a:lnTo>
                    <a:lnTo>
                      <a:pt x="62904" y="443545"/>
                    </a:lnTo>
                    <a:lnTo>
                      <a:pt x="36516" y="405897"/>
                    </a:lnTo>
                    <a:lnTo>
                      <a:pt x="16733" y="363874"/>
                    </a:lnTo>
                    <a:lnTo>
                      <a:pt x="4309" y="318237"/>
                    </a:lnTo>
                    <a:lnTo>
                      <a:pt x="0" y="269748"/>
                    </a:lnTo>
                    <a:close/>
                  </a:path>
                </a:pathLst>
              </a:cu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88" name="Google Shape;288;p19"/>
            <p:cNvSpPr txBox="1"/>
            <p:nvPr/>
          </p:nvSpPr>
          <p:spPr>
            <a:xfrm>
              <a:off x="3239194" y="1474629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5087873" y="1387602"/>
              <a:ext cx="536575" cy="539750"/>
            </a:xfrm>
            <a:custGeom>
              <a:rect b="b" l="l" r="r" t="t"/>
              <a:pathLst>
                <a:path extrusionOk="0" h="539750" w="536575">
                  <a:moveTo>
                    <a:pt x="0" y="269748"/>
                  </a:moveTo>
                  <a:lnTo>
                    <a:pt x="4321" y="221258"/>
                  </a:lnTo>
                  <a:lnTo>
                    <a:pt x="16781" y="175621"/>
                  </a:lnTo>
                  <a:lnTo>
                    <a:pt x="36621" y="133598"/>
                  </a:lnTo>
                  <a:lnTo>
                    <a:pt x="63083" y="95950"/>
                  </a:lnTo>
                  <a:lnTo>
                    <a:pt x="95412" y="63439"/>
                  </a:lnTo>
                  <a:lnTo>
                    <a:pt x="132847" y="36827"/>
                  </a:lnTo>
                  <a:lnTo>
                    <a:pt x="174633" y="16875"/>
                  </a:lnTo>
                  <a:lnTo>
                    <a:pt x="220011" y="4345"/>
                  </a:lnTo>
                  <a:lnTo>
                    <a:pt x="268224" y="0"/>
                  </a:lnTo>
                  <a:lnTo>
                    <a:pt x="316436" y="4345"/>
                  </a:lnTo>
                  <a:lnTo>
                    <a:pt x="361814" y="16875"/>
                  </a:lnTo>
                  <a:lnTo>
                    <a:pt x="403600" y="36827"/>
                  </a:lnTo>
                  <a:lnTo>
                    <a:pt x="441035" y="63439"/>
                  </a:lnTo>
                  <a:lnTo>
                    <a:pt x="473364" y="95950"/>
                  </a:lnTo>
                  <a:lnTo>
                    <a:pt x="499826" y="133598"/>
                  </a:lnTo>
                  <a:lnTo>
                    <a:pt x="519666" y="175621"/>
                  </a:lnTo>
                  <a:lnTo>
                    <a:pt x="532126" y="221258"/>
                  </a:lnTo>
                  <a:lnTo>
                    <a:pt x="536448" y="269748"/>
                  </a:lnTo>
                  <a:lnTo>
                    <a:pt x="532126" y="318237"/>
                  </a:lnTo>
                  <a:lnTo>
                    <a:pt x="519666" y="363874"/>
                  </a:lnTo>
                  <a:lnTo>
                    <a:pt x="499826" y="405897"/>
                  </a:lnTo>
                  <a:lnTo>
                    <a:pt x="473364" y="443545"/>
                  </a:lnTo>
                  <a:lnTo>
                    <a:pt x="441035" y="476056"/>
                  </a:lnTo>
                  <a:lnTo>
                    <a:pt x="403600" y="502668"/>
                  </a:lnTo>
                  <a:lnTo>
                    <a:pt x="361814" y="522620"/>
                  </a:lnTo>
                  <a:lnTo>
                    <a:pt x="316436" y="535150"/>
                  </a:lnTo>
                  <a:lnTo>
                    <a:pt x="268224" y="539496"/>
                  </a:lnTo>
                  <a:lnTo>
                    <a:pt x="220011" y="535150"/>
                  </a:lnTo>
                  <a:lnTo>
                    <a:pt x="174633" y="522620"/>
                  </a:lnTo>
                  <a:lnTo>
                    <a:pt x="132847" y="502668"/>
                  </a:lnTo>
                  <a:lnTo>
                    <a:pt x="95412" y="476056"/>
                  </a:lnTo>
                  <a:lnTo>
                    <a:pt x="63083" y="443545"/>
                  </a:lnTo>
                  <a:lnTo>
                    <a:pt x="36621" y="405897"/>
                  </a:lnTo>
                  <a:lnTo>
                    <a:pt x="16781" y="363874"/>
                  </a:lnTo>
                  <a:lnTo>
                    <a:pt x="4321" y="318237"/>
                  </a:lnTo>
                  <a:lnTo>
                    <a:pt x="0" y="269748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5289146" y="1474629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4062221" y="1387602"/>
              <a:ext cx="536575" cy="539750"/>
            </a:xfrm>
            <a:custGeom>
              <a:rect b="b" l="l" r="r" t="t"/>
              <a:pathLst>
                <a:path extrusionOk="0" h="539750" w="536575">
                  <a:moveTo>
                    <a:pt x="0" y="269748"/>
                  </a:moveTo>
                  <a:lnTo>
                    <a:pt x="4321" y="221258"/>
                  </a:lnTo>
                  <a:lnTo>
                    <a:pt x="16781" y="175621"/>
                  </a:lnTo>
                  <a:lnTo>
                    <a:pt x="36621" y="133598"/>
                  </a:lnTo>
                  <a:lnTo>
                    <a:pt x="63083" y="95950"/>
                  </a:lnTo>
                  <a:lnTo>
                    <a:pt x="95412" y="63439"/>
                  </a:lnTo>
                  <a:lnTo>
                    <a:pt x="132847" y="36827"/>
                  </a:lnTo>
                  <a:lnTo>
                    <a:pt x="174633" y="16875"/>
                  </a:lnTo>
                  <a:lnTo>
                    <a:pt x="220011" y="4345"/>
                  </a:lnTo>
                  <a:lnTo>
                    <a:pt x="268224" y="0"/>
                  </a:lnTo>
                  <a:lnTo>
                    <a:pt x="316436" y="4345"/>
                  </a:lnTo>
                  <a:lnTo>
                    <a:pt x="361814" y="16875"/>
                  </a:lnTo>
                  <a:lnTo>
                    <a:pt x="403600" y="36827"/>
                  </a:lnTo>
                  <a:lnTo>
                    <a:pt x="441035" y="63439"/>
                  </a:lnTo>
                  <a:lnTo>
                    <a:pt x="473364" y="95950"/>
                  </a:lnTo>
                  <a:lnTo>
                    <a:pt x="499826" y="133598"/>
                  </a:lnTo>
                  <a:lnTo>
                    <a:pt x="519666" y="175621"/>
                  </a:lnTo>
                  <a:lnTo>
                    <a:pt x="532126" y="221258"/>
                  </a:lnTo>
                  <a:lnTo>
                    <a:pt x="536448" y="269748"/>
                  </a:lnTo>
                  <a:lnTo>
                    <a:pt x="532126" y="318237"/>
                  </a:lnTo>
                  <a:lnTo>
                    <a:pt x="519666" y="363874"/>
                  </a:lnTo>
                  <a:lnTo>
                    <a:pt x="499826" y="405897"/>
                  </a:lnTo>
                  <a:lnTo>
                    <a:pt x="473364" y="443545"/>
                  </a:lnTo>
                  <a:lnTo>
                    <a:pt x="441035" y="476056"/>
                  </a:lnTo>
                  <a:lnTo>
                    <a:pt x="403600" y="502668"/>
                  </a:lnTo>
                  <a:lnTo>
                    <a:pt x="361814" y="522620"/>
                  </a:lnTo>
                  <a:lnTo>
                    <a:pt x="316436" y="535150"/>
                  </a:lnTo>
                  <a:lnTo>
                    <a:pt x="268224" y="539496"/>
                  </a:lnTo>
                  <a:lnTo>
                    <a:pt x="220011" y="535150"/>
                  </a:lnTo>
                  <a:lnTo>
                    <a:pt x="174633" y="522620"/>
                  </a:lnTo>
                  <a:lnTo>
                    <a:pt x="132847" y="502668"/>
                  </a:lnTo>
                  <a:lnTo>
                    <a:pt x="95412" y="476056"/>
                  </a:lnTo>
                  <a:lnTo>
                    <a:pt x="63083" y="443545"/>
                  </a:lnTo>
                  <a:lnTo>
                    <a:pt x="36621" y="405897"/>
                  </a:lnTo>
                  <a:lnTo>
                    <a:pt x="16781" y="363874"/>
                  </a:lnTo>
                  <a:lnTo>
                    <a:pt x="4321" y="318237"/>
                  </a:lnTo>
                  <a:lnTo>
                    <a:pt x="0" y="269748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9"/>
            <p:cNvSpPr txBox="1"/>
            <p:nvPr/>
          </p:nvSpPr>
          <p:spPr>
            <a:xfrm>
              <a:off x="4264171" y="1474629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3038094" y="2393442"/>
              <a:ext cx="535305" cy="541020"/>
            </a:xfrm>
            <a:custGeom>
              <a:rect b="b" l="l" r="r" t="t"/>
              <a:pathLst>
                <a:path extrusionOk="0" h="541019" w="535304">
                  <a:moveTo>
                    <a:pt x="0" y="270510"/>
                  </a:moveTo>
                  <a:lnTo>
                    <a:pt x="4309" y="221884"/>
                  </a:lnTo>
                  <a:lnTo>
                    <a:pt x="16733" y="176118"/>
                  </a:lnTo>
                  <a:lnTo>
                    <a:pt x="36516" y="133976"/>
                  </a:lnTo>
                  <a:lnTo>
                    <a:pt x="62904" y="96222"/>
                  </a:lnTo>
                  <a:lnTo>
                    <a:pt x="95140" y="63619"/>
                  </a:lnTo>
                  <a:lnTo>
                    <a:pt x="132469" y="36931"/>
                  </a:lnTo>
                  <a:lnTo>
                    <a:pt x="174136" y="16923"/>
                  </a:lnTo>
                  <a:lnTo>
                    <a:pt x="219385" y="4358"/>
                  </a:lnTo>
                  <a:lnTo>
                    <a:pt x="267462" y="0"/>
                  </a:lnTo>
                  <a:lnTo>
                    <a:pt x="315538" y="4358"/>
                  </a:lnTo>
                  <a:lnTo>
                    <a:pt x="360787" y="16923"/>
                  </a:lnTo>
                  <a:lnTo>
                    <a:pt x="402454" y="36931"/>
                  </a:lnTo>
                  <a:lnTo>
                    <a:pt x="439783" y="63619"/>
                  </a:lnTo>
                  <a:lnTo>
                    <a:pt x="472019" y="96222"/>
                  </a:lnTo>
                  <a:lnTo>
                    <a:pt x="498407" y="133976"/>
                  </a:lnTo>
                  <a:lnTo>
                    <a:pt x="518190" y="176118"/>
                  </a:lnTo>
                  <a:lnTo>
                    <a:pt x="530614" y="221884"/>
                  </a:lnTo>
                  <a:lnTo>
                    <a:pt x="534924" y="270510"/>
                  </a:lnTo>
                  <a:lnTo>
                    <a:pt x="530614" y="319135"/>
                  </a:lnTo>
                  <a:lnTo>
                    <a:pt x="518190" y="364901"/>
                  </a:lnTo>
                  <a:lnTo>
                    <a:pt x="498407" y="407043"/>
                  </a:lnTo>
                  <a:lnTo>
                    <a:pt x="472019" y="444797"/>
                  </a:lnTo>
                  <a:lnTo>
                    <a:pt x="439783" y="477400"/>
                  </a:lnTo>
                  <a:lnTo>
                    <a:pt x="402454" y="504088"/>
                  </a:lnTo>
                  <a:lnTo>
                    <a:pt x="360787" y="524096"/>
                  </a:lnTo>
                  <a:lnTo>
                    <a:pt x="315538" y="536661"/>
                  </a:lnTo>
                  <a:lnTo>
                    <a:pt x="267462" y="541020"/>
                  </a:lnTo>
                  <a:lnTo>
                    <a:pt x="219385" y="536661"/>
                  </a:lnTo>
                  <a:lnTo>
                    <a:pt x="174136" y="524096"/>
                  </a:lnTo>
                  <a:lnTo>
                    <a:pt x="132469" y="504088"/>
                  </a:lnTo>
                  <a:lnTo>
                    <a:pt x="95140" y="477400"/>
                  </a:lnTo>
                  <a:lnTo>
                    <a:pt x="62904" y="444797"/>
                  </a:lnTo>
                  <a:lnTo>
                    <a:pt x="36516" y="407043"/>
                  </a:lnTo>
                  <a:lnTo>
                    <a:pt x="16733" y="364901"/>
                  </a:lnTo>
                  <a:lnTo>
                    <a:pt x="4309" y="319135"/>
                  </a:lnTo>
                  <a:lnTo>
                    <a:pt x="0" y="27051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3239194" y="2481563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3038094" y="3400805"/>
              <a:ext cx="535305" cy="541020"/>
            </a:xfrm>
            <a:custGeom>
              <a:rect b="b" l="l" r="r" t="t"/>
              <a:pathLst>
                <a:path extrusionOk="0" h="541020" w="535304">
                  <a:moveTo>
                    <a:pt x="0" y="270509"/>
                  </a:moveTo>
                  <a:lnTo>
                    <a:pt x="4309" y="221884"/>
                  </a:lnTo>
                  <a:lnTo>
                    <a:pt x="16733" y="176118"/>
                  </a:lnTo>
                  <a:lnTo>
                    <a:pt x="36516" y="133976"/>
                  </a:lnTo>
                  <a:lnTo>
                    <a:pt x="62904" y="96222"/>
                  </a:lnTo>
                  <a:lnTo>
                    <a:pt x="95140" y="63619"/>
                  </a:lnTo>
                  <a:lnTo>
                    <a:pt x="132469" y="36931"/>
                  </a:lnTo>
                  <a:lnTo>
                    <a:pt x="174136" y="16923"/>
                  </a:lnTo>
                  <a:lnTo>
                    <a:pt x="219385" y="4358"/>
                  </a:lnTo>
                  <a:lnTo>
                    <a:pt x="267462" y="0"/>
                  </a:lnTo>
                  <a:lnTo>
                    <a:pt x="315538" y="4358"/>
                  </a:lnTo>
                  <a:lnTo>
                    <a:pt x="360787" y="16923"/>
                  </a:lnTo>
                  <a:lnTo>
                    <a:pt x="402454" y="36931"/>
                  </a:lnTo>
                  <a:lnTo>
                    <a:pt x="439783" y="63619"/>
                  </a:lnTo>
                  <a:lnTo>
                    <a:pt x="472019" y="96222"/>
                  </a:lnTo>
                  <a:lnTo>
                    <a:pt x="498407" y="133976"/>
                  </a:lnTo>
                  <a:lnTo>
                    <a:pt x="518190" y="176118"/>
                  </a:lnTo>
                  <a:lnTo>
                    <a:pt x="530614" y="221884"/>
                  </a:lnTo>
                  <a:lnTo>
                    <a:pt x="534924" y="270509"/>
                  </a:lnTo>
                  <a:lnTo>
                    <a:pt x="530614" y="319135"/>
                  </a:lnTo>
                  <a:lnTo>
                    <a:pt x="518190" y="364901"/>
                  </a:lnTo>
                  <a:lnTo>
                    <a:pt x="498407" y="407043"/>
                  </a:lnTo>
                  <a:lnTo>
                    <a:pt x="472019" y="444797"/>
                  </a:lnTo>
                  <a:lnTo>
                    <a:pt x="439783" y="477400"/>
                  </a:lnTo>
                  <a:lnTo>
                    <a:pt x="402454" y="504088"/>
                  </a:lnTo>
                  <a:lnTo>
                    <a:pt x="360787" y="524096"/>
                  </a:lnTo>
                  <a:lnTo>
                    <a:pt x="315538" y="536661"/>
                  </a:lnTo>
                  <a:lnTo>
                    <a:pt x="267462" y="541019"/>
                  </a:lnTo>
                  <a:lnTo>
                    <a:pt x="219385" y="536661"/>
                  </a:lnTo>
                  <a:lnTo>
                    <a:pt x="174136" y="524096"/>
                  </a:lnTo>
                  <a:lnTo>
                    <a:pt x="132469" y="504088"/>
                  </a:lnTo>
                  <a:lnTo>
                    <a:pt x="95140" y="477400"/>
                  </a:lnTo>
                  <a:lnTo>
                    <a:pt x="62904" y="444797"/>
                  </a:lnTo>
                  <a:lnTo>
                    <a:pt x="36516" y="407043"/>
                  </a:lnTo>
                  <a:lnTo>
                    <a:pt x="16733" y="364901"/>
                  </a:lnTo>
                  <a:lnTo>
                    <a:pt x="4309" y="319135"/>
                  </a:lnTo>
                  <a:lnTo>
                    <a:pt x="0" y="270509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3239194" y="3488494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4075938" y="2393442"/>
              <a:ext cx="536575" cy="541020"/>
            </a:xfrm>
            <a:custGeom>
              <a:rect b="b" l="l" r="r" t="t"/>
              <a:pathLst>
                <a:path extrusionOk="0" h="541019" w="536575">
                  <a:moveTo>
                    <a:pt x="0" y="270510"/>
                  </a:moveTo>
                  <a:lnTo>
                    <a:pt x="4321" y="221884"/>
                  </a:lnTo>
                  <a:lnTo>
                    <a:pt x="16781" y="176118"/>
                  </a:lnTo>
                  <a:lnTo>
                    <a:pt x="36621" y="133976"/>
                  </a:lnTo>
                  <a:lnTo>
                    <a:pt x="63083" y="96222"/>
                  </a:lnTo>
                  <a:lnTo>
                    <a:pt x="95412" y="63619"/>
                  </a:lnTo>
                  <a:lnTo>
                    <a:pt x="132847" y="36931"/>
                  </a:lnTo>
                  <a:lnTo>
                    <a:pt x="174633" y="16923"/>
                  </a:lnTo>
                  <a:lnTo>
                    <a:pt x="220011" y="4358"/>
                  </a:lnTo>
                  <a:lnTo>
                    <a:pt x="268224" y="0"/>
                  </a:lnTo>
                  <a:lnTo>
                    <a:pt x="316436" y="4358"/>
                  </a:lnTo>
                  <a:lnTo>
                    <a:pt x="361814" y="16923"/>
                  </a:lnTo>
                  <a:lnTo>
                    <a:pt x="403600" y="36931"/>
                  </a:lnTo>
                  <a:lnTo>
                    <a:pt x="441035" y="63619"/>
                  </a:lnTo>
                  <a:lnTo>
                    <a:pt x="473364" y="96222"/>
                  </a:lnTo>
                  <a:lnTo>
                    <a:pt x="499826" y="133976"/>
                  </a:lnTo>
                  <a:lnTo>
                    <a:pt x="519666" y="176118"/>
                  </a:lnTo>
                  <a:lnTo>
                    <a:pt x="532126" y="221884"/>
                  </a:lnTo>
                  <a:lnTo>
                    <a:pt x="536448" y="270510"/>
                  </a:lnTo>
                  <a:lnTo>
                    <a:pt x="532126" y="319135"/>
                  </a:lnTo>
                  <a:lnTo>
                    <a:pt x="519666" y="364901"/>
                  </a:lnTo>
                  <a:lnTo>
                    <a:pt x="499826" y="407043"/>
                  </a:lnTo>
                  <a:lnTo>
                    <a:pt x="473364" y="444797"/>
                  </a:lnTo>
                  <a:lnTo>
                    <a:pt x="441035" y="477400"/>
                  </a:lnTo>
                  <a:lnTo>
                    <a:pt x="403600" y="504088"/>
                  </a:lnTo>
                  <a:lnTo>
                    <a:pt x="361814" y="524096"/>
                  </a:lnTo>
                  <a:lnTo>
                    <a:pt x="316436" y="536661"/>
                  </a:lnTo>
                  <a:lnTo>
                    <a:pt x="268224" y="541020"/>
                  </a:lnTo>
                  <a:lnTo>
                    <a:pt x="220011" y="536661"/>
                  </a:lnTo>
                  <a:lnTo>
                    <a:pt x="174633" y="524096"/>
                  </a:lnTo>
                  <a:lnTo>
                    <a:pt x="132847" y="504088"/>
                  </a:lnTo>
                  <a:lnTo>
                    <a:pt x="95412" y="477400"/>
                  </a:lnTo>
                  <a:lnTo>
                    <a:pt x="63083" y="444797"/>
                  </a:lnTo>
                  <a:lnTo>
                    <a:pt x="36621" y="407043"/>
                  </a:lnTo>
                  <a:lnTo>
                    <a:pt x="16781" y="364901"/>
                  </a:lnTo>
                  <a:lnTo>
                    <a:pt x="4321" y="319135"/>
                  </a:lnTo>
                  <a:lnTo>
                    <a:pt x="0" y="27051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9"/>
            <p:cNvSpPr txBox="1"/>
            <p:nvPr/>
          </p:nvSpPr>
          <p:spPr>
            <a:xfrm>
              <a:off x="4278234" y="2481563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5087873" y="2428494"/>
              <a:ext cx="536575" cy="541020"/>
            </a:xfrm>
            <a:custGeom>
              <a:rect b="b" l="l" r="r" t="t"/>
              <a:pathLst>
                <a:path extrusionOk="0" h="541019" w="536575">
                  <a:moveTo>
                    <a:pt x="0" y="270510"/>
                  </a:moveTo>
                  <a:lnTo>
                    <a:pt x="4321" y="221884"/>
                  </a:lnTo>
                  <a:lnTo>
                    <a:pt x="16781" y="176118"/>
                  </a:lnTo>
                  <a:lnTo>
                    <a:pt x="36621" y="133976"/>
                  </a:lnTo>
                  <a:lnTo>
                    <a:pt x="63083" y="96222"/>
                  </a:lnTo>
                  <a:lnTo>
                    <a:pt x="95412" y="63619"/>
                  </a:lnTo>
                  <a:lnTo>
                    <a:pt x="132847" y="36931"/>
                  </a:lnTo>
                  <a:lnTo>
                    <a:pt x="174633" y="16923"/>
                  </a:lnTo>
                  <a:lnTo>
                    <a:pt x="220011" y="4358"/>
                  </a:lnTo>
                  <a:lnTo>
                    <a:pt x="268224" y="0"/>
                  </a:lnTo>
                  <a:lnTo>
                    <a:pt x="316436" y="4358"/>
                  </a:lnTo>
                  <a:lnTo>
                    <a:pt x="361814" y="16923"/>
                  </a:lnTo>
                  <a:lnTo>
                    <a:pt x="403600" y="36931"/>
                  </a:lnTo>
                  <a:lnTo>
                    <a:pt x="441035" y="63619"/>
                  </a:lnTo>
                  <a:lnTo>
                    <a:pt x="473364" y="96222"/>
                  </a:lnTo>
                  <a:lnTo>
                    <a:pt x="499826" y="133976"/>
                  </a:lnTo>
                  <a:lnTo>
                    <a:pt x="519666" y="176118"/>
                  </a:lnTo>
                  <a:lnTo>
                    <a:pt x="532126" y="221884"/>
                  </a:lnTo>
                  <a:lnTo>
                    <a:pt x="536448" y="270510"/>
                  </a:lnTo>
                  <a:lnTo>
                    <a:pt x="532126" y="319135"/>
                  </a:lnTo>
                  <a:lnTo>
                    <a:pt x="519666" y="364901"/>
                  </a:lnTo>
                  <a:lnTo>
                    <a:pt x="499826" y="407043"/>
                  </a:lnTo>
                  <a:lnTo>
                    <a:pt x="473364" y="444797"/>
                  </a:lnTo>
                  <a:lnTo>
                    <a:pt x="441035" y="477400"/>
                  </a:lnTo>
                  <a:lnTo>
                    <a:pt x="403600" y="504088"/>
                  </a:lnTo>
                  <a:lnTo>
                    <a:pt x="361814" y="524096"/>
                  </a:lnTo>
                  <a:lnTo>
                    <a:pt x="316436" y="536661"/>
                  </a:lnTo>
                  <a:lnTo>
                    <a:pt x="268224" y="541020"/>
                  </a:lnTo>
                  <a:lnTo>
                    <a:pt x="220011" y="536661"/>
                  </a:lnTo>
                  <a:lnTo>
                    <a:pt x="174633" y="524096"/>
                  </a:lnTo>
                  <a:lnTo>
                    <a:pt x="132847" y="504088"/>
                  </a:lnTo>
                  <a:lnTo>
                    <a:pt x="95412" y="477400"/>
                  </a:lnTo>
                  <a:lnTo>
                    <a:pt x="63083" y="444797"/>
                  </a:lnTo>
                  <a:lnTo>
                    <a:pt x="36621" y="407043"/>
                  </a:lnTo>
                  <a:lnTo>
                    <a:pt x="16781" y="364901"/>
                  </a:lnTo>
                  <a:lnTo>
                    <a:pt x="4321" y="319135"/>
                  </a:lnTo>
                  <a:lnTo>
                    <a:pt x="0" y="27051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9"/>
            <p:cNvSpPr txBox="1"/>
            <p:nvPr/>
          </p:nvSpPr>
          <p:spPr>
            <a:xfrm>
              <a:off x="5289146" y="2516089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4109465" y="3400805"/>
              <a:ext cx="536575" cy="541020"/>
            </a:xfrm>
            <a:custGeom>
              <a:rect b="b" l="l" r="r" t="t"/>
              <a:pathLst>
                <a:path extrusionOk="0" h="541020" w="536575">
                  <a:moveTo>
                    <a:pt x="0" y="270509"/>
                  </a:moveTo>
                  <a:lnTo>
                    <a:pt x="4321" y="221884"/>
                  </a:lnTo>
                  <a:lnTo>
                    <a:pt x="16781" y="176118"/>
                  </a:lnTo>
                  <a:lnTo>
                    <a:pt x="36621" y="133976"/>
                  </a:lnTo>
                  <a:lnTo>
                    <a:pt x="63083" y="96222"/>
                  </a:lnTo>
                  <a:lnTo>
                    <a:pt x="95412" y="63619"/>
                  </a:lnTo>
                  <a:lnTo>
                    <a:pt x="132847" y="36931"/>
                  </a:lnTo>
                  <a:lnTo>
                    <a:pt x="174633" y="16923"/>
                  </a:lnTo>
                  <a:lnTo>
                    <a:pt x="220011" y="4358"/>
                  </a:lnTo>
                  <a:lnTo>
                    <a:pt x="268224" y="0"/>
                  </a:lnTo>
                  <a:lnTo>
                    <a:pt x="316436" y="4358"/>
                  </a:lnTo>
                  <a:lnTo>
                    <a:pt x="361814" y="16923"/>
                  </a:lnTo>
                  <a:lnTo>
                    <a:pt x="403600" y="36931"/>
                  </a:lnTo>
                  <a:lnTo>
                    <a:pt x="441035" y="63619"/>
                  </a:lnTo>
                  <a:lnTo>
                    <a:pt x="473364" y="96222"/>
                  </a:lnTo>
                  <a:lnTo>
                    <a:pt x="499826" y="133976"/>
                  </a:lnTo>
                  <a:lnTo>
                    <a:pt x="519666" y="176118"/>
                  </a:lnTo>
                  <a:lnTo>
                    <a:pt x="532126" y="221884"/>
                  </a:lnTo>
                  <a:lnTo>
                    <a:pt x="536448" y="270509"/>
                  </a:lnTo>
                  <a:lnTo>
                    <a:pt x="532126" y="319135"/>
                  </a:lnTo>
                  <a:lnTo>
                    <a:pt x="519666" y="364901"/>
                  </a:lnTo>
                  <a:lnTo>
                    <a:pt x="499826" y="407043"/>
                  </a:lnTo>
                  <a:lnTo>
                    <a:pt x="473364" y="444797"/>
                  </a:lnTo>
                  <a:lnTo>
                    <a:pt x="441035" y="477400"/>
                  </a:lnTo>
                  <a:lnTo>
                    <a:pt x="403600" y="504088"/>
                  </a:lnTo>
                  <a:lnTo>
                    <a:pt x="361814" y="524096"/>
                  </a:lnTo>
                  <a:lnTo>
                    <a:pt x="316436" y="536661"/>
                  </a:lnTo>
                  <a:lnTo>
                    <a:pt x="268224" y="541019"/>
                  </a:lnTo>
                  <a:lnTo>
                    <a:pt x="220011" y="536661"/>
                  </a:lnTo>
                  <a:lnTo>
                    <a:pt x="174633" y="524096"/>
                  </a:lnTo>
                  <a:lnTo>
                    <a:pt x="132847" y="504088"/>
                  </a:lnTo>
                  <a:lnTo>
                    <a:pt x="95412" y="477400"/>
                  </a:lnTo>
                  <a:lnTo>
                    <a:pt x="63083" y="444797"/>
                  </a:lnTo>
                  <a:lnTo>
                    <a:pt x="36621" y="407043"/>
                  </a:lnTo>
                  <a:lnTo>
                    <a:pt x="16781" y="364901"/>
                  </a:lnTo>
                  <a:lnTo>
                    <a:pt x="4321" y="319135"/>
                  </a:lnTo>
                  <a:lnTo>
                    <a:pt x="0" y="270509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4311639" y="3488494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087873" y="3408426"/>
              <a:ext cx="536575" cy="541020"/>
            </a:xfrm>
            <a:custGeom>
              <a:rect b="b" l="l" r="r" t="t"/>
              <a:pathLst>
                <a:path extrusionOk="0" h="541020" w="536575">
                  <a:moveTo>
                    <a:pt x="0" y="270510"/>
                  </a:moveTo>
                  <a:lnTo>
                    <a:pt x="4321" y="221884"/>
                  </a:lnTo>
                  <a:lnTo>
                    <a:pt x="16781" y="176118"/>
                  </a:lnTo>
                  <a:lnTo>
                    <a:pt x="36621" y="133976"/>
                  </a:lnTo>
                  <a:lnTo>
                    <a:pt x="63083" y="96222"/>
                  </a:lnTo>
                  <a:lnTo>
                    <a:pt x="95412" y="63619"/>
                  </a:lnTo>
                  <a:lnTo>
                    <a:pt x="132847" y="36931"/>
                  </a:lnTo>
                  <a:lnTo>
                    <a:pt x="174633" y="16923"/>
                  </a:lnTo>
                  <a:lnTo>
                    <a:pt x="220011" y="4358"/>
                  </a:lnTo>
                  <a:lnTo>
                    <a:pt x="268224" y="0"/>
                  </a:lnTo>
                  <a:lnTo>
                    <a:pt x="316436" y="4358"/>
                  </a:lnTo>
                  <a:lnTo>
                    <a:pt x="361814" y="16923"/>
                  </a:lnTo>
                  <a:lnTo>
                    <a:pt x="403600" y="36931"/>
                  </a:lnTo>
                  <a:lnTo>
                    <a:pt x="441035" y="63619"/>
                  </a:lnTo>
                  <a:lnTo>
                    <a:pt x="473364" y="96222"/>
                  </a:lnTo>
                  <a:lnTo>
                    <a:pt x="499826" y="133976"/>
                  </a:lnTo>
                  <a:lnTo>
                    <a:pt x="519666" y="176118"/>
                  </a:lnTo>
                  <a:lnTo>
                    <a:pt x="532126" y="221884"/>
                  </a:lnTo>
                  <a:lnTo>
                    <a:pt x="536448" y="270510"/>
                  </a:lnTo>
                  <a:lnTo>
                    <a:pt x="532126" y="319135"/>
                  </a:lnTo>
                  <a:lnTo>
                    <a:pt x="519666" y="364901"/>
                  </a:lnTo>
                  <a:lnTo>
                    <a:pt x="499826" y="407043"/>
                  </a:lnTo>
                  <a:lnTo>
                    <a:pt x="473364" y="444797"/>
                  </a:lnTo>
                  <a:lnTo>
                    <a:pt x="441035" y="477400"/>
                  </a:lnTo>
                  <a:lnTo>
                    <a:pt x="403600" y="504088"/>
                  </a:lnTo>
                  <a:lnTo>
                    <a:pt x="361814" y="524096"/>
                  </a:lnTo>
                  <a:lnTo>
                    <a:pt x="316436" y="536661"/>
                  </a:lnTo>
                  <a:lnTo>
                    <a:pt x="268224" y="541020"/>
                  </a:lnTo>
                  <a:lnTo>
                    <a:pt x="220011" y="536661"/>
                  </a:lnTo>
                  <a:lnTo>
                    <a:pt x="174633" y="524096"/>
                  </a:lnTo>
                  <a:lnTo>
                    <a:pt x="132847" y="504088"/>
                  </a:lnTo>
                  <a:lnTo>
                    <a:pt x="95412" y="477400"/>
                  </a:lnTo>
                  <a:lnTo>
                    <a:pt x="63083" y="444797"/>
                  </a:lnTo>
                  <a:lnTo>
                    <a:pt x="36621" y="407043"/>
                  </a:lnTo>
                  <a:lnTo>
                    <a:pt x="16781" y="364901"/>
                  </a:lnTo>
                  <a:lnTo>
                    <a:pt x="4321" y="319135"/>
                  </a:lnTo>
                  <a:lnTo>
                    <a:pt x="0" y="27051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9"/>
            <p:cNvSpPr txBox="1"/>
            <p:nvPr/>
          </p:nvSpPr>
          <p:spPr>
            <a:xfrm>
              <a:off x="5289146" y="3495897"/>
              <a:ext cx="1422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5" name="Google Shape;305;p19"/>
            <p:cNvGrpSpPr/>
            <p:nvPr/>
          </p:nvGrpSpPr>
          <p:grpSpPr>
            <a:xfrm>
              <a:off x="4287780" y="1559813"/>
              <a:ext cx="928994" cy="1927860"/>
              <a:chOff x="4287780" y="1559813"/>
              <a:chExt cx="928994" cy="1927860"/>
            </a:xfrm>
          </p:grpSpPr>
          <p:sp>
            <p:nvSpPr>
              <p:cNvPr id="306" name="Google Shape;306;p19"/>
              <p:cNvSpPr/>
              <p:nvPr/>
            </p:nvSpPr>
            <p:spPr>
              <a:xfrm>
                <a:off x="4287780" y="1927099"/>
                <a:ext cx="14604" cy="466725"/>
              </a:xfrm>
              <a:custGeom>
                <a:rect b="b" l="l" r="r" t="t"/>
                <a:pathLst>
                  <a:path extrusionOk="0" h="466725" w="14604">
                    <a:moveTo>
                      <a:pt x="14058" y="466547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4598670" y="1559813"/>
                <a:ext cx="488950" cy="0"/>
              </a:xfrm>
              <a:custGeom>
                <a:rect b="b" l="l" r="r" t="t"/>
                <a:pathLst>
                  <a:path extrusionOk="0" h="120000" w="488950">
                    <a:moveTo>
                      <a:pt x="0" y="0"/>
                    </a:moveTo>
                    <a:lnTo>
                      <a:pt x="488746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4508754" y="2855213"/>
                <a:ext cx="631825" cy="632460"/>
              </a:xfrm>
              <a:custGeom>
                <a:rect b="b" l="l" r="r" t="t"/>
                <a:pathLst>
                  <a:path extrusionOk="0" h="632460" w="631825">
                    <a:moveTo>
                      <a:pt x="0" y="0"/>
                    </a:moveTo>
                    <a:lnTo>
                      <a:pt x="631748" y="632218"/>
                    </a:lnTo>
                  </a:path>
                </a:pathLst>
              </a:custGeom>
              <a:noFill/>
              <a:ln cap="flat" cmpd="sng" w="38075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4598670" y="1657350"/>
                <a:ext cx="488950" cy="0"/>
              </a:xfrm>
              <a:custGeom>
                <a:rect b="b" l="l" r="r" t="t"/>
                <a:pathLst>
                  <a:path extrusionOk="0" h="120000" w="488950">
                    <a:moveTo>
                      <a:pt x="0" y="0"/>
                    </a:moveTo>
                    <a:lnTo>
                      <a:pt x="488746" y="0"/>
                    </a:lnTo>
                  </a:path>
                </a:pathLst>
              </a:cu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4377690" y="1927097"/>
                <a:ext cx="14604" cy="466725"/>
              </a:xfrm>
              <a:custGeom>
                <a:rect b="b" l="l" r="r" t="t"/>
                <a:pathLst>
                  <a:path extrusionOk="0" h="466725" w="14604">
                    <a:moveTo>
                      <a:pt x="0" y="0"/>
                    </a:moveTo>
                    <a:lnTo>
                      <a:pt x="14058" y="466547"/>
                    </a:lnTo>
                  </a:path>
                </a:pathLst>
              </a:cu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4584949" y="2779020"/>
                <a:ext cx="631825" cy="632460"/>
              </a:xfrm>
              <a:custGeom>
                <a:rect b="b" l="l" r="r" t="t"/>
                <a:pathLst>
                  <a:path extrusionOk="0" h="632460" w="631825">
                    <a:moveTo>
                      <a:pt x="631748" y="632218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4534662" y="1847847"/>
                <a:ext cx="631825" cy="624840"/>
              </a:xfrm>
              <a:custGeom>
                <a:rect b="b" l="l" r="r" t="t"/>
                <a:pathLst>
                  <a:path extrusionOk="0" h="624839" w="631825">
                    <a:moveTo>
                      <a:pt x="0" y="624827"/>
                    </a:moveTo>
                    <a:lnTo>
                      <a:pt x="631748" y="0"/>
                    </a:lnTo>
                  </a:path>
                </a:pathLst>
              </a:cu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4085301" y="4349318"/>
              <a:ext cx="1456800" cy="11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spAutoFit/>
            </a:bodyPr>
            <a:lstStyle/>
            <a:p>
              <a:pPr indent="0" lvl="0" marL="127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8-adjacent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rtl="0" algn="l">
                <a:lnSpc>
                  <a:spcPct val="100000"/>
                </a:lnSpc>
                <a:spcBef>
                  <a:spcPts val="2880"/>
                </a:spcBef>
                <a:spcAft>
                  <a:spcPts val="0"/>
                </a:spcAft>
                <a:buNone/>
              </a:pPr>
              <a:r>
                <a:rPr b="1" lang="en-US" sz="2400">
                  <a:latin typeface="Calibri"/>
                  <a:ea typeface="Calibri"/>
                  <a:cs typeface="Calibri"/>
                  <a:sym typeface="Calibri"/>
                </a:rPr>
                <a:t>m-adjacent</a:t>
              </a:r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4" name="Google Shape;314;p19"/>
            <p:cNvGrpSpPr/>
            <p:nvPr/>
          </p:nvGrpSpPr>
          <p:grpSpPr>
            <a:xfrm>
              <a:off x="3132582" y="4427982"/>
              <a:ext cx="756285" cy="335280"/>
              <a:chOff x="3132582" y="4427982"/>
              <a:chExt cx="756285" cy="335280"/>
            </a:xfrm>
          </p:grpSpPr>
          <p:sp>
            <p:nvSpPr>
              <p:cNvPr id="315" name="Google Shape;315;p19"/>
              <p:cNvSpPr/>
              <p:nvPr/>
            </p:nvSpPr>
            <p:spPr>
              <a:xfrm>
                <a:off x="3236216" y="4563618"/>
                <a:ext cx="582295" cy="0"/>
              </a:xfrm>
              <a:custGeom>
                <a:rect b="b" l="l" r="r" t="t"/>
                <a:pathLst>
                  <a:path extrusionOk="0" h="120000" w="582295">
                    <a:moveTo>
                      <a:pt x="581774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3132582" y="4427982"/>
                <a:ext cx="756285" cy="335280"/>
              </a:xfrm>
              <a:custGeom>
                <a:rect b="b" l="l" r="r" t="t"/>
                <a:pathLst>
                  <a:path extrusionOk="0" h="335279" w="756285">
                    <a:moveTo>
                      <a:pt x="0" y="0"/>
                    </a:moveTo>
                    <a:lnTo>
                      <a:pt x="755904" y="0"/>
                    </a:lnTo>
                    <a:lnTo>
                      <a:pt x="755904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317" name="Google Shape;317;p19"/>
            <p:cNvGrpSpPr/>
            <p:nvPr/>
          </p:nvGrpSpPr>
          <p:grpSpPr>
            <a:xfrm>
              <a:off x="3147822" y="5189982"/>
              <a:ext cx="757555" cy="335280"/>
              <a:chOff x="3147822" y="5189982"/>
              <a:chExt cx="757555" cy="335280"/>
            </a:xfrm>
          </p:grpSpPr>
          <p:sp>
            <p:nvSpPr>
              <p:cNvPr id="318" name="Google Shape;318;p19"/>
              <p:cNvSpPr/>
              <p:nvPr/>
            </p:nvSpPr>
            <p:spPr>
              <a:xfrm>
                <a:off x="3236214" y="5321046"/>
                <a:ext cx="582295" cy="0"/>
              </a:xfrm>
              <a:custGeom>
                <a:rect b="b" l="l" r="r" t="t"/>
                <a:pathLst>
                  <a:path extrusionOk="0" h="120000" w="582295">
                    <a:moveTo>
                      <a:pt x="0" y="0"/>
                    </a:moveTo>
                    <a:lnTo>
                      <a:pt x="581774" y="0"/>
                    </a:lnTo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3147822" y="5189982"/>
                <a:ext cx="757555" cy="335280"/>
              </a:xfrm>
              <a:custGeom>
                <a:rect b="b" l="l" r="r" t="t"/>
                <a:pathLst>
                  <a:path extrusionOk="0" h="335279" w="757554">
                    <a:moveTo>
                      <a:pt x="0" y="0"/>
                    </a:moveTo>
                    <a:lnTo>
                      <a:pt x="757427" y="0"/>
                    </a:lnTo>
                    <a:lnTo>
                      <a:pt x="757427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sp>
        <p:nvSpPr>
          <p:cNvPr id="320" name="Google Shape;320;p1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1" name="Google Shape;321;p19"/>
          <p:cNvSpPr txBox="1"/>
          <p:nvPr>
            <p:ph idx="11" type="ftr"/>
          </p:nvPr>
        </p:nvSpPr>
        <p:spPr>
          <a:xfrm>
            <a:off x="4398740" y="657683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22" name="Google Shape;322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" name="Google Shape;324;p19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Paths and Path Lengths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421504" y="1172200"/>
            <a:ext cx="113490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-342900" lvl="0" marL="405765" marR="685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A path from pixel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with coordinates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x, y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to pixel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with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coordinates (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s, t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is a sequence of	distinct pixels with coordinates: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977264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),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),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 …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),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      where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)=(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x, y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 and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)=(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s, t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9772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 is adjacent to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i-1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, y</a:t>
            </a:r>
            <a:r>
              <a:rPr baseline="-25000" i="1" lang="en-US" sz="3000">
                <a:latin typeface="Bell MT"/>
                <a:ea typeface="Bell MT"/>
                <a:cs typeface="Bell MT"/>
                <a:sym typeface="Bell MT"/>
              </a:rPr>
              <a:t>i-1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), 1</a:t>
            </a:r>
            <a:r>
              <a:rPr lang="en-US" sz="3000"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3000"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n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Here 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is the length of	the path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06400" marR="426084" rtl="0" algn="l">
              <a:lnSpc>
                <a:spcPct val="96000"/>
              </a:lnSpc>
              <a:spcBef>
                <a:spcPts val="42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We can define 4-, 8-, and m-paths based on type of	adjacency used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20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33" name="Google Shape;333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5" name="Google Shape;335;p20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Connected Components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62855" y="1290575"/>
            <a:ext cx="117909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Connected pixels: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are pixels of	an image subset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then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	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 connected to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	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there is a path from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 to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consisting entirely of	 pixels in 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Connected Component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323215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For every pixel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the set of	pixels in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that 	are connected to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 called a connected component of	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Connected Set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73355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has only one connected component then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 called Connected Set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21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44" name="Google Shape;344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6" name="Google Shape;346;p21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Connected Components - </a:t>
            </a:r>
            <a:r>
              <a:rPr i="1" lang="en-US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Examples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535940" y="1025155"/>
            <a:ext cx="552132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Connected-component labeling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53" name="Google Shape;3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384" y="1722350"/>
            <a:ext cx="4206238" cy="223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9825" y="1722350"/>
            <a:ext cx="4206240" cy="22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2903364" y="3949929"/>
            <a:ext cx="52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8083440" y="3949929"/>
            <a:ext cx="2106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Output: labeled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5025" y="4633189"/>
            <a:ext cx="1737359" cy="1737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2973" y="4617950"/>
            <a:ext cx="1723643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 txBox="1"/>
          <p:nvPr/>
        </p:nvSpPr>
        <p:spPr>
          <a:xfrm>
            <a:off x="2692367" y="5873136"/>
            <a:ext cx="52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7802948" y="5726832"/>
            <a:ext cx="132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Output: labeled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" name="Google Shape;362;p2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63" name="Google Shape;363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5" name="Google Shape;365;p22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Region and Boundaries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451526" y="1090163"/>
            <a:ext cx="9325800" cy="51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 of the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 subset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of	pixels in an image is called a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Region of the image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if R is a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connected set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i="1" lang="en-US" sz="2400" u="sng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Each connected component forms a region</a:t>
            </a:r>
            <a:endParaRPr sz="24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55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Boundary of the Region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266065" rtl="0" algn="l">
              <a:lnSpc>
                <a:spcPct val="108214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the set of pixels in the region that have one 	or more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neighbors that are not in 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52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if	R happens to be entire Image?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23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74" name="Google Shape;374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6" name="Google Shape;376;p23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Adjacency of	Image Subsets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68605" y="1352575"/>
            <a:ext cx="11254800" cy="2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93065" marR="120967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Pixel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adjacent to pixel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if	they are connected (neighbor)</a:t>
            </a:r>
            <a:endParaRPr sz="300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120967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93065" marR="431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Two image subsets S</a:t>
            </a:r>
            <a:r>
              <a:rPr baseline="-25000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and S</a:t>
            </a:r>
            <a:r>
              <a:rPr baseline="-25000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are adjacent if some pixel in S</a:t>
            </a:r>
            <a:r>
              <a:rPr baseline="-25000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is adjacent (neighbor) to some pixel in S</a:t>
            </a:r>
            <a:r>
              <a:rPr baseline="-25000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endParaRPr baseline="-25000"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1867300" y="3999000"/>
            <a:ext cx="2529530" cy="1639449"/>
          </a:xfrm>
          <a:custGeom>
            <a:rect b="b" l="l" r="r" t="t"/>
            <a:pathLst>
              <a:path extrusionOk="0" h="2129154" w="2486025">
                <a:moveTo>
                  <a:pt x="0" y="2129028"/>
                </a:moveTo>
                <a:lnTo>
                  <a:pt x="13616" y="2076405"/>
                </a:lnTo>
                <a:lnTo>
                  <a:pt x="27310" y="2023871"/>
                </a:lnTo>
                <a:lnTo>
                  <a:pt x="41162" y="1971515"/>
                </a:lnTo>
                <a:lnTo>
                  <a:pt x="55248" y="1919426"/>
                </a:lnTo>
                <a:lnTo>
                  <a:pt x="69648" y="1867694"/>
                </a:lnTo>
                <a:lnTo>
                  <a:pt x="84439" y="1816406"/>
                </a:lnTo>
                <a:lnTo>
                  <a:pt x="99701" y="1765652"/>
                </a:lnTo>
                <a:lnTo>
                  <a:pt x="115511" y="1715522"/>
                </a:lnTo>
                <a:lnTo>
                  <a:pt x="131948" y="1666103"/>
                </a:lnTo>
                <a:lnTo>
                  <a:pt x="149090" y="1617486"/>
                </a:lnTo>
                <a:lnTo>
                  <a:pt x="167016" y="1569759"/>
                </a:lnTo>
                <a:lnTo>
                  <a:pt x="185803" y="1523012"/>
                </a:lnTo>
                <a:lnTo>
                  <a:pt x="205531" y="1477332"/>
                </a:lnTo>
                <a:lnTo>
                  <a:pt x="226277" y="1432810"/>
                </a:lnTo>
                <a:lnTo>
                  <a:pt x="248120" y="1389535"/>
                </a:lnTo>
                <a:lnTo>
                  <a:pt x="271138" y="1347595"/>
                </a:lnTo>
                <a:lnTo>
                  <a:pt x="295410" y="1307079"/>
                </a:lnTo>
                <a:lnTo>
                  <a:pt x="321014" y="1268077"/>
                </a:lnTo>
                <a:lnTo>
                  <a:pt x="348029" y="1230677"/>
                </a:lnTo>
                <a:lnTo>
                  <a:pt x="376532" y="1194969"/>
                </a:lnTo>
                <a:lnTo>
                  <a:pt x="406601" y="1161041"/>
                </a:lnTo>
                <a:lnTo>
                  <a:pt x="438317" y="1128983"/>
                </a:lnTo>
                <a:lnTo>
                  <a:pt x="471756" y="1098884"/>
                </a:lnTo>
                <a:lnTo>
                  <a:pt x="506997" y="1070832"/>
                </a:lnTo>
                <a:lnTo>
                  <a:pt x="544118" y="1044917"/>
                </a:lnTo>
                <a:lnTo>
                  <a:pt x="577170" y="1025643"/>
                </a:lnTo>
                <a:lnTo>
                  <a:pt x="612723" y="1009057"/>
                </a:lnTo>
                <a:lnTo>
                  <a:pt x="650601" y="994977"/>
                </a:lnTo>
                <a:lnTo>
                  <a:pt x="690626" y="983217"/>
                </a:lnTo>
                <a:lnTo>
                  <a:pt x="732622" y="973594"/>
                </a:lnTo>
                <a:lnTo>
                  <a:pt x="776411" y="965922"/>
                </a:lnTo>
                <a:lnTo>
                  <a:pt x="821816" y="960019"/>
                </a:lnTo>
                <a:lnTo>
                  <a:pt x="868659" y="955698"/>
                </a:lnTo>
                <a:lnTo>
                  <a:pt x="916764" y="952777"/>
                </a:lnTo>
                <a:lnTo>
                  <a:pt x="965953" y="951071"/>
                </a:lnTo>
                <a:lnTo>
                  <a:pt x="1016048" y="950394"/>
                </a:lnTo>
                <a:lnTo>
                  <a:pt x="1066873" y="950564"/>
                </a:lnTo>
                <a:lnTo>
                  <a:pt x="1118251" y="951396"/>
                </a:lnTo>
                <a:lnTo>
                  <a:pt x="1170003" y="952705"/>
                </a:lnTo>
                <a:lnTo>
                  <a:pt x="1221954" y="954308"/>
                </a:lnTo>
                <a:lnTo>
                  <a:pt x="1273925" y="956019"/>
                </a:lnTo>
                <a:lnTo>
                  <a:pt x="1325739" y="957655"/>
                </a:lnTo>
                <a:lnTo>
                  <a:pt x="1377220" y="959031"/>
                </a:lnTo>
                <a:lnTo>
                  <a:pt x="1428189" y="959962"/>
                </a:lnTo>
                <a:lnTo>
                  <a:pt x="1478470" y="960266"/>
                </a:lnTo>
                <a:lnTo>
                  <a:pt x="1527886" y="959756"/>
                </a:lnTo>
                <a:lnTo>
                  <a:pt x="1576259" y="958250"/>
                </a:lnTo>
                <a:lnTo>
                  <a:pt x="1623411" y="955562"/>
                </a:lnTo>
                <a:lnTo>
                  <a:pt x="1669166" y="951509"/>
                </a:lnTo>
                <a:lnTo>
                  <a:pt x="1713347" y="945905"/>
                </a:lnTo>
                <a:lnTo>
                  <a:pt x="1755776" y="938568"/>
                </a:lnTo>
                <a:lnTo>
                  <a:pt x="1796276" y="929311"/>
                </a:lnTo>
                <a:lnTo>
                  <a:pt x="1834669" y="917952"/>
                </a:lnTo>
                <a:lnTo>
                  <a:pt x="1870779" y="904305"/>
                </a:lnTo>
                <a:lnTo>
                  <a:pt x="2131755" y="675936"/>
                </a:lnTo>
                <a:lnTo>
                  <a:pt x="2316379" y="378785"/>
                </a:lnTo>
                <a:lnTo>
                  <a:pt x="2440332" y="114288"/>
                </a:lnTo>
                <a:lnTo>
                  <a:pt x="2485644" y="0"/>
                </a:lnTo>
                <a:lnTo>
                  <a:pt x="2473274" y="13055"/>
                </a:lnTo>
              </a:path>
            </a:pathLst>
          </a:custGeom>
          <a:noFill/>
          <a:ln cap="flat" cmpd="sng" w="38100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" name="Google Shape;384;p24"/>
          <p:cNvSpPr txBox="1"/>
          <p:nvPr/>
        </p:nvSpPr>
        <p:spPr>
          <a:xfrm>
            <a:off x="1867300" y="3950975"/>
            <a:ext cx="2531400" cy="1705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78125">
            <a:spAutoFit/>
          </a:bodyPr>
          <a:lstStyle/>
          <a:p>
            <a:pPr indent="0" lvl="0" marL="794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𝑺</a:t>
            </a:r>
            <a:r>
              <a:rPr baseline="-25000" lang="en-US" sz="3525"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baseline="-25000" sz="3525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566420" rtl="0" algn="ctr">
              <a:lnSpc>
                <a:spcPct val="100000"/>
              </a:lnSpc>
              <a:spcBef>
                <a:spcPts val="2645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𝑺</a:t>
            </a:r>
            <a:r>
              <a:rPr baseline="-25000" lang="en-US" sz="3525"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-25000" sz="35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385" name="Google Shape;3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7235" y="3855720"/>
            <a:ext cx="2531363" cy="231647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 txBox="1"/>
          <p:nvPr/>
        </p:nvSpPr>
        <p:spPr>
          <a:xfrm>
            <a:off x="6091586" y="4294451"/>
            <a:ext cx="484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𝑺</a:t>
            </a:r>
            <a:r>
              <a:rPr baseline="-25000" lang="en-US" sz="3525"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baseline="-25000" sz="35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6633539" y="5189413"/>
            <a:ext cx="4845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𝑺</a:t>
            </a:r>
            <a:r>
              <a:rPr baseline="-25000" lang="en-US" sz="3525"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-25000" sz="35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" name="Google Shape;389;p24"/>
          <p:cNvSpPr txBox="1"/>
          <p:nvPr>
            <p:ph idx="11" type="ftr"/>
          </p:nvPr>
        </p:nvSpPr>
        <p:spPr>
          <a:xfrm>
            <a:off x="439874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90" name="Google Shape;390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2" name="Google Shape;392;p24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Arithmetic Logic Operation on Pixels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535940" y="922817"/>
            <a:ext cx="3870960" cy="200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Addition :	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p + q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Subtraction: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p – q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Multiplication: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p*q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535940" y="2897921"/>
            <a:ext cx="2049145" cy="200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Division: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AND: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OR 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3279140" y="2897921"/>
            <a:ext cx="1629410" cy="200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p/q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p AND q p OR q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535940" y="4982753"/>
            <a:ext cx="44507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Complement: NOT(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q)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25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04" name="Google Shape;404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6" name="Google Shape;406;p25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"/>
          <p:cNvSpPr txBox="1"/>
          <p:nvPr>
            <p:ph idx="4294967295" type="title"/>
          </p:nvPr>
        </p:nvSpPr>
        <p:spPr>
          <a:xfrm>
            <a:off x="0" y="153150"/>
            <a:ext cx="121920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</a:rPr>
              <a:t>Neighborhood based Operations on Pixels</a:t>
            </a:r>
            <a:endParaRPr sz="3600"/>
          </a:p>
        </p:txBody>
      </p:sp>
      <p:sp>
        <p:nvSpPr>
          <p:cNvPr id="412" name="Google Shape;412;p26"/>
          <p:cNvSpPr txBox="1"/>
          <p:nvPr/>
        </p:nvSpPr>
        <p:spPr>
          <a:xfrm>
            <a:off x="510554" y="1215650"/>
            <a:ext cx="11459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810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Value assigned to a pixel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5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is a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function of its neighboring pixels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413" name="Google Shape;413;p26"/>
          <p:cNvGraphicFramePr/>
          <p:nvPr/>
        </p:nvGraphicFramePr>
        <p:xfrm>
          <a:off x="2355850" y="2279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{DC964399-3D12-4AA0-8739-A30B523BE5CA}</a:tableStyleId>
              </a:tblPr>
              <a:tblGrid>
                <a:gridCol w="670550"/>
                <a:gridCol w="670550"/>
                <a:gridCol w="670550"/>
                <a:gridCol w="670550"/>
                <a:gridCol w="67055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4" name="Google Shape;414;p26"/>
          <p:cNvGraphicFramePr/>
          <p:nvPr/>
        </p:nvGraphicFramePr>
        <p:xfrm>
          <a:off x="6165850" y="2889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{DC964399-3D12-4AA0-8739-A30B523BE5CA}</a:tableStyleId>
              </a:tblPr>
              <a:tblGrid>
                <a:gridCol w="670550"/>
                <a:gridCol w="670550"/>
                <a:gridCol w="670550"/>
              </a:tblGrid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22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r>
                        <a:rPr b="1" baseline="-25000" i="1"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baseline="-25000"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26"/>
          <p:cNvSpPr txBox="1"/>
          <p:nvPr/>
        </p:nvSpPr>
        <p:spPr>
          <a:xfrm>
            <a:off x="939805" y="6458579"/>
            <a:ext cx="26162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3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6"/>
          <p:cNvSpPr txBox="1"/>
          <p:nvPr/>
        </p:nvSpPr>
        <p:spPr>
          <a:xfrm>
            <a:off x="1308000" y="5327650"/>
            <a:ext cx="96033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6200">
            <a:noAutofit/>
          </a:bodyPr>
          <a:lstStyle/>
          <a:p>
            <a:pPr indent="0" lvl="0" marL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9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025">
                <a:latin typeface="Times New Roman"/>
                <a:ea typeface="Times New Roman"/>
                <a:cs typeface="Times New Roman"/>
                <a:sym typeface="Times New Roman"/>
              </a:rPr>
              <a:t>9 </a:t>
            </a:r>
            <a:r>
              <a:rPr lang="en-US" sz="2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5250"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-25000" lang="en-US" sz="52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aseline="-25000" i="1" lang="en-US" sz="2025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i="1" lang="en-US" sz="23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1" lang="en-US" sz="2025">
                <a:latin typeface="Times New Roman"/>
                <a:ea typeface="Times New Roman"/>
                <a:cs typeface="Times New Roman"/>
                <a:sym typeface="Times New Roman"/>
              </a:rPr>
              <a:t>i   </a:t>
            </a:r>
            <a:r>
              <a:rPr i="1" lang="en-US" sz="2025"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endParaRPr sz="202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26"/>
          <p:cNvSpPr txBox="1"/>
          <p:nvPr/>
        </p:nvSpPr>
        <p:spPr>
          <a:xfrm>
            <a:off x="324765" y="6526930"/>
            <a:ext cx="51816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23	CS419/619: Computer Vision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9" name="Google Shape;419;p2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0" name="Google Shape;420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2" name="Google Shape;422;p26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 txBox="1"/>
          <p:nvPr/>
        </p:nvSpPr>
        <p:spPr>
          <a:xfrm>
            <a:off x="150" y="-32125"/>
            <a:ext cx="121920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7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Applications of	 Neighborhood Processing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9" name="Google Shape;429;p27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0" name="Google Shape;430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3115425" y="4958525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150" y="1108400"/>
            <a:ext cx="12192000" cy="4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55600" marR="815975" rtl="0" algn="l">
              <a:spcBef>
                <a:spcPts val="249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Tasks done using neighborhood processing:</a:t>
            </a:r>
            <a:endParaRPr sz="4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00B050"/>
                </a:solidFill>
              </a:rPr>
              <a:t>–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Smoothing / averaging</a:t>
            </a:r>
            <a:endParaRPr sz="36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FF0000"/>
                </a:solidFill>
              </a:rPr>
              <a:t>–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Noise removal / filtering</a:t>
            </a:r>
            <a:endParaRPr sz="36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00B050"/>
                </a:solidFill>
              </a:rPr>
              <a:t>–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Edge detection</a:t>
            </a:r>
            <a:endParaRPr sz="36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FF0000"/>
                </a:solidFill>
              </a:rPr>
              <a:t>–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Contrast enhancement</a:t>
            </a:r>
            <a:endParaRPr sz="36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33" name="Google Shape;433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4" name="Google Shape;434;p27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Issues in Neighborhood Processing</a:t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684190" y="1161649"/>
            <a:ext cx="63933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Choice of </a:t>
            </a:r>
            <a:r>
              <a:rPr i="1"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</a:t>
            </a:r>
            <a:r>
              <a:rPr baseline="-25000" i="1" lang="en-US" sz="30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i="1"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‘s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30000" i="1" lang="en-US" sz="24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values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690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Window Size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805815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Choice of 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3695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Computation at boundaries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80645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i="1" lang="en-US" sz="2700">
                <a:latin typeface="Bell MT"/>
                <a:ea typeface="Bell MT"/>
                <a:cs typeface="Bell MT"/>
                <a:sym typeface="Bell MT"/>
              </a:rPr>
              <a:t>Do not compute at boundaries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i="1" lang="en-US" sz="2700">
                <a:latin typeface="Bell MT"/>
                <a:ea typeface="Bell MT"/>
                <a:cs typeface="Bell MT"/>
                <a:sym typeface="Bell MT"/>
              </a:rPr>
              <a:t>Pad with zeros and extend image boundary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i="1" lang="en-US" sz="2700">
                <a:latin typeface="Bell MT"/>
                <a:ea typeface="Bell MT"/>
                <a:cs typeface="Bell MT"/>
                <a:sym typeface="Bell MT"/>
              </a:rPr>
              <a:t>Pad assuming periodicity of image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806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i="1" lang="en-US" sz="2700">
                <a:latin typeface="Bell MT"/>
                <a:ea typeface="Bell MT"/>
                <a:cs typeface="Bell MT"/>
                <a:sym typeface="Bell MT"/>
              </a:rPr>
              <a:t>Extrapolation of	image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2" name="Google Shape;442;p28"/>
          <p:cNvSpPr txBox="1"/>
          <p:nvPr>
            <p:ph idx="11" type="ftr"/>
          </p:nvPr>
        </p:nvSpPr>
        <p:spPr>
          <a:xfrm>
            <a:off x="441239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43" name="Google Shape;443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5" name="Google Shape;445;p28"/>
          <p:cNvCxnSpPr/>
          <p:nvPr/>
        </p:nvCxnSpPr>
        <p:spPr>
          <a:xfrm flipH="1" rot="10800000">
            <a:off x="27150" y="904500"/>
            <a:ext cx="12165000" cy="9300"/>
          </a:xfrm>
          <a:prstGeom prst="straightConnector1">
            <a:avLst/>
          </a:prstGeom>
          <a:noFill/>
          <a:ln cap="flat" cmpd="sng" w="28575">
            <a:solidFill>
              <a:srgbClr val="E46C0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1" name="Google Shape;451;p29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52" name="Google Shape;452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3490350" y="2874900"/>
            <a:ext cx="521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