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6858000" cx="12192000"/>
  <p:notesSz cx="12192000" cy="6858000"/>
  <p:embeddedFontLst>
    <p:embeddedFont>
      <p:font typeface="Noto Sans Symbols"/>
      <p:regular r:id="rId76"/>
      <p:bold r:id="rId77"/>
    </p:embeddedFont>
    <p:embeddedFont>
      <p:font typeface="Bell MT"/>
      <p:regular r:id="rId78"/>
      <p:bold r:id="rId79"/>
      <p:italic r:id="rId80"/>
      <p:boldItalic r:id="rId81"/>
    </p:embeddedFont>
    <p:embeddedFont>
      <p:font typeface="Cambria Math"/>
      <p:regular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214F31-5EF8-4220-A71C-6AEFC83423C4}">
  <a:tblStyle styleId="{CF214F31-5EF8-4220-A71C-6AEFC83423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8407EB0-6597-4684-B6E1-8F7139D59BF4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BellMT-italic.fntdata"/><Relationship Id="rId82" Type="http://schemas.openxmlformats.org/officeDocument/2006/relationships/font" Target="fonts/CambriaMath-regular.fntdata"/><Relationship Id="rId81" Type="http://schemas.openxmlformats.org/officeDocument/2006/relationships/font" Target="fonts/BellM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NotoSansSymbols-bold.fntdata"/><Relationship Id="rId32" Type="http://schemas.openxmlformats.org/officeDocument/2006/relationships/slide" Target="slides/slide26.xml"/><Relationship Id="rId76" Type="http://schemas.openxmlformats.org/officeDocument/2006/relationships/font" Target="fonts/NotoSansSymbols-regular.fntdata"/><Relationship Id="rId35" Type="http://schemas.openxmlformats.org/officeDocument/2006/relationships/slide" Target="slides/slide29.xml"/><Relationship Id="rId79" Type="http://schemas.openxmlformats.org/officeDocument/2006/relationships/font" Target="fonts/BellMT-bold.fntdata"/><Relationship Id="rId34" Type="http://schemas.openxmlformats.org/officeDocument/2006/relationships/slide" Target="slides/slide28.xml"/><Relationship Id="rId78" Type="http://schemas.openxmlformats.org/officeDocument/2006/relationships/font" Target="fonts/BellMT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0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70f6a746d2_1_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70f6a746d2_1_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70f6a746d2_1_0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f67203f38_0_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6f67203f38_0_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6f67203f38_0_6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6f67203f38_0_1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6f67203f38_0_1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6f67203f38_0_11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6f67203f38_0_1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6f67203f38_0_1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6f67203f38_0_16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6f67203f38_0_2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6f67203f38_0_2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6f67203f38_0_21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6f67203f38_0_2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6f67203f38_0_2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6f67203f38_0_26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f67203f38_0_3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6f67203f38_0_3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6f67203f38_0_31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6f67203f38_0_3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6f67203f38_0_3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6f67203f38_0_36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6f67203f38_0_13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6f67203f38_0_13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6f67203f38_0_136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6f67203f38_0_14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6f67203f38_0_14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6f67203f38_0_141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6f67203f38_0_14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6f67203f38_0_14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6f67203f38_0_146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6f67203f38_0_15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6f67203f38_0_15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6f67203f38_0_151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6f67203f38_0_15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6f67203f38_0_15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6f67203f38_0_156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6f67203f38_0_21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6f67203f38_0_21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6f67203f38_0_219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6f67203f38_0_22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6f67203f38_0_22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g36f67203f38_0_224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6f67203f38_0_22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6f67203f38_0_22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6f67203f38_0_229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6f67203f38_0_23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6f67203f38_0_23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g36f67203f38_0_234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6f67203f38_0_23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6f67203f38_0_23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6f67203f38_0_239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6f67203f38_0_41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6f67203f38_0_41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6f67203f38_0_417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6f67203f38_0_42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36f67203f38_0_42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36f67203f38_0_422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6f67203f38_0_42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6f67203f38_0_42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g36f67203f38_0_427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6f67203f38_0_43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6f67203f38_0_43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g36f67203f38_0_432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6f67203f38_0_47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g36f67203f38_0_47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6f67203f38_0_48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g36f67203f38_0_48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6f67203f38_0_51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6f67203f38_0_51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6f67203f38_0_52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g36f67203f38_0_52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6f67203f38_0_56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6f67203f38_0_56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6f67203f38_0_57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g36f67203f38_0_57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6f67203f38_0_64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g36f67203f38_0_64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6f67203f38_0_65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g36f67203f38_0_65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6f67203f38_0_67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g36f67203f38_0_67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6f67203f38_0_69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g36f67203f38_0_69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6f67203f38_0_70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g36f67203f38_0_70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6f67203f38_0_71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g36f67203f38_0_71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6f67203f38_0_78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g36f67203f38_0_78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6f67203f38_0_80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g36f67203f38_0_80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6f67203f38_0_83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g36f67203f38_0_83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6f67203f38_0_87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g36f67203f38_0_87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36f67203f38_0_93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g36f67203f38_0_93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6f67203f38_0_98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g36f67203f38_0_98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6f67203f38_0_100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g36f67203f38_0_100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6f67203f38_0_101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g36f67203f38_0_101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.png"/><Relationship Id="rId11" Type="http://schemas.openxmlformats.org/officeDocument/2006/relationships/image" Target="../media/image17.png"/><Relationship Id="rId10" Type="http://schemas.openxmlformats.org/officeDocument/2006/relationships/image" Target="../media/image14.png"/><Relationship Id="rId13" Type="http://schemas.openxmlformats.org/officeDocument/2006/relationships/image" Target="../media/image2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3.jpg"/><Relationship Id="rId9" Type="http://schemas.openxmlformats.org/officeDocument/2006/relationships/image" Target="../media/image35.png"/><Relationship Id="rId15" Type="http://schemas.openxmlformats.org/officeDocument/2006/relationships/image" Target="../media/image7.png"/><Relationship Id="rId14" Type="http://schemas.openxmlformats.org/officeDocument/2006/relationships/image" Target="../media/image30.png"/><Relationship Id="rId17" Type="http://schemas.openxmlformats.org/officeDocument/2006/relationships/image" Target="../media/image6.png"/><Relationship Id="rId16" Type="http://schemas.openxmlformats.org/officeDocument/2006/relationships/image" Target="../media/image4.png"/><Relationship Id="rId5" Type="http://schemas.openxmlformats.org/officeDocument/2006/relationships/image" Target="../media/image5.png"/><Relationship Id="rId19" Type="http://schemas.openxmlformats.org/officeDocument/2006/relationships/image" Target="../media/image1.png"/><Relationship Id="rId6" Type="http://schemas.openxmlformats.org/officeDocument/2006/relationships/image" Target="../media/image9.png"/><Relationship Id="rId18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Relationship Id="rId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6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27.jpg"/><Relationship Id="rId6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Relationship Id="rId4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60.png"/><Relationship Id="rId6" Type="http://schemas.openxmlformats.org/officeDocument/2006/relationships/image" Target="../media/image48.png"/><Relationship Id="rId7" Type="http://schemas.openxmlformats.org/officeDocument/2006/relationships/image" Target="../media/image5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27.jpg"/><Relationship Id="rId6" Type="http://schemas.openxmlformats.org/officeDocument/2006/relationships/image" Target="../media/image26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9.png"/><Relationship Id="rId4" Type="http://schemas.openxmlformats.org/officeDocument/2006/relationships/image" Target="../media/image62.png"/><Relationship Id="rId5" Type="http://schemas.openxmlformats.org/officeDocument/2006/relationships/image" Target="../media/image61.png"/><Relationship Id="rId6" Type="http://schemas.openxmlformats.org/officeDocument/2006/relationships/image" Target="../media/image6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7.jpg"/><Relationship Id="rId4" Type="http://schemas.openxmlformats.org/officeDocument/2006/relationships/image" Target="../media/image63.png"/><Relationship Id="rId5" Type="http://schemas.openxmlformats.org/officeDocument/2006/relationships/image" Target="../media/image72.png"/><Relationship Id="rId6" Type="http://schemas.openxmlformats.org/officeDocument/2006/relationships/image" Target="../media/image7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2.png"/><Relationship Id="rId4" Type="http://schemas.openxmlformats.org/officeDocument/2006/relationships/image" Target="../media/image74.png"/><Relationship Id="rId5" Type="http://schemas.openxmlformats.org/officeDocument/2006/relationships/image" Target="../media/image83.jpg"/><Relationship Id="rId6" Type="http://schemas.openxmlformats.org/officeDocument/2006/relationships/image" Target="../media/image78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jpg"/><Relationship Id="rId4" Type="http://schemas.openxmlformats.org/officeDocument/2006/relationships/image" Target="../media/image26.jpg"/><Relationship Id="rId5" Type="http://schemas.openxmlformats.org/officeDocument/2006/relationships/image" Target="../media/image38.png"/><Relationship Id="rId6" Type="http://schemas.openxmlformats.org/officeDocument/2006/relationships/image" Target="../media/image7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0.jpg"/><Relationship Id="rId4" Type="http://schemas.openxmlformats.org/officeDocument/2006/relationships/image" Target="../media/image67.jpg"/><Relationship Id="rId5" Type="http://schemas.openxmlformats.org/officeDocument/2006/relationships/image" Target="../media/image75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3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Relationship Id="rId6" Type="http://schemas.openxmlformats.org/officeDocument/2006/relationships/image" Target="../media/image8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6.png"/><Relationship Id="rId4" Type="http://schemas.openxmlformats.org/officeDocument/2006/relationships/image" Target="../media/image8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7.png"/><Relationship Id="rId4" Type="http://schemas.openxmlformats.org/officeDocument/2006/relationships/image" Target="../media/image77.png"/><Relationship Id="rId5" Type="http://schemas.openxmlformats.org/officeDocument/2006/relationships/image" Target="../media/image88.png"/><Relationship Id="rId6" Type="http://schemas.openxmlformats.org/officeDocument/2006/relationships/image" Target="../media/image8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7.png"/><Relationship Id="rId4" Type="http://schemas.openxmlformats.org/officeDocument/2006/relationships/image" Target="../media/image81.png"/><Relationship Id="rId5" Type="http://schemas.openxmlformats.org/officeDocument/2006/relationships/image" Target="../media/image88.png"/><Relationship Id="rId6" Type="http://schemas.openxmlformats.org/officeDocument/2006/relationships/image" Target="../media/image7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0.png"/><Relationship Id="rId4" Type="http://schemas.openxmlformats.org/officeDocument/2006/relationships/image" Target="../media/image87.png"/><Relationship Id="rId5" Type="http://schemas.openxmlformats.org/officeDocument/2006/relationships/image" Target="../media/image81.png"/><Relationship Id="rId6" Type="http://schemas.openxmlformats.org/officeDocument/2006/relationships/image" Target="../media/image88.png"/><Relationship Id="rId7" Type="http://schemas.openxmlformats.org/officeDocument/2006/relationships/image" Target="../media/image7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0.png"/><Relationship Id="rId4" Type="http://schemas.openxmlformats.org/officeDocument/2006/relationships/image" Target="../media/image93.png"/><Relationship Id="rId9" Type="http://schemas.openxmlformats.org/officeDocument/2006/relationships/image" Target="../media/image95.png"/><Relationship Id="rId5" Type="http://schemas.openxmlformats.org/officeDocument/2006/relationships/image" Target="../media/image102.png"/><Relationship Id="rId6" Type="http://schemas.openxmlformats.org/officeDocument/2006/relationships/image" Target="../media/image99.png"/><Relationship Id="rId7" Type="http://schemas.openxmlformats.org/officeDocument/2006/relationships/image" Target="../media/image97.png"/><Relationship Id="rId8" Type="http://schemas.openxmlformats.org/officeDocument/2006/relationships/image" Target="../media/image10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6.png"/><Relationship Id="rId4" Type="http://schemas.openxmlformats.org/officeDocument/2006/relationships/image" Target="../media/image96.png"/><Relationship Id="rId5" Type="http://schemas.openxmlformats.org/officeDocument/2006/relationships/image" Target="../media/image9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4294967295" type="title"/>
          </p:nvPr>
        </p:nvSpPr>
        <p:spPr>
          <a:xfrm>
            <a:off x="0" y="136725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Histogram Processing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" name="Google Shape;40;p7"/>
          <p:cNvSpPr txBox="1"/>
          <p:nvPr/>
        </p:nvSpPr>
        <p:spPr>
          <a:xfrm>
            <a:off x="1" y="3124200"/>
            <a:ext cx="121920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- 1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Histogram Equalization: </a:t>
            </a: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Continuous Case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" name="Google Shape;50;p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" name="Google Shape;51;p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Recap</a:t>
            </a:r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688358" y="1195538"/>
            <a:ext cx="7097400" cy="48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 Representation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Binary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Grayscale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Color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7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Pixel Neighborhood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Adjacency,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Connectivity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Path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" name="Google Shape;62;p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620053" y="1260125"/>
            <a:ext cx="9427200" cy="45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What is a histogram?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Histogram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based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Contrast Enhancement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Histogram Equalization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Continuous case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Discrete Case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Histogram Specification (matching)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Continuous case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Discrete Case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1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" name="Google Shape;73;p1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</a:t>
            </a:r>
            <a:endParaRPr/>
          </a:p>
        </p:txBody>
      </p:sp>
      <p:sp>
        <p:nvSpPr>
          <p:cNvPr id="74" name="Google Shape;74;p10"/>
          <p:cNvSpPr txBox="1"/>
          <p:nvPr/>
        </p:nvSpPr>
        <p:spPr>
          <a:xfrm>
            <a:off x="564815" y="1046896"/>
            <a:ext cx="3947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What is a histogram?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" name="Google Shape;75;p10"/>
          <p:cNvSpPr txBox="1"/>
          <p:nvPr/>
        </p:nvSpPr>
        <p:spPr>
          <a:xfrm>
            <a:off x="3657342" y="3980179"/>
            <a:ext cx="12623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3-bit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7673386" y="3980179"/>
            <a:ext cx="23723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Corresponding histogram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/>
          <p:cNvSpPr txBox="1"/>
          <p:nvPr/>
        </p:nvSpPr>
        <p:spPr>
          <a:xfrm>
            <a:off x="3114002" y="4554323"/>
            <a:ext cx="2465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Representation: 2D matrix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0"/>
          <p:cNvSpPr txBox="1"/>
          <p:nvPr/>
        </p:nvSpPr>
        <p:spPr>
          <a:xfrm>
            <a:off x="7228149" y="4706150"/>
            <a:ext cx="374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Representation: 1-D matrix (vector)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0"/>
          <p:cNvGraphicFramePr/>
          <p:nvPr/>
        </p:nvGraphicFramePr>
        <p:xfrm>
          <a:off x="7206850" y="5114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</a:tbl>
          </a:graphicData>
        </a:graphic>
      </p:graphicFrame>
      <p:grpSp>
        <p:nvGrpSpPr>
          <p:cNvPr id="80" name="Google Shape;80;p10"/>
          <p:cNvGrpSpPr/>
          <p:nvPr/>
        </p:nvGrpSpPr>
        <p:grpSpPr>
          <a:xfrm>
            <a:off x="3078289" y="1391070"/>
            <a:ext cx="7601284" cy="2590062"/>
            <a:chOff x="3078289" y="1391070"/>
            <a:chExt cx="7601284" cy="2590062"/>
          </a:xfrm>
        </p:grpSpPr>
        <p:pic>
          <p:nvPicPr>
            <p:cNvPr id="81" name="Google Shape;8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83051" y="1676400"/>
              <a:ext cx="2304287" cy="22997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0"/>
            <p:cNvSpPr/>
            <p:nvPr/>
          </p:nvSpPr>
          <p:spPr>
            <a:xfrm>
              <a:off x="3078289" y="1671637"/>
              <a:ext cx="2313940" cy="2309495"/>
            </a:xfrm>
            <a:custGeom>
              <a:rect b="b" l="l" r="r" t="t"/>
              <a:pathLst>
                <a:path extrusionOk="0" h="2309495" w="2313940">
                  <a:moveTo>
                    <a:pt x="0" y="0"/>
                  </a:moveTo>
                  <a:lnTo>
                    <a:pt x="2313813" y="0"/>
                  </a:lnTo>
                  <a:lnTo>
                    <a:pt x="2313813" y="2309241"/>
                  </a:lnTo>
                  <a:lnTo>
                    <a:pt x="0" y="230924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3" name="Google Shape;83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1" y="1391070"/>
              <a:ext cx="3821572" cy="25500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10"/>
          <p:cNvGrpSpPr/>
          <p:nvPr/>
        </p:nvGrpSpPr>
        <p:grpSpPr>
          <a:xfrm>
            <a:off x="3386328" y="4876800"/>
            <a:ext cx="423671" cy="1629154"/>
            <a:chOff x="3386328" y="4876800"/>
            <a:chExt cx="423671" cy="1629154"/>
          </a:xfrm>
        </p:grpSpPr>
        <p:pic>
          <p:nvPicPr>
            <p:cNvPr id="85" name="Google Shape;85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86328" y="4876800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86328" y="5248656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86328" y="5620512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86328" y="5992367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0"/>
          <p:cNvGrpSpPr/>
          <p:nvPr/>
        </p:nvGrpSpPr>
        <p:grpSpPr>
          <a:xfrm>
            <a:off x="3895344" y="4876800"/>
            <a:ext cx="423671" cy="1629154"/>
            <a:chOff x="3895344" y="4876800"/>
            <a:chExt cx="423671" cy="1629154"/>
          </a:xfrm>
        </p:grpSpPr>
        <p:pic>
          <p:nvPicPr>
            <p:cNvPr id="90" name="Google Shape;90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895344" y="4876800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895344" y="5248656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895344" y="5620512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895344" y="5992367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" name="Google Shape;94;p10"/>
          <p:cNvGrpSpPr/>
          <p:nvPr/>
        </p:nvGrpSpPr>
        <p:grpSpPr>
          <a:xfrm>
            <a:off x="4405884" y="4876800"/>
            <a:ext cx="423671" cy="1629154"/>
            <a:chOff x="4405884" y="4876800"/>
            <a:chExt cx="423671" cy="1629154"/>
          </a:xfrm>
        </p:grpSpPr>
        <p:pic>
          <p:nvPicPr>
            <p:cNvPr id="95" name="Google Shape;95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405884" y="4876800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405884" y="5248656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405884" y="5620512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405884" y="5992367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0"/>
          <p:cNvGrpSpPr/>
          <p:nvPr/>
        </p:nvGrpSpPr>
        <p:grpSpPr>
          <a:xfrm>
            <a:off x="4916423" y="4876800"/>
            <a:ext cx="423671" cy="1629154"/>
            <a:chOff x="4916423" y="4876800"/>
            <a:chExt cx="423671" cy="1629154"/>
          </a:xfrm>
        </p:grpSpPr>
        <p:pic>
          <p:nvPicPr>
            <p:cNvPr id="100" name="Google Shape;100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916423" y="4876800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916423" y="5248656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916423" y="5620512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916423" y="5992367"/>
              <a:ext cx="423671" cy="513587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04" name="Google Shape;104;p10"/>
          <p:cNvGraphicFramePr/>
          <p:nvPr/>
        </p:nvGraphicFramePr>
        <p:xfrm>
          <a:off x="3326751" y="4901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509900"/>
                <a:gridCol w="509900"/>
                <a:gridCol w="509900"/>
                <a:gridCol w="509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DA"/>
                    </a:solidFill>
                  </a:tcPr>
                </a:tc>
              </a:tr>
              <a:tr h="10985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105" name="Google Shape;105;p10"/>
          <p:cNvSpPr txBox="1"/>
          <p:nvPr/>
        </p:nvSpPr>
        <p:spPr>
          <a:xfrm>
            <a:off x="2821939" y="5417311"/>
            <a:ext cx="33020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I=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6631819" y="5036446"/>
            <a:ext cx="52959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h =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1831339" y="2684779"/>
            <a:ext cx="9309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Size: 4 x 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1025296" y="5295620"/>
            <a:ext cx="8197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Black: 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White: 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0" name="Google Shape;110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1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" name="Google Shape;118;p1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634740" y="939156"/>
            <a:ext cx="9700200" cy="5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9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Notations: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In a gray level image, let us consider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- No. of	gray levels in the image (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0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to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L-1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315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- The normalized intensity value (gray level),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[0,1],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2" marL="125158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here </a:t>
            </a: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4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[0,L-1]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i="1" lang="en-US" sz="315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- No. of	pixels with gray level r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k</a:t>
            </a:r>
            <a:endParaRPr baseline="-25000" sz="3150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- Total number of	pixels in the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451484" rtl="0" algn="l">
              <a:lnSpc>
                <a:spcPct val="100000"/>
              </a:lnSpc>
              <a:spcBef>
                <a:spcPts val="369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Using this we can define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56578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Histogram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56578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Normalized histogram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0" name="Google Shape;120;p1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" name="Google Shape;128;p1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" name="Google Shape;129;p1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62952" y="5232225"/>
            <a:ext cx="112242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-342900" lvl="0" marL="380365" marR="30480" rtl="0" algn="l">
              <a:lnSpc>
                <a:spcPct val="11462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plot of	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(r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) with respect to r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is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called </a:t>
            </a:r>
            <a:r>
              <a:rPr lang="en-US" sz="3350">
                <a:latin typeface="Bell MT"/>
                <a:ea typeface="Bell MT"/>
                <a:cs typeface="Bell MT"/>
                <a:sym typeface="Bell MT"/>
              </a:rPr>
              <a:t>normalized histogram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of the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650251" y="987050"/>
            <a:ext cx="11224200" cy="28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Histogram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h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of	an image is defined as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3225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h(r</a:t>
            </a:r>
            <a:r>
              <a:rPr baseline="-25000" i="1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)=n</a:t>
            </a:r>
            <a:r>
              <a:rPr baseline="-25000" i="1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	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k=0,1,2,..L-1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93700" marR="30480" rtl="0" algn="l">
              <a:lnSpc>
                <a:spcPct val="100000"/>
              </a:lnSpc>
              <a:spcBef>
                <a:spcPts val="3204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probabilities assigned to each gray level can be given by the relation: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2087085" y="4422043"/>
            <a:ext cx="597535" cy="328930"/>
          </a:xfrm>
          <a:custGeom>
            <a:rect b="b" l="l" r="r" t="t"/>
            <a:pathLst>
              <a:path extrusionOk="0" h="328929" w="597535">
                <a:moveTo>
                  <a:pt x="492125" y="0"/>
                </a:moveTo>
                <a:lnTo>
                  <a:pt x="487438" y="13347"/>
                </a:lnTo>
                <a:lnTo>
                  <a:pt x="506479" y="21612"/>
                </a:lnTo>
                <a:lnTo>
                  <a:pt x="522854" y="33053"/>
                </a:lnTo>
                <a:lnTo>
                  <a:pt x="547611" y="65455"/>
                </a:lnTo>
                <a:lnTo>
                  <a:pt x="562173" y="109167"/>
                </a:lnTo>
                <a:lnTo>
                  <a:pt x="565763" y="134387"/>
                </a:lnTo>
                <a:lnTo>
                  <a:pt x="565815" y="134748"/>
                </a:lnTo>
                <a:lnTo>
                  <a:pt x="565810" y="191819"/>
                </a:lnTo>
                <a:lnTo>
                  <a:pt x="556056" y="241839"/>
                </a:lnTo>
                <a:lnTo>
                  <a:pt x="536485" y="280904"/>
                </a:lnTo>
                <a:lnTo>
                  <a:pt x="506704" y="307255"/>
                </a:lnTo>
                <a:lnTo>
                  <a:pt x="487959" y="315556"/>
                </a:lnTo>
                <a:lnTo>
                  <a:pt x="492125" y="328904"/>
                </a:lnTo>
                <a:lnTo>
                  <a:pt x="536989" y="307867"/>
                </a:lnTo>
                <a:lnTo>
                  <a:pt x="569976" y="271437"/>
                </a:lnTo>
                <a:lnTo>
                  <a:pt x="590264" y="222646"/>
                </a:lnTo>
                <a:lnTo>
                  <a:pt x="597027" y="164541"/>
                </a:lnTo>
                <a:lnTo>
                  <a:pt x="595349" y="134748"/>
                </a:lnTo>
                <a:lnTo>
                  <a:pt x="581757" y="80941"/>
                </a:lnTo>
                <a:lnTo>
                  <a:pt x="554854" y="37433"/>
                </a:lnTo>
                <a:lnTo>
                  <a:pt x="515973" y="8610"/>
                </a:lnTo>
                <a:lnTo>
                  <a:pt x="492125" y="0"/>
                </a:lnTo>
                <a:close/>
              </a:path>
              <a:path extrusionOk="0" h="328929" w="597535">
                <a:moveTo>
                  <a:pt x="104902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3"/>
                </a:lnTo>
                <a:lnTo>
                  <a:pt x="0" y="164541"/>
                </a:lnTo>
                <a:lnTo>
                  <a:pt x="6762" y="222646"/>
                </a:lnTo>
                <a:lnTo>
                  <a:pt x="27051" y="271437"/>
                </a:lnTo>
                <a:lnTo>
                  <a:pt x="60037" y="307867"/>
                </a:lnTo>
                <a:lnTo>
                  <a:pt x="104902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3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4" y="47668"/>
                </a:lnTo>
                <a:lnTo>
                  <a:pt x="90611" y="21612"/>
                </a:lnTo>
                <a:lnTo>
                  <a:pt x="109575" y="13347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12"/>
          <p:cNvSpPr txBox="1"/>
          <p:nvPr/>
        </p:nvSpPr>
        <p:spPr>
          <a:xfrm>
            <a:off x="1642872" y="4320032"/>
            <a:ext cx="948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𝒑</a:t>
            </a:r>
            <a:r>
              <a:rPr baseline="-25000" lang="en-US" sz="3075">
                <a:latin typeface="Cambria Math"/>
                <a:ea typeface="Cambria Math"/>
                <a:cs typeface="Cambria Math"/>
                <a:sym typeface="Cambria Math"/>
              </a:rPr>
              <a:t>𝒓	   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r>
              <a:rPr baseline="-25000" lang="en-US" sz="3075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aseline="-25000" sz="30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3179064" y="4575047"/>
            <a:ext cx="403860" cy="22860"/>
          </a:xfrm>
          <a:custGeom>
            <a:rect b="b" l="l" r="r" t="t"/>
            <a:pathLst>
              <a:path extrusionOk="0" h="22860" w="403860">
                <a:moveTo>
                  <a:pt x="403860" y="0"/>
                </a:moveTo>
                <a:lnTo>
                  <a:pt x="0" y="0"/>
                </a:lnTo>
                <a:lnTo>
                  <a:pt x="0" y="22860"/>
                </a:lnTo>
                <a:lnTo>
                  <a:pt x="403860" y="22860"/>
                </a:lnTo>
                <a:lnTo>
                  <a:pt x="40386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" name="Google Shape;135;p12"/>
          <p:cNvSpPr txBox="1"/>
          <p:nvPr/>
        </p:nvSpPr>
        <p:spPr>
          <a:xfrm>
            <a:off x="3233420" y="4557776"/>
            <a:ext cx="295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𝑵</a:t>
            </a:r>
            <a:endParaRPr sz="2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5040884" y="4489196"/>
            <a:ext cx="184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sz="20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2830477" y="3987058"/>
            <a:ext cx="72378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27355" rtl="0" algn="l">
              <a:lnSpc>
                <a:spcPct val="88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𝒏</a:t>
            </a:r>
            <a:r>
              <a:rPr baseline="-25000" lang="en-US" sz="3075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aseline="-25000" sz="3075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63500" rtl="0" algn="l">
              <a:lnSpc>
                <a:spcPct val="976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=	            𝟎 ≤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𝒓	   ≤ 𝟏,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	 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𝒌 = 𝟎, 𝟏, 𝟐 … … . 𝑳 − 𝟏</a:t>
            </a:r>
            <a:endParaRPr sz="2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8" name="Google Shape;138;p12"/>
          <p:cNvSpPr txBox="1"/>
          <p:nvPr>
            <p:ph idx="11" type="ftr"/>
          </p:nvPr>
        </p:nvSpPr>
        <p:spPr>
          <a:xfrm>
            <a:off x="4398740" y="6547849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9" name="Google Shape;139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" name="Google Shape;146;p1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1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304801" y="1252775"/>
            <a:ext cx="11122500" cy="4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9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Four basic image types and their histograms: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dark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Light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low contrast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high contrast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99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i="1"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Their corresponding histograms shown in </a:t>
            </a:r>
            <a:r>
              <a:rPr i="1"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next few slides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9" name="Google Shape;149;p1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57" name="Google Shape;157;p14"/>
          <p:cNvGrpSpPr/>
          <p:nvPr/>
        </p:nvGrpSpPr>
        <p:grpSpPr>
          <a:xfrm>
            <a:off x="304800" y="975360"/>
            <a:ext cx="11582400" cy="2631947"/>
            <a:chOff x="304800" y="975360"/>
            <a:chExt cx="11582400" cy="2631947"/>
          </a:xfrm>
        </p:grpSpPr>
        <p:sp>
          <p:nvSpPr>
            <p:cNvPr id="158" name="Google Shape;158;p14"/>
            <p:cNvSpPr/>
            <p:nvPr/>
          </p:nvSpPr>
          <p:spPr>
            <a:xfrm>
              <a:off x="304800" y="975360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9" name="Google Shape;15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09800" y="1024128"/>
              <a:ext cx="7983059" cy="258317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0" name="Google Shape;1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3779520"/>
            <a:ext cx="8020450" cy="256031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4"/>
          <p:cNvSpPr txBox="1"/>
          <p:nvPr>
            <p:ph idx="4294967295" type="title"/>
          </p:nvPr>
        </p:nvSpPr>
        <p:spPr>
          <a:xfrm>
            <a:off x="75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</a:t>
            </a:r>
            <a:endParaRPr/>
          </a:p>
        </p:txBody>
      </p:sp>
      <p:sp>
        <p:nvSpPr>
          <p:cNvPr id="162" name="Google Shape;162;p14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63" name="Google Shape;163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9" name="Google Shape;169;p1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70" name="Google Shape;170;p15"/>
          <p:cNvGrpSpPr/>
          <p:nvPr/>
        </p:nvGrpSpPr>
        <p:grpSpPr>
          <a:xfrm>
            <a:off x="2057400" y="1066800"/>
            <a:ext cx="8214359" cy="5225795"/>
            <a:chOff x="2057400" y="1066800"/>
            <a:chExt cx="8214359" cy="5225795"/>
          </a:xfrm>
        </p:grpSpPr>
        <p:pic>
          <p:nvPicPr>
            <p:cNvPr id="171" name="Google Shape;17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57400" y="1066800"/>
              <a:ext cx="8195031" cy="2587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57400" y="3685032"/>
              <a:ext cx="8214359" cy="2607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5"/>
          <p:cNvSpPr txBox="1"/>
          <p:nvPr>
            <p:ph idx="4294967295" type="title"/>
          </p:nvPr>
        </p:nvSpPr>
        <p:spPr>
          <a:xfrm>
            <a:off x="75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</a:t>
            </a:r>
            <a:endParaRPr/>
          </a:p>
        </p:txBody>
      </p:sp>
      <p:sp>
        <p:nvSpPr>
          <p:cNvPr id="174" name="Google Shape;174;p15"/>
          <p:cNvSpPr txBox="1"/>
          <p:nvPr>
            <p:ph idx="4294967295" type="ftr"/>
          </p:nvPr>
        </p:nvSpPr>
        <p:spPr>
          <a:xfrm>
            <a:off x="4398753" y="6578349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75" name="Google Shape;175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p1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" name="Google Shape;182;p1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Few more Histogram Examples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688340" y="987044"/>
            <a:ext cx="244665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Example – 1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801" y="1833520"/>
            <a:ext cx="4459769" cy="340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0222" y="1850315"/>
            <a:ext cx="4627827" cy="351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87" name="Google Shape;187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1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5" name="Google Shape;195;p1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Few more Histogram Examples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88340" y="967402"/>
            <a:ext cx="244665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Example – 2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586742" y="2207936"/>
            <a:ext cx="14782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Two prominent intensities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383527" y="4504000"/>
            <a:ext cx="1332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Image with white foreground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17"/>
          <p:cNvGrpSpPr/>
          <p:nvPr/>
        </p:nvGrpSpPr>
        <p:grpSpPr>
          <a:xfrm>
            <a:off x="2235707" y="1427988"/>
            <a:ext cx="4320539" cy="4907279"/>
            <a:chOff x="2235707" y="1427988"/>
            <a:chExt cx="4320539" cy="4907279"/>
          </a:xfrm>
        </p:grpSpPr>
        <p:pic>
          <p:nvPicPr>
            <p:cNvPr id="200" name="Google Shape;20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40507" y="1427988"/>
              <a:ext cx="3648455" cy="2581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35707" y="3962412"/>
              <a:ext cx="4320539" cy="237285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2" name="Google Shape;2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4572" y="3828396"/>
            <a:ext cx="2885008" cy="2408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0172" y="1343253"/>
            <a:ext cx="3012033" cy="229605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1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1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Few more Histogram Examples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88340" y="987044"/>
            <a:ext cx="244665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Example – 3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9603740" y="2303779"/>
            <a:ext cx="163957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Image with more prominent dark background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2877876" y="5808900"/>
            <a:ext cx="6986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Image with more or less uniform coloring except the background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387" y="1828800"/>
            <a:ext cx="1472712" cy="1694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405" y="3886200"/>
            <a:ext cx="4547101" cy="166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3565" y="1303369"/>
            <a:ext cx="4019228" cy="2091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41921" y="3788559"/>
            <a:ext cx="4105113" cy="173519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22" name="Google Shape;222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9" name="Google Shape;229;p1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1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of	Histogram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34740" y="1027143"/>
            <a:ext cx="9723000" cy="4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Histograms are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simple to calculate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give information about the kind (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global appearance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) of 	image and its properties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Image enhancement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Image compression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Image segmentation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32" name="Google Shape;232;p1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33" name="Google Shape;233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0" name="Google Shape;240;p2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2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of a Good Image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304800" y="1316900"/>
            <a:ext cx="107892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292100" lvl="0" marL="355600" marR="5080" rtl="0" algn="l">
              <a:lnSpc>
                <a:spcPct val="1002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Intuitively, images whose pixels occupy the </a:t>
            </a:r>
            <a:r>
              <a:rPr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entire range of intensity levels</a:t>
            </a:r>
            <a:r>
              <a:rPr lang="en-US" sz="3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and tend to be </a:t>
            </a:r>
            <a:r>
              <a:rPr lang="en-US" sz="36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distributed </a:t>
            </a:r>
            <a:r>
              <a:rPr b="1" lang="en-US" sz="36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uniformly </a:t>
            </a:r>
            <a:r>
              <a:rPr b="1" lang="en-US" sz="3600" u="none">
                <a:latin typeface="Bell MT"/>
                <a:ea typeface="Bell MT"/>
                <a:cs typeface="Bell MT"/>
                <a:sym typeface="Bell MT"/>
              </a:rPr>
              <a:t>will have an appearance of</a:t>
            </a: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3600" u="sng">
                <a:solidFill>
                  <a:srgbClr val="8EB4E3"/>
                </a:solidFill>
                <a:latin typeface="Bell MT"/>
                <a:ea typeface="Bell MT"/>
                <a:cs typeface="Bell MT"/>
                <a:sym typeface="Bell MT"/>
              </a:rPr>
              <a:t>good contrast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3" name="Google Shape;243;p2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44" name="Google Shape;244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" name="Google Shape;251;p2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2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of a Good Image</a:t>
            </a:r>
            <a:endParaRPr/>
          </a:p>
        </p:txBody>
      </p:sp>
      <p:pic>
        <p:nvPicPr>
          <p:cNvPr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8811" y="3867039"/>
            <a:ext cx="3672455" cy="1949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9639" y="1242334"/>
            <a:ext cx="3652385" cy="1985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90812" y="3970020"/>
            <a:ext cx="3505187" cy="1726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0812" y="1431921"/>
            <a:ext cx="3505187" cy="166637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4803140" y="3200251"/>
            <a:ext cx="37185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 image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corresponding histogram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3235749" y="5808350"/>
            <a:ext cx="6723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Image after histogram equalization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corresponding histogram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>
            <p:ph idx="11" type="ftr"/>
          </p:nvPr>
        </p:nvSpPr>
        <p:spPr>
          <a:xfrm>
            <a:off x="4398740" y="656843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60" name="Google Shape;260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2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Histogram Equalization</a:t>
            </a:r>
            <a:r>
              <a:rPr lang="en-US"/>
              <a:t>-</a:t>
            </a:r>
            <a:r>
              <a:rPr lang="en-US" sz="3600"/>
              <a:t>Continuous Case</a:t>
            </a:r>
            <a:endParaRPr sz="3600"/>
          </a:p>
        </p:txBody>
      </p:sp>
      <p:sp>
        <p:nvSpPr>
          <p:cNvPr id="268" name="Google Shape;268;p22"/>
          <p:cNvSpPr txBox="1"/>
          <p:nvPr/>
        </p:nvSpPr>
        <p:spPr>
          <a:xfrm>
            <a:off x="304790" y="1179755"/>
            <a:ext cx="82011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-32321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Noto Sans Symbols"/>
              <a:buChar char="▪"/>
            </a:pPr>
            <a:r>
              <a:rPr b="1" lang="en-US" sz="2700">
                <a:latin typeface="Bell MT"/>
                <a:ea typeface="Bell MT"/>
                <a:cs typeface="Bell MT"/>
                <a:sym typeface="Bell MT"/>
              </a:rPr>
              <a:t>Objectives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5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to obtain a </a:t>
            </a:r>
            <a:r>
              <a:rPr lang="en-US" sz="245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uniform histogram</a:t>
            </a:r>
            <a:r>
              <a:rPr lang="en-US" sz="245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for the output image</a:t>
            </a:r>
            <a:endParaRPr sz="245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304800" y="2128950"/>
            <a:ext cx="8397000" cy="4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-287019" lvl="0" marL="756285" marR="341630" rtl="0" algn="l">
              <a:lnSpc>
                <a:spcPct val="102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5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to obtain a transformation function </a:t>
            </a:r>
            <a:r>
              <a:rPr lang="en-US" sz="2450"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245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which gives such transformation</a:t>
            </a:r>
            <a:endParaRPr sz="2450">
              <a:latin typeface="Bell MT"/>
              <a:ea typeface="Bell MT"/>
              <a:cs typeface="Bell MT"/>
              <a:sym typeface="Bell MT"/>
            </a:endParaRPr>
          </a:p>
          <a:p>
            <a:pPr indent="-323215" lvl="0" marL="35496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Consider: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67335" lvl="1" marL="75628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–"/>
            </a:pPr>
            <a:r>
              <a:rPr i="1" lang="en-US" sz="2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represents the gray levels of	image to be enhanced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-267335" lvl="1" marL="756285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2300"/>
              <a:buFont typeface="Arial"/>
              <a:buChar char="–"/>
            </a:pPr>
            <a:r>
              <a:rPr lang="en-US" sz="2300">
                <a:latin typeface="Bell MT"/>
                <a:ea typeface="Bell MT"/>
                <a:cs typeface="Bell MT"/>
                <a:sym typeface="Bell MT"/>
              </a:rPr>
              <a:t>It is normalized in the range [0,1]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  <a:p>
            <a:pPr indent="-208915" lvl="2" marL="1155065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0070C0"/>
              </a:buClr>
              <a:buSzPts val="1900"/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= 0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represents black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08915" lvl="2" marL="1155065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>
                <a:srgbClr val="0070C0"/>
              </a:buClr>
              <a:buSzPts val="1900"/>
              <a:buFont typeface="Arial"/>
              <a:buChar char="•"/>
            </a:pPr>
            <a:r>
              <a:rPr lang="en-US" sz="2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= 1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represents white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23850" lvl="0" marL="355600" marR="186055" rtl="0" algn="l">
              <a:lnSpc>
                <a:spcPct val="108000"/>
              </a:lnSpc>
              <a:spcBef>
                <a:spcPts val="695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Noto Sans Symbols"/>
              <a:buChar char="▪"/>
            </a:pPr>
            <a:r>
              <a:rPr lang="en-US" sz="2700" u="sng">
                <a:latin typeface="Bell MT"/>
                <a:ea typeface="Bell MT"/>
                <a:cs typeface="Bell MT"/>
                <a:sym typeface="Bell MT"/>
              </a:rPr>
              <a:t>Objective is to get </a:t>
            </a:r>
            <a:r>
              <a:rPr i="1" lang="en-US" sz="27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 = T(r) </a:t>
            </a:r>
            <a:r>
              <a:rPr lang="en-US" sz="2700" u="sng">
                <a:latin typeface="Bell MT"/>
                <a:ea typeface="Bell MT"/>
                <a:cs typeface="Bell MT"/>
                <a:sym typeface="Bell MT"/>
              </a:rPr>
              <a:t>transformation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 that produces a level </a:t>
            </a:r>
            <a:r>
              <a:rPr i="1" lang="en-US" sz="27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for every pixel level </a:t>
            </a:r>
            <a:r>
              <a:rPr i="1" lang="en-US" sz="27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in the original image to get uniform histogram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70" name="Google Shape;270;p22"/>
          <p:cNvGrpSpPr/>
          <p:nvPr/>
        </p:nvGrpSpPr>
        <p:grpSpPr>
          <a:xfrm>
            <a:off x="8752907" y="1859279"/>
            <a:ext cx="3213822" cy="2704702"/>
            <a:chOff x="8752907" y="1859279"/>
            <a:chExt cx="3213822" cy="2704702"/>
          </a:xfrm>
        </p:grpSpPr>
        <p:sp>
          <p:nvSpPr>
            <p:cNvPr id="271" name="Google Shape;271;p22"/>
            <p:cNvSpPr/>
            <p:nvPr/>
          </p:nvSpPr>
          <p:spPr>
            <a:xfrm>
              <a:off x="8795766" y="1931479"/>
              <a:ext cx="0" cy="2595880"/>
            </a:xfrm>
            <a:custGeom>
              <a:rect b="b" l="l" r="r" t="t"/>
              <a:pathLst>
                <a:path extrusionOk="0" h="2595879" w="120000">
                  <a:moveTo>
                    <a:pt x="0" y="25955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8752907" y="1860039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8795766" y="4521083"/>
              <a:ext cx="3099435" cy="6350"/>
            </a:xfrm>
            <a:custGeom>
              <a:rect b="b" l="l" r="r" t="t"/>
              <a:pathLst>
                <a:path extrusionOk="0" h="6350" w="3099434">
                  <a:moveTo>
                    <a:pt x="0" y="6108"/>
                  </a:moveTo>
                  <a:lnTo>
                    <a:pt x="3098977" y="0"/>
                  </a:lnTo>
                </a:path>
              </a:pathLst>
            </a:custGeom>
            <a:noFill/>
            <a:ln cap="flat" cmpd="sng" w="2857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11880369" y="4478256"/>
              <a:ext cx="86360" cy="85725"/>
            </a:xfrm>
            <a:custGeom>
              <a:rect b="b" l="l" r="r" t="t"/>
              <a:pathLst>
                <a:path extrusionOk="0" h="85725" w="86359">
                  <a:moveTo>
                    <a:pt x="0" y="0"/>
                  </a:moveTo>
                  <a:lnTo>
                    <a:pt x="177" y="85724"/>
                  </a:lnTo>
                  <a:lnTo>
                    <a:pt x="85813" y="4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8772906" y="2512313"/>
              <a:ext cx="2324100" cy="1995170"/>
            </a:xfrm>
            <a:custGeom>
              <a:rect b="b" l="l" r="r" t="t"/>
              <a:pathLst>
                <a:path extrusionOk="0" h="1995170" w="2324100">
                  <a:moveTo>
                    <a:pt x="0" y="1994916"/>
                  </a:moveTo>
                  <a:lnTo>
                    <a:pt x="25572" y="1942832"/>
                  </a:lnTo>
                  <a:lnTo>
                    <a:pt x="51158" y="1890828"/>
                  </a:lnTo>
                  <a:lnTo>
                    <a:pt x="76771" y="1838982"/>
                  </a:lnTo>
                  <a:lnTo>
                    <a:pt x="102424" y="1787372"/>
                  </a:lnTo>
                  <a:lnTo>
                    <a:pt x="128130" y="1736078"/>
                  </a:lnTo>
                  <a:lnTo>
                    <a:pt x="153902" y="1685179"/>
                  </a:lnTo>
                  <a:lnTo>
                    <a:pt x="179755" y="1634753"/>
                  </a:lnTo>
                  <a:lnTo>
                    <a:pt x="205700" y="1584880"/>
                  </a:lnTo>
                  <a:lnTo>
                    <a:pt x="231753" y="1535638"/>
                  </a:lnTo>
                  <a:lnTo>
                    <a:pt x="257925" y="1487106"/>
                  </a:lnTo>
                  <a:lnTo>
                    <a:pt x="284230" y="1439364"/>
                  </a:lnTo>
                  <a:lnTo>
                    <a:pt x="310682" y="1392489"/>
                  </a:lnTo>
                  <a:lnTo>
                    <a:pt x="337294" y="1346562"/>
                  </a:lnTo>
                  <a:lnTo>
                    <a:pt x="364078" y="1301661"/>
                  </a:lnTo>
                  <a:lnTo>
                    <a:pt x="391050" y="1257864"/>
                  </a:lnTo>
                  <a:lnTo>
                    <a:pt x="418221" y="1215252"/>
                  </a:lnTo>
                  <a:lnTo>
                    <a:pt x="445605" y="1173902"/>
                  </a:lnTo>
                  <a:lnTo>
                    <a:pt x="473215" y="1133894"/>
                  </a:lnTo>
                  <a:lnTo>
                    <a:pt x="501066" y="1095306"/>
                  </a:lnTo>
                  <a:lnTo>
                    <a:pt x="529169" y="1058218"/>
                  </a:lnTo>
                  <a:lnTo>
                    <a:pt x="557539" y="1022708"/>
                  </a:lnTo>
                  <a:lnTo>
                    <a:pt x="586188" y="988856"/>
                  </a:lnTo>
                  <a:lnTo>
                    <a:pt x="615131" y="956740"/>
                  </a:lnTo>
                  <a:lnTo>
                    <a:pt x="644380" y="926439"/>
                  </a:lnTo>
                  <a:lnTo>
                    <a:pt x="673948" y="898032"/>
                  </a:lnTo>
                  <a:lnTo>
                    <a:pt x="703849" y="871599"/>
                  </a:lnTo>
                  <a:lnTo>
                    <a:pt x="734097" y="847217"/>
                  </a:lnTo>
                  <a:lnTo>
                    <a:pt x="802876" y="802060"/>
                  </a:lnTo>
                  <a:lnTo>
                    <a:pt x="842328" y="784543"/>
                  </a:lnTo>
                  <a:lnTo>
                    <a:pt x="882923" y="771933"/>
                  </a:lnTo>
                  <a:lnTo>
                    <a:pt x="924525" y="763751"/>
                  </a:lnTo>
                  <a:lnTo>
                    <a:pt x="966998" y="759514"/>
                  </a:lnTo>
                  <a:lnTo>
                    <a:pt x="1010203" y="758744"/>
                  </a:lnTo>
                  <a:lnTo>
                    <a:pt x="1054005" y="760958"/>
                  </a:lnTo>
                  <a:lnTo>
                    <a:pt x="1098267" y="765675"/>
                  </a:lnTo>
                  <a:lnTo>
                    <a:pt x="1142851" y="772416"/>
                  </a:lnTo>
                  <a:lnTo>
                    <a:pt x="1187622" y="780699"/>
                  </a:lnTo>
                  <a:lnTo>
                    <a:pt x="1232442" y="790044"/>
                  </a:lnTo>
                  <a:lnTo>
                    <a:pt x="1277174" y="799969"/>
                  </a:lnTo>
                  <a:lnTo>
                    <a:pt x="1321683" y="809994"/>
                  </a:lnTo>
                  <a:lnTo>
                    <a:pt x="1365829" y="819639"/>
                  </a:lnTo>
                  <a:lnTo>
                    <a:pt x="1409478" y="828421"/>
                  </a:lnTo>
                  <a:lnTo>
                    <a:pt x="1452493" y="835862"/>
                  </a:lnTo>
                  <a:lnTo>
                    <a:pt x="1494736" y="841479"/>
                  </a:lnTo>
                  <a:lnTo>
                    <a:pt x="1536070" y="844791"/>
                  </a:lnTo>
                  <a:lnTo>
                    <a:pt x="1576359" y="845319"/>
                  </a:lnTo>
                  <a:lnTo>
                    <a:pt x="1615467" y="842582"/>
                  </a:lnTo>
                  <a:lnTo>
                    <a:pt x="1653255" y="836098"/>
                  </a:lnTo>
                  <a:lnTo>
                    <a:pt x="1724329" y="809967"/>
                  </a:lnTo>
                  <a:lnTo>
                    <a:pt x="1927691" y="625406"/>
                  </a:lnTo>
                  <a:lnTo>
                    <a:pt x="2121679" y="353425"/>
                  </a:lnTo>
                  <a:lnTo>
                    <a:pt x="2266935" y="107222"/>
                  </a:lnTo>
                  <a:lnTo>
                    <a:pt x="2324100" y="0"/>
                  </a:lnTo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8795770" y="2512313"/>
              <a:ext cx="2301240" cy="0"/>
            </a:xfrm>
            <a:custGeom>
              <a:rect b="b" l="l" r="r" t="t"/>
              <a:pathLst>
                <a:path extrusionOk="0" h="120000" w="2301240">
                  <a:moveTo>
                    <a:pt x="230098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11097006" y="2512308"/>
              <a:ext cx="0" cy="1993900"/>
            </a:xfrm>
            <a:custGeom>
              <a:rect b="b" l="l" r="r" t="t"/>
              <a:pathLst>
                <a:path extrusionOk="0" h="1993900" w="120000">
                  <a:moveTo>
                    <a:pt x="0" y="1993696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8772144" y="1859279"/>
              <a:ext cx="3147060" cy="0"/>
            </a:xfrm>
            <a:custGeom>
              <a:rect b="b" l="l" r="r" t="t"/>
              <a:pathLst>
                <a:path extrusionOk="0" h="120000" w="3147059">
                  <a:moveTo>
                    <a:pt x="0" y="0"/>
                  </a:moveTo>
                  <a:lnTo>
                    <a:pt x="314669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11919204" y="1859279"/>
              <a:ext cx="0" cy="2667000"/>
            </a:xfrm>
            <a:custGeom>
              <a:rect b="b" l="l" r="r" t="t"/>
              <a:pathLst>
                <a:path extrusionOk="0" h="2667000" w="120000">
                  <a:moveTo>
                    <a:pt x="0" y="26670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0" name="Google Shape;280;p22"/>
          <p:cNvSpPr txBox="1"/>
          <p:nvPr/>
        </p:nvSpPr>
        <p:spPr>
          <a:xfrm>
            <a:off x="8647977" y="4489570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1017701" y="453716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8537012" y="2333379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4" name="Google Shape;284;p22"/>
          <p:cNvSpPr txBox="1"/>
          <p:nvPr/>
        </p:nvSpPr>
        <p:spPr>
          <a:xfrm>
            <a:off x="8508858" y="1688148"/>
            <a:ext cx="178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𝒔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1702690" y="4479001"/>
            <a:ext cx="189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9721402" y="5086079"/>
            <a:ext cx="63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𝑻(𝒓)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287" name="Google Shape;287;p22"/>
          <p:cNvGrpSpPr/>
          <p:nvPr/>
        </p:nvGrpSpPr>
        <p:grpSpPr>
          <a:xfrm>
            <a:off x="10000484" y="3383277"/>
            <a:ext cx="76200" cy="1733549"/>
            <a:chOff x="10000484" y="3383277"/>
            <a:chExt cx="76200" cy="1733549"/>
          </a:xfrm>
        </p:grpSpPr>
        <p:sp>
          <p:nvSpPr>
            <p:cNvPr id="288" name="Google Shape;288;p22"/>
            <p:cNvSpPr/>
            <p:nvPr/>
          </p:nvSpPr>
          <p:spPr>
            <a:xfrm>
              <a:off x="10038589" y="3446776"/>
              <a:ext cx="0" cy="1670050"/>
            </a:xfrm>
            <a:custGeom>
              <a:rect b="b" l="l" r="r" t="t"/>
              <a:pathLst>
                <a:path extrusionOk="0" h="1670050" w="120000">
                  <a:moveTo>
                    <a:pt x="0" y="1669542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10000484" y="338327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0" name="Google Shape;290;p2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91" name="Google Shape;291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8" name="Google Shape;298;p2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" name="Google Shape;299;p2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</a:t>
            </a:r>
            <a:r>
              <a:rPr lang="en-US" sz="3600"/>
              <a:t>Continuous Case</a:t>
            </a:r>
            <a:endParaRPr sz="3600"/>
          </a:p>
        </p:txBody>
      </p:sp>
      <p:sp>
        <p:nvSpPr>
          <p:cNvPr id="300" name="Google Shape;300;p23"/>
          <p:cNvSpPr txBox="1"/>
          <p:nvPr/>
        </p:nvSpPr>
        <p:spPr>
          <a:xfrm>
            <a:off x="688340" y="913601"/>
            <a:ext cx="109029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8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Constraint on </a:t>
            </a:r>
            <a:r>
              <a:rPr lang="en-US" sz="31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T(r)</a:t>
            </a:r>
            <a:endParaRPr sz="315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97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should satisfies the following conditions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Char char="–"/>
            </a:pP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</a:t>
            </a:r>
            <a:r>
              <a:rPr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monotonically increasing</a:t>
            </a:r>
            <a:r>
              <a:rPr lang="en-US" sz="2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where </a:t>
            </a:r>
            <a:r>
              <a:rPr i="1" lang="en-US" sz="2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in the range [0,1]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29235" lvl="2" marL="1155700" marR="177165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This condition ensures that </a:t>
            </a:r>
            <a:r>
              <a:rPr lang="en-US" sz="2200" u="sng">
                <a:latin typeface="Bell MT"/>
                <a:ea typeface="Bell MT"/>
                <a:cs typeface="Bell MT"/>
                <a:sym typeface="Bell MT"/>
              </a:rPr>
              <a:t>output intensity values will never be less</a:t>
            </a:r>
            <a:r>
              <a:rPr lang="en-US" sz="2200" u="none">
                <a:latin typeface="Bell MT"/>
                <a:ea typeface="Bell MT"/>
                <a:cs typeface="Bell MT"/>
                <a:sym typeface="Bell MT"/>
              </a:rPr>
              <a:t> than corresponding input values, thus </a:t>
            </a:r>
            <a:r>
              <a:rPr i="1" lang="en-US" sz="2200" u="sng">
                <a:latin typeface="Bell MT"/>
                <a:ea typeface="Bell MT"/>
                <a:cs typeface="Bell MT"/>
                <a:sym typeface="Bell MT"/>
              </a:rPr>
              <a:t>preventing artifacts</a:t>
            </a:r>
            <a:r>
              <a:rPr i="1" lang="en-US" sz="2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200" u="none">
                <a:latin typeface="Bell MT"/>
                <a:ea typeface="Bell MT"/>
                <a:cs typeface="Bell MT"/>
                <a:sym typeface="Bell MT"/>
              </a:rPr>
              <a:t>created by reversals of	intensity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Char char="–"/>
            </a:pP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also varies in the range [0,1]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This condition ensures that resulting gray levels are in the same range as input levels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1032989" y="4647348"/>
            <a:ext cx="767100" cy="461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Note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1145539" y="5431028"/>
            <a:ext cx="20955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1444752" y="5358895"/>
            <a:ext cx="102717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if 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monotonically increasing, it is possible that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multiple values of </a:t>
            </a:r>
            <a:r>
              <a:rPr i="1"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to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1444752" y="5755134"/>
            <a:ext cx="34341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map to a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single value of	</a:t>
            </a:r>
            <a:r>
              <a:rPr i="1"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05" name="Google Shape;305;p2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06" name="Google Shape;306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3" name="Google Shape;313;p2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4" name="Google Shape;314;p2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</a:t>
            </a:r>
            <a:r>
              <a:rPr lang="en-US" sz="3600"/>
              <a:t>Continuous Case</a:t>
            </a:r>
            <a:endParaRPr sz="3600"/>
          </a:p>
        </p:txBody>
      </p:sp>
      <p:sp>
        <p:nvSpPr>
          <p:cNvPr id="315" name="Google Shape;315;p24"/>
          <p:cNvSpPr txBox="1"/>
          <p:nvPr/>
        </p:nvSpPr>
        <p:spPr>
          <a:xfrm>
            <a:off x="634751" y="1226463"/>
            <a:ext cx="111990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Normalized histogram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can be considered as a </a:t>
            </a:r>
            <a:r>
              <a:rPr i="1"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pdf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55650" marR="508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gray levels in an image can be viewed as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random variables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in the interval [0, 1]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16" name="Google Shape;3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388" y="3024758"/>
            <a:ext cx="2924174" cy="208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8659" y="3038463"/>
            <a:ext cx="2923788" cy="208561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 txBox="1"/>
          <p:nvPr/>
        </p:nvSpPr>
        <p:spPr>
          <a:xfrm>
            <a:off x="8236387" y="5180539"/>
            <a:ext cx="105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3241476" y="5157222"/>
            <a:ext cx="105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 txBox="1"/>
          <p:nvPr/>
        </p:nvSpPr>
        <p:spPr>
          <a:xfrm rot="-5400000">
            <a:off x="1292478" y="3903146"/>
            <a:ext cx="96139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 rot="-5400000">
            <a:off x="6182461" y="3889429"/>
            <a:ext cx="96139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4211133" y="3394933"/>
            <a:ext cx="9880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8384912" y="3394933"/>
            <a:ext cx="2603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Normalized Histogram (pdf)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8714782" y="3958661"/>
            <a:ext cx="27527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Area under a </a:t>
            </a:r>
            <a:r>
              <a:rPr i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pdf </a:t>
            </a:r>
            <a:r>
              <a:rPr i="1"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is equal to 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26" name="Google Shape;326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2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3" name="Google Shape;333;p2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4" name="Google Shape;334;p2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</a:t>
            </a:r>
            <a:r>
              <a:rPr lang="en-US" sz="3600"/>
              <a:t>Continuous Case</a:t>
            </a:r>
            <a:endParaRPr sz="3600"/>
          </a:p>
        </p:txBody>
      </p:sp>
      <p:sp>
        <p:nvSpPr>
          <p:cNvPr id="335" name="Google Shape;335;p25"/>
          <p:cNvSpPr txBox="1"/>
          <p:nvPr/>
        </p:nvSpPr>
        <p:spPr>
          <a:xfrm>
            <a:off x="304800" y="1169650"/>
            <a:ext cx="7054800" cy="4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4965" marR="5080" rtl="0" algn="l">
              <a:lnSpc>
                <a:spcPct val="999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Cumulative Distribution Function (cdf)	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corresponding to a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pdf	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is found to be a good choice for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88900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Both constraints satisfied for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this T(r)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15176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T(r) is single valued and 	monotonically increasing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varies in the range [0,1]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36" name="Google Shape;3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9692" y="1401265"/>
            <a:ext cx="4345445" cy="358951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38" name="Google Shape;338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2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6" name="Google Shape;346;p2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cdf </a:t>
            </a:r>
            <a:r>
              <a:rPr lang="en-US">
                <a:solidFill>
                  <a:srgbClr val="00B050"/>
                </a:solidFill>
              </a:rPr>
              <a:t>is a good choice for T(r) –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Let us check this?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650240" y="990091"/>
            <a:ext cx="106857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Consider normalized histogram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pdf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 of the image.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226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We have two histograms (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pdfs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438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Arial"/>
              <a:buChar char="–"/>
            </a:pPr>
            <a:r>
              <a:rPr i="1" lang="en-US" sz="26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5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a probability distributions on </a:t>
            </a:r>
            <a:r>
              <a:rPr i="1" lang="en-US" sz="26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of	input image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4385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Arial"/>
              <a:buChar char="–"/>
            </a:pPr>
            <a:r>
              <a:rPr i="1" lang="en-US" sz="26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5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is the probability distributions on </a:t>
            </a:r>
            <a:r>
              <a:rPr i="1" lang="en-US" sz="26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6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of	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transformed image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93700" marR="17780" rtl="0" algn="l">
              <a:lnSpc>
                <a:spcPct val="108000"/>
              </a:lnSpc>
              <a:spcBef>
                <a:spcPts val="4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Then the probability of	a gray level value 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in the range 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dr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should be same in the transformed image at gray level </a:t>
            </a:r>
            <a:r>
              <a:rPr i="1"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and range 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ds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650240" y="5555416"/>
            <a:ext cx="10565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So the 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pdf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of	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depends on 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pdf 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of	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and the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transformation function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5513037" y="4908199"/>
            <a:ext cx="411480" cy="328930"/>
          </a:xfrm>
          <a:custGeom>
            <a:rect b="b" l="l" r="r" t="t"/>
            <a:pathLst>
              <a:path extrusionOk="0" h="328929" w="411479">
                <a:moveTo>
                  <a:pt x="306197" y="0"/>
                </a:moveTo>
                <a:lnTo>
                  <a:pt x="301510" y="13347"/>
                </a:lnTo>
                <a:lnTo>
                  <a:pt x="320551" y="21612"/>
                </a:lnTo>
                <a:lnTo>
                  <a:pt x="336926" y="33053"/>
                </a:lnTo>
                <a:lnTo>
                  <a:pt x="361683" y="65455"/>
                </a:lnTo>
                <a:lnTo>
                  <a:pt x="376245" y="109167"/>
                </a:lnTo>
                <a:lnTo>
                  <a:pt x="379835" y="134387"/>
                </a:lnTo>
                <a:lnTo>
                  <a:pt x="379887" y="134748"/>
                </a:lnTo>
                <a:lnTo>
                  <a:pt x="379882" y="191819"/>
                </a:lnTo>
                <a:lnTo>
                  <a:pt x="370128" y="241839"/>
                </a:lnTo>
                <a:lnTo>
                  <a:pt x="350557" y="280904"/>
                </a:lnTo>
                <a:lnTo>
                  <a:pt x="320776" y="307255"/>
                </a:lnTo>
                <a:lnTo>
                  <a:pt x="302031" y="315556"/>
                </a:lnTo>
                <a:lnTo>
                  <a:pt x="306197" y="328904"/>
                </a:lnTo>
                <a:lnTo>
                  <a:pt x="351061" y="307867"/>
                </a:lnTo>
                <a:lnTo>
                  <a:pt x="384048" y="271437"/>
                </a:lnTo>
                <a:lnTo>
                  <a:pt x="404336" y="222646"/>
                </a:lnTo>
                <a:lnTo>
                  <a:pt x="411099" y="164541"/>
                </a:lnTo>
                <a:lnTo>
                  <a:pt x="409421" y="134748"/>
                </a:lnTo>
                <a:lnTo>
                  <a:pt x="395829" y="80941"/>
                </a:lnTo>
                <a:lnTo>
                  <a:pt x="368926" y="37433"/>
                </a:lnTo>
                <a:lnTo>
                  <a:pt x="330045" y="8610"/>
                </a:lnTo>
                <a:lnTo>
                  <a:pt x="306197" y="0"/>
                </a:lnTo>
                <a:close/>
              </a:path>
              <a:path extrusionOk="0" h="328929" w="411479">
                <a:moveTo>
                  <a:pt x="104902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1" y="271437"/>
                </a:lnTo>
                <a:lnTo>
                  <a:pt x="60037" y="307867"/>
                </a:lnTo>
                <a:lnTo>
                  <a:pt x="104902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4" y="47668"/>
                </a:lnTo>
                <a:lnTo>
                  <a:pt x="90611" y="21612"/>
                </a:lnTo>
                <a:lnTo>
                  <a:pt x="109575" y="13347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0" name="Google Shape;350;p26"/>
          <p:cNvSpPr/>
          <p:nvPr/>
        </p:nvSpPr>
        <p:spPr>
          <a:xfrm>
            <a:off x="6747477" y="4908199"/>
            <a:ext cx="423545" cy="328929"/>
          </a:xfrm>
          <a:custGeom>
            <a:rect b="b" l="l" r="r" t="t"/>
            <a:pathLst>
              <a:path extrusionOk="0" h="328929" w="423545">
                <a:moveTo>
                  <a:pt x="318389" y="0"/>
                </a:moveTo>
                <a:lnTo>
                  <a:pt x="313702" y="13347"/>
                </a:lnTo>
                <a:lnTo>
                  <a:pt x="332743" y="21612"/>
                </a:lnTo>
                <a:lnTo>
                  <a:pt x="349118" y="33053"/>
                </a:lnTo>
                <a:lnTo>
                  <a:pt x="373875" y="65455"/>
                </a:lnTo>
                <a:lnTo>
                  <a:pt x="388437" y="109167"/>
                </a:lnTo>
                <a:lnTo>
                  <a:pt x="392027" y="134387"/>
                </a:lnTo>
                <a:lnTo>
                  <a:pt x="392079" y="134748"/>
                </a:lnTo>
                <a:lnTo>
                  <a:pt x="392074" y="191819"/>
                </a:lnTo>
                <a:lnTo>
                  <a:pt x="382320" y="241839"/>
                </a:lnTo>
                <a:lnTo>
                  <a:pt x="362749" y="280904"/>
                </a:lnTo>
                <a:lnTo>
                  <a:pt x="332968" y="307255"/>
                </a:lnTo>
                <a:lnTo>
                  <a:pt x="314223" y="315556"/>
                </a:lnTo>
                <a:lnTo>
                  <a:pt x="318389" y="328904"/>
                </a:lnTo>
                <a:lnTo>
                  <a:pt x="363253" y="307867"/>
                </a:lnTo>
                <a:lnTo>
                  <a:pt x="396240" y="271437"/>
                </a:lnTo>
                <a:lnTo>
                  <a:pt x="416528" y="222646"/>
                </a:lnTo>
                <a:lnTo>
                  <a:pt x="423291" y="164541"/>
                </a:lnTo>
                <a:lnTo>
                  <a:pt x="421613" y="134748"/>
                </a:lnTo>
                <a:lnTo>
                  <a:pt x="408021" y="80941"/>
                </a:lnTo>
                <a:lnTo>
                  <a:pt x="381118" y="37433"/>
                </a:lnTo>
                <a:lnTo>
                  <a:pt x="342237" y="8610"/>
                </a:lnTo>
                <a:lnTo>
                  <a:pt x="318389" y="0"/>
                </a:lnTo>
                <a:close/>
              </a:path>
              <a:path extrusionOk="0" h="328929" w="423545">
                <a:moveTo>
                  <a:pt x="104902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1" y="271437"/>
                </a:lnTo>
                <a:lnTo>
                  <a:pt x="60037" y="307867"/>
                </a:lnTo>
                <a:lnTo>
                  <a:pt x="104902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3" y="47668"/>
                </a:lnTo>
                <a:lnTo>
                  <a:pt x="90606" y="21612"/>
                </a:lnTo>
                <a:lnTo>
                  <a:pt x="109575" y="13347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1" name="Google Shape;351;p26"/>
          <p:cNvSpPr txBox="1"/>
          <p:nvPr/>
        </p:nvSpPr>
        <p:spPr>
          <a:xfrm>
            <a:off x="5039867" y="4806188"/>
            <a:ext cx="2129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𝒑</a:t>
            </a:r>
            <a:r>
              <a:rPr baseline="-25000" lang="en-US" sz="3075">
                <a:latin typeface="Cambria Math"/>
                <a:ea typeface="Cambria Math"/>
                <a:cs typeface="Cambria Math"/>
                <a:sym typeface="Cambria Math"/>
              </a:rPr>
              <a:t>𝒔	  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𝒔	= 𝒑</a:t>
            </a:r>
            <a:r>
              <a:rPr baseline="-25000" lang="en-US" sz="3075">
                <a:latin typeface="Cambria Math"/>
                <a:ea typeface="Cambria Math"/>
                <a:cs typeface="Cambria Math"/>
                <a:sym typeface="Cambria Math"/>
              </a:rPr>
              <a:t>𝒓    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2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7379360" y="4624527"/>
            <a:ext cx="567690" cy="896619"/>
          </a:xfrm>
          <a:custGeom>
            <a:rect b="b" l="l" r="r" t="t"/>
            <a:pathLst>
              <a:path extrusionOk="0" h="896620" w="567690">
                <a:moveTo>
                  <a:pt x="31203" y="0"/>
                </a:moveTo>
                <a:lnTo>
                  <a:pt x="0" y="0"/>
                </a:lnTo>
                <a:lnTo>
                  <a:pt x="0" y="896048"/>
                </a:lnTo>
                <a:lnTo>
                  <a:pt x="31203" y="896048"/>
                </a:lnTo>
                <a:lnTo>
                  <a:pt x="31203" y="0"/>
                </a:lnTo>
                <a:close/>
              </a:path>
              <a:path extrusionOk="0" h="896620" w="567690">
                <a:moveTo>
                  <a:pt x="493623" y="436676"/>
                </a:moveTo>
                <a:lnTo>
                  <a:pt x="74523" y="436676"/>
                </a:lnTo>
                <a:lnTo>
                  <a:pt x="74523" y="459549"/>
                </a:lnTo>
                <a:lnTo>
                  <a:pt x="493623" y="459549"/>
                </a:lnTo>
                <a:lnTo>
                  <a:pt x="493623" y="436676"/>
                </a:lnTo>
                <a:close/>
              </a:path>
              <a:path extrusionOk="0" h="896620" w="567690">
                <a:moveTo>
                  <a:pt x="567651" y="0"/>
                </a:moveTo>
                <a:lnTo>
                  <a:pt x="536448" y="0"/>
                </a:lnTo>
                <a:lnTo>
                  <a:pt x="536448" y="896048"/>
                </a:lnTo>
                <a:lnTo>
                  <a:pt x="567651" y="896048"/>
                </a:lnTo>
                <a:lnTo>
                  <a:pt x="56765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26"/>
          <p:cNvSpPr txBox="1"/>
          <p:nvPr/>
        </p:nvSpPr>
        <p:spPr>
          <a:xfrm>
            <a:off x="7441183" y="4537964"/>
            <a:ext cx="445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𝒅𝒓</a:t>
            </a:r>
            <a:endParaRPr sz="2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7447220" y="5043970"/>
            <a:ext cx="432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𝒅𝒔</a:t>
            </a:r>
            <a:endParaRPr sz="2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5" name="Google Shape;355;p2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56" name="Google Shape;356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3" name="Google Shape;363;p2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4" name="Google Shape;364;p2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cdf </a:t>
            </a:r>
            <a:r>
              <a:rPr lang="en-US">
                <a:solidFill>
                  <a:srgbClr val="00B050"/>
                </a:solidFill>
              </a:rPr>
              <a:t>is a good choice for T(r) –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Let us check this?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304801" y="1203475"/>
            <a:ext cx="11582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Noto Sans Symbols"/>
              <a:buChar char="▪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Consider the cumulative distribution function (</a:t>
            </a:r>
            <a:r>
              <a:rPr i="1" lang="en-US" sz="27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cdf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) as the transformation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5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function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304801" y="2391850"/>
            <a:ext cx="4135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Bell MT"/>
              <a:buChar char="▪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Applying the leibniz rule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4929501" y="2053697"/>
            <a:ext cx="362585" cy="282575"/>
          </a:xfrm>
          <a:custGeom>
            <a:rect b="b" l="l" r="r" t="t"/>
            <a:pathLst>
              <a:path extrusionOk="0" h="282575" w="362585">
                <a:moveTo>
                  <a:pt x="272440" y="0"/>
                </a:moveTo>
                <a:lnTo>
                  <a:pt x="268427" y="11455"/>
                </a:lnTo>
                <a:lnTo>
                  <a:pt x="284769" y="18551"/>
                </a:lnTo>
                <a:lnTo>
                  <a:pt x="298823" y="28371"/>
                </a:lnTo>
                <a:lnTo>
                  <a:pt x="327356" y="73880"/>
                </a:lnTo>
                <a:lnTo>
                  <a:pt x="335643" y="115357"/>
                </a:lnTo>
                <a:lnTo>
                  <a:pt x="336727" y="139750"/>
                </a:lnTo>
                <a:lnTo>
                  <a:pt x="335682" y="164649"/>
                </a:lnTo>
                <a:lnTo>
                  <a:pt x="327314" y="207587"/>
                </a:lnTo>
                <a:lnTo>
                  <a:pt x="298835" y="253828"/>
                </a:lnTo>
                <a:lnTo>
                  <a:pt x="268871" y="270865"/>
                </a:lnTo>
                <a:lnTo>
                  <a:pt x="272440" y="282321"/>
                </a:lnTo>
                <a:lnTo>
                  <a:pt x="310949" y="264263"/>
                </a:lnTo>
                <a:lnTo>
                  <a:pt x="339267" y="232994"/>
                </a:lnTo>
                <a:lnTo>
                  <a:pt x="356676" y="191111"/>
                </a:lnTo>
                <a:lnTo>
                  <a:pt x="362483" y="141236"/>
                </a:lnTo>
                <a:lnTo>
                  <a:pt x="361045" y="115661"/>
                </a:lnTo>
                <a:lnTo>
                  <a:pt x="361028" y="115357"/>
                </a:lnTo>
                <a:lnTo>
                  <a:pt x="349383" y="69479"/>
                </a:lnTo>
                <a:lnTo>
                  <a:pt x="326282" y="32129"/>
                </a:lnTo>
                <a:lnTo>
                  <a:pt x="292907" y="7391"/>
                </a:lnTo>
                <a:lnTo>
                  <a:pt x="272440" y="0"/>
                </a:lnTo>
                <a:close/>
              </a:path>
              <a:path extrusionOk="0" h="282575" w="36258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8" name="Google Shape;368;p27"/>
          <p:cNvSpPr txBox="1"/>
          <p:nvPr/>
        </p:nvSpPr>
        <p:spPr>
          <a:xfrm>
            <a:off x="4120784" y="1763688"/>
            <a:ext cx="1827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89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𝒔 = 𝑻  𝒓	= 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3642359" y="3566159"/>
            <a:ext cx="360045" cy="20320"/>
          </a:xfrm>
          <a:custGeom>
            <a:rect b="b" l="l" r="r" t="t"/>
            <a:pathLst>
              <a:path extrusionOk="0" h="20320" w="360045">
                <a:moveTo>
                  <a:pt x="359663" y="0"/>
                </a:moveTo>
                <a:lnTo>
                  <a:pt x="0" y="0"/>
                </a:lnTo>
                <a:lnTo>
                  <a:pt x="0" y="19812"/>
                </a:lnTo>
                <a:lnTo>
                  <a:pt x="359663" y="19812"/>
                </a:lnTo>
                <a:lnTo>
                  <a:pt x="3596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0" name="Google Shape;370;p27"/>
          <p:cNvSpPr/>
          <p:nvPr/>
        </p:nvSpPr>
        <p:spPr>
          <a:xfrm>
            <a:off x="4398264" y="3566159"/>
            <a:ext cx="805180" cy="20320"/>
          </a:xfrm>
          <a:custGeom>
            <a:rect b="b" l="l" r="r" t="t"/>
            <a:pathLst>
              <a:path extrusionOk="0" h="20320" w="805179">
                <a:moveTo>
                  <a:pt x="804672" y="0"/>
                </a:moveTo>
                <a:lnTo>
                  <a:pt x="0" y="0"/>
                </a:lnTo>
                <a:lnTo>
                  <a:pt x="0" y="19812"/>
                </a:lnTo>
                <a:lnTo>
                  <a:pt x="804672" y="19812"/>
                </a:lnTo>
                <a:lnTo>
                  <a:pt x="80467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1" name="Google Shape;371;p27"/>
          <p:cNvSpPr txBox="1"/>
          <p:nvPr/>
        </p:nvSpPr>
        <p:spPr>
          <a:xfrm>
            <a:off x="3629650" y="3114550"/>
            <a:ext cx="16623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977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𝒅𝒔	     𝒅𝑻(𝒓)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93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𝒅𝒓	      𝒅𝒓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304807" y="3902350"/>
            <a:ext cx="111990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0" marR="92075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FF0000"/>
              </a:buClr>
              <a:buSzPts val="2050"/>
              <a:buFont typeface="Bell MT"/>
              <a:buChar char="▪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Substituting this into the first equation we get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2998593" y="5020701"/>
            <a:ext cx="352425" cy="282575"/>
          </a:xfrm>
          <a:custGeom>
            <a:rect b="b" l="l" r="r" t="t"/>
            <a:pathLst>
              <a:path extrusionOk="0" h="282575" w="352425">
                <a:moveTo>
                  <a:pt x="261772" y="0"/>
                </a:moveTo>
                <a:lnTo>
                  <a:pt x="257759" y="11455"/>
                </a:lnTo>
                <a:lnTo>
                  <a:pt x="274101" y="18551"/>
                </a:lnTo>
                <a:lnTo>
                  <a:pt x="288155" y="28371"/>
                </a:lnTo>
                <a:lnTo>
                  <a:pt x="316688" y="73880"/>
                </a:lnTo>
                <a:lnTo>
                  <a:pt x="324975" y="115357"/>
                </a:lnTo>
                <a:lnTo>
                  <a:pt x="326059" y="139750"/>
                </a:lnTo>
                <a:lnTo>
                  <a:pt x="325014" y="164649"/>
                </a:lnTo>
                <a:lnTo>
                  <a:pt x="316646" y="207587"/>
                </a:lnTo>
                <a:lnTo>
                  <a:pt x="288167" y="253828"/>
                </a:lnTo>
                <a:lnTo>
                  <a:pt x="258203" y="270865"/>
                </a:lnTo>
                <a:lnTo>
                  <a:pt x="261772" y="282321"/>
                </a:lnTo>
                <a:lnTo>
                  <a:pt x="300281" y="264263"/>
                </a:lnTo>
                <a:lnTo>
                  <a:pt x="328599" y="232994"/>
                </a:lnTo>
                <a:lnTo>
                  <a:pt x="346008" y="191111"/>
                </a:lnTo>
                <a:lnTo>
                  <a:pt x="351815" y="141236"/>
                </a:lnTo>
                <a:lnTo>
                  <a:pt x="350377" y="115661"/>
                </a:lnTo>
                <a:lnTo>
                  <a:pt x="350360" y="115357"/>
                </a:lnTo>
                <a:lnTo>
                  <a:pt x="338715" y="69479"/>
                </a:lnTo>
                <a:lnTo>
                  <a:pt x="315614" y="32129"/>
                </a:lnTo>
                <a:lnTo>
                  <a:pt x="282239" y="7391"/>
                </a:lnTo>
                <a:lnTo>
                  <a:pt x="261772" y="0"/>
                </a:lnTo>
                <a:close/>
              </a:path>
              <a:path extrusionOk="0" h="282575" w="35242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4" name="Google Shape;374;p27"/>
          <p:cNvSpPr/>
          <p:nvPr/>
        </p:nvSpPr>
        <p:spPr>
          <a:xfrm>
            <a:off x="4121781" y="5020701"/>
            <a:ext cx="362585" cy="282575"/>
          </a:xfrm>
          <a:custGeom>
            <a:rect b="b" l="l" r="r" t="t"/>
            <a:pathLst>
              <a:path extrusionOk="0" h="282575" w="362585">
                <a:moveTo>
                  <a:pt x="272440" y="0"/>
                </a:moveTo>
                <a:lnTo>
                  <a:pt x="268427" y="11455"/>
                </a:lnTo>
                <a:lnTo>
                  <a:pt x="284769" y="18551"/>
                </a:lnTo>
                <a:lnTo>
                  <a:pt x="298823" y="28371"/>
                </a:lnTo>
                <a:lnTo>
                  <a:pt x="327356" y="73880"/>
                </a:lnTo>
                <a:lnTo>
                  <a:pt x="335643" y="115357"/>
                </a:lnTo>
                <a:lnTo>
                  <a:pt x="336727" y="139750"/>
                </a:lnTo>
                <a:lnTo>
                  <a:pt x="335682" y="164649"/>
                </a:lnTo>
                <a:lnTo>
                  <a:pt x="327314" y="207587"/>
                </a:lnTo>
                <a:lnTo>
                  <a:pt x="298835" y="253828"/>
                </a:lnTo>
                <a:lnTo>
                  <a:pt x="268871" y="270865"/>
                </a:lnTo>
                <a:lnTo>
                  <a:pt x="272440" y="282321"/>
                </a:lnTo>
                <a:lnTo>
                  <a:pt x="310949" y="264263"/>
                </a:lnTo>
                <a:lnTo>
                  <a:pt x="339267" y="232994"/>
                </a:lnTo>
                <a:lnTo>
                  <a:pt x="356676" y="191111"/>
                </a:lnTo>
                <a:lnTo>
                  <a:pt x="362483" y="141236"/>
                </a:lnTo>
                <a:lnTo>
                  <a:pt x="361045" y="115661"/>
                </a:lnTo>
                <a:lnTo>
                  <a:pt x="361028" y="115357"/>
                </a:lnTo>
                <a:lnTo>
                  <a:pt x="349383" y="69479"/>
                </a:lnTo>
                <a:lnTo>
                  <a:pt x="326282" y="32129"/>
                </a:lnTo>
                <a:lnTo>
                  <a:pt x="292907" y="7391"/>
                </a:lnTo>
                <a:lnTo>
                  <a:pt x="272440" y="0"/>
                </a:lnTo>
                <a:close/>
              </a:path>
              <a:path extrusionOk="0" h="282575" w="36258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27"/>
          <p:cNvSpPr txBox="1"/>
          <p:nvPr/>
        </p:nvSpPr>
        <p:spPr>
          <a:xfrm>
            <a:off x="2608579" y="4930449"/>
            <a:ext cx="18276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𝒑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𝒔	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𝒔	= 𝒑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𝒓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4598098" y="4776317"/>
            <a:ext cx="488950" cy="769620"/>
          </a:xfrm>
          <a:custGeom>
            <a:rect b="b" l="l" r="r" t="t"/>
            <a:pathLst>
              <a:path extrusionOk="0" h="769620" w="488950">
                <a:moveTo>
                  <a:pt x="26784" y="0"/>
                </a:moveTo>
                <a:lnTo>
                  <a:pt x="0" y="0"/>
                </a:lnTo>
                <a:lnTo>
                  <a:pt x="0" y="769137"/>
                </a:lnTo>
                <a:lnTo>
                  <a:pt x="26784" y="769137"/>
                </a:lnTo>
                <a:lnTo>
                  <a:pt x="26784" y="0"/>
                </a:lnTo>
                <a:close/>
              </a:path>
              <a:path extrusionOk="0" h="769620" w="488950">
                <a:moveTo>
                  <a:pt x="423481" y="375615"/>
                </a:moveTo>
                <a:lnTo>
                  <a:pt x="63817" y="375615"/>
                </a:lnTo>
                <a:lnTo>
                  <a:pt x="63817" y="395427"/>
                </a:lnTo>
                <a:lnTo>
                  <a:pt x="423481" y="395427"/>
                </a:lnTo>
                <a:lnTo>
                  <a:pt x="423481" y="375615"/>
                </a:lnTo>
                <a:close/>
              </a:path>
              <a:path extrusionOk="0" h="769620" w="488950">
                <a:moveTo>
                  <a:pt x="488556" y="0"/>
                </a:moveTo>
                <a:lnTo>
                  <a:pt x="461772" y="0"/>
                </a:lnTo>
                <a:lnTo>
                  <a:pt x="461772" y="769137"/>
                </a:lnTo>
                <a:lnTo>
                  <a:pt x="488556" y="769137"/>
                </a:lnTo>
                <a:lnTo>
                  <a:pt x="48855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7" name="Google Shape;377;p27"/>
          <p:cNvSpPr/>
          <p:nvPr/>
        </p:nvSpPr>
        <p:spPr>
          <a:xfrm>
            <a:off x="5866761" y="5020701"/>
            <a:ext cx="362585" cy="282575"/>
          </a:xfrm>
          <a:custGeom>
            <a:rect b="b" l="l" r="r" t="t"/>
            <a:pathLst>
              <a:path extrusionOk="0" h="282575" w="362585">
                <a:moveTo>
                  <a:pt x="272440" y="0"/>
                </a:moveTo>
                <a:lnTo>
                  <a:pt x="268427" y="11455"/>
                </a:lnTo>
                <a:lnTo>
                  <a:pt x="284769" y="18551"/>
                </a:lnTo>
                <a:lnTo>
                  <a:pt x="298823" y="28371"/>
                </a:lnTo>
                <a:lnTo>
                  <a:pt x="327356" y="73880"/>
                </a:lnTo>
                <a:lnTo>
                  <a:pt x="335643" y="115357"/>
                </a:lnTo>
                <a:lnTo>
                  <a:pt x="336727" y="139750"/>
                </a:lnTo>
                <a:lnTo>
                  <a:pt x="335682" y="164649"/>
                </a:lnTo>
                <a:lnTo>
                  <a:pt x="327314" y="207587"/>
                </a:lnTo>
                <a:lnTo>
                  <a:pt x="298835" y="253828"/>
                </a:lnTo>
                <a:lnTo>
                  <a:pt x="268871" y="270865"/>
                </a:lnTo>
                <a:lnTo>
                  <a:pt x="272440" y="282321"/>
                </a:lnTo>
                <a:lnTo>
                  <a:pt x="310949" y="264263"/>
                </a:lnTo>
                <a:lnTo>
                  <a:pt x="339267" y="232994"/>
                </a:lnTo>
                <a:lnTo>
                  <a:pt x="356676" y="191111"/>
                </a:lnTo>
                <a:lnTo>
                  <a:pt x="362483" y="141236"/>
                </a:lnTo>
                <a:lnTo>
                  <a:pt x="361045" y="115661"/>
                </a:lnTo>
                <a:lnTo>
                  <a:pt x="361028" y="115357"/>
                </a:lnTo>
                <a:lnTo>
                  <a:pt x="349383" y="69479"/>
                </a:lnTo>
                <a:lnTo>
                  <a:pt x="326282" y="32129"/>
                </a:lnTo>
                <a:lnTo>
                  <a:pt x="292907" y="7391"/>
                </a:lnTo>
                <a:lnTo>
                  <a:pt x="272440" y="0"/>
                </a:lnTo>
                <a:close/>
              </a:path>
              <a:path extrusionOk="0" h="282575" w="36258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8" name="Google Shape;378;p27"/>
          <p:cNvSpPr/>
          <p:nvPr/>
        </p:nvSpPr>
        <p:spPr>
          <a:xfrm>
            <a:off x="6344602" y="4776317"/>
            <a:ext cx="865505" cy="769620"/>
          </a:xfrm>
          <a:custGeom>
            <a:rect b="b" l="l" r="r" t="t"/>
            <a:pathLst>
              <a:path extrusionOk="0" h="769620" w="865504">
                <a:moveTo>
                  <a:pt x="26771" y="0"/>
                </a:moveTo>
                <a:lnTo>
                  <a:pt x="0" y="0"/>
                </a:lnTo>
                <a:lnTo>
                  <a:pt x="0" y="769137"/>
                </a:lnTo>
                <a:lnTo>
                  <a:pt x="26771" y="769137"/>
                </a:lnTo>
                <a:lnTo>
                  <a:pt x="26771" y="0"/>
                </a:lnTo>
                <a:close/>
              </a:path>
              <a:path extrusionOk="0" h="769620" w="865504">
                <a:moveTo>
                  <a:pt x="801433" y="375615"/>
                </a:moveTo>
                <a:lnTo>
                  <a:pt x="63817" y="375615"/>
                </a:lnTo>
                <a:lnTo>
                  <a:pt x="63817" y="395427"/>
                </a:lnTo>
                <a:lnTo>
                  <a:pt x="801433" y="395427"/>
                </a:lnTo>
                <a:lnTo>
                  <a:pt x="801433" y="375615"/>
                </a:lnTo>
                <a:close/>
              </a:path>
              <a:path extrusionOk="0" h="769620" w="865504">
                <a:moveTo>
                  <a:pt x="864984" y="0"/>
                </a:moveTo>
                <a:lnTo>
                  <a:pt x="838200" y="0"/>
                </a:lnTo>
                <a:lnTo>
                  <a:pt x="838200" y="769137"/>
                </a:lnTo>
                <a:lnTo>
                  <a:pt x="864984" y="769137"/>
                </a:lnTo>
                <a:lnTo>
                  <a:pt x="86498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" name="Google Shape;379;p27"/>
          <p:cNvSpPr txBox="1"/>
          <p:nvPr/>
        </p:nvSpPr>
        <p:spPr>
          <a:xfrm>
            <a:off x="4649215" y="4700325"/>
            <a:ext cx="2232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𝒅𝒓	                      𝟏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0" name="Google Shape;380;p27"/>
          <p:cNvSpPr txBox="1"/>
          <p:nvPr/>
        </p:nvSpPr>
        <p:spPr>
          <a:xfrm>
            <a:off x="6584695" y="5279445"/>
            <a:ext cx="145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6755253" y="5224917"/>
            <a:ext cx="362585" cy="282575"/>
          </a:xfrm>
          <a:custGeom>
            <a:rect b="b" l="l" r="r" t="t"/>
            <a:pathLst>
              <a:path extrusionOk="0" h="282575" w="362584">
                <a:moveTo>
                  <a:pt x="272440" y="0"/>
                </a:moveTo>
                <a:lnTo>
                  <a:pt x="268427" y="11455"/>
                </a:lnTo>
                <a:lnTo>
                  <a:pt x="284769" y="18551"/>
                </a:lnTo>
                <a:lnTo>
                  <a:pt x="298823" y="28371"/>
                </a:lnTo>
                <a:lnTo>
                  <a:pt x="327356" y="73880"/>
                </a:lnTo>
                <a:lnTo>
                  <a:pt x="335643" y="115357"/>
                </a:lnTo>
                <a:lnTo>
                  <a:pt x="336727" y="139750"/>
                </a:lnTo>
                <a:lnTo>
                  <a:pt x="335682" y="164649"/>
                </a:lnTo>
                <a:lnTo>
                  <a:pt x="327314" y="207587"/>
                </a:lnTo>
                <a:lnTo>
                  <a:pt x="298835" y="253828"/>
                </a:lnTo>
                <a:lnTo>
                  <a:pt x="268871" y="270865"/>
                </a:lnTo>
                <a:lnTo>
                  <a:pt x="272440" y="282321"/>
                </a:lnTo>
                <a:lnTo>
                  <a:pt x="310949" y="264263"/>
                </a:lnTo>
                <a:lnTo>
                  <a:pt x="339267" y="232994"/>
                </a:lnTo>
                <a:lnTo>
                  <a:pt x="356676" y="191111"/>
                </a:lnTo>
                <a:lnTo>
                  <a:pt x="362483" y="141236"/>
                </a:lnTo>
                <a:lnTo>
                  <a:pt x="361045" y="115661"/>
                </a:lnTo>
                <a:lnTo>
                  <a:pt x="361028" y="115357"/>
                </a:lnTo>
                <a:lnTo>
                  <a:pt x="349383" y="69479"/>
                </a:lnTo>
                <a:lnTo>
                  <a:pt x="326282" y="32129"/>
                </a:lnTo>
                <a:lnTo>
                  <a:pt x="292907" y="7391"/>
                </a:lnTo>
                <a:lnTo>
                  <a:pt x="272440" y="0"/>
                </a:lnTo>
                <a:close/>
              </a:path>
              <a:path extrusionOk="0" h="282575" w="362584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5802" y="191111"/>
                </a:lnTo>
                <a:lnTo>
                  <a:pt x="23215" y="232994"/>
                </a:lnTo>
                <a:lnTo>
                  <a:pt x="51528" y="264263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2" name="Google Shape;382;p27"/>
          <p:cNvSpPr txBox="1"/>
          <p:nvPr/>
        </p:nvSpPr>
        <p:spPr>
          <a:xfrm>
            <a:off x="4653801" y="5134675"/>
            <a:ext cx="2556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𝒅𝒔	                    𝒑   𝒓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3" name="Google Shape;383;p27"/>
          <p:cNvSpPr txBox="1"/>
          <p:nvPr/>
        </p:nvSpPr>
        <p:spPr>
          <a:xfrm>
            <a:off x="5144008" y="4867412"/>
            <a:ext cx="4702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= 𝒑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𝒓 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𝒓	            = 𝟏,	       𝟎 ≤ 𝒔 ≤ 𝟏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304800" y="5927788"/>
            <a:ext cx="115824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336549" lvl="0" marL="3556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Bell MT"/>
              <a:buChar char="▪"/>
            </a:pPr>
            <a:r>
              <a:rPr lang="en-US" sz="2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This shows that that transformation T(r) obtained based on </a:t>
            </a:r>
            <a:r>
              <a:rPr i="1" lang="en-US" sz="2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cdf </a:t>
            </a:r>
            <a:r>
              <a:rPr lang="en-US" sz="2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produces </a:t>
            </a:r>
            <a:r>
              <a:rPr lang="en-US" sz="23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uniform distribution</a:t>
            </a:r>
            <a:endParaRPr sz="2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85" name="Google Shape;385;p27"/>
          <p:cNvSpPr txBox="1"/>
          <p:nvPr>
            <p:ph idx="11" type="ftr"/>
          </p:nvPr>
        </p:nvSpPr>
        <p:spPr>
          <a:xfrm>
            <a:off x="4398740" y="656533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86" name="Google Shape;386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8" name="Google Shape;3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450" y="2785724"/>
            <a:ext cx="3717863" cy="1404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7"/>
          <p:cNvSpPr txBox="1"/>
          <p:nvPr/>
        </p:nvSpPr>
        <p:spPr>
          <a:xfrm>
            <a:off x="5292075" y="3310825"/>
            <a:ext cx="4890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</a:t>
            </a:r>
            <a:endParaRPr/>
          </a:p>
        </p:txBody>
      </p:sp>
      <p:pic>
        <p:nvPicPr>
          <p:cNvPr id="390" name="Google Shape;3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650" y="1737350"/>
            <a:ext cx="1662300" cy="9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" name="Google Shape;396;p2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7" name="Google Shape;397;p2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</a:t>
            </a:r>
            <a:r>
              <a:rPr lang="en-US" sz="3600"/>
              <a:t>Continuous Case</a:t>
            </a:r>
            <a:endParaRPr sz="3600"/>
          </a:p>
        </p:txBody>
      </p:sp>
      <p:sp>
        <p:nvSpPr>
          <p:cNvPr id="398" name="Google Shape;398;p28"/>
          <p:cNvSpPr/>
          <p:nvPr/>
        </p:nvSpPr>
        <p:spPr>
          <a:xfrm>
            <a:off x="2757457" y="2563627"/>
            <a:ext cx="303530" cy="236220"/>
          </a:xfrm>
          <a:custGeom>
            <a:rect b="b" l="l" r="r" t="t"/>
            <a:pathLst>
              <a:path extrusionOk="0" h="236219" w="303530">
                <a:moveTo>
                  <a:pt x="228028" y="0"/>
                </a:moveTo>
                <a:lnTo>
                  <a:pt x="224675" y="9563"/>
                </a:lnTo>
                <a:lnTo>
                  <a:pt x="238322" y="15490"/>
                </a:lnTo>
                <a:lnTo>
                  <a:pt x="250058" y="23690"/>
                </a:lnTo>
                <a:lnTo>
                  <a:pt x="273883" y="61689"/>
                </a:lnTo>
                <a:lnTo>
                  <a:pt x="281711" y="116687"/>
                </a:lnTo>
                <a:lnTo>
                  <a:pt x="280837" y="137478"/>
                </a:lnTo>
                <a:lnTo>
                  <a:pt x="267728" y="188391"/>
                </a:lnTo>
                <a:lnTo>
                  <a:pt x="238476" y="220226"/>
                </a:lnTo>
                <a:lnTo>
                  <a:pt x="225044" y="226174"/>
                </a:lnTo>
                <a:lnTo>
                  <a:pt x="228028" y="235737"/>
                </a:lnTo>
                <a:lnTo>
                  <a:pt x="273071" y="208984"/>
                </a:lnTo>
                <a:lnTo>
                  <a:pt x="298365" y="159580"/>
                </a:lnTo>
                <a:lnTo>
                  <a:pt x="303212" y="117932"/>
                </a:lnTo>
                <a:lnTo>
                  <a:pt x="302012" y="96575"/>
                </a:lnTo>
                <a:lnTo>
                  <a:pt x="292277" y="58015"/>
                </a:lnTo>
                <a:lnTo>
                  <a:pt x="260108" y="15114"/>
                </a:lnTo>
                <a:lnTo>
                  <a:pt x="245121" y="6169"/>
                </a:lnTo>
                <a:lnTo>
                  <a:pt x="228028" y="0"/>
                </a:lnTo>
                <a:close/>
              </a:path>
              <a:path extrusionOk="0" h="236219" w="303530">
                <a:moveTo>
                  <a:pt x="75184" y="0"/>
                </a:moveTo>
                <a:lnTo>
                  <a:pt x="30231" y="26833"/>
                </a:lnTo>
                <a:lnTo>
                  <a:pt x="4865" y="76347"/>
                </a:lnTo>
                <a:lnTo>
                  <a:pt x="70" y="116687"/>
                </a:lnTo>
                <a:lnTo>
                  <a:pt x="0" y="117932"/>
                </a:lnTo>
                <a:lnTo>
                  <a:pt x="1093" y="137478"/>
                </a:lnTo>
                <a:lnTo>
                  <a:pt x="1212" y="139592"/>
                </a:lnTo>
                <a:lnTo>
                  <a:pt x="10908" y="177898"/>
                </a:lnTo>
                <a:lnTo>
                  <a:pt x="43030" y="220659"/>
                </a:lnTo>
                <a:lnTo>
                  <a:pt x="75184" y="235737"/>
                </a:lnTo>
                <a:lnTo>
                  <a:pt x="78168" y="226174"/>
                </a:lnTo>
                <a:lnTo>
                  <a:pt x="64735" y="220226"/>
                </a:lnTo>
                <a:lnTo>
                  <a:pt x="53144" y="211945"/>
                </a:lnTo>
                <a:lnTo>
                  <a:pt x="29366" y="173330"/>
                </a:lnTo>
                <a:lnTo>
                  <a:pt x="21553" y="117932"/>
                </a:lnTo>
                <a:lnTo>
                  <a:pt x="21501" y="116687"/>
                </a:lnTo>
                <a:lnTo>
                  <a:pt x="22375" y="96575"/>
                </a:lnTo>
                <a:lnTo>
                  <a:pt x="35483" y="46913"/>
                </a:lnTo>
                <a:lnTo>
                  <a:pt x="64949" y="15490"/>
                </a:lnTo>
                <a:lnTo>
                  <a:pt x="78549" y="9563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28"/>
          <p:cNvSpPr txBox="1"/>
          <p:nvPr/>
        </p:nvSpPr>
        <p:spPr>
          <a:xfrm>
            <a:off x="662951" y="764875"/>
            <a:ext cx="54165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95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Examples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98780" rtl="0" algn="l">
              <a:lnSpc>
                <a:spcPct val="100000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PDF of input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180340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𝒑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𝒓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𝒓	= −𝟐𝒓 + 𝟐, 𝟎 ≤ 𝒓 ≤ 𝟏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400" name="Google Shape;400;p28"/>
          <p:cNvGrpSpPr/>
          <p:nvPr/>
        </p:nvGrpSpPr>
        <p:grpSpPr>
          <a:xfrm>
            <a:off x="6745799" y="1195575"/>
            <a:ext cx="2287651" cy="2043874"/>
            <a:chOff x="6745799" y="1195575"/>
            <a:chExt cx="2287651" cy="2043874"/>
          </a:xfrm>
        </p:grpSpPr>
        <p:sp>
          <p:nvSpPr>
            <p:cNvPr id="401" name="Google Shape;401;p28"/>
            <p:cNvSpPr/>
            <p:nvPr/>
          </p:nvSpPr>
          <p:spPr>
            <a:xfrm>
              <a:off x="6788657" y="1267019"/>
              <a:ext cx="0" cy="1930400"/>
            </a:xfrm>
            <a:custGeom>
              <a:rect b="b" l="l" r="r" t="t"/>
              <a:pathLst>
                <a:path extrusionOk="0" h="1930400" w="120000">
                  <a:moveTo>
                    <a:pt x="0" y="1930361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6745799" y="1195575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6788657" y="3196589"/>
              <a:ext cx="2173605" cy="0"/>
            </a:xfrm>
            <a:custGeom>
              <a:rect b="b" l="l" r="r" t="t"/>
              <a:pathLst>
                <a:path extrusionOk="0" h="120000" w="2173604">
                  <a:moveTo>
                    <a:pt x="0" y="0"/>
                  </a:moveTo>
                  <a:lnTo>
                    <a:pt x="2173351" y="0"/>
                  </a:lnTo>
                </a:path>
              </a:pathLst>
            </a:custGeom>
            <a:noFill/>
            <a:ln cap="flat" cmpd="sng" w="2857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8947725" y="3153724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6788657" y="1817370"/>
              <a:ext cx="1584960" cy="1380490"/>
            </a:xfrm>
            <a:custGeom>
              <a:rect b="b" l="l" r="r" t="t"/>
              <a:pathLst>
                <a:path extrusionOk="0" h="1380489" w="1584959">
                  <a:moveTo>
                    <a:pt x="0" y="0"/>
                  </a:moveTo>
                  <a:lnTo>
                    <a:pt x="1584553" y="137996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6" name="Google Shape;406;p28"/>
          <p:cNvSpPr txBox="1"/>
          <p:nvPr/>
        </p:nvSpPr>
        <p:spPr>
          <a:xfrm>
            <a:off x="6628592" y="3208144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8316998" y="3208144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6521444" y="1684914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 txBox="1"/>
          <p:nvPr/>
        </p:nvSpPr>
        <p:spPr>
          <a:xfrm>
            <a:off x="7508750" y="2107901"/>
            <a:ext cx="709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𝑷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(𝒓)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410" name="Google Shape;410;p28"/>
          <p:cNvGrpSpPr/>
          <p:nvPr/>
        </p:nvGrpSpPr>
        <p:grpSpPr>
          <a:xfrm>
            <a:off x="9288291" y="3559302"/>
            <a:ext cx="2284742" cy="1815270"/>
            <a:chOff x="9288291" y="3559302"/>
            <a:chExt cx="2284742" cy="1815270"/>
          </a:xfrm>
        </p:grpSpPr>
        <p:sp>
          <p:nvSpPr>
            <p:cNvPr id="411" name="Google Shape;411;p28"/>
            <p:cNvSpPr/>
            <p:nvPr/>
          </p:nvSpPr>
          <p:spPr>
            <a:xfrm>
              <a:off x="9316974" y="3630733"/>
              <a:ext cx="14604" cy="1701164"/>
            </a:xfrm>
            <a:custGeom>
              <a:rect b="b" l="l" r="r" t="t"/>
              <a:pathLst>
                <a:path extrusionOk="0" h="1701164" w="14604">
                  <a:moveTo>
                    <a:pt x="0" y="1700936"/>
                  </a:moveTo>
                  <a:lnTo>
                    <a:pt x="14300" y="0"/>
                  </a:lnTo>
                </a:path>
              </a:pathLst>
            </a:custGeom>
            <a:noFill/>
            <a:ln cap="flat" cmpd="sng" w="285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9288291" y="3559302"/>
              <a:ext cx="85725" cy="86360"/>
            </a:xfrm>
            <a:custGeom>
              <a:rect b="b" l="l" r="r" t="t"/>
              <a:pathLst>
                <a:path extrusionOk="0" h="86360" w="85725">
                  <a:moveTo>
                    <a:pt x="43586" y="0"/>
                  </a:moveTo>
                  <a:lnTo>
                    <a:pt x="0" y="85369"/>
                  </a:lnTo>
                  <a:lnTo>
                    <a:pt x="85725" y="86080"/>
                  </a:lnTo>
                  <a:lnTo>
                    <a:pt x="4358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9316974" y="5331714"/>
              <a:ext cx="2185035" cy="0"/>
            </a:xfrm>
            <a:custGeom>
              <a:rect b="b" l="l" r="r" t="t"/>
              <a:pathLst>
                <a:path extrusionOk="0" h="120000" w="2185034">
                  <a:moveTo>
                    <a:pt x="0" y="0"/>
                  </a:moveTo>
                  <a:lnTo>
                    <a:pt x="2184615" y="0"/>
                  </a:lnTo>
                </a:path>
              </a:pathLst>
            </a:custGeom>
            <a:noFill/>
            <a:ln cap="flat" cmpd="sng" w="28575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11487308" y="5288847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9332214" y="4134626"/>
              <a:ext cx="1381125" cy="1165225"/>
            </a:xfrm>
            <a:custGeom>
              <a:rect b="b" l="l" r="r" t="t"/>
              <a:pathLst>
                <a:path extrusionOk="0" h="1165225" w="1381125">
                  <a:moveTo>
                    <a:pt x="0" y="1165085"/>
                  </a:moveTo>
                  <a:lnTo>
                    <a:pt x="993" y="1123575"/>
                  </a:lnTo>
                  <a:lnTo>
                    <a:pt x="3953" y="1082390"/>
                  </a:lnTo>
                  <a:lnTo>
                    <a:pt x="8849" y="1041556"/>
                  </a:lnTo>
                  <a:lnTo>
                    <a:pt x="15650" y="1001099"/>
                  </a:lnTo>
                  <a:lnTo>
                    <a:pt x="24325" y="961044"/>
                  </a:lnTo>
                  <a:lnTo>
                    <a:pt x="34843" y="921419"/>
                  </a:lnTo>
                  <a:lnTo>
                    <a:pt x="47174" y="882248"/>
                  </a:lnTo>
                  <a:lnTo>
                    <a:pt x="61286" y="843558"/>
                  </a:lnTo>
                  <a:lnTo>
                    <a:pt x="77149" y="805375"/>
                  </a:lnTo>
                  <a:lnTo>
                    <a:pt x="94731" y="767725"/>
                  </a:lnTo>
                  <a:lnTo>
                    <a:pt x="114003" y="730633"/>
                  </a:lnTo>
                  <a:lnTo>
                    <a:pt x="134933" y="694127"/>
                  </a:lnTo>
                  <a:lnTo>
                    <a:pt x="157490" y="658231"/>
                  </a:lnTo>
                  <a:lnTo>
                    <a:pt x="181644" y="622973"/>
                  </a:lnTo>
                  <a:lnTo>
                    <a:pt x="207363" y="588378"/>
                  </a:lnTo>
                  <a:lnTo>
                    <a:pt x="234617" y="554471"/>
                  </a:lnTo>
                  <a:lnTo>
                    <a:pt x="263376" y="521280"/>
                  </a:lnTo>
                  <a:lnTo>
                    <a:pt x="293607" y="488830"/>
                  </a:lnTo>
                  <a:lnTo>
                    <a:pt x="325280" y="457147"/>
                  </a:lnTo>
                  <a:lnTo>
                    <a:pt x="358365" y="426256"/>
                  </a:lnTo>
                  <a:lnTo>
                    <a:pt x="392831" y="396186"/>
                  </a:lnTo>
                  <a:lnTo>
                    <a:pt x="428647" y="366960"/>
                  </a:lnTo>
                  <a:lnTo>
                    <a:pt x="465781" y="338605"/>
                  </a:lnTo>
                  <a:lnTo>
                    <a:pt x="504203" y="311148"/>
                  </a:lnTo>
                  <a:lnTo>
                    <a:pt x="543883" y="284614"/>
                  </a:lnTo>
                  <a:lnTo>
                    <a:pt x="584789" y="259029"/>
                  </a:lnTo>
                  <a:lnTo>
                    <a:pt x="626891" y="234419"/>
                  </a:lnTo>
                  <a:lnTo>
                    <a:pt x="670157" y="210811"/>
                  </a:lnTo>
                  <a:lnTo>
                    <a:pt x="714557" y="188229"/>
                  </a:lnTo>
                  <a:lnTo>
                    <a:pt x="760060" y="166702"/>
                  </a:lnTo>
                  <a:lnTo>
                    <a:pt x="806636" y="146253"/>
                  </a:lnTo>
                  <a:lnTo>
                    <a:pt x="854252" y="126910"/>
                  </a:lnTo>
                  <a:lnTo>
                    <a:pt x="902880" y="108699"/>
                  </a:lnTo>
                  <a:lnTo>
                    <a:pt x="952487" y="91644"/>
                  </a:lnTo>
                  <a:lnTo>
                    <a:pt x="1003042" y="75773"/>
                  </a:lnTo>
                  <a:lnTo>
                    <a:pt x="1054516" y="61112"/>
                  </a:lnTo>
                  <a:lnTo>
                    <a:pt x="1106877" y="47686"/>
                  </a:lnTo>
                  <a:lnTo>
                    <a:pt x="1160094" y="35522"/>
                  </a:lnTo>
                  <a:lnTo>
                    <a:pt x="1214137" y="24645"/>
                  </a:lnTo>
                  <a:lnTo>
                    <a:pt x="1268974" y="15082"/>
                  </a:lnTo>
                  <a:lnTo>
                    <a:pt x="1324575" y="6858"/>
                  </a:lnTo>
                  <a:lnTo>
                    <a:pt x="1380909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9316976" y="4118610"/>
              <a:ext cx="1396365" cy="0"/>
            </a:xfrm>
            <a:custGeom>
              <a:rect b="b" l="l" r="r" t="t"/>
              <a:pathLst>
                <a:path extrusionOk="0" h="120000" w="1396365">
                  <a:moveTo>
                    <a:pt x="139590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4A7EB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10712958" y="4118608"/>
              <a:ext cx="0" cy="1213485"/>
            </a:xfrm>
            <a:custGeom>
              <a:rect b="b" l="l" r="r" t="t"/>
              <a:pathLst>
                <a:path extrusionOk="0" h="1213485" w="120000">
                  <a:moveTo>
                    <a:pt x="0" y="1213205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4A7EBB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8" name="Google Shape;418;p28"/>
          <p:cNvSpPr txBox="1"/>
          <p:nvPr/>
        </p:nvSpPr>
        <p:spPr>
          <a:xfrm>
            <a:off x="9077096" y="5293582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10615852" y="5354918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 txBox="1"/>
          <p:nvPr/>
        </p:nvSpPr>
        <p:spPr>
          <a:xfrm>
            <a:off x="9010194" y="3784613"/>
            <a:ext cx="1764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0" lvl="0" marL="342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𝒔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421" name="Google Shape;421;p28"/>
          <p:cNvSpPr txBox="1"/>
          <p:nvPr/>
        </p:nvSpPr>
        <p:spPr>
          <a:xfrm>
            <a:off x="9345561" y="4484287"/>
            <a:ext cx="1353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908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𝑻(𝒓)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422" name="Google Shape;422;p28"/>
          <p:cNvSpPr txBox="1"/>
          <p:nvPr/>
        </p:nvSpPr>
        <p:spPr>
          <a:xfrm>
            <a:off x="11226531" y="5353312"/>
            <a:ext cx="162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423" name="Google Shape;423;p2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4" name="Google Shape;424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6" name="Google Shape;4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750" y="3040250"/>
            <a:ext cx="5190890" cy="32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2" name="Google Shape;432;p2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3" name="Google Shape;433;p2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</a:t>
            </a:r>
            <a:r>
              <a:rPr lang="en-US" sz="3600"/>
              <a:t>Continuous Case</a:t>
            </a:r>
            <a:endParaRPr sz="3600"/>
          </a:p>
        </p:txBody>
      </p:sp>
      <p:sp>
        <p:nvSpPr>
          <p:cNvPr id="434" name="Google Shape;434;p29"/>
          <p:cNvSpPr txBox="1"/>
          <p:nvPr>
            <p:ph idx="11" type="ftr"/>
          </p:nvPr>
        </p:nvSpPr>
        <p:spPr>
          <a:xfrm>
            <a:off x="439874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5" name="Google Shape;435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2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7" name="Google Shape;437;p29" title="Screenshot 2025-07-22 at 8.55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0500" y="1408038"/>
            <a:ext cx="8771001" cy="45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3" name="Google Shape;443;p3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4" name="Google Shape;444;p3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</a:t>
            </a:r>
            <a:r>
              <a:rPr lang="en-US" sz="3600"/>
              <a:t>Inverse Transformation</a:t>
            </a:r>
            <a:endParaRPr sz="3600"/>
          </a:p>
        </p:txBody>
      </p:sp>
      <p:sp>
        <p:nvSpPr>
          <p:cNvPr id="445" name="Google Shape;445;p30"/>
          <p:cNvSpPr txBox="1"/>
          <p:nvPr/>
        </p:nvSpPr>
        <p:spPr>
          <a:xfrm>
            <a:off x="304801" y="1124688"/>
            <a:ext cx="11582400" cy="51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418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inverse transformation from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back to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denoted by </a:t>
            </a:r>
            <a:r>
              <a:rPr lang="en-US" sz="28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= T</a:t>
            </a:r>
            <a:r>
              <a:rPr baseline="30000" lang="en-US" sz="28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-1</a:t>
            </a:r>
            <a:r>
              <a:rPr lang="en-US" sz="28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(s)</a:t>
            </a:r>
            <a:endParaRPr sz="2850">
              <a:latin typeface="Bell MT"/>
              <a:ea typeface="Bell MT"/>
              <a:cs typeface="Bell MT"/>
              <a:sym typeface="Bell MT"/>
            </a:endParaRPr>
          </a:p>
          <a:p>
            <a:pPr indent="-342899" lvl="0" marL="419100" marR="1408430" rtl="0" algn="l">
              <a:lnSpc>
                <a:spcPct val="95925"/>
              </a:lnSpc>
              <a:spcBef>
                <a:spcPts val="384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To define inverse transformation, function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should be </a:t>
            </a:r>
            <a:r>
              <a:rPr lang="en-US" sz="2700" u="sng">
                <a:latin typeface="Bell MT"/>
                <a:ea typeface="Bell MT"/>
                <a:cs typeface="Bell MT"/>
                <a:sym typeface="Bell MT"/>
              </a:rPr>
              <a:t>strictly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700" u="sng">
                <a:latin typeface="Bell MT"/>
                <a:ea typeface="Bell MT"/>
                <a:cs typeface="Bell MT"/>
                <a:sym typeface="Bell MT"/>
              </a:rPr>
              <a:t>monotonically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 increasing function</a:t>
            </a:r>
            <a:r>
              <a:rPr i="1" lang="en-US" sz="2700" u="none">
                <a:latin typeface="Bell MT"/>
                <a:ea typeface="Bell MT"/>
                <a:cs typeface="Bell MT"/>
                <a:sym typeface="Bell MT"/>
              </a:rPr>
              <a:t>, i.e.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0" lvl="0" marL="53340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T(r</a:t>
            </a:r>
            <a:r>
              <a:rPr baseline="-25000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&lt;	T(r</a:t>
            </a:r>
            <a:r>
              <a:rPr baseline="-25000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	if r</a:t>
            </a:r>
            <a:r>
              <a:rPr baseline="-25000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</a:t>
            </a:r>
            <a:r>
              <a:rPr baseline="-25000"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-25000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418465" rtl="0" algn="l">
              <a:lnSpc>
                <a:spcPct val="107962"/>
              </a:lnSpc>
              <a:spcBef>
                <a:spcPts val="1895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Strictly monotonically increasing function guarantees that mapping from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0" lvl="0" marL="419100" rtl="0" algn="l">
              <a:lnSpc>
                <a:spcPct val="10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to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7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will be one-to-one thus preventing ambiguities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418465" marR="381000" rtl="0" algn="l">
              <a:lnSpc>
                <a:spcPct val="80000"/>
              </a:lnSpc>
              <a:spcBef>
                <a:spcPts val="389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Hence, if	transfer function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s=T(r)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is </a:t>
            </a:r>
            <a:r>
              <a:rPr lang="en-US" sz="2700" u="sng">
                <a:latin typeface="Bell MT"/>
                <a:ea typeface="Bell MT"/>
                <a:cs typeface="Bell MT"/>
                <a:sym typeface="Bell MT"/>
              </a:rPr>
              <a:t>strictly monotonically 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increasing, it gives </a:t>
            </a:r>
            <a:r>
              <a:rPr i="1" lang="en-US" sz="2700" u="none">
                <a:latin typeface="Bell MT"/>
                <a:ea typeface="Bell MT"/>
                <a:cs typeface="Bell MT"/>
                <a:sym typeface="Bell MT"/>
              </a:rPr>
              <a:t>one-to-one 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mapping both ways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114" lvl="1" marL="818514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We need such T(r) when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we talk about inverse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in some cases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[i.e.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= T</a:t>
            </a:r>
            <a:r>
              <a:rPr baseline="30000"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-1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(s)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]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4" lvl="1" marL="8185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–"/>
            </a:pPr>
            <a:r>
              <a:rPr lang="en-US" sz="24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This is required in histogram matching (specification)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6" name="Google Shape;446;p3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47" name="Google Shape;447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3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4" name="Google Shape;454;p3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Equalization-Inverse Transformation</a:t>
            </a:r>
            <a:endParaRPr/>
          </a:p>
        </p:txBody>
      </p:sp>
      <p:sp>
        <p:nvSpPr>
          <p:cNvPr id="455" name="Google Shape;455;p31"/>
          <p:cNvSpPr txBox="1"/>
          <p:nvPr/>
        </p:nvSpPr>
        <p:spPr>
          <a:xfrm>
            <a:off x="396900" y="1387500"/>
            <a:ext cx="11398200" cy="3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-342900" lvl="0" marL="393700" marR="17780" rtl="0" algn="l">
              <a:lnSpc>
                <a:spcPct val="1002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Hence,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to get inverse transform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, we need 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to be </a:t>
            </a:r>
            <a:r>
              <a:rPr b="1" lang="en-US" sz="3600" u="sng">
                <a:latin typeface="Bell MT"/>
                <a:ea typeface="Bell MT"/>
                <a:cs typeface="Bell MT"/>
                <a:sym typeface="Bell MT"/>
              </a:rPr>
              <a:t>one-</a:t>
            </a:r>
            <a:r>
              <a:rPr b="1" lang="en-US" sz="36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3600" u="sng">
                <a:latin typeface="Bell MT"/>
                <a:ea typeface="Bell MT"/>
                <a:cs typeface="Bell MT"/>
                <a:sym typeface="Bell MT"/>
              </a:rPr>
              <a:t>to-one and onto</a:t>
            </a:r>
            <a:r>
              <a:rPr b="1" lang="en-US" sz="3600" u="none">
                <a:latin typeface="Bell MT"/>
                <a:ea typeface="Bell MT"/>
                <a:cs typeface="Bell MT"/>
                <a:sym typeface="Bell MT"/>
              </a:rPr>
              <a:t> (</a:t>
            </a:r>
            <a:r>
              <a:rPr b="1" lang="en-US" sz="3600" u="sng">
                <a:latin typeface="Bell MT"/>
                <a:ea typeface="Bell MT"/>
                <a:cs typeface="Bell MT"/>
                <a:sym typeface="Bell MT"/>
              </a:rPr>
              <a:t>bijective</a:t>
            </a:r>
            <a:r>
              <a:rPr b="1" lang="en-US" sz="36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93700" marR="508000" rtl="0" algn="l">
              <a:lnSpc>
                <a:spcPct val="100099"/>
              </a:lnSpc>
              <a:spcBef>
                <a:spcPts val="602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If	T(r) is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one-to-one and onto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, inverse transformation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3600"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=T</a:t>
            </a:r>
            <a:r>
              <a:rPr baseline="30000" i="1" lang="en-US" sz="3600">
                <a:latin typeface="Bell MT"/>
                <a:ea typeface="Bell MT"/>
                <a:cs typeface="Bell MT"/>
                <a:sym typeface="Bell MT"/>
              </a:rPr>
              <a:t>-1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(s</a:t>
            </a:r>
            <a:r>
              <a:rPr baseline="-25000" i="1" lang="en-US" sz="3600"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) also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satisfies both the conditions (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one to one and onto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) in </a:t>
            </a: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the continuous case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56" name="Google Shape;456;p3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57" name="Google Shape;457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" name="Google Shape;458;p3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31"/>
          <p:cNvSpPr/>
          <p:nvPr/>
        </p:nvSpPr>
        <p:spPr>
          <a:xfrm>
            <a:off x="304800" y="975359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5" name="Google Shape;465;p3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6" name="Google Shape;466;p3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Histogram Equalization-Inverse Transformation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151275" y="1086950"/>
            <a:ext cx="11790900" cy="4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-342900" lvl="0" marL="393700" marR="242570" rtl="0" algn="l">
              <a:lnSpc>
                <a:spcPct val="10787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b="1" lang="en-US" sz="3300">
                <a:solidFill>
                  <a:srgbClr val="C0504D"/>
                </a:solidFill>
                <a:latin typeface="Bell MT"/>
                <a:ea typeface="Bell MT"/>
                <a:cs typeface="Bell MT"/>
                <a:sym typeface="Bell MT"/>
              </a:rPr>
              <a:t>However, in case of	discrete histogram, it is possible if the </a:t>
            </a:r>
            <a:r>
              <a:rPr b="1" lang="en-US" sz="33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input image has all the gray levels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2430" marR="602615" rtl="0" algn="just">
              <a:lnSpc>
                <a:spcPct val="10787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Hence, Inverse Transformation </a:t>
            </a:r>
            <a:r>
              <a:rPr i="1" lang="en-US" sz="3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= T</a:t>
            </a:r>
            <a:r>
              <a:rPr baseline="30000" i="1" lang="en-US" sz="3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-1</a:t>
            </a:r>
            <a:r>
              <a:rPr i="1" lang="en-US" sz="3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(s) </a:t>
            </a: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in discrete case 	satisfies conditions of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4385" rtl="0" algn="just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3000"/>
              <a:buFont typeface="Arial"/>
              <a:buChar char="–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It being </a:t>
            </a:r>
            <a:r>
              <a:rPr lang="en-US" sz="3000" u="sng">
                <a:latin typeface="Bell MT"/>
                <a:ea typeface="Bell MT"/>
                <a:cs typeface="Bell MT"/>
                <a:sym typeface="Bell MT"/>
              </a:rPr>
              <a:t>strictly monotonically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 increasing, and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94385" rtl="0" algn="just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–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For it,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0 &lt;=T(r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)&lt;=1, 0&lt;=r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&lt;=1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393065" marR="43180" rtl="0" algn="just">
              <a:lnSpc>
                <a:spcPct val="107878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only </a:t>
            </a:r>
            <a:r>
              <a:rPr lang="en-US" sz="33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if none of the levels </a:t>
            </a:r>
            <a:r>
              <a:rPr i="1" lang="en-US" sz="33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33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lang="en-US" sz="33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, k=0,..,L-1</a:t>
            </a:r>
            <a:r>
              <a:rPr lang="en-US" sz="33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300" u="none">
                <a:latin typeface="Bell MT"/>
                <a:ea typeface="Bell MT"/>
                <a:cs typeface="Bell MT"/>
                <a:sym typeface="Bell MT"/>
              </a:rPr>
              <a:t>are missing from the input image which in turn means </a:t>
            </a:r>
            <a:r>
              <a:rPr b="1" lang="en-US" sz="3300" u="sng">
                <a:latin typeface="Bell MT"/>
                <a:ea typeface="Bell MT"/>
                <a:cs typeface="Bell MT"/>
                <a:sym typeface="Bell MT"/>
              </a:rPr>
              <a:t>none of the components</a:t>
            </a:r>
            <a:r>
              <a:rPr b="1" lang="en-US" sz="33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3300" u="sng">
                <a:latin typeface="Bell MT"/>
                <a:ea typeface="Bell MT"/>
                <a:cs typeface="Bell MT"/>
                <a:sym typeface="Bell MT"/>
              </a:rPr>
              <a:t>of histogram of input image are zero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8" name="Google Shape;468;p32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69" name="Google Shape;469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" name="Google Shape;470;p3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33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77" name="Google Shape;477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" name="Google Shape;478;p33"/>
          <p:cNvSpPr txBox="1"/>
          <p:nvPr/>
        </p:nvSpPr>
        <p:spPr>
          <a:xfrm>
            <a:off x="0" y="251940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6" name="Google Shape;486;p34"/>
          <p:cNvSpPr txBox="1"/>
          <p:nvPr/>
        </p:nvSpPr>
        <p:spPr>
          <a:xfrm>
            <a:off x="0" y="134740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Processing</a:t>
            </a:r>
            <a:endParaRPr sz="6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2193290" y="3316600"/>
            <a:ext cx="78054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-	2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Histogram Equalization: </a:t>
            </a: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Discrete Case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8" name="Google Shape;488;p34"/>
          <p:cNvSpPr txBox="1"/>
          <p:nvPr/>
        </p:nvSpPr>
        <p:spPr>
          <a:xfrm>
            <a:off x="4398740" y="6547849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90" name="Google Shape;490;p34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98" name="Google Shape;498;p35"/>
          <p:cNvGrpSpPr/>
          <p:nvPr/>
        </p:nvGrpSpPr>
        <p:grpSpPr>
          <a:xfrm>
            <a:off x="304800" y="975360"/>
            <a:ext cx="11582400" cy="2315400"/>
            <a:chOff x="304800" y="975360"/>
            <a:chExt cx="11582400" cy="2315400"/>
          </a:xfrm>
        </p:grpSpPr>
        <p:sp>
          <p:nvSpPr>
            <p:cNvPr id="499" name="Google Shape;499;p35"/>
            <p:cNvSpPr/>
            <p:nvPr/>
          </p:nvSpPr>
          <p:spPr>
            <a:xfrm>
              <a:off x="304800" y="975360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00" name="Google Shape;500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81600" y="986028"/>
              <a:ext cx="2267711" cy="2263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5"/>
            <p:cNvSpPr/>
            <p:nvPr/>
          </p:nvSpPr>
          <p:spPr>
            <a:xfrm>
              <a:off x="5176837" y="981265"/>
              <a:ext cx="2313940" cy="2309495"/>
            </a:xfrm>
            <a:custGeom>
              <a:rect b="b" l="l" r="r" t="t"/>
              <a:pathLst>
                <a:path extrusionOk="0" h="2309495" w="2313940">
                  <a:moveTo>
                    <a:pt x="0" y="0"/>
                  </a:moveTo>
                  <a:lnTo>
                    <a:pt x="2313813" y="0"/>
                  </a:lnTo>
                  <a:lnTo>
                    <a:pt x="2313813" y="2309241"/>
                  </a:lnTo>
                  <a:lnTo>
                    <a:pt x="0" y="230924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02" name="Google Shape;502;p35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Review of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Previous Class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03" name="Google Shape;503;p35"/>
          <p:cNvSpPr txBox="1"/>
          <p:nvPr/>
        </p:nvSpPr>
        <p:spPr>
          <a:xfrm>
            <a:off x="688340" y="1063245"/>
            <a:ext cx="21774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Histogram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04" name="Google Shape;504;p35"/>
          <p:cNvSpPr txBox="1"/>
          <p:nvPr/>
        </p:nvSpPr>
        <p:spPr>
          <a:xfrm>
            <a:off x="688340" y="2818893"/>
            <a:ext cx="4230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Normalized Histogram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05" name="Google Shape;505;p35"/>
          <p:cNvSpPr txBox="1"/>
          <p:nvPr/>
        </p:nvSpPr>
        <p:spPr>
          <a:xfrm>
            <a:off x="634740" y="4258315"/>
            <a:ext cx="106782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Histogram of	a Good Image (in terms of	contrast)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Intuitively, a good image has </a:t>
            </a:r>
            <a:r>
              <a:rPr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uniformly distributed histogram</a:t>
            </a:r>
            <a:r>
              <a:rPr lang="en-US" sz="2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in the entire range of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available gray values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506" name="Google Shape;50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1131320"/>
            <a:ext cx="2901732" cy="193560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5"/>
          <p:cNvSpPr txBox="1"/>
          <p:nvPr/>
        </p:nvSpPr>
        <p:spPr>
          <a:xfrm>
            <a:off x="6552362" y="3365995"/>
            <a:ext cx="2742000" cy="27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3-Bit Image and Its Histogram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5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10" name="Google Shape;510;p35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115200" y="6431366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18" name="Google Shape;518;p36"/>
          <p:cNvGrpSpPr/>
          <p:nvPr/>
        </p:nvGrpSpPr>
        <p:grpSpPr>
          <a:xfrm>
            <a:off x="304800" y="975360"/>
            <a:ext cx="11812803" cy="2707749"/>
            <a:chOff x="304800" y="975360"/>
            <a:chExt cx="11812803" cy="2707749"/>
          </a:xfrm>
        </p:grpSpPr>
        <p:sp>
          <p:nvSpPr>
            <p:cNvPr id="519" name="Google Shape;519;p36"/>
            <p:cNvSpPr/>
            <p:nvPr/>
          </p:nvSpPr>
          <p:spPr>
            <a:xfrm>
              <a:off x="304800" y="975360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8946642" y="1050607"/>
              <a:ext cx="0" cy="2595879"/>
            </a:xfrm>
            <a:custGeom>
              <a:rect b="b" l="l" r="r" t="t"/>
              <a:pathLst>
                <a:path extrusionOk="0" h="2595879" w="120000">
                  <a:moveTo>
                    <a:pt x="0" y="25955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8903783" y="979168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8946642" y="3640211"/>
              <a:ext cx="3099434" cy="6350"/>
            </a:xfrm>
            <a:custGeom>
              <a:rect b="b" l="l" r="r" t="t"/>
              <a:pathLst>
                <a:path extrusionOk="0" h="6350" w="3099434">
                  <a:moveTo>
                    <a:pt x="0" y="6108"/>
                  </a:moveTo>
                  <a:lnTo>
                    <a:pt x="3098977" y="0"/>
                  </a:lnTo>
                </a:path>
              </a:pathLst>
            </a:custGeom>
            <a:noFill/>
            <a:ln cap="flat" cmpd="sng" w="28575">
              <a:solidFill>
                <a:srgbClr val="1F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12031244" y="3597384"/>
              <a:ext cx="86359" cy="85725"/>
            </a:xfrm>
            <a:custGeom>
              <a:rect b="b" l="l" r="r" t="t"/>
              <a:pathLst>
                <a:path extrusionOk="0" h="85725" w="86359">
                  <a:moveTo>
                    <a:pt x="0" y="0"/>
                  </a:moveTo>
                  <a:lnTo>
                    <a:pt x="177" y="85725"/>
                  </a:lnTo>
                  <a:lnTo>
                    <a:pt x="85813" y="426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8923781" y="1631442"/>
              <a:ext cx="2324100" cy="1995170"/>
            </a:xfrm>
            <a:custGeom>
              <a:rect b="b" l="l" r="r" t="t"/>
              <a:pathLst>
                <a:path extrusionOk="0" h="1995170" w="2324100">
                  <a:moveTo>
                    <a:pt x="0" y="1994916"/>
                  </a:moveTo>
                  <a:lnTo>
                    <a:pt x="25572" y="1942832"/>
                  </a:lnTo>
                  <a:lnTo>
                    <a:pt x="51158" y="1890828"/>
                  </a:lnTo>
                  <a:lnTo>
                    <a:pt x="76771" y="1838982"/>
                  </a:lnTo>
                  <a:lnTo>
                    <a:pt x="102424" y="1787372"/>
                  </a:lnTo>
                  <a:lnTo>
                    <a:pt x="128130" y="1736078"/>
                  </a:lnTo>
                  <a:lnTo>
                    <a:pt x="153902" y="1685179"/>
                  </a:lnTo>
                  <a:lnTo>
                    <a:pt x="179755" y="1634753"/>
                  </a:lnTo>
                  <a:lnTo>
                    <a:pt x="205700" y="1584880"/>
                  </a:lnTo>
                  <a:lnTo>
                    <a:pt x="231753" y="1535638"/>
                  </a:lnTo>
                  <a:lnTo>
                    <a:pt x="257925" y="1487106"/>
                  </a:lnTo>
                  <a:lnTo>
                    <a:pt x="284230" y="1439364"/>
                  </a:lnTo>
                  <a:lnTo>
                    <a:pt x="310682" y="1392489"/>
                  </a:lnTo>
                  <a:lnTo>
                    <a:pt x="337294" y="1346562"/>
                  </a:lnTo>
                  <a:lnTo>
                    <a:pt x="364078" y="1301661"/>
                  </a:lnTo>
                  <a:lnTo>
                    <a:pt x="391050" y="1257864"/>
                  </a:lnTo>
                  <a:lnTo>
                    <a:pt x="418221" y="1215252"/>
                  </a:lnTo>
                  <a:lnTo>
                    <a:pt x="445605" y="1173902"/>
                  </a:lnTo>
                  <a:lnTo>
                    <a:pt x="473215" y="1133894"/>
                  </a:lnTo>
                  <a:lnTo>
                    <a:pt x="501066" y="1095306"/>
                  </a:lnTo>
                  <a:lnTo>
                    <a:pt x="529169" y="1058218"/>
                  </a:lnTo>
                  <a:lnTo>
                    <a:pt x="557539" y="1022708"/>
                  </a:lnTo>
                  <a:lnTo>
                    <a:pt x="586188" y="988856"/>
                  </a:lnTo>
                  <a:lnTo>
                    <a:pt x="615131" y="956740"/>
                  </a:lnTo>
                  <a:lnTo>
                    <a:pt x="644380" y="926439"/>
                  </a:lnTo>
                  <a:lnTo>
                    <a:pt x="673948" y="898032"/>
                  </a:lnTo>
                  <a:lnTo>
                    <a:pt x="703849" y="871599"/>
                  </a:lnTo>
                  <a:lnTo>
                    <a:pt x="734097" y="847217"/>
                  </a:lnTo>
                  <a:lnTo>
                    <a:pt x="802876" y="802060"/>
                  </a:lnTo>
                  <a:lnTo>
                    <a:pt x="842328" y="784543"/>
                  </a:lnTo>
                  <a:lnTo>
                    <a:pt x="882923" y="771933"/>
                  </a:lnTo>
                  <a:lnTo>
                    <a:pt x="924525" y="763751"/>
                  </a:lnTo>
                  <a:lnTo>
                    <a:pt x="966998" y="759514"/>
                  </a:lnTo>
                  <a:lnTo>
                    <a:pt x="1010203" y="758744"/>
                  </a:lnTo>
                  <a:lnTo>
                    <a:pt x="1054005" y="760958"/>
                  </a:lnTo>
                  <a:lnTo>
                    <a:pt x="1098267" y="765675"/>
                  </a:lnTo>
                  <a:lnTo>
                    <a:pt x="1142851" y="772416"/>
                  </a:lnTo>
                  <a:lnTo>
                    <a:pt x="1187622" y="780699"/>
                  </a:lnTo>
                  <a:lnTo>
                    <a:pt x="1232442" y="790044"/>
                  </a:lnTo>
                  <a:lnTo>
                    <a:pt x="1277174" y="799969"/>
                  </a:lnTo>
                  <a:lnTo>
                    <a:pt x="1321683" y="809994"/>
                  </a:lnTo>
                  <a:lnTo>
                    <a:pt x="1365829" y="819639"/>
                  </a:lnTo>
                  <a:lnTo>
                    <a:pt x="1409478" y="828421"/>
                  </a:lnTo>
                  <a:lnTo>
                    <a:pt x="1452493" y="835862"/>
                  </a:lnTo>
                  <a:lnTo>
                    <a:pt x="1494736" y="841479"/>
                  </a:lnTo>
                  <a:lnTo>
                    <a:pt x="1536070" y="844791"/>
                  </a:lnTo>
                  <a:lnTo>
                    <a:pt x="1576359" y="845319"/>
                  </a:lnTo>
                  <a:lnTo>
                    <a:pt x="1615467" y="842582"/>
                  </a:lnTo>
                  <a:lnTo>
                    <a:pt x="1653255" y="836098"/>
                  </a:lnTo>
                  <a:lnTo>
                    <a:pt x="1724329" y="809967"/>
                  </a:lnTo>
                  <a:lnTo>
                    <a:pt x="1927691" y="625406"/>
                  </a:lnTo>
                  <a:lnTo>
                    <a:pt x="2121679" y="353425"/>
                  </a:lnTo>
                  <a:lnTo>
                    <a:pt x="2266935" y="107222"/>
                  </a:lnTo>
                  <a:lnTo>
                    <a:pt x="2324100" y="0"/>
                  </a:lnTo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8946646" y="1631442"/>
              <a:ext cx="2301240" cy="0"/>
            </a:xfrm>
            <a:custGeom>
              <a:rect b="b" l="l" r="r" t="t"/>
              <a:pathLst>
                <a:path extrusionOk="0" h="120000" w="2301240">
                  <a:moveTo>
                    <a:pt x="230098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1247881" y="1631436"/>
              <a:ext cx="0" cy="1993900"/>
            </a:xfrm>
            <a:custGeom>
              <a:rect b="b" l="l" r="r" t="t"/>
              <a:pathLst>
                <a:path extrusionOk="0" h="1993900" w="120000">
                  <a:moveTo>
                    <a:pt x="0" y="1993696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8923019" y="978408"/>
              <a:ext cx="3147059" cy="0"/>
            </a:xfrm>
            <a:custGeom>
              <a:rect b="b" l="l" r="r" t="t"/>
              <a:pathLst>
                <a:path extrusionOk="0" h="120000" w="3147059">
                  <a:moveTo>
                    <a:pt x="0" y="0"/>
                  </a:moveTo>
                  <a:lnTo>
                    <a:pt x="3146691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12070080" y="978408"/>
              <a:ext cx="0" cy="2667000"/>
            </a:xfrm>
            <a:custGeom>
              <a:rect b="b" l="l" r="r" t="t"/>
              <a:pathLst>
                <a:path extrusionOk="0" h="2667000" w="120000">
                  <a:moveTo>
                    <a:pt x="0" y="26670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29" name="Google Shape;529;p36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Review of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Previous Class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0" name="Google Shape;530;p36"/>
          <p:cNvSpPr txBox="1"/>
          <p:nvPr/>
        </p:nvSpPr>
        <p:spPr>
          <a:xfrm>
            <a:off x="688338" y="1063245"/>
            <a:ext cx="43644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Histogram Equalization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1145538" y="1554887"/>
            <a:ext cx="7036500" cy="24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285115" lvl="0" marL="297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Used for contrast enhancement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0" marL="297180" marR="2032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Provides a transformation function T(r) to get 	uniformly distributed histogram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0" marL="297180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CDF of a PDF (normalized histogram) serves 	as a good T(r)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532" name="Google Shape;5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820" y="4295241"/>
            <a:ext cx="3672450" cy="1948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111" y="4281191"/>
            <a:ext cx="3652385" cy="198522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6"/>
          <p:cNvSpPr txBox="1"/>
          <p:nvPr/>
        </p:nvSpPr>
        <p:spPr>
          <a:xfrm>
            <a:off x="8798161" y="3608633"/>
            <a:ext cx="154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11167884" y="3656226"/>
            <a:ext cx="154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8687196" y="1452442"/>
            <a:ext cx="1548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8659042" y="807211"/>
            <a:ext cx="178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𝒔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1852874" y="3598064"/>
            <a:ext cx="189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9871586" y="4205142"/>
            <a:ext cx="63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𝑻(𝒓)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540" name="Google Shape;540;p36"/>
          <p:cNvGrpSpPr/>
          <p:nvPr/>
        </p:nvGrpSpPr>
        <p:grpSpPr>
          <a:xfrm>
            <a:off x="10151360" y="2502406"/>
            <a:ext cx="76200" cy="1733548"/>
            <a:chOff x="10151360" y="2502406"/>
            <a:chExt cx="76200" cy="1733548"/>
          </a:xfrm>
        </p:grpSpPr>
        <p:sp>
          <p:nvSpPr>
            <p:cNvPr id="541" name="Google Shape;541;p36"/>
            <p:cNvSpPr/>
            <p:nvPr/>
          </p:nvSpPr>
          <p:spPr>
            <a:xfrm>
              <a:off x="10189465" y="2565904"/>
              <a:ext cx="0" cy="1670050"/>
            </a:xfrm>
            <a:custGeom>
              <a:rect b="b" l="l" r="r" t="t"/>
              <a:pathLst>
                <a:path extrusionOk="0" h="1670050" w="120000">
                  <a:moveTo>
                    <a:pt x="0" y="1669542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10151360" y="2502406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543" name="Google Shape;543;p36"/>
          <p:cNvGrpSpPr/>
          <p:nvPr/>
        </p:nvGrpSpPr>
        <p:grpSpPr>
          <a:xfrm>
            <a:off x="5183123" y="5128259"/>
            <a:ext cx="1191767" cy="315467"/>
            <a:chOff x="5183123" y="5128259"/>
            <a:chExt cx="1191767" cy="315467"/>
          </a:xfrm>
        </p:grpSpPr>
        <p:pic>
          <p:nvPicPr>
            <p:cNvPr id="544" name="Google Shape;544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83123" y="5128259"/>
              <a:ext cx="1191767" cy="315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" name="Google Shape;545;p36"/>
            <p:cNvSpPr/>
            <p:nvPr/>
          </p:nvSpPr>
          <p:spPr>
            <a:xfrm>
              <a:off x="5226557" y="5264260"/>
              <a:ext cx="895350" cy="10795"/>
            </a:xfrm>
            <a:custGeom>
              <a:rect b="b" l="l" r="r" t="t"/>
              <a:pathLst>
                <a:path extrusionOk="0" h="10795" w="895350">
                  <a:moveTo>
                    <a:pt x="0" y="10528"/>
                  </a:moveTo>
                  <a:lnTo>
                    <a:pt x="895350" y="0"/>
                  </a:lnTo>
                </a:path>
              </a:pathLst>
            </a:custGeom>
            <a:noFill/>
            <a:ln cap="flat" cmpd="sng" w="3810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6102183" y="5207342"/>
              <a:ext cx="115570" cy="114300"/>
            </a:xfrm>
            <a:custGeom>
              <a:rect b="b" l="l" r="r" t="t"/>
              <a:pathLst>
                <a:path extrusionOk="0" h="114300" w="115570">
                  <a:moveTo>
                    <a:pt x="0" y="0"/>
                  </a:moveTo>
                  <a:lnTo>
                    <a:pt x="1346" y="114287"/>
                  </a:lnTo>
                  <a:lnTo>
                    <a:pt x="114960" y="557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47" name="Google Shape;547;p36"/>
          <p:cNvSpPr txBox="1"/>
          <p:nvPr/>
        </p:nvSpPr>
        <p:spPr>
          <a:xfrm>
            <a:off x="5405088" y="4794406"/>
            <a:ext cx="63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𝑻(𝒓)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48" name="Google Shape;548;p36"/>
          <p:cNvSpPr txBox="1"/>
          <p:nvPr/>
        </p:nvSpPr>
        <p:spPr>
          <a:xfrm>
            <a:off x="4398740" y="65666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49" name="Google Shape;549;p36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50" name="Google Shape;550;p36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8" name="Google Shape;558;p3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9" name="Google Shape;559;p37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Agenda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0" name="Google Shape;560;p37"/>
          <p:cNvSpPr txBox="1"/>
          <p:nvPr/>
        </p:nvSpPr>
        <p:spPr>
          <a:xfrm>
            <a:off x="706415" y="1415127"/>
            <a:ext cx="5361300" cy="3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Histogram Equalization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Discrete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Case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68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Histogram Equalization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Discrete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Case Examples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3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1" name="Google Shape;571;p3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2" name="Google Shape;572;p38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– Notations used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73" name="Google Shape;573;p38"/>
          <p:cNvSpPr txBox="1"/>
          <p:nvPr/>
        </p:nvSpPr>
        <p:spPr>
          <a:xfrm>
            <a:off x="304804" y="1141650"/>
            <a:ext cx="11582400" cy="4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25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a gray level image, let us consider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L - No. of	gray levels in the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2775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- The normalized intensity value (gray level),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2400"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[0,1], </a:t>
            </a:r>
            <a:r>
              <a:rPr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Here, </a:t>
            </a:r>
            <a:r>
              <a:rPr i="1"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0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[0,L-1]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- No. of	pixels with gray level r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k</a:t>
            </a:r>
            <a:endParaRPr baseline="-25000" sz="2775">
              <a:latin typeface="Bell MT"/>
              <a:ea typeface="Bell MT"/>
              <a:cs typeface="Bell MT"/>
              <a:sym typeface="Bell MT"/>
            </a:endParaRPr>
          </a:p>
          <a:p>
            <a:pPr indent="-342264" lvl="1" marL="850264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N - Total number of	pixels in the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451483" rtl="0" algn="l">
              <a:lnSpc>
                <a:spcPct val="100000"/>
              </a:lnSpc>
              <a:spcBef>
                <a:spcPts val="53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Using this, we can define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3845" lvl="1" marL="84963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Histogram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3845" lvl="1" marL="8496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Normalized histogram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74" name="Google Shape;574;p38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75" name="Google Shape;575;p38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76" name="Google Shape;576;p38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3" name="Google Shape;583;p3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4" name="Google Shape;584;p3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5" name="Google Shape;585;p39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Equalization – Continuous Case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6" name="Google Shape;586;p39"/>
          <p:cNvSpPr txBox="1"/>
          <p:nvPr/>
        </p:nvSpPr>
        <p:spPr>
          <a:xfrm>
            <a:off x="304800" y="1034575"/>
            <a:ext cx="11887200" cy="4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418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(r):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the input probability density function (pdf)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81978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a non-uniform continuous pdf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418465" marR="81280" rtl="0" algn="l">
              <a:lnSpc>
                <a:spcPct val="96000"/>
              </a:lnSpc>
              <a:spcBef>
                <a:spcPts val="42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(s):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a 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pdf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that is 0 outside the interval [0,1] and 1 in the interval [0,1]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819785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a uniform density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819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Obtained after histogram equalization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18465" rtl="0" algn="l">
              <a:lnSpc>
                <a:spcPct val="100000"/>
              </a:lnSpc>
              <a:spcBef>
                <a:spcPts val="3584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T(r) is the transformation function to get 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(s)	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from 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i="1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(r)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18465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T(r)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depends on 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(r)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but 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lang="en-US" sz="3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(s)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is always a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uniform </a:t>
            </a:r>
            <a:r>
              <a:rPr i="1"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pdf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7" name="Google Shape;587;p39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8" name="Google Shape;588;p39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9" name="Google Shape;589;p39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6" name="Google Shape;596;p4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7" name="Google Shape;597;p4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8" name="Google Shape;598;p40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Equalization-</a:t>
            </a: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Discrete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Case</a:t>
            </a:r>
            <a:endParaRPr sz="36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99" name="Google Shape;599;p40"/>
          <p:cNvSpPr txBox="1"/>
          <p:nvPr/>
        </p:nvSpPr>
        <p:spPr>
          <a:xfrm>
            <a:off x="558552" y="1212775"/>
            <a:ext cx="11185200" cy="21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500"/>
              <a:buFont typeface="Noto Sans Symbols"/>
              <a:buChar char="▪"/>
            </a:pPr>
            <a:r>
              <a:rPr lang="en-US" sz="4400">
                <a:latin typeface="Bell MT"/>
                <a:ea typeface="Bell MT"/>
                <a:cs typeface="Bell MT"/>
                <a:sym typeface="Bell MT"/>
              </a:rPr>
              <a:t>Example of	histogram equalization in discrete domain</a:t>
            </a:r>
            <a:endParaRPr sz="44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histogram equalization on </a:t>
            </a: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 image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00" name="Google Shape;600;p40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01" name="Google Shape;601;p40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02" name="Google Shape;602;p40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9" name="Google Shape;609;p4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0" name="Google Shape;610;p4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1" name="Google Shape;611;p41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Equalization – Discrete </a:t>
            </a:r>
            <a:r>
              <a:rPr lang="en-US" sz="36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Case</a:t>
            </a:r>
            <a:endParaRPr sz="36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2" name="Google Shape;612;p41"/>
          <p:cNvSpPr txBox="1"/>
          <p:nvPr/>
        </p:nvSpPr>
        <p:spPr>
          <a:xfrm>
            <a:off x="650240" y="1207017"/>
            <a:ext cx="10753200" cy="2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In discrete case, </a:t>
            </a:r>
            <a:r>
              <a:rPr i="1" lang="en-US" sz="3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i="1" lang="en-US" sz="3300">
                <a:latin typeface="Bell MT"/>
                <a:ea typeface="Bell MT"/>
                <a:cs typeface="Bell MT"/>
                <a:sym typeface="Bell MT"/>
              </a:rPr>
              <a:t>takes </a:t>
            </a:r>
            <a:r>
              <a:rPr i="1" lang="en-US" sz="3300" u="sng">
                <a:latin typeface="Bell MT"/>
                <a:ea typeface="Bell MT"/>
                <a:cs typeface="Bell MT"/>
                <a:sym typeface="Bell MT"/>
              </a:rPr>
              <a:t>discrete gray values </a:t>
            </a:r>
            <a:r>
              <a:rPr i="1" lang="en-US" sz="33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33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3300" u="none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33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k=0,1…L-1 </a:t>
            </a:r>
            <a:r>
              <a:rPr i="1" lang="en-US" sz="3300" u="none">
                <a:latin typeface="Bell MT"/>
                <a:ea typeface="Bell MT"/>
                <a:cs typeface="Bell MT"/>
                <a:sym typeface="Bell MT"/>
              </a:rPr>
              <a:t>and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rtl="0" algn="l">
              <a:lnSpc>
                <a:spcPct val="11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1981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Probability of	 occurrence of a gray level </a:t>
            </a:r>
            <a:r>
              <a:rPr i="1" lang="en-US" sz="3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3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3300">
                <a:latin typeface="Bell MT"/>
                <a:ea typeface="Bell MT"/>
                <a:cs typeface="Bell MT"/>
                <a:sym typeface="Bell MT"/>
              </a:rPr>
              <a:t>in an image is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0" lvl="0" marL="393065" rtl="0" algn="l">
              <a:lnSpc>
                <a:spcPct val="11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u="sng">
                <a:latin typeface="Bell MT"/>
                <a:ea typeface="Bell MT"/>
                <a:cs typeface="Bell MT"/>
                <a:sym typeface="Bell MT"/>
              </a:rPr>
              <a:t>approximated</a:t>
            </a:r>
            <a:r>
              <a:rPr lang="en-US" sz="3300" u="none">
                <a:latin typeface="Bell MT"/>
                <a:ea typeface="Bell MT"/>
                <a:cs typeface="Bell MT"/>
                <a:sym typeface="Bell MT"/>
              </a:rPr>
              <a:t> by: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3" name="Google Shape;613;p41"/>
          <p:cNvSpPr txBox="1"/>
          <p:nvPr/>
        </p:nvSpPr>
        <p:spPr>
          <a:xfrm>
            <a:off x="688340" y="5100836"/>
            <a:ext cx="2456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50"/>
              <a:buFont typeface="Noto Sans Symbols"/>
              <a:buChar char="▪"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This defines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4" name="Google Shape;614;p41"/>
          <p:cNvSpPr txBox="1"/>
          <p:nvPr/>
        </p:nvSpPr>
        <p:spPr>
          <a:xfrm>
            <a:off x="3240023" y="5191264"/>
            <a:ext cx="3787200" cy="507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normalized histogram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5" name="Google Shape;615;p41"/>
          <p:cNvSpPr txBox="1"/>
          <p:nvPr/>
        </p:nvSpPr>
        <p:spPr>
          <a:xfrm>
            <a:off x="7121182" y="5100836"/>
            <a:ext cx="3657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(pdf) for discrete case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3277153" y="4029959"/>
            <a:ext cx="545464" cy="423545"/>
          </a:xfrm>
          <a:custGeom>
            <a:rect b="b" l="l" r="r" t="t"/>
            <a:pathLst>
              <a:path extrusionOk="0" h="423545" w="545464">
                <a:moveTo>
                  <a:pt x="410197" y="0"/>
                </a:moveTo>
                <a:lnTo>
                  <a:pt x="404164" y="17195"/>
                </a:lnTo>
                <a:lnTo>
                  <a:pt x="428679" y="27832"/>
                </a:lnTo>
                <a:lnTo>
                  <a:pt x="449762" y="42559"/>
                </a:lnTo>
                <a:lnTo>
                  <a:pt x="481634" y="84277"/>
                </a:lnTo>
                <a:lnTo>
                  <a:pt x="500386" y="140560"/>
                </a:lnTo>
                <a:lnTo>
                  <a:pt x="505011" y="173034"/>
                </a:lnTo>
                <a:lnTo>
                  <a:pt x="505077" y="173495"/>
                </a:lnTo>
                <a:lnTo>
                  <a:pt x="505071" y="246973"/>
                </a:lnTo>
                <a:lnTo>
                  <a:pt x="492512" y="311376"/>
                </a:lnTo>
                <a:lnTo>
                  <a:pt x="467311" y="361680"/>
                </a:lnTo>
                <a:lnTo>
                  <a:pt x="428969" y="395613"/>
                </a:lnTo>
                <a:lnTo>
                  <a:pt x="404837" y="406298"/>
                </a:lnTo>
                <a:lnTo>
                  <a:pt x="410197" y="423494"/>
                </a:lnTo>
                <a:lnTo>
                  <a:pt x="467961" y="396393"/>
                </a:lnTo>
                <a:lnTo>
                  <a:pt x="510438" y="349491"/>
                </a:lnTo>
                <a:lnTo>
                  <a:pt x="536555" y="286672"/>
                </a:lnTo>
                <a:lnTo>
                  <a:pt x="545261" y="211861"/>
                </a:lnTo>
                <a:lnTo>
                  <a:pt x="543104" y="173495"/>
                </a:lnTo>
                <a:lnTo>
                  <a:pt x="525609" y="104221"/>
                </a:lnTo>
                <a:lnTo>
                  <a:pt x="490964" y="48202"/>
                </a:lnTo>
                <a:lnTo>
                  <a:pt x="440901" y="11084"/>
                </a:lnTo>
                <a:lnTo>
                  <a:pt x="410197" y="0"/>
                </a:lnTo>
                <a:close/>
              </a:path>
              <a:path extrusionOk="0" h="423545" w="545464">
                <a:moveTo>
                  <a:pt x="135064" y="0"/>
                </a:moveTo>
                <a:lnTo>
                  <a:pt x="77438" y="27152"/>
                </a:lnTo>
                <a:lnTo>
                  <a:pt x="34937" y="74231"/>
                </a:lnTo>
                <a:lnTo>
                  <a:pt x="8734" y="137155"/>
                </a:lnTo>
                <a:lnTo>
                  <a:pt x="125" y="209626"/>
                </a:lnTo>
                <a:lnTo>
                  <a:pt x="0" y="211861"/>
                </a:lnTo>
                <a:lnTo>
                  <a:pt x="2178" y="250766"/>
                </a:lnTo>
                <a:lnTo>
                  <a:pt x="19598" y="319580"/>
                </a:lnTo>
                <a:lnTo>
                  <a:pt x="54159" y="375418"/>
                </a:lnTo>
                <a:lnTo>
                  <a:pt x="104275" y="412418"/>
                </a:lnTo>
                <a:lnTo>
                  <a:pt x="135064" y="423494"/>
                </a:lnTo>
                <a:lnTo>
                  <a:pt x="140423" y="406298"/>
                </a:lnTo>
                <a:lnTo>
                  <a:pt x="116292" y="395613"/>
                </a:lnTo>
                <a:lnTo>
                  <a:pt x="95467" y="380741"/>
                </a:lnTo>
                <a:lnTo>
                  <a:pt x="63741" y="338429"/>
                </a:lnTo>
                <a:lnTo>
                  <a:pt x="44904" y="280890"/>
                </a:lnTo>
                <a:lnTo>
                  <a:pt x="38714" y="211861"/>
                </a:lnTo>
                <a:lnTo>
                  <a:pt x="38620" y="209626"/>
                </a:lnTo>
                <a:lnTo>
                  <a:pt x="40191" y="173495"/>
                </a:lnTo>
                <a:lnTo>
                  <a:pt x="52754" y="110820"/>
                </a:lnTo>
                <a:lnTo>
                  <a:pt x="77992" y="61374"/>
                </a:lnTo>
                <a:lnTo>
                  <a:pt x="116672" y="27832"/>
                </a:lnTo>
                <a:lnTo>
                  <a:pt x="141096" y="17195"/>
                </a:lnTo>
                <a:lnTo>
                  <a:pt x="13506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7" name="Google Shape;617;p41"/>
          <p:cNvSpPr txBox="1"/>
          <p:nvPr/>
        </p:nvSpPr>
        <p:spPr>
          <a:xfrm>
            <a:off x="2706742" y="3919130"/>
            <a:ext cx="9957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𝒑</a:t>
            </a:r>
            <a:r>
              <a:rPr baseline="-25000" lang="en-US" sz="39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𝒓    </a:t>
            </a:r>
            <a:r>
              <a:rPr lang="en-US" sz="3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3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18" name="Google Shape;618;p41"/>
          <p:cNvSpPr/>
          <p:nvPr/>
        </p:nvSpPr>
        <p:spPr>
          <a:xfrm>
            <a:off x="4457700" y="4303776"/>
            <a:ext cx="520064" cy="29210"/>
          </a:xfrm>
          <a:custGeom>
            <a:rect b="b" l="l" r="r" t="t"/>
            <a:pathLst>
              <a:path extrusionOk="0" h="29210" w="520064">
                <a:moveTo>
                  <a:pt x="519684" y="0"/>
                </a:moveTo>
                <a:lnTo>
                  <a:pt x="0" y="0"/>
                </a:lnTo>
                <a:lnTo>
                  <a:pt x="0" y="28956"/>
                </a:lnTo>
                <a:lnTo>
                  <a:pt x="519684" y="28956"/>
                </a:lnTo>
                <a:lnTo>
                  <a:pt x="51968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9" name="Google Shape;619;p41"/>
          <p:cNvSpPr txBox="1"/>
          <p:nvPr/>
        </p:nvSpPr>
        <p:spPr>
          <a:xfrm>
            <a:off x="4530344" y="4284979"/>
            <a:ext cx="373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𝑵</a:t>
            </a:r>
            <a:endParaRPr sz="3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0" name="Google Shape;620;p41"/>
          <p:cNvSpPr txBox="1"/>
          <p:nvPr/>
        </p:nvSpPr>
        <p:spPr>
          <a:xfrm>
            <a:off x="3951725" y="3433200"/>
            <a:ext cx="18567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5458" rtl="0" algn="l">
              <a:lnSpc>
                <a:spcPct val="902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𝒏</a:t>
            </a:r>
            <a:r>
              <a:rPr baseline="-25000" lang="en-US" sz="39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aseline="-25000" sz="39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38100" rtl="0" algn="l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=	        ,</a:t>
            </a:r>
            <a:endParaRPr sz="3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1" name="Google Shape;621;p41"/>
          <p:cNvSpPr txBox="1"/>
          <p:nvPr/>
        </p:nvSpPr>
        <p:spPr>
          <a:xfrm>
            <a:off x="6249415" y="3978655"/>
            <a:ext cx="378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𝒌 = 𝟎, 𝟏, ……., 𝑳−𝟏</a:t>
            </a:r>
            <a:endParaRPr sz="3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2" name="Google Shape;622;p41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23" name="Google Shape;623;p41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24" name="Google Shape;624;p41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1" name="Google Shape;631;p4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2" name="Google Shape;632;p4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3" name="Google Shape;633;p42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Equalization – Discrete </a:t>
            </a:r>
            <a:r>
              <a:rPr lang="en-US" sz="36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Case</a:t>
            </a:r>
            <a:endParaRPr sz="36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34" name="Google Shape;634;p42"/>
          <p:cNvSpPr txBox="1"/>
          <p:nvPr/>
        </p:nvSpPr>
        <p:spPr>
          <a:xfrm>
            <a:off x="688340" y="3434588"/>
            <a:ext cx="1126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where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35" name="Google Shape;635;p42"/>
          <p:cNvSpPr txBox="1"/>
          <p:nvPr/>
        </p:nvSpPr>
        <p:spPr>
          <a:xfrm>
            <a:off x="470475" y="3976563"/>
            <a:ext cx="116352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286385" lvl="0" marL="781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–"/>
            </a:pP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i="1" lang="en-US" sz="19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is the number of	times the </a:t>
            </a: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</a:t>
            </a:r>
            <a:r>
              <a:rPr baseline="30000" i="1" lang="en-US" sz="19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gray level appears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in the image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8168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–"/>
            </a:pP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defines the number of	gray levels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8168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–"/>
            </a:pP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19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(r</a:t>
            </a:r>
            <a:r>
              <a:rPr baseline="-25000" i="1" lang="en-US" sz="19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</a:t>
            </a: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is the probability that a pixel holds </a:t>
            </a: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</a:t>
            </a:r>
            <a:r>
              <a:rPr baseline="30000" i="1" lang="en-US" sz="19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gray level and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8168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–"/>
            </a:pPr>
            <a:r>
              <a:rPr i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is the total number of pixels in the image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81000" marR="3048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Unlike the continuous part, the discrete transformation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may not produce the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discrete equivalent of a uniform </a:t>
            </a:r>
            <a:r>
              <a:rPr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pdf</a:t>
            </a:r>
            <a:r>
              <a:rPr i="1"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nevertheless, it spreads the histogram to span a larger range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36" name="Google Shape;636;p42"/>
          <p:cNvSpPr txBox="1"/>
          <p:nvPr/>
        </p:nvSpPr>
        <p:spPr>
          <a:xfrm>
            <a:off x="688351" y="987050"/>
            <a:ext cx="11199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Considering transformation function as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cdf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histogram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equalization, it can be given as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37" name="Google Shape;637;p42"/>
          <p:cNvSpPr/>
          <p:nvPr/>
        </p:nvSpPr>
        <p:spPr>
          <a:xfrm>
            <a:off x="4494080" y="2701096"/>
            <a:ext cx="512445" cy="282575"/>
          </a:xfrm>
          <a:custGeom>
            <a:rect b="b" l="l" r="r" t="t"/>
            <a:pathLst>
              <a:path extrusionOk="0" h="282575" w="512445">
                <a:moveTo>
                  <a:pt x="421792" y="0"/>
                </a:moveTo>
                <a:lnTo>
                  <a:pt x="417779" y="11455"/>
                </a:lnTo>
                <a:lnTo>
                  <a:pt x="434121" y="18551"/>
                </a:lnTo>
                <a:lnTo>
                  <a:pt x="448175" y="28371"/>
                </a:lnTo>
                <a:lnTo>
                  <a:pt x="476708" y="73880"/>
                </a:lnTo>
                <a:lnTo>
                  <a:pt x="484995" y="115357"/>
                </a:lnTo>
                <a:lnTo>
                  <a:pt x="485038" y="115661"/>
                </a:lnTo>
                <a:lnTo>
                  <a:pt x="485034" y="164649"/>
                </a:lnTo>
                <a:lnTo>
                  <a:pt x="476666" y="207587"/>
                </a:lnTo>
                <a:lnTo>
                  <a:pt x="448187" y="253828"/>
                </a:lnTo>
                <a:lnTo>
                  <a:pt x="418223" y="270865"/>
                </a:lnTo>
                <a:lnTo>
                  <a:pt x="421792" y="282321"/>
                </a:lnTo>
                <a:lnTo>
                  <a:pt x="460301" y="264263"/>
                </a:lnTo>
                <a:lnTo>
                  <a:pt x="488619" y="232994"/>
                </a:lnTo>
                <a:lnTo>
                  <a:pt x="506028" y="191111"/>
                </a:lnTo>
                <a:lnTo>
                  <a:pt x="511835" y="141236"/>
                </a:lnTo>
                <a:lnTo>
                  <a:pt x="510397" y="115661"/>
                </a:lnTo>
                <a:lnTo>
                  <a:pt x="510380" y="115357"/>
                </a:lnTo>
                <a:lnTo>
                  <a:pt x="498735" y="69479"/>
                </a:lnTo>
                <a:lnTo>
                  <a:pt x="475634" y="32129"/>
                </a:lnTo>
                <a:lnTo>
                  <a:pt x="442259" y="7391"/>
                </a:lnTo>
                <a:lnTo>
                  <a:pt x="421792" y="0"/>
                </a:lnTo>
                <a:close/>
              </a:path>
              <a:path extrusionOk="0" h="282575" w="512445">
                <a:moveTo>
                  <a:pt x="90042" y="0"/>
                </a:moveTo>
                <a:lnTo>
                  <a:pt x="51619" y="18100"/>
                </a:lnTo>
                <a:lnTo>
                  <a:pt x="23291" y="49479"/>
                </a:lnTo>
                <a:lnTo>
                  <a:pt x="5821" y="91438"/>
                </a:lnTo>
                <a:lnTo>
                  <a:pt x="83" y="139750"/>
                </a:lnTo>
                <a:lnTo>
                  <a:pt x="0" y="141236"/>
                </a:lnTo>
                <a:lnTo>
                  <a:pt x="1450" y="167173"/>
                </a:lnTo>
                <a:lnTo>
                  <a:pt x="13056" y="213051"/>
                </a:lnTo>
                <a:lnTo>
                  <a:pt x="36098" y="250279"/>
                </a:lnTo>
                <a:lnTo>
                  <a:pt x="69508" y="274944"/>
                </a:lnTo>
                <a:lnTo>
                  <a:pt x="90042" y="282321"/>
                </a:lnTo>
                <a:lnTo>
                  <a:pt x="93611" y="270865"/>
                </a:lnTo>
                <a:lnTo>
                  <a:pt x="77521" y="263743"/>
                </a:lnTo>
                <a:lnTo>
                  <a:pt x="63636" y="253828"/>
                </a:lnTo>
                <a:lnTo>
                  <a:pt x="35156" y="207587"/>
                </a:lnTo>
                <a:lnTo>
                  <a:pt x="26788" y="164649"/>
                </a:lnTo>
                <a:lnTo>
                  <a:pt x="25805" y="141236"/>
                </a:lnTo>
                <a:lnTo>
                  <a:pt x="25742" y="139750"/>
                </a:lnTo>
                <a:lnTo>
                  <a:pt x="29925" y="93705"/>
                </a:lnTo>
                <a:lnTo>
                  <a:pt x="42481" y="56184"/>
                </a:lnTo>
                <a:lnTo>
                  <a:pt x="77773" y="18551"/>
                </a:lnTo>
                <a:lnTo>
                  <a:pt x="9405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8" name="Google Shape;638;p42"/>
          <p:cNvSpPr txBox="1"/>
          <p:nvPr/>
        </p:nvSpPr>
        <p:spPr>
          <a:xfrm>
            <a:off x="3487095" y="2285158"/>
            <a:ext cx="46050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𝒔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𝒌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= 𝑻    𝒓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𝒌  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5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𝒑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(𝒓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𝒋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 = </a:t>
            </a:r>
            <a:r>
              <a:rPr lang="en-US" sz="5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baseline="30000" lang="en-US" sz="3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𝒏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𝒋</a:t>
            </a:r>
            <a:r>
              <a:rPr baseline="30000" lang="en-US" sz="3000">
                <a:latin typeface="Cambria Math"/>
                <a:ea typeface="Cambria Math"/>
                <a:cs typeface="Cambria Math"/>
                <a:sym typeface="Cambria Math"/>
              </a:rPr>
              <a:t>⁄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𝑵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39" name="Google Shape;639;p42"/>
          <p:cNvSpPr txBox="1"/>
          <p:nvPr/>
        </p:nvSpPr>
        <p:spPr>
          <a:xfrm>
            <a:off x="5350699" y="3005561"/>
            <a:ext cx="4089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latin typeface="Cambria Math"/>
                <a:ea typeface="Cambria Math"/>
                <a:cs typeface="Cambria Math"/>
                <a:sym typeface="Cambria Math"/>
              </a:rPr>
              <a:t>𝒋=𝟎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0" name="Google Shape;640;p42"/>
          <p:cNvSpPr txBox="1"/>
          <p:nvPr/>
        </p:nvSpPr>
        <p:spPr>
          <a:xfrm>
            <a:off x="5472631" y="2162716"/>
            <a:ext cx="1620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1" name="Google Shape;641;p42"/>
          <p:cNvSpPr txBox="1"/>
          <p:nvPr/>
        </p:nvSpPr>
        <p:spPr>
          <a:xfrm>
            <a:off x="7039289" y="3071093"/>
            <a:ext cx="3441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Cambria Math"/>
                <a:ea typeface="Cambria Math"/>
                <a:cs typeface="Cambria Math"/>
                <a:sym typeface="Cambria Math"/>
              </a:rPr>
              <a:t>𝒋=𝟎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2" name="Google Shape;642;p42"/>
          <p:cNvSpPr txBox="1"/>
          <p:nvPr/>
        </p:nvSpPr>
        <p:spPr>
          <a:xfrm>
            <a:off x="7141178" y="2172006"/>
            <a:ext cx="139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3" name="Google Shape;643;p42"/>
          <p:cNvSpPr txBox="1"/>
          <p:nvPr/>
        </p:nvSpPr>
        <p:spPr>
          <a:xfrm>
            <a:off x="6794990" y="3301154"/>
            <a:ext cx="5092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𝟎 ≤ 𝒓</a:t>
            </a:r>
            <a:r>
              <a:rPr baseline="-25000" lang="en-US" sz="2625">
                <a:latin typeface="Cambria Math"/>
                <a:ea typeface="Cambria Math"/>
                <a:cs typeface="Cambria Math"/>
                <a:sym typeface="Cambria Math"/>
              </a:rPr>
              <a:t>𝒌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≤ 𝟏,	𝒌 = 𝟎, 𝟏, 𝟐, … … , 𝑳 − 𝟏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44" name="Google Shape;644;p42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5" name="Google Shape;645;p42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6" name="Google Shape;646;p42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4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4" name="Google Shape;654;p4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5" name="Google Shape;655;p43"/>
          <p:cNvSpPr txBox="1"/>
          <p:nvPr/>
        </p:nvSpPr>
        <p:spPr>
          <a:xfrm>
            <a:off x="0" y="153150"/>
            <a:ext cx="121920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Equalization – Discussion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6" name="Google Shape;656;p43"/>
          <p:cNvSpPr txBox="1"/>
          <p:nvPr/>
        </p:nvSpPr>
        <p:spPr>
          <a:xfrm>
            <a:off x="650240" y="1113305"/>
            <a:ext cx="9450000" cy="4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ALGORITHM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931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INPUT: Input image which need to be enhanced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931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OUTPUT: Output image after histogram equalization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535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Equalization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93115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Compute normalized histogram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7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(r)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931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Calculate normalized sum of	histogram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cdf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) and use as T(r)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9311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Transform input image to output image using T(r)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7" name="Google Shape;657;p43"/>
          <p:cNvSpPr txBox="1"/>
          <p:nvPr/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8" name="Google Shape;658;p43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9" name="Google Shape;659;p43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6" name="Google Shape;666;p4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7" name="Google Shape;667;p4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8" name="Google Shape;668;p44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Examples of	Histogram Equalization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69" name="Google Shape;669;p44"/>
          <p:cNvSpPr txBox="1"/>
          <p:nvPr/>
        </p:nvSpPr>
        <p:spPr>
          <a:xfrm>
            <a:off x="586740" y="944800"/>
            <a:ext cx="2496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Discrete Case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0" name="Google Shape;670;p44"/>
          <p:cNvSpPr txBox="1"/>
          <p:nvPr/>
        </p:nvSpPr>
        <p:spPr>
          <a:xfrm>
            <a:off x="612140" y="5944442"/>
            <a:ext cx="10983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(a) Quantized Gray levels; </a:t>
            </a: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(b) </a:t>
            </a: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histogram; </a:t>
            </a: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(c) </a:t>
            </a: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its </a:t>
            </a:r>
            <a:r>
              <a:rPr lang="en-US" sz="1900">
                <a:latin typeface="Bell MT"/>
                <a:ea typeface="Bell MT"/>
                <a:cs typeface="Bell MT"/>
                <a:sym typeface="Bell MT"/>
              </a:rPr>
              <a:t>pdf, </a:t>
            </a: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(d) </a:t>
            </a: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Computed CDF &amp; </a:t>
            </a:r>
            <a:r>
              <a:rPr b="1"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(e) </a:t>
            </a: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approx. to the nearest gray level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671" name="Google Shape;671;p44"/>
          <p:cNvGraphicFramePr/>
          <p:nvPr/>
        </p:nvGraphicFramePr>
        <p:xfrm>
          <a:off x="501650" y="1441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{48407EB0-6597-4684-B6E1-8F7139D59BF4}</a:tableStyleId>
              </a:tblPr>
              <a:tblGrid>
                <a:gridCol w="1896750"/>
                <a:gridCol w="1896750"/>
                <a:gridCol w="1896750"/>
              </a:tblGrid>
              <a:tr h="439425">
                <a:tc>
                  <a:txBody>
                    <a:bodyPr/>
                    <a:lstStyle/>
                    <a:p>
                      <a:pPr indent="0" lvl="0" marL="6991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(a) 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31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(b) n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31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(c) 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r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656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329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0.08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245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122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0.02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Total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4096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1.00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2" name="Google Shape;672;p44"/>
          <p:cNvGraphicFramePr/>
          <p:nvPr/>
        </p:nvGraphicFramePr>
        <p:xfrm>
          <a:off x="6800851" y="14490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{48407EB0-6597-4684-B6E1-8F7139D59BF4}</a:tableStyleId>
              </a:tblPr>
              <a:tblGrid>
                <a:gridCol w="1661800"/>
                <a:gridCol w="3251200"/>
              </a:tblGrid>
              <a:tr h="438775">
                <a:tc>
                  <a:txBody>
                    <a:bodyPr/>
                    <a:lstStyle/>
                    <a:p>
                      <a:pPr indent="0" lvl="0" marL="2349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(d) Cdf = s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400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(e) Quantized Value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0.44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0.65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0.95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0.98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1.00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673" name="Google Shape;673;p44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4" name="Google Shape;674;p44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5" name="Google Shape;675;p44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p45"/>
          <p:cNvSpPr/>
          <p:nvPr/>
        </p:nvSpPr>
        <p:spPr>
          <a:xfrm>
            <a:off x="0" y="6525953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3" name="Google Shape;683;p4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4" name="Google Shape;684;p45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Examples of	Histogram Equalization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85" name="Google Shape;685;p45"/>
          <p:cNvSpPr txBox="1"/>
          <p:nvPr/>
        </p:nvSpPr>
        <p:spPr>
          <a:xfrm>
            <a:off x="586740" y="951991"/>
            <a:ext cx="2666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Discrete Case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686" name="Google Shape;686;p45"/>
          <p:cNvGraphicFramePr/>
          <p:nvPr/>
        </p:nvGraphicFramePr>
        <p:xfrm>
          <a:off x="501650" y="1593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{48407EB0-6597-4684-B6E1-8F7139D59BF4}</a:tableStyleId>
              </a:tblPr>
              <a:tblGrid>
                <a:gridCol w="940425"/>
                <a:gridCol w="1033775"/>
                <a:gridCol w="1330325"/>
              </a:tblGrid>
              <a:tr h="439425">
                <a:tc>
                  <a:txBody>
                    <a:bodyPr/>
                    <a:lstStyle/>
                    <a:p>
                      <a:pPr indent="0" lvl="0" marL="22097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(a) 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43203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(b) n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4828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(c) 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r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8003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656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329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0.08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245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122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0.02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Total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8003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4096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1.00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7" name="Google Shape;687;p45"/>
          <p:cNvGraphicFramePr/>
          <p:nvPr/>
        </p:nvGraphicFramePr>
        <p:xfrm>
          <a:off x="4260850" y="1593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{48407EB0-6597-4684-B6E1-8F7139D59BF4}</a:tableStyleId>
              </a:tblPr>
              <a:tblGrid>
                <a:gridCol w="1422400"/>
                <a:gridCol w="1393825"/>
              </a:tblGrid>
              <a:tr h="439425">
                <a:tc>
                  <a:txBody>
                    <a:bodyPr/>
                    <a:lstStyle/>
                    <a:p>
                      <a:pPr indent="0" lvl="0" marL="4635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(a) 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63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s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=T(r)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8" name="Google Shape;688;p45"/>
          <p:cNvGraphicFramePr/>
          <p:nvPr/>
        </p:nvGraphicFramePr>
        <p:xfrm>
          <a:off x="8069577" y="1593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{48407EB0-6597-4684-B6E1-8F7139D59BF4}</a:tableStyleId>
              </a:tblPr>
              <a:tblGrid>
                <a:gridCol w="940425"/>
                <a:gridCol w="1033775"/>
                <a:gridCol w="1330325"/>
              </a:tblGrid>
              <a:tr h="439425">
                <a:tc>
                  <a:txBody>
                    <a:bodyPr/>
                    <a:lstStyle/>
                    <a:p>
                      <a:pPr indent="0" lvl="0" marL="0" marR="127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s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n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s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(s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985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0.24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448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689" name="Google Shape;689;p45"/>
          <p:cNvSpPr txBox="1"/>
          <p:nvPr/>
        </p:nvSpPr>
        <p:spPr>
          <a:xfrm>
            <a:off x="1094886" y="6073673"/>
            <a:ext cx="1998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Original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0" name="Google Shape;690;p45"/>
          <p:cNvSpPr txBox="1"/>
          <p:nvPr/>
        </p:nvSpPr>
        <p:spPr>
          <a:xfrm>
            <a:off x="4442733" y="6072073"/>
            <a:ext cx="2494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Transformation function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1" name="Google Shape;691;p45"/>
          <p:cNvSpPr txBox="1"/>
          <p:nvPr/>
        </p:nvSpPr>
        <p:spPr>
          <a:xfrm>
            <a:off x="8994158" y="6072073"/>
            <a:ext cx="1968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The new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2" name="Google Shape;692;p45"/>
          <p:cNvSpPr txBox="1"/>
          <p:nvPr/>
        </p:nvSpPr>
        <p:spPr>
          <a:xfrm>
            <a:off x="4398740" y="6526499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3" name="Google Shape;693;p45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4" name="Google Shape;694;p45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1" name="Google Shape;701;p4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2" name="Google Shape;702;p4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3" name="Google Shape;703;p46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Examples of	Histogram Equalization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04" name="Google Shape;704;p46"/>
          <p:cNvSpPr txBox="1"/>
          <p:nvPr/>
        </p:nvSpPr>
        <p:spPr>
          <a:xfrm>
            <a:off x="541590" y="1114866"/>
            <a:ext cx="2666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Discrete Case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705" name="Google Shape;705;p46"/>
          <p:cNvGrpSpPr/>
          <p:nvPr/>
        </p:nvGrpSpPr>
        <p:grpSpPr>
          <a:xfrm>
            <a:off x="6938771" y="2592323"/>
            <a:ext cx="3755644" cy="1931035"/>
            <a:chOff x="6938771" y="3354323"/>
            <a:chExt cx="3755644" cy="1931035"/>
          </a:xfrm>
        </p:grpSpPr>
        <p:sp>
          <p:nvSpPr>
            <p:cNvPr id="706" name="Google Shape;706;p46"/>
            <p:cNvSpPr/>
            <p:nvPr/>
          </p:nvSpPr>
          <p:spPr>
            <a:xfrm>
              <a:off x="6978395" y="3983735"/>
              <a:ext cx="3716020" cy="944879"/>
            </a:xfrm>
            <a:custGeom>
              <a:rect b="b" l="l" r="r" t="t"/>
              <a:pathLst>
                <a:path extrusionOk="0" h="944879" w="3716020">
                  <a:moveTo>
                    <a:pt x="0" y="944880"/>
                  </a:moveTo>
                  <a:lnTo>
                    <a:pt x="603503" y="944880"/>
                  </a:lnTo>
                </a:path>
                <a:path extrusionOk="0" h="944879" w="3716020">
                  <a:moveTo>
                    <a:pt x="789431" y="944880"/>
                  </a:moveTo>
                  <a:lnTo>
                    <a:pt x="1533144" y="944880"/>
                  </a:lnTo>
                </a:path>
                <a:path extrusionOk="0" h="944879" w="3716020">
                  <a:moveTo>
                    <a:pt x="1719072" y="944880"/>
                  </a:moveTo>
                  <a:lnTo>
                    <a:pt x="2461259" y="944880"/>
                  </a:lnTo>
                </a:path>
                <a:path extrusionOk="0" h="944879" w="3716020">
                  <a:moveTo>
                    <a:pt x="2647187" y="944880"/>
                  </a:moveTo>
                  <a:lnTo>
                    <a:pt x="2926079" y="944880"/>
                  </a:lnTo>
                </a:path>
                <a:path extrusionOk="0" h="944879" w="3716020">
                  <a:moveTo>
                    <a:pt x="3112007" y="944880"/>
                  </a:moveTo>
                  <a:lnTo>
                    <a:pt x="3390900" y="944880"/>
                  </a:lnTo>
                </a:path>
                <a:path extrusionOk="0" h="944879" w="3716020">
                  <a:moveTo>
                    <a:pt x="3575304" y="944880"/>
                  </a:moveTo>
                  <a:lnTo>
                    <a:pt x="3715511" y="944880"/>
                  </a:lnTo>
                </a:path>
                <a:path extrusionOk="0" h="944879" w="3716020">
                  <a:moveTo>
                    <a:pt x="0" y="630936"/>
                  </a:moveTo>
                  <a:lnTo>
                    <a:pt x="603503" y="630936"/>
                  </a:lnTo>
                </a:path>
                <a:path extrusionOk="0" h="944879" w="3716020">
                  <a:moveTo>
                    <a:pt x="789431" y="630936"/>
                  </a:moveTo>
                  <a:lnTo>
                    <a:pt x="1533144" y="630936"/>
                  </a:lnTo>
                </a:path>
                <a:path extrusionOk="0" h="944879" w="3716020">
                  <a:moveTo>
                    <a:pt x="1719072" y="630936"/>
                  </a:moveTo>
                  <a:lnTo>
                    <a:pt x="2461259" y="630936"/>
                  </a:lnTo>
                </a:path>
                <a:path extrusionOk="0" h="944879" w="3716020">
                  <a:moveTo>
                    <a:pt x="2647187" y="630936"/>
                  </a:moveTo>
                  <a:lnTo>
                    <a:pt x="2926079" y="630936"/>
                  </a:lnTo>
                </a:path>
                <a:path extrusionOk="0" h="944879" w="3716020">
                  <a:moveTo>
                    <a:pt x="3112007" y="630936"/>
                  </a:moveTo>
                  <a:lnTo>
                    <a:pt x="3390900" y="630936"/>
                  </a:lnTo>
                </a:path>
                <a:path extrusionOk="0" h="944879" w="3716020">
                  <a:moveTo>
                    <a:pt x="3575304" y="630936"/>
                  </a:moveTo>
                  <a:lnTo>
                    <a:pt x="3715511" y="630936"/>
                  </a:lnTo>
                </a:path>
                <a:path extrusionOk="0" h="944879" w="3716020">
                  <a:moveTo>
                    <a:pt x="0" y="315468"/>
                  </a:moveTo>
                  <a:lnTo>
                    <a:pt x="603503" y="315468"/>
                  </a:lnTo>
                </a:path>
                <a:path extrusionOk="0" h="944879" w="3716020">
                  <a:moveTo>
                    <a:pt x="789431" y="315468"/>
                  </a:moveTo>
                  <a:lnTo>
                    <a:pt x="1533144" y="315468"/>
                  </a:lnTo>
                </a:path>
                <a:path extrusionOk="0" h="944879" w="3716020">
                  <a:moveTo>
                    <a:pt x="1719072" y="315468"/>
                  </a:moveTo>
                  <a:lnTo>
                    <a:pt x="2461259" y="315468"/>
                  </a:lnTo>
                </a:path>
                <a:path extrusionOk="0" h="944879" w="3716020">
                  <a:moveTo>
                    <a:pt x="2647187" y="315468"/>
                  </a:moveTo>
                  <a:lnTo>
                    <a:pt x="2926079" y="315468"/>
                  </a:lnTo>
                </a:path>
                <a:path extrusionOk="0" h="944879" w="3716020">
                  <a:moveTo>
                    <a:pt x="3112007" y="315468"/>
                  </a:moveTo>
                  <a:lnTo>
                    <a:pt x="3715511" y="315468"/>
                  </a:lnTo>
                </a:path>
                <a:path extrusionOk="0" h="944879" w="3716020">
                  <a:moveTo>
                    <a:pt x="0" y="0"/>
                  </a:moveTo>
                  <a:lnTo>
                    <a:pt x="1533144" y="0"/>
                  </a:lnTo>
                </a:path>
                <a:path extrusionOk="0" h="944879" w="3716020">
                  <a:moveTo>
                    <a:pt x="1719072" y="0"/>
                  </a:moveTo>
                  <a:lnTo>
                    <a:pt x="2461259" y="0"/>
                  </a:lnTo>
                </a:path>
                <a:path extrusionOk="0" h="944879" w="3716020">
                  <a:moveTo>
                    <a:pt x="2647187" y="0"/>
                  </a:moveTo>
                  <a:lnTo>
                    <a:pt x="2926079" y="0"/>
                  </a:lnTo>
                </a:path>
                <a:path extrusionOk="0" h="944879" w="3716020">
                  <a:moveTo>
                    <a:pt x="3112007" y="0"/>
                  </a:moveTo>
                  <a:lnTo>
                    <a:pt x="3715511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46"/>
            <p:cNvSpPr/>
            <p:nvPr/>
          </p:nvSpPr>
          <p:spPr>
            <a:xfrm>
              <a:off x="6978395" y="3354323"/>
              <a:ext cx="3716020" cy="314325"/>
            </a:xfrm>
            <a:custGeom>
              <a:rect b="b" l="l" r="r" t="t"/>
              <a:pathLst>
                <a:path extrusionOk="0" h="314325" w="3716020">
                  <a:moveTo>
                    <a:pt x="0" y="313944"/>
                  </a:moveTo>
                  <a:lnTo>
                    <a:pt x="3715512" y="313944"/>
                  </a:lnTo>
                </a:path>
                <a:path extrusionOk="0" h="314325" w="3716020">
                  <a:moveTo>
                    <a:pt x="0" y="0"/>
                  </a:moveTo>
                  <a:lnTo>
                    <a:pt x="3715512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46"/>
            <p:cNvSpPr/>
            <p:nvPr/>
          </p:nvSpPr>
          <p:spPr>
            <a:xfrm>
              <a:off x="7581900" y="3668267"/>
              <a:ext cx="2971800" cy="1576070"/>
            </a:xfrm>
            <a:custGeom>
              <a:rect b="b" l="l" r="r" t="t"/>
              <a:pathLst>
                <a:path extrusionOk="0" h="1576070" w="2971800">
                  <a:moveTo>
                    <a:pt x="185928" y="379476"/>
                  </a:moveTo>
                  <a:lnTo>
                    <a:pt x="0" y="379476"/>
                  </a:lnTo>
                  <a:lnTo>
                    <a:pt x="0" y="1575816"/>
                  </a:lnTo>
                  <a:lnTo>
                    <a:pt x="185928" y="1575816"/>
                  </a:lnTo>
                  <a:lnTo>
                    <a:pt x="185928" y="379476"/>
                  </a:lnTo>
                  <a:close/>
                </a:path>
                <a:path extrusionOk="0" h="1576070" w="2971800">
                  <a:moveTo>
                    <a:pt x="1115568" y="0"/>
                  </a:moveTo>
                  <a:lnTo>
                    <a:pt x="929640" y="0"/>
                  </a:lnTo>
                  <a:lnTo>
                    <a:pt x="929640" y="1575816"/>
                  </a:lnTo>
                  <a:lnTo>
                    <a:pt x="1115568" y="1575816"/>
                  </a:lnTo>
                  <a:lnTo>
                    <a:pt x="1115568" y="0"/>
                  </a:lnTo>
                  <a:close/>
                </a:path>
                <a:path extrusionOk="0" h="1576070" w="2971800">
                  <a:moveTo>
                    <a:pt x="2043684" y="252984"/>
                  </a:moveTo>
                  <a:lnTo>
                    <a:pt x="1857756" y="252984"/>
                  </a:lnTo>
                  <a:lnTo>
                    <a:pt x="1857756" y="1575816"/>
                  </a:lnTo>
                  <a:lnTo>
                    <a:pt x="2043684" y="1575816"/>
                  </a:lnTo>
                  <a:lnTo>
                    <a:pt x="2043684" y="252984"/>
                  </a:lnTo>
                  <a:close/>
                </a:path>
                <a:path extrusionOk="0" h="1576070" w="2971800">
                  <a:moveTo>
                    <a:pt x="2508504" y="64008"/>
                  </a:moveTo>
                  <a:lnTo>
                    <a:pt x="2322576" y="64008"/>
                  </a:lnTo>
                  <a:lnTo>
                    <a:pt x="2322576" y="1575816"/>
                  </a:lnTo>
                  <a:lnTo>
                    <a:pt x="2508504" y="1575816"/>
                  </a:lnTo>
                  <a:lnTo>
                    <a:pt x="2508504" y="64008"/>
                  </a:lnTo>
                  <a:close/>
                </a:path>
                <a:path extrusionOk="0" h="1576070" w="2971800">
                  <a:moveTo>
                    <a:pt x="2971800" y="882396"/>
                  </a:moveTo>
                  <a:lnTo>
                    <a:pt x="2787396" y="882396"/>
                  </a:lnTo>
                  <a:lnTo>
                    <a:pt x="2787396" y="1575816"/>
                  </a:lnTo>
                  <a:lnTo>
                    <a:pt x="2971800" y="1575816"/>
                  </a:lnTo>
                  <a:lnTo>
                    <a:pt x="2971800" y="882396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46"/>
            <p:cNvSpPr/>
            <p:nvPr/>
          </p:nvSpPr>
          <p:spPr>
            <a:xfrm>
              <a:off x="6978395" y="3354323"/>
              <a:ext cx="0" cy="1889760"/>
            </a:xfrm>
            <a:custGeom>
              <a:rect b="b" l="l" r="r" t="t"/>
              <a:pathLst>
                <a:path extrusionOk="0" h="1889760" w="120000">
                  <a:moveTo>
                    <a:pt x="0" y="188976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46"/>
            <p:cNvSpPr/>
            <p:nvPr/>
          </p:nvSpPr>
          <p:spPr>
            <a:xfrm>
              <a:off x="6938771" y="3354323"/>
              <a:ext cx="40004" cy="1889760"/>
            </a:xfrm>
            <a:custGeom>
              <a:rect b="b" l="l" r="r" t="t"/>
              <a:pathLst>
                <a:path extrusionOk="0" h="1889760" w="40004">
                  <a:moveTo>
                    <a:pt x="0" y="1889760"/>
                  </a:moveTo>
                  <a:lnTo>
                    <a:pt x="39624" y="1889760"/>
                  </a:lnTo>
                </a:path>
                <a:path extrusionOk="0" h="1889760" w="40004">
                  <a:moveTo>
                    <a:pt x="0" y="1574292"/>
                  </a:moveTo>
                  <a:lnTo>
                    <a:pt x="39624" y="1574292"/>
                  </a:lnTo>
                </a:path>
                <a:path extrusionOk="0" h="1889760" w="40004">
                  <a:moveTo>
                    <a:pt x="0" y="1260348"/>
                  </a:moveTo>
                  <a:lnTo>
                    <a:pt x="39624" y="1260348"/>
                  </a:lnTo>
                </a:path>
                <a:path extrusionOk="0" h="1889760" w="40004">
                  <a:moveTo>
                    <a:pt x="0" y="944880"/>
                  </a:moveTo>
                  <a:lnTo>
                    <a:pt x="39624" y="944880"/>
                  </a:lnTo>
                </a:path>
                <a:path extrusionOk="0" h="1889760" w="40004">
                  <a:moveTo>
                    <a:pt x="0" y="629412"/>
                  </a:moveTo>
                  <a:lnTo>
                    <a:pt x="39624" y="629412"/>
                  </a:lnTo>
                </a:path>
                <a:path extrusionOk="0" h="1889760" w="40004">
                  <a:moveTo>
                    <a:pt x="0" y="313944"/>
                  </a:moveTo>
                  <a:lnTo>
                    <a:pt x="39624" y="313944"/>
                  </a:lnTo>
                </a:path>
                <a:path extrusionOk="0" h="1889760" w="40004">
                  <a:moveTo>
                    <a:pt x="0" y="0"/>
                  </a:moveTo>
                  <a:lnTo>
                    <a:pt x="39624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46"/>
            <p:cNvSpPr/>
            <p:nvPr/>
          </p:nvSpPr>
          <p:spPr>
            <a:xfrm>
              <a:off x="6978395" y="5244083"/>
              <a:ext cx="3716020" cy="41275"/>
            </a:xfrm>
            <a:custGeom>
              <a:rect b="b" l="l" r="r" t="t"/>
              <a:pathLst>
                <a:path extrusionOk="0" h="41275" w="3716020">
                  <a:moveTo>
                    <a:pt x="0" y="0"/>
                  </a:moveTo>
                  <a:lnTo>
                    <a:pt x="3715512" y="0"/>
                  </a:lnTo>
                </a:path>
                <a:path extrusionOk="0" h="41275" w="3716020">
                  <a:moveTo>
                    <a:pt x="0" y="0"/>
                  </a:moveTo>
                  <a:lnTo>
                    <a:pt x="0" y="41147"/>
                  </a:lnTo>
                </a:path>
                <a:path extrusionOk="0" h="41275" w="3716020">
                  <a:moveTo>
                    <a:pt x="464820" y="0"/>
                  </a:moveTo>
                  <a:lnTo>
                    <a:pt x="464820" y="41147"/>
                  </a:lnTo>
                </a:path>
                <a:path extrusionOk="0" h="41275" w="3716020">
                  <a:moveTo>
                    <a:pt x="929640" y="0"/>
                  </a:moveTo>
                  <a:lnTo>
                    <a:pt x="929640" y="41147"/>
                  </a:lnTo>
                </a:path>
                <a:path extrusionOk="0" h="41275" w="3716020">
                  <a:moveTo>
                    <a:pt x="1392936" y="0"/>
                  </a:moveTo>
                  <a:lnTo>
                    <a:pt x="1392936" y="41147"/>
                  </a:lnTo>
                </a:path>
                <a:path extrusionOk="0" h="41275" w="3716020">
                  <a:moveTo>
                    <a:pt x="1857756" y="0"/>
                  </a:moveTo>
                  <a:lnTo>
                    <a:pt x="1857756" y="41147"/>
                  </a:lnTo>
                </a:path>
                <a:path extrusionOk="0" h="41275" w="3716020">
                  <a:moveTo>
                    <a:pt x="2322576" y="0"/>
                  </a:moveTo>
                  <a:lnTo>
                    <a:pt x="2322576" y="41147"/>
                  </a:lnTo>
                </a:path>
                <a:path extrusionOk="0" h="41275" w="3716020">
                  <a:moveTo>
                    <a:pt x="2785872" y="0"/>
                  </a:moveTo>
                  <a:lnTo>
                    <a:pt x="2785872" y="41147"/>
                  </a:lnTo>
                </a:path>
                <a:path extrusionOk="0" h="41275" w="3716020">
                  <a:moveTo>
                    <a:pt x="3250692" y="0"/>
                  </a:moveTo>
                  <a:lnTo>
                    <a:pt x="3250692" y="41147"/>
                  </a:lnTo>
                </a:path>
                <a:path extrusionOk="0" h="41275" w="3716020">
                  <a:moveTo>
                    <a:pt x="3715512" y="0"/>
                  </a:moveTo>
                  <a:lnTo>
                    <a:pt x="3715512" y="41147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12" name="Google Shape;712;p46"/>
          <p:cNvSpPr txBox="1"/>
          <p:nvPr/>
        </p:nvSpPr>
        <p:spPr>
          <a:xfrm>
            <a:off x="6783895" y="4379145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6"/>
          <p:cNvSpPr txBox="1"/>
          <p:nvPr/>
        </p:nvSpPr>
        <p:spPr>
          <a:xfrm>
            <a:off x="6622997" y="4064053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6"/>
          <p:cNvSpPr txBox="1"/>
          <p:nvPr/>
        </p:nvSpPr>
        <p:spPr>
          <a:xfrm>
            <a:off x="6073211" y="3099194"/>
            <a:ext cx="8268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6267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(s</a:t>
            </a:r>
            <a:r>
              <a:rPr baseline="-25000" lang="en-US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aseline="-25000" lang="en-US" sz="1500">
                <a:latin typeface="Calibri"/>
                <a:ea typeface="Calibri"/>
                <a:cs typeface="Calibri"/>
                <a:sym typeface="Calibri"/>
              </a:rPr>
              <a:t>0.15</a:t>
            </a:r>
            <a:endParaRPr baseline="-25000"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6267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6"/>
          <p:cNvSpPr txBox="1"/>
          <p:nvPr/>
        </p:nvSpPr>
        <p:spPr>
          <a:xfrm>
            <a:off x="6622997" y="2803687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6"/>
          <p:cNvSpPr txBox="1"/>
          <p:nvPr/>
        </p:nvSpPr>
        <p:spPr>
          <a:xfrm>
            <a:off x="6687381" y="2488595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6"/>
          <p:cNvSpPr txBox="1"/>
          <p:nvPr/>
        </p:nvSpPr>
        <p:spPr>
          <a:xfrm>
            <a:off x="7166027" y="4544343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6"/>
          <p:cNvSpPr txBox="1"/>
          <p:nvPr/>
        </p:nvSpPr>
        <p:spPr>
          <a:xfrm>
            <a:off x="7573711" y="4544343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1/7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6"/>
          <p:cNvSpPr txBox="1"/>
          <p:nvPr/>
        </p:nvSpPr>
        <p:spPr>
          <a:xfrm>
            <a:off x="8038063" y="4544343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2/7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6"/>
          <p:cNvSpPr txBox="1"/>
          <p:nvPr/>
        </p:nvSpPr>
        <p:spPr>
          <a:xfrm>
            <a:off x="8502415" y="4544343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3/7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6"/>
          <p:cNvSpPr txBox="1"/>
          <p:nvPr/>
        </p:nvSpPr>
        <p:spPr>
          <a:xfrm>
            <a:off x="8966768" y="4544343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4/7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6"/>
          <p:cNvSpPr txBox="1"/>
          <p:nvPr/>
        </p:nvSpPr>
        <p:spPr>
          <a:xfrm>
            <a:off x="9431120" y="4544343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5/7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6"/>
          <p:cNvSpPr txBox="1"/>
          <p:nvPr/>
        </p:nvSpPr>
        <p:spPr>
          <a:xfrm>
            <a:off x="9895471" y="4544343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6/7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6"/>
          <p:cNvSpPr txBox="1"/>
          <p:nvPr/>
        </p:nvSpPr>
        <p:spPr>
          <a:xfrm>
            <a:off x="10359824" y="4544343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7/7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6"/>
          <p:cNvSpPr/>
          <p:nvPr/>
        </p:nvSpPr>
        <p:spPr>
          <a:xfrm>
            <a:off x="10896600" y="3590544"/>
            <a:ext cx="70484" cy="70485"/>
          </a:xfrm>
          <a:custGeom>
            <a:rect b="b" l="l" r="r" t="t"/>
            <a:pathLst>
              <a:path extrusionOk="0" h="70485" w="70484">
                <a:moveTo>
                  <a:pt x="70103" y="0"/>
                </a:moveTo>
                <a:lnTo>
                  <a:pt x="0" y="0"/>
                </a:lnTo>
                <a:lnTo>
                  <a:pt x="0" y="70103"/>
                </a:lnTo>
                <a:lnTo>
                  <a:pt x="70103" y="70103"/>
                </a:lnTo>
                <a:lnTo>
                  <a:pt x="70103" y="0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26" name="Google Shape;726;p46"/>
          <p:cNvGrpSpPr/>
          <p:nvPr/>
        </p:nvGrpSpPr>
        <p:grpSpPr>
          <a:xfrm>
            <a:off x="1604772" y="2199132"/>
            <a:ext cx="3383534" cy="2324226"/>
            <a:chOff x="1604772" y="2961132"/>
            <a:chExt cx="3383534" cy="2324226"/>
          </a:xfrm>
        </p:grpSpPr>
        <p:sp>
          <p:nvSpPr>
            <p:cNvPr id="727" name="Google Shape;727;p46"/>
            <p:cNvSpPr/>
            <p:nvPr/>
          </p:nvSpPr>
          <p:spPr>
            <a:xfrm>
              <a:off x="1644396" y="3721608"/>
              <a:ext cx="3343910" cy="1141729"/>
            </a:xfrm>
            <a:custGeom>
              <a:rect b="b" l="l" r="r" t="t"/>
              <a:pathLst>
                <a:path extrusionOk="0" h="1141729" w="3343910">
                  <a:moveTo>
                    <a:pt x="0" y="1141476"/>
                  </a:moveTo>
                  <a:lnTo>
                    <a:pt x="126492" y="1141476"/>
                  </a:lnTo>
                </a:path>
                <a:path extrusionOk="0" h="1141729" w="3343910">
                  <a:moveTo>
                    <a:pt x="292608" y="1141476"/>
                  </a:moveTo>
                  <a:lnTo>
                    <a:pt x="544068" y="1141476"/>
                  </a:lnTo>
                </a:path>
                <a:path extrusionOk="0" h="1141729" w="3343910">
                  <a:moveTo>
                    <a:pt x="710184" y="1141476"/>
                  </a:moveTo>
                  <a:lnTo>
                    <a:pt x="961644" y="1141476"/>
                  </a:lnTo>
                </a:path>
                <a:path extrusionOk="0" h="1141729" w="3343910">
                  <a:moveTo>
                    <a:pt x="1129283" y="1141476"/>
                  </a:moveTo>
                  <a:lnTo>
                    <a:pt x="1379220" y="1141476"/>
                  </a:lnTo>
                </a:path>
                <a:path extrusionOk="0" h="1141729" w="3343910">
                  <a:moveTo>
                    <a:pt x="1546860" y="1141476"/>
                  </a:moveTo>
                  <a:lnTo>
                    <a:pt x="1796795" y="1141476"/>
                  </a:lnTo>
                </a:path>
                <a:path extrusionOk="0" h="1141729" w="3343910">
                  <a:moveTo>
                    <a:pt x="1964435" y="1141476"/>
                  </a:moveTo>
                  <a:lnTo>
                    <a:pt x="2214372" y="1141476"/>
                  </a:lnTo>
                </a:path>
                <a:path extrusionOk="0" h="1141729" w="3343910">
                  <a:moveTo>
                    <a:pt x="2382011" y="1141476"/>
                  </a:moveTo>
                  <a:lnTo>
                    <a:pt x="3343655" y="1141476"/>
                  </a:lnTo>
                </a:path>
                <a:path extrusionOk="0" h="1141729" w="3343910">
                  <a:moveTo>
                    <a:pt x="0" y="762000"/>
                  </a:moveTo>
                  <a:lnTo>
                    <a:pt x="126492" y="762000"/>
                  </a:lnTo>
                </a:path>
                <a:path extrusionOk="0" h="1141729" w="3343910">
                  <a:moveTo>
                    <a:pt x="292608" y="762000"/>
                  </a:moveTo>
                  <a:lnTo>
                    <a:pt x="544068" y="762000"/>
                  </a:lnTo>
                </a:path>
                <a:path extrusionOk="0" h="1141729" w="3343910">
                  <a:moveTo>
                    <a:pt x="710184" y="762000"/>
                  </a:moveTo>
                  <a:lnTo>
                    <a:pt x="961644" y="762000"/>
                  </a:lnTo>
                </a:path>
                <a:path extrusionOk="0" h="1141729" w="3343910">
                  <a:moveTo>
                    <a:pt x="1129283" y="762000"/>
                  </a:moveTo>
                  <a:lnTo>
                    <a:pt x="1379220" y="762000"/>
                  </a:lnTo>
                </a:path>
                <a:path extrusionOk="0" h="1141729" w="3343910">
                  <a:moveTo>
                    <a:pt x="1546860" y="762000"/>
                  </a:moveTo>
                  <a:lnTo>
                    <a:pt x="3343655" y="762000"/>
                  </a:lnTo>
                </a:path>
                <a:path extrusionOk="0" h="1141729" w="3343910">
                  <a:moveTo>
                    <a:pt x="0" y="381000"/>
                  </a:moveTo>
                  <a:lnTo>
                    <a:pt x="126492" y="381000"/>
                  </a:lnTo>
                </a:path>
                <a:path extrusionOk="0" h="1141729" w="3343910">
                  <a:moveTo>
                    <a:pt x="292608" y="381000"/>
                  </a:moveTo>
                  <a:lnTo>
                    <a:pt x="544068" y="381000"/>
                  </a:lnTo>
                </a:path>
                <a:path extrusionOk="0" h="1141729" w="3343910">
                  <a:moveTo>
                    <a:pt x="710184" y="381000"/>
                  </a:moveTo>
                  <a:lnTo>
                    <a:pt x="961644" y="381000"/>
                  </a:lnTo>
                </a:path>
                <a:path extrusionOk="0" h="1141729" w="3343910">
                  <a:moveTo>
                    <a:pt x="1129283" y="381000"/>
                  </a:moveTo>
                  <a:lnTo>
                    <a:pt x="1379220" y="381000"/>
                  </a:lnTo>
                </a:path>
                <a:path extrusionOk="0" h="1141729" w="3343910">
                  <a:moveTo>
                    <a:pt x="1546860" y="381000"/>
                  </a:moveTo>
                  <a:lnTo>
                    <a:pt x="3343655" y="381000"/>
                  </a:lnTo>
                </a:path>
                <a:path extrusionOk="0" h="1141729" w="3343910">
                  <a:moveTo>
                    <a:pt x="0" y="0"/>
                  </a:moveTo>
                  <a:lnTo>
                    <a:pt x="544068" y="0"/>
                  </a:lnTo>
                </a:path>
                <a:path extrusionOk="0" h="1141729" w="3343910">
                  <a:moveTo>
                    <a:pt x="710184" y="0"/>
                  </a:moveTo>
                  <a:lnTo>
                    <a:pt x="961644" y="0"/>
                  </a:lnTo>
                </a:path>
                <a:path extrusionOk="0" h="1141729" w="3343910">
                  <a:moveTo>
                    <a:pt x="1129283" y="0"/>
                  </a:moveTo>
                  <a:lnTo>
                    <a:pt x="3343655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1644396" y="2961132"/>
              <a:ext cx="3343910" cy="379729"/>
            </a:xfrm>
            <a:custGeom>
              <a:rect b="b" l="l" r="r" t="t"/>
              <a:pathLst>
                <a:path extrusionOk="0" h="379729" w="3343910">
                  <a:moveTo>
                    <a:pt x="0" y="379476"/>
                  </a:moveTo>
                  <a:lnTo>
                    <a:pt x="3343655" y="379476"/>
                  </a:lnTo>
                </a:path>
                <a:path extrusionOk="0" h="379729" w="3343910">
                  <a:moveTo>
                    <a:pt x="0" y="0"/>
                  </a:moveTo>
                  <a:lnTo>
                    <a:pt x="3343655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1770888" y="3340607"/>
              <a:ext cx="3091179" cy="1903729"/>
            </a:xfrm>
            <a:custGeom>
              <a:rect b="b" l="l" r="r" t="t"/>
              <a:pathLst>
                <a:path extrusionOk="0" h="1903729" w="3091179">
                  <a:moveTo>
                    <a:pt x="166116" y="457200"/>
                  </a:moveTo>
                  <a:lnTo>
                    <a:pt x="0" y="457200"/>
                  </a:lnTo>
                  <a:lnTo>
                    <a:pt x="0" y="1903476"/>
                  </a:lnTo>
                  <a:lnTo>
                    <a:pt x="166116" y="1903476"/>
                  </a:lnTo>
                  <a:lnTo>
                    <a:pt x="166116" y="457200"/>
                  </a:lnTo>
                  <a:close/>
                </a:path>
                <a:path extrusionOk="0" h="1903729" w="3091179">
                  <a:moveTo>
                    <a:pt x="583692" y="0"/>
                  </a:moveTo>
                  <a:lnTo>
                    <a:pt x="417576" y="0"/>
                  </a:lnTo>
                  <a:lnTo>
                    <a:pt x="417576" y="1903488"/>
                  </a:lnTo>
                  <a:lnTo>
                    <a:pt x="583692" y="1903488"/>
                  </a:lnTo>
                  <a:lnTo>
                    <a:pt x="583692" y="0"/>
                  </a:lnTo>
                  <a:close/>
                </a:path>
                <a:path extrusionOk="0" h="1903729" w="3091179">
                  <a:moveTo>
                    <a:pt x="1002779" y="304800"/>
                  </a:moveTo>
                  <a:lnTo>
                    <a:pt x="835152" y="304800"/>
                  </a:lnTo>
                  <a:lnTo>
                    <a:pt x="835152" y="1903476"/>
                  </a:lnTo>
                  <a:lnTo>
                    <a:pt x="1002779" y="1903476"/>
                  </a:lnTo>
                  <a:lnTo>
                    <a:pt x="1002779" y="304800"/>
                  </a:lnTo>
                  <a:close/>
                </a:path>
                <a:path extrusionOk="0" h="1903729" w="3091179">
                  <a:moveTo>
                    <a:pt x="1420368" y="685800"/>
                  </a:moveTo>
                  <a:lnTo>
                    <a:pt x="1252728" y="685800"/>
                  </a:lnTo>
                  <a:lnTo>
                    <a:pt x="1252728" y="1903476"/>
                  </a:lnTo>
                  <a:lnTo>
                    <a:pt x="1420368" y="1903476"/>
                  </a:lnTo>
                  <a:lnTo>
                    <a:pt x="1420368" y="685800"/>
                  </a:lnTo>
                  <a:close/>
                </a:path>
                <a:path extrusionOk="0" h="1903729" w="3091179">
                  <a:moveTo>
                    <a:pt x="1837931" y="1295400"/>
                  </a:moveTo>
                  <a:lnTo>
                    <a:pt x="1670304" y="1295400"/>
                  </a:lnTo>
                  <a:lnTo>
                    <a:pt x="1670304" y="1903476"/>
                  </a:lnTo>
                  <a:lnTo>
                    <a:pt x="1837931" y="1903476"/>
                  </a:lnTo>
                  <a:lnTo>
                    <a:pt x="1837931" y="1295400"/>
                  </a:lnTo>
                  <a:close/>
                </a:path>
                <a:path extrusionOk="0" h="1903729" w="3091179">
                  <a:moveTo>
                    <a:pt x="2255507" y="1446276"/>
                  </a:moveTo>
                  <a:lnTo>
                    <a:pt x="2087880" y="1446276"/>
                  </a:lnTo>
                  <a:lnTo>
                    <a:pt x="2087880" y="1903476"/>
                  </a:lnTo>
                  <a:lnTo>
                    <a:pt x="2255507" y="1903476"/>
                  </a:lnTo>
                  <a:lnTo>
                    <a:pt x="2255507" y="1446276"/>
                  </a:lnTo>
                  <a:close/>
                </a:path>
                <a:path extrusionOk="0" h="1903729" w="3091179">
                  <a:moveTo>
                    <a:pt x="2673083" y="1674876"/>
                  </a:moveTo>
                  <a:lnTo>
                    <a:pt x="2506980" y="1674876"/>
                  </a:lnTo>
                  <a:lnTo>
                    <a:pt x="2506980" y="1903476"/>
                  </a:lnTo>
                  <a:lnTo>
                    <a:pt x="2673083" y="1903476"/>
                  </a:lnTo>
                  <a:lnTo>
                    <a:pt x="2673083" y="1674876"/>
                  </a:lnTo>
                  <a:close/>
                </a:path>
                <a:path extrusionOk="0" h="1903729" w="3091179">
                  <a:moveTo>
                    <a:pt x="3090672" y="1751076"/>
                  </a:moveTo>
                  <a:lnTo>
                    <a:pt x="2924556" y="1751076"/>
                  </a:lnTo>
                  <a:lnTo>
                    <a:pt x="2924556" y="1903476"/>
                  </a:lnTo>
                  <a:lnTo>
                    <a:pt x="3090672" y="1903476"/>
                  </a:lnTo>
                  <a:lnTo>
                    <a:pt x="3090672" y="1751076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1644396" y="2961132"/>
              <a:ext cx="0" cy="2283460"/>
            </a:xfrm>
            <a:custGeom>
              <a:rect b="b" l="l" r="r" t="t"/>
              <a:pathLst>
                <a:path extrusionOk="0" h="2283460" w="120000">
                  <a:moveTo>
                    <a:pt x="0" y="228295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46"/>
            <p:cNvSpPr/>
            <p:nvPr/>
          </p:nvSpPr>
          <p:spPr>
            <a:xfrm>
              <a:off x="1604772" y="2961132"/>
              <a:ext cx="40005" cy="2283460"/>
            </a:xfrm>
            <a:custGeom>
              <a:rect b="b" l="l" r="r" t="t"/>
              <a:pathLst>
                <a:path extrusionOk="0" h="2283460" w="40005">
                  <a:moveTo>
                    <a:pt x="0" y="2282952"/>
                  </a:moveTo>
                  <a:lnTo>
                    <a:pt x="39624" y="2282952"/>
                  </a:lnTo>
                </a:path>
                <a:path extrusionOk="0" h="2283460" w="40005">
                  <a:moveTo>
                    <a:pt x="0" y="1901952"/>
                  </a:moveTo>
                  <a:lnTo>
                    <a:pt x="39624" y="1901952"/>
                  </a:lnTo>
                </a:path>
                <a:path extrusionOk="0" h="2283460" w="40005">
                  <a:moveTo>
                    <a:pt x="0" y="1522476"/>
                  </a:moveTo>
                  <a:lnTo>
                    <a:pt x="39624" y="1522476"/>
                  </a:lnTo>
                </a:path>
                <a:path extrusionOk="0" h="2283460" w="40005">
                  <a:moveTo>
                    <a:pt x="0" y="1141476"/>
                  </a:moveTo>
                  <a:lnTo>
                    <a:pt x="39624" y="1141476"/>
                  </a:lnTo>
                </a:path>
                <a:path extrusionOk="0" h="2283460" w="40005">
                  <a:moveTo>
                    <a:pt x="0" y="760476"/>
                  </a:moveTo>
                  <a:lnTo>
                    <a:pt x="39624" y="760476"/>
                  </a:lnTo>
                </a:path>
                <a:path extrusionOk="0" h="2283460" w="40005">
                  <a:moveTo>
                    <a:pt x="0" y="379475"/>
                  </a:moveTo>
                  <a:lnTo>
                    <a:pt x="39624" y="379475"/>
                  </a:lnTo>
                </a:path>
                <a:path extrusionOk="0" h="2283460" w="40005">
                  <a:moveTo>
                    <a:pt x="0" y="0"/>
                  </a:moveTo>
                  <a:lnTo>
                    <a:pt x="39624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46"/>
            <p:cNvSpPr/>
            <p:nvPr/>
          </p:nvSpPr>
          <p:spPr>
            <a:xfrm>
              <a:off x="1644396" y="5244083"/>
              <a:ext cx="3343910" cy="41275"/>
            </a:xfrm>
            <a:custGeom>
              <a:rect b="b" l="l" r="r" t="t"/>
              <a:pathLst>
                <a:path extrusionOk="0" h="41275" w="3343910">
                  <a:moveTo>
                    <a:pt x="0" y="0"/>
                  </a:moveTo>
                  <a:lnTo>
                    <a:pt x="3343655" y="0"/>
                  </a:lnTo>
                </a:path>
                <a:path extrusionOk="0" h="41275" w="3343910">
                  <a:moveTo>
                    <a:pt x="0" y="0"/>
                  </a:moveTo>
                  <a:lnTo>
                    <a:pt x="0" y="41147"/>
                  </a:lnTo>
                </a:path>
                <a:path extrusionOk="0" h="41275" w="3343910">
                  <a:moveTo>
                    <a:pt x="417576" y="0"/>
                  </a:moveTo>
                  <a:lnTo>
                    <a:pt x="417576" y="41147"/>
                  </a:lnTo>
                </a:path>
                <a:path extrusionOk="0" h="41275" w="3343910">
                  <a:moveTo>
                    <a:pt x="836676" y="0"/>
                  </a:moveTo>
                  <a:lnTo>
                    <a:pt x="836676" y="41147"/>
                  </a:lnTo>
                </a:path>
                <a:path extrusionOk="0" h="41275" w="3343910">
                  <a:moveTo>
                    <a:pt x="1254252" y="0"/>
                  </a:moveTo>
                  <a:lnTo>
                    <a:pt x="1254252" y="41147"/>
                  </a:lnTo>
                </a:path>
                <a:path extrusionOk="0" h="41275" w="3343910">
                  <a:moveTo>
                    <a:pt x="1671827" y="0"/>
                  </a:moveTo>
                  <a:lnTo>
                    <a:pt x="1671827" y="41147"/>
                  </a:lnTo>
                </a:path>
                <a:path extrusionOk="0" h="41275" w="3343910">
                  <a:moveTo>
                    <a:pt x="2089404" y="0"/>
                  </a:moveTo>
                  <a:lnTo>
                    <a:pt x="2089404" y="41147"/>
                  </a:lnTo>
                </a:path>
                <a:path extrusionOk="0" h="41275" w="3343910">
                  <a:moveTo>
                    <a:pt x="2506980" y="0"/>
                  </a:moveTo>
                  <a:lnTo>
                    <a:pt x="2506980" y="41147"/>
                  </a:lnTo>
                </a:path>
                <a:path extrusionOk="0" h="41275" w="3343910">
                  <a:moveTo>
                    <a:pt x="2924556" y="0"/>
                  </a:moveTo>
                  <a:lnTo>
                    <a:pt x="2924556" y="41147"/>
                  </a:lnTo>
                </a:path>
                <a:path extrusionOk="0" h="41275" w="3343910">
                  <a:moveTo>
                    <a:pt x="3343655" y="0"/>
                  </a:moveTo>
                  <a:lnTo>
                    <a:pt x="3343655" y="41147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33" name="Google Shape;733;p46"/>
          <p:cNvSpPr txBox="1"/>
          <p:nvPr/>
        </p:nvSpPr>
        <p:spPr>
          <a:xfrm>
            <a:off x="1449895" y="4379145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6"/>
          <p:cNvSpPr txBox="1"/>
          <p:nvPr/>
        </p:nvSpPr>
        <p:spPr>
          <a:xfrm>
            <a:off x="1288997" y="3998531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1353382" y="3617916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891534" y="2825022"/>
            <a:ext cx="6744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0" marR="311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T(r) </a:t>
            </a:r>
            <a:r>
              <a:rPr baseline="-25000" lang="en-US" sz="1500">
                <a:latin typeface="Calibri"/>
                <a:ea typeface="Calibri"/>
                <a:cs typeface="Calibri"/>
                <a:sym typeface="Calibri"/>
              </a:rPr>
              <a:t>0.15</a:t>
            </a:r>
            <a:endParaRPr baseline="-25000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1288997" y="2476073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6"/>
          <p:cNvSpPr txBox="1"/>
          <p:nvPr/>
        </p:nvSpPr>
        <p:spPr>
          <a:xfrm>
            <a:off x="1353382" y="2095458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1808753" y="4544597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2169887" y="4544597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1/7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6"/>
          <p:cNvSpPr txBox="1"/>
          <p:nvPr/>
        </p:nvSpPr>
        <p:spPr>
          <a:xfrm>
            <a:off x="2587691" y="4544597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2/7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6"/>
          <p:cNvSpPr txBox="1"/>
          <p:nvPr/>
        </p:nvSpPr>
        <p:spPr>
          <a:xfrm>
            <a:off x="3005494" y="4544597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3/7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6"/>
          <p:cNvSpPr txBox="1"/>
          <p:nvPr/>
        </p:nvSpPr>
        <p:spPr>
          <a:xfrm>
            <a:off x="3423297" y="4544597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4/7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6"/>
          <p:cNvSpPr txBox="1"/>
          <p:nvPr/>
        </p:nvSpPr>
        <p:spPr>
          <a:xfrm>
            <a:off x="3841100" y="4544597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5/7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6"/>
          <p:cNvSpPr txBox="1"/>
          <p:nvPr/>
        </p:nvSpPr>
        <p:spPr>
          <a:xfrm>
            <a:off x="4258903" y="4544597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6/7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6"/>
          <p:cNvSpPr txBox="1"/>
          <p:nvPr/>
        </p:nvSpPr>
        <p:spPr>
          <a:xfrm>
            <a:off x="4676706" y="4544597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7/7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6"/>
          <p:cNvSpPr/>
          <p:nvPr/>
        </p:nvSpPr>
        <p:spPr>
          <a:xfrm>
            <a:off x="5190744" y="3393947"/>
            <a:ext cx="70485" cy="70485"/>
          </a:xfrm>
          <a:custGeom>
            <a:rect b="b" l="l" r="r" t="t"/>
            <a:pathLst>
              <a:path extrusionOk="0" h="70485" w="70485">
                <a:moveTo>
                  <a:pt x="70103" y="0"/>
                </a:moveTo>
                <a:lnTo>
                  <a:pt x="0" y="0"/>
                </a:lnTo>
                <a:lnTo>
                  <a:pt x="0" y="70104"/>
                </a:lnTo>
                <a:lnTo>
                  <a:pt x="70103" y="70104"/>
                </a:lnTo>
                <a:lnTo>
                  <a:pt x="70103" y="0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8" name="Google Shape;748;p46"/>
          <p:cNvSpPr txBox="1"/>
          <p:nvPr/>
        </p:nvSpPr>
        <p:spPr>
          <a:xfrm>
            <a:off x="5277736" y="3325699"/>
            <a:ext cx="397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Series1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6"/>
          <p:cNvSpPr txBox="1"/>
          <p:nvPr/>
        </p:nvSpPr>
        <p:spPr>
          <a:xfrm>
            <a:off x="3031713" y="4818379"/>
            <a:ext cx="105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6"/>
          <p:cNvSpPr txBox="1"/>
          <p:nvPr/>
        </p:nvSpPr>
        <p:spPr>
          <a:xfrm>
            <a:off x="9014175" y="4832781"/>
            <a:ext cx="11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6"/>
          <p:cNvSpPr txBox="1"/>
          <p:nvPr/>
        </p:nvSpPr>
        <p:spPr>
          <a:xfrm>
            <a:off x="4398740" y="652913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2" name="Google Shape;752;p46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3" name="Google Shape;753;p46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0" name="Google Shape;760;p4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1" name="Google Shape;761;p4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2" name="Google Shape;762;p47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Plots for 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975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(r) </a:t>
            </a: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975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(s)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63" name="Google Shape;763;p47"/>
          <p:cNvSpPr txBox="1"/>
          <p:nvPr/>
        </p:nvSpPr>
        <p:spPr>
          <a:xfrm>
            <a:off x="5641340" y="6036055"/>
            <a:ext cx="1415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Gray levels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64" name="Google Shape;764;p47"/>
          <p:cNvGrpSpPr/>
          <p:nvPr/>
        </p:nvGrpSpPr>
        <p:grpSpPr>
          <a:xfrm>
            <a:off x="1452372" y="1284732"/>
            <a:ext cx="9120124" cy="4385056"/>
            <a:chOff x="1452372" y="1284732"/>
            <a:chExt cx="9120124" cy="4385056"/>
          </a:xfrm>
        </p:grpSpPr>
        <p:sp>
          <p:nvSpPr>
            <p:cNvPr id="765" name="Google Shape;765;p47"/>
            <p:cNvSpPr/>
            <p:nvPr/>
          </p:nvSpPr>
          <p:spPr>
            <a:xfrm>
              <a:off x="1491996" y="2731008"/>
              <a:ext cx="9080500" cy="2170429"/>
            </a:xfrm>
            <a:custGeom>
              <a:rect b="b" l="l" r="r" t="t"/>
              <a:pathLst>
                <a:path extrusionOk="0" h="2170429" w="9080500">
                  <a:moveTo>
                    <a:pt x="0" y="2170176"/>
                  </a:moveTo>
                  <a:lnTo>
                    <a:pt x="9079992" y="2170176"/>
                  </a:lnTo>
                </a:path>
                <a:path extrusionOk="0" h="2170429" w="9080500">
                  <a:moveTo>
                    <a:pt x="0" y="1447800"/>
                  </a:moveTo>
                  <a:lnTo>
                    <a:pt x="9079992" y="1447800"/>
                  </a:lnTo>
                </a:path>
                <a:path extrusionOk="0" h="2170429" w="9080500">
                  <a:moveTo>
                    <a:pt x="0" y="723900"/>
                  </a:moveTo>
                  <a:lnTo>
                    <a:pt x="9079992" y="723900"/>
                  </a:lnTo>
                </a:path>
                <a:path extrusionOk="0" h="2170429" w="9080500">
                  <a:moveTo>
                    <a:pt x="0" y="0"/>
                  </a:moveTo>
                  <a:lnTo>
                    <a:pt x="9079992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1491996" y="2007108"/>
              <a:ext cx="9080500" cy="0"/>
            </a:xfrm>
            <a:custGeom>
              <a:rect b="b" l="l" r="r" t="t"/>
              <a:pathLst>
                <a:path extrusionOk="0" h="120000" w="9080500">
                  <a:moveTo>
                    <a:pt x="0" y="0"/>
                  </a:moveTo>
                  <a:lnTo>
                    <a:pt x="3928871" y="0"/>
                  </a:lnTo>
                </a:path>
                <a:path extrusionOk="0" h="120000" w="9080500">
                  <a:moveTo>
                    <a:pt x="4017263" y="0"/>
                  </a:moveTo>
                  <a:lnTo>
                    <a:pt x="9079992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1491996" y="1284732"/>
              <a:ext cx="9080500" cy="0"/>
            </a:xfrm>
            <a:custGeom>
              <a:rect b="b" l="l" r="r" t="t"/>
              <a:pathLst>
                <a:path extrusionOk="0" h="120000" w="9080500">
                  <a:moveTo>
                    <a:pt x="0" y="0"/>
                  </a:moveTo>
                  <a:lnTo>
                    <a:pt x="9079992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1491996" y="1284732"/>
              <a:ext cx="0" cy="4340860"/>
            </a:xfrm>
            <a:custGeom>
              <a:rect b="b" l="l" r="r" t="t"/>
              <a:pathLst>
                <a:path extrusionOk="0" h="4340860" w="120000">
                  <a:moveTo>
                    <a:pt x="0" y="434035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47"/>
            <p:cNvSpPr/>
            <p:nvPr/>
          </p:nvSpPr>
          <p:spPr>
            <a:xfrm>
              <a:off x="1452372" y="1284732"/>
              <a:ext cx="40005" cy="4340860"/>
            </a:xfrm>
            <a:custGeom>
              <a:rect b="b" l="l" r="r" t="t"/>
              <a:pathLst>
                <a:path extrusionOk="0" h="4340860" w="40005">
                  <a:moveTo>
                    <a:pt x="0" y="4340352"/>
                  </a:moveTo>
                  <a:lnTo>
                    <a:pt x="39624" y="4340352"/>
                  </a:lnTo>
                </a:path>
                <a:path extrusionOk="0" h="4340860" w="40005">
                  <a:moveTo>
                    <a:pt x="0" y="3616452"/>
                  </a:moveTo>
                  <a:lnTo>
                    <a:pt x="39624" y="3616452"/>
                  </a:lnTo>
                </a:path>
                <a:path extrusionOk="0" h="4340860" w="40005">
                  <a:moveTo>
                    <a:pt x="0" y="2894076"/>
                  </a:moveTo>
                  <a:lnTo>
                    <a:pt x="39624" y="2894076"/>
                  </a:lnTo>
                </a:path>
                <a:path extrusionOk="0" h="4340860" w="40005">
                  <a:moveTo>
                    <a:pt x="0" y="2170176"/>
                  </a:moveTo>
                  <a:lnTo>
                    <a:pt x="39624" y="2170176"/>
                  </a:lnTo>
                </a:path>
                <a:path extrusionOk="0" h="4340860" w="40005">
                  <a:moveTo>
                    <a:pt x="0" y="1446276"/>
                  </a:moveTo>
                  <a:lnTo>
                    <a:pt x="39624" y="1446276"/>
                  </a:lnTo>
                </a:path>
                <a:path extrusionOk="0" h="4340860" w="40005">
                  <a:moveTo>
                    <a:pt x="0" y="722376"/>
                  </a:moveTo>
                  <a:lnTo>
                    <a:pt x="39624" y="722376"/>
                  </a:lnTo>
                </a:path>
                <a:path extrusionOk="0" h="4340860" w="40005">
                  <a:moveTo>
                    <a:pt x="0" y="0"/>
                  </a:moveTo>
                  <a:lnTo>
                    <a:pt x="39624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47"/>
            <p:cNvSpPr/>
            <p:nvPr/>
          </p:nvSpPr>
          <p:spPr>
            <a:xfrm>
              <a:off x="1491996" y="5625084"/>
              <a:ext cx="9080500" cy="0"/>
            </a:xfrm>
            <a:custGeom>
              <a:rect b="b" l="l" r="r" t="t"/>
              <a:pathLst>
                <a:path extrusionOk="0" h="120000" w="9080500">
                  <a:moveTo>
                    <a:pt x="0" y="0"/>
                  </a:moveTo>
                  <a:lnTo>
                    <a:pt x="524255" y="0"/>
                  </a:lnTo>
                </a:path>
                <a:path extrusionOk="0" h="120000" w="9080500">
                  <a:moveTo>
                    <a:pt x="612647" y="0"/>
                  </a:moveTo>
                  <a:lnTo>
                    <a:pt x="2793491" y="0"/>
                  </a:lnTo>
                </a:path>
                <a:path extrusionOk="0" h="120000" w="9080500">
                  <a:moveTo>
                    <a:pt x="2881883" y="0"/>
                  </a:moveTo>
                  <a:lnTo>
                    <a:pt x="5064252" y="0"/>
                  </a:lnTo>
                </a:path>
                <a:path extrusionOk="0" h="120000" w="9080500">
                  <a:moveTo>
                    <a:pt x="5152644" y="0"/>
                  </a:moveTo>
                  <a:lnTo>
                    <a:pt x="9079992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47"/>
            <p:cNvSpPr/>
            <p:nvPr/>
          </p:nvSpPr>
          <p:spPr>
            <a:xfrm>
              <a:off x="1491996" y="5625084"/>
              <a:ext cx="9080500" cy="41275"/>
            </a:xfrm>
            <a:custGeom>
              <a:rect b="b" l="l" r="r" t="t"/>
              <a:pathLst>
                <a:path extrusionOk="0" h="41275" w="9080500">
                  <a:moveTo>
                    <a:pt x="0" y="0"/>
                  </a:moveTo>
                  <a:lnTo>
                    <a:pt x="0" y="41147"/>
                  </a:lnTo>
                </a:path>
                <a:path extrusionOk="0" h="41275" w="9080500">
                  <a:moveTo>
                    <a:pt x="1135380" y="0"/>
                  </a:moveTo>
                  <a:lnTo>
                    <a:pt x="1135380" y="41147"/>
                  </a:lnTo>
                </a:path>
                <a:path extrusionOk="0" h="41275" w="9080500">
                  <a:moveTo>
                    <a:pt x="2270760" y="0"/>
                  </a:moveTo>
                  <a:lnTo>
                    <a:pt x="2270760" y="41147"/>
                  </a:lnTo>
                </a:path>
                <a:path extrusionOk="0" h="41275" w="9080500">
                  <a:moveTo>
                    <a:pt x="3404616" y="0"/>
                  </a:moveTo>
                  <a:lnTo>
                    <a:pt x="3404616" y="41147"/>
                  </a:lnTo>
                </a:path>
                <a:path extrusionOk="0" h="41275" w="9080500">
                  <a:moveTo>
                    <a:pt x="4539996" y="0"/>
                  </a:moveTo>
                  <a:lnTo>
                    <a:pt x="4539996" y="41147"/>
                  </a:lnTo>
                </a:path>
                <a:path extrusionOk="0" h="41275" w="9080500">
                  <a:moveTo>
                    <a:pt x="5675376" y="0"/>
                  </a:moveTo>
                  <a:lnTo>
                    <a:pt x="5675376" y="41147"/>
                  </a:lnTo>
                </a:path>
                <a:path extrusionOk="0" h="41275" w="9080500">
                  <a:moveTo>
                    <a:pt x="6810756" y="0"/>
                  </a:moveTo>
                  <a:lnTo>
                    <a:pt x="6810756" y="41147"/>
                  </a:lnTo>
                </a:path>
                <a:path extrusionOk="0" h="41275" w="9080500">
                  <a:moveTo>
                    <a:pt x="7944611" y="0"/>
                  </a:moveTo>
                  <a:lnTo>
                    <a:pt x="7944611" y="41147"/>
                  </a:lnTo>
                </a:path>
                <a:path extrusionOk="0" h="41275" w="9080500">
                  <a:moveTo>
                    <a:pt x="9079992" y="0"/>
                  </a:moveTo>
                  <a:lnTo>
                    <a:pt x="9079992" y="41147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47"/>
            <p:cNvSpPr/>
            <p:nvPr/>
          </p:nvSpPr>
          <p:spPr>
            <a:xfrm>
              <a:off x="2059686" y="2007870"/>
              <a:ext cx="7945120" cy="3328670"/>
            </a:xfrm>
            <a:custGeom>
              <a:rect b="b" l="l" r="r" t="t"/>
              <a:pathLst>
                <a:path extrusionOk="0" h="3328670" w="7945120">
                  <a:moveTo>
                    <a:pt x="0" y="868679"/>
                  </a:moveTo>
                  <a:lnTo>
                    <a:pt x="1135380" y="0"/>
                  </a:lnTo>
                  <a:lnTo>
                    <a:pt x="2270760" y="579119"/>
                  </a:lnTo>
                  <a:lnTo>
                    <a:pt x="3404616" y="1301495"/>
                  </a:lnTo>
                  <a:lnTo>
                    <a:pt x="4539996" y="2459735"/>
                  </a:lnTo>
                  <a:lnTo>
                    <a:pt x="5675376" y="2749296"/>
                  </a:lnTo>
                  <a:lnTo>
                    <a:pt x="6810756" y="3183635"/>
                  </a:lnTo>
                  <a:lnTo>
                    <a:pt x="7944611" y="3328416"/>
                  </a:lnTo>
                </a:path>
              </a:pathLst>
            </a:custGeom>
            <a:noFill/>
            <a:ln cap="flat" cmpd="sng" w="2857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73" name="Google Shape;773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11489" y="2826829"/>
              <a:ext cx="97916" cy="97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4" name="Google Shape;774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5345" y="1958149"/>
              <a:ext cx="97916" cy="97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5" name="Google Shape;775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80725" y="2537269"/>
              <a:ext cx="97917" cy="97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6" name="Google Shape;776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16105" y="3261170"/>
              <a:ext cx="97917" cy="97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7" name="Google Shape;777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51485" y="4419410"/>
              <a:ext cx="97917" cy="97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85340" y="4707446"/>
              <a:ext cx="97917" cy="979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9" name="Google Shape;779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20721" y="5141786"/>
              <a:ext cx="97917" cy="97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956101" y="5286566"/>
              <a:ext cx="97917" cy="979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1" name="Google Shape;781;p47"/>
            <p:cNvSpPr/>
            <p:nvPr/>
          </p:nvSpPr>
          <p:spPr>
            <a:xfrm>
              <a:off x="2059686" y="2007870"/>
              <a:ext cx="7945120" cy="3618229"/>
            </a:xfrm>
            <a:custGeom>
              <a:rect b="b" l="l" r="r" t="t"/>
              <a:pathLst>
                <a:path extrusionOk="0" h="3618229" w="7945120">
                  <a:moveTo>
                    <a:pt x="0" y="3617976"/>
                  </a:moveTo>
                  <a:lnTo>
                    <a:pt x="1135380" y="868680"/>
                  </a:lnTo>
                  <a:lnTo>
                    <a:pt x="2270760" y="3617976"/>
                  </a:lnTo>
                  <a:lnTo>
                    <a:pt x="3404616" y="0"/>
                  </a:lnTo>
                  <a:lnTo>
                    <a:pt x="4539996" y="3617976"/>
                  </a:lnTo>
                  <a:lnTo>
                    <a:pt x="5675376" y="579119"/>
                  </a:lnTo>
                  <a:lnTo>
                    <a:pt x="6810756" y="144779"/>
                  </a:lnTo>
                  <a:lnTo>
                    <a:pt x="7944611" y="2025395"/>
                  </a:lnTo>
                </a:path>
              </a:pathLst>
            </a:custGeom>
            <a:noFill/>
            <a:ln cap="flat" cmpd="sng" w="28550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2016252" y="5580888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2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88392" y="88391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2016252" y="5580888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2" y="0"/>
                  </a:lnTo>
                  <a:lnTo>
                    <a:pt x="88392" y="88391"/>
                  </a:lnTo>
                  <a:lnTo>
                    <a:pt x="0" y="88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3150107" y="283159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2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88392" y="88391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3150107" y="283159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2" y="0"/>
                  </a:lnTo>
                  <a:lnTo>
                    <a:pt x="88392" y="88391"/>
                  </a:lnTo>
                  <a:lnTo>
                    <a:pt x="0" y="88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4285488" y="5580888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1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88391" y="88391"/>
                  </a:lnTo>
                  <a:lnTo>
                    <a:pt x="88391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4285488" y="5580888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1" y="0"/>
                  </a:lnTo>
                  <a:lnTo>
                    <a:pt x="88391" y="88391"/>
                  </a:lnTo>
                  <a:lnTo>
                    <a:pt x="0" y="88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5420868" y="196291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1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88391" y="88391"/>
                  </a:lnTo>
                  <a:lnTo>
                    <a:pt x="88391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5420868" y="196291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1" y="0"/>
                  </a:lnTo>
                  <a:lnTo>
                    <a:pt x="88391" y="88391"/>
                  </a:lnTo>
                  <a:lnTo>
                    <a:pt x="0" y="88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6556248" y="5580888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2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88392" y="88391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6556248" y="5580888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2" y="0"/>
                  </a:lnTo>
                  <a:lnTo>
                    <a:pt x="88392" y="88391"/>
                  </a:lnTo>
                  <a:lnTo>
                    <a:pt x="0" y="88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7690104" y="254203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2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88392" y="88391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7690104" y="254203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2" y="0"/>
                  </a:lnTo>
                  <a:lnTo>
                    <a:pt x="88392" y="88391"/>
                  </a:lnTo>
                  <a:lnTo>
                    <a:pt x="0" y="88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8825483" y="210769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2" y="0"/>
                  </a:moveTo>
                  <a:lnTo>
                    <a:pt x="0" y="0"/>
                  </a:lnTo>
                  <a:lnTo>
                    <a:pt x="0" y="88391"/>
                  </a:lnTo>
                  <a:lnTo>
                    <a:pt x="88392" y="88391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8825483" y="210769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2" y="0"/>
                  </a:lnTo>
                  <a:lnTo>
                    <a:pt x="88392" y="88391"/>
                  </a:lnTo>
                  <a:lnTo>
                    <a:pt x="0" y="88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9960864" y="398983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88392" y="0"/>
                  </a:moveTo>
                  <a:lnTo>
                    <a:pt x="0" y="0"/>
                  </a:lnTo>
                  <a:lnTo>
                    <a:pt x="0" y="88392"/>
                  </a:lnTo>
                  <a:lnTo>
                    <a:pt x="88392" y="88392"/>
                  </a:lnTo>
                  <a:lnTo>
                    <a:pt x="88392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9960864" y="3989832"/>
              <a:ext cx="88900" cy="88900"/>
            </a:xfrm>
            <a:custGeom>
              <a:rect b="b" l="l" r="r" t="t"/>
              <a:pathLst>
                <a:path extrusionOk="0" h="88900" w="88900">
                  <a:moveTo>
                    <a:pt x="0" y="0"/>
                  </a:moveTo>
                  <a:lnTo>
                    <a:pt x="88392" y="0"/>
                  </a:lnTo>
                  <a:lnTo>
                    <a:pt x="88392" y="88392"/>
                  </a:lnTo>
                  <a:lnTo>
                    <a:pt x="0" y="8839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98" name="Google Shape;798;p47"/>
          <p:cNvSpPr txBox="1"/>
          <p:nvPr/>
        </p:nvSpPr>
        <p:spPr>
          <a:xfrm>
            <a:off x="1297495" y="5522145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7"/>
          <p:cNvSpPr txBox="1"/>
          <p:nvPr/>
        </p:nvSpPr>
        <p:spPr>
          <a:xfrm>
            <a:off x="1136597" y="4798611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7"/>
          <p:cNvSpPr txBox="1"/>
          <p:nvPr/>
        </p:nvSpPr>
        <p:spPr>
          <a:xfrm>
            <a:off x="1200982" y="4075076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7"/>
          <p:cNvSpPr txBox="1"/>
          <p:nvPr/>
        </p:nvSpPr>
        <p:spPr>
          <a:xfrm>
            <a:off x="1136597" y="3351542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7"/>
          <p:cNvSpPr txBox="1"/>
          <p:nvPr/>
        </p:nvSpPr>
        <p:spPr>
          <a:xfrm>
            <a:off x="1200982" y="2628008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47"/>
          <p:cNvSpPr txBox="1"/>
          <p:nvPr/>
        </p:nvSpPr>
        <p:spPr>
          <a:xfrm>
            <a:off x="1136597" y="1904474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7"/>
          <p:cNvSpPr txBox="1"/>
          <p:nvPr/>
        </p:nvSpPr>
        <p:spPr>
          <a:xfrm>
            <a:off x="1200982" y="1180939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7"/>
          <p:cNvSpPr txBox="1"/>
          <p:nvPr/>
        </p:nvSpPr>
        <p:spPr>
          <a:xfrm>
            <a:off x="2014958" y="5687470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7"/>
          <p:cNvSpPr txBox="1"/>
          <p:nvPr/>
        </p:nvSpPr>
        <p:spPr>
          <a:xfrm>
            <a:off x="3093175" y="568747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1/7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7"/>
          <p:cNvSpPr txBox="1"/>
          <p:nvPr/>
        </p:nvSpPr>
        <p:spPr>
          <a:xfrm>
            <a:off x="4228188" y="568747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2/7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7"/>
          <p:cNvSpPr txBox="1"/>
          <p:nvPr/>
        </p:nvSpPr>
        <p:spPr>
          <a:xfrm>
            <a:off x="5363201" y="568747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3/7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7"/>
          <p:cNvSpPr txBox="1"/>
          <p:nvPr/>
        </p:nvSpPr>
        <p:spPr>
          <a:xfrm>
            <a:off x="6498214" y="568747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4/7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7"/>
          <p:cNvSpPr txBox="1"/>
          <p:nvPr/>
        </p:nvSpPr>
        <p:spPr>
          <a:xfrm>
            <a:off x="7633227" y="568747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5/7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7"/>
          <p:cNvSpPr txBox="1"/>
          <p:nvPr/>
        </p:nvSpPr>
        <p:spPr>
          <a:xfrm>
            <a:off x="8768239" y="568747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6/7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7"/>
          <p:cNvSpPr txBox="1"/>
          <p:nvPr/>
        </p:nvSpPr>
        <p:spPr>
          <a:xfrm>
            <a:off x="9959920" y="5687470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70869" y="3384613"/>
            <a:ext cx="24384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47"/>
          <p:cNvSpPr txBox="1"/>
          <p:nvPr/>
        </p:nvSpPr>
        <p:spPr>
          <a:xfrm>
            <a:off x="11027788" y="3247311"/>
            <a:ext cx="26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pr(r)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ps(s)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7"/>
          <p:cNvSpPr/>
          <p:nvPr/>
        </p:nvSpPr>
        <p:spPr>
          <a:xfrm>
            <a:off x="10770869" y="3658361"/>
            <a:ext cx="243840" cy="0"/>
          </a:xfrm>
          <a:custGeom>
            <a:rect b="b" l="l" r="r" t="t"/>
            <a:pathLst>
              <a:path extrusionOk="0" h="120000"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noFill/>
          <a:ln cap="flat" cmpd="sng" w="28575">
            <a:solidFill>
              <a:srgbClr val="BE4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816" name="Google Shape;816;p47"/>
          <p:cNvGrpSpPr/>
          <p:nvPr/>
        </p:nvGrpSpPr>
        <p:grpSpPr>
          <a:xfrm>
            <a:off x="10853928" y="3619500"/>
            <a:ext cx="76200" cy="76200"/>
            <a:chOff x="10853928" y="3619500"/>
            <a:chExt cx="76200" cy="76200"/>
          </a:xfrm>
        </p:grpSpPr>
        <p:sp>
          <p:nvSpPr>
            <p:cNvPr id="817" name="Google Shape;817;p47"/>
            <p:cNvSpPr/>
            <p:nvPr/>
          </p:nvSpPr>
          <p:spPr>
            <a:xfrm>
              <a:off x="10853928" y="36195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10853928" y="3619500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BE4B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9" name="Google Shape;819;p47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20" name="Google Shape;820;p47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21" name="Google Shape;821;p47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8" name="Google Shape;828;p4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9" name="Google Shape;829;p4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0" name="Google Shape;830;p48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Plots for 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975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(r) </a:t>
            </a: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975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i="1"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(s)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831" name="Google Shape;831;p48"/>
          <p:cNvGrpSpPr/>
          <p:nvPr/>
        </p:nvGrpSpPr>
        <p:grpSpPr>
          <a:xfrm>
            <a:off x="1502663" y="1284732"/>
            <a:ext cx="9183878" cy="4457827"/>
            <a:chOff x="1502663" y="1284732"/>
            <a:chExt cx="9183878" cy="4457827"/>
          </a:xfrm>
        </p:grpSpPr>
        <p:sp>
          <p:nvSpPr>
            <p:cNvPr id="832" name="Google Shape;832;p48"/>
            <p:cNvSpPr/>
            <p:nvPr/>
          </p:nvSpPr>
          <p:spPr>
            <a:xfrm>
              <a:off x="1543811" y="2756916"/>
              <a:ext cx="9142730" cy="2208529"/>
            </a:xfrm>
            <a:custGeom>
              <a:rect b="b" l="l" r="r" t="t"/>
              <a:pathLst>
                <a:path extrusionOk="0" h="2208529" w="9142730">
                  <a:moveTo>
                    <a:pt x="0" y="2208275"/>
                  </a:moveTo>
                  <a:lnTo>
                    <a:pt x="243839" y="2208275"/>
                  </a:lnTo>
                </a:path>
                <a:path extrusionOk="0" h="2208529" w="9142730">
                  <a:moveTo>
                    <a:pt x="571500" y="2208275"/>
                  </a:moveTo>
                  <a:lnTo>
                    <a:pt x="1386839" y="2208275"/>
                  </a:lnTo>
                </a:path>
                <a:path extrusionOk="0" h="2208529" w="9142730">
                  <a:moveTo>
                    <a:pt x="2040636" y="2208275"/>
                  </a:moveTo>
                  <a:lnTo>
                    <a:pt x="2529840" y="2208275"/>
                  </a:lnTo>
                </a:path>
                <a:path extrusionOk="0" h="2208529" w="9142730">
                  <a:moveTo>
                    <a:pt x="2855976" y="2208275"/>
                  </a:moveTo>
                  <a:lnTo>
                    <a:pt x="3672840" y="2208275"/>
                  </a:lnTo>
                </a:path>
                <a:path extrusionOk="0" h="2208529" w="9142730">
                  <a:moveTo>
                    <a:pt x="4326636" y="2208275"/>
                  </a:moveTo>
                  <a:lnTo>
                    <a:pt x="4815840" y="2208275"/>
                  </a:lnTo>
                </a:path>
                <a:path extrusionOk="0" h="2208529" w="9142730">
                  <a:moveTo>
                    <a:pt x="5141975" y="2208275"/>
                  </a:moveTo>
                  <a:lnTo>
                    <a:pt x="5958840" y="2208275"/>
                  </a:lnTo>
                </a:path>
                <a:path extrusionOk="0" h="2208529" w="9142730">
                  <a:moveTo>
                    <a:pt x="6612636" y="2208275"/>
                  </a:moveTo>
                  <a:lnTo>
                    <a:pt x="7427976" y="2208275"/>
                  </a:lnTo>
                </a:path>
                <a:path extrusionOk="0" h="2208529" w="9142730">
                  <a:moveTo>
                    <a:pt x="7755636" y="2208275"/>
                  </a:moveTo>
                  <a:lnTo>
                    <a:pt x="8570976" y="2208275"/>
                  </a:lnTo>
                </a:path>
                <a:path extrusionOk="0" h="2208529" w="9142730">
                  <a:moveTo>
                    <a:pt x="8898636" y="2208275"/>
                  </a:moveTo>
                  <a:lnTo>
                    <a:pt x="9142476" y="2208275"/>
                  </a:lnTo>
                </a:path>
                <a:path extrusionOk="0" h="2208529" w="9142730">
                  <a:moveTo>
                    <a:pt x="0" y="1472183"/>
                  </a:moveTo>
                  <a:lnTo>
                    <a:pt x="243839" y="1472183"/>
                  </a:lnTo>
                </a:path>
                <a:path extrusionOk="0" h="2208529" w="9142730">
                  <a:moveTo>
                    <a:pt x="571500" y="1472183"/>
                  </a:moveTo>
                  <a:lnTo>
                    <a:pt x="1386839" y="1472183"/>
                  </a:lnTo>
                </a:path>
                <a:path extrusionOk="0" h="2208529" w="9142730">
                  <a:moveTo>
                    <a:pt x="2040636" y="1472183"/>
                  </a:moveTo>
                  <a:lnTo>
                    <a:pt x="2529840" y="1472183"/>
                  </a:lnTo>
                </a:path>
                <a:path extrusionOk="0" h="2208529" w="9142730">
                  <a:moveTo>
                    <a:pt x="2855976" y="1472183"/>
                  </a:moveTo>
                  <a:lnTo>
                    <a:pt x="3672840" y="1472183"/>
                  </a:lnTo>
                </a:path>
                <a:path extrusionOk="0" h="2208529" w="9142730">
                  <a:moveTo>
                    <a:pt x="4326636" y="1472183"/>
                  </a:moveTo>
                  <a:lnTo>
                    <a:pt x="6284976" y="1472183"/>
                  </a:lnTo>
                </a:path>
                <a:path extrusionOk="0" h="2208529" w="9142730">
                  <a:moveTo>
                    <a:pt x="6612636" y="1472183"/>
                  </a:moveTo>
                  <a:lnTo>
                    <a:pt x="7427976" y="1472183"/>
                  </a:lnTo>
                </a:path>
                <a:path extrusionOk="0" h="2208529" w="9142730">
                  <a:moveTo>
                    <a:pt x="7755636" y="1472183"/>
                  </a:moveTo>
                  <a:lnTo>
                    <a:pt x="8570976" y="1472183"/>
                  </a:lnTo>
                </a:path>
                <a:path extrusionOk="0" h="2208529" w="9142730">
                  <a:moveTo>
                    <a:pt x="8898636" y="1472183"/>
                  </a:moveTo>
                  <a:lnTo>
                    <a:pt x="9142476" y="1472183"/>
                  </a:lnTo>
                </a:path>
                <a:path extrusionOk="0" h="2208529" w="9142730">
                  <a:moveTo>
                    <a:pt x="2040636" y="736091"/>
                  </a:moveTo>
                  <a:lnTo>
                    <a:pt x="2529840" y="736091"/>
                  </a:lnTo>
                </a:path>
                <a:path extrusionOk="0" h="2208529" w="9142730">
                  <a:moveTo>
                    <a:pt x="2855976" y="736091"/>
                  </a:moveTo>
                  <a:lnTo>
                    <a:pt x="3672840" y="736091"/>
                  </a:lnTo>
                </a:path>
                <a:path extrusionOk="0" h="2208529" w="9142730">
                  <a:moveTo>
                    <a:pt x="4326636" y="736091"/>
                  </a:moveTo>
                  <a:lnTo>
                    <a:pt x="6284976" y="736091"/>
                  </a:lnTo>
                </a:path>
                <a:path extrusionOk="0" h="2208529" w="9142730">
                  <a:moveTo>
                    <a:pt x="6612636" y="736091"/>
                  </a:moveTo>
                  <a:lnTo>
                    <a:pt x="7427976" y="736091"/>
                  </a:lnTo>
                </a:path>
                <a:path extrusionOk="0" h="2208529" w="9142730">
                  <a:moveTo>
                    <a:pt x="7755636" y="736091"/>
                  </a:moveTo>
                  <a:lnTo>
                    <a:pt x="9142476" y="736091"/>
                  </a:lnTo>
                </a:path>
                <a:path extrusionOk="0" h="2208529" w="9142730">
                  <a:moveTo>
                    <a:pt x="0" y="736091"/>
                  </a:moveTo>
                  <a:lnTo>
                    <a:pt x="243839" y="736091"/>
                  </a:lnTo>
                </a:path>
                <a:path extrusionOk="0" h="2208529" w="9142730">
                  <a:moveTo>
                    <a:pt x="571500" y="736091"/>
                  </a:moveTo>
                  <a:lnTo>
                    <a:pt x="1386839" y="736091"/>
                  </a:lnTo>
                </a:path>
                <a:path extrusionOk="0" h="2208529" w="9142730">
                  <a:moveTo>
                    <a:pt x="0" y="0"/>
                  </a:moveTo>
                  <a:lnTo>
                    <a:pt x="1386839" y="0"/>
                  </a:lnTo>
                </a:path>
                <a:path extrusionOk="0" h="2208529" w="9142730">
                  <a:moveTo>
                    <a:pt x="6612636" y="0"/>
                  </a:moveTo>
                  <a:lnTo>
                    <a:pt x="7427976" y="0"/>
                  </a:lnTo>
                </a:path>
                <a:path extrusionOk="0" h="2208529" w="9142730">
                  <a:moveTo>
                    <a:pt x="1714500" y="0"/>
                  </a:moveTo>
                  <a:lnTo>
                    <a:pt x="2529840" y="0"/>
                  </a:lnTo>
                </a:path>
                <a:path extrusionOk="0" h="2208529" w="9142730">
                  <a:moveTo>
                    <a:pt x="7755636" y="0"/>
                  </a:moveTo>
                  <a:lnTo>
                    <a:pt x="9142476" y="0"/>
                  </a:lnTo>
                </a:path>
                <a:path extrusionOk="0" h="2208529" w="9142730">
                  <a:moveTo>
                    <a:pt x="2855976" y="0"/>
                  </a:moveTo>
                  <a:lnTo>
                    <a:pt x="3998976" y="0"/>
                  </a:lnTo>
                </a:path>
                <a:path extrusionOk="0" h="2208529" w="9142730">
                  <a:moveTo>
                    <a:pt x="4326636" y="0"/>
                  </a:moveTo>
                  <a:lnTo>
                    <a:pt x="6284976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48"/>
            <p:cNvSpPr/>
            <p:nvPr/>
          </p:nvSpPr>
          <p:spPr>
            <a:xfrm>
              <a:off x="1543811" y="1284732"/>
              <a:ext cx="9142730" cy="736600"/>
            </a:xfrm>
            <a:custGeom>
              <a:rect b="b" l="l" r="r" t="t"/>
              <a:pathLst>
                <a:path extrusionOk="0" h="736600" w="9142730">
                  <a:moveTo>
                    <a:pt x="0" y="736092"/>
                  </a:moveTo>
                  <a:lnTo>
                    <a:pt x="9142476" y="736092"/>
                  </a:lnTo>
                </a:path>
                <a:path extrusionOk="0" h="736600" w="9142730">
                  <a:moveTo>
                    <a:pt x="0" y="0"/>
                  </a:moveTo>
                  <a:lnTo>
                    <a:pt x="9142476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48"/>
            <p:cNvSpPr/>
            <p:nvPr/>
          </p:nvSpPr>
          <p:spPr>
            <a:xfrm>
              <a:off x="1787652" y="2020823"/>
              <a:ext cx="8327390" cy="3681095"/>
            </a:xfrm>
            <a:custGeom>
              <a:rect b="b" l="l" r="r" t="t"/>
              <a:pathLst>
                <a:path extrusionOk="0" h="3681095" w="8327390">
                  <a:moveTo>
                    <a:pt x="327660" y="882396"/>
                  </a:moveTo>
                  <a:lnTo>
                    <a:pt x="0" y="882396"/>
                  </a:lnTo>
                  <a:lnTo>
                    <a:pt x="0" y="3680472"/>
                  </a:lnTo>
                  <a:lnTo>
                    <a:pt x="327660" y="3680472"/>
                  </a:lnTo>
                  <a:lnTo>
                    <a:pt x="327660" y="882396"/>
                  </a:lnTo>
                  <a:close/>
                </a:path>
                <a:path extrusionOk="0" h="3681095" w="8327390">
                  <a:moveTo>
                    <a:pt x="1470660" y="0"/>
                  </a:moveTo>
                  <a:lnTo>
                    <a:pt x="1143000" y="0"/>
                  </a:lnTo>
                  <a:lnTo>
                    <a:pt x="1143000" y="3680472"/>
                  </a:lnTo>
                  <a:lnTo>
                    <a:pt x="1470660" y="3680472"/>
                  </a:lnTo>
                  <a:lnTo>
                    <a:pt x="1470660" y="0"/>
                  </a:lnTo>
                  <a:close/>
                </a:path>
                <a:path extrusionOk="0" h="3681095" w="8327390">
                  <a:moveTo>
                    <a:pt x="2612136" y="588264"/>
                  </a:moveTo>
                  <a:lnTo>
                    <a:pt x="2286000" y="588264"/>
                  </a:lnTo>
                  <a:lnTo>
                    <a:pt x="2286000" y="3680460"/>
                  </a:lnTo>
                  <a:lnTo>
                    <a:pt x="2612136" y="3680460"/>
                  </a:lnTo>
                  <a:lnTo>
                    <a:pt x="2612136" y="588264"/>
                  </a:lnTo>
                  <a:close/>
                </a:path>
                <a:path extrusionOk="0" h="3681095" w="8327390">
                  <a:moveTo>
                    <a:pt x="3755136" y="1324356"/>
                  </a:moveTo>
                  <a:lnTo>
                    <a:pt x="3429000" y="1324356"/>
                  </a:lnTo>
                  <a:lnTo>
                    <a:pt x="3429000" y="3680460"/>
                  </a:lnTo>
                  <a:lnTo>
                    <a:pt x="3755136" y="3680460"/>
                  </a:lnTo>
                  <a:lnTo>
                    <a:pt x="3755136" y="1324356"/>
                  </a:lnTo>
                  <a:close/>
                </a:path>
                <a:path extrusionOk="0" h="3681095" w="8327390">
                  <a:moveTo>
                    <a:pt x="4898123" y="2502408"/>
                  </a:moveTo>
                  <a:lnTo>
                    <a:pt x="4572000" y="2502408"/>
                  </a:lnTo>
                  <a:lnTo>
                    <a:pt x="4572000" y="3680460"/>
                  </a:lnTo>
                  <a:lnTo>
                    <a:pt x="4898123" y="3680460"/>
                  </a:lnTo>
                  <a:lnTo>
                    <a:pt x="4898123" y="2502408"/>
                  </a:lnTo>
                  <a:close/>
                </a:path>
                <a:path extrusionOk="0" h="3681095" w="8327390">
                  <a:moveTo>
                    <a:pt x="6041123" y="2796540"/>
                  </a:moveTo>
                  <a:lnTo>
                    <a:pt x="5715000" y="2796540"/>
                  </a:lnTo>
                  <a:lnTo>
                    <a:pt x="5715000" y="3680460"/>
                  </a:lnTo>
                  <a:lnTo>
                    <a:pt x="6041123" y="3680460"/>
                  </a:lnTo>
                  <a:lnTo>
                    <a:pt x="6041123" y="2796540"/>
                  </a:lnTo>
                  <a:close/>
                </a:path>
                <a:path extrusionOk="0" h="3681095" w="8327390">
                  <a:moveTo>
                    <a:pt x="7184123" y="3238500"/>
                  </a:moveTo>
                  <a:lnTo>
                    <a:pt x="6858000" y="3238500"/>
                  </a:lnTo>
                  <a:lnTo>
                    <a:pt x="6858000" y="3680460"/>
                  </a:lnTo>
                  <a:lnTo>
                    <a:pt x="7184123" y="3680460"/>
                  </a:lnTo>
                  <a:lnTo>
                    <a:pt x="7184123" y="3238500"/>
                  </a:lnTo>
                  <a:close/>
                </a:path>
                <a:path extrusionOk="0" h="3681095" w="8327390">
                  <a:moveTo>
                    <a:pt x="8327123" y="3386328"/>
                  </a:moveTo>
                  <a:lnTo>
                    <a:pt x="8001000" y="3386328"/>
                  </a:lnTo>
                  <a:lnTo>
                    <a:pt x="8001000" y="3680460"/>
                  </a:lnTo>
                  <a:lnTo>
                    <a:pt x="8327123" y="3680460"/>
                  </a:lnTo>
                  <a:lnTo>
                    <a:pt x="8327123" y="3386328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48"/>
            <p:cNvSpPr/>
            <p:nvPr/>
          </p:nvSpPr>
          <p:spPr>
            <a:xfrm>
              <a:off x="3258312" y="2020823"/>
              <a:ext cx="7184390" cy="3681095"/>
            </a:xfrm>
            <a:custGeom>
              <a:rect b="b" l="l" r="r" t="t"/>
              <a:pathLst>
                <a:path extrusionOk="0" h="3681095" w="7184390">
                  <a:moveTo>
                    <a:pt x="326136" y="882396"/>
                  </a:moveTo>
                  <a:lnTo>
                    <a:pt x="0" y="882396"/>
                  </a:lnTo>
                  <a:lnTo>
                    <a:pt x="0" y="3680472"/>
                  </a:lnTo>
                  <a:lnTo>
                    <a:pt x="326136" y="3680472"/>
                  </a:lnTo>
                  <a:lnTo>
                    <a:pt x="326136" y="882396"/>
                  </a:lnTo>
                  <a:close/>
                </a:path>
                <a:path extrusionOk="0" h="3681095" w="7184390">
                  <a:moveTo>
                    <a:pt x="2612136" y="0"/>
                  </a:moveTo>
                  <a:lnTo>
                    <a:pt x="2284476" y="0"/>
                  </a:lnTo>
                  <a:lnTo>
                    <a:pt x="2284476" y="3680472"/>
                  </a:lnTo>
                  <a:lnTo>
                    <a:pt x="2612136" y="3680472"/>
                  </a:lnTo>
                  <a:lnTo>
                    <a:pt x="2612136" y="0"/>
                  </a:lnTo>
                  <a:close/>
                </a:path>
                <a:path extrusionOk="0" h="3681095" w="7184390">
                  <a:moveTo>
                    <a:pt x="4898136" y="588264"/>
                  </a:moveTo>
                  <a:lnTo>
                    <a:pt x="4570476" y="588264"/>
                  </a:lnTo>
                  <a:lnTo>
                    <a:pt x="4570476" y="3680460"/>
                  </a:lnTo>
                  <a:lnTo>
                    <a:pt x="4898136" y="3680460"/>
                  </a:lnTo>
                  <a:lnTo>
                    <a:pt x="4898136" y="588264"/>
                  </a:lnTo>
                  <a:close/>
                </a:path>
                <a:path extrusionOk="0" h="3681095" w="7184390">
                  <a:moveTo>
                    <a:pt x="6041136" y="146304"/>
                  </a:moveTo>
                  <a:lnTo>
                    <a:pt x="5713476" y="146304"/>
                  </a:lnTo>
                  <a:lnTo>
                    <a:pt x="5713476" y="3680460"/>
                  </a:lnTo>
                  <a:lnTo>
                    <a:pt x="6041136" y="3680460"/>
                  </a:lnTo>
                  <a:lnTo>
                    <a:pt x="6041136" y="146304"/>
                  </a:lnTo>
                  <a:close/>
                </a:path>
                <a:path extrusionOk="0" h="3681095" w="7184390">
                  <a:moveTo>
                    <a:pt x="7184136" y="2060448"/>
                  </a:moveTo>
                  <a:lnTo>
                    <a:pt x="6856476" y="2060448"/>
                  </a:lnTo>
                  <a:lnTo>
                    <a:pt x="6856476" y="3680472"/>
                  </a:lnTo>
                  <a:lnTo>
                    <a:pt x="7184136" y="3680472"/>
                  </a:lnTo>
                  <a:lnTo>
                    <a:pt x="7184136" y="2060448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48"/>
            <p:cNvSpPr/>
            <p:nvPr/>
          </p:nvSpPr>
          <p:spPr>
            <a:xfrm>
              <a:off x="1543811" y="1284732"/>
              <a:ext cx="0" cy="4417060"/>
            </a:xfrm>
            <a:custGeom>
              <a:rect b="b" l="l" r="r" t="t"/>
              <a:pathLst>
                <a:path extrusionOk="0" h="4417060" w="120000">
                  <a:moveTo>
                    <a:pt x="0" y="441655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48"/>
            <p:cNvSpPr/>
            <p:nvPr/>
          </p:nvSpPr>
          <p:spPr>
            <a:xfrm>
              <a:off x="1502663" y="1284732"/>
              <a:ext cx="41275" cy="4417060"/>
            </a:xfrm>
            <a:custGeom>
              <a:rect b="b" l="l" r="r" t="t"/>
              <a:pathLst>
                <a:path extrusionOk="0" h="4417060" w="41275">
                  <a:moveTo>
                    <a:pt x="0" y="4416552"/>
                  </a:moveTo>
                  <a:lnTo>
                    <a:pt x="41148" y="4416552"/>
                  </a:lnTo>
                </a:path>
                <a:path extrusionOk="0" h="4417060" w="41275">
                  <a:moveTo>
                    <a:pt x="0" y="3680460"/>
                  </a:moveTo>
                  <a:lnTo>
                    <a:pt x="41148" y="3680460"/>
                  </a:lnTo>
                </a:path>
                <a:path extrusionOk="0" h="4417060" w="41275">
                  <a:moveTo>
                    <a:pt x="0" y="2944367"/>
                  </a:moveTo>
                  <a:lnTo>
                    <a:pt x="41148" y="2944367"/>
                  </a:lnTo>
                </a:path>
                <a:path extrusionOk="0" h="4417060" w="41275">
                  <a:moveTo>
                    <a:pt x="0" y="2208276"/>
                  </a:moveTo>
                  <a:lnTo>
                    <a:pt x="41148" y="2208276"/>
                  </a:lnTo>
                </a:path>
                <a:path extrusionOk="0" h="4417060" w="41275">
                  <a:moveTo>
                    <a:pt x="0" y="1472183"/>
                  </a:moveTo>
                  <a:lnTo>
                    <a:pt x="41148" y="1472183"/>
                  </a:lnTo>
                </a:path>
                <a:path extrusionOk="0" h="4417060" w="41275">
                  <a:moveTo>
                    <a:pt x="0" y="736091"/>
                  </a:moveTo>
                  <a:lnTo>
                    <a:pt x="41148" y="736091"/>
                  </a:lnTo>
                </a:path>
                <a:path extrusionOk="0" h="4417060" w="41275">
                  <a:moveTo>
                    <a:pt x="0" y="0"/>
                  </a:moveTo>
                  <a:lnTo>
                    <a:pt x="41148" y="0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48"/>
            <p:cNvSpPr/>
            <p:nvPr/>
          </p:nvSpPr>
          <p:spPr>
            <a:xfrm>
              <a:off x="1543811" y="5701284"/>
              <a:ext cx="9142730" cy="41275"/>
            </a:xfrm>
            <a:custGeom>
              <a:rect b="b" l="l" r="r" t="t"/>
              <a:pathLst>
                <a:path extrusionOk="0" h="41275" w="9142730">
                  <a:moveTo>
                    <a:pt x="0" y="0"/>
                  </a:moveTo>
                  <a:lnTo>
                    <a:pt x="9142476" y="0"/>
                  </a:lnTo>
                </a:path>
                <a:path extrusionOk="0" h="41275" w="9142730">
                  <a:moveTo>
                    <a:pt x="0" y="0"/>
                  </a:moveTo>
                  <a:lnTo>
                    <a:pt x="0" y="41147"/>
                  </a:lnTo>
                </a:path>
                <a:path extrusionOk="0" h="41275" w="9142730">
                  <a:moveTo>
                    <a:pt x="1143000" y="0"/>
                  </a:moveTo>
                  <a:lnTo>
                    <a:pt x="1143000" y="41147"/>
                  </a:lnTo>
                </a:path>
                <a:path extrusionOk="0" h="41275" w="9142730">
                  <a:moveTo>
                    <a:pt x="2286000" y="0"/>
                  </a:moveTo>
                  <a:lnTo>
                    <a:pt x="2286000" y="41147"/>
                  </a:lnTo>
                </a:path>
                <a:path extrusionOk="0" h="41275" w="9142730">
                  <a:moveTo>
                    <a:pt x="3427476" y="0"/>
                  </a:moveTo>
                  <a:lnTo>
                    <a:pt x="3427476" y="41147"/>
                  </a:lnTo>
                </a:path>
                <a:path extrusionOk="0" h="41275" w="9142730">
                  <a:moveTo>
                    <a:pt x="4570476" y="0"/>
                  </a:moveTo>
                  <a:lnTo>
                    <a:pt x="4570476" y="41147"/>
                  </a:lnTo>
                </a:path>
                <a:path extrusionOk="0" h="41275" w="9142730">
                  <a:moveTo>
                    <a:pt x="5713476" y="0"/>
                  </a:moveTo>
                  <a:lnTo>
                    <a:pt x="5713476" y="41147"/>
                  </a:lnTo>
                </a:path>
                <a:path extrusionOk="0" h="41275" w="9142730">
                  <a:moveTo>
                    <a:pt x="6856476" y="0"/>
                  </a:moveTo>
                  <a:lnTo>
                    <a:pt x="6856476" y="41147"/>
                  </a:lnTo>
                </a:path>
                <a:path extrusionOk="0" h="41275" w="9142730">
                  <a:moveTo>
                    <a:pt x="7999476" y="0"/>
                  </a:moveTo>
                  <a:lnTo>
                    <a:pt x="7999476" y="41147"/>
                  </a:lnTo>
                </a:path>
                <a:path extrusionOk="0" h="41275" w="9142730">
                  <a:moveTo>
                    <a:pt x="9142476" y="0"/>
                  </a:moveTo>
                  <a:lnTo>
                    <a:pt x="9142476" y="41147"/>
                  </a:lnTo>
                </a:path>
              </a:pathLst>
            </a:custGeom>
            <a:noFill/>
            <a:ln cap="flat" cmpd="sng" w="9525">
              <a:solidFill>
                <a:srgbClr val="8787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39" name="Google Shape;839;p48"/>
          <p:cNvSpPr txBox="1"/>
          <p:nvPr/>
        </p:nvSpPr>
        <p:spPr>
          <a:xfrm>
            <a:off x="1348295" y="5598345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8"/>
          <p:cNvSpPr txBox="1"/>
          <p:nvPr/>
        </p:nvSpPr>
        <p:spPr>
          <a:xfrm>
            <a:off x="1187397" y="4862035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8"/>
          <p:cNvSpPr txBox="1"/>
          <p:nvPr/>
        </p:nvSpPr>
        <p:spPr>
          <a:xfrm>
            <a:off x="1251782" y="4125725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8"/>
          <p:cNvSpPr txBox="1"/>
          <p:nvPr/>
        </p:nvSpPr>
        <p:spPr>
          <a:xfrm>
            <a:off x="1187397" y="3389415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8"/>
          <p:cNvSpPr txBox="1"/>
          <p:nvPr/>
        </p:nvSpPr>
        <p:spPr>
          <a:xfrm>
            <a:off x="1251782" y="2653105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8"/>
          <p:cNvSpPr txBox="1"/>
          <p:nvPr/>
        </p:nvSpPr>
        <p:spPr>
          <a:xfrm>
            <a:off x="1187397" y="1916795"/>
            <a:ext cx="251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0.25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8"/>
          <p:cNvSpPr txBox="1"/>
          <p:nvPr/>
        </p:nvSpPr>
        <p:spPr>
          <a:xfrm>
            <a:off x="1251782" y="1180485"/>
            <a:ext cx="18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8"/>
          <p:cNvSpPr txBox="1"/>
          <p:nvPr/>
        </p:nvSpPr>
        <p:spPr>
          <a:xfrm>
            <a:off x="2069679" y="5763290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8"/>
          <p:cNvSpPr txBox="1"/>
          <p:nvPr/>
        </p:nvSpPr>
        <p:spPr>
          <a:xfrm>
            <a:off x="3155866" y="576329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1/7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8"/>
          <p:cNvSpPr txBox="1"/>
          <p:nvPr/>
        </p:nvSpPr>
        <p:spPr>
          <a:xfrm>
            <a:off x="4298848" y="576329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2/7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8"/>
          <p:cNvSpPr txBox="1"/>
          <p:nvPr/>
        </p:nvSpPr>
        <p:spPr>
          <a:xfrm>
            <a:off x="5293075" y="5749507"/>
            <a:ext cx="1494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1612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3/7	4/7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Gray levels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1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0" name="Google Shape;850;p48"/>
          <p:cNvSpPr txBox="1"/>
          <p:nvPr/>
        </p:nvSpPr>
        <p:spPr>
          <a:xfrm>
            <a:off x="7727792" y="576329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5/7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8"/>
          <p:cNvSpPr txBox="1"/>
          <p:nvPr/>
        </p:nvSpPr>
        <p:spPr>
          <a:xfrm>
            <a:off x="8870774" y="5763290"/>
            <a:ext cx="202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6/7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48"/>
          <p:cNvSpPr txBox="1"/>
          <p:nvPr/>
        </p:nvSpPr>
        <p:spPr>
          <a:xfrm>
            <a:off x="10070424" y="5763290"/>
            <a:ext cx="8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8"/>
          <p:cNvSpPr/>
          <p:nvPr/>
        </p:nvSpPr>
        <p:spPr>
          <a:xfrm>
            <a:off x="10890504" y="3432047"/>
            <a:ext cx="68579" cy="70485"/>
          </a:xfrm>
          <a:custGeom>
            <a:rect b="b" l="l" r="r" t="t"/>
            <a:pathLst>
              <a:path extrusionOk="0" h="70485" w="68579">
                <a:moveTo>
                  <a:pt x="68579" y="0"/>
                </a:moveTo>
                <a:lnTo>
                  <a:pt x="0" y="0"/>
                </a:lnTo>
                <a:lnTo>
                  <a:pt x="0" y="70103"/>
                </a:lnTo>
                <a:lnTo>
                  <a:pt x="68579" y="70103"/>
                </a:lnTo>
                <a:lnTo>
                  <a:pt x="68579" y="0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4" name="Google Shape;854;p48"/>
          <p:cNvSpPr txBox="1"/>
          <p:nvPr/>
        </p:nvSpPr>
        <p:spPr>
          <a:xfrm>
            <a:off x="10976988" y="3285411"/>
            <a:ext cx="26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pr(r)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ps(s)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8"/>
          <p:cNvSpPr/>
          <p:nvPr/>
        </p:nvSpPr>
        <p:spPr>
          <a:xfrm>
            <a:off x="10890504" y="3660647"/>
            <a:ext cx="68579" cy="70485"/>
          </a:xfrm>
          <a:custGeom>
            <a:rect b="b" l="l" r="r" t="t"/>
            <a:pathLst>
              <a:path extrusionOk="0" h="70485" w="68579">
                <a:moveTo>
                  <a:pt x="68579" y="0"/>
                </a:moveTo>
                <a:lnTo>
                  <a:pt x="0" y="0"/>
                </a:lnTo>
                <a:lnTo>
                  <a:pt x="0" y="70104"/>
                </a:lnTo>
                <a:lnTo>
                  <a:pt x="68579" y="70104"/>
                </a:lnTo>
                <a:lnTo>
                  <a:pt x="68579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6" name="Google Shape;856;p48"/>
          <p:cNvSpPr txBox="1"/>
          <p:nvPr/>
        </p:nvSpPr>
        <p:spPr>
          <a:xfrm>
            <a:off x="4398753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57" name="Google Shape;857;p48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58" name="Google Shape;858;p48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5" name="Google Shape;865;p49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Examples of	Histogram Equalization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66" name="Google Shape;86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4735" y="3879131"/>
            <a:ext cx="4354408" cy="231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5198" y="1155783"/>
            <a:ext cx="4260646" cy="231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980" y="3983735"/>
            <a:ext cx="3505200" cy="1726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980" y="1489833"/>
            <a:ext cx="3505200" cy="166637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49"/>
          <p:cNvSpPr txBox="1"/>
          <p:nvPr/>
        </p:nvSpPr>
        <p:spPr>
          <a:xfrm>
            <a:off x="4578911" y="2004334"/>
            <a:ext cx="81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1" name="Google Shape;871;p49"/>
          <p:cNvSpPr txBox="1"/>
          <p:nvPr/>
        </p:nvSpPr>
        <p:spPr>
          <a:xfrm>
            <a:off x="4573196" y="4362114"/>
            <a:ext cx="1039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Equalized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2" name="Google Shape;872;p49"/>
          <p:cNvSpPr txBox="1"/>
          <p:nvPr/>
        </p:nvSpPr>
        <p:spPr>
          <a:xfrm>
            <a:off x="10275851" y="2076800"/>
            <a:ext cx="1039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43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3" name="Google Shape;873;p49"/>
          <p:cNvSpPr txBox="1"/>
          <p:nvPr/>
        </p:nvSpPr>
        <p:spPr>
          <a:xfrm>
            <a:off x="10286596" y="4398462"/>
            <a:ext cx="12021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after Equalization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4" name="Google Shape;874;p49"/>
          <p:cNvSpPr txBox="1"/>
          <p:nvPr/>
        </p:nvSpPr>
        <p:spPr>
          <a:xfrm>
            <a:off x="4398753" y="65379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5" name="Google Shape;875;p49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6" name="Google Shape;876;p4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3" name="Google Shape;883;p50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Examples of	Histogram Equalization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84" name="Google Shape;88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" y="1117091"/>
            <a:ext cx="3436607" cy="2560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708" y="3764279"/>
            <a:ext cx="3413759" cy="256031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50"/>
          <p:cNvSpPr txBox="1"/>
          <p:nvPr/>
        </p:nvSpPr>
        <p:spPr>
          <a:xfrm>
            <a:off x="4650740" y="2223009"/>
            <a:ext cx="81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87" name="Google Shape;887;p50"/>
          <p:cNvSpPr txBox="1"/>
          <p:nvPr/>
        </p:nvSpPr>
        <p:spPr>
          <a:xfrm>
            <a:off x="4650753" y="4661475"/>
            <a:ext cx="12021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Equalized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88" name="Google Shape;888;p50"/>
          <p:cNvSpPr txBox="1"/>
          <p:nvPr/>
        </p:nvSpPr>
        <p:spPr>
          <a:xfrm>
            <a:off x="10441863" y="2223009"/>
            <a:ext cx="1039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89" name="Google Shape;889;p50"/>
          <p:cNvSpPr txBox="1"/>
          <p:nvPr/>
        </p:nvSpPr>
        <p:spPr>
          <a:xfrm>
            <a:off x="10482783" y="4890085"/>
            <a:ext cx="12021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after Equalization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90" name="Google Shape;890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3640" y="1159764"/>
            <a:ext cx="4243077" cy="241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600" y="3628650"/>
            <a:ext cx="4454600" cy="2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50"/>
          <p:cNvSpPr txBox="1"/>
          <p:nvPr/>
        </p:nvSpPr>
        <p:spPr>
          <a:xfrm>
            <a:off x="4398753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93" name="Google Shape;893;p50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94" name="Google Shape;894;p5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1" name="Google Shape;901;p51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Examples of	Histogram Equalization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02" name="Google Shape;90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28700"/>
            <a:ext cx="3581399" cy="22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51"/>
          <p:cNvSpPr txBox="1"/>
          <p:nvPr/>
        </p:nvSpPr>
        <p:spPr>
          <a:xfrm>
            <a:off x="4686922" y="1827807"/>
            <a:ext cx="81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4" name="Google Shape;904;p51"/>
          <p:cNvSpPr txBox="1"/>
          <p:nvPr/>
        </p:nvSpPr>
        <p:spPr>
          <a:xfrm>
            <a:off x="4704067" y="4425160"/>
            <a:ext cx="1039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Equalized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5" name="Google Shape;905;p51"/>
          <p:cNvSpPr txBox="1"/>
          <p:nvPr/>
        </p:nvSpPr>
        <p:spPr>
          <a:xfrm>
            <a:off x="10714646" y="2103955"/>
            <a:ext cx="1039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43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6" name="Google Shape;906;p51"/>
          <p:cNvSpPr txBox="1"/>
          <p:nvPr/>
        </p:nvSpPr>
        <p:spPr>
          <a:xfrm>
            <a:off x="10633950" y="4615126"/>
            <a:ext cx="12021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after Equalization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07" name="Google Shape;90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5671" y="1198691"/>
            <a:ext cx="4572903" cy="223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9759" y="3816096"/>
            <a:ext cx="4800599" cy="249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33800"/>
            <a:ext cx="3581387" cy="2279903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51"/>
          <p:cNvSpPr txBox="1"/>
          <p:nvPr/>
        </p:nvSpPr>
        <p:spPr>
          <a:xfrm>
            <a:off x="4398678" y="65486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11" name="Google Shape;911;p51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12" name="Google Shape;912;p5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9" name="Google Shape;919;p5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0" name="Google Shape;920;p5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1" name="Google Shape;921;p52"/>
          <p:cNvSpPr txBox="1"/>
          <p:nvPr/>
        </p:nvSpPr>
        <p:spPr>
          <a:xfrm>
            <a:off x="75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Examples of	Histogram Equalization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22" name="Google Shape;92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066800"/>
            <a:ext cx="3474719" cy="257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3733800"/>
            <a:ext cx="3474719" cy="260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7191" y="1066810"/>
            <a:ext cx="4470387" cy="258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5292" y="3753611"/>
            <a:ext cx="4470399" cy="2647187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2"/>
          <p:cNvSpPr txBox="1"/>
          <p:nvPr/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27" name="Google Shape;927;p52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4" name="Google Shape;934;p5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5" name="Google Shape;935;p5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6" name="Google Shape;936;p53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Equalization - Summary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7" name="Google Shape;937;p53"/>
          <p:cNvSpPr txBox="1"/>
          <p:nvPr/>
        </p:nvSpPr>
        <p:spPr>
          <a:xfrm>
            <a:off x="304950" y="1371175"/>
            <a:ext cx="11582400" cy="3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Goal of histogram equalization is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to obtain a uniform histogram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for the output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39370" rtl="0" algn="l">
              <a:lnSpc>
                <a:spcPct val="100000"/>
              </a:lnSpc>
              <a:spcBef>
                <a:spcPts val="470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Histogram equalization causes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histogram with closely grouped values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to spread out into a flat region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647700" rtl="0" algn="l">
              <a:lnSpc>
                <a:spcPct val="100000"/>
              </a:lnSpc>
              <a:spcBef>
                <a:spcPts val="470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Spreading or flattening the histogram makes the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dark pixels appear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darker and the light pixels appear lighter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8" name="Google Shape;938;p53"/>
          <p:cNvSpPr txBox="1"/>
          <p:nvPr/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9" name="Google Shape;939;p53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40" name="Google Shape;940;p53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7" name="Google Shape;947;p5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8" name="Google Shape;948;p5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9" name="Google Shape;949;p54"/>
          <p:cNvSpPr txBox="1"/>
          <p:nvPr/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Bell MT"/>
                <a:ea typeface="Bell MT"/>
                <a:cs typeface="Bell MT"/>
                <a:sym typeface="Bell MT"/>
              </a:rPr>
              <a:t>Histogram Equalization - Summary</a:t>
            </a:r>
            <a:endParaRPr sz="4000">
              <a:solidFill>
                <a:srgbClr val="00000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50" name="Google Shape;950;p54"/>
          <p:cNvSpPr txBox="1"/>
          <p:nvPr/>
        </p:nvSpPr>
        <p:spPr>
          <a:xfrm>
            <a:off x="304801" y="1255200"/>
            <a:ext cx="11582400" cy="4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Histogram equalization is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 point process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539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Histogram equalization does not introduce </a:t>
            </a:r>
            <a:r>
              <a:rPr b="1" lang="en-US" sz="32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new intensities</a:t>
            </a:r>
            <a:r>
              <a:rPr b="1" lang="en-US" sz="3200" u="none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 in the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81280" rtl="0" algn="l">
              <a:lnSpc>
                <a:spcPct val="100000"/>
              </a:lnSpc>
              <a:spcBef>
                <a:spcPts val="535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Existing values will be mapped to new values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keeping actual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number of intensities in the resulting image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equal or less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than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the original number of	intensities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51" name="Google Shape;951;p54"/>
          <p:cNvSpPr txBox="1"/>
          <p:nvPr/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52" name="Google Shape;952;p54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53" name="Google Shape;953;p54"/>
          <p:cNvSpPr txBox="1"/>
          <p:nvPr/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‹#›</a:t>
            </a:fld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5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0" name="Google Shape;960;p55"/>
          <p:cNvSpPr txBox="1"/>
          <p:nvPr/>
        </p:nvSpPr>
        <p:spPr>
          <a:xfrm>
            <a:off x="3490350" y="2874900"/>
            <a:ext cx="521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1" name="Google Shape;961;p55"/>
          <p:cNvSpPr txBox="1"/>
          <p:nvPr/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Bell MT"/>
                <a:ea typeface="Bell MT"/>
                <a:cs typeface="Bell MT"/>
                <a:sym typeface="Bell MT"/>
              </a:rPr>
              <a:t>PEC-CS416-Computer Vision</a:t>
            </a:r>
            <a:endParaRPr sz="1200">
              <a:solidFill>
                <a:srgbClr val="FFFFFF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5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7" name="Google Shape;967;p56"/>
          <p:cNvSpPr txBox="1"/>
          <p:nvPr>
            <p:ph idx="4294967295" type="title"/>
          </p:nvPr>
        </p:nvSpPr>
        <p:spPr>
          <a:xfrm>
            <a:off x="0" y="141075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Histogram Processing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8" name="Google Shape;968;p56"/>
          <p:cNvSpPr txBox="1"/>
          <p:nvPr/>
        </p:nvSpPr>
        <p:spPr>
          <a:xfrm>
            <a:off x="3733800" y="2555166"/>
            <a:ext cx="4481100" cy="1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- 3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Histogram Specification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(Histogram Matching)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9" name="Google Shape;969;p5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70" name="Google Shape;970;p5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1" name="Google Shape;971;p5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7" name="Google Shape;977;p5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8" name="Google Shape;978;p57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Quick Review: </a:t>
            </a:r>
            <a:r>
              <a:rPr lang="en-US" sz="3600">
                <a:solidFill>
                  <a:srgbClr val="00B0F0"/>
                </a:solidFill>
              </a:rPr>
              <a:t>Histogram Equalization</a:t>
            </a:r>
            <a:endParaRPr sz="3600"/>
          </a:p>
        </p:txBody>
      </p:sp>
      <p:sp>
        <p:nvSpPr>
          <p:cNvPr id="979" name="Google Shape;979;p57"/>
          <p:cNvSpPr txBox="1"/>
          <p:nvPr/>
        </p:nvSpPr>
        <p:spPr>
          <a:xfrm>
            <a:off x="751701" y="1072063"/>
            <a:ext cx="111990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Histogram equalization transforms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an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 histogram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of an image 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   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an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equalized (uniform) histogram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980" name="Google Shape;980;p57"/>
          <p:cNvGrpSpPr/>
          <p:nvPr/>
        </p:nvGrpSpPr>
        <p:grpSpPr>
          <a:xfrm>
            <a:off x="1034796" y="2300601"/>
            <a:ext cx="3505200" cy="3871598"/>
            <a:chOff x="1034796" y="2300601"/>
            <a:chExt cx="3505200" cy="3871598"/>
          </a:xfrm>
        </p:grpSpPr>
        <p:pic>
          <p:nvPicPr>
            <p:cNvPr id="981" name="Google Shape;981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4796" y="4445507"/>
              <a:ext cx="3505200" cy="17266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2" name="Google Shape;982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796" y="2300601"/>
              <a:ext cx="3505200" cy="16663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3" name="Google Shape;983;p57"/>
          <p:cNvSpPr txBox="1"/>
          <p:nvPr/>
        </p:nvSpPr>
        <p:spPr>
          <a:xfrm>
            <a:off x="4630959" y="2815198"/>
            <a:ext cx="81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84" name="Google Shape;984;p57"/>
          <p:cNvSpPr txBox="1"/>
          <p:nvPr/>
        </p:nvSpPr>
        <p:spPr>
          <a:xfrm>
            <a:off x="4625244" y="4824593"/>
            <a:ext cx="1039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Equalized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85" name="Google Shape;985;p57"/>
          <p:cNvSpPr txBox="1"/>
          <p:nvPr/>
        </p:nvSpPr>
        <p:spPr>
          <a:xfrm>
            <a:off x="10084441" y="2663408"/>
            <a:ext cx="1039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43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986" name="Google Shape;986;p57"/>
          <p:cNvGrpSpPr/>
          <p:nvPr/>
        </p:nvGrpSpPr>
        <p:grpSpPr>
          <a:xfrm>
            <a:off x="5693663" y="2033035"/>
            <a:ext cx="4319333" cy="4421104"/>
            <a:chOff x="5693663" y="2033035"/>
            <a:chExt cx="4319333" cy="4421104"/>
          </a:xfrm>
        </p:grpSpPr>
        <p:pic>
          <p:nvPicPr>
            <p:cNvPr id="987" name="Google Shape;987;p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45548" y="2033035"/>
              <a:ext cx="3982504" cy="2165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8" name="Google Shape;988;p5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93663" y="4184903"/>
              <a:ext cx="4319333" cy="22692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9" name="Google Shape;989;p57"/>
          <p:cNvSpPr txBox="1"/>
          <p:nvPr/>
        </p:nvSpPr>
        <p:spPr>
          <a:xfrm>
            <a:off x="10095175" y="4728575"/>
            <a:ext cx="159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Histogram after Equalization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90" name="Google Shape;990;p57"/>
          <p:cNvSpPr txBox="1"/>
          <p:nvPr>
            <p:ph idx="11" type="ftr"/>
          </p:nvPr>
        </p:nvSpPr>
        <p:spPr>
          <a:xfrm>
            <a:off x="4398740" y="65385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91" name="Google Shape;991;p5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2" name="Google Shape;992;p5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8" name="Google Shape;998;p5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9" name="Google Shape;999;p5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00" name="Google Shape;1000;p58"/>
          <p:cNvSpPr txBox="1"/>
          <p:nvPr/>
        </p:nvSpPr>
        <p:spPr>
          <a:xfrm>
            <a:off x="688340" y="960907"/>
            <a:ext cx="60459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Histogram Specification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Also known as </a:t>
            </a: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Histogram Matching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01" name="Google Shape;1001;p5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02" name="Google Shape;1002;p5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" name="Google Shape;1003;p5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09" name="Google Shape;1009;p59"/>
          <p:cNvGrpSpPr/>
          <p:nvPr/>
        </p:nvGrpSpPr>
        <p:grpSpPr>
          <a:xfrm>
            <a:off x="304800" y="526539"/>
            <a:ext cx="11582400" cy="1719261"/>
            <a:chOff x="304800" y="526539"/>
            <a:chExt cx="11582400" cy="1719261"/>
          </a:xfrm>
        </p:grpSpPr>
        <p:sp>
          <p:nvSpPr>
            <p:cNvPr id="1010" name="Google Shape;1010;p59"/>
            <p:cNvSpPr/>
            <p:nvPr/>
          </p:nvSpPr>
          <p:spPr>
            <a:xfrm>
              <a:off x="304800" y="975359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59"/>
            <p:cNvSpPr/>
            <p:nvPr/>
          </p:nvSpPr>
          <p:spPr>
            <a:xfrm>
              <a:off x="6633209" y="2202941"/>
              <a:ext cx="1833879" cy="0"/>
            </a:xfrm>
            <a:custGeom>
              <a:rect b="b" l="l" r="r" t="t"/>
              <a:pathLst>
                <a:path extrusionOk="0" h="120000" w="1833879">
                  <a:moveTo>
                    <a:pt x="0" y="0"/>
                  </a:moveTo>
                  <a:lnTo>
                    <a:pt x="18335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59"/>
            <p:cNvSpPr/>
            <p:nvPr/>
          </p:nvSpPr>
          <p:spPr>
            <a:xfrm>
              <a:off x="8452487" y="2160075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59"/>
            <p:cNvSpPr/>
            <p:nvPr/>
          </p:nvSpPr>
          <p:spPr>
            <a:xfrm>
              <a:off x="6633209" y="597979"/>
              <a:ext cx="0" cy="1605280"/>
            </a:xfrm>
            <a:custGeom>
              <a:rect b="b" l="l" r="r" t="t"/>
              <a:pathLst>
                <a:path extrusionOk="0" h="1605280" w="120000">
                  <a:moveTo>
                    <a:pt x="0" y="16049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59"/>
            <p:cNvSpPr/>
            <p:nvPr/>
          </p:nvSpPr>
          <p:spPr>
            <a:xfrm>
              <a:off x="6590352" y="526539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15" name="Google Shape;1015;p5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140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Histogram Specification</a:t>
            </a:r>
            <a:endParaRPr/>
          </a:p>
        </p:txBody>
      </p:sp>
      <p:pic>
        <p:nvPicPr>
          <p:cNvPr id="1016" name="Google Shape;101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1036320"/>
            <a:ext cx="2551175" cy="252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358896"/>
            <a:ext cx="2473452" cy="2520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8" name="Google Shape;1018;p59"/>
          <p:cNvGrpSpPr/>
          <p:nvPr/>
        </p:nvGrpSpPr>
        <p:grpSpPr>
          <a:xfrm>
            <a:off x="7658675" y="3358895"/>
            <a:ext cx="4228523" cy="2520695"/>
            <a:chOff x="7658675" y="3358895"/>
            <a:chExt cx="4228523" cy="2520695"/>
          </a:xfrm>
        </p:grpSpPr>
        <p:pic>
          <p:nvPicPr>
            <p:cNvPr id="1019" name="Google Shape;1019;p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66503" y="3358895"/>
              <a:ext cx="2520695" cy="25206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0" name="Google Shape;1020;p59"/>
            <p:cNvSpPr/>
            <p:nvPr/>
          </p:nvSpPr>
          <p:spPr>
            <a:xfrm>
              <a:off x="7701533" y="5474970"/>
              <a:ext cx="1833879" cy="0"/>
            </a:xfrm>
            <a:custGeom>
              <a:rect b="b" l="l" r="r" t="t"/>
              <a:pathLst>
                <a:path extrusionOk="0" h="120000" w="1833879">
                  <a:moveTo>
                    <a:pt x="0" y="0"/>
                  </a:moveTo>
                  <a:lnTo>
                    <a:pt x="18335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59"/>
            <p:cNvSpPr/>
            <p:nvPr/>
          </p:nvSpPr>
          <p:spPr>
            <a:xfrm>
              <a:off x="9520811" y="5432103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2" name="Google Shape;1022;p59"/>
            <p:cNvSpPr/>
            <p:nvPr/>
          </p:nvSpPr>
          <p:spPr>
            <a:xfrm>
              <a:off x="7701533" y="3870007"/>
              <a:ext cx="0" cy="1605279"/>
            </a:xfrm>
            <a:custGeom>
              <a:rect b="b" l="l" r="r" t="t"/>
              <a:pathLst>
                <a:path extrusionOk="0" h="1605279" w="120000">
                  <a:moveTo>
                    <a:pt x="0" y="16049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3" name="Google Shape;1023;p59"/>
            <p:cNvSpPr/>
            <p:nvPr/>
          </p:nvSpPr>
          <p:spPr>
            <a:xfrm>
              <a:off x="7658675" y="3798567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4" name="Google Shape;1024;p59"/>
          <p:cNvSpPr/>
          <p:nvPr/>
        </p:nvSpPr>
        <p:spPr>
          <a:xfrm>
            <a:off x="800862" y="6026658"/>
            <a:ext cx="1637030" cy="368935"/>
          </a:xfrm>
          <a:custGeom>
            <a:rect b="b" l="l" r="r" t="t"/>
            <a:pathLst>
              <a:path extrusionOk="0" h="368935" w="1637030">
                <a:moveTo>
                  <a:pt x="0" y="61467"/>
                </a:moveTo>
                <a:lnTo>
                  <a:pt x="4830" y="37542"/>
                </a:lnTo>
                <a:lnTo>
                  <a:pt x="18003" y="18003"/>
                </a:lnTo>
                <a:lnTo>
                  <a:pt x="37542" y="4830"/>
                </a:lnTo>
                <a:lnTo>
                  <a:pt x="61468" y="0"/>
                </a:lnTo>
                <a:lnTo>
                  <a:pt x="1575308" y="0"/>
                </a:lnTo>
                <a:lnTo>
                  <a:pt x="1599233" y="4830"/>
                </a:lnTo>
                <a:lnTo>
                  <a:pt x="1618772" y="18003"/>
                </a:lnTo>
                <a:lnTo>
                  <a:pt x="1631945" y="37542"/>
                </a:lnTo>
                <a:lnTo>
                  <a:pt x="1636776" y="61467"/>
                </a:lnTo>
                <a:lnTo>
                  <a:pt x="1636776" y="307339"/>
                </a:lnTo>
                <a:lnTo>
                  <a:pt x="1631945" y="331265"/>
                </a:lnTo>
                <a:lnTo>
                  <a:pt x="1618772" y="350804"/>
                </a:lnTo>
                <a:lnTo>
                  <a:pt x="1599233" y="363977"/>
                </a:lnTo>
                <a:lnTo>
                  <a:pt x="1575308" y="368807"/>
                </a:lnTo>
                <a:lnTo>
                  <a:pt x="61468" y="368807"/>
                </a:lnTo>
                <a:lnTo>
                  <a:pt x="37542" y="363977"/>
                </a:lnTo>
                <a:lnTo>
                  <a:pt x="18003" y="350804"/>
                </a:lnTo>
                <a:lnTo>
                  <a:pt x="4830" y="331265"/>
                </a:lnTo>
                <a:lnTo>
                  <a:pt x="0" y="307339"/>
                </a:lnTo>
                <a:lnTo>
                  <a:pt x="0" y="61467"/>
                </a:lnTo>
                <a:close/>
              </a:path>
            </a:pathLst>
          </a:cu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5" name="Google Shape;1025;p59"/>
          <p:cNvSpPr txBox="1"/>
          <p:nvPr/>
        </p:nvSpPr>
        <p:spPr>
          <a:xfrm>
            <a:off x="929369" y="6036396"/>
            <a:ext cx="1376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Input Image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59"/>
          <p:cNvSpPr/>
          <p:nvPr/>
        </p:nvSpPr>
        <p:spPr>
          <a:xfrm>
            <a:off x="4138421" y="3729991"/>
            <a:ext cx="2094229" cy="364489"/>
          </a:xfrm>
          <a:custGeom>
            <a:rect b="b" l="l" r="r" t="t"/>
            <a:pathLst>
              <a:path extrusionOk="0" h="364489" w="2094229">
                <a:moveTo>
                  <a:pt x="0" y="60705"/>
                </a:moveTo>
                <a:lnTo>
                  <a:pt x="4770" y="37076"/>
                </a:lnTo>
                <a:lnTo>
                  <a:pt x="17780" y="17779"/>
                </a:lnTo>
                <a:lnTo>
                  <a:pt x="37076" y="4770"/>
                </a:lnTo>
                <a:lnTo>
                  <a:pt x="60706" y="0"/>
                </a:lnTo>
                <a:lnTo>
                  <a:pt x="2033270" y="0"/>
                </a:lnTo>
                <a:lnTo>
                  <a:pt x="2056899" y="4770"/>
                </a:lnTo>
                <a:lnTo>
                  <a:pt x="2076195" y="17779"/>
                </a:lnTo>
                <a:lnTo>
                  <a:pt x="2089205" y="37076"/>
                </a:lnTo>
                <a:lnTo>
                  <a:pt x="2093976" y="60705"/>
                </a:lnTo>
                <a:lnTo>
                  <a:pt x="2093976" y="303529"/>
                </a:lnTo>
                <a:lnTo>
                  <a:pt x="2089205" y="327159"/>
                </a:lnTo>
                <a:lnTo>
                  <a:pt x="2076196" y="346455"/>
                </a:lnTo>
                <a:lnTo>
                  <a:pt x="2056899" y="359465"/>
                </a:lnTo>
                <a:lnTo>
                  <a:pt x="2033270" y="364235"/>
                </a:lnTo>
                <a:lnTo>
                  <a:pt x="60706" y="364235"/>
                </a:lnTo>
                <a:lnTo>
                  <a:pt x="37076" y="359465"/>
                </a:lnTo>
                <a:lnTo>
                  <a:pt x="17780" y="346455"/>
                </a:lnTo>
                <a:lnTo>
                  <a:pt x="4770" y="327159"/>
                </a:lnTo>
                <a:lnTo>
                  <a:pt x="0" y="303529"/>
                </a:lnTo>
                <a:lnTo>
                  <a:pt x="0" y="60705"/>
                </a:lnTo>
                <a:close/>
              </a:path>
            </a:pathLst>
          </a:cu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7" name="Google Shape;1027;p59"/>
          <p:cNvSpPr txBox="1"/>
          <p:nvPr/>
        </p:nvSpPr>
        <p:spPr>
          <a:xfrm>
            <a:off x="4444950" y="3737350"/>
            <a:ext cx="1637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Target Image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p59"/>
          <p:cNvSpPr/>
          <p:nvPr/>
        </p:nvSpPr>
        <p:spPr>
          <a:xfrm>
            <a:off x="9702544" y="6032753"/>
            <a:ext cx="1929765" cy="368935"/>
          </a:xfrm>
          <a:custGeom>
            <a:rect b="b" l="l" r="r" t="t"/>
            <a:pathLst>
              <a:path extrusionOk="0" h="368935" w="1929765">
                <a:moveTo>
                  <a:pt x="0" y="61468"/>
                </a:moveTo>
                <a:lnTo>
                  <a:pt x="4830" y="37542"/>
                </a:lnTo>
                <a:lnTo>
                  <a:pt x="18003" y="18003"/>
                </a:lnTo>
                <a:lnTo>
                  <a:pt x="37542" y="4830"/>
                </a:lnTo>
                <a:lnTo>
                  <a:pt x="61468" y="0"/>
                </a:lnTo>
                <a:lnTo>
                  <a:pt x="1867916" y="0"/>
                </a:lnTo>
                <a:lnTo>
                  <a:pt x="1891841" y="4830"/>
                </a:lnTo>
                <a:lnTo>
                  <a:pt x="1911380" y="18003"/>
                </a:lnTo>
                <a:lnTo>
                  <a:pt x="1924553" y="37542"/>
                </a:lnTo>
                <a:lnTo>
                  <a:pt x="1929383" y="61468"/>
                </a:lnTo>
                <a:lnTo>
                  <a:pt x="1929383" y="307340"/>
                </a:lnTo>
                <a:lnTo>
                  <a:pt x="1924553" y="331265"/>
                </a:lnTo>
                <a:lnTo>
                  <a:pt x="1911380" y="350804"/>
                </a:lnTo>
                <a:lnTo>
                  <a:pt x="1891841" y="363977"/>
                </a:lnTo>
                <a:lnTo>
                  <a:pt x="1867916" y="368808"/>
                </a:lnTo>
                <a:lnTo>
                  <a:pt x="61468" y="368808"/>
                </a:lnTo>
                <a:lnTo>
                  <a:pt x="37542" y="363977"/>
                </a:lnTo>
                <a:lnTo>
                  <a:pt x="18003" y="350804"/>
                </a:lnTo>
                <a:lnTo>
                  <a:pt x="4830" y="331265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9" name="Google Shape;1029;p59"/>
          <p:cNvSpPr txBox="1"/>
          <p:nvPr/>
        </p:nvSpPr>
        <p:spPr>
          <a:xfrm>
            <a:off x="9888125" y="6041890"/>
            <a:ext cx="1557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Output Image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59"/>
          <p:cNvSpPr txBox="1"/>
          <p:nvPr/>
        </p:nvSpPr>
        <p:spPr>
          <a:xfrm>
            <a:off x="6554848" y="2245567"/>
            <a:ext cx="139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59"/>
          <p:cNvSpPr txBox="1"/>
          <p:nvPr/>
        </p:nvSpPr>
        <p:spPr>
          <a:xfrm>
            <a:off x="8008973" y="2238023"/>
            <a:ext cx="36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2" name="Google Shape;1032;p59"/>
          <p:cNvGrpSpPr/>
          <p:nvPr/>
        </p:nvGrpSpPr>
        <p:grpSpPr>
          <a:xfrm>
            <a:off x="6633209" y="1091939"/>
            <a:ext cx="1563629" cy="1122049"/>
            <a:chOff x="6633209" y="1091939"/>
            <a:chExt cx="1563629" cy="1122049"/>
          </a:xfrm>
        </p:grpSpPr>
        <p:sp>
          <p:nvSpPr>
            <p:cNvPr id="1033" name="Google Shape;1033;p59"/>
            <p:cNvSpPr/>
            <p:nvPr/>
          </p:nvSpPr>
          <p:spPr>
            <a:xfrm>
              <a:off x="6633209" y="1091939"/>
              <a:ext cx="720725" cy="1095375"/>
            </a:xfrm>
            <a:custGeom>
              <a:rect b="b" l="l" r="r" t="t"/>
              <a:pathLst>
                <a:path extrusionOk="0" h="1095375" w="720725">
                  <a:moveTo>
                    <a:pt x="0" y="1094752"/>
                  </a:moveTo>
                  <a:lnTo>
                    <a:pt x="720610" y="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59"/>
            <p:cNvSpPr/>
            <p:nvPr/>
          </p:nvSpPr>
          <p:spPr>
            <a:xfrm>
              <a:off x="7351018" y="1091943"/>
              <a:ext cx="845820" cy="1122045"/>
            </a:xfrm>
            <a:custGeom>
              <a:rect b="b" l="l" r="r" t="t"/>
              <a:pathLst>
                <a:path extrusionOk="0" h="1122045" w="845820">
                  <a:moveTo>
                    <a:pt x="845642" y="1121664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035" name="Google Shape;1035;p59"/>
          <p:cNvGrpSpPr/>
          <p:nvPr/>
        </p:nvGrpSpPr>
        <p:grpSpPr>
          <a:xfrm>
            <a:off x="2984568" y="3812283"/>
            <a:ext cx="1947859" cy="1719263"/>
            <a:chOff x="2984568" y="3812283"/>
            <a:chExt cx="1947859" cy="1719263"/>
          </a:xfrm>
        </p:grpSpPr>
        <p:sp>
          <p:nvSpPr>
            <p:cNvPr id="1036" name="Google Shape;1036;p59"/>
            <p:cNvSpPr/>
            <p:nvPr/>
          </p:nvSpPr>
          <p:spPr>
            <a:xfrm>
              <a:off x="3027426" y="5488686"/>
              <a:ext cx="1833879" cy="0"/>
            </a:xfrm>
            <a:custGeom>
              <a:rect b="b" l="l" r="r" t="t"/>
              <a:pathLst>
                <a:path extrusionOk="0" h="120000" w="1833879">
                  <a:moveTo>
                    <a:pt x="0" y="0"/>
                  </a:moveTo>
                  <a:lnTo>
                    <a:pt x="18335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59"/>
            <p:cNvSpPr/>
            <p:nvPr/>
          </p:nvSpPr>
          <p:spPr>
            <a:xfrm>
              <a:off x="4846702" y="5445821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59"/>
            <p:cNvSpPr/>
            <p:nvPr/>
          </p:nvSpPr>
          <p:spPr>
            <a:xfrm>
              <a:off x="3027426" y="3883723"/>
              <a:ext cx="0" cy="1605279"/>
            </a:xfrm>
            <a:custGeom>
              <a:rect b="b" l="l" r="r" t="t"/>
              <a:pathLst>
                <a:path extrusionOk="0" h="1605279" w="120000">
                  <a:moveTo>
                    <a:pt x="0" y="16049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59"/>
            <p:cNvSpPr/>
            <p:nvPr/>
          </p:nvSpPr>
          <p:spPr>
            <a:xfrm>
              <a:off x="2984568" y="3812283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59"/>
            <p:cNvSpPr/>
            <p:nvPr/>
          </p:nvSpPr>
          <p:spPr>
            <a:xfrm>
              <a:off x="3027426" y="4378158"/>
              <a:ext cx="1454150" cy="1099185"/>
            </a:xfrm>
            <a:custGeom>
              <a:rect b="b" l="l" r="r" t="t"/>
              <a:pathLst>
                <a:path extrusionOk="0" h="1099185" w="1454150">
                  <a:moveTo>
                    <a:pt x="0" y="1094295"/>
                  </a:moveTo>
                  <a:lnTo>
                    <a:pt x="13273" y="1027344"/>
                  </a:lnTo>
                  <a:lnTo>
                    <a:pt x="26558" y="960616"/>
                  </a:lnTo>
                  <a:lnTo>
                    <a:pt x="39865" y="894334"/>
                  </a:lnTo>
                  <a:lnTo>
                    <a:pt x="53207" y="828720"/>
                  </a:lnTo>
                  <a:lnTo>
                    <a:pt x="66594" y="763997"/>
                  </a:lnTo>
                  <a:lnTo>
                    <a:pt x="80038" y="700389"/>
                  </a:lnTo>
                  <a:lnTo>
                    <a:pt x="93551" y="638117"/>
                  </a:lnTo>
                  <a:lnTo>
                    <a:pt x="107143" y="577405"/>
                  </a:lnTo>
                  <a:lnTo>
                    <a:pt x="120826" y="518476"/>
                  </a:lnTo>
                  <a:lnTo>
                    <a:pt x="134612" y="461553"/>
                  </a:lnTo>
                  <a:lnTo>
                    <a:pt x="148511" y="406858"/>
                  </a:lnTo>
                  <a:lnTo>
                    <a:pt x="162536" y="354614"/>
                  </a:lnTo>
                  <a:lnTo>
                    <a:pt x="176697" y="305044"/>
                  </a:lnTo>
                  <a:lnTo>
                    <a:pt x="191006" y="258371"/>
                  </a:lnTo>
                  <a:lnTo>
                    <a:pt x="205475" y="214818"/>
                  </a:lnTo>
                  <a:lnTo>
                    <a:pt x="220114" y="174607"/>
                  </a:lnTo>
                  <a:lnTo>
                    <a:pt x="234935" y="137962"/>
                  </a:lnTo>
                  <a:lnTo>
                    <a:pt x="265170" y="76260"/>
                  </a:lnTo>
                  <a:lnTo>
                    <a:pt x="296270" y="31494"/>
                  </a:lnTo>
                  <a:lnTo>
                    <a:pt x="328326" y="5446"/>
                  </a:lnTo>
                  <a:lnTo>
                    <a:pt x="344741" y="0"/>
                  </a:lnTo>
                  <a:lnTo>
                    <a:pt x="361294" y="1365"/>
                  </a:lnTo>
                  <a:lnTo>
                    <a:pt x="394493" y="27285"/>
                  </a:lnTo>
                  <a:lnTo>
                    <a:pt x="427964" y="79959"/>
                  </a:lnTo>
                  <a:lnTo>
                    <a:pt x="444859" y="114767"/>
                  </a:lnTo>
                  <a:lnTo>
                    <a:pt x="461891" y="154389"/>
                  </a:lnTo>
                  <a:lnTo>
                    <a:pt x="479082" y="198202"/>
                  </a:lnTo>
                  <a:lnTo>
                    <a:pt x="496455" y="245581"/>
                  </a:lnTo>
                  <a:lnTo>
                    <a:pt x="514033" y="295900"/>
                  </a:lnTo>
                  <a:lnTo>
                    <a:pt x="531839" y="348535"/>
                  </a:lnTo>
                  <a:lnTo>
                    <a:pt x="549895" y="402863"/>
                  </a:lnTo>
                  <a:lnTo>
                    <a:pt x="568225" y="458257"/>
                  </a:lnTo>
                  <a:lnTo>
                    <a:pt x="586850" y="514093"/>
                  </a:lnTo>
                  <a:lnTo>
                    <a:pt x="605795" y="569748"/>
                  </a:lnTo>
                  <a:lnTo>
                    <a:pt x="625081" y="624596"/>
                  </a:lnTo>
                  <a:lnTo>
                    <a:pt x="644731" y="678012"/>
                  </a:lnTo>
                  <a:lnTo>
                    <a:pt x="664768" y="729373"/>
                  </a:lnTo>
                  <a:lnTo>
                    <a:pt x="685216" y="778053"/>
                  </a:lnTo>
                  <a:lnTo>
                    <a:pt x="706096" y="823428"/>
                  </a:lnTo>
                  <a:lnTo>
                    <a:pt x="727431" y="864873"/>
                  </a:lnTo>
                  <a:lnTo>
                    <a:pt x="749245" y="901763"/>
                  </a:lnTo>
                  <a:lnTo>
                    <a:pt x="771559" y="933475"/>
                  </a:lnTo>
                  <a:lnTo>
                    <a:pt x="975432" y="1057406"/>
                  </a:lnTo>
                  <a:lnTo>
                    <a:pt x="1193469" y="1095233"/>
                  </a:lnTo>
                  <a:lnTo>
                    <a:pt x="1376845" y="1098863"/>
                  </a:lnTo>
                  <a:lnTo>
                    <a:pt x="1453896" y="1094295"/>
                  </a:lnTo>
                </a:path>
              </a:pathLst>
            </a:custGeom>
            <a:noFill/>
            <a:ln cap="flat" cmpd="sng" w="380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41" name="Google Shape;1041;p59"/>
          <p:cNvSpPr txBox="1"/>
          <p:nvPr/>
        </p:nvSpPr>
        <p:spPr>
          <a:xfrm>
            <a:off x="2949233" y="5532201"/>
            <a:ext cx="139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59"/>
          <p:cNvSpPr txBox="1"/>
          <p:nvPr/>
        </p:nvSpPr>
        <p:spPr>
          <a:xfrm>
            <a:off x="4403357" y="5524657"/>
            <a:ext cx="36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p59"/>
          <p:cNvSpPr txBox="1"/>
          <p:nvPr/>
        </p:nvSpPr>
        <p:spPr>
          <a:xfrm>
            <a:off x="7622540" y="5517366"/>
            <a:ext cx="139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59"/>
          <p:cNvSpPr txBox="1"/>
          <p:nvPr/>
        </p:nvSpPr>
        <p:spPr>
          <a:xfrm>
            <a:off x="9076664" y="5509822"/>
            <a:ext cx="36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59"/>
          <p:cNvSpPr/>
          <p:nvPr/>
        </p:nvSpPr>
        <p:spPr>
          <a:xfrm>
            <a:off x="7719821" y="4365497"/>
            <a:ext cx="1544320" cy="1094739"/>
          </a:xfrm>
          <a:custGeom>
            <a:rect b="b" l="l" r="r" t="t"/>
            <a:pathLst>
              <a:path extrusionOk="0" h="1094739" w="1544320">
                <a:moveTo>
                  <a:pt x="0" y="1094232"/>
                </a:moveTo>
                <a:lnTo>
                  <a:pt x="23956" y="1035637"/>
                </a:lnTo>
                <a:lnTo>
                  <a:pt x="47922" y="977192"/>
                </a:lnTo>
                <a:lnTo>
                  <a:pt x="71907" y="919046"/>
                </a:lnTo>
                <a:lnTo>
                  <a:pt x="95919" y="861348"/>
                </a:lnTo>
                <a:lnTo>
                  <a:pt x="119967" y="804249"/>
                </a:lnTo>
                <a:lnTo>
                  <a:pt x="144062" y="747898"/>
                </a:lnTo>
                <a:lnTo>
                  <a:pt x="168212" y="692443"/>
                </a:lnTo>
                <a:lnTo>
                  <a:pt x="192426" y="638036"/>
                </a:lnTo>
                <a:lnTo>
                  <a:pt x="216715" y="584824"/>
                </a:lnTo>
                <a:lnTo>
                  <a:pt x="241086" y="532959"/>
                </a:lnTo>
                <a:lnTo>
                  <a:pt x="265549" y="482589"/>
                </a:lnTo>
                <a:lnTo>
                  <a:pt x="290113" y="433864"/>
                </a:lnTo>
                <a:lnTo>
                  <a:pt x="314788" y="386934"/>
                </a:lnTo>
                <a:lnTo>
                  <a:pt x="339583" y="341947"/>
                </a:lnTo>
                <a:lnTo>
                  <a:pt x="364507" y="299054"/>
                </a:lnTo>
                <a:lnTo>
                  <a:pt x="389569" y="258404"/>
                </a:lnTo>
                <a:lnTo>
                  <a:pt x="414779" y="220147"/>
                </a:lnTo>
                <a:lnTo>
                  <a:pt x="440145" y="184432"/>
                </a:lnTo>
                <a:lnTo>
                  <a:pt x="465678" y="151408"/>
                </a:lnTo>
                <a:lnTo>
                  <a:pt x="491385" y="121226"/>
                </a:lnTo>
                <a:lnTo>
                  <a:pt x="543362" y="69984"/>
                </a:lnTo>
                <a:lnTo>
                  <a:pt x="596150" y="31901"/>
                </a:lnTo>
                <a:lnTo>
                  <a:pt x="649824" y="8174"/>
                </a:lnTo>
                <a:lnTo>
                  <a:pt x="704456" y="0"/>
                </a:lnTo>
                <a:lnTo>
                  <a:pt x="944154" y="170973"/>
                </a:lnTo>
                <a:lnTo>
                  <a:pt x="1220622" y="547116"/>
                </a:lnTo>
                <a:lnTo>
                  <a:pt x="1448845" y="923258"/>
                </a:lnTo>
                <a:lnTo>
                  <a:pt x="1543812" y="1094232"/>
                </a:ln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6" name="Google Shape;1046;p5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47" name="Google Shape;1047;p5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8" name="Google Shape;1048;p5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4" name="Google Shape;1054;p6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Histogram Specification</a:t>
            </a:r>
            <a:endParaRPr/>
          </a:p>
        </p:txBody>
      </p:sp>
      <p:sp>
        <p:nvSpPr>
          <p:cNvPr id="1055" name="Google Shape;1055;p60"/>
          <p:cNvSpPr txBox="1"/>
          <p:nvPr/>
        </p:nvSpPr>
        <p:spPr>
          <a:xfrm>
            <a:off x="711890" y="1280370"/>
            <a:ext cx="107682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Histogram specification provides a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gray level transformation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such that the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histogram of the </a:t>
            </a:r>
            <a:r>
              <a:rPr i="1"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output image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matches to that of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the pre-specified histogram of	a </a:t>
            </a:r>
            <a:r>
              <a:rPr i="1"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target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6" name="Google Shape;1056;p6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7" name="Google Shape;1057;p6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58" name="Google Shape;1058;p6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9" name="Google Shape;1059;p6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6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5" name="Google Shape;1065;p6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6" name="Google Shape;1066;p6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Histogram Specification - </a:t>
            </a:r>
            <a:r>
              <a:rPr b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Flow Diagram</a:t>
            </a:r>
            <a:endParaRPr/>
          </a:p>
        </p:txBody>
      </p:sp>
      <p:grpSp>
        <p:nvGrpSpPr>
          <p:cNvPr id="1067" name="Google Shape;1067;p61"/>
          <p:cNvGrpSpPr/>
          <p:nvPr/>
        </p:nvGrpSpPr>
        <p:grpSpPr>
          <a:xfrm>
            <a:off x="1791276" y="1994150"/>
            <a:ext cx="5503349" cy="2927794"/>
            <a:chOff x="1791276" y="1994150"/>
            <a:chExt cx="5503349" cy="2927794"/>
          </a:xfrm>
        </p:grpSpPr>
        <p:sp>
          <p:nvSpPr>
            <p:cNvPr id="1068" name="Google Shape;1068;p61"/>
            <p:cNvSpPr/>
            <p:nvPr/>
          </p:nvSpPr>
          <p:spPr>
            <a:xfrm>
              <a:off x="4322825" y="1994150"/>
              <a:ext cx="2971800" cy="2856229"/>
            </a:xfrm>
            <a:custGeom>
              <a:rect b="b" l="l" r="r" t="t"/>
              <a:pathLst>
                <a:path extrusionOk="0" h="2856229" w="2971800">
                  <a:moveTo>
                    <a:pt x="0" y="476008"/>
                  </a:moveTo>
                  <a:lnTo>
                    <a:pt x="2457" y="427339"/>
                  </a:lnTo>
                  <a:lnTo>
                    <a:pt x="9670" y="380077"/>
                  </a:lnTo>
                  <a:lnTo>
                    <a:pt x="21400" y="334459"/>
                  </a:lnTo>
                  <a:lnTo>
                    <a:pt x="37407" y="290725"/>
                  </a:lnTo>
                  <a:lnTo>
                    <a:pt x="57452" y="249115"/>
                  </a:lnTo>
                  <a:lnTo>
                    <a:pt x="81295" y="209868"/>
                  </a:lnTo>
                  <a:lnTo>
                    <a:pt x="108698" y="173223"/>
                  </a:lnTo>
                  <a:lnTo>
                    <a:pt x="139420" y="139420"/>
                  </a:lnTo>
                  <a:lnTo>
                    <a:pt x="173223" y="108698"/>
                  </a:lnTo>
                  <a:lnTo>
                    <a:pt x="209868" y="81295"/>
                  </a:lnTo>
                  <a:lnTo>
                    <a:pt x="249115" y="57452"/>
                  </a:lnTo>
                  <a:lnTo>
                    <a:pt x="290725" y="37407"/>
                  </a:lnTo>
                  <a:lnTo>
                    <a:pt x="334459" y="21400"/>
                  </a:lnTo>
                  <a:lnTo>
                    <a:pt x="380077" y="9670"/>
                  </a:lnTo>
                  <a:lnTo>
                    <a:pt x="427339" y="2457"/>
                  </a:lnTo>
                  <a:lnTo>
                    <a:pt x="476008" y="0"/>
                  </a:lnTo>
                  <a:lnTo>
                    <a:pt x="2495791" y="0"/>
                  </a:lnTo>
                  <a:lnTo>
                    <a:pt x="2544460" y="2457"/>
                  </a:lnTo>
                  <a:lnTo>
                    <a:pt x="2591722" y="9670"/>
                  </a:lnTo>
                  <a:lnTo>
                    <a:pt x="2637340" y="21400"/>
                  </a:lnTo>
                  <a:lnTo>
                    <a:pt x="2681074" y="37407"/>
                  </a:lnTo>
                  <a:lnTo>
                    <a:pt x="2722684" y="57452"/>
                  </a:lnTo>
                  <a:lnTo>
                    <a:pt x="2761931" y="81295"/>
                  </a:lnTo>
                  <a:lnTo>
                    <a:pt x="2798576" y="108698"/>
                  </a:lnTo>
                  <a:lnTo>
                    <a:pt x="2832379" y="139420"/>
                  </a:lnTo>
                  <a:lnTo>
                    <a:pt x="2863101" y="173223"/>
                  </a:lnTo>
                  <a:lnTo>
                    <a:pt x="2890504" y="209868"/>
                  </a:lnTo>
                  <a:lnTo>
                    <a:pt x="2914347" y="249115"/>
                  </a:lnTo>
                  <a:lnTo>
                    <a:pt x="2934392" y="290725"/>
                  </a:lnTo>
                  <a:lnTo>
                    <a:pt x="2950399" y="334459"/>
                  </a:lnTo>
                  <a:lnTo>
                    <a:pt x="2962129" y="380077"/>
                  </a:lnTo>
                  <a:lnTo>
                    <a:pt x="2969342" y="427339"/>
                  </a:lnTo>
                  <a:lnTo>
                    <a:pt x="2971800" y="476008"/>
                  </a:lnTo>
                  <a:lnTo>
                    <a:pt x="2971800" y="2379980"/>
                  </a:lnTo>
                  <a:lnTo>
                    <a:pt x="2969342" y="2428648"/>
                  </a:lnTo>
                  <a:lnTo>
                    <a:pt x="2962129" y="2475911"/>
                  </a:lnTo>
                  <a:lnTo>
                    <a:pt x="2950399" y="2521528"/>
                  </a:lnTo>
                  <a:lnTo>
                    <a:pt x="2934392" y="2565261"/>
                  </a:lnTo>
                  <a:lnTo>
                    <a:pt x="2914347" y="2606870"/>
                  </a:lnTo>
                  <a:lnTo>
                    <a:pt x="2890504" y="2646115"/>
                  </a:lnTo>
                  <a:lnTo>
                    <a:pt x="2863101" y="2682759"/>
                  </a:lnTo>
                  <a:lnTo>
                    <a:pt x="2832379" y="2716561"/>
                  </a:lnTo>
                  <a:lnTo>
                    <a:pt x="2798576" y="2747283"/>
                  </a:lnTo>
                  <a:lnTo>
                    <a:pt x="2761931" y="2774684"/>
                  </a:lnTo>
                  <a:lnTo>
                    <a:pt x="2722684" y="2798526"/>
                  </a:lnTo>
                  <a:lnTo>
                    <a:pt x="2681074" y="2818570"/>
                  </a:lnTo>
                  <a:lnTo>
                    <a:pt x="2637340" y="2834576"/>
                  </a:lnTo>
                  <a:lnTo>
                    <a:pt x="2591722" y="2846305"/>
                  </a:lnTo>
                  <a:lnTo>
                    <a:pt x="2544460" y="2853518"/>
                  </a:lnTo>
                  <a:lnTo>
                    <a:pt x="2495791" y="2855976"/>
                  </a:lnTo>
                  <a:lnTo>
                    <a:pt x="476008" y="2855976"/>
                  </a:lnTo>
                  <a:lnTo>
                    <a:pt x="427339" y="2853518"/>
                  </a:lnTo>
                  <a:lnTo>
                    <a:pt x="380077" y="2846305"/>
                  </a:lnTo>
                  <a:lnTo>
                    <a:pt x="334459" y="2834576"/>
                  </a:lnTo>
                  <a:lnTo>
                    <a:pt x="290725" y="2818570"/>
                  </a:lnTo>
                  <a:lnTo>
                    <a:pt x="249115" y="2798526"/>
                  </a:lnTo>
                  <a:lnTo>
                    <a:pt x="209868" y="2774684"/>
                  </a:lnTo>
                  <a:lnTo>
                    <a:pt x="173223" y="2747283"/>
                  </a:lnTo>
                  <a:lnTo>
                    <a:pt x="139420" y="2716561"/>
                  </a:lnTo>
                  <a:lnTo>
                    <a:pt x="108698" y="2682759"/>
                  </a:lnTo>
                  <a:lnTo>
                    <a:pt x="81295" y="2646115"/>
                  </a:lnTo>
                  <a:lnTo>
                    <a:pt x="57452" y="2606870"/>
                  </a:lnTo>
                  <a:lnTo>
                    <a:pt x="37407" y="2565261"/>
                  </a:lnTo>
                  <a:lnTo>
                    <a:pt x="21400" y="2521528"/>
                  </a:lnTo>
                  <a:lnTo>
                    <a:pt x="9670" y="2475911"/>
                  </a:lnTo>
                  <a:lnTo>
                    <a:pt x="2457" y="2428648"/>
                  </a:lnTo>
                  <a:lnTo>
                    <a:pt x="0" y="2379980"/>
                  </a:lnTo>
                  <a:lnTo>
                    <a:pt x="0" y="476008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61"/>
            <p:cNvSpPr/>
            <p:nvPr/>
          </p:nvSpPr>
          <p:spPr>
            <a:xfrm>
              <a:off x="1834133" y="4879085"/>
              <a:ext cx="1833879" cy="0"/>
            </a:xfrm>
            <a:custGeom>
              <a:rect b="b" l="l" r="r" t="t"/>
              <a:pathLst>
                <a:path extrusionOk="0" h="120000" w="1833879">
                  <a:moveTo>
                    <a:pt x="0" y="0"/>
                  </a:moveTo>
                  <a:lnTo>
                    <a:pt x="18335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61"/>
            <p:cNvSpPr/>
            <p:nvPr/>
          </p:nvSpPr>
          <p:spPr>
            <a:xfrm>
              <a:off x="3653411" y="4836219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61"/>
            <p:cNvSpPr/>
            <p:nvPr/>
          </p:nvSpPr>
          <p:spPr>
            <a:xfrm>
              <a:off x="1834133" y="3274123"/>
              <a:ext cx="0" cy="1605279"/>
            </a:xfrm>
            <a:custGeom>
              <a:rect b="b" l="l" r="r" t="t"/>
              <a:pathLst>
                <a:path extrusionOk="0" h="1605279" w="120000">
                  <a:moveTo>
                    <a:pt x="0" y="16049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61"/>
            <p:cNvSpPr/>
            <p:nvPr/>
          </p:nvSpPr>
          <p:spPr>
            <a:xfrm>
              <a:off x="1791276" y="3202683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61"/>
            <p:cNvSpPr/>
            <p:nvPr/>
          </p:nvSpPr>
          <p:spPr>
            <a:xfrm>
              <a:off x="1834133" y="3768558"/>
              <a:ext cx="1454150" cy="1099185"/>
            </a:xfrm>
            <a:custGeom>
              <a:rect b="b" l="l" r="r" t="t"/>
              <a:pathLst>
                <a:path extrusionOk="0" h="1099185" w="1454150">
                  <a:moveTo>
                    <a:pt x="0" y="1094295"/>
                  </a:moveTo>
                  <a:lnTo>
                    <a:pt x="13273" y="1027344"/>
                  </a:lnTo>
                  <a:lnTo>
                    <a:pt x="26558" y="960616"/>
                  </a:lnTo>
                  <a:lnTo>
                    <a:pt x="39865" y="894334"/>
                  </a:lnTo>
                  <a:lnTo>
                    <a:pt x="53207" y="828720"/>
                  </a:lnTo>
                  <a:lnTo>
                    <a:pt x="66594" y="763997"/>
                  </a:lnTo>
                  <a:lnTo>
                    <a:pt x="80038" y="700389"/>
                  </a:lnTo>
                  <a:lnTo>
                    <a:pt x="93551" y="638117"/>
                  </a:lnTo>
                  <a:lnTo>
                    <a:pt x="107143" y="577405"/>
                  </a:lnTo>
                  <a:lnTo>
                    <a:pt x="120826" y="518476"/>
                  </a:lnTo>
                  <a:lnTo>
                    <a:pt x="134612" y="461553"/>
                  </a:lnTo>
                  <a:lnTo>
                    <a:pt x="148511" y="406858"/>
                  </a:lnTo>
                  <a:lnTo>
                    <a:pt x="162536" y="354614"/>
                  </a:lnTo>
                  <a:lnTo>
                    <a:pt x="176697" y="305044"/>
                  </a:lnTo>
                  <a:lnTo>
                    <a:pt x="191006" y="258371"/>
                  </a:lnTo>
                  <a:lnTo>
                    <a:pt x="205475" y="214818"/>
                  </a:lnTo>
                  <a:lnTo>
                    <a:pt x="220114" y="174607"/>
                  </a:lnTo>
                  <a:lnTo>
                    <a:pt x="234935" y="137962"/>
                  </a:lnTo>
                  <a:lnTo>
                    <a:pt x="265170" y="76260"/>
                  </a:lnTo>
                  <a:lnTo>
                    <a:pt x="296270" y="31494"/>
                  </a:lnTo>
                  <a:lnTo>
                    <a:pt x="328326" y="5446"/>
                  </a:lnTo>
                  <a:lnTo>
                    <a:pt x="344741" y="0"/>
                  </a:lnTo>
                  <a:lnTo>
                    <a:pt x="361294" y="1365"/>
                  </a:lnTo>
                  <a:lnTo>
                    <a:pt x="394493" y="27285"/>
                  </a:lnTo>
                  <a:lnTo>
                    <a:pt x="427964" y="79959"/>
                  </a:lnTo>
                  <a:lnTo>
                    <a:pt x="444859" y="114767"/>
                  </a:lnTo>
                  <a:lnTo>
                    <a:pt x="461891" y="154389"/>
                  </a:lnTo>
                  <a:lnTo>
                    <a:pt x="479082" y="198202"/>
                  </a:lnTo>
                  <a:lnTo>
                    <a:pt x="496455" y="245581"/>
                  </a:lnTo>
                  <a:lnTo>
                    <a:pt x="514033" y="295900"/>
                  </a:lnTo>
                  <a:lnTo>
                    <a:pt x="531839" y="348535"/>
                  </a:lnTo>
                  <a:lnTo>
                    <a:pt x="549895" y="402863"/>
                  </a:lnTo>
                  <a:lnTo>
                    <a:pt x="568225" y="458257"/>
                  </a:lnTo>
                  <a:lnTo>
                    <a:pt x="586850" y="514093"/>
                  </a:lnTo>
                  <a:lnTo>
                    <a:pt x="605795" y="569748"/>
                  </a:lnTo>
                  <a:lnTo>
                    <a:pt x="625081" y="624596"/>
                  </a:lnTo>
                  <a:lnTo>
                    <a:pt x="644731" y="678012"/>
                  </a:lnTo>
                  <a:lnTo>
                    <a:pt x="664768" y="729373"/>
                  </a:lnTo>
                  <a:lnTo>
                    <a:pt x="685216" y="778053"/>
                  </a:lnTo>
                  <a:lnTo>
                    <a:pt x="706096" y="823428"/>
                  </a:lnTo>
                  <a:lnTo>
                    <a:pt x="727431" y="864873"/>
                  </a:lnTo>
                  <a:lnTo>
                    <a:pt x="749245" y="901763"/>
                  </a:lnTo>
                  <a:lnTo>
                    <a:pt x="771559" y="933475"/>
                  </a:lnTo>
                  <a:lnTo>
                    <a:pt x="975432" y="1057406"/>
                  </a:lnTo>
                  <a:lnTo>
                    <a:pt x="1193469" y="1095233"/>
                  </a:lnTo>
                  <a:lnTo>
                    <a:pt x="1376845" y="1098863"/>
                  </a:lnTo>
                  <a:lnTo>
                    <a:pt x="1453896" y="1094295"/>
                  </a:lnTo>
                </a:path>
              </a:pathLst>
            </a:custGeom>
            <a:noFill/>
            <a:ln cap="flat" cmpd="sng" w="380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74" name="Google Shape;1074;p61"/>
          <p:cNvSpPr txBox="1"/>
          <p:nvPr/>
        </p:nvSpPr>
        <p:spPr>
          <a:xfrm>
            <a:off x="1755139" y="4922601"/>
            <a:ext cx="139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61"/>
          <p:cNvSpPr txBox="1"/>
          <p:nvPr/>
        </p:nvSpPr>
        <p:spPr>
          <a:xfrm>
            <a:off x="3209264" y="4915057"/>
            <a:ext cx="36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61"/>
          <p:cNvSpPr txBox="1"/>
          <p:nvPr/>
        </p:nvSpPr>
        <p:spPr>
          <a:xfrm>
            <a:off x="2373274" y="4937460"/>
            <a:ext cx="35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61"/>
          <p:cNvSpPr txBox="1"/>
          <p:nvPr/>
        </p:nvSpPr>
        <p:spPr>
          <a:xfrm>
            <a:off x="2605074" y="4041348"/>
            <a:ext cx="84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HA(DA)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78" name="Google Shape;1078;p61"/>
          <p:cNvGrpSpPr/>
          <p:nvPr/>
        </p:nvGrpSpPr>
        <p:grpSpPr>
          <a:xfrm>
            <a:off x="4871280" y="2658615"/>
            <a:ext cx="1947860" cy="1719262"/>
            <a:chOff x="4871280" y="2658615"/>
            <a:chExt cx="1947860" cy="1719262"/>
          </a:xfrm>
        </p:grpSpPr>
        <p:sp>
          <p:nvSpPr>
            <p:cNvPr id="1079" name="Google Shape;1079;p61"/>
            <p:cNvSpPr/>
            <p:nvPr/>
          </p:nvSpPr>
          <p:spPr>
            <a:xfrm>
              <a:off x="4914137" y="4335017"/>
              <a:ext cx="1833879" cy="0"/>
            </a:xfrm>
            <a:custGeom>
              <a:rect b="b" l="l" r="r" t="t"/>
              <a:pathLst>
                <a:path extrusionOk="0" h="120000" w="1833879">
                  <a:moveTo>
                    <a:pt x="0" y="0"/>
                  </a:moveTo>
                  <a:lnTo>
                    <a:pt x="18335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61"/>
            <p:cNvSpPr/>
            <p:nvPr/>
          </p:nvSpPr>
          <p:spPr>
            <a:xfrm>
              <a:off x="6733415" y="4292152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61"/>
            <p:cNvSpPr/>
            <p:nvPr/>
          </p:nvSpPr>
          <p:spPr>
            <a:xfrm>
              <a:off x="4914137" y="2730055"/>
              <a:ext cx="0" cy="1605279"/>
            </a:xfrm>
            <a:custGeom>
              <a:rect b="b" l="l" r="r" t="t"/>
              <a:pathLst>
                <a:path extrusionOk="0" h="1605279" w="120000">
                  <a:moveTo>
                    <a:pt x="0" y="16049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61"/>
            <p:cNvSpPr/>
            <p:nvPr/>
          </p:nvSpPr>
          <p:spPr>
            <a:xfrm>
              <a:off x="4871280" y="2658615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3" name="Google Shape;1083;p61"/>
          <p:cNvSpPr txBox="1"/>
          <p:nvPr/>
        </p:nvSpPr>
        <p:spPr>
          <a:xfrm>
            <a:off x="4835244" y="4377301"/>
            <a:ext cx="139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61"/>
          <p:cNvSpPr txBox="1"/>
          <p:nvPr/>
        </p:nvSpPr>
        <p:spPr>
          <a:xfrm>
            <a:off x="6289368" y="4369757"/>
            <a:ext cx="36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5" name="Google Shape;1085;p61"/>
          <p:cNvSpPr txBox="1"/>
          <p:nvPr/>
        </p:nvSpPr>
        <p:spPr>
          <a:xfrm>
            <a:off x="5453378" y="4392160"/>
            <a:ext cx="342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61"/>
          <p:cNvSpPr txBox="1"/>
          <p:nvPr/>
        </p:nvSpPr>
        <p:spPr>
          <a:xfrm>
            <a:off x="6096659" y="3401636"/>
            <a:ext cx="825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HT(DT)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87" name="Google Shape;1087;p61"/>
          <p:cNvGrpSpPr/>
          <p:nvPr/>
        </p:nvGrpSpPr>
        <p:grpSpPr>
          <a:xfrm>
            <a:off x="4914138" y="3188968"/>
            <a:ext cx="5094733" cy="1719261"/>
            <a:chOff x="4914138" y="3188968"/>
            <a:chExt cx="5094733" cy="1719261"/>
          </a:xfrm>
        </p:grpSpPr>
        <p:sp>
          <p:nvSpPr>
            <p:cNvPr id="1088" name="Google Shape;1088;p61"/>
            <p:cNvSpPr/>
            <p:nvPr/>
          </p:nvSpPr>
          <p:spPr>
            <a:xfrm>
              <a:off x="4914138" y="3224015"/>
              <a:ext cx="720725" cy="1095375"/>
            </a:xfrm>
            <a:custGeom>
              <a:rect b="b" l="l" r="r" t="t"/>
              <a:pathLst>
                <a:path extrusionOk="0" h="1095375" w="720725">
                  <a:moveTo>
                    <a:pt x="0" y="1094752"/>
                  </a:moveTo>
                  <a:lnTo>
                    <a:pt x="720610" y="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9" name="Google Shape;1089;p61"/>
            <p:cNvSpPr/>
            <p:nvPr/>
          </p:nvSpPr>
          <p:spPr>
            <a:xfrm>
              <a:off x="5630424" y="3224019"/>
              <a:ext cx="845820" cy="1122045"/>
            </a:xfrm>
            <a:custGeom>
              <a:rect b="b" l="l" r="r" t="t"/>
              <a:pathLst>
                <a:path extrusionOk="0" h="1122045" w="845820">
                  <a:moveTo>
                    <a:pt x="845642" y="1121664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0" name="Google Shape;1090;p61"/>
            <p:cNvSpPr/>
            <p:nvPr/>
          </p:nvSpPr>
          <p:spPr>
            <a:xfrm>
              <a:off x="8103870" y="4865370"/>
              <a:ext cx="1833879" cy="0"/>
            </a:xfrm>
            <a:custGeom>
              <a:rect b="b" l="l" r="r" t="t"/>
              <a:pathLst>
                <a:path extrusionOk="0" h="120000" w="1833879">
                  <a:moveTo>
                    <a:pt x="0" y="0"/>
                  </a:moveTo>
                  <a:lnTo>
                    <a:pt x="18335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1" name="Google Shape;1091;p61"/>
            <p:cNvSpPr/>
            <p:nvPr/>
          </p:nvSpPr>
          <p:spPr>
            <a:xfrm>
              <a:off x="9923146" y="4822504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2" name="Google Shape;1092;p61"/>
            <p:cNvSpPr/>
            <p:nvPr/>
          </p:nvSpPr>
          <p:spPr>
            <a:xfrm>
              <a:off x="8103870" y="3260407"/>
              <a:ext cx="0" cy="1605279"/>
            </a:xfrm>
            <a:custGeom>
              <a:rect b="b" l="l" r="r" t="t"/>
              <a:pathLst>
                <a:path extrusionOk="0" h="1605279" w="120000">
                  <a:moveTo>
                    <a:pt x="0" y="16049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3" name="Google Shape;1093;p61"/>
            <p:cNvSpPr/>
            <p:nvPr/>
          </p:nvSpPr>
          <p:spPr>
            <a:xfrm>
              <a:off x="8061011" y="3188968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94" name="Google Shape;1094;p61"/>
          <p:cNvSpPr txBox="1"/>
          <p:nvPr/>
        </p:nvSpPr>
        <p:spPr>
          <a:xfrm>
            <a:off x="8025011" y="4907766"/>
            <a:ext cx="139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5" name="Google Shape;1095;p61"/>
          <p:cNvSpPr txBox="1"/>
          <p:nvPr/>
        </p:nvSpPr>
        <p:spPr>
          <a:xfrm>
            <a:off x="9479136" y="4900222"/>
            <a:ext cx="368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6" name="Google Shape;1096;p61"/>
          <p:cNvSpPr txBox="1"/>
          <p:nvPr/>
        </p:nvSpPr>
        <p:spPr>
          <a:xfrm>
            <a:off x="8643146" y="4922625"/>
            <a:ext cx="35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7" name="Google Shape;1097;p61"/>
          <p:cNvSpPr txBox="1"/>
          <p:nvPr/>
        </p:nvSpPr>
        <p:spPr>
          <a:xfrm>
            <a:off x="9134178" y="3623720"/>
            <a:ext cx="84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HC(DC)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98" name="Google Shape;1098;p61"/>
          <p:cNvGrpSpPr/>
          <p:nvPr/>
        </p:nvGrpSpPr>
        <p:grpSpPr>
          <a:xfrm>
            <a:off x="1794510" y="2146557"/>
            <a:ext cx="7871967" cy="2704079"/>
            <a:chOff x="1794510" y="2146557"/>
            <a:chExt cx="7871967" cy="2704079"/>
          </a:xfrm>
        </p:grpSpPr>
        <p:sp>
          <p:nvSpPr>
            <p:cNvPr id="1099" name="Google Shape;1099;p61"/>
            <p:cNvSpPr/>
            <p:nvPr/>
          </p:nvSpPr>
          <p:spPr>
            <a:xfrm>
              <a:off x="8122157" y="3755897"/>
              <a:ext cx="1544320" cy="1094739"/>
            </a:xfrm>
            <a:custGeom>
              <a:rect b="b" l="l" r="r" t="t"/>
              <a:pathLst>
                <a:path extrusionOk="0" h="1094739" w="1544320">
                  <a:moveTo>
                    <a:pt x="0" y="1094232"/>
                  </a:moveTo>
                  <a:lnTo>
                    <a:pt x="23956" y="1035637"/>
                  </a:lnTo>
                  <a:lnTo>
                    <a:pt x="47922" y="977192"/>
                  </a:lnTo>
                  <a:lnTo>
                    <a:pt x="71907" y="919046"/>
                  </a:lnTo>
                  <a:lnTo>
                    <a:pt x="95919" y="861348"/>
                  </a:lnTo>
                  <a:lnTo>
                    <a:pt x="119967" y="804249"/>
                  </a:lnTo>
                  <a:lnTo>
                    <a:pt x="144062" y="747898"/>
                  </a:lnTo>
                  <a:lnTo>
                    <a:pt x="168212" y="692443"/>
                  </a:lnTo>
                  <a:lnTo>
                    <a:pt x="192426" y="638036"/>
                  </a:lnTo>
                  <a:lnTo>
                    <a:pt x="216715" y="584824"/>
                  </a:lnTo>
                  <a:lnTo>
                    <a:pt x="241086" y="532959"/>
                  </a:lnTo>
                  <a:lnTo>
                    <a:pt x="265549" y="482589"/>
                  </a:lnTo>
                  <a:lnTo>
                    <a:pt x="290113" y="433864"/>
                  </a:lnTo>
                  <a:lnTo>
                    <a:pt x="314788" y="386934"/>
                  </a:lnTo>
                  <a:lnTo>
                    <a:pt x="339583" y="341947"/>
                  </a:lnTo>
                  <a:lnTo>
                    <a:pt x="364507" y="299054"/>
                  </a:lnTo>
                  <a:lnTo>
                    <a:pt x="389569" y="258404"/>
                  </a:lnTo>
                  <a:lnTo>
                    <a:pt x="414779" y="220147"/>
                  </a:lnTo>
                  <a:lnTo>
                    <a:pt x="440145" y="184432"/>
                  </a:lnTo>
                  <a:lnTo>
                    <a:pt x="465678" y="151408"/>
                  </a:lnTo>
                  <a:lnTo>
                    <a:pt x="491385" y="121226"/>
                  </a:lnTo>
                  <a:lnTo>
                    <a:pt x="543362" y="69984"/>
                  </a:lnTo>
                  <a:lnTo>
                    <a:pt x="596150" y="31901"/>
                  </a:lnTo>
                  <a:lnTo>
                    <a:pt x="649824" y="8174"/>
                  </a:lnTo>
                  <a:lnTo>
                    <a:pt x="704456" y="0"/>
                  </a:lnTo>
                  <a:lnTo>
                    <a:pt x="944154" y="170973"/>
                  </a:lnTo>
                  <a:lnTo>
                    <a:pt x="1220622" y="547116"/>
                  </a:lnTo>
                  <a:lnTo>
                    <a:pt x="1448845" y="923258"/>
                  </a:lnTo>
                  <a:lnTo>
                    <a:pt x="1543812" y="1094232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61"/>
            <p:cNvSpPr/>
            <p:nvPr/>
          </p:nvSpPr>
          <p:spPr>
            <a:xfrm>
              <a:off x="1794510" y="2146557"/>
              <a:ext cx="1310639" cy="1100455"/>
            </a:xfrm>
            <a:custGeom>
              <a:rect b="b" l="l" r="r" t="t"/>
              <a:pathLst>
                <a:path extrusionOk="0" h="1100455" w="1310639">
                  <a:moveTo>
                    <a:pt x="1127252" y="0"/>
                  </a:moveTo>
                  <a:lnTo>
                    <a:pt x="183388" y="0"/>
                  </a:lnTo>
                  <a:lnTo>
                    <a:pt x="134636" y="6550"/>
                  </a:lnTo>
                  <a:lnTo>
                    <a:pt x="90828" y="25037"/>
                  </a:lnTo>
                  <a:lnTo>
                    <a:pt x="53713" y="53713"/>
                  </a:lnTo>
                  <a:lnTo>
                    <a:pt x="25037" y="90828"/>
                  </a:lnTo>
                  <a:lnTo>
                    <a:pt x="6550" y="134636"/>
                  </a:lnTo>
                  <a:lnTo>
                    <a:pt x="0" y="183387"/>
                  </a:lnTo>
                  <a:lnTo>
                    <a:pt x="0" y="916927"/>
                  </a:lnTo>
                  <a:lnTo>
                    <a:pt x="6550" y="965680"/>
                  </a:lnTo>
                  <a:lnTo>
                    <a:pt x="25037" y="1009490"/>
                  </a:lnTo>
                  <a:lnTo>
                    <a:pt x="53713" y="1046608"/>
                  </a:lnTo>
                  <a:lnTo>
                    <a:pt x="90828" y="1075286"/>
                  </a:lnTo>
                  <a:lnTo>
                    <a:pt x="134636" y="1093776"/>
                  </a:lnTo>
                  <a:lnTo>
                    <a:pt x="183388" y="1100328"/>
                  </a:lnTo>
                  <a:lnTo>
                    <a:pt x="1127252" y="1100328"/>
                  </a:lnTo>
                  <a:lnTo>
                    <a:pt x="1176003" y="1093776"/>
                  </a:lnTo>
                  <a:lnTo>
                    <a:pt x="1219811" y="1075286"/>
                  </a:lnTo>
                  <a:lnTo>
                    <a:pt x="1256926" y="1046608"/>
                  </a:lnTo>
                  <a:lnTo>
                    <a:pt x="1285602" y="1009490"/>
                  </a:lnTo>
                  <a:lnTo>
                    <a:pt x="1304089" y="965680"/>
                  </a:lnTo>
                  <a:lnTo>
                    <a:pt x="1310640" y="916927"/>
                  </a:lnTo>
                  <a:lnTo>
                    <a:pt x="1310640" y="183387"/>
                  </a:lnTo>
                  <a:lnTo>
                    <a:pt x="1304089" y="134636"/>
                  </a:lnTo>
                  <a:lnTo>
                    <a:pt x="1285602" y="90828"/>
                  </a:lnTo>
                  <a:lnTo>
                    <a:pt x="1256926" y="53713"/>
                  </a:lnTo>
                  <a:lnTo>
                    <a:pt x="1219811" y="25037"/>
                  </a:lnTo>
                  <a:lnTo>
                    <a:pt x="1176003" y="6550"/>
                  </a:lnTo>
                  <a:lnTo>
                    <a:pt x="1127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61"/>
            <p:cNvSpPr/>
            <p:nvPr/>
          </p:nvSpPr>
          <p:spPr>
            <a:xfrm>
              <a:off x="1794510" y="2146557"/>
              <a:ext cx="1310639" cy="1100455"/>
            </a:xfrm>
            <a:custGeom>
              <a:rect b="b" l="l" r="r" t="t"/>
              <a:pathLst>
                <a:path extrusionOk="0" h="1100455" w="1310639">
                  <a:moveTo>
                    <a:pt x="0" y="183387"/>
                  </a:moveTo>
                  <a:lnTo>
                    <a:pt x="6550" y="134636"/>
                  </a:lnTo>
                  <a:lnTo>
                    <a:pt x="25037" y="90828"/>
                  </a:lnTo>
                  <a:lnTo>
                    <a:pt x="53713" y="53713"/>
                  </a:lnTo>
                  <a:lnTo>
                    <a:pt x="90828" y="25037"/>
                  </a:lnTo>
                  <a:lnTo>
                    <a:pt x="134636" y="6550"/>
                  </a:lnTo>
                  <a:lnTo>
                    <a:pt x="183388" y="0"/>
                  </a:lnTo>
                  <a:lnTo>
                    <a:pt x="1127252" y="0"/>
                  </a:lnTo>
                  <a:lnTo>
                    <a:pt x="1176003" y="6550"/>
                  </a:lnTo>
                  <a:lnTo>
                    <a:pt x="1219811" y="25037"/>
                  </a:lnTo>
                  <a:lnTo>
                    <a:pt x="1256926" y="53713"/>
                  </a:lnTo>
                  <a:lnTo>
                    <a:pt x="1285602" y="90828"/>
                  </a:lnTo>
                  <a:lnTo>
                    <a:pt x="1304089" y="134636"/>
                  </a:lnTo>
                  <a:lnTo>
                    <a:pt x="1310640" y="183387"/>
                  </a:lnTo>
                  <a:lnTo>
                    <a:pt x="1310640" y="916927"/>
                  </a:lnTo>
                  <a:lnTo>
                    <a:pt x="1304089" y="965680"/>
                  </a:lnTo>
                  <a:lnTo>
                    <a:pt x="1285602" y="1009490"/>
                  </a:lnTo>
                  <a:lnTo>
                    <a:pt x="1256926" y="1046608"/>
                  </a:lnTo>
                  <a:lnTo>
                    <a:pt x="1219811" y="1075286"/>
                  </a:lnTo>
                  <a:lnTo>
                    <a:pt x="1176003" y="1093776"/>
                  </a:lnTo>
                  <a:lnTo>
                    <a:pt x="1127252" y="1100328"/>
                  </a:lnTo>
                  <a:lnTo>
                    <a:pt x="183388" y="1100328"/>
                  </a:lnTo>
                  <a:lnTo>
                    <a:pt x="134636" y="1093776"/>
                  </a:lnTo>
                  <a:lnTo>
                    <a:pt x="90828" y="1075286"/>
                  </a:lnTo>
                  <a:lnTo>
                    <a:pt x="53713" y="1046608"/>
                  </a:lnTo>
                  <a:lnTo>
                    <a:pt x="25037" y="1009490"/>
                  </a:lnTo>
                  <a:lnTo>
                    <a:pt x="6550" y="965680"/>
                  </a:lnTo>
                  <a:lnTo>
                    <a:pt x="0" y="916927"/>
                  </a:lnTo>
                  <a:lnTo>
                    <a:pt x="0" y="183387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02" name="Google Shape;1102;p61"/>
          <p:cNvSpPr/>
          <p:nvPr/>
        </p:nvSpPr>
        <p:spPr>
          <a:xfrm>
            <a:off x="2088642" y="5270753"/>
            <a:ext cx="1310639" cy="368935"/>
          </a:xfrm>
          <a:custGeom>
            <a:rect b="b" l="l" r="r" t="t"/>
            <a:pathLst>
              <a:path extrusionOk="0" h="368935" w="1310639">
                <a:moveTo>
                  <a:pt x="0" y="61468"/>
                </a:moveTo>
                <a:lnTo>
                  <a:pt x="4830" y="37542"/>
                </a:lnTo>
                <a:lnTo>
                  <a:pt x="18003" y="18003"/>
                </a:lnTo>
                <a:lnTo>
                  <a:pt x="37542" y="4830"/>
                </a:lnTo>
                <a:lnTo>
                  <a:pt x="61468" y="0"/>
                </a:lnTo>
                <a:lnTo>
                  <a:pt x="1249172" y="0"/>
                </a:lnTo>
                <a:lnTo>
                  <a:pt x="1273097" y="4830"/>
                </a:lnTo>
                <a:lnTo>
                  <a:pt x="1292636" y="18003"/>
                </a:lnTo>
                <a:lnTo>
                  <a:pt x="1305809" y="37542"/>
                </a:lnTo>
                <a:lnTo>
                  <a:pt x="1310640" y="61468"/>
                </a:lnTo>
                <a:lnTo>
                  <a:pt x="1310640" y="307340"/>
                </a:lnTo>
                <a:lnTo>
                  <a:pt x="1305809" y="331265"/>
                </a:lnTo>
                <a:lnTo>
                  <a:pt x="1292636" y="350804"/>
                </a:lnTo>
                <a:lnTo>
                  <a:pt x="1273097" y="363977"/>
                </a:lnTo>
                <a:lnTo>
                  <a:pt x="1249172" y="368808"/>
                </a:lnTo>
                <a:lnTo>
                  <a:pt x="61468" y="368808"/>
                </a:lnTo>
                <a:lnTo>
                  <a:pt x="37542" y="363977"/>
                </a:lnTo>
                <a:lnTo>
                  <a:pt x="18003" y="350804"/>
                </a:lnTo>
                <a:lnTo>
                  <a:pt x="4830" y="331265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3" name="Google Shape;1103;p61"/>
          <p:cNvSpPr txBox="1"/>
          <p:nvPr/>
        </p:nvSpPr>
        <p:spPr>
          <a:xfrm>
            <a:off x="2425541" y="5279890"/>
            <a:ext cx="635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4" name="Google Shape;1104;p61"/>
          <p:cNvSpPr/>
          <p:nvPr/>
        </p:nvSpPr>
        <p:spPr>
          <a:xfrm>
            <a:off x="8443721" y="5270753"/>
            <a:ext cx="1310640" cy="368935"/>
          </a:xfrm>
          <a:custGeom>
            <a:rect b="b" l="l" r="r" t="t"/>
            <a:pathLst>
              <a:path extrusionOk="0" h="368935" w="1310640">
                <a:moveTo>
                  <a:pt x="0" y="61468"/>
                </a:moveTo>
                <a:lnTo>
                  <a:pt x="4830" y="37542"/>
                </a:lnTo>
                <a:lnTo>
                  <a:pt x="18003" y="18003"/>
                </a:lnTo>
                <a:lnTo>
                  <a:pt x="37542" y="4830"/>
                </a:lnTo>
                <a:lnTo>
                  <a:pt x="61468" y="0"/>
                </a:lnTo>
                <a:lnTo>
                  <a:pt x="1249172" y="0"/>
                </a:lnTo>
                <a:lnTo>
                  <a:pt x="1273097" y="4830"/>
                </a:lnTo>
                <a:lnTo>
                  <a:pt x="1292636" y="18003"/>
                </a:lnTo>
                <a:lnTo>
                  <a:pt x="1305809" y="37542"/>
                </a:lnTo>
                <a:lnTo>
                  <a:pt x="1310640" y="61468"/>
                </a:lnTo>
                <a:lnTo>
                  <a:pt x="1310640" y="307340"/>
                </a:lnTo>
                <a:lnTo>
                  <a:pt x="1305809" y="331265"/>
                </a:lnTo>
                <a:lnTo>
                  <a:pt x="1292636" y="350804"/>
                </a:lnTo>
                <a:lnTo>
                  <a:pt x="1273097" y="363977"/>
                </a:lnTo>
                <a:lnTo>
                  <a:pt x="1249172" y="368808"/>
                </a:lnTo>
                <a:lnTo>
                  <a:pt x="61468" y="368808"/>
                </a:lnTo>
                <a:lnTo>
                  <a:pt x="37542" y="363977"/>
                </a:lnTo>
                <a:lnTo>
                  <a:pt x="18003" y="350804"/>
                </a:lnTo>
                <a:lnTo>
                  <a:pt x="4830" y="331265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5" name="Google Shape;1105;p61"/>
          <p:cNvSpPr txBox="1"/>
          <p:nvPr/>
        </p:nvSpPr>
        <p:spPr>
          <a:xfrm>
            <a:off x="8688213" y="5279890"/>
            <a:ext cx="81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6" name="Google Shape;1106;p61"/>
          <p:cNvSpPr/>
          <p:nvPr/>
        </p:nvSpPr>
        <p:spPr>
          <a:xfrm>
            <a:off x="5246370" y="5270753"/>
            <a:ext cx="1310640" cy="368935"/>
          </a:xfrm>
          <a:custGeom>
            <a:rect b="b" l="l" r="r" t="t"/>
            <a:pathLst>
              <a:path extrusionOk="0" h="368935" w="1310640">
                <a:moveTo>
                  <a:pt x="0" y="61468"/>
                </a:moveTo>
                <a:lnTo>
                  <a:pt x="4830" y="37542"/>
                </a:lnTo>
                <a:lnTo>
                  <a:pt x="18003" y="18003"/>
                </a:lnTo>
                <a:lnTo>
                  <a:pt x="37542" y="4830"/>
                </a:lnTo>
                <a:lnTo>
                  <a:pt x="61468" y="0"/>
                </a:lnTo>
                <a:lnTo>
                  <a:pt x="1249172" y="0"/>
                </a:lnTo>
                <a:lnTo>
                  <a:pt x="1273097" y="4830"/>
                </a:lnTo>
                <a:lnTo>
                  <a:pt x="1292636" y="18003"/>
                </a:lnTo>
                <a:lnTo>
                  <a:pt x="1305809" y="37542"/>
                </a:lnTo>
                <a:lnTo>
                  <a:pt x="1310640" y="61468"/>
                </a:lnTo>
                <a:lnTo>
                  <a:pt x="1310640" y="307340"/>
                </a:lnTo>
                <a:lnTo>
                  <a:pt x="1305809" y="331265"/>
                </a:lnTo>
                <a:lnTo>
                  <a:pt x="1292636" y="350804"/>
                </a:lnTo>
                <a:lnTo>
                  <a:pt x="1273097" y="363977"/>
                </a:lnTo>
                <a:lnTo>
                  <a:pt x="1249172" y="368808"/>
                </a:lnTo>
                <a:lnTo>
                  <a:pt x="61468" y="368808"/>
                </a:lnTo>
                <a:lnTo>
                  <a:pt x="37542" y="363977"/>
                </a:lnTo>
                <a:lnTo>
                  <a:pt x="18003" y="350804"/>
                </a:lnTo>
                <a:lnTo>
                  <a:pt x="4830" y="331265"/>
                </a:lnTo>
                <a:lnTo>
                  <a:pt x="0" y="307340"/>
                </a:lnTo>
                <a:lnTo>
                  <a:pt x="0" y="61468"/>
                </a:lnTo>
                <a:close/>
              </a:path>
            </a:pathLst>
          </a:cu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7" name="Google Shape;1107;p61"/>
          <p:cNvSpPr txBox="1"/>
          <p:nvPr/>
        </p:nvSpPr>
        <p:spPr>
          <a:xfrm>
            <a:off x="5532025" y="5279900"/>
            <a:ext cx="849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Target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8" name="Google Shape;1108;p61"/>
          <p:cNvSpPr txBox="1"/>
          <p:nvPr/>
        </p:nvSpPr>
        <p:spPr>
          <a:xfrm>
            <a:off x="2083330" y="2216373"/>
            <a:ext cx="7308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2700" lvl="0" marL="2476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A(x, y)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Input Image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09" name="Google Shape;1109;p61"/>
          <p:cNvGrpSpPr/>
          <p:nvPr/>
        </p:nvGrpSpPr>
        <p:grpSpPr>
          <a:xfrm>
            <a:off x="5820917" y="2113029"/>
            <a:ext cx="1310640" cy="1100455"/>
            <a:chOff x="5820917" y="2113029"/>
            <a:chExt cx="1310640" cy="1100455"/>
          </a:xfrm>
        </p:grpSpPr>
        <p:sp>
          <p:nvSpPr>
            <p:cNvPr id="1110" name="Google Shape;1110;p61"/>
            <p:cNvSpPr/>
            <p:nvPr/>
          </p:nvSpPr>
          <p:spPr>
            <a:xfrm>
              <a:off x="5820917" y="2113029"/>
              <a:ext cx="1310640" cy="1100455"/>
            </a:xfrm>
            <a:custGeom>
              <a:rect b="b" l="l" r="r" t="t"/>
              <a:pathLst>
                <a:path extrusionOk="0" h="1100455" w="1310640">
                  <a:moveTo>
                    <a:pt x="1127252" y="0"/>
                  </a:moveTo>
                  <a:lnTo>
                    <a:pt x="183388" y="0"/>
                  </a:lnTo>
                  <a:lnTo>
                    <a:pt x="134636" y="6550"/>
                  </a:lnTo>
                  <a:lnTo>
                    <a:pt x="90828" y="25037"/>
                  </a:lnTo>
                  <a:lnTo>
                    <a:pt x="53713" y="53713"/>
                  </a:lnTo>
                  <a:lnTo>
                    <a:pt x="25037" y="90828"/>
                  </a:lnTo>
                  <a:lnTo>
                    <a:pt x="6550" y="134636"/>
                  </a:lnTo>
                  <a:lnTo>
                    <a:pt x="0" y="183387"/>
                  </a:lnTo>
                  <a:lnTo>
                    <a:pt x="0" y="916927"/>
                  </a:lnTo>
                  <a:lnTo>
                    <a:pt x="6550" y="965680"/>
                  </a:lnTo>
                  <a:lnTo>
                    <a:pt x="25037" y="1009490"/>
                  </a:lnTo>
                  <a:lnTo>
                    <a:pt x="53713" y="1046608"/>
                  </a:lnTo>
                  <a:lnTo>
                    <a:pt x="90828" y="1075286"/>
                  </a:lnTo>
                  <a:lnTo>
                    <a:pt x="134636" y="1093776"/>
                  </a:lnTo>
                  <a:lnTo>
                    <a:pt x="183388" y="1100328"/>
                  </a:lnTo>
                  <a:lnTo>
                    <a:pt x="1127252" y="1100328"/>
                  </a:lnTo>
                  <a:lnTo>
                    <a:pt x="1176003" y="1093776"/>
                  </a:lnTo>
                  <a:lnTo>
                    <a:pt x="1219811" y="1075286"/>
                  </a:lnTo>
                  <a:lnTo>
                    <a:pt x="1256926" y="1046608"/>
                  </a:lnTo>
                  <a:lnTo>
                    <a:pt x="1285602" y="1009490"/>
                  </a:lnTo>
                  <a:lnTo>
                    <a:pt x="1304089" y="965680"/>
                  </a:lnTo>
                  <a:lnTo>
                    <a:pt x="1310640" y="916927"/>
                  </a:lnTo>
                  <a:lnTo>
                    <a:pt x="1310640" y="183387"/>
                  </a:lnTo>
                  <a:lnTo>
                    <a:pt x="1304089" y="134636"/>
                  </a:lnTo>
                  <a:lnTo>
                    <a:pt x="1285602" y="90828"/>
                  </a:lnTo>
                  <a:lnTo>
                    <a:pt x="1256926" y="53713"/>
                  </a:lnTo>
                  <a:lnTo>
                    <a:pt x="1219811" y="25037"/>
                  </a:lnTo>
                  <a:lnTo>
                    <a:pt x="1176003" y="6550"/>
                  </a:lnTo>
                  <a:lnTo>
                    <a:pt x="1127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61"/>
            <p:cNvSpPr/>
            <p:nvPr/>
          </p:nvSpPr>
          <p:spPr>
            <a:xfrm>
              <a:off x="5820917" y="2113029"/>
              <a:ext cx="1310640" cy="1100455"/>
            </a:xfrm>
            <a:custGeom>
              <a:rect b="b" l="l" r="r" t="t"/>
              <a:pathLst>
                <a:path extrusionOk="0" h="1100455" w="1310640">
                  <a:moveTo>
                    <a:pt x="0" y="183387"/>
                  </a:moveTo>
                  <a:lnTo>
                    <a:pt x="6550" y="134636"/>
                  </a:lnTo>
                  <a:lnTo>
                    <a:pt x="25037" y="90828"/>
                  </a:lnTo>
                  <a:lnTo>
                    <a:pt x="53713" y="53713"/>
                  </a:lnTo>
                  <a:lnTo>
                    <a:pt x="90828" y="25037"/>
                  </a:lnTo>
                  <a:lnTo>
                    <a:pt x="134636" y="6550"/>
                  </a:lnTo>
                  <a:lnTo>
                    <a:pt x="183388" y="0"/>
                  </a:lnTo>
                  <a:lnTo>
                    <a:pt x="1127252" y="0"/>
                  </a:lnTo>
                  <a:lnTo>
                    <a:pt x="1176003" y="6550"/>
                  </a:lnTo>
                  <a:lnTo>
                    <a:pt x="1219811" y="25037"/>
                  </a:lnTo>
                  <a:lnTo>
                    <a:pt x="1256926" y="53713"/>
                  </a:lnTo>
                  <a:lnTo>
                    <a:pt x="1285602" y="90828"/>
                  </a:lnTo>
                  <a:lnTo>
                    <a:pt x="1304089" y="134636"/>
                  </a:lnTo>
                  <a:lnTo>
                    <a:pt x="1310640" y="183387"/>
                  </a:lnTo>
                  <a:lnTo>
                    <a:pt x="1310640" y="916927"/>
                  </a:lnTo>
                  <a:lnTo>
                    <a:pt x="1304089" y="965680"/>
                  </a:lnTo>
                  <a:lnTo>
                    <a:pt x="1285602" y="1009490"/>
                  </a:lnTo>
                  <a:lnTo>
                    <a:pt x="1256926" y="1046608"/>
                  </a:lnTo>
                  <a:lnTo>
                    <a:pt x="1219811" y="1075286"/>
                  </a:lnTo>
                  <a:lnTo>
                    <a:pt x="1176003" y="1093776"/>
                  </a:lnTo>
                  <a:lnTo>
                    <a:pt x="1127252" y="1100328"/>
                  </a:lnTo>
                  <a:lnTo>
                    <a:pt x="183388" y="1100328"/>
                  </a:lnTo>
                  <a:lnTo>
                    <a:pt x="134636" y="1093776"/>
                  </a:lnTo>
                  <a:lnTo>
                    <a:pt x="90828" y="1075286"/>
                  </a:lnTo>
                  <a:lnTo>
                    <a:pt x="53713" y="1046608"/>
                  </a:lnTo>
                  <a:lnTo>
                    <a:pt x="25037" y="1009490"/>
                  </a:lnTo>
                  <a:lnTo>
                    <a:pt x="6550" y="965680"/>
                  </a:lnTo>
                  <a:lnTo>
                    <a:pt x="0" y="916927"/>
                  </a:lnTo>
                  <a:lnTo>
                    <a:pt x="0" y="183387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12" name="Google Shape;1112;p61"/>
          <p:cNvSpPr txBox="1"/>
          <p:nvPr/>
        </p:nvSpPr>
        <p:spPr>
          <a:xfrm>
            <a:off x="5994525" y="2182875"/>
            <a:ext cx="849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1015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T(x, y)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Target Image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3" name="Google Shape;1113;p61"/>
          <p:cNvSpPr/>
          <p:nvPr/>
        </p:nvSpPr>
        <p:spPr>
          <a:xfrm>
            <a:off x="8629650" y="2113029"/>
            <a:ext cx="1310640" cy="1100455"/>
          </a:xfrm>
          <a:custGeom>
            <a:rect b="b" l="l" r="r" t="t"/>
            <a:pathLst>
              <a:path extrusionOk="0" h="1100455" w="1310640">
                <a:moveTo>
                  <a:pt x="0" y="183387"/>
                </a:moveTo>
                <a:lnTo>
                  <a:pt x="6550" y="134636"/>
                </a:lnTo>
                <a:lnTo>
                  <a:pt x="25037" y="90828"/>
                </a:lnTo>
                <a:lnTo>
                  <a:pt x="53713" y="53713"/>
                </a:lnTo>
                <a:lnTo>
                  <a:pt x="90828" y="25037"/>
                </a:lnTo>
                <a:lnTo>
                  <a:pt x="134636" y="6550"/>
                </a:lnTo>
                <a:lnTo>
                  <a:pt x="183388" y="0"/>
                </a:lnTo>
                <a:lnTo>
                  <a:pt x="1127252" y="0"/>
                </a:lnTo>
                <a:lnTo>
                  <a:pt x="1176003" y="6550"/>
                </a:lnTo>
                <a:lnTo>
                  <a:pt x="1219811" y="25037"/>
                </a:lnTo>
                <a:lnTo>
                  <a:pt x="1256926" y="53713"/>
                </a:lnTo>
                <a:lnTo>
                  <a:pt x="1285602" y="90828"/>
                </a:lnTo>
                <a:lnTo>
                  <a:pt x="1304089" y="134636"/>
                </a:lnTo>
                <a:lnTo>
                  <a:pt x="1310640" y="183387"/>
                </a:lnTo>
                <a:lnTo>
                  <a:pt x="1310640" y="916927"/>
                </a:lnTo>
                <a:lnTo>
                  <a:pt x="1304089" y="965680"/>
                </a:lnTo>
                <a:lnTo>
                  <a:pt x="1285602" y="1009490"/>
                </a:lnTo>
                <a:lnTo>
                  <a:pt x="1256926" y="1046608"/>
                </a:lnTo>
                <a:lnTo>
                  <a:pt x="1219811" y="1075286"/>
                </a:lnTo>
                <a:lnTo>
                  <a:pt x="1176003" y="1093776"/>
                </a:lnTo>
                <a:lnTo>
                  <a:pt x="1127252" y="1100328"/>
                </a:lnTo>
                <a:lnTo>
                  <a:pt x="183388" y="1100328"/>
                </a:lnTo>
                <a:lnTo>
                  <a:pt x="134636" y="1093776"/>
                </a:lnTo>
                <a:lnTo>
                  <a:pt x="90828" y="1075286"/>
                </a:lnTo>
                <a:lnTo>
                  <a:pt x="53713" y="1046608"/>
                </a:lnTo>
                <a:lnTo>
                  <a:pt x="25037" y="1009490"/>
                </a:lnTo>
                <a:lnTo>
                  <a:pt x="6550" y="965680"/>
                </a:lnTo>
                <a:lnTo>
                  <a:pt x="0" y="916927"/>
                </a:lnTo>
                <a:lnTo>
                  <a:pt x="0" y="183387"/>
                </a:lnTo>
                <a:close/>
              </a:path>
            </a:pathLst>
          </a:cu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4" name="Google Shape;1114;p61"/>
          <p:cNvSpPr txBox="1"/>
          <p:nvPr/>
        </p:nvSpPr>
        <p:spPr>
          <a:xfrm>
            <a:off x="8875218" y="2182874"/>
            <a:ext cx="8199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43814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C(x, y)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Output Image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15" name="Google Shape;1115;p61"/>
          <p:cNvGrpSpPr/>
          <p:nvPr/>
        </p:nvGrpSpPr>
        <p:grpSpPr>
          <a:xfrm>
            <a:off x="3553967" y="2616707"/>
            <a:ext cx="4491228" cy="469392"/>
            <a:chOff x="3553967" y="2616707"/>
            <a:chExt cx="4491228" cy="469392"/>
          </a:xfrm>
        </p:grpSpPr>
        <p:pic>
          <p:nvPicPr>
            <p:cNvPr id="1116" name="Google Shape;1116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53967" y="2616708"/>
              <a:ext cx="714755" cy="469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7" name="Google Shape;1117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01211" y="2647187"/>
              <a:ext cx="618743" cy="361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61"/>
            <p:cNvSpPr/>
            <p:nvPr/>
          </p:nvSpPr>
          <p:spPr>
            <a:xfrm>
              <a:off x="3601211" y="2647187"/>
              <a:ext cx="619125" cy="361314"/>
            </a:xfrm>
            <a:custGeom>
              <a:rect b="b" l="l" r="r" t="t"/>
              <a:pathLst>
                <a:path extrusionOk="0" h="361314" w="619125">
                  <a:moveTo>
                    <a:pt x="0" y="90297"/>
                  </a:moveTo>
                  <a:lnTo>
                    <a:pt x="438150" y="90297"/>
                  </a:lnTo>
                  <a:lnTo>
                    <a:pt x="438150" y="0"/>
                  </a:lnTo>
                  <a:lnTo>
                    <a:pt x="618744" y="180594"/>
                  </a:lnTo>
                  <a:lnTo>
                    <a:pt x="438150" y="361188"/>
                  </a:lnTo>
                  <a:lnTo>
                    <a:pt x="438150" y="270891"/>
                  </a:lnTo>
                  <a:lnTo>
                    <a:pt x="0" y="270891"/>
                  </a:lnTo>
                  <a:lnTo>
                    <a:pt x="0" y="90297"/>
                  </a:lnTo>
                  <a:close/>
                </a:path>
              </a:pathLst>
            </a:custGeom>
            <a:noFill/>
            <a:ln cap="flat" cmpd="sng" w="9525">
              <a:solidFill>
                <a:srgbClr val="D996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19" name="Google Shape;1119;p6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1964" y="2616707"/>
              <a:ext cx="713231" cy="469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0" name="Google Shape;1120;p6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79208" y="2647187"/>
              <a:ext cx="617220" cy="361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61"/>
            <p:cNvSpPr/>
            <p:nvPr/>
          </p:nvSpPr>
          <p:spPr>
            <a:xfrm>
              <a:off x="7379208" y="2647187"/>
              <a:ext cx="617220" cy="361314"/>
            </a:xfrm>
            <a:custGeom>
              <a:rect b="b" l="l" r="r" t="t"/>
              <a:pathLst>
                <a:path extrusionOk="0" h="361314" w="617220">
                  <a:moveTo>
                    <a:pt x="0" y="90297"/>
                  </a:moveTo>
                  <a:lnTo>
                    <a:pt x="436626" y="90297"/>
                  </a:lnTo>
                  <a:lnTo>
                    <a:pt x="436626" y="0"/>
                  </a:lnTo>
                  <a:lnTo>
                    <a:pt x="617220" y="180594"/>
                  </a:lnTo>
                  <a:lnTo>
                    <a:pt x="436626" y="361188"/>
                  </a:lnTo>
                  <a:lnTo>
                    <a:pt x="436626" y="270891"/>
                  </a:lnTo>
                  <a:lnTo>
                    <a:pt x="0" y="270891"/>
                  </a:lnTo>
                  <a:lnTo>
                    <a:pt x="0" y="90297"/>
                  </a:lnTo>
                  <a:close/>
                </a:path>
              </a:pathLst>
            </a:custGeom>
            <a:noFill/>
            <a:ln cap="flat" cmpd="sng" w="9525">
              <a:solidFill>
                <a:srgbClr val="D9969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22" name="Google Shape;1122;p6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23" name="Google Shape;1123;p6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4" name="Google Shape;1124;p6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6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0" name="Google Shape;1130;p6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1" name="Google Shape;1131;p6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Histogram Specification - Steps</a:t>
            </a:r>
            <a:endParaRPr/>
          </a:p>
        </p:txBody>
      </p:sp>
      <p:sp>
        <p:nvSpPr>
          <p:cNvPr id="1132" name="Google Shape;1132;p62"/>
          <p:cNvSpPr txBox="1"/>
          <p:nvPr/>
        </p:nvSpPr>
        <p:spPr>
          <a:xfrm>
            <a:off x="688340" y="910796"/>
            <a:ext cx="107823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500"/>
              <a:buFont typeface="Noto Sans Symbols"/>
              <a:buChar char="▪"/>
            </a:pPr>
            <a:r>
              <a:rPr lang="en-US" sz="4400">
                <a:latin typeface="Bell MT"/>
                <a:ea typeface="Bell MT"/>
                <a:cs typeface="Bell MT"/>
                <a:sym typeface="Bell MT"/>
              </a:rPr>
              <a:t>Mapping function can be found in three steps:</a:t>
            </a:r>
            <a:endParaRPr sz="44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Equalize the histogram of	the </a:t>
            </a:r>
            <a:r>
              <a:rPr lang="en-US" sz="4000" u="sng">
                <a:latin typeface="Bell MT"/>
                <a:ea typeface="Bell MT"/>
                <a:cs typeface="Bell MT"/>
                <a:sym typeface="Bell MT"/>
              </a:rPr>
              <a:t>input image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Equalize the </a:t>
            </a:r>
            <a:r>
              <a:rPr lang="en-US" sz="4000" u="sng">
                <a:latin typeface="Bell MT"/>
                <a:ea typeface="Bell MT"/>
                <a:cs typeface="Bell MT"/>
                <a:sym typeface="Bell MT"/>
              </a:rPr>
              <a:t>specified histogram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Relate the </a:t>
            </a:r>
            <a:r>
              <a:rPr lang="en-US" sz="4000" u="sng">
                <a:latin typeface="Bell MT"/>
                <a:ea typeface="Bell MT"/>
                <a:cs typeface="Bell MT"/>
                <a:sym typeface="Bell MT"/>
              </a:rPr>
              <a:t>two equalized </a:t>
            </a:r>
            <a:r>
              <a:rPr lang="en-US" sz="4000" u="none">
                <a:latin typeface="Bell MT"/>
                <a:ea typeface="Bell MT"/>
                <a:cs typeface="Bell MT"/>
                <a:sym typeface="Bell MT"/>
              </a:rPr>
              <a:t>histograms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33" name="Google Shape;1133;p62"/>
          <p:cNvSpPr txBox="1"/>
          <p:nvPr>
            <p:ph idx="11" type="ftr"/>
          </p:nvPr>
        </p:nvSpPr>
        <p:spPr>
          <a:xfrm>
            <a:off x="43822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34" name="Google Shape;1134;p6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5" name="Google Shape;1135;p6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1" name="Google Shape;1141;p6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2" name="Google Shape;1142;p6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Development of the Method (Continuous Case)</a:t>
            </a:r>
            <a:endParaRPr/>
          </a:p>
        </p:txBody>
      </p:sp>
      <p:sp>
        <p:nvSpPr>
          <p:cNvPr id="1143" name="Google Shape;1143;p63"/>
          <p:cNvSpPr txBox="1"/>
          <p:nvPr/>
        </p:nvSpPr>
        <p:spPr>
          <a:xfrm>
            <a:off x="574052" y="993150"/>
            <a:ext cx="11313000" cy="26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Notations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93750" rtl="0" algn="l">
              <a:lnSpc>
                <a:spcPct val="108076"/>
              </a:lnSpc>
              <a:spcBef>
                <a:spcPts val="1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Continuous gray levels 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are of the </a:t>
            </a:r>
            <a:r>
              <a:rPr i="1" lang="en-US" sz="2600" u="sng">
                <a:latin typeface="Bell MT"/>
                <a:ea typeface="Bell MT"/>
                <a:cs typeface="Bell MT"/>
                <a:sym typeface="Bell MT"/>
              </a:rPr>
              <a:t>input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and the </a:t>
            </a:r>
            <a:r>
              <a:rPr i="1" lang="en-US" sz="2600" u="sng">
                <a:latin typeface="Bell MT"/>
                <a:ea typeface="Bell MT"/>
                <a:cs typeface="Bell MT"/>
                <a:sym typeface="Bell MT"/>
              </a:rPr>
              <a:t>target image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0" lvl="0" marL="794385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respectively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93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Their corresponding 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pdfs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are 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5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(r) </a:t>
            </a:r>
            <a:r>
              <a:rPr i="1" lang="en-US" sz="26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5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(z)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3584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Let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i="1" lang="en-US" sz="30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be the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random variables</a:t>
            </a:r>
            <a:r>
              <a:rPr lang="en-US" sz="3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with the property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4" name="Google Shape;1144;p63"/>
          <p:cNvSpPr txBox="1"/>
          <p:nvPr/>
        </p:nvSpPr>
        <p:spPr>
          <a:xfrm>
            <a:off x="535950" y="4259951"/>
            <a:ext cx="60999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950">
            <a:spAutoFit/>
          </a:bodyPr>
          <a:lstStyle/>
          <a:p>
            <a:pPr indent="0" lvl="0" marL="1616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</a:t>
            </a:r>
            <a:r>
              <a:rPr lang="en-US" sz="155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Ideally, we would want	G(z) = T(r)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5" name="Google Shape;1145;p63"/>
          <p:cNvSpPr txBox="1"/>
          <p:nvPr/>
        </p:nvSpPr>
        <p:spPr>
          <a:xfrm>
            <a:off x="586754" y="5562100"/>
            <a:ext cx="10903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So, </a:t>
            </a:r>
            <a:r>
              <a:rPr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must satisfy the condition </a:t>
            </a:r>
            <a:r>
              <a:rPr lang="en-US" sz="3000">
                <a:latin typeface="Cambria Math"/>
                <a:ea typeface="Cambria Math"/>
                <a:cs typeface="Cambria Math"/>
                <a:sym typeface="Cambria Math"/>
              </a:rPr>
              <a:t>𝑧 = 𝐺</a:t>
            </a:r>
            <a:r>
              <a:rPr baseline="30000" lang="en-US" sz="3300">
                <a:latin typeface="Cambria Math"/>
                <a:ea typeface="Cambria Math"/>
                <a:cs typeface="Cambria Math"/>
                <a:sym typeface="Cambria Math"/>
              </a:rPr>
              <a:t>−1</a:t>
            </a:r>
            <a:r>
              <a:rPr lang="en-US" sz="3000">
                <a:latin typeface="Cambria Math"/>
                <a:ea typeface="Cambria Math"/>
                <a:cs typeface="Cambria Math"/>
                <a:sym typeface="Cambria Math"/>
              </a:rPr>
              <a:t>[𝑇(𝑟)]</a:t>
            </a:r>
            <a:endParaRPr sz="3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46" name="Google Shape;1146;p63"/>
          <p:cNvSpPr txBox="1"/>
          <p:nvPr/>
        </p:nvSpPr>
        <p:spPr>
          <a:xfrm>
            <a:off x="2524248" y="3896800"/>
            <a:ext cx="332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54305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rtl="0" algn="l">
              <a:lnSpc>
                <a:spcPct val="69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latin typeface="Noto Sans Symbols"/>
                <a:ea typeface="Noto Sans Symbols"/>
                <a:cs typeface="Noto Sans Symbols"/>
                <a:sym typeface="Noto Sans Symbols"/>
              </a:rPr>
              <a:t>∫</a:t>
            </a:r>
            <a:r>
              <a:rPr baseline="-25000" 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i="1" lang="en-US" sz="2325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i="1" lang="en-US" sz="23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dw</a:t>
            </a:r>
            <a:endParaRPr sz="2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7" name="Google Shape;1147;p63"/>
          <p:cNvSpPr txBox="1"/>
          <p:nvPr/>
        </p:nvSpPr>
        <p:spPr>
          <a:xfrm>
            <a:off x="6799004" y="3896802"/>
            <a:ext cx="32430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1270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i="1" lang="en-US" sz="155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latin typeface="Noto Sans Symbols"/>
                <a:ea typeface="Noto Sans Symbols"/>
                <a:cs typeface="Noto Sans Symbols"/>
                <a:sym typeface="Noto Sans Symbols"/>
              </a:rPr>
              <a:t>∫</a:t>
            </a:r>
            <a:r>
              <a:rPr baseline="-25000" lang="en-US" sz="6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i="1" lang="en-US" sz="2325"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dt </a:t>
            </a:r>
            <a:r>
              <a:rPr lang="en-US" sz="2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65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24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55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8" name="Google Shape;1148;p63"/>
          <p:cNvSpPr txBox="1"/>
          <p:nvPr/>
        </p:nvSpPr>
        <p:spPr>
          <a:xfrm>
            <a:off x="5946141" y="4073385"/>
            <a:ext cx="428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latin typeface="Calibri"/>
                <a:ea typeface="Calibri"/>
                <a:cs typeface="Calibri"/>
                <a:sym typeface="Calibri"/>
              </a:rPr>
              <a:t>and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63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50" name="Google Shape;1150;p6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1" name="Google Shape;1151;p6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6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7" name="Google Shape;1157;p6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8" name="Google Shape;1158;p6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Development of the Method (Discrete Case)</a:t>
            </a:r>
            <a:endParaRPr/>
          </a:p>
        </p:txBody>
      </p:sp>
      <p:sp>
        <p:nvSpPr>
          <p:cNvPr id="1159" name="Google Shape;1159;p64"/>
          <p:cNvSpPr txBox="1"/>
          <p:nvPr/>
        </p:nvSpPr>
        <p:spPr>
          <a:xfrm>
            <a:off x="191100" y="1065750"/>
            <a:ext cx="11326500" cy="16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Histogram is first obtained for both the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input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target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images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023618" rtl="0" algn="l">
              <a:lnSpc>
                <a:spcPct val="108125"/>
              </a:lnSpc>
              <a:spcBef>
                <a:spcPts val="82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histogram of input image is then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equalized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using the formula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60" name="Google Shape;1160;p64"/>
          <p:cNvSpPr txBox="1"/>
          <p:nvPr/>
        </p:nvSpPr>
        <p:spPr>
          <a:xfrm>
            <a:off x="1031239" y="3878845"/>
            <a:ext cx="8671500" cy="2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4559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US" sz="3300"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k	</a:t>
            </a:r>
            <a:r>
              <a:rPr lang="en-US" sz="3300"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 1, </a:t>
            </a: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3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 0,1,.., </a:t>
            </a: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US" sz="330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" rtl="0" algn="l">
              <a:lnSpc>
                <a:spcPct val="117916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where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" rtl="0" algn="l">
              <a:lnSpc>
                <a:spcPct val="115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–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n is the total number of pixels in the image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" rtl="0" algn="l">
              <a:lnSpc>
                <a:spcPct val="11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–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-25000" lang="en-US" sz="2475">
                <a:latin typeface="Bell MT"/>
                <a:ea typeface="Bell MT"/>
                <a:cs typeface="Bell MT"/>
                <a:sym typeface="Bell MT"/>
              </a:rPr>
              <a:t>j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is the number of	pixels with gray level r</a:t>
            </a:r>
            <a:r>
              <a:rPr baseline="-25000" lang="en-US" sz="2475">
                <a:latin typeface="Bell MT"/>
                <a:ea typeface="Bell MT"/>
                <a:cs typeface="Bell MT"/>
                <a:sym typeface="Bell MT"/>
              </a:rPr>
              <a:t>j</a:t>
            </a:r>
            <a:endParaRPr baseline="-25000" sz="2475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" rtl="0" algn="l">
              <a:lnSpc>
                <a:spcPct val="11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–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L </a:t>
            </a: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is the number of	gray levels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61" name="Google Shape;1161;p64"/>
          <p:cNvSpPr/>
          <p:nvPr/>
        </p:nvSpPr>
        <p:spPr>
          <a:xfrm>
            <a:off x="7803160" y="3285462"/>
            <a:ext cx="417195" cy="0"/>
          </a:xfrm>
          <a:custGeom>
            <a:rect b="b" l="l" r="r" t="t"/>
            <a:pathLst>
              <a:path extrusionOk="0" h="120000" w="417195">
                <a:moveTo>
                  <a:pt x="0" y="0"/>
                </a:moveTo>
                <a:lnTo>
                  <a:pt x="416920" y="0"/>
                </a:lnTo>
              </a:path>
            </a:pathLst>
          </a:custGeom>
          <a:noFill/>
          <a:ln cap="flat" cmpd="sng" w="20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2" name="Google Shape;1162;p64"/>
          <p:cNvSpPr txBox="1"/>
          <p:nvPr/>
        </p:nvSpPr>
        <p:spPr>
          <a:xfrm>
            <a:off x="3309239" y="2955346"/>
            <a:ext cx="2031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k	</a:t>
            </a:r>
            <a:r>
              <a:rPr lang="en-US" sz="33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33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3" name="Google Shape;1163;p64"/>
          <p:cNvSpPr txBox="1"/>
          <p:nvPr/>
        </p:nvSpPr>
        <p:spPr>
          <a:xfrm>
            <a:off x="7839572" y="2468850"/>
            <a:ext cx="724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-25000"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aseline="-25000" lang="en-US" sz="49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baseline="-25000" sz="4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4" name="Google Shape;1164;p64"/>
          <p:cNvSpPr txBox="1"/>
          <p:nvPr/>
        </p:nvSpPr>
        <p:spPr>
          <a:xfrm>
            <a:off x="5547035" y="2703911"/>
            <a:ext cx="2023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k	                        </a:t>
            </a: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64"/>
          <p:cNvSpPr txBox="1"/>
          <p:nvPr/>
        </p:nvSpPr>
        <p:spPr>
          <a:xfrm>
            <a:off x="6099505" y="3243071"/>
            <a:ext cx="574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r	j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6" name="Google Shape;1166;p64"/>
          <p:cNvSpPr txBox="1"/>
          <p:nvPr/>
        </p:nvSpPr>
        <p:spPr>
          <a:xfrm>
            <a:off x="5455449" y="3535300"/>
            <a:ext cx="25155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19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0	                       </a:t>
            </a:r>
            <a:r>
              <a:rPr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19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7" name="Google Shape;1167;p64"/>
          <p:cNvSpPr txBox="1"/>
          <p:nvPr/>
        </p:nvSpPr>
        <p:spPr>
          <a:xfrm>
            <a:off x="5908082" y="2955346"/>
            <a:ext cx="1296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3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 sz="33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8" name="Google Shape;1168;p64"/>
          <p:cNvSpPr txBox="1"/>
          <p:nvPr/>
        </p:nvSpPr>
        <p:spPr>
          <a:xfrm>
            <a:off x="7896559" y="3133569"/>
            <a:ext cx="237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64"/>
          <p:cNvSpPr txBox="1"/>
          <p:nvPr/>
        </p:nvSpPr>
        <p:spPr>
          <a:xfrm>
            <a:off x="5384902" y="2840615"/>
            <a:ext cx="466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5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0" name="Google Shape;1170;p64"/>
          <p:cNvSpPr txBox="1"/>
          <p:nvPr/>
        </p:nvSpPr>
        <p:spPr>
          <a:xfrm>
            <a:off x="7274307" y="2840615"/>
            <a:ext cx="466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endParaRPr sz="5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71" name="Google Shape;1171;p64"/>
          <p:cNvSpPr txBox="1"/>
          <p:nvPr>
            <p:ph idx="11" type="ftr"/>
          </p:nvPr>
        </p:nvSpPr>
        <p:spPr>
          <a:xfrm>
            <a:off x="4398740" y="655613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72" name="Google Shape;1172;p6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3" name="Google Shape;1173;p6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4" name="Google Shape;1174;p64"/>
          <p:cNvSpPr txBox="1"/>
          <p:nvPr/>
        </p:nvSpPr>
        <p:spPr>
          <a:xfrm>
            <a:off x="5032247" y="2870625"/>
            <a:ext cx="53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0" name="Google Shape;1180;p6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1" name="Google Shape;1181;p65"/>
          <p:cNvSpPr txBox="1"/>
          <p:nvPr/>
        </p:nvSpPr>
        <p:spPr>
          <a:xfrm>
            <a:off x="0" y="170175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Development of the Method (Discrete Case)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82" name="Google Shape;1182;p65"/>
          <p:cNvSpPr txBox="1"/>
          <p:nvPr/>
        </p:nvSpPr>
        <p:spPr>
          <a:xfrm>
            <a:off x="510540" y="1063245"/>
            <a:ext cx="85623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From the given target image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(z</a:t>
            </a:r>
            <a:r>
              <a:rPr baseline="-25000" i="1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),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we can obtain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540385" rtl="0" algn="ctr">
              <a:lnSpc>
                <a:spcPct val="100000"/>
              </a:lnSpc>
              <a:spcBef>
                <a:spcPts val="2840"/>
              </a:spcBef>
              <a:spcAft>
                <a:spcPts val="0"/>
              </a:spcAft>
              <a:buNone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65"/>
          <p:cNvSpPr txBox="1"/>
          <p:nvPr/>
        </p:nvSpPr>
        <p:spPr>
          <a:xfrm>
            <a:off x="7291869" y="1970916"/>
            <a:ext cx="27864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8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 0,1,.., </a:t>
            </a: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US" sz="380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4" name="Google Shape;1184;p65"/>
          <p:cNvSpPr txBox="1"/>
          <p:nvPr/>
        </p:nvSpPr>
        <p:spPr>
          <a:xfrm>
            <a:off x="1750750" y="1871199"/>
            <a:ext cx="60933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k	</a:t>
            </a:r>
            <a:r>
              <a:rPr lang="en-US" sz="38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aseline="-25000"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8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baseline="-25000" i="1" lang="en-US" sz="3200">
                <a:latin typeface="Cambria Math"/>
                <a:ea typeface="Cambria Math"/>
                <a:cs typeface="Cambria Math"/>
                <a:sym typeface="Cambria Math"/>
              </a:rPr>
              <a:t>i=0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aseline="-25000"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8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8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en-US" sz="33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38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6378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65"/>
          <p:cNvSpPr txBox="1"/>
          <p:nvPr/>
        </p:nvSpPr>
        <p:spPr>
          <a:xfrm>
            <a:off x="510540" y="3842461"/>
            <a:ext cx="5400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Hence,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</a:t>
            </a:r>
            <a:r>
              <a:rPr baseline="-25000"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must satisfy the condition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86" name="Google Shape;1186;p65"/>
          <p:cNvSpPr txBox="1"/>
          <p:nvPr/>
        </p:nvSpPr>
        <p:spPr>
          <a:xfrm>
            <a:off x="6089903" y="3664153"/>
            <a:ext cx="42309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latin typeface="Times New Roman"/>
                <a:ea typeface="Times New Roman"/>
                <a:cs typeface="Times New Roman"/>
                <a:sym typeface="Times New Roman"/>
              </a:rPr>
              <a:t>G(z</a:t>
            </a:r>
            <a:r>
              <a:rPr baseline="-25000" lang="en-US" sz="405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4100">
                <a:latin typeface="Times New Roman"/>
                <a:ea typeface="Times New Roman"/>
                <a:cs typeface="Times New Roman"/>
                <a:sym typeface="Times New Roman"/>
              </a:rPr>
              <a:t>) = T(r</a:t>
            </a:r>
            <a:r>
              <a:rPr baseline="-25000" lang="en-US" sz="405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4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03935" rtl="0" algn="l">
              <a:lnSpc>
                <a:spcPct val="100000"/>
              </a:lnSpc>
              <a:spcBef>
                <a:spcPts val="3504"/>
              </a:spcBef>
              <a:spcAft>
                <a:spcPts val="0"/>
              </a:spcAft>
              <a:buNone/>
            </a:pPr>
            <a:r>
              <a:rPr lang="en-US" sz="3600">
                <a:latin typeface="Cambria Math"/>
                <a:ea typeface="Cambria Math"/>
                <a:cs typeface="Cambria Math"/>
                <a:sym typeface="Cambria Math"/>
              </a:rPr>
              <a:t>𝑘 = 0,1, . . , 𝐿 − 1</a:t>
            </a:r>
            <a:endParaRPr sz="3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87" name="Google Shape;1187;p65"/>
          <p:cNvSpPr txBox="1"/>
          <p:nvPr/>
        </p:nvSpPr>
        <p:spPr>
          <a:xfrm>
            <a:off x="1831339" y="4734242"/>
            <a:ext cx="33573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mbria Math"/>
                <a:ea typeface="Cambria Math"/>
                <a:cs typeface="Cambria Math"/>
                <a:sym typeface="Cambria Math"/>
              </a:rPr>
              <a:t>𝑧</a:t>
            </a:r>
            <a:r>
              <a:rPr baseline="-25000" lang="en-US" sz="3900">
                <a:latin typeface="Cambria Math"/>
                <a:ea typeface="Cambria Math"/>
                <a:cs typeface="Cambria Math"/>
                <a:sym typeface="Cambria Math"/>
              </a:rPr>
              <a:t>𝑘	</a:t>
            </a:r>
            <a:r>
              <a:rPr lang="en-US" sz="3600">
                <a:latin typeface="Cambria Math"/>
                <a:ea typeface="Cambria Math"/>
                <a:cs typeface="Cambria Math"/>
                <a:sym typeface="Cambria Math"/>
              </a:rPr>
              <a:t>= 𝐺</a:t>
            </a:r>
            <a:r>
              <a:rPr baseline="30000" lang="en-US" sz="3900">
                <a:latin typeface="Cambria Math"/>
                <a:ea typeface="Cambria Math"/>
                <a:cs typeface="Cambria Math"/>
                <a:sym typeface="Cambria Math"/>
              </a:rPr>
              <a:t>−1</a:t>
            </a:r>
            <a:r>
              <a:rPr lang="en-US" sz="3600">
                <a:latin typeface="Cambria Math"/>
                <a:ea typeface="Cambria Math"/>
                <a:cs typeface="Cambria Math"/>
                <a:sym typeface="Cambria Math"/>
              </a:rPr>
              <a:t>[𝑇(𝑟</a:t>
            </a:r>
            <a:r>
              <a:rPr baseline="-25000" lang="en-US" sz="3900">
                <a:latin typeface="Cambria Math"/>
                <a:ea typeface="Cambria Math"/>
                <a:cs typeface="Cambria Math"/>
                <a:sym typeface="Cambria Math"/>
              </a:rPr>
              <a:t>𝑘</a:t>
            </a:r>
            <a:r>
              <a:rPr lang="en-US" sz="36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 sz="3600">
                <a:latin typeface="Cambria Math"/>
                <a:ea typeface="Cambria Math"/>
                <a:cs typeface="Cambria Math"/>
                <a:sym typeface="Cambria Math"/>
              </a:rPr>
              <a:t>],</a:t>
            </a:r>
            <a:endParaRPr sz="3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88" name="Google Shape;1188;p65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89" name="Google Shape;1189;p6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6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5" name="Google Shape;1195;p6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6" name="Google Shape;1196;p6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Development of the Method (Discrete Case)</a:t>
            </a:r>
            <a:endParaRPr/>
          </a:p>
        </p:txBody>
      </p:sp>
      <p:sp>
        <p:nvSpPr>
          <p:cNvPr id="1197" name="Google Shape;1197;p66"/>
          <p:cNvSpPr txBox="1"/>
          <p:nvPr/>
        </p:nvSpPr>
        <p:spPr>
          <a:xfrm>
            <a:off x="586740" y="1169656"/>
            <a:ext cx="10396200" cy="45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675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Algorithm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INPUT: Input image, Target image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OUTPUT: Output image that has the </a:t>
            </a:r>
            <a:r>
              <a:rPr lang="en-US" sz="24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same characteristic</a:t>
            </a:r>
            <a:r>
              <a:rPr lang="en-US" sz="24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as the target image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Steps: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Read the Input image and the Target image.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Obtain the histogram of the input image and the target image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79780" marR="21526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Equalize the histograms of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input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and the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target images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using the equations 	discussed in previous slides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Calculate the transformation function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of the target Image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804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Map the original image gray level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to </a:t>
            </a:r>
            <a:r>
              <a:rPr i="1" lang="en-US" sz="2400" u="sng">
                <a:latin typeface="Bell MT"/>
                <a:ea typeface="Bell MT"/>
                <a:cs typeface="Bell MT"/>
                <a:sym typeface="Bell MT"/>
              </a:rPr>
              <a:t>the final gray level </a:t>
            </a:r>
            <a:r>
              <a:rPr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</a:t>
            </a:r>
            <a:r>
              <a:rPr baseline="-25000"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endParaRPr baseline="-25000"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98" name="Google Shape;1198;p66"/>
          <p:cNvSpPr txBox="1"/>
          <p:nvPr>
            <p:ph idx="11" type="ftr"/>
          </p:nvPr>
        </p:nvSpPr>
        <p:spPr>
          <a:xfrm>
            <a:off x="4398740" y="6547849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99" name="Google Shape;1199;p6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0" name="Google Shape;1200;p6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6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6" name="Google Shape;1206;p6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7" name="Google Shape;1207;p6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Development of the Method (Discrete Case)</a:t>
            </a:r>
            <a:endParaRPr/>
          </a:p>
        </p:txBody>
      </p:sp>
      <p:grpSp>
        <p:nvGrpSpPr>
          <p:cNvPr id="1208" name="Google Shape;1208;p67"/>
          <p:cNvGrpSpPr/>
          <p:nvPr/>
        </p:nvGrpSpPr>
        <p:grpSpPr>
          <a:xfrm>
            <a:off x="1785180" y="1572003"/>
            <a:ext cx="2405060" cy="2252662"/>
            <a:chOff x="1785180" y="1572003"/>
            <a:chExt cx="2405060" cy="2252662"/>
          </a:xfrm>
        </p:grpSpPr>
        <p:sp>
          <p:nvSpPr>
            <p:cNvPr id="1209" name="Google Shape;1209;p67"/>
            <p:cNvSpPr/>
            <p:nvPr/>
          </p:nvSpPr>
          <p:spPr>
            <a:xfrm>
              <a:off x="1828037" y="3781805"/>
              <a:ext cx="2291079" cy="0"/>
            </a:xfrm>
            <a:custGeom>
              <a:rect b="b" l="l" r="r" t="t"/>
              <a:pathLst>
                <a:path extrusionOk="0" h="120000" w="2291079">
                  <a:moveTo>
                    <a:pt x="0" y="0"/>
                  </a:moveTo>
                  <a:lnTo>
                    <a:pt x="22907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67"/>
            <p:cNvSpPr/>
            <p:nvPr/>
          </p:nvSpPr>
          <p:spPr>
            <a:xfrm>
              <a:off x="4104515" y="3738940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67"/>
            <p:cNvSpPr/>
            <p:nvPr/>
          </p:nvSpPr>
          <p:spPr>
            <a:xfrm>
              <a:off x="1828037" y="1643443"/>
              <a:ext cx="0" cy="2138679"/>
            </a:xfrm>
            <a:custGeom>
              <a:rect b="b" l="l" r="r" t="t"/>
              <a:pathLst>
                <a:path extrusionOk="0" h="2138679" w="120000">
                  <a:moveTo>
                    <a:pt x="0" y="21383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67"/>
            <p:cNvSpPr/>
            <p:nvPr/>
          </p:nvSpPr>
          <p:spPr>
            <a:xfrm>
              <a:off x="1785180" y="1572003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67"/>
            <p:cNvSpPr/>
            <p:nvPr/>
          </p:nvSpPr>
          <p:spPr>
            <a:xfrm>
              <a:off x="1847849" y="1907286"/>
              <a:ext cx="1961514" cy="1844039"/>
            </a:xfrm>
            <a:custGeom>
              <a:rect b="b" l="l" r="r" t="t"/>
              <a:pathLst>
                <a:path extrusionOk="0" h="1844039" w="1961514">
                  <a:moveTo>
                    <a:pt x="0" y="1844039"/>
                  </a:moveTo>
                  <a:lnTo>
                    <a:pt x="15873" y="1794086"/>
                  </a:lnTo>
                  <a:lnTo>
                    <a:pt x="31867" y="1744255"/>
                  </a:lnTo>
                  <a:lnTo>
                    <a:pt x="48101" y="1694671"/>
                  </a:lnTo>
                  <a:lnTo>
                    <a:pt x="64694" y="1645458"/>
                  </a:lnTo>
                  <a:lnTo>
                    <a:pt x="81767" y="1596738"/>
                  </a:lnTo>
                  <a:lnTo>
                    <a:pt x="99440" y="1548635"/>
                  </a:lnTo>
                  <a:lnTo>
                    <a:pt x="117832" y="1501273"/>
                  </a:lnTo>
                  <a:lnTo>
                    <a:pt x="137063" y="1454774"/>
                  </a:lnTo>
                  <a:lnTo>
                    <a:pt x="157254" y="1409263"/>
                  </a:lnTo>
                  <a:lnTo>
                    <a:pt x="178524" y="1364862"/>
                  </a:lnTo>
                  <a:lnTo>
                    <a:pt x="200994" y="1321696"/>
                  </a:lnTo>
                  <a:lnTo>
                    <a:pt x="224782" y="1279887"/>
                  </a:lnTo>
                  <a:lnTo>
                    <a:pt x="250009" y="1239558"/>
                  </a:lnTo>
                  <a:lnTo>
                    <a:pt x="276796" y="1200835"/>
                  </a:lnTo>
                  <a:lnTo>
                    <a:pt x="305261" y="1163838"/>
                  </a:lnTo>
                  <a:lnTo>
                    <a:pt x="335525" y="1128693"/>
                  </a:lnTo>
                  <a:lnTo>
                    <a:pt x="367708" y="1095523"/>
                  </a:lnTo>
                  <a:lnTo>
                    <a:pt x="401929" y="1064450"/>
                  </a:lnTo>
                  <a:lnTo>
                    <a:pt x="435026" y="1039185"/>
                  </a:lnTo>
                  <a:lnTo>
                    <a:pt x="470656" y="1017127"/>
                  </a:lnTo>
                  <a:lnTo>
                    <a:pt x="508576" y="997920"/>
                  </a:lnTo>
                  <a:lnTo>
                    <a:pt x="548547" y="981212"/>
                  </a:lnTo>
                  <a:lnTo>
                    <a:pt x="590326" y="966648"/>
                  </a:lnTo>
                  <a:lnTo>
                    <a:pt x="633673" y="953873"/>
                  </a:lnTo>
                  <a:lnTo>
                    <a:pt x="678347" y="942534"/>
                  </a:lnTo>
                  <a:lnTo>
                    <a:pt x="724106" y="932277"/>
                  </a:lnTo>
                  <a:lnTo>
                    <a:pt x="770709" y="922746"/>
                  </a:lnTo>
                  <a:lnTo>
                    <a:pt x="817914" y="913588"/>
                  </a:lnTo>
                  <a:lnTo>
                    <a:pt x="865482" y="904449"/>
                  </a:lnTo>
                  <a:lnTo>
                    <a:pt x="913170" y="894975"/>
                  </a:lnTo>
                  <a:lnTo>
                    <a:pt x="960738" y="884811"/>
                  </a:lnTo>
                  <a:lnTo>
                    <a:pt x="1007944" y="873603"/>
                  </a:lnTo>
                  <a:lnTo>
                    <a:pt x="1054546" y="860998"/>
                  </a:lnTo>
                  <a:lnTo>
                    <a:pt x="1100305" y="846640"/>
                  </a:lnTo>
                  <a:lnTo>
                    <a:pt x="1144979" y="830176"/>
                  </a:lnTo>
                  <a:lnTo>
                    <a:pt x="1188326" y="811251"/>
                  </a:lnTo>
                  <a:lnTo>
                    <a:pt x="1230105" y="789511"/>
                  </a:lnTo>
                  <a:lnTo>
                    <a:pt x="1270076" y="764603"/>
                  </a:lnTo>
                  <a:lnTo>
                    <a:pt x="1306911" y="738481"/>
                  </a:lnTo>
                  <a:lnTo>
                    <a:pt x="1343173" y="710854"/>
                  </a:lnTo>
                  <a:lnTo>
                    <a:pt x="1378891" y="681797"/>
                  </a:lnTo>
                  <a:lnTo>
                    <a:pt x="1414093" y="651384"/>
                  </a:lnTo>
                  <a:lnTo>
                    <a:pt x="1448808" y="619692"/>
                  </a:lnTo>
                  <a:lnTo>
                    <a:pt x="1483064" y="586795"/>
                  </a:lnTo>
                  <a:lnTo>
                    <a:pt x="1516891" y="552769"/>
                  </a:lnTo>
                  <a:lnTo>
                    <a:pt x="1550317" y="517690"/>
                  </a:lnTo>
                  <a:lnTo>
                    <a:pt x="1583370" y="481631"/>
                  </a:lnTo>
                  <a:lnTo>
                    <a:pt x="1616080" y="444669"/>
                  </a:lnTo>
                  <a:lnTo>
                    <a:pt x="1648474" y="406880"/>
                  </a:lnTo>
                  <a:lnTo>
                    <a:pt x="1680582" y="368337"/>
                  </a:lnTo>
                  <a:lnTo>
                    <a:pt x="1712432" y="329117"/>
                  </a:lnTo>
                  <a:lnTo>
                    <a:pt x="1744053" y="289295"/>
                  </a:lnTo>
                  <a:lnTo>
                    <a:pt x="1775473" y="248945"/>
                  </a:lnTo>
                  <a:lnTo>
                    <a:pt x="1806721" y="208144"/>
                  </a:lnTo>
                  <a:lnTo>
                    <a:pt x="1837827" y="166967"/>
                  </a:lnTo>
                  <a:lnTo>
                    <a:pt x="1868817" y="125489"/>
                  </a:lnTo>
                  <a:lnTo>
                    <a:pt x="1899722" y="83784"/>
                  </a:lnTo>
                  <a:lnTo>
                    <a:pt x="1930569" y="41930"/>
                  </a:lnTo>
                  <a:lnTo>
                    <a:pt x="1961388" y="0"/>
                  </a:lnTo>
                </a:path>
              </a:pathLst>
            </a:custGeom>
            <a:noFill/>
            <a:ln cap="flat" cmpd="sng" w="38100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67"/>
            <p:cNvSpPr/>
            <p:nvPr/>
          </p:nvSpPr>
          <p:spPr>
            <a:xfrm>
              <a:off x="1828032" y="1907286"/>
              <a:ext cx="1981200" cy="1873885"/>
            </a:xfrm>
            <a:custGeom>
              <a:rect b="b" l="l" r="r" t="t"/>
              <a:pathLst>
                <a:path extrusionOk="0" h="1873885" w="1981200">
                  <a:moveTo>
                    <a:pt x="1981200" y="0"/>
                  </a:moveTo>
                  <a:lnTo>
                    <a:pt x="0" y="0"/>
                  </a:lnTo>
                </a:path>
                <a:path extrusionOk="0" h="1873885" w="1981200">
                  <a:moveTo>
                    <a:pt x="1981200" y="0"/>
                  </a:moveTo>
                  <a:lnTo>
                    <a:pt x="1981200" y="187377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67"/>
            <p:cNvSpPr/>
            <p:nvPr/>
          </p:nvSpPr>
          <p:spPr>
            <a:xfrm>
              <a:off x="3119008" y="2700619"/>
              <a:ext cx="5714" cy="1081404"/>
            </a:xfrm>
            <a:custGeom>
              <a:rect b="b" l="l" r="r" t="t"/>
              <a:pathLst>
                <a:path extrusionOk="0" h="1081404" w="5714">
                  <a:moveTo>
                    <a:pt x="5308" y="1080985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67"/>
            <p:cNvSpPr/>
            <p:nvPr/>
          </p:nvSpPr>
          <p:spPr>
            <a:xfrm>
              <a:off x="3069414" y="2700623"/>
              <a:ext cx="100330" cy="86360"/>
            </a:xfrm>
            <a:custGeom>
              <a:rect b="b" l="l" r="r" t="t"/>
              <a:pathLst>
                <a:path extrusionOk="0" h="86360" w="100330">
                  <a:moveTo>
                    <a:pt x="0" y="85966"/>
                  </a:moveTo>
                  <a:lnTo>
                    <a:pt x="49593" y="0"/>
                  </a:lnTo>
                  <a:lnTo>
                    <a:pt x="100012" y="85483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67"/>
            <p:cNvSpPr/>
            <p:nvPr/>
          </p:nvSpPr>
          <p:spPr>
            <a:xfrm>
              <a:off x="1856331" y="2672333"/>
              <a:ext cx="1261745" cy="0"/>
            </a:xfrm>
            <a:custGeom>
              <a:rect b="b" l="l" r="r" t="t"/>
              <a:pathLst>
                <a:path extrusionOk="0" h="120000" w="1261745">
                  <a:moveTo>
                    <a:pt x="126165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67"/>
            <p:cNvSpPr/>
            <p:nvPr/>
          </p:nvSpPr>
          <p:spPr>
            <a:xfrm>
              <a:off x="1856324" y="2622322"/>
              <a:ext cx="85725" cy="100330"/>
            </a:xfrm>
            <a:custGeom>
              <a:rect b="b" l="l" r="r" t="t"/>
              <a:pathLst>
                <a:path extrusionOk="0" h="100330" w="85725">
                  <a:moveTo>
                    <a:pt x="85725" y="0"/>
                  </a:moveTo>
                  <a:lnTo>
                    <a:pt x="0" y="50012"/>
                  </a:lnTo>
                  <a:lnTo>
                    <a:pt x="85725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19" name="Google Shape;1219;p67"/>
          <p:cNvSpPr txBox="1"/>
          <p:nvPr/>
        </p:nvSpPr>
        <p:spPr>
          <a:xfrm>
            <a:off x="3500577" y="3891405"/>
            <a:ext cx="563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𝑳 − 𝟏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20" name="Google Shape;1220;p67"/>
          <p:cNvSpPr txBox="1"/>
          <p:nvPr/>
        </p:nvSpPr>
        <p:spPr>
          <a:xfrm>
            <a:off x="2980024" y="3815458"/>
            <a:ext cx="3276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𝒌𝒌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21" name="Google Shape;1221;p67"/>
          <p:cNvSpPr txBox="1"/>
          <p:nvPr/>
        </p:nvSpPr>
        <p:spPr>
          <a:xfrm>
            <a:off x="4187523" y="3474415"/>
            <a:ext cx="162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𝒓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22" name="Google Shape;1222;p67"/>
          <p:cNvSpPr txBox="1"/>
          <p:nvPr/>
        </p:nvSpPr>
        <p:spPr>
          <a:xfrm>
            <a:off x="1739073" y="3859103"/>
            <a:ext cx="177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𝟎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23" name="Google Shape;1223;p67"/>
          <p:cNvSpPr txBox="1"/>
          <p:nvPr/>
        </p:nvSpPr>
        <p:spPr>
          <a:xfrm>
            <a:off x="1612672" y="1156017"/>
            <a:ext cx="1962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5875">
            <a:spAutoFit/>
          </a:bodyPr>
          <a:lstStyle/>
          <a:p>
            <a:pPr indent="0" lvl="0" marL="5524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𝒔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9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𝒍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24" name="Google Shape;1224;p67"/>
          <p:cNvSpPr txBox="1"/>
          <p:nvPr/>
        </p:nvSpPr>
        <p:spPr>
          <a:xfrm>
            <a:off x="2001851" y="1134982"/>
            <a:ext cx="2817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𝑴apping 𝒇𝒓om 𝒓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𝒌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to 𝒔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="1" baseline="-25000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721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𝒗ia 𝑻(𝒓)</a:t>
            </a:r>
            <a:endParaRPr b="1"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25" name="Google Shape;1225;p67"/>
          <p:cNvSpPr txBox="1"/>
          <p:nvPr/>
        </p:nvSpPr>
        <p:spPr>
          <a:xfrm>
            <a:off x="1502157" y="2481363"/>
            <a:ext cx="16155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𝒔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850900" rtl="0" algn="l">
              <a:lnSpc>
                <a:spcPct val="100000"/>
              </a:lnSpc>
              <a:spcBef>
                <a:spcPts val="158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𝑻(𝒓)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226" name="Google Shape;1226;p67"/>
          <p:cNvGrpSpPr/>
          <p:nvPr/>
        </p:nvGrpSpPr>
        <p:grpSpPr>
          <a:xfrm>
            <a:off x="7562664" y="1550668"/>
            <a:ext cx="2405059" cy="2252661"/>
            <a:chOff x="7562664" y="1550668"/>
            <a:chExt cx="2405059" cy="2252661"/>
          </a:xfrm>
        </p:grpSpPr>
        <p:sp>
          <p:nvSpPr>
            <p:cNvPr id="1227" name="Google Shape;1227;p67"/>
            <p:cNvSpPr/>
            <p:nvPr/>
          </p:nvSpPr>
          <p:spPr>
            <a:xfrm>
              <a:off x="7619238" y="1885950"/>
              <a:ext cx="1932940" cy="1856739"/>
            </a:xfrm>
            <a:custGeom>
              <a:rect b="b" l="l" r="r" t="t"/>
              <a:pathLst>
                <a:path extrusionOk="0" h="1856739" w="1932940">
                  <a:moveTo>
                    <a:pt x="0" y="1856232"/>
                  </a:moveTo>
                  <a:lnTo>
                    <a:pt x="3126" y="1801263"/>
                  </a:lnTo>
                  <a:lnTo>
                    <a:pt x="6311" y="1746347"/>
                  </a:lnTo>
                  <a:lnTo>
                    <a:pt x="9613" y="1691535"/>
                  </a:lnTo>
                  <a:lnTo>
                    <a:pt x="13090" y="1636879"/>
                  </a:lnTo>
                  <a:lnTo>
                    <a:pt x="16800" y="1582432"/>
                  </a:lnTo>
                  <a:lnTo>
                    <a:pt x="20802" y="1528245"/>
                  </a:lnTo>
                  <a:lnTo>
                    <a:pt x="25155" y="1474371"/>
                  </a:lnTo>
                  <a:lnTo>
                    <a:pt x="29916" y="1420861"/>
                  </a:lnTo>
                  <a:lnTo>
                    <a:pt x="35144" y="1367769"/>
                  </a:lnTo>
                  <a:lnTo>
                    <a:pt x="40898" y="1315145"/>
                  </a:lnTo>
                  <a:lnTo>
                    <a:pt x="47235" y="1263043"/>
                  </a:lnTo>
                  <a:lnTo>
                    <a:pt x="54215" y="1211514"/>
                  </a:lnTo>
                  <a:lnTo>
                    <a:pt x="61895" y="1160610"/>
                  </a:lnTo>
                  <a:lnTo>
                    <a:pt x="70334" y="1110383"/>
                  </a:lnTo>
                  <a:lnTo>
                    <a:pt x="79590" y="1060886"/>
                  </a:lnTo>
                  <a:lnTo>
                    <a:pt x="89723" y="1012171"/>
                  </a:lnTo>
                  <a:lnTo>
                    <a:pt x="100789" y="964289"/>
                  </a:lnTo>
                  <a:lnTo>
                    <a:pt x="112847" y="917293"/>
                  </a:lnTo>
                  <a:lnTo>
                    <a:pt x="125957" y="871235"/>
                  </a:lnTo>
                  <a:lnTo>
                    <a:pt x="140176" y="826167"/>
                  </a:lnTo>
                  <a:lnTo>
                    <a:pt x="155562" y="782142"/>
                  </a:lnTo>
                  <a:lnTo>
                    <a:pt x="172174" y="739210"/>
                  </a:lnTo>
                  <a:lnTo>
                    <a:pt x="190071" y="697425"/>
                  </a:lnTo>
                  <a:lnTo>
                    <a:pt x="209310" y="656838"/>
                  </a:lnTo>
                  <a:lnTo>
                    <a:pt x="229951" y="617502"/>
                  </a:lnTo>
                  <a:lnTo>
                    <a:pt x="252050" y="579469"/>
                  </a:lnTo>
                  <a:lnTo>
                    <a:pt x="275668" y="542791"/>
                  </a:lnTo>
                  <a:lnTo>
                    <a:pt x="300862" y="507519"/>
                  </a:lnTo>
                  <a:lnTo>
                    <a:pt x="327691" y="473706"/>
                  </a:lnTo>
                  <a:lnTo>
                    <a:pt x="356213" y="441405"/>
                  </a:lnTo>
                  <a:lnTo>
                    <a:pt x="386486" y="410667"/>
                  </a:lnTo>
                  <a:lnTo>
                    <a:pt x="416556" y="383248"/>
                  </a:lnTo>
                  <a:lnTo>
                    <a:pt x="448174" y="357211"/>
                  </a:lnTo>
                  <a:lnTo>
                    <a:pt x="481293" y="332513"/>
                  </a:lnTo>
                  <a:lnTo>
                    <a:pt x="515863" y="309111"/>
                  </a:lnTo>
                  <a:lnTo>
                    <a:pt x="551837" y="286962"/>
                  </a:lnTo>
                  <a:lnTo>
                    <a:pt x="589166" y="266022"/>
                  </a:lnTo>
                  <a:lnTo>
                    <a:pt x="627802" y="246248"/>
                  </a:lnTo>
                  <a:lnTo>
                    <a:pt x="667696" y="227598"/>
                  </a:lnTo>
                  <a:lnTo>
                    <a:pt x="708800" y="210028"/>
                  </a:lnTo>
                  <a:lnTo>
                    <a:pt x="751065" y="193494"/>
                  </a:lnTo>
                  <a:lnTo>
                    <a:pt x="794444" y="177954"/>
                  </a:lnTo>
                  <a:lnTo>
                    <a:pt x="838887" y="163364"/>
                  </a:lnTo>
                  <a:lnTo>
                    <a:pt x="884346" y="149681"/>
                  </a:lnTo>
                  <a:lnTo>
                    <a:pt x="930774" y="136862"/>
                  </a:lnTo>
                  <a:lnTo>
                    <a:pt x="978121" y="124864"/>
                  </a:lnTo>
                  <a:lnTo>
                    <a:pt x="1026339" y="113644"/>
                  </a:lnTo>
                  <a:lnTo>
                    <a:pt x="1075380" y="103157"/>
                  </a:lnTo>
                  <a:lnTo>
                    <a:pt x="1125195" y="93362"/>
                  </a:lnTo>
                  <a:lnTo>
                    <a:pt x="1175736" y="84215"/>
                  </a:lnTo>
                  <a:lnTo>
                    <a:pt x="1226954" y="75673"/>
                  </a:lnTo>
                  <a:lnTo>
                    <a:pt x="1278802" y="67692"/>
                  </a:lnTo>
                  <a:lnTo>
                    <a:pt x="1331230" y="60229"/>
                  </a:lnTo>
                  <a:lnTo>
                    <a:pt x="1384191" y="53242"/>
                  </a:lnTo>
                  <a:lnTo>
                    <a:pt x="1437636" y="46687"/>
                  </a:lnTo>
                  <a:lnTo>
                    <a:pt x="1491516" y="40520"/>
                  </a:lnTo>
                  <a:lnTo>
                    <a:pt x="1545784" y="34699"/>
                  </a:lnTo>
                  <a:lnTo>
                    <a:pt x="1600390" y="29181"/>
                  </a:lnTo>
                  <a:lnTo>
                    <a:pt x="1655287" y="23921"/>
                  </a:lnTo>
                  <a:lnTo>
                    <a:pt x="1710425" y="18878"/>
                  </a:lnTo>
                  <a:lnTo>
                    <a:pt x="1765757" y="14007"/>
                  </a:lnTo>
                  <a:lnTo>
                    <a:pt x="1821235" y="9266"/>
                  </a:lnTo>
                  <a:lnTo>
                    <a:pt x="1876809" y="4611"/>
                  </a:lnTo>
                  <a:lnTo>
                    <a:pt x="1932432" y="0"/>
                  </a:lnTo>
                </a:path>
              </a:pathLst>
            </a:custGeom>
            <a:noFill/>
            <a:ln cap="flat" cmpd="sng" w="3807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8" name="Google Shape;1228;p67"/>
            <p:cNvSpPr/>
            <p:nvPr/>
          </p:nvSpPr>
          <p:spPr>
            <a:xfrm>
              <a:off x="7605522" y="3760470"/>
              <a:ext cx="2291079" cy="0"/>
            </a:xfrm>
            <a:custGeom>
              <a:rect b="b" l="l" r="r" t="t"/>
              <a:pathLst>
                <a:path extrusionOk="0" h="120000" w="2291079">
                  <a:moveTo>
                    <a:pt x="0" y="0"/>
                  </a:moveTo>
                  <a:lnTo>
                    <a:pt x="22907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9" name="Google Shape;1229;p67"/>
            <p:cNvSpPr/>
            <p:nvPr/>
          </p:nvSpPr>
          <p:spPr>
            <a:xfrm>
              <a:off x="9881998" y="3717604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0" name="Google Shape;1230;p67"/>
            <p:cNvSpPr/>
            <p:nvPr/>
          </p:nvSpPr>
          <p:spPr>
            <a:xfrm>
              <a:off x="7605522" y="1622107"/>
              <a:ext cx="0" cy="2138679"/>
            </a:xfrm>
            <a:custGeom>
              <a:rect b="b" l="l" r="r" t="t"/>
              <a:pathLst>
                <a:path extrusionOk="0" h="2138679" w="120000">
                  <a:moveTo>
                    <a:pt x="0" y="21383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1" name="Google Shape;1231;p67"/>
            <p:cNvSpPr/>
            <p:nvPr/>
          </p:nvSpPr>
          <p:spPr>
            <a:xfrm>
              <a:off x="7562664" y="1550668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2" name="Google Shape;1232;p67"/>
            <p:cNvSpPr/>
            <p:nvPr/>
          </p:nvSpPr>
          <p:spPr>
            <a:xfrm>
              <a:off x="7605517" y="1885950"/>
              <a:ext cx="1981200" cy="1873885"/>
            </a:xfrm>
            <a:custGeom>
              <a:rect b="b" l="l" r="r" t="t"/>
              <a:pathLst>
                <a:path extrusionOk="0" h="1873885" w="1981200">
                  <a:moveTo>
                    <a:pt x="1981200" y="0"/>
                  </a:moveTo>
                  <a:lnTo>
                    <a:pt x="0" y="0"/>
                  </a:lnTo>
                </a:path>
                <a:path extrusionOk="0" h="1873885" w="1981200">
                  <a:moveTo>
                    <a:pt x="1981200" y="0"/>
                  </a:moveTo>
                  <a:lnTo>
                    <a:pt x="1981200" y="187377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3" name="Google Shape;1233;p67"/>
            <p:cNvSpPr/>
            <p:nvPr/>
          </p:nvSpPr>
          <p:spPr>
            <a:xfrm>
              <a:off x="8338563" y="2136747"/>
              <a:ext cx="636" cy="1605914"/>
            </a:xfrm>
            <a:custGeom>
              <a:rect b="b" l="l" r="r" t="t"/>
              <a:pathLst>
                <a:path extrusionOk="0" h="1605914" w="634">
                  <a:moveTo>
                    <a:pt x="76" y="1605635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4" name="Google Shape;1234;p67"/>
            <p:cNvSpPr/>
            <p:nvPr/>
          </p:nvSpPr>
          <p:spPr>
            <a:xfrm>
              <a:off x="8288559" y="2136743"/>
              <a:ext cx="100329" cy="85725"/>
            </a:xfrm>
            <a:custGeom>
              <a:rect b="b" l="l" r="r" t="t"/>
              <a:pathLst>
                <a:path extrusionOk="0" h="85725" w="100329">
                  <a:moveTo>
                    <a:pt x="0" y="85725"/>
                  </a:moveTo>
                  <a:lnTo>
                    <a:pt x="50012" y="0"/>
                  </a:lnTo>
                  <a:lnTo>
                    <a:pt x="100012" y="85725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67"/>
            <p:cNvSpPr/>
            <p:nvPr/>
          </p:nvSpPr>
          <p:spPr>
            <a:xfrm>
              <a:off x="7633810" y="2140458"/>
              <a:ext cx="704215" cy="0"/>
            </a:xfrm>
            <a:custGeom>
              <a:rect b="b" l="l" r="r" t="t"/>
              <a:pathLst>
                <a:path extrusionOk="0" h="120000" w="704215">
                  <a:moveTo>
                    <a:pt x="70379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67"/>
            <p:cNvSpPr/>
            <p:nvPr/>
          </p:nvSpPr>
          <p:spPr>
            <a:xfrm>
              <a:off x="7633808" y="2090446"/>
              <a:ext cx="85725" cy="100330"/>
            </a:xfrm>
            <a:custGeom>
              <a:rect b="b" l="l" r="r" t="t"/>
              <a:pathLst>
                <a:path extrusionOk="0" h="100330" w="85725">
                  <a:moveTo>
                    <a:pt x="85725" y="0"/>
                  </a:moveTo>
                  <a:lnTo>
                    <a:pt x="0" y="50012"/>
                  </a:lnTo>
                  <a:lnTo>
                    <a:pt x="85725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37" name="Google Shape;1237;p67"/>
          <p:cNvSpPr txBox="1"/>
          <p:nvPr/>
        </p:nvSpPr>
        <p:spPr>
          <a:xfrm>
            <a:off x="9293034" y="3839018"/>
            <a:ext cx="563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𝑳 − 𝟏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38" name="Google Shape;1238;p67"/>
          <p:cNvSpPr txBox="1"/>
          <p:nvPr/>
        </p:nvSpPr>
        <p:spPr>
          <a:xfrm>
            <a:off x="8202101" y="3799857"/>
            <a:ext cx="321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𝒛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39" name="Google Shape;1239;p67"/>
          <p:cNvSpPr txBox="1"/>
          <p:nvPr/>
        </p:nvSpPr>
        <p:spPr>
          <a:xfrm>
            <a:off x="9965061" y="3452804"/>
            <a:ext cx="1575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𝒛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40" name="Google Shape;1240;p67"/>
          <p:cNvSpPr txBox="1"/>
          <p:nvPr/>
        </p:nvSpPr>
        <p:spPr>
          <a:xfrm>
            <a:off x="7516610" y="3837494"/>
            <a:ext cx="177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𝟎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41" name="Google Shape;1241;p67"/>
          <p:cNvSpPr txBox="1"/>
          <p:nvPr/>
        </p:nvSpPr>
        <p:spPr>
          <a:xfrm>
            <a:off x="7272992" y="1712358"/>
            <a:ext cx="341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𝒍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ctr">
              <a:lnSpc>
                <a:spcPct val="1052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𝒗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𝒒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42" name="Google Shape;1242;p67"/>
          <p:cNvSpPr txBox="1"/>
          <p:nvPr/>
        </p:nvSpPr>
        <p:spPr>
          <a:xfrm>
            <a:off x="7449818" y="1265820"/>
            <a:ext cx="1785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𝒗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43" name="Google Shape;1243;p67"/>
          <p:cNvSpPr txBox="1"/>
          <p:nvPr/>
        </p:nvSpPr>
        <p:spPr>
          <a:xfrm>
            <a:off x="7811425" y="1154975"/>
            <a:ext cx="3271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𝑴apping 𝒇𝒓om 𝒛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𝒌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to 𝒗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="1" baseline="-25000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79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𝒗ia 𝑮(𝒛)</a:t>
            </a:r>
            <a:endParaRPr b="1"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44" name="Google Shape;1244;p67"/>
          <p:cNvSpPr txBox="1"/>
          <p:nvPr/>
        </p:nvSpPr>
        <p:spPr>
          <a:xfrm>
            <a:off x="8933029" y="1953944"/>
            <a:ext cx="5385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𝑮(𝒛)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245" name="Google Shape;1245;p67"/>
          <p:cNvGrpSpPr/>
          <p:nvPr/>
        </p:nvGrpSpPr>
        <p:grpSpPr>
          <a:xfrm>
            <a:off x="4945956" y="3800091"/>
            <a:ext cx="2405059" cy="2252662"/>
            <a:chOff x="4945956" y="3800091"/>
            <a:chExt cx="2405059" cy="2252662"/>
          </a:xfrm>
        </p:grpSpPr>
        <p:sp>
          <p:nvSpPr>
            <p:cNvPr id="1246" name="Google Shape;1246;p67"/>
            <p:cNvSpPr/>
            <p:nvPr/>
          </p:nvSpPr>
          <p:spPr>
            <a:xfrm>
              <a:off x="5001006" y="4136897"/>
              <a:ext cx="1934209" cy="1856739"/>
            </a:xfrm>
            <a:custGeom>
              <a:rect b="b" l="l" r="r" t="t"/>
              <a:pathLst>
                <a:path extrusionOk="0" h="1856739" w="1934209">
                  <a:moveTo>
                    <a:pt x="0" y="1856232"/>
                  </a:moveTo>
                  <a:lnTo>
                    <a:pt x="3129" y="1801263"/>
                  </a:lnTo>
                  <a:lnTo>
                    <a:pt x="6316" y="1746347"/>
                  </a:lnTo>
                  <a:lnTo>
                    <a:pt x="9620" y="1691535"/>
                  </a:lnTo>
                  <a:lnTo>
                    <a:pt x="13100" y="1636879"/>
                  </a:lnTo>
                  <a:lnTo>
                    <a:pt x="16813" y="1582432"/>
                  </a:lnTo>
                  <a:lnTo>
                    <a:pt x="20819" y="1528245"/>
                  </a:lnTo>
                  <a:lnTo>
                    <a:pt x="25174" y="1474371"/>
                  </a:lnTo>
                  <a:lnTo>
                    <a:pt x="29939" y="1420861"/>
                  </a:lnTo>
                  <a:lnTo>
                    <a:pt x="35172" y="1367769"/>
                  </a:lnTo>
                  <a:lnTo>
                    <a:pt x="40930" y="1315145"/>
                  </a:lnTo>
                  <a:lnTo>
                    <a:pt x="47272" y="1263043"/>
                  </a:lnTo>
                  <a:lnTo>
                    <a:pt x="54258" y="1211514"/>
                  </a:lnTo>
                  <a:lnTo>
                    <a:pt x="61944" y="1160610"/>
                  </a:lnTo>
                  <a:lnTo>
                    <a:pt x="70390" y="1110383"/>
                  </a:lnTo>
                  <a:lnTo>
                    <a:pt x="79653" y="1060886"/>
                  </a:lnTo>
                  <a:lnTo>
                    <a:pt x="89793" y="1012171"/>
                  </a:lnTo>
                  <a:lnTo>
                    <a:pt x="100868" y="964289"/>
                  </a:lnTo>
                  <a:lnTo>
                    <a:pt x="112936" y="917293"/>
                  </a:lnTo>
                  <a:lnTo>
                    <a:pt x="126056" y="871235"/>
                  </a:lnTo>
                  <a:lnTo>
                    <a:pt x="140286" y="826167"/>
                  </a:lnTo>
                  <a:lnTo>
                    <a:pt x="155685" y="782142"/>
                  </a:lnTo>
                  <a:lnTo>
                    <a:pt x="172310" y="739210"/>
                  </a:lnTo>
                  <a:lnTo>
                    <a:pt x="190221" y="697425"/>
                  </a:lnTo>
                  <a:lnTo>
                    <a:pt x="209475" y="656838"/>
                  </a:lnTo>
                  <a:lnTo>
                    <a:pt x="230132" y="617502"/>
                  </a:lnTo>
                  <a:lnTo>
                    <a:pt x="252249" y="579469"/>
                  </a:lnTo>
                  <a:lnTo>
                    <a:pt x="275886" y="542791"/>
                  </a:lnTo>
                  <a:lnTo>
                    <a:pt x="301100" y="507519"/>
                  </a:lnTo>
                  <a:lnTo>
                    <a:pt x="327950" y="473706"/>
                  </a:lnTo>
                  <a:lnTo>
                    <a:pt x="356494" y="441405"/>
                  </a:lnTo>
                  <a:lnTo>
                    <a:pt x="386791" y="410667"/>
                  </a:lnTo>
                  <a:lnTo>
                    <a:pt x="416884" y="383248"/>
                  </a:lnTo>
                  <a:lnTo>
                    <a:pt x="448527" y="357211"/>
                  </a:lnTo>
                  <a:lnTo>
                    <a:pt x="481672" y="332513"/>
                  </a:lnTo>
                  <a:lnTo>
                    <a:pt x="516270" y="309111"/>
                  </a:lnTo>
                  <a:lnTo>
                    <a:pt x="552272" y="286962"/>
                  </a:lnTo>
                  <a:lnTo>
                    <a:pt x="589631" y="266022"/>
                  </a:lnTo>
                  <a:lnTo>
                    <a:pt x="628297" y="246248"/>
                  </a:lnTo>
                  <a:lnTo>
                    <a:pt x="668223" y="227598"/>
                  </a:lnTo>
                  <a:lnTo>
                    <a:pt x="709359" y="210028"/>
                  </a:lnTo>
                  <a:lnTo>
                    <a:pt x="751658" y="193494"/>
                  </a:lnTo>
                  <a:lnTo>
                    <a:pt x="795070" y="177954"/>
                  </a:lnTo>
                  <a:lnTo>
                    <a:pt x="839549" y="163364"/>
                  </a:lnTo>
                  <a:lnTo>
                    <a:pt x="885044" y="149681"/>
                  </a:lnTo>
                  <a:lnTo>
                    <a:pt x="931508" y="136862"/>
                  </a:lnTo>
                  <a:lnTo>
                    <a:pt x="978892" y="124864"/>
                  </a:lnTo>
                  <a:lnTo>
                    <a:pt x="1027148" y="113644"/>
                  </a:lnTo>
                  <a:lnTo>
                    <a:pt x="1076228" y="103157"/>
                  </a:lnTo>
                  <a:lnTo>
                    <a:pt x="1126082" y="93362"/>
                  </a:lnTo>
                  <a:lnTo>
                    <a:pt x="1176663" y="84215"/>
                  </a:lnTo>
                  <a:lnTo>
                    <a:pt x="1227922" y="75673"/>
                  </a:lnTo>
                  <a:lnTo>
                    <a:pt x="1279811" y="67692"/>
                  </a:lnTo>
                  <a:lnTo>
                    <a:pt x="1332280" y="60229"/>
                  </a:lnTo>
                  <a:lnTo>
                    <a:pt x="1385283" y="53242"/>
                  </a:lnTo>
                  <a:lnTo>
                    <a:pt x="1438770" y="46687"/>
                  </a:lnTo>
                  <a:lnTo>
                    <a:pt x="1492693" y="40520"/>
                  </a:lnTo>
                  <a:lnTo>
                    <a:pt x="1547003" y="34699"/>
                  </a:lnTo>
                  <a:lnTo>
                    <a:pt x="1601652" y="29181"/>
                  </a:lnTo>
                  <a:lnTo>
                    <a:pt x="1656592" y="23921"/>
                  </a:lnTo>
                  <a:lnTo>
                    <a:pt x="1711774" y="18878"/>
                  </a:lnTo>
                  <a:lnTo>
                    <a:pt x="1767150" y="14007"/>
                  </a:lnTo>
                  <a:lnTo>
                    <a:pt x="1822671" y="9266"/>
                  </a:lnTo>
                  <a:lnTo>
                    <a:pt x="1878289" y="4611"/>
                  </a:lnTo>
                  <a:lnTo>
                    <a:pt x="1933956" y="0"/>
                  </a:lnTo>
                </a:path>
              </a:pathLst>
            </a:custGeom>
            <a:noFill/>
            <a:ln cap="flat" cmpd="sng" w="38100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67"/>
            <p:cNvSpPr/>
            <p:nvPr/>
          </p:nvSpPr>
          <p:spPr>
            <a:xfrm>
              <a:off x="4988814" y="6009893"/>
              <a:ext cx="2291079" cy="0"/>
            </a:xfrm>
            <a:custGeom>
              <a:rect b="b" l="l" r="r" t="t"/>
              <a:pathLst>
                <a:path extrusionOk="0" h="120000" w="2291079">
                  <a:moveTo>
                    <a:pt x="0" y="0"/>
                  </a:moveTo>
                  <a:lnTo>
                    <a:pt x="22907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67"/>
            <p:cNvSpPr/>
            <p:nvPr/>
          </p:nvSpPr>
          <p:spPr>
            <a:xfrm>
              <a:off x="7265290" y="5967028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67"/>
            <p:cNvSpPr/>
            <p:nvPr/>
          </p:nvSpPr>
          <p:spPr>
            <a:xfrm>
              <a:off x="4988814" y="3871531"/>
              <a:ext cx="0" cy="2138679"/>
            </a:xfrm>
            <a:custGeom>
              <a:rect b="b" l="l" r="r" t="t"/>
              <a:pathLst>
                <a:path extrusionOk="0" h="2138679" w="120000">
                  <a:moveTo>
                    <a:pt x="0" y="21383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67"/>
            <p:cNvSpPr/>
            <p:nvPr/>
          </p:nvSpPr>
          <p:spPr>
            <a:xfrm>
              <a:off x="4945956" y="3800091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67"/>
            <p:cNvSpPr/>
            <p:nvPr/>
          </p:nvSpPr>
          <p:spPr>
            <a:xfrm>
              <a:off x="4988808" y="4136897"/>
              <a:ext cx="1981200" cy="1873885"/>
            </a:xfrm>
            <a:custGeom>
              <a:rect b="b" l="l" r="r" t="t"/>
              <a:pathLst>
                <a:path extrusionOk="0" h="1873885" w="1981200">
                  <a:moveTo>
                    <a:pt x="1981200" y="0"/>
                  </a:moveTo>
                  <a:lnTo>
                    <a:pt x="0" y="0"/>
                  </a:lnTo>
                </a:path>
                <a:path extrusionOk="0" h="1873885" w="1981200">
                  <a:moveTo>
                    <a:pt x="1981200" y="0"/>
                  </a:moveTo>
                  <a:lnTo>
                    <a:pt x="1981200" y="187377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67"/>
            <p:cNvSpPr/>
            <p:nvPr/>
          </p:nvSpPr>
          <p:spPr>
            <a:xfrm>
              <a:off x="5258562" y="4738877"/>
              <a:ext cx="0" cy="1240789"/>
            </a:xfrm>
            <a:custGeom>
              <a:rect b="b" l="l" r="r" t="t"/>
              <a:pathLst>
                <a:path extrusionOk="0" h="1240789" w="120000">
                  <a:moveTo>
                    <a:pt x="0" y="0"/>
                  </a:moveTo>
                  <a:lnTo>
                    <a:pt x="0" y="1240624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67"/>
            <p:cNvSpPr/>
            <p:nvPr/>
          </p:nvSpPr>
          <p:spPr>
            <a:xfrm>
              <a:off x="5208562" y="5893779"/>
              <a:ext cx="100329" cy="85725"/>
            </a:xfrm>
            <a:custGeom>
              <a:rect b="b" l="l" r="r" t="t"/>
              <a:pathLst>
                <a:path extrusionOk="0" h="85725" w="100329">
                  <a:moveTo>
                    <a:pt x="100012" y="0"/>
                  </a:moveTo>
                  <a:lnTo>
                    <a:pt x="49999" y="85725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67"/>
            <p:cNvSpPr/>
            <p:nvPr/>
          </p:nvSpPr>
          <p:spPr>
            <a:xfrm>
              <a:off x="5001006" y="4703825"/>
              <a:ext cx="229235" cy="0"/>
            </a:xfrm>
            <a:custGeom>
              <a:rect b="b" l="l" r="r" t="t"/>
              <a:pathLst>
                <a:path extrusionOk="0" h="120000" w="229235">
                  <a:moveTo>
                    <a:pt x="0" y="0"/>
                  </a:moveTo>
                  <a:lnTo>
                    <a:pt x="22912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67"/>
            <p:cNvSpPr/>
            <p:nvPr/>
          </p:nvSpPr>
          <p:spPr>
            <a:xfrm>
              <a:off x="5144406" y="4653814"/>
              <a:ext cx="85725" cy="100329"/>
            </a:xfrm>
            <a:custGeom>
              <a:rect b="b" l="l" r="r" t="t"/>
              <a:pathLst>
                <a:path extrusionOk="0" h="100329" w="85725">
                  <a:moveTo>
                    <a:pt x="0" y="0"/>
                  </a:moveTo>
                  <a:lnTo>
                    <a:pt x="85725" y="50012"/>
                  </a:lnTo>
                  <a:lnTo>
                    <a:pt x="0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56" name="Google Shape;1256;p67"/>
          <p:cNvSpPr txBox="1"/>
          <p:nvPr/>
        </p:nvSpPr>
        <p:spPr>
          <a:xfrm>
            <a:off x="6675611" y="6088788"/>
            <a:ext cx="563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𝑳 − 𝟏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57" name="Google Shape;1257;p67"/>
          <p:cNvSpPr txBox="1"/>
          <p:nvPr/>
        </p:nvSpPr>
        <p:spPr>
          <a:xfrm>
            <a:off x="7347636" y="5702575"/>
            <a:ext cx="157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𝒛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58" name="Google Shape;1258;p67"/>
          <p:cNvSpPr txBox="1"/>
          <p:nvPr/>
        </p:nvSpPr>
        <p:spPr>
          <a:xfrm>
            <a:off x="4715250" y="5467350"/>
            <a:ext cx="8439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3000">
                <a:latin typeface="Cambria Math"/>
                <a:ea typeface="Cambria Math"/>
                <a:cs typeface="Cambria Math"/>
                <a:sym typeface="Cambria Math"/>
              </a:rPr>
              <a:t>𝟎</a:t>
            </a:r>
            <a:r>
              <a:rPr baseline="-25000" lang="en-US" sz="3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endParaRPr baseline="-25000" sz="3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𝒛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59" name="Google Shape;1259;p67"/>
          <p:cNvSpPr txBox="1"/>
          <p:nvPr/>
        </p:nvSpPr>
        <p:spPr>
          <a:xfrm>
            <a:off x="4639054" y="4461572"/>
            <a:ext cx="31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𝒔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60" name="Google Shape;1260;p67"/>
          <p:cNvSpPr txBox="1"/>
          <p:nvPr/>
        </p:nvSpPr>
        <p:spPr>
          <a:xfrm>
            <a:off x="4777995" y="3960605"/>
            <a:ext cx="12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𝒍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61" name="Google Shape;1261;p67"/>
          <p:cNvSpPr txBox="1"/>
          <p:nvPr/>
        </p:nvSpPr>
        <p:spPr>
          <a:xfrm>
            <a:off x="4832395" y="3515591"/>
            <a:ext cx="1785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𝒗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62" name="Google Shape;1262;p67"/>
          <p:cNvSpPr txBox="1"/>
          <p:nvPr/>
        </p:nvSpPr>
        <p:spPr>
          <a:xfrm>
            <a:off x="7180483" y="4718282"/>
            <a:ext cx="22389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18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𝑰nverse 𝑴apping 𝒇𝒓om 𝒔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𝒌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to 𝒛</a:t>
            </a:r>
            <a:r>
              <a:rPr b="1"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𝒌</a:t>
            </a:r>
            <a:endParaRPr b="1" baseline="-25000"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263" name="Google Shape;1263;p67"/>
          <p:cNvSpPr txBox="1"/>
          <p:nvPr/>
        </p:nvSpPr>
        <p:spPr>
          <a:xfrm>
            <a:off x="6315608" y="4203715"/>
            <a:ext cx="538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𝑮(𝒛)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264" name="Google Shape;1264;p67"/>
          <p:cNvGrpSpPr/>
          <p:nvPr/>
        </p:nvGrpSpPr>
        <p:grpSpPr>
          <a:xfrm>
            <a:off x="1296161" y="2664714"/>
            <a:ext cx="3352802" cy="2037354"/>
            <a:chOff x="1296161" y="2664714"/>
            <a:chExt cx="3352802" cy="2037354"/>
          </a:xfrm>
        </p:grpSpPr>
        <p:sp>
          <p:nvSpPr>
            <p:cNvPr id="1265" name="Google Shape;1265;p67"/>
            <p:cNvSpPr/>
            <p:nvPr/>
          </p:nvSpPr>
          <p:spPr>
            <a:xfrm>
              <a:off x="1296161" y="2664714"/>
              <a:ext cx="3257550" cy="1980564"/>
            </a:xfrm>
            <a:custGeom>
              <a:rect b="b" l="l" r="r" t="t"/>
              <a:pathLst>
                <a:path extrusionOk="0" h="1980564" w="3257550">
                  <a:moveTo>
                    <a:pt x="228600" y="0"/>
                  </a:moveTo>
                  <a:lnTo>
                    <a:pt x="0" y="0"/>
                  </a:lnTo>
                  <a:lnTo>
                    <a:pt x="0" y="1980209"/>
                  </a:lnTo>
                  <a:lnTo>
                    <a:pt x="3257550" y="1980209"/>
                  </a:lnTo>
                </a:path>
              </a:pathLst>
            </a:custGeom>
            <a:noFill/>
            <a:ln cap="flat" cmpd="sng" w="38100">
              <a:solidFill>
                <a:srgbClr val="4A7EBB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67"/>
            <p:cNvSpPr/>
            <p:nvPr/>
          </p:nvSpPr>
          <p:spPr>
            <a:xfrm>
              <a:off x="4534663" y="4587768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A7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67" name="Google Shape;1267;p67"/>
          <p:cNvSpPr txBox="1"/>
          <p:nvPr/>
        </p:nvSpPr>
        <p:spPr>
          <a:xfrm>
            <a:off x="388712" y="4986304"/>
            <a:ext cx="37635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63500" rtl="0" algn="l">
              <a:lnSpc>
                <a:spcPct val="938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aseline="-25000"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aseline="30000" lang="en-US" sz="2475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30000" lang="en-US" sz="2475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aseline="30000" lang="en-US" sz="2475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baseline="30000" lang="en-US" sz="2475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)],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9550" rtl="0" algn="l">
              <a:lnSpc>
                <a:spcPct val="748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		                                           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355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0,1,..,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8" name="Google Shape;1268;p67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69" name="Google Shape;1269;p6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0" name="Google Shape;1270;p6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6" name="Google Shape;1276;p6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7" name="Google Shape;1277;p6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Example</a:t>
            </a:r>
            <a:endParaRPr/>
          </a:p>
        </p:txBody>
      </p:sp>
      <p:graphicFrame>
        <p:nvGraphicFramePr>
          <p:cNvPr id="1278" name="Google Shape;1278;p68"/>
          <p:cNvGraphicFramePr/>
          <p:nvPr/>
        </p:nvGraphicFramePr>
        <p:xfrm>
          <a:off x="146051" y="12128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835025"/>
                <a:gridCol w="917575"/>
                <a:gridCol w="1180475"/>
              </a:tblGrid>
              <a:tr h="481325"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r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n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(r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656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329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0.08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245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122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0.03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0.02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9" name="Google Shape;1279;p68"/>
          <p:cNvGraphicFramePr/>
          <p:nvPr/>
        </p:nvGraphicFramePr>
        <p:xfrm>
          <a:off x="6623050" y="1212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1066800"/>
                <a:gridCol w="1045200"/>
              </a:tblGrid>
              <a:tr h="457200"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27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(z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0.30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280" name="Google Shape;1280;p68"/>
          <p:cNvSpPr txBox="1"/>
          <p:nvPr/>
        </p:nvSpPr>
        <p:spPr>
          <a:xfrm>
            <a:off x="231140" y="5716015"/>
            <a:ext cx="2493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Input Histogram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81" name="Google Shape;1281;p68"/>
          <p:cNvSpPr txBox="1"/>
          <p:nvPr/>
        </p:nvSpPr>
        <p:spPr>
          <a:xfrm>
            <a:off x="6708018" y="5543086"/>
            <a:ext cx="2698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Target Histogram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282" name="Google Shape;128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2990088"/>
            <a:ext cx="3195827" cy="1810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9200" y="3200400"/>
            <a:ext cx="3352800" cy="1559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6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85" name="Google Shape;1285;p6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6" name="Google Shape;1286;p6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6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2" name="Google Shape;1292;p6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3" name="Google Shape;1293;p6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Example</a:t>
            </a:r>
            <a:endParaRPr/>
          </a:p>
        </p:txBody>
      </p:sp>
      <p:sp>
        <p:nvSpPr>
          <p:cNvPr id="1294" name="Google Shape;1294;p69"/>
          <p:cNvSpPr txBox="1"/>
          <p:nvPr/>
        </p:nvSpPr>
        <p:spPr>
          <a:xfrm>
            <a:off x="459753" y="1063250"/>
            <a:ext cx="7429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Equalization of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first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histogram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1295" name="Google Shape;1295;p69"/>
          <p:cNvGraphicFramePr/>
          <p:nvPr/>
        </p:nvGraphicFramePr>
        <p:xfrm>
          <a:off x="876907" y="17368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1109975"/>
                <a:gridCol w="1219825"/>
                <a:gridCol w="1569725"/>
                <a:gridCol w="1569725"/>
              </a:tblGrid>
              <a:tr h="822950"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r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Cdf(p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351790" lvl="0" marL="105410" marR="108585" rtl="0" algn="l">
                        <a:lnSpc>
                          <a:spcPct val="115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Gray Levels (s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317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0.44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0.65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0.08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0.95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0.03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0.98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0.02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296" name="Google Shape;1296;p69"/>
          <p:cNvSpPr txBox="1"/>
          <p:nvPr/>
        </p:nvSpPr>
        <p:spPr>
          <a:xfrm>
            <a:off x="9648770" y="5245518"/>
            <a:ext cx="60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125729" rtl="0" algn="r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97" name="Google Shape;1297;p69"/>
          <p:cNvSpPr txBox="1"/>
          <p:nvPr/>
        </p:nvSpPr>
        <p:spPr>
          <a:xfrm>
            <a:off x="6545116" y="3898918"/>
            <a:ext cx="98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s=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T(r)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1298" name="Google Shape;1298;p69"/>
          <p:cNvGraphicFramePr/>
          <p:nvPr/>
        </p:nvGraphicFramePr>
        <p:xfrm>
          <a:off x="7709725" y="28786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593100"/>
                <a:gridCol w="594350"/>
                <a:gridCol w="594350"/>
                <a:gridCol w="593100"/>
                <a:gridCol w="594350"/>
                <a:gridCol w="594350"/>
                <a:gridCol w="593100"/>
              </a:tblGrid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99" name="Google Shape;1299;p69"/>
          <p:cNvGrpSpPr/>
          <p:nvPr/>
        </p:nvGrpSpPr>
        <p:grpSpPr>
          <a:xfrm>
            <a:off x="7677721" y="3134677"/>
            <a:ext cx="4229480" cy="1804797"/>
            <a:chOff x="7677721" y="3134677"/>
            <a:chExt cx="4229480" cy="1804797"/>
          </a:xfrm>
        </p:grpSpPr>
        <p:sp>
          <p:nvSpPr>
            <p:cNvPr id="1300" name="Google Shape;1300;p69"/>
            <p:cNvSpPr/>
            <p:nvPr/>
          </p:nvSpPr>
          <p:spPr>
            <a:xfrm>
              <a:off x="7713725" y="3172205"/>
              <a:ext cx="4157979" cy="1731645"/>
            </a:xfrm>
            <a:custGeom>
              <a:rect b="b" l="l" r="r" t="t"/>
              <a:pathLst>
                <a:path extrusionOk="0" h="1731645" w="4157979">
                  <a:moveTo>
                    <a:pt x="0" y="1731264"/>
                  </a:moveTo>
                  <a:lnTo>
                    <a:pt x="594360" y="1153668"/>
                  </a:lnTo>
                  <a:lnTo>
                    <a:pt x="1188720" y="576072"/>
                  </a:lnTo>
                  <a:lnTo>
                    <a:pt x="1781556" y="288036"/>
                  </a:lnTo>
                  <a:lnTo>
                    <a:pt x="2375916" y="288036"/>
                  </a:lnTo>
                  <a:lnTo>
                    <a:pt x="2970276" y="0"/>
                  </a:lnTo>
                  <a:lnTo>
                    <a:pt x="3563112" y="0"/>
                  </a:lnTo>
                  <a:lnTo>
                    <a:pt x="4157472" y="0"/>
                  </a:lnTo>
                </a:path>
              </a:pathLst>
            </a:custGeom>
            <a:noFill/>
            <a:ln cap="flat" cmpd="sng" w="3175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01" name="Google Shape;1301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7721" y="4865941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70557" y="4289869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3" name="Google Shape;1303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864917" y="3712273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4" name="Google Shape;1304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59278" y="3422713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5" name="Google Shape;130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52114" y="3422713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6" name="Google Shape;1306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646474" y="3134677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240833" y="3134677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833669" y="3134677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9" name="Google Shape;1309;p69"/>
          <p:cNvSpPr txBox="1"/>
          <p:nvPr/>
        </p:nvSpPr>
        <p:spPr>
          <a:xfrm>
            <a:off x="7537448" y="4519714"/>
            <a:ext cx="837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69"/>
          <p:cNvSpPr txBox="1"/>
          <p:nvPr/>
        </p:nvSpPr>
        <p:spPr>
          <a:xfrm>
            <a:off x="7537448" y="4231106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69"/>
          <p:cNvSpPr txBox="1"/>
          <p:nvPr/>
        </p:nvSpPr>
        <p:spPr>
          <a:xfrm>
            <a:off x="7537448" y="394249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69"/>
          <p:cNvSpPr txBox="1"/>
          <p:nvPr/>
        </p:nvSpPr>
        <p:spPr>
          <a:xfrm>
            <a:off x="7537448" y="2788068"/>
            <a:ext cx="837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69"/>
          <p:cNvSpPr txBox="1"/>
          <p:nvPr/>
        </p:nvSpPr>
        <p:spPr>
          <a:xfrm>
            <a:off x="7672437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9"/>
          <p:cNvSpPr txBox="1"/>
          <p:nvPr/>
        </p:nvSpPr>
        <p:spPr>
          <a:xfrm>
            <a:off x="8266225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69"/>
          <p:cNvSpPr txBox="1"/>
          <p:nvPr/>
        </p:nvSpPr>
        <p:spPr>
          <a:xfrm>
            <a:off x="8860014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69"/>
          <p:cNvSpPr txBox="1"/>
          <p:nvPr/>
        </p:nvSpPr>
        <p:spPr>
          <a:xfrm>
            <a:off x="9453802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69"/>
          <p:cNvSpPr txBox="1"/>
          <p:nvPr/>
        </p:nvSpPr>
        <p:spPr>
          <a:xfrm>
            <a:off x="10641379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69"/>
          <p:cNvSpPr txBox="1"/>
          <p:nvPr/>
        </p:nvSpPr>
        <p:spPr>
          <a:xfrm>
            <a:off x="11235167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69"/>
          <p:cNvSpPr txBox="1"/>
          <p:nvPr/>
        </p:nvSpPr>
        <p:spPr>
          <a:xfrm>
            <a:off x="11828956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6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21" name="Google Shape;1321;p6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2" name="Google Shape;1322;p6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7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8" name="Google Shape;1328;p7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9" name="Google Shape;1329;p7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Example</a:t>
            </a:r>
            <a:endParaRPr/>
          </a:p>
        </p:txBody>
      </p:sp>
      <p:sp>
        <p:nvSpPr>
          <p:cNvPr id="1330" name="Google Shape;1330;p70"/>
          <p:cNvSpPr txBox="1"/>
          <p:nvPr/>
        </p:nvSpPr>
        <p:spPr>
          <a:xfrm>
            <a:off x="535953" y="1063250"/>
            <a:ext cx="7986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Equalization of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Second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Histogram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1331" name="Google Shape;1331;p70"/>
          <p:cNvGraphicFramePr/>
          <p:nvPr/>
        </p:nvGraphicFramePr>
        <p:xfrm>
          <a:off x="1746251" y="1746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750575"/>
                <a:gridCol w="1002025"/>
                <a:gridCol w="1066800"/>
                <a:gridCol w="1524000"/>
              </a:tblGrid>
              <a:tr h="822950"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p(z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81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cdf(z</a:t>
                      </a:r>
                      <a:r>
                        <a:rPr b="1" baseline="-25000" lang="en-US" sz="24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7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Gray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  <a:p>
                      <a:pPr indent="0" lvl="0" marL="0" marR="2540" rtl="0" algn="ctr">
                        <a:lnSpc>
                          <a:spcPct val="117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levels (v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0.35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0.30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0.65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332" name="Google Shape;1332;p70"/>
          <p:cNvSpPr txBox="1"/>
          <p:nvPr/>
        </p:nvSpPr>
        <p:spPr>
          <a:xfrm>
            <a:off x="9503746" y="5304391"/>
            <a:ext cx="620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z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33" name="Google Shape;1333;p70"/>
          <p:cNvSpPr txBox="1"/>
          <p:nvPr/>
        </p:nvSpPr>
        <p:spPr>
          <a:xfrm>
            <a:off x="6479540" y="3928219"/>
            <a:ext cx="1066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v=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G(z)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1334" name="Google Shape;1334;p70"/>
          <p:cNvGraphicFramePr/>
          <p:nvPr/>
        </p:nvGraphicFramePr>
        <p:xfrm>
          <a:off x="7709725" y="28786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519425"/>
                <a:gridCol w="519425"/>
                <a:gridCol w="519425"/>
                <a:gridCol w="519425"/>
                <a:gridCol w="518150"/>
                <a:gridCol w="519425"/>
                <a:gridCol w="519425"/>
                <a:gridCol w="519425"/>
              </a:tblGrid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35" name="Google Shape;1335;p70"/>
          <p:cNvGrpSpPr/>
          <p:nvPr/>
        </p:nvGrpSpPr>
        <p:grpSpPr>
          <a:xfrm>
            <a:off x="7677721" y="3134677"/>
            <a:ext cx="3709793" cy="2094357"/>
            <a:chOff x="7677721" y="3134677"/>
            <a:chExt cx="3709793" cy="2094357"/>
          </a:xfrm>
        </p:grpSpPr>
        <p:sp>
          <p:nvSpPr>
            <p:cNvPr id="1336" name="Google Shape;1336;p70"/>
            <p:cNvSpPr/>
            <p:nvPr/>
          </p:nvSpPr>
          <p:spPr>
            <a:xfrm>
              <a:off x="7713725" y="3172205"/>
              <a:ext cx="3637915" cy="2019300"/>
            </a:xfrm>
            <a:custGeom>
              <a:rect b="b" l="l" r="r" t="t"/>
              <a:pathLst>
                <a:path extrusionOk="0" h="2019300" w="3637915">
                  <a:moveTo>
                    <a:pt x="0" y="2019300"/>
                  </a:moveTo>
                  <a:lnTo>
                    <a:pt x="519684" y="2019300"/>
                  </a:lnTo>
                  <a:lnTo>
                    <a:pt x="1039368" y="2019300"/>
                  </a:lnTo>
                  <a:lnTo>
                    <a:pt x="1559052" y="1731264"/>
                  </a:lnTo>
                  <a:lnTo>
                    <a:pt x="2078736" y="1441704"/>
                  </a:lnTo>
                  <a:lnTo>
                    <a:pt x="2598420" y="576072"/>
                  </a:lnTo>
                  <a:lnTo>
                    <a:pt x="3118104" y="288036"/>
                  </a:lnTo>
                  <a:lnTo>
                    <a:pt x="3637788" y="0"/>
                  </a:lnTo>
                </a:path>
              </a:pathLst>
            </a:custGeom>
            <a:noFill/>
            <a:ln cap="flat" cmpd="sng" w="3175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37" name="Google Shape;1337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7721" y="5155501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97404" y="5155501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17089" y="5155501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0" name="Google Shape;1340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36773" y="4865941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1" name="Google Shape;134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56456" y="4577905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2" name="Google Shape;1342;p7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74614" y="3712273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3" name="Google Shape;1343;p7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94300" y="3422713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4" name="Google Shape;1344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313982" y="3134677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5" name="Google Shape;1345;p70"/>
          <p:cNvSpPr txBox="1"/>
          <p:nvPr/>
        </p:nvSpPr>
        <p:spPr>
          <a:xfrm>
            <a:off x="7537448" y="4519714"/>
            <a:ext cx="837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70"/>
          <p:cNvSpPr txBox="1"/>
          <p:nvPr/>
        </p:nvSpPr>
        <p:spPr>
          <a:xfrm>
            <a:off x="7537448" y="4231106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70"/>
          <p:cNvSpPr txBox="1"/>
          <p:nvPr/>
        </p:nvSpPr>
        <p:spPr>
          <a:xfrm>
            <a:off x="7537448" y="394249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70"/>
          <p:cNvSpPr txBox="1"/>
          <p:nvPr/>
        </p:nvSpPr>
        <p:spPr>
          <a:xfrm>
            <a:off x="7537448" y="2788068"/>
            <a:ext cx="837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70"/>
          <p:cNvSpPr txBox="1"/>
          <p:nvPr/>
        </p:nvSpPr>
        <p:spPr>
          <a:xfrm>
            <a:off x="7672437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70"/>
          <p:cNvSpPr txBox="1"/>
          <p:nvPr/>
        </p:nvSpPr>
        <p:spPr>
          <a:xfrm>
            <a:off x="8192044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70"/>
          <p:cNvSpPr txBox="1"/>
          <p:nvPr/>
        </p:nvSpPr>
        <p:spPr>
          <a:xfrm>
            <a:off x="8711652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70"/>
          <p:cNvSpPr txBox="1"/>
          <p:nvPr/>
        </p:nvSpPr>
        <p:spPr>
          <a:xfrm>
            <a:off x="9231260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70"/>
          <p:cNvSpPr txBox="1"/>
          <p:nvPr/>
        </p:nvSpPr>
        <p:spPr>
          <a:xfrm>
            <a:off x="9750868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70"/>
          <p:cNvSpPr txBox="1"/>
          <p:nvPr/>
        </p:nvSpPr>
        <p:spPr>
          <a:xfrm>
            <a:off x="10270476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70"/>
          <p:cNvSpPr txBox="1"/>
          <p:nvPr/>
        </p:nvSpPr>
        <p:spPr>
          <a:xfrm>
            <a:off x="10790084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70"/>
          <p:cNvSpPr txBox="1"/>
          <p:nvPr/>
        </p:nvSpPr>
        <p:spPr>
          <a:xfrm>
            <a:off x="11309691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70"/>
          <p:cNvSpPr txBox="1"/>
          <p:nvPr/>
        </p:nvSpPr>
        <p:spPr>
          <a:xfrm>
            <a:off x="11829299" y="5245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7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59" name="Google Shape;1359;p7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0" name="Google Shape;1360;p7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366" name="Google Shape;1366;p71"/>
          <p:cNvGrpSpPr/>
          <p:nvPr/>
        </p:nvGrpSpPr>
        <p:grpSpPr>
          <a:xfrm>
            <a:off x="304800" y="975360"/>
            <a:ext cx="11582400" cy="2555747"/>
            <a:chOff x="304800" y="975360"/>
            <a:chExt cx="11582400" cy="2555747"/>
          </a:xfrm>
        </p:grpSpPr>
        <p:sp>
          <p:nvSpPr>
            <p:cNvPr id="1367" name="Google Shape;1367;p71"/>
            <p:cNvSpPr/>
            <p:nvPr/>
          </p:nvSpPr>
          <p:spPr>
            <a:xfrm>
              <a:off x="304800" y="975360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68" name="Google Shape;1368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02423" y="989076"/>
              <a:ext cx="4227575" cy="25420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9" name="Google Shape;1369;p7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Example</a:t>
            </a:r>
            <a:endParaRPr/>
          </a:p>
        </p:txBody>
      </p:sp>
      <p:sp>
        <p:nvSpPr>
          <p:cNvPr id="1370" name="Google Shape;1370;p71"/>
          <p:cNvSpPr txBox="1"/>
          <p:nvPr/>
        </p:nvSpPr>
        <p:spPr>
          <a:xfrm>
            <a:off x="3352043" y="3416904"/>
            <a:ext cx="5943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i="1" lang="en-US" sz="295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9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1" name="Google Shape;1371;p71"/>
          <p:cNvSpPr txBox="1"/>
          <p:nvPr/>
        </p:nvSpPr>
        <p:spPr>
          <a:xfrm>
            <a:off x="5945990" y="4671248"/>
            <a:ext cx="1159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v =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G(z)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72" name="Google Shape;1372;p71"/>
          <p:cNvSpPr txBox="1"/>
          <p:nvPr/>
        </p:nvSpPr>
        <p:spPr>
          <a:xfrm>
            <a:off x="6401740" y="1883776"/>
            <a:ext cx="739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(s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73" name="Google Shape;1373;p71"/>
          <p:cNvSpPr txBox="1"/>
          <p:nvPr/>
        </p:nvSpPr>
        <p:spPr>
          <a:xfrm>
            <a:off x="3054031" y="5950644"/>
            <a:ext cx="620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z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4" name="Google Shape;1374;p71"/>
          <p:cNvSpPr txBox="1"/>
          <p:nvPr/>
        </p:nvSpPr>
        <p:spPr>
          <a:xfrm rot="-5400000">
            <a:off x="1579602" y="5248181"/>
            <a:ext cx="101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3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p(z)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75" name="Google Shape;1375;p71"/>
          <p:cNvSpPr txBox="1"/>
          <p:nvPr/>
        </p:nvSpPr>
        <p:spPr>
          <a:xfrm>
            <a:off x="9157265" y="5997969"/>
            <a:ext cx="6774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216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z </a:t>
            </a:r>
            <a:r>
              <a:rPr i="1" lang="en-US" sz="295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95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86360" rtl="0" algn="l">
              <a:lnSpc>
                <a:spcPct val="5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	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71"/>
          <p:cNvSpPr txBox="1"/>
          <p:nvPr/>
        </p:nvSpPr>
        <p:spPr>
          <a:xfrm>
            <a:off x="9107713" y="3217692"/>
            <a:ext cx="572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s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endParaRPr sz="28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aphicFrame>
        <p:nvGraphicFramePr>
          <p:cNvPr id="1377" name="Google Shape;1377;p71"/>
          <p:cNvGraphicFramePr/>
          <p:nvPr/>
        </p:nvGraphicFramePr>
        <p:xfrm>
          <a:off x="7709725" y="36406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519425"/>
                <a:gridCol w="519425"/>
                <a:gridCol w="519425"/>
                <a:gridCol w="519425"/>
                <a:gridCol w="518150"/>
                <a:gridCol w="519425"/>
                <a:gridCol w="519425"/>
                <a:gridCol w="519425"/>
              </a:tblGrid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78" name="Google Shape;1378;p71"/>
          <p:cNvGrpSpPr/>
          <p:nvPr/>
        </p:nvGrpSpPr>
        <p:grpSpPr>
          <a:xfrm>
            <a:off x="7677721" y="3896677"/>
            <a:ext cx="3709793" cy="2094356"/>
            <a:chOff x="7677721" y="3896677"/>
            <a:chExt cx="3709793" cy="2094356"/>
          </a:xfrm>
        </p:grpSpPr>
        <p:sp>
          <p:nvSpPr>
            <p:cNvPr id="1379" name="Google Shape;1379;p71"/>
            <p:cNvSpPr/>
            <p:nvPr/>
          </p:nvSpPr>
          <p:spPr>
            <a:xfrm>
              <a:off x="7713725" y="3934206"/>
              <a:ext cx="3637915" cy="2019300"/>
            </a:xfrm>
            <a:custGeom>
              <a:rect b="b" l="l" r="r" t="t"/>
              <a:pathLst>
                <a:path extrusionOk="0" h="2019300" w="3637915">
                  <a:moveTo>
                    <a:pt x="0" y="2019300"/>
                  </a:moveTo>
                  <a:lnTo>
                    <a:pt x="519684" y="2019300"/>
                  </a:lnTo>
                  <a:lnTo>
                    <a:pt x="1039368" y="2019300"/>
                  </a:lnTo>
                  <a:lnTo>
                    <a:pt x="1559052" y="1731264"/>
                  </a:lnTo>
                  <a:lnTo>
                    <a:pt x="2078736" y="1441704"/>
                  </a:lnTo>
                  <a:lnTo>
                    <a:pt x="2598420" y="576072"/>
                  </a:lnTo>
                  <a:lnTo>
                    <a:pt x="3118104" y="288036"/>
                  </a:lnTo>
                  <a:lnTo>
                    <a:pt x="3637788" y="0"/>
                  </a:lnTo>
                </a:path>
              </a:pathLst>
            </a:custGeom>
            <a:noFill/>
            <a:ln cap="flat" cmpd="sng" w="3175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80" name="Google Shape;1380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77721" y="5917501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1" name="Google Shape;1381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97404" y="5917501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2" name="Google Shape;1382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17089" y="5917501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3" name="Google Shape;1383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36773" y="5627941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4" name="Google Shape;1384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56456" y="5339905"/>
              <a:ext cx="73532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5" name="Google Shape;1385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74614" y="4474273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6" name="Google Shape;1386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794300" y="4184713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7" name="Google Shape;1387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313982" y="3896677"/>
              <a:ext cx="73532" cy="735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8" name="Google Shape;1388;p71"/>
          <p:cNvSpPr txBox="1"/>
          <p:nvPr/>
        </p:nvSpPr>
        <p:spPr>
          <a:xfrm>
            <a:off x="7537448" y="5858929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71"/>
          <p:cNvSpPr txBox="1"/>
          <p:nvPr/>
        </p:nvSpPr>
        <p:spPr>
          <a:xfrm>
            <a:off x="7537448" y="5281714"/>
            <a:ext cx="837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71"/>
          <p:cNvSpPr txBox="1"/>
          <p:nvPr/>
        </p:nvSpPr>
        <p:spPr>
          <a:xfrm>
            <a:off x="7537448" y="4993106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71"/>
          <p:cNvSpPr txBox="1"/>
          <p:nvPr/>
        </p:nvSpPr>
        <p:spPr>
          <a:xfrm>
            <a:off x="7537448" y="470449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71"/>
          <p:cNvSpPr txBox="1"/>
          <p:nvPr/>
        </p:nvSpPr>
        <p:spPr>
          <a:xfrm>
            <a:off x="7537448" y="3838676"/>
            <a:ext cx="837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71"/>
          <p:cNvSpPr txBox="1"/>
          <p:nvPr/>
        </p:nvSpPr>
        <p:spPr>
          <a:xfrm>
            <a:off x="7537448" y="3550069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71"/>
          <p:cNvSpPr txBox="1"/>
          <p:nvPr/>
        </p:nvSpPr>
        <p:spPr>
          <a:xfrm>
            <a:off x="7672437" y="6007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71"/>
          <p:cNvSpPr txBox="1"/>
          <p:nvPr/>
        </p:nvSpPr>
        <p:spPr>
          <a:xfrm>
            <a:off x="8192044" y="6007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71"/>
          <p:cNvSpPr txBox="1"/>
          <p:nvPr/>
        </p:nvSpPr>
        <p:spPr>
          <a:xfrm>
            <a:off x="8711652" y="6007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71"/>
          <p:cNvSpPr txBox="1"/>
          <p:nvPr/>
        </p:nvSpPr>
        <p:spPr>
          <a:xfrm>
            <a:off x="10270476" y="6007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71"/>
          <p:cNvSpPr txBox="1"/>
          <p:nvPr/>
        </p:nvSpPr>
        <p:spPr>
          <a:xfrm>
            <a:off x="10790084" y="6007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71"/>
          <p:cNvSpPr txBox="1"/>
          <p:nvPr/>
        </p:nvSpPr>
        <p:spPr>
          <a:xfrm>
            <a:off x="11309691" y="6007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71"/>
          <p:cNvSpPr txBox="1"/>
          <p:nvPr/>
        </p:nvSpPr>
        <p:spPr>
          <a:xfrm>
            <a:off x="11829299" y="60075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1" name="Google Shape;1401;p71"/>
          <p:cNvGraphicFramePr/>
          <p:nvPr/>
        </p:nvGraphicFramePr>
        <p:xfrm>
          <a:off x="1385125" y="1049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593100"/>
                <a:gridCol w="594350"/>
                <a:gridCol w="594350"/>
                <a:gridCol w="593100"/>
                <a:gridCol w="594350"/>
                <a:gridCol w="594350"/>
                <a:gridCol w="593100"/>
              </a:tblGrid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ADAD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02" name="Google Shape;1402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5957" y="2461069"/>
            <a:ext cx="73532" cy="73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40317" y="1883473"/>
            <a:ext cx="73532" cy="73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4677" y="1593914"/>
            <a:ext cx="73532" cy="73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7513" y="1593914"/>
            <a:ext cx="73533" cy="73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1873" y="1305878"/>
            <a:ext cx="73533" cy="73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6233" y="1305880"/>
            <a:ext cx="73533" cy="73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8" name="Google Shape;1408;p71"/>
          <p:cNvGrpSpPr/>
          <p:nvPr/>
        </p:nvGrpSpPr>
        <p:grpSpPr>
          <a:xfrm>
            <a:off x="1353121" y="1305880"/>
            <a:ext cx="4229481" cy="1804793"/>
            <a:chOff x="1353121" y="1305880"/>
            <a:chExt cx="4229481" cy="1804793"/>
          </a:xfrm>
        </p:grpSpPr>
        <p:sp>
          <p:nvSpPr>
            <p:cNvPr id="1409" name="Google Shape;1409;p71"/>
            <p:cNvSpPr/>
            <p:nvPr/>
          </p:nvSpPr>
          <p:spPr>
            <a:xfrm>
              <a:off x="1389125" y="1343406"/>
              <a:ext cx="4157979" cy="1731645"/>
            </a:xfrm>
            <a:custGeom>
              <a:rect b="b" l="l" r="r" t="t"/>
              <a:pathLst>
                <a:path extrusionOk="0" h="1731645" w="4157979">
                  <a:moveTo>
                    <a:pt x="0" y="1731264"/>
                  </a:moveTo>
                  <a:lnTo>
                    <a:pt x="594360" y="1153668"/>
                  </a:lnTo>
                  <a:lnTo>
                    <a:pt x="1188720" y="576072"/>
                  </a:lnTo>
                  <a:lnTo>
                    <a:pt x="1781556" y="288035"/>
                  </a:lnTo>
                  <a:lnTo>
                    <a:pt x="2375916" y="288035"/>
                  </a:lnTo>
                  <a:lnTo>
                    <a:pt x="2970276" y="0"/>
                  </a:lnTo>
                  <a:lnTo>
                    <a:pt x="3563112" y="0"/>
                  </a:lnTo>
                  <a:lnTo>
                    <a:pt x="4157472" y="0"/>
                  </a:lnTo>
                </a:path>
              </a:pathLst>
            </a:custGeom>
            <a:noFill/>
            <a:ln cap="flat" cmpd="sng" w="3175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10" name="Google Shape;1410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53121" y="3037141"/>
              <a:ext cx="73533" cy="73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1" name="Google Shape;1411;p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09069" y="1305880"/>
              <a:ext cx="73533" cy="735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2" name="Google Shape;1412;p71"/>
          <p:cNvSpPr txBox="1"/>
          <p:nvPr/>
        </p:nvSpPr>
        <p:spPr>
          <a:xfrm>
            <a:off x="1212850" y="2690914"/>
            <a:ext cx="837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71"/>
          <p:cNvSpPr txBox="1"/>
          <p:nvPr/>
        </p:nvSpPr>
        <p:spPr>
          <a:xfrm>
            <a:off x="205740" y="1841520"/>
            <a:ext cx="1116300" cy="7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=T(r)</a:t>
            </a:r>
            <a:r>
              <a:rPr baseline="-25000" lang="en-US" sz="135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-25000" sz="13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0480" rtl="0" algn="r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71"/>
          <p:cNvSpPr txBox="1"/>
          <p:nvPr/>
        </p:nvSpPr>
        <p:spPr>
          <a:xfrm>
            <a:off x="1212850" y="1825091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71"/>
          <p:cNvSpPr txBox="1"/>
          <p:nvPr/>
        </p:nvSpPr>
        <p:spPr>
          <a:xfrm>
            <a:off x="1212850" y="959268"/>
            <a:ext cx="837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71"/>
          <p:cNvSpPr txBox="1"/>
          <p:nvPr/>
        </p:nvSpPr>
        <p:spPr>
          <a:xfrm>
            <a:off x="1212850" y="3256699"/>
            <a:ext cx="218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732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71"/>
          <p:cNvSpPr txBox="1"/>
          <p:nvPr/>
        </p:nvSpPr>
        <p:spPr>
          <a:xfrm>
            <a:off x="1941626" y="34167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71"/>
          <p:cNvSpPr txBox="1"/>
          <p:nvPr/>
        </p:nvSpPr>
        <p:spPr>
          <a:xfrm>
            <a:off x="2535415" y="34167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71"/>
          <p:cNvSpPr txBox="1"/>
          <p:nvPr/>
        </p:nvSpPr>
        <p:spPr>
          <a:xfrm>
            <a:off x="3129203" y="34167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71"/>
          <p:cNvSpPr txBox="1"/>
          <p:nvPr/>
        </p:nvSpPr>
        <p:spPr>
          <a:xfrm>
            <a:off x="3722992" y="34167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71"/>
          <p:cNvSpPr txBox="1"/>
          <p:nvPr/>
        </p:nvSpPr>
        <p:spPr>
          <a:xfrm>
            <a:off x="4316780" y="34167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71"/>
          <p:cNvSpPr txBox="1"/>
          <p:nvPr/>
        </p:nvSpPr>
        <p:spPr>
          <a:xfrm>
            <a:off x="4910569" y="34167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71"/>
          <p:cNvSpPr txBox="1"/>
          <p:nvPr/>
        </p:nvSpPr>
        <p:spPr>
          <a:xfrm>
            <a:off x="5504357" y="3416718"/>
            <a:ext cx="8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7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25" name="Google Shape;1425;p7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6" name="Google Shape;1426;p7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7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2" name="Google Shape;1432;p7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3" name="Google Shape;1433;p7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Example</a:t>
            </a:r>
            <a:endParaRPr/>
          </a:p>
        </p:txBody>
      </p:sp>
      <p:sp>
        <p:nvSpPr>
          <p:cNvPr id="1434" name="Google Shape;1434;p72"/>
          <p:cNvSpPr txBox="1"/>
          <p:nvPr/>
        </p:nvSpPr>
        <p:spPr>
          <a:xfrm>
            <a:off x="535940" y="1063244"/>
            <a:ext cx="2707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Mapping Step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aphicFrame>
        <p:nvGraphicFramePr>
          <p:cNvPr id="1435" name="Google Shape;1435;p72"/>
          <p:cNvGraphicFramePr/>
          <p:nvPr/>
        </p:nvGraphicFramePr>
        <p:xfrm>
          <a:off x="527050" y="20205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1228725"/>
                <a:gridCol w="1737350"/>
                <a:gridCol w="1737350"/>
              </a:tblGrid>
              <a:tr h="640075"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s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=Cdf(p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Gray levels (s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0.44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0.65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0.95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0.98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6" name="Google Shape;1436;p72"/>
          <p:cNvGraphicFramePr/>
          <p:nvPr/>
        </p:nvGraphicFramePr>
        <p:xfrm>
          <a:off x="6948805" y="2029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1165225"/>
                <a:gridCol w="954400"/>
                <a:gridCol w="1059825"/>
              </a:tblGrid>
              <a:tr h="63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Gray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  <a:p>
                      <a:pPr indent="0" lvl="0" marL="0" marR="0" rtl="0" algn="ctr">
                        <a:lnSpc>
                          <a:spcPct val="1168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levels (v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88265" lvl="0" marL="213359" marR="212725" rtl="0" algn="l">
                        <a:lnSpc>
                          <a:spcPct val="1136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v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= G(z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b="1" baseline="-25000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7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0.35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0.65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0.85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437" name="Google Shape;1437;p72"/>
          <p:cNvSpPr/>
          <p:nvPr/>
        </p:nvSpPr>
        <p:spPr>
          <a:xfrm>
            <a:off x="6772631" y="4208843"/>
            <a:ext cx="132079" cy="121285"/>
          </a:xfrm>
          <a:custGeom>
            <a:rect b="b" l="l" r="r" t="t"/>
            <a:pathLst>
              <a:path extrusionOk="0" h="121285" w="132079">
                <a:moveTo>
                  <a:pt x="77927" y="0"/>
                </a:moveTo>
                <a:lnTo>
                  <a:pt x="131724" y="120904"/>
                </a:lnTo>
                <a:lnTo>
                  <a:pt x="0" y="108216"/>
                </a:lnTo>
              </a:path>
            </a:pathLst>
          </a:cu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8" name="Google Shape;1438;p72"/>
          <p:cNvSpPr/>
          <p:nvPr/>
        </p:nvSpPr>
        <p:spPr>
          <a:xfrm>
            <a:off x="6772631" y="4666043"/>
            <a:ext cx="132079" cy="121285"/>
          </a:xfrm>
          <a:custGeom>
            <a:rect b="b" l="l" r="r" t="t"/>
            <a:pathLst>
              <a:path extrusionOk="0" h="121285" w="132079">
                <a:moveTo>
                  <a:pt x="77927" y="0"/>
                </a:moveTo>
                <a:lnTo>
                  <a:pt x="131724" y="120904"/>
                </a:lnTo>
                <a:lnTo>
                  <a:pt x="0" y="108216"/>
                </a:lnTo>
              </a:path>
            </a:pathLst>
          </a:cu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9" name="Google Shape;1439;p72"/>
          <p:cNvSpPr/>
          <p:nvPr/>
        </p:nvSpPr>
        <p:spPr>
          <a:xfrm>
            <a:off x="6772631" y="5123243"/>
            <a:ext cx="132079" cy="121285"/>
          </a:xfrm>
          <a:custGeom>
            <a:rect b="b" l="l" r="r" t="t"/>
            <a:pathLst>
              <a:path extrusionOk="0" h="121285" w="132079">
                <a:moveTo>
                  <a:pt x="77927" y="0"/>
                </a:moveTo>
                <a:lnTo>
                  <a:pt x="131724" y="120904"/>
                </a:lnTo>
                <a:lnTo>
                  <a:pt x="0" y="108216"/>
                </a:lnTo>
              </a:path>
            </a:pathLst>
          </a:custGeom>
          <a:noFill/>
          <a:ln cap="flat" cmpd="sng" w="381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440" name="Google Shape;1440;p72"/>
          <p:cNvGrpSpPr/>
          <p:nvPr/>
        </p:nvGrpSpPr>
        <p:grpSpPr>
          <a:xfrm>
            <a:off x="6769322" y="5504243"/>
            <a:ext cx="135389" cy="208589"/>
            <a:chOff x="6769322" y="5504243"/>
            <a:chExt cx="135389" cy="208589"/>
          </a:xfrm>
        </p:grpSpPr>
        <p:sp>
          <p:nvSpPr>
            <p:cNvPr id="1441" name="Google Shape;1441;p72"/>
            <p:cNvSpPr/>
            <p:nvPr/>
          </p:nvSpPr>
          <p:spPr>
            <a:xfrm>
              <a:off x="6769322" y="5594087"/>
              <a:ext cx="132715" cy="118745"/>
            </a:xfrm>
            <a:custGeom>
              <a:rect b="b" l="l" r="r" t="t"/>
              <a:pathLst>
                <a:path extrusionOk="0" h="118745" w="132715">
                  <a:moveTo>
                    <a:pt x="61531" y="0"/>
                  </a:moveTo>
                  <a:lnTo>
                    <a:pt x="132168" y="111887"/>
                  </a:lnTo>
                  <a:lnTo>
                    <a:pt x="0" y="118313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72"/>
            <p:cNvSpPr/>
            <p:nvPr/>
          </p:nvSpPr>
          <p:spPr>
            <a:xfrm>
              <a:off x="6772632" y="5504243"/>
              <a:ext cx="132079" cy="121285"/>
            </a:xfrm>
            <a:custGeom>
              <a:rect b="b" l="l" r="r" t="t"/>
              <a:pathLst>
                <a:path extrusionOk="0" h="121285" w="132079">
                  <a:moveTo>
                    <a:pt x="77927" y="0"/>
                  </a:moveTo>
                  <a:lnTo>
                    <a:pt x="131724" y="120904"/>
                  </a:lnTo>
                  <a:lnTo>
                    <a:pt x="0" y="108216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443" name="Google Shape;1443;p72"/>
          <p:cNvGrpSpPr/>
          <p:nvPr/>
        </p:nvGrpSpPr>
        <p:grpSpPr>
          <a:xfrm>
            <a:off x="4975860" y="2944367"/>
            <a:ext cx="2247899" cy="3547871"/>
            <a:chOff x="4975860" y="2944367"/>
            <a:chExt cx="2247899" cy="3547871"/>
          </a:xfrm>
        </p:grpSpPr>
        <p:pic>
          <p:nvPicPr>
            <p:cNvPr id="1444" name="Google Shape;1444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75860" y="2944367"/>
              <a:ext cx="2171699" cy="1642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5" name="Google Shape;1445;p72"/>
            <p:cNvSpPr/>
            <p:nvPr/>
          </p:nvSpPr>
          <p:spPr>
            <a:xfrm>
              <a:off x="5029961" y="2980181"/>
              <a:ext cx="1874520" cy="1350010"/>
            </a:xfrm>
            <a:custGeom>
              <a:rect b="b" l="l" r="r" t="t"/>
              <a:pathLst>
                <a:path extrusionOk="0" h="1350010" w="1874520">
                  <a:moveTo>
                    <a:pt x="0" y="0"/>
                  </a:moveTo>
                  <a:lnTo>
                    <a:pt x="1874393" y="1349565"/>
                  </a:lnTo>
                </a:path>
              </a:pathLst>
            </a:custGeom>
            <a:noFill/>
            <a:ln cap="flat" cmpd="sng" w="38075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46" name="Google Shape;1446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75860" y="3401567"/>
              <a:ext cx="2171699" cy="1642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7" name="Google Shape;1447;p72"/>
            <p:cNvSpPr/>
            <p:nvPr/>
          </p:nvSpPr>
          <p:spPr>
            <a:xfrm>
              <a:off x="5029961" y="3437381"/>
              <a:ext cx="1874520" cy="1350010"/>
            </a:xfrm>
            <a:custGeom>
              <a:rect b="b" l="l" r="r" t="t"/>
              <a:pathLst>
                <a:path extrusionOk="0" h="1350010" w="1874520">
                  <a:moveTo>
                    <a:pt x="0" y="0"/>
                  </a:moveTo>
                  <a:lnTo>
                    <a:pt x="1874393" y="1349565"/>
                  </a:lnTo>
                </a:path>
              </a:pathLst>
            </a:custGeom>
            <a:noFill/>
            <a:ln cap="flat" cmpd="sng" w="38075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48" name="Google Shape;1448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75860" y="3858767"/>
              <a:ext cx="2171699" cy="1642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9" name="Google Shape;1449;p72"/>
            <p:cNvSpPr/>
            <p:nvPr/>
          </p:nvSpPr>
          <p:spPr>
            <a:xfrm>
              <a:off x="5029961" y="3894581"/>
              <a:ext cx="1874520" cy="1350010"/>
            </a:xfrm>
            <a:custGeom>
              <a:rect b="b" l="l" r="r" t="t"/>
              <a:pathLst>
                <a:path extrusionOk="0" h="1350010" w="1874520">
                  <a:moveTo>
                    <a:pt x="0" y="0"/>
                  </a:moveTo>
                  <a:lnTo>
                    <a:pt x="1874393" y="1349565"/>
                  </a:lnTo>
                </a:path>
              </a:pathLst>
            </a:custGeom>
            <a:noFill/>
            <a:ln cap="flat" cmpd="sng" w="38075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50" name="Google Shape;145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78908" y="4696967"/>
              <a:ext cx="2168651" cy="1261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1" name="Google Shape;1451;p72"/>
            <p:cNvSpPr/>
            <p:nvPr/>
          </p:nvSpPr>
          <p:spPr>
            <a:xfrm>
              <a:off x="5029961" y="4732782"/>
              <a:ext cx="1871979" cy="973454"/>
            </a:xfrm>
            <a:custGeom>
              <a:rect b="b" l="l" r="r" t="t"/>
              <a:pathLst>
                <a:path extrusionOk="0" h="973454" w="1871979">
                  <a:moveTo>
                    <a:pt x="0" y="0"/>
                  </a:moveTo>
                  <a:lnTo>
                    <a:pt x="1871535" y="973201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52" name="Google Shape;1452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75860" y="4239767"/>
              <a:ext cx="2171699" cy="1642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3" name="Google Shape;1453;p72"/>
            <p:cNvSpPr/>
            <p:nvPr/>
          </p:nvSpPr>
          <p:spPr>
            <a:xfrm>
              <a:off x="5029961" y="4275581"/>
              <a:ext cx="1874520" cy="1350010"/>
            </a:xfrm>
            <a:custGeom>
              <a:rect b="b" l="l" r="r" t="t"/>
              <a:pathLst>
                <a:path extrusionOk="0" h="1350010" w="1874520">
                  <a:moveTo>
                    <a:pt x="0" y="0"/>
                  </a:moveTo>
                  <a:lnTo>
                    <a:pt x="1874393" y="1349565"/>
                  </a:lnTo>
                </a:path>
              </a:pathLst>
            </a:custGeom>
            <a:noFill/>
            <a:ln cap="flat" cmpd="sng" w="38075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54" name="Google Shape;1454;p7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55107" y="5152644"/>
              <a:ext cx="2168651" cy="1187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5" name="Google Shape;1455;p72"/>
            <p:cNvSpPr/>
            <p:nvPr/>
          </p:nvSpPr>
          <p:spPr>
            <a:xfrm>
              <a:off x="5106162" y="5189982"/>
              <a:ext cx="1871345" cy="898525"/>
            </a:xfrm>
            <a:custGeom>
              <a:rect b="b" l="l" r="r" t="t"/>
              <a:pathLst>
                <a:path extrusionOk="0" h="898525" w="1871345">
                  <a:moveTo>
                    <a:pt x="0" y="0"/>
                  </a:moveTo>
                  <a:lnTo>
                    <a:pt x="1870989" y="89808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56" name="Google Shape;1456;p7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58156" y="5609844"/>
              <a:ext cx="2165603" cy="806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7" name="Google Shape;1457;p72"/>
            <p:cNvSpPr/>
            <p:nvPr/>
          </p:nvSpPr>
          <p:spPr>
            <a:xfrm>
              <a:off x="5106162" y="5647182"/>
              <a:ext cx="1868804" cy="523239"/>
            </a:xfrm>
            <a:custGeom>
              <a:rect b="b" l="l" r="r" t="t"/>
              <a:pathLst>
                <a:path extrusionOk="0" h="523239" w="1868804">
                  <a:moveTo>
                    <a:pt x="0" y="0"/>
                  </a:moveTo>
                  <a:lnTo>
                    <a:pt x="1868677" y="523227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58" name="Google Shape;1458;p7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61204" y="6065519"/>
              <a:ext cx="2086355" cy="4267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72"/>
            <p:cNvSpPr/>
            <p:nvPr/>
          </p:nvSpPr>
          <p:spPr>
            <a:xfrm>
              <a:off x="5106162" y="6104382"/>
              <a:ext cx="1791334" cy="149860"/>
            </a:xfrm>
            <a:custGeom>
              <a:rect b="b" l="l" r="r" t="t"/>
              <a:pathLst>
                <a:path extrusionOk="0" h="149860" w="1791334">
                  <a:moveTo>
                    <a:pt x="0" y="0"/>
                  </a:moveTo>
                  <a:lnTo>
                    <a:pt x="1791208" y="149263"/>
                  </a:lnTo>
                </a:path>
              </a:pathLst>
            </a:custGeom>
            <a:noFill/>
            <a:ln cap="flat" cmpd="sng" w="38075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460" name="Google Shape;1460;p72"/>
          <p:cNvGrpSpPr/>
          <p:nvPr/>
        </p:nvGrpSpPr>
        <p:grpSpPr>
          <a:xfrm>
            <a:off x="6777934" y="5978484"/>
            <a:ext cx="199408" cy="332571"/>
            <a:chOff x="6777934" y="5978484"/>
            <a:chExt cx="199408" cy="332571"/>
          </a:xfrm>
        </p:grpSpPr>
        <p:sp>
          <p:nvSpPr>
            <p:cNvPr id="1461" name="Google Shape;1461;p72"/>
            <p:cNvSpPr/>
            <p:nvPr/>
          </p:nvSpPr>
          <p:spPr>
            <a:xfrm>
              <a:off x="6845263" y="5978484"/>
              <a:ext cx="132079" cy="120650"/>
            </a:xfrm>
            <a:custGeom>
              <a:rect b="b" l="l" r="r" t="t"/>
              <a:pathLst>
                <a:path extrusionOk="0" h="120650" w="132079">
                  <a:moveTo>
                    <a:pt x="57708" y="0"/>
                  </a:moveTo>
                  <a:lnTo>
                    <a:pt x="131889" y="109575"/>
                  </a:lnTo>
                  <a:lnTo>
                    <a:pt x="0" y="120218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72"/>
            <p:cNvSpPr/>
            <p:nvPr/>
          </p:nvSpPr>
          <p:spPr>
            <a:xfrm>
              <a:off x="6846788" y="6075381"/>
              <a:ext cx="128270" cy="128904"/>
            </a:xfrm>
            <a:custGeom>
              <a:rect b="b" l="l" r="r" t="t"/>
              <a:pathLst>
                <a:path extrusionOk="0" h="128904" w="128270">
                  <a:moveTo>
                    <a:pt x="35966" y="0"/>
                  </a:moveTo>
                  <a:lnTo>
                    <a:pt x="128054" y="95034"/>
                  </a:lnTo>
                  <a:lnTo>
                    <a:pt x="0" y="128409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72"/>
            <p:cNvSpPr/>
            <p:nvPr/>
          </p:nvSpPr>
          <p:spPr>
            <a:xfrm>
              <a:off x="6777934" y="6177705"/>
              <a:ext cx="120015" cy="133350"/>
            </a:xfrm>
            <a:custGeom>
              <a:rect b="b" l="l" r="r" t="t"/>
              <a:pathLst>
                <a:path extrusionOk="0" h="133350" w="120015">
                  <a:moveTo>
                    <a:pt x="11074" y="0"/>
                  </a:moveTo>
                  <a:lnTo>
                    <a:pt x="119443" y="75946"/>
                  </a:lnTo>
                  <a:lnTo>
                    <a:pt x="0" y="132892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aphicFrame>
        <p:nvGraphicFramePr>
          <p:cNvPr id="1464" name="Google Shape;1464;p72"/>
          <p:cNvGraphicFramePr/>
          <p:nvPr/>
        </p:nvGraphicFramePr>
        <p:xfrm>
          <a:off x="10259683" y="43065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973450"/>
                <a:gridCol w="8763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 </a:t>
                      </a: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🡪</a:t>
                      </a:r>
                      <a:endParaRPr sz="18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7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 </a:t>
                      </a:r>
                      <a:r>
                        <a:rPr lang="en-US" sz="1800" u="none" cap="none" strike="noStrike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🡪</a:t>
                      </a:r>
                      <a:endParaRPr sz="18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 </a:t>
                      </a:r>
                      <a:r>
                        <a:rPr lang="en-US" sz="1800" u="none" cap="none" strike="noStrike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🡪</a:t>
                      </a:r>
                      <a:endParaRPr sz="18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3,4 </a:t>
                      </a:r>
                      <a:r>
                        <a:rPr lang="en-US" sz="1800" u="none" cap="none" strike="noStrike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🡪</a:t>
                      </a:r>
                      <a:endParaRPr sz="18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5,6,7 </a:t>
                      </a:r>
                      <a:r>
                        <a:rPr lang="en-US" sz="1800" u="none" cap="none" strike="noStrike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🡪</a:t>
                      </a:r>
                      <a:endParaRPr sz="18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85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465" name="Google Shape;1465;p72"/>
          <p:cNvSpPr txBox="1"/>
          <p:nvPr/>
        </p:nvSpPr>
        <p:spPr>
          <a:xfrm>
            <a:off x="10572972" y="3599527"/>
            <a:ext cx="1024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54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Bell MT"/>
                <a:ea typeface="Bell MT"/>
                <a:cs typeface="Bell MT"/>
                <a:sym typeface="Bell MT"/>
              </a:rPr>
              <a:t>Mapping Function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466" name="Google Shape;1466;p72"/>
          <p:cNvGrpSpPr/>
          <p:nvPr/>
        </p:nvGrpSpPr>
        <p:grpSpPr>
          <a:xfrm>
            <a:off x="490727" y="1641348"/>
            <a:ext cx="4971286" cy="425195"/>
            <a:chOff x="490727" y="1641348"/>
            <a:chExt cx="4971286" cy="425195"/>
          </a:xfrm>
        </p:grpSpPr>
        <p:pic>
          <p:nvPicPr>
            <p:cNvPr id="1467" name="Google Shape;1467;p7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0727" y="1641348"/>
              <a:ext cx="4971286" cy="425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8" name="Google Shape;1468;p72"/>
            <p:cNvSpPr/>
            <p:nvPr/>
          </p:nvSpPr>
          <p:spPr>
            <a:xfrm>
              <a:off x="534161" y="1829562"/>
              <a:ext cx="4678680" cy="1905"/>
            </a:xfrm>
            <a:custGeom>
              <a:rect b="b" l="l" r="r" t="t"/>
              <a:pathLst>
                <a:path extrusionOk="0" h="1905" w="4678680">
                  <a:moveTo>
                    <a:pt x="0" y="0"/>
                  </a:moveTo>
                  <a:lnTo>
                    <a:pt x="4678286" y="1574"/>
                  </a:lnTo>
                </a:path>
              </a:pathLst>
            </a:cu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72"/>
            <p:cNvSpPr/>
            <p:nvPr/>
          </p:nvSpPr>
          <p:spPr>
            <a:xfrm>
              <a:off x="5098117" y="1764417"/>
              <a:ext cx="114935" cy="133350"/>
            </a:xfrm>
            <a:custGeom>
              <a:rect b="b" l="l" r="r" t="t"/>
              <a:pathLst>
                <a:path extrusionOk="0" h="133350" w="114935">
                  <a:moveTo>
                    <a:pt x="50" y="0"/>
                  </a:moveTo>
                  <a:lnTo>
                    <a:pt x="114325" y="66713"/>
                  </a:lnTo>
                  <a:lnTo>
                    <a:pt x="0" y="133350"/>
                  </a:lnTo>
                </a:path>
              </a:pathLst>
            </a:custGeom>
            <a:noFill/>
            <a:ln cap="flat" cmpd="sng" w="380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470" name="Google Shape;1470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6164" y="1679448"/>
            <a:ext cx="3514343" cy="4251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1" name="Google Shape;1471;p72"/>
          <p:cNvGrpSpPr/>
          <p:nvPr/>
        </p:nvGrpSpPr>
        <p:grpSpPr>
          <a:xfrm>
            <a:off x="6896475" y="1802578"/>
            <a:ext cx="3202310" cy="133350"/>
            <a:chOff x="6896475" y="1802578"/>
            <a:chExt cx="3202310" cy="133350"/>
          </a:xfrm>
        </p:grpSpPr>
        <p:sp>
          <p:nvSpPr>
            <p:cNvPr id="1472" name="Google Shape;1472;p72"/>
            <p:cNvSpPr/>
            <p:nvPr/>
          </p:nvSpPr>
          <p:spPr>
            <a:xfrm>
              <a:off x="6896481" y="1869205"/>
              <a:ext cx="3202304" cy="1905"/>
            </a:xfrm>
            <a:custGeom>
              <a:rect b="b" l="l" r="r" t="t"/>
              <a:pathLst>
                <a:path extrusionOk="0" h="1905" w="3202304">
                  <a:moveTo>
                    <a:pt x="0" y="0"/>
                  </a:moveTo>
                  <a:lnTo>
                    <a:pt x="3202279" y="1574"/>
                  </a:lnTo>
                </a:path>
              </a:pathLst>
            </a:cu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72"/>
            <p:cNvSpPr/>
            <p:nvPr/>
          </p:nvSpPr>
          <p:spPr>
            <a:xfrm>
              <a:off x="6896475" y="1802578"/>
              <a:ext cx="114934" cy="133350"/>
            </a:xfrm>
            <a:custGeom>
              <a:rect b="b" l="l" r="r" t="t"/>
              <a:pathLst>
                <a:path extrusionOk="0" h="133350" w="114934">
                  <a:moveTo>
                    <a:pt x="114274" y="133350"/>
                  </a:moveTo>
                  <a:lnTo>
                    <a:pt x="0" y="66624"/>
                  </a:lnTo>
                  <a:lnTo>
                    <a:pt x="114338" y="0"/>
                  </a:lnTo>
                </a:path>
              </a:pathLst>
            </a:cu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74" name="Google Shape;1474;p72"/>
          <p:cNvSpPr txBox="1"/>
          <p:nvPr>
            <p:ph idx="11" type="ftr"/>
          </p:nvPr>
        </p:nvSpPr>
        <p:spPr>
          <a:xfrm>
            <a:off x="4398740" y="65767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75" name="Google Shape;1475;p7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6" name="Google Shape;1476;p7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7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2" name="Google Shape;1482;p7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3" name="Google Shape;1483;p7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Example</a:t>
            </a:r>
            <a:endParaRPr/>
          </a:p>
        </p:txBody>
      </p:sp>
      <p:graphicFrame>
        <p:nvGraphicFramePr>
          <p:cNvPr id="1484" name="Google Shape;1484;p73"/>
          <p:cNvGraphicFramePr/>
          <p:nvPr/>
        </p:nvGraphicFramePr>
        <p:xfrm>
          <a:off x="7380611" y="13982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1185550"/>
                <a:gridCol w="970925"/>
                <a:gridCol w="970925"/>
              </a:tblGrid>
              <a:tr h="46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b="1" baseline="-25000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7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63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n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(z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985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0.24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448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5" name="Google Shape;1485;p73"/>
          <p:cNvGraphicFramePr/>
          <p:nvPr/>
        </p:nvGraphicFramePr>
        <p:xfrm>
          <a:off x="298450" y="13982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835025"/>
                <a:gridCol w="917575"/>
                <a:gridCol w="1180475"/>
              </a:tblGrid>
              <a:tr h="481325"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r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n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24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54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(r</a:t>
                      </a:r>
                      <a:r>
                        <a:rPr baseline="-25000" lang="en-US" sz="24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25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25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69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B05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656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00B05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329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0.08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245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8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122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0.03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8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solidFill>
                            <a:srgbClr val="FF000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81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0.02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6" name="Google Shape;1486;p73"/>
          <p:cNvGraphicFramePr/>
          <p:nvPr/>
        </p:nvGraphicFramePr>
        <p:xfrm>
          <a:off x="3706495" y="3448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1240150"/>
                <a:gridCol w="762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 </a:t>
                      </a:r>
                      <a:endParaRPr sz="2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41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990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 </a:t>
                      </a:r>
                      <a:endParaRPr sz="2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035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 </a:t>
                      </a:r>
                      <a:endParaRPr sz="2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035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3,4 </a:t>
                      </a:r>
                      <a:endParaRPr sz="2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035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5,6,7 </a:t>
                      </a:r>
                      <a:endParaRPr sz="2400" u="none" cap="none" strike="noStrike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035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</a:t>
                      </a:r>
                      <a:endParaRPr sz="24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77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487" name="Google Shape;1487;p73"/>
          <p:cNvSpPr txBox="1"/>
          <p:nvPr/>
        </p:nvSpPr>
        <p:spPr>
          <a:xfrm>
            <a:off x="3617592" y="5726684"/>
            <a:ext cx="2086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Mapping Function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88" name="Google Shape;1488;p73"/>
          <p:cNvSpPr txBox="1"/>
          <p:nvPr/>
        </p:nvSpPr>
        <p:spPr>
          <a:xfrm>
            <a:off x="154939" y="5720588"/>
            <a:ext cx="2996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Input Image Histogram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89" name="Google Shape;1489;p73"/>
          <p:cNvSpPr txBox="1"/>
          <p:nvPr/>
        </p:nvSpPr>
        <p:spPr>
          <a:xfrm>
            <a:off x="7333589" y="5720588"/>
            <a:ext cx="3202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Output Image Histogram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90" name="Google Shape;1490;p7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91" name="Google Shape;1491;p7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2" name="Google Shape;1492;p7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7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8" name="Google Shape;1498;p7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9" name="Google Shape;1499;p7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Example</a:t>
            </a:r>
            <a:endParaRPr/>
          </a:p>
        </p:txBody>
      </p:sp>
      <p:graphicFrame>
        <p:nvGraphicFramePr>
          <p:cNvPr id="1500" name="Google Shape;1500;p74"/>
          <p:cNvGraphicFramePr/>
          <p:nvPr/>
        </p:nvGraphicFramePr>
        <p:xfrm>
          <a:off x="8337938" y="9964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981700"/>
                <a:gridCol w="803900"/>
                <a:gridCol w="8039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b="1" baseline="-25000" lang="en-US" sz="18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7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90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n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(z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985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0.24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448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1" name="Google Shape;1501;p74"/>
          <p:cNvGraphicFramePr/>
          <p:nvPr/>
        </p:nvGraphicFramePr>
        <p:xfrm>
          <a:off x="767868" y="986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694050"/>
                <a:gridCol w="762625"/>
                <a:gridCol w="981075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n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(r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790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1023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850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656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B05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329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0.08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245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0.06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122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0.03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81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0.02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60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pic>
        <p:nvPicPr>
          <p:cNvPr id="1502" name="Google Shape;150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692" y="4724400"/>
            <a:ext cx="3581399" cy="130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3923" y="4372355"/>
            <a:ext cx="3579875" cy="16550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4" name="Google Shape;1504;p74"/>
          <p:cNvGraphicFramePr/>
          <p:nvPr/>
        </p:nvGraphicFramePr>
        <p:xfrm>
          <a:off x="4870838" y="9870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{CF214F31-5EF8-4220-A71C-6AEFC83423C4}</a:tableStyleId>
              </a:tblPr>
              <a:tblGrid>
                <a:gridCol w="885200"/>
                <a:gridCol w="867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endParaRPr baseline="-25000" sz="1875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p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z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(z</a:t>
                      </a:r>
                      <a:r>
                        <a:rPr baseline="-25000" lang="en-US" sz="1875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k</a:t>
                      </a:r>
                      <a:r>
                        <a:rPr lang="en-US" sz="1900" u="none" cap="none" strike="noStrike">
                          <a:solidFill>
                            <a:srgbClr val="FFFFFF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)</a:t>
                      </a:r>
                      <a:endParaRPr sz="19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1/7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2/7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3/7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4/7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5/7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0.30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6/7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0.20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7/7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0.15</a:t>
                      </a:r>
                      <a:endParaRPr sz="1800" u="none" cap="none" strike="noStrike">
                        <a:latin typeface="Bell MT"/>
                        <a:ea typeface="Bell MT"/>
                        <a:cs typeface="Bell MT"/>
                        <a:sym typeface="Bell MT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1505" name="Google Shape;1505;p74"/>
          <p:cNvSpPr txBox="1"/>
          <p:nvPr/>
        </p:nvSpPr>
        <p:spPr>
          <a:xfrm>
            <a:off x="1096121" y="5982914"/>
            <a:ext cx="1792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Input Histogram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06" name="Google Shape;1506;p74"/>
          <p:cNvSpPr txBox="1"/>
          <p:nvPr/>
        </p:nvSpPr>
        <p:spPr>
          <a:xfrm>
            <a:off x="4736095" y="5982914"/>
            <a:ext cx="1937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Target Histogram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507" name="Google Shape;1507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0124" y="4724400"/>
            <a:ext cx="3579875" cy="1303019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74"/>
          <p:cNvSpPr txBox="1"/>
          <p:nvPr/>
        </p:nvSpPr>
        <p:spPr>
          <a:xfrm>
            <a:off x="8622169" y="5953759"/>
            <a:ext cx="1964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Output Histogram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09" name="Google Shape;1509;p7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10" name="Google Shape;1510;p7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1" name="Google Shape;1511;p7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7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7" name="Google Shape;1517;p75"/>
          <p:cNvSpPr txBox="1"/>
          <p:nvPr>
            <p:ph idx="4294967295" type="ftr"/>
          </p:nvPr>
        </p:nvSpPr>
        <p:spPr>
          <a:xfrm>
            <a:off x="4398753" y="6547849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18" name="Google Shape;1518;p7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9" name="Google Shape;1519;p75"/>
          <p:cNvSpPr txBox="1"/>
          <p:nvPr/>
        </p:nvSpPr>
        <p:spPr>
          <a:xfrm>
            <a:off x="3490350" y="2874900"/>
            <a:ext cx="521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