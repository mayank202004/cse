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</p:sldIdLst>
  <p:sldSz cy="6858000" cx="12192000"/>
  <p:notesSz cx="12192000" cy="6858000"/>
  <p:embeddedFontLst>
    <p:embeddedFont>
      <p:font typeface="Book Antiqua"/>
      <p:regular r:id="rId111"/>
      <p:bold r:id="rId112"/>
      <p:italic r:id="rId113"/>
      <p:boldItalic r:id="rId114"/>
    </p:embeddedFont>
    <p:embeddedFont>
      <p:font typeface="Noto Sans Symbols"/>
      <p:regular r:id="rId115"/>
      <p:bold r:id="rId116"/>
    </p:embeddedFont>
    <p:embeddedFont>
      <p:font typeface="Bell MT"/>
      <p:regular r:id="rId117"/>
      <p:bold r:id="rId118"/>
      <p:italic r:id="rId119"/>
      <p:boldItalic r:id="rId120"/>
    </p:embeddedFont>
    <p:embeddedFont>
      <p:font typeface="Cambria Math"/>
      <p:regular r:id="rId1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121" Type="http://schemas.openxmlformats.org/officeDocument/2006/relationships/font" Target="fonts/CambriaMath-regular.fntdata"/><Relationship Id="rId25" Type="http://schemas.openxmlformats.org/officeDocument/2006/relationships/slide" Target="slides/slide20.xml"/><Relationship Id="rId120" Type="http://schemas.openxmlformats.org/officeDocument/2006/relationships/font" Target="fonts/BellMT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font" Target="fonts/BellMT-bold.fntdata"/><Relationship Id="rId117" Type="http://schemas.openxmlformats.org/officeDocument/2006/relationships/font" Target="fonts/BellMT-regular.fntdata"/><Relationship Id="rId116" Type="http://schemas.openxmlformats.org/officeDocument/2006/relationships/font" Target="fonts/NotoSansSymbols-bold.fntdata"/><Relationship Id="rId115" Type="http://schemas.openxmlformats.org/officeDocument/2006/relationships/font" Target="fonts/NotoSansSymbols-regular.fntdata"/><Relationship Id="rId119" Type="http://schemas.openxmlformats.org/officeDocument/2006/relationships/font" Target="fonts/BellMT-italic.fntdata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font" Target="fonts/BookAntiqua-boldItalic.fntdata"/><Relationship Id="rId18" Type="http://schemas.openxmlformats.org/officeDocument/2006/relationships/slide" Target="slides/slide13.xml"/><Relationship Id="rId113" Type="http://schemas.openxmlformats.org/officeDocument/2006/relationships/font" Target="fonts/BookAntiqua-italic.fntdata"/><Relationship Id="rId112" Type="http://schemas.openxmlformats.org/officeDocument/2006/relationships/font" Target="fonts/BookAntiqua-bold.fntdata"/><Relationship Id="rId111" Type="http://schemas.openxmlformats.org/officeDocument/2006/relationships/font" Target="fonts/BookAntiqua-regular.fntdata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5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5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5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5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5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5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6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6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6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6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6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6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6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6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6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6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6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6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6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6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7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7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7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7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7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7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7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7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7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7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7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7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7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7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6f67752c3d_0_379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g36f67752c3d_0_379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6f67752c3d_0_387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g36f67752c3d_0_387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6f67752c3d_0_398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36f67752c3d_0_398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6f67752c3d_0_429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g36f67752c3d_0_429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6f67752c3d_0_440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g36f67752c3d_0_440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6f67752c3d_0_456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g36f67752c3d_0_456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6f67752c3d_0_470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g36f67752c3d_0_470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6f67752c3d_0_477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g36f67752c3d_0_477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6f67752c3d_0_495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g36f67752c3d_0_495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6f67752c3d_0_516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g36f67752c3d_0_516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6f67752c3d_0_530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g36f67752c3d_0_530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6f67752c3d_0_552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g36f67752c3d_0_552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6f67752c3d_0_598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g36f67752c3d_0_598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6f67752c3d_0_620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g36f67752c3d_0_620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6f67752c3d_0_632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g36f67752c3d_0_632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6f67752c3d_0_653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g36f67752c3d_0_653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6f67752c3d_0_678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g36f67752c3d_0_678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6f67752c3d_0_697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g36f67752c3d_0_697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6f67752c3d_0_715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g36f67752c3d_0_715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6f67752c3d_0_725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5" name="Google Shape;645;g36f67752c3d_0_725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g36f67752c3d_0_725:notes"/>
          <p:cNvSpPr txBox="1"/>
          <p:nvPr>
            <p:ph idx="12" type="sldNum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6f67752c3d_0_758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g36f67752c3d_0_758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6f67752c3d_0_766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g36f67752c3d_0_766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6f67752c3d_0_790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g36f67752c3d_0_790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6f67752c3d_0_818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g36f67752c3d_0_818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6f67752c3d_0_845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g36f67752c3d_0_845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6f67752c3d_0_863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g36f67752c3d_0_863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36f67752c3d_0_877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g36f67752c3d_0_877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36f67752c3d_0_895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g36f67752c3d_0_895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6f67752c3d_0_913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g36f67752c3d_0_913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6f67752c3d_0_923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g36f67752c3d_0_923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36f67752c3d_0_940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g36f67752c3d_0_940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36f67752c3d_0_957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g36f67752c3d_0_957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36f67752c3d_0_972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g36f67752c3d_0_972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6f67752c3d_0_985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g36f67752c3d_0_985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36f67752c3d_0_999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g36f67752c3d_0_999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6f67752c3d_0_1012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g36f67752c3d_0_1012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36f67752c3d_0_1026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g36f67752c3d_0_1026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6f67752c3d_0_1036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g36f67752c3d_0_1036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36f67752c3d_0_1046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g36f67752c3d_0_1046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36f67752c3d_0_1062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g36f67752c3d_0_1062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36f67752c3d_0_1072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g36f67752c3d_0_1072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36f67752c3d_0_1084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g36f67752c3d_0_1084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36f67752c3d_0_1095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g36f67752c3d_0_1095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36f67752c3d_0_1109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g36f67752c3d_0_1109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36f67752c3d_0_1141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g36f67752c3d_0_1141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36f67752c3d_0_1149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g36f67752c3d_0_1149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36f67752c3d_0_1159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g36f67752c3d_0_1159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36f67752c3d_0_1185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g36f67752c3d_0_1185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36f67752c3d_0_1209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g36f67752c3d_0_1209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36f67752c3d_0_1225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g36f67752c3d_0_1225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36f67752c3d_0_1253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g36f67752c3d_0_1253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36f67752c3d_0_1269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g36f67752c3d_0_1269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36f67752c3d_0_1286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g36f67752c3d_0_1286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36f67752c3d_0_1334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g36f67752c3d_0_1334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g36f67752c3d_0_1343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g36f67752c3d_0_1343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36f67752c3d_0_1365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g36f67752c3d_0_1365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36f67752c3d_0_1384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g36f67752c3d_0_1384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36f67752c3d_0_1410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g36f67752c3d_0_1410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g36f67752c3d_0_1427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g36f67752c3d_0_1427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5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g36f67752c3d_0_1440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g36f67752c3d_0_1440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36f67752c3d_0_1459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g36f67752c3d_0_1459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g36f67752c3d_0_1476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g36f67752c3d_0_1476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g36f67752c3d_0_1489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g36f67752c3d_0_1489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g36f67752c3d_0_1521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g36f67752c3d_0_1521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g36f67752c3d_0_1530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g36f67752c3d_0_1530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g36f67752c3d_0_1540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g36f67752c3d_0_1540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g36f67752c3d_0_1550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g36f67752c3d_0_1550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g36f67752c3d_0_1564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g36f67752c3d_0_1564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g36f67752c3d_0_1581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g36f67752c3d_0_1581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36f67752c3d_0_1615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0" name="Google Shape;1390;g36f67752c3d_0_1615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g36f67752c3d_0_1635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g36f67752c3d_0_1635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g36f67752c3d_0_1653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g36f67752c3d_0_1653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g36f67752c3d_0_1678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3" name="Google Shape;1433;g36f67752c3d_0_1678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g36f67752c3d_0_1698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g36f67752c3d_0_1698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g36f67752c3d_0_1726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3" name="Google Shape;1463;g36f67752c3d_0_1726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g36f67752c3d_0_1739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g36f67752c3d_0_1739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g36f67752c3d_0_1759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6" name="Google Shape;1496;g36f67752c3d_0_1759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g36f67752c3d_0_1819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g36f67752c3d_0_1819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g36f67752c3d_0_1784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3" name="Google Shape;1513;g36f67752c3d_0_1784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g36f67752c3d_0_1795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5" name="Google Shape;1525;g36f67752c3d_0_1795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g36f67752c3d_0_1805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g36f67752c3d_0_1805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636390" y="6551062"/>
            <a:ext cx="3394633" cy="19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" name="Google Shape;18;p2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" name="Google Shape;19;p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" name="Google Shape;22;p3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" name="Google Shape;26;p4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" name="Google Shape;33;p6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0" y="153150"/>
            <a:ext cx="121920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0" y="1058675"/>
            <a:ext cx="12192000" cy="3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3636390" y="6551062"/>
            <a:ext cx="3394633" cy="19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205740" y="6547862"/>
            <a:ext cx="429005" cy="203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hyperlink" Target="http://dept.me.umn.edu/courses/me5286/vision/Notes/2015/ME5286-Lecture5.pdf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6.png"/><Relationship Id="rId4" Type="http://schemas.openxmlformats.org/officeDocument/2006/relationships/hyperlink" Target="http://www.linkedin.com/feed/" TargetMode="External"/><Relationship Id="rId5" Type="http://schemas.openxmlformats.org/officeDocument/2006/relationships/image" Target="../media/image2.png"/><Relationship Id="rId6" Type="http://schemas.openxmlformats.org/officeDocument/2006/relationships/image" Target="../media/image7.jpg"/><Relationship Id="rId7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jpg"/><Relationship Id="rId4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Relationship Id="rId4" Type="http://schemas.openxmlformats.org/officeDocument/2006/relationships/image" Target="../media/image23.png"/><Relationship Id="rId5" Type="http://schemas.openxmlformats.org/officeDocument/2006/relationships/image" Target="../media/image3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png"/><Relationship Id="rId4" Type="http://schemas.openxmlformats.org/officeDocument/2006/relationships/hyperlink" Target="http://www.linkedin.com/feed/" TargetMode="External"/><Relationship Id="rId5" Type="http://schemas.openxmlformats.org/officeDocument/2006/relationships/image" Target="../media/image2.png"/><Relationship Id="rId6" Type="http://schemas.openxmlformats.org/officeDocument/2006/relationships/image" Target="../media/image7.jpg"/><Relationship Id="rId7" Type="http://schemas.openxmlformats.org/officeDocument/2006/relationships/image" Target="../media/image2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7.png"/><Relationship Id="rId4" Type="http://schemas.openxmlformats.org/officeDocument/2006/relationships/image" Target="../media/image28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www.thefouriertransform.com/" TargetMode="External"/><Relationship Id="rId4" Type="http://schemas.openxmlformats.org/officeDocument/2006/relationships/hyperlink" Target="https://homepages.inf.ed.ac.uk/rbf/HIPR2/fourier.htm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5.png"/><Relationship Id="rId4" Type="http://schemas.openxmlformats.org/officeDocument/2006/relationships/image" Target="../media/image34.png"/><Relationship Id="rId5" Type="http://schemas.openxmlformats.org/officeDocument/2006/relationships/image" Target="../media/image40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5.png"/><Relationship Id="rId4" Type="http://schemas.openxmlformats.org/officeDocument/2006/relationships/image" Target="../media/image34.png"/><Relationship Id="rId5" Type="http://schemas.openxmlformats.org/officeDocument/2006/relationships/image" Target="../media/image40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2.png"/><Relationship Id="rId4" Type="http://schemas.openxmlformats.org/officeDocument/2006/relationships/image" Target="../media/image46.png"/><Relationship Id="rId5" Type="http://schemas.openxmlformats.org/officeDocument/2006/relationships/hyperlink" Target="http://homepages.inf.ed.ac.uk/rbf/HIPR2/fourier.htm" TargetMode="Externa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62.png"/><Relationship Id="rId4" Type="http://schemas.openxmlformats.org/officeDocument/2006/relationships/image" Target="../media/image48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2.png"/><Relationship Id="rId4" Type="http://schemas.openxmlformats.org/officeDocument/2006/relationships/image" Target="../media/image57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7.png"/><Relationship Id="rId4" Type="http://schemas.openxmlformats.org/officeDocument/2006/relationships/image" Target="../media/image55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hyperlink" Target="http://homepages.inf.ed.ac.uk/rbf/HIPR2/threshld.htm" TargetMode="Externa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4.png"/><Relationship Id="rId4" Type="http://schemas.openxmlformats.org/officeDocument/2006/relationships/image" Target="../media/image54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8.png"/><Relationship Id="rId4" Type="http://schemas.openxmlformats.org/officeDocument/2006/relationships/image" Target="../media/image54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0.png"/><Relationship Id="rId4" Type="http://schemas.openxmlformats.org/officeDocument/2006/relationships/image" Target="../media/image56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6.png"/><Relationship Id="rId4" Type="http://schemas.openxmlformats.org/officeDocument/2006/relationships/image" Target="../media/image67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45.png"/><Relationship Id="rId4" Type="http://schemas.openxmlformats.org/officeDocument/2006/relationships/image" Target="../media/image34.png"/><Relationship Id="rId5" Type="http://schemas.openxmlformats.org/officeDocument/2006/relationships/image" Target="../media/image40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75.png"/><Relationship Id="rId4" Type="http://schemas.openxmlformats.org/officeDocument/2006/relationships/image" Target="../media/image59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3.png"/><Relationship Id="rId4" Type="http://schemas.openxmlformats.org/officeDocument/2006/relationships/image" Target="../media/image65.png"/><Relationship Id="rId5" Type="http://schemas.openxmlformats.org/officeDocument/2006/relationships/image" Target="../media/image71.png"/><Relationship Id="rId6" Type="http://schemas.openxmlformats.org/officeDocument/2006/relationships/image" Target="../media/image64.png"/><Relationship Id="rId7" Type="http://schemas.openxmlformats.org/officeDocument/2006/relationships/image" Target="../media/image68.png"/><Relationship Id="rId8" Type="http://schemas.openxmlformats.org/officeDocument/2006/relationships/image" Target="../media/image66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09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76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81.png"/><Relationship Id="rId4" Type="http://schemas.openxmlformats.org/officeDocument/2006/relationships/image" Target="../media/image69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72.png"/><Relationship Id="rId4" Type="http://schemas.openxmlformats.org/officeDocument/2006/relationships/image" Target="../media/image74.png"/><Relationship Id="rId5" Type="http://schemas.openxmlformats.org/officeDocument/2006/relationships/image" Target="../media/image73.png"/><Relationship Id="rId6" Type="http://schemas.openxmlformats.org/officeDocument/2006/relationships/image" Target="../media/image78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74.png"/><Relationship Id="rId4" Type="http://schemas.openxmlformats.org/officeDocument/2006/relationships/image" Target="../media/image73.png"/><Relationship Id="rId5" Type="http://schemas.openxmlformats.org/officeDocument/2006/relationships/image" Target="../media/image96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83.png"/><Relationship Id="rId4" Type="http://schemas.openxmlformats.org/officeDocument/2006/relationships/image" Target="../media/image88.png"/><Relationship Id="rId5" Type="http://schemas.openxmlformats.org/officeDocument/2006/relationships/image" Target="../media/image80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85.jpg"/><Relationship Id="rId4" Type="http://schemas.openxmlformats.org/officeDocument/2006/relationships/image" Target="../media/image91.png"/><Relationship Id="rId5" Type="http://schemas.openxmlformats.org/officeDocument/2006/relationships/image" Target="../media/image84.png"/><Relationship Id="rId6" Type="http://schemas.openxmlformats.org/officeDocument/2006/relationships/image" Target="../media/image90.png"/><Relationship Id="rId7" Type="http://schemas.openxmlformats.org/officeDocument/2006/relationships/image" Target="../media/image95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03.png"/><Relationship Id="rId4" Type="http://schemas.openxmlformats.org/officeDocument/2006/relationships/image" Target="../media/image89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94.png"/><Relationship Id="rId4" Type="http://schemas.openxmlformats.org/officeDocument/2006/relationships/image" Target="../media/image87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98.png"/><Relationship Id="rId4" Type="http://schemas.openxmlformats.org/officeDocument/2006/relationships/image" Target="../media/image104.png"/><Relationship Id="rId5" Type="http://schemas.openxmlformats.org/officeDocument/2006/relationships/image" Target="../media/image102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06.jp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00.jp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97.png"/><Relationship Id="rId4" Type="http://schemas.openxmlformats.org/officeDocument/2006/relationships/image" Target="../media/image105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17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01.png"/><Relationship Id="rId4" Type="http://schemas.openxmlformats.org/officeDocument/2006/relationships/image" Target="../media/image99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107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91.png"/><Relationship Id="rId4" Type="http://schemas.openxmlformats.org/officeDocument/2006/relationships/image" Target="../media/image116.png"/><Relationship Id="rId5" Type="http://schemas.openxmlformats.org/officeDocument/2006/relationships/image" Target="../media/image84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120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119.pn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113.png"/><Relationship Id="rId4" Type="http://schemas.openxmlformats.org/officeDocument/2006/relationships/image" Target="../media/image108.png"/><Relationship Id="rId5" Type="http://schemas.openxmlformats.org/officeDocument/2006/relationships/image" Target="../media/image115.png"/><Relationship Id="rId6" Type="http://schemas.openxmlformats.org/officeDocument/2006/relationships/image" Target="../media/image112.pn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118.pn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111.jp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110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1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idx="4294967295" type="title"/>
          </p:nvPr>
        </p:nvSpPr>
        <p:spPr>
          <a:xfrm>
            <a:off x="0" y="2280000"/>
            <a:ext cx="12192000" cy="22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9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latin typeface="Bell MT"/>
                <a:ea typeface="Bell MT"/>
                <a:cs typeface="Bell MT"/>
                <a:sym typeface="Bell MT"/>
              </a:rPr>
              <a:t>Fourier	Transform</a:t>
            </a:r>
            <a:endParaRPr sz="6000">
              <a:latin typeface="Bell MT"/>
              <a:ea typeface="Bell MT"/>
              <a:cs typeface="Bell MT"/>
              <a:sym typeface="Bell MT"/>
            </a:endParaRPr>
          </a:p>
          <a:p>
            <a:pPr indent="0" lvl="0" marL="0" rtl="0" algn="ctr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206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2060"/>
                </a:solidFill>
              </a:rPr>
              <a:t>Part - 1</a:t>
            </a:r>
            <a:endParaRPr/>
          </a:p>
        </p:txBody>
      </p:sp>
      <p:sp>
        <p:nvSpPr>
          <p:cNvPr id="40" name="Google Shape;40;p7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" name="Google Shape;41;p7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Fourier Series Theorem</a:t>
            </a:r>
            <a:endParaRPr/>
          </a:p>
        </p:txBody>
      </p:sp>
      <p:sp>
        <p:nvSpPr>
          <p:cNvPr id="49" name="Google Shape;49;p8"/>
          <p:cNvSpPr txBox="1"/>
          <p:nvPr/>
        </p:nvSpPr>
        <p:spPr>
          <a:xfrm>
            <a:off x="866157" y="3362950"/>
            <a:ext cx="95886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alibri"/>
                <a:ea typeface="Calibri"/>
                <a:cs typeface="Calibri"/>
                <a:sym typeface="Calibri"/>
              </a:rPr>
              <a:t>where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6350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rPr i="1" lang="en-US" sz="28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baseline="-25000" i="1" lang="en-US" sz="2775">
                <a:latin typeface="Times New Roman"/>
                <a:ea typeface="Times New Roman"/>
                <a:cs typeface="Times New Roman"/>
                <a:sym typeface="Times New Roman"/>
              </a:rPr>
              <a:t>0	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is called the “fundamental frequency”  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endParaRPr sz="2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8"/>
          <p:cNvSpPr txBox="1"/>
          <p:nvPr/>
        </p:nvSpPr>
        <p:spPr>
          <a:xfrm>
            <a:off x="687880" y="1090738"/>
            <a:ext cx="11169300" cy="9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900" lvl="0" marL="380365" marR="304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Any </a:t>
            </a:r>
            <a:r>
              <a:rPr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periodic</a:t>
            </a:r>
            <a:r>
              <a:rPr lang="en-US" sz="32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function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can be expressed as a weighted sum (infinite) of	sine and cosine functions of	varying frequency: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51" name="Google Shape;51;p8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2" name="Google Shape;52;p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55" name="Google Shape;55;p8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56" name="Google Shape;5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9925" y="2145700"/>
            <a:ext cx="9449202" cy="1309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9925" y="4392850"/>
            <a:ext cx="5475551" cy="188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9"/>
          <p:cNvGrpSpPr/>
          <p:nvPr/>
        </p:nvGrpSpPr>
        <p:grpSpPr>
          <a:xfrm>
            <a:off x="528625" y="1008700"/>
            <a:ext cx="8346591" cy="3796665"/>
            <a:chOff x="528625" y="1008700"/>
            <a:chExt cx="8346591" cy="3796665"/>
          </a:xfrm>
        </p:grpSpPr>
        <p:pic>
          <p:nvPicPr>
            <p:cNvPr id="63" name="Google Shape;6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27669" y="1237485"/>
              <a:ext cx="7752611" cy="34457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" name="Google Shape;64;p9"/>
            <p:cNvSpPr/>
            <p:nvPr/>
          </p:nvSpPr>
          <p:spPr>
            <a:xfrm>
              <a:off x="528625" y="1008700"/>
              <a:ext cx="8346591" cy="3796665"/>
            </a:xfrm>
            <a:custGeom>
              <a:rect b="b" l="l" r="r" t="t"/>
              <a:pathLst>
                <a:path extrusionOk="0" h="3796665" w="8162925">
                  <a:moveTo>
                    <a:pt x="0" y="0"/>
                  </a:moveTo>
                  <a:lnTo>
                    <a:pt x="8162925" y="0"/>
                  </a:lnTo>
                  <a:lnTo>
                    <a:pt x="8162925" y="3796665"/>
                  </a:lnTo>
                  <a:lnTo>
                    <a:pt x="0" y="3796665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65" name="Google Shape;65;p9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Fourier Series</a:t>
            </a:r>
            <a:endParaRPr/>
          </a:p>
        </p:txBody>
      </p:sp>
      <p:sp>
        <p:nvSpPr>
          <p:cNvPr id="66" name="Google Shape;66;p9"/>
          <p:cNvSpPr txBox="1"/>
          <p:nvPr/>
        </p:nvSpPr>
        <p:spPr>
          <a:xfrm>
            <a:off x="544000" y="4876800"/>
            <a:ext cx="8356500" cy="947400"/>
          </a:xfrm>
          <a:prstGeom prst="rect">
            <a:avLst/>
          </a:prstGeom>
          <a:noFill/>
          <a:ln cap="flat" cmpd="sng" w="25400">
            <a:solidFill>
              <a:srgbClr val="8064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34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One of the Fundamental Secrets of the Universe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  <a:p>
            <a:pPr indent="0" lvl="0" marL="90170" marR="27114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All waveforms, no matter what you scribble or observe in the universe, are actually just the sum of simple sinusoids of different frequencies.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7" name="Google Shape;67;p9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8" name="Google Shape;68;p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" name="Google Shape;69;p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" name="Google Shape;70;p9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71" name="Google Shape;71;p9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/>
          <p:nvPr>
            <p:ph idx="4294967295" type="title"/>
          </p:nvPr>
        </p:nvSpPr>
        <p:spPr>
          <a:xfrm>
            <a:off x="75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Fourier Series</a:t>
            </a:r>
            <a:endParaRPr/>
          </a:p>
        </p:txBody>
      </p:sp>
      <p:pic>
        <p:nvPicPr>
          <p:cNvPr id="77" name="Google Shape;7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2140" y="1254574"/>
            <a:ext cx="5247233" cy="409159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0"/>
          <p:cNvSpPr txBox="1"/>
          <p:nvPr/>
        </p:nvSpPr>
        <p:spPr>
          <a:xfrm>
            <a:off x="171784" y="6134860"/>
            <a:ext cx="5913120" cy="218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Image source: </a:t>
            </a:r>
            <a:r>
              <a:rPr i="1" lang="en-US" sz="1200" u="sng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http://dept.me.umn.edu/courses/me5286/vision/Notes/2015/ME5286-Lecture5.pdf</a:t>
            </a:r>
            <a:endParaRPr sz="1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9" name="Google Shape;79;p10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0" name="Google Shape;80;p1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" name="Google Shape;81;p10"/>
          <p:cNvSpPr txBox="1"/>
          <p:nvPr>
            <p:ph idx="4294967295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82" name="Google Shape;82;p10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0944" y="3472007"/>
            <a:ext cx="6486646" cy="19353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Time </a:t>
            </a:r>
            <a:r>
              <a:rPr i="1" lang="en-US">
                <a:latin typeface="Bell MT"/>
                <a:ea typeface="Bell MT"/>
                <a:cs typeface="Bell MT"/>
                <a:sym typeface="Bell MT"/>
              </a:rPr>
              <a:t>Vs. </a:t>
            </a:r>
            <a:r>
              <a:rPr lang="en-US"/>
              <a:t>Frequency Domain</a:t>
            </a:r>
            <a:endParaRPr/>
          </a:p>
        </p:txBody>
      </p:sp>
      <p:sp>
        <p:nvSpPr>
          <p:cNvPr id="89" name="Google Shape;89;p11"/>
          <p:cNvSpPr txBox="1"/>
          <p:nvPr/>
        </p:nvSpPr>
        <p:spPr>
          <a:xfrm>
            <a:off x="154955" y="5673125"/>
            <a:ext cx="111687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925">
            <a:spAutoFit/>
          </a:bodyPr>
          <a:lstStyle/>
          <a:p>
            <a:pPr indent="0" lvl="0" marL="24491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030A0"/>
                </a:solidFill>
                <a:latin typeface="Bell MT"/>
                <a:ea typeface="Bell MT"/>
                <a:cs typeface="Bell MT"/>
                <a:sym typeface="Bell MT"/>
              </a:rPr>
              <a:t>Fourier composition of a square wave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  <a:p>
            <a:pPr indent="0" lvl="0" marL="12700" marR="5080" rtl="0" algn="l">
              <a:lnSpc>
                <a:spcPct val="115555"/>
              </a:lnSpc>
              <a:spcBef>
                <a:spcPts val="415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Top Image: Fourier composition of a square wave. </a:t>
            </a:r>
            <a:r>
              <a:rPr i="1" lang="en-US" sz="13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(Courtesy of Dr. Dan Russell, Grad. Prog. Acoustics, Penn State). Taken from https://</a:t>
            </a:r>
            <a:r>
              <a:rPr i="1" lang="en-US" sz="1300" u="sng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www.linkedin.com/feed/</a:t>
            </a:r>
            <a:endParaRPr sz="13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0" name="Google Shape;90;p11"/>
          <p:cNvSpPr txBox="1"/>
          <p:nvPr/>
        </p:nvSpPr>
        <p:spPr>
          <a:xfrm>
            <a:off x="1676834" y="5363447"/>
            <a:ext cx="20497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alibri"/>
                <a:ea typeface="Calibri"/>
                <a:cs typeface="Calibri"/>
                <a:sym typeface="Calibri"/>
              </a:rPr>
              <a:t>Time (spatial) domain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1"/>
          <p:cNvSpPr txBox="1"/>
          <p:nvPr/>
        </p:nvSpPr>
        <p:spPr>
          <a:xfrm>
            <a:off x="5544746" y="5275665"/>
            <a:ext cx="25419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alibri"/>
                <a:ea typeface="Calibri"/>
                <a:cs typeface="Calibri"/>
                <a:sym typeface="Calibri"/>
              </a:rPr>
              <a:t>Fourier (frequency) domain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2" name="Google Shape;92;p11"/>
          <p:cNvGrpSpPr/>
          <p:nvPr/>
        </p:nvGrpSpPr>
        <p:grpSpPr>
          <a:xfrm>
            <a:off x="251450" y="996678"/>
            <a:ext cx="8846881" cy="2650254"/>
            <a:chOff x="251450" y="996678"/>
            <a:chExt cx="8846881" cy="2650254"/>
          </a:xfrm>
        </p:grpSpPr>
        <p:pic>
          <p:nvPicPr>
            <p:cNvPr id="93" name="Google Shape;93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51450" y="996678"/>
              <a:ext cx="1978161" cy="15742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" name="Google Shape;94;p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577636" y="1127761"/>
              <a:ext cx="2520695" cy="251917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5" name="Google Shape;95;p11"/>
          <p:cNvSpPr txBox="1"/>
          <p:nvPr/>
        </p:nvSpPr>
        <p:spPr>
          <a:xfrm>
            <a:off x="459753" y="2619125"/>
            <a:ext cx="1626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682EEA"/>
                </a:solidFill>
                <a:latin typeface="Bell MT"/>
                <a:ea typeface="Bell MT"/>
                <a:cs typeface="Bell MT"/>
                <a:sym typeface="Bell MT"/>
              </a:rPr>
              <a:t>Square wave (blue curve)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6" name="Google Shape;96;p11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7" name="Google Shape;97;p1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p1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p11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00" name="Google Shape;100;p11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01" name="Google Shape;101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43175" y="996675"/>
            <a:ext cx="3921100" cy="247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a Fourier Transform?</a:t>
            </a:r>
            <a:endParaRPr/>
          </a:p>
        </p:txBody>
      </p:sp>
      <p:sp>
        <p:nvSpPr>
          <p:cNvPr id="107" name="Google Shape;107;p12"/>
          <p:cNvSpPr txBox="1"/>
          <p:nvPr/>
        </p:nvSpPr>
        <p:spPr>
          <a:xfrm>
            <a:off x="228605" y="1107325"/>
            <a:ext cx="11640900" cy="46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8250">
            <a:spAutoFit/>
          </a:bodyPr>
          <a:lstStyle/>
          <a:p>
            <a:pPr indent="-342900" lvl="0" marL="354965" marR="50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▪"/>
            </a:pPr>
            <a:r>
              <a:rPr lang="en-US" sz="2500">
                <a:latin typeface="Bell MT"/>
                <a:ea typeface="Bell MT"/>
                <a:cs typeface="Bell MT"/>
                <a:sym typeface="Bell MT"/>
              </a:rPr>
              <a:t>The Fourier transform states that a </a:t>
            </a:r>
            <a:r>
              <a:rPr lang="en-US" sz="25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non-periodic</a:t>
            </a:r>
            <a:r>
              <a:rPr lang="en-US" sz="25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function </a:t>
            </a:r>
            <a:r>
              <a:rPr lang="en-US" sz="2500" u="none">
                <a:latin typeface="Bell MT"/>
                <a:ea typeface="Bell MT"/>
                <a:cs typeface="Bell MT"/>
                <a:sym typeface="Bell MT"/>
              </a:rPr>
              <a:t>whose </a:t>
            </a:r>
            <a:r>
              <a:rPr lang="en-US" sz="2500" u="sng">
                <a:latin typeface="Bell MT"/>
                <a:ea typeface="Bell MT"/>
                <a:cs typeface="Bell MT"/>
                <a:sym typeface="Bell MT"/>
              </a:rPr>
              <a:t>area</a:t>
            </a:r>
            <a:r>
              <a:rPr lang="en-US" sz="2500" u="none">
                <a:latin typeface="Bell MT"/>
                <a:ea typeface="Bell MT"/>
                <a:cs typeface="Bell MT"/>
                <a:sym typeface="Bell MT"/>
              </a:rPr>
              <a:t> under the curve is finite can also be represented as the </a:t>
            </a:r>
            <a:r>
              <a:rPr lang="en-US" sz="25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weighted sum (infinite) of	sine and cosine functions</a:t>
            </a:r>
            <a:r>
              <a:rPr lang="en-US" sz="25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500" u="none">
                <a:latin typeface="Bell MT"/>
                <a:ea typeface="Bell MT"/>
                <a:cs typeface="Bell MT"/>
                <a:sym typeface="Bell MT"/>
              </a:rPr>
              <a:t>of</a:t>
            </a:r>
            <a:r>
              <a:rPr lang="en-US" sz="2500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500" u="none">
                <a:latin typeface="Bell MT"/>
                <a:ea typeface="Bell MT"/>
                <a:cs typeface="Bell MT"/>
                <a:sym typeface="Bell MT"/>
              </a:rPr>
              <a:t>varying frequency.</a:t>
            </a:r>
            <a:endParaRPr sz="25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8000"/>
              </a:lnSpc>
              <a:spcBef>
                <a:spcPts val="30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▪"/>
            </a:pPr>
            <a:r>
              <a:rPr lang="en-US" sz="2500">
                <a:latin typeface="Bell MT"/>
                <a:ea typeface="Bell MT"/>
                <a:cs typeface="Bell MT"/>
                <a:sym typeface="Bell MT"/>
              </a:rPr>
              <a:t>It represents a </a:t>
            </a:r>
            <a:r>
              <a:rPr lang="en-US" sz="25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function </a:t>
            </a:r>
            <a:r>
              <a:rPr lang="en-US" sz="2500">
                <a:latin typeface="Bell MT"/>
                <a:ea typeface="Bell MT"/>
                <a:cs typeface="Bell MT"/>
                <a:sym typeface="Bell MT"/>
              </a:rPr>
              <a:t>with the help of	</a:t>
            </a:r>
            <a:r>
              <a:rPr i="1" lang="en-US" sz="25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sine </a:t>
            </a:r>
            <a:r>
              <a:rPr lang="en-US" sz="2500">
                <a:latin typeface="Bell MT"/>
                <a:ea typeface="Bell MT"/>
                <a:cs typeface="Bell MT"/>
                <a:sym typeface="Bell MT"/>
              </a:rPr>
              <a:t>and </a:t>
            </a:r>
            <a:r>
              <a:rPr i="1" lang="en-US" sz="25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cosine</a:t>
            </a:r>
            <a:endParaRPr sz="2500">
              <a:latin typeface="Bell MT"/>
              <a:ea typeface="Bell MT"/>
              <a:cs typeface="Bell MT"/>
              <a:sym typeface="Bell MT"/>
            </a:endParaRPr>
          </a:p>
          <a:p>
            <a:pPr indent="0" lvl="0" marL="354965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Bell MT"/>
                <a:ea typeface="Bell MT"/>
                <a:cs typeface="Bell MT"/>
                <a:sym typeface="Bell MT"/>
              </a:rPr>
              <a:t>functions</a:t>
            </a:r>
            <a:endParaRPr sz="2500">
              <a:latin typeface="Bell MT"/>
              <a:ea typeface="Bell MT"/>
              <a:cs typeface="Bell MT"/>
              <a:sym typeface="Bell MT"/>
            </a:endParaRPr>
          </a:p>
          <a:p>
            <a:pPr indent="-286385" lvl="1" marL="756285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–"/>
            </a:pPr>
            <a:r>
              <a:rPr lang="en-US" sz="2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real valued in our case</a:t>
            </a:r>
            <a:endParaRPr sz="2200">
              <a:latin typeface="Bell MT"/>
              <a:ea typeface="Bell MT"/>
              <a:cs typeface="Bell MT"/>
              <a:sym typeface="Bell MT"/>
            </a:endParaRPr>
          </a:p>
          <a:p>
            <a:pPr indent="-286385" lvl="1" marL="7562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–"/>
            </a:pPr>
            <a:r>
              <a:rPr lang="en-US" sz="2200">
                <a:latin typeface="Bell MT"/>
                <a:ea typeface="Bell MT"/>
                <a:cs typeface="Bell MT"/>
                <a:sym typeface="Bell MT"/>
              </a:rPr>
              <a:t>Could be a complex too</a:t>
            </a:r>
            <a:endParaRPr sz="2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299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▪"/>
            </a:pPr>
            <a:r>
              <a:rPr lang="en-US" sz="2500">
                <a:latin typeface="Bell MT"/>
                <a:ea typeface="Bell MT"/>
                <a:cs typeface="Bell MT"/>
                <a:sym typeface="Bell MT"/>
              </a:rPr>
              <a:t>Note: we’ll use following terms interchangeably</a:t>
            </a:r>
            <a:endParaRPr sz="2500">
              <a:latin typeface="Bell MT"/>
              <a:ea typeface="Bell MT"/>
              <a:cs typeface="Bell MT"/>
              <a:sym typeface="Bell MT"/>
            </a:endParaRPr>
          </a:p>
          <a:p>
            <a:pPr indent="-286385" lvl="1" marL="756285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SzPts val="2200"/>
              <a:buFont typeface="Arial"/>
              <a:buChar char="–"/>
            </a:pPr>
            <a:r>
              <a:rPr lang="en-US" sz="2200">
                <a:latin typeface="Bell MT"/>
                <a:ea typeface="Bell MT"/>
                <a:cs typeface="Bell MT"/>
                <a:sym typeface="Bell MT"/>
              </a:rPr>
              <a:t>Function</a:t>
            </a:r>
            <a:endParaRPr sz="2200">
              <a:latin typeface="Bell MT"/>
              <a:ea typeface="Bell MT"/>
              <a:cs typeface="Bell MT"/>
              <a:sym typeface="Bell MT"/>
            </a:endParaRPr>
          </a:p>
          <a:p>
            <a:pPr indent="-286385" lvl="1" marL="7562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–"/>
            </a:pPr>
            <a:r>
              <a:rPr lang="en-US" sz="2200">
                <a:latin typeface="Bell MT"/>
                <a:ea typeface="Bell MT"/>
                <a:cs typeface="Bell MT"/>
                <a:sym typeface="Bell MT"/>
              </a:rPr>
              <a:t>Signal</a:t>
            </a:r>
            <a:endParaRPr sz="2200">
              <a:latin typeface="Bell MT"/>
              <a:ea typeface="Bell MT"/>
              <a:cs typeface="Bell MT"/>
              <a:sym typeface="Bell MT"/>
            </a:endParaRPr>
          </a:p>
          <a:p>
            <a:pPr indent="-286385" lvl="1" marL="7562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–"/>
            </a:pPr>
            <a:r>
              <a:rPr lang="en-US" sz="2200">
                <a:latin typeface="Bell MT"/>
                <a:ea typeface="Bell MT"/>
                <a:cs typeface="Bell MT"/>
                <a:sym typeface="Bell MT"/>
              </a:rPr>
              <a:t>Waveform</a:t>
            </a:r>
            <a:endParaRPr sz="2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08" name="Google Shape;108;p12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9" name="Google Shape;109;p1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" name="Google Shape;110;p1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" name="Google Shape;111;p12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12" name="Google Shape;112;p12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>
            <p:ph idx="4294967295" type="title"/>
          </p:nvPr>
        </p:nvSpPr>
        <p:spPr>
          <a:xfrm>
            <a:off x="0" y="153150"/>
            <a:ext cx="121920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What is a Fourier Transform?</a:t>
            </a:r>
            <a:endParaRPr sz="4400"/>
          </a:p>
        </p:txBody>
      </p:sp>
      <p:sp>
        <p:nvSpPr>
          <p:cNvPr id="118" name="Google Shape;118;p13"/>
          <p:cNvSpPr txBox="1"/>
          <p:nvPr/>
        </p:nvSpPr>
        <p:spPr>
          <a:xfrm>
            <a:off x="535954" y="1063250"/>
            <a:ext cx="11111100" cy="3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900" lvl="0" marL="355600" marR="863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It is a tool that breaks a waveform (a function or signal) into an </a:t>
            </a: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alternate representation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3535" lvl="0" marL="355600" marR="5080" rtl="0" algn="l">
              <a:lnSpc>
                <a:spcPct val="100000"/>
              </a:lnSpc>
              <a:spcBef>
                <a:spcPts val="537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Uses </a:t>
            </a:r>
            <a:r>
              <a:rPr i="1"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sine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and </a:t>
            </a:r>
            <a:r>
              <a:rPr i="1"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cosine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functions defined in terms of frequencies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High frequency components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Low frequency components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19" name="Google Shape;119;p13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0" name="Google Shape;120;p1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" name="Google Shape;121;p1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13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23" name="Google Shape;123;p13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4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Fourier Transform </a:t>
            </a:r>
            <a:r>
              <a:rPr i="1" lang="en-US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&amp; </a:t>
            </a:r>
            <a:r>
              <a:rPr lang="en-US"/>
              <a:t>Image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228605" y="1169650"/>
            <a:ext cx="11472900" cy="21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900" lvl="0" marL="354965" marR="6216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Images can be considered non – periodic functions.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5600" marR="5080" rtl="0" algn="l">
              <a:lnSpc>
                <a:spcPct val="100000"/>
              </a:lnSpc>
              <a:spcBef>
                <a:spcPts val="537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So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Fourier transform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 can be used to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convert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images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 into frequency domain.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1" name="Google Shape;131;p1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2" name="Google Shape;132;p1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14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34" name="Google Shape;134;p14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Fourier Transform </a:t>
            </a:r>
            <a:r>
              <a:rPr i="1" lang="en-US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&amp; </a:t>
            </a:r>
            <a:r>
              <a:rPr lang="en-US"/>
              <a:t>Image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535954" y="1324050"/>
            <a:ext cx="10935900" cy="42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4450">
            <a:spAutoFit/>
          </a:bodyPr>
          <a:lstStyle/>
          <a:p>
            <a:pPr indent="-342900" lvl="0" marL="355600" marR="3365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950"/>
              <a:buFont typeface="Noto Sans Symbols"/>
              <a:buChar char="▪"/>
            </a:pPr>
            <a:r>
              <a:rPr lang="en-US" sz="3700">
                <a:latin typeface="Bell MT"/>
                <a:ea typeface="Bell MT"/>
                <a:cs typeface="Bell MT"/>
                <a:sym typeface="Bell MT"/>
              </a:rPr>
              <a:t>An image can be represented in two domains</a:t>
            </a:r>
            <a:endParaRPr sz="37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>
                <a:srgbClr val="0070C0"/>
              </a:buClr>
              <a:buSzPts val="3300"/>
              <a:buFont typeface="Arial"/>
              <a:buChar char="–"/>
            </a:pPr>
            <a:r>
              <a:rPr i="1" lang="en-US" sz="33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Spatial domain </a:t>
            </a:r>
            <a:r>
              <a:rPr i="1" lang="en-US" sz="3300">
                <a:latin typeface="Bell MT"/>
                <a:ea typeface="Bell MT"/>
                <a:cs typeface="Bell MT"/>
                <a:sym typeface="Bell MT"/>
              </a:rPr>
              <a:t>(Real space)</a:t>
            </a:r>
            <a:endParaRPr sz="33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300"/>
              <a:buFont typeface="Arial"/>
              <a:buChar char="–"/>
            </a:pPr>
            <a:r>
              <a:rPr i="1" lang="en-US" sz="33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Frequency domain </a:t>
            </a:r>
            <a:r>
              <a:rPr i="1" lang="en-US" sz="3300">
                <a:latin typeface="Bell MT"/>
                <a:ea typeface="Bell MT"/>
                <a:cs typeface="Bell MT"/>
                <a:sym typeface="Bell MT"/>
              </a:rPr>
              <a:t>(Fourier space)</a:t>
            </a:r>
            <a:endParaRPr sz="33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5600" marR="344170" rtl="0" algn="l">
              <a:lnSpc>
                <a:spcPct val="80000"/>
              </a:lnSpc>
              <a:spcBef>
                <a:spcPts val="5310"/>
              </a:spcBef>
              <a:spcAft>
                <a:spcPts val="0"/>
              </a:spcAft>
              <a:buClr>
                <a:srgbClr val="FF0000"/>
              </a:buClr>
              <a:buSzPts val="2950"/>
              <a:buFont typeface="Noto Sans Symbols"/>
              <a:buChar char="▪"/>
            </a:pPr>
            <a:r>
              <a:rPr lang="en-US" sz="3700">
                <a:latin typeface="Bell MT"/>
                <a:ea typeface="Bell MT"/>
                <a:cs typeface="Bell MT"/>
                <a:sym typeface="Bell MT"/>
              </a:rPr>
              <a:t>Image processing methods can be broadly divided into </a:t>
            </a:r>
            <a:r>
              <a:rPr lang="en-US" sz="37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two categories</a:t>
            </a:r>
            <a:r>
              <a:rPr lang="en-US" sz="3700" u="none">
                <a:latin typeface="Bell MT"/>
                <a:ea typeface="Bell MT"/>
                <a:cs typeface="Bell MT"/>
                <a:sym typeface="Bell MT"/>
              </a:rPr>
              <a:t>:</a:t>
            </a:r>
            <a:endParaRPr sz="37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70C0"/>
              </a:buClr>
              <a:buSzPts val="3300"/>
              <a:buFont typeface="Arial"/>
              <a:buChar char="–"/>
            </a:pPr>
            <a:r>
              <a:rPr i="1" lang="en-US" sz="33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Spatial domain </a:t>
            </a:r>
            <a:r>
              <a:rPr i="1" lang="en-US" sz="3300">
                <a:latin typeface="Bell MT"/>
                <a:ea typeface="Bell MT"/>
                <a:cs typeface="Bell MT"/>
                <a:sym typeface="Bell MT"/>
              </a:rPr>
              <a:t>(Real space) methods</a:t>
            </a:r>
            <a:endParaRPr sz="33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300"/>
              <a:buFont typeface="Arial"/>
              <a:buChar char="–"/>
            </a:pPr>
            <a:r>
              <a:rPr i="1" lang="en-US" sz="33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Frequency domain </a:t>
            </a:r>
            <a:r>
              <a:rPr i="1" lang="en-US" sz="3300">
                <a:latin typeface="Bell MT"/>
                <a:ea typeface="Bell MT"/>
                <a:cs typeface="Bell MT"/>
                <a:sym typeface="Bell MT"/>
              </a:rPr>
              <a:t>(Fourier space) methods</a:t>
            </a:r>
            <a:endParaRPr sz="33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2" name="Google Shape;142;p1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3" name="Google Shape;143;p1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" name="Google Shape;144;p15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45" name="Google Shape;145;p15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Fourier Transform </a:t>
            </a:r>
            <a:r>
              <a:rPr i="1" lang="en-US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&amp; </a:t>
            </a:r>
            <a:r>
              <a:rPr lang="en-US"/>
              <a:t>Image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459375" y="1169650"/>
            <a:ext cx="11427900" cy="2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4965" marR="48005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Why do we need to convert </a:t>
            </a: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Fourier transform of	an Image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285750" lvl="1" marL="755650" rtl="0" algn="l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SzPts val="3200"/>
              <a:buFont typeface="Arial"/>
              <a:buChar char="–"/>
            </a:pP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Better analysis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 and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interpretation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750" lvl="1" marL="755015" marR="508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SzPts val="3200"/>
              <a:buFont typeface="Arial"/>
              <a:buChar char="–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Some of	the </a:t>
            </a:r>
            <a:r>
              <a:rPr lang="en-US" sz="32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operations can be efficiently</a:t>
            </a:r>
            <a:r>
              <a:rPr lang="en-US" sz="32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	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performed in Fourier domain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3" name="Google Shape;153;p1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1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5" name="Google Shape;155;p16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Fourier Transform </a:t>
            </a:r>
            <a:r>
              <a:rPr i="1" lang="en-US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&amp; </a:t>
            </a:r>
            <a:r>
              <a:rPr lang="en-US"/>
              <a:t>Image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535953" y="947175"/>
            <a:ext cx="10782900" cy="51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7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i="1"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Spatial domain </a:t>
            </a:r>
            <a:r>
              <a:rPr i="1" lang="en-US" sz="3600">
                <a:latin typeface="Bell MT"/>
                <a:ea typeface="Bell MT"/>
                <a:cs typeface="Bell MT"/>
                <a:sym typeface="Bell MT"/>
              </a:rPr>
              <a:t>(Real space) methods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285750" lvl="1" marL="755650" rtl="0" algn="l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SzPts val="3200"/>
              <a:buFont typeface="Arial"/>
              <a:buChar char="–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work by </a:t>
            </a:r>
            <a:r>
              <a:rPr lang="en-US" sz="3200" u="sng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directly processing input pixel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array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5445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i="1"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Frequency	domain </a:t>
            </a:r>
            <a:r>
              <a:rPr i="1" lang="en-US" sz="3600">
                <a:latin typeface="Bell MT"/>
                <a:ea typeface="Bell MT"/>
                <a:cs typeface="Bell MT"/>
                <a:sym typeface="Bell MT"/>
              </a:rPr>
              <a:t>(Fourier space) methods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287019" lvl="1" marL="756285" marR="100965" rtl="0" algn="l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>
                <a:srgbClr val="00B050"/>
              </a:buClr>
              <a:buSzPts val="3000"/>
              <a:buFont typeface="Arial"/>
              <a:buChar char="–"/>
            </a:pPr>
            <a:r>
              <a:rPr lang="en-US" sz="30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first perform </a:t>
            </a:r>
            <a:r>
              <a:rPr i="1" lang="en-US" sz="30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Fourier transform</a:t>
            </a:r>
            <a:r>
              <a:rPr i="1" lang="en-US" sz="30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000" u="none">
                <a:latin typeface="Bell MT"/>
                <a:ea typeface="Bell MT"/>
                <a:cs typeface="Bell MT"/>
                <a:sym typeface="Bell MT"/>
              </a:rPr>
              <a:t>of	the input data to get a new representation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-286385" lvl="1" marL="756285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70C0"/>
              </a:buClr>
              <a:buSzPts val="3000"/>
              <a:buFont typeface="Arial"/>
              <a:buChar char="–"/>
            </a:pPr>
            <a:r>
              <a:rPr i="1" lang="en-US" sz="3000" u="sng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new data is then processed</a:t>
            </a:r>
            <a:r>
              <a:rPr i="1" lang="en-US" sz="3000" u="none">
                <a:latin typeface="Bell MT"/>
                <a:ea typeface="Bell MT"/>
                <a:cs typeface="Bell MT"/>
                <a:sym typeface="Bell MT"/>
              </a:rPr>
              <a:t>, and </a:t>
            </a:r>
            <a:r>
              <a:rPr lang="en-US" sz="3000" u="none">
                <a:latin typeface="Bell MT"/>
                <a:ea typeface="Bell MT"/>
                <a:cs typeface="Bell MT"/>
                <a:sym typeface="Bell MT"/>
              </a:rPr>
              <a:t>finally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-287019" lvl="1" marL="756285" marR="873125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C00000"/>
              </a:buClr>
              <a:buSzPts val="3000"/>
              <a:buFont typeface="Arial"/>
              <a:buChar char="–"/>
            </a:pPr>
            <a:r>
              <a:rPr i="1" lang="en-US" sz="3000" u="sng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inverse Fourier transform</a:t>
            </a:r>
            <a:r>
              <a:rPr i="1" lang="en-US" sz="3000" u="none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i="1" lang="en-US" sz="3000" u="none">
                <a:latin typeface="Bell MT"/>
                <a:ea typeface="Bell MT"/>
                <a:cs typeface="Bell MT"/>
                <a:sym typeface="Bell MT"/>
              </a:rPr>
              <a:t>is performed on the resulting data to </a:t>
            </a:r>
            <a:r>
              <a:rPr lang="en-US" sz="3000" u="none">
                <a:latin typeface="Bell MT"/>
                <a:ea typeface="Bell MT"/>
                <a:cs typeface="Bell MT"/>
                <a:sym typeface="Bell MT"/>
              </a:rPr>
              <a:t>give the final output image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4" name="Google Shape;164;p17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65" name="Google Shape;165;p1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" name="Google Shape;166;p1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" name="Google Shape;167;p17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"/>
          <p:cNvSpPr txBox="1"/>
          <p:nvPr>
            <p:ph idx="4294967295" type="title"/>
          </p:nvPr>
        </p:nvSpPr>
        <p:spPr>
          <a:xfrm>
            <a:off x="0" y="153150"/>
            <a:ext cx="121920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Fourier Transform </a:t>
            </a:r>
            <a:r>
              <a:rPr i="1" lang="en-US" sz="2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&amp; </a:t>
            </a:r>
            <a:r>
              <a:rPr lang="en-US" sz="3200"/>
              <a:t>Inverse Fourier	Transform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535954" y="965700"/>
            <a:ext cx="11012400" cy="46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36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b="1" lang="en-US" sz="3200">
                <a:latin typeface="Bell MT"/>
                <a:ea typeface="Bell MT"/>
                <a:cs typeface="Bell MT"/>
                <a:sym typeface="Bell MT"/>
              </a:rPr>
              <a:t>Fourier Transform: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marR="5080" rtl="0" algn="l">
              <a:lnSpc>
                <a:spcPct val="99800"/>
              </a:lnSpc>
              <a:spcBef>
                <a:spcPts val="69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Tool which converts a </a:t>
            </a:r>
            <a:r>
              <a:rPr i="1" lang="en-US" sz="2800" u="sng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spatial (real space) description</a:t>
            </a:r>
            <a:r>
              <a:rPr i="1" lang="en-US" sz="2800" u="none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of 	an image into one in terms of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its </a:t>
            </a:r>
            <a:r>
              <a:rPr lang="en-US" sz="28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frequency</a:t>
            </a:r>
            <a:r>
              <a:rPr lang="en-US" sz="2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components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–"/>
            </a:pPr>
            <a:r>
              <a:rPr b="1"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Spatial domain to Frequency domain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358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b="1" lang="en-US" sz="3200">
                <a:latin typeface="Bell MT"/>
                <a:ea typeface="Bell MT"/>
                <a:cs typeface="Bell MT"/>
                <a:sym typeface="Bell MT"/>
              </a:rPr>
              <a:t>Inverse Fourier Transform: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4380" marR="264160" rtl="0" algn="l">
              <a:lnSpc>
                <a:spcPct val="119642"/>
              </a:lnSpc>
              <a:spcBef>
                <a:spcPts val="80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Tool which turns a Fourier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space description of an image back into real space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–"/>
            </a:pPr>
            <a:r>
              <a:rPr b="1"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Frequency domain to Spatial domain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5" name="Google Shape;175;p18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76" name="Google Shape;176;p1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7" name="Google Shape;177;p1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Significance of	Frequency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535953" y="1577325"/>
            <a:ext cx="10093800" cy="15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9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What is the significance of	frequencies in an image?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695"/>
              </a:spcBef>
              <a:spcAft>
                <a:spcPts val="0"/>
              </a:spcAft>
              <a:buClr>
                <a:srgbClr val="00B050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High frequency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00B050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Low frequency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6" name="Google Shape;186;p19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87" name="Google Shape;187;p1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8" name="Google Shape;188;p1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19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Significance of	Frequency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277956" y="1156100"/>
            <a:ext cx="11373600" cy="26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3650">
            <a:spAutoFit/>
          </a:bodyPr>
          <a:lstStyle/>
          <a:p>
            <a:pPr indent="-342265" lvl="0" marL="35496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b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High Frequency: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7019" lvl="0" marL="756285" marR="5080" rtl="0" algn="just">
              <a:lnSpc>
                <a:spcPct val="99800"/>
              </a:lnSpc>
              <a:spcBef>
                <a:spcPts val="695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If an image has large values at </a:t>
            </a:r>
            <a:r>
              <a:rPr i="1" lang="en-US" sz="2800" u="sng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high frequency</a:t>
            </a:r>
            <a:r>
              <a:rPr i="1" lang="en-US" sz="2800" u="none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i="1" lang="en-US" sz="2800" u="sng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components</a:t>
            </a:r>
            <a:r>
              <a:rPr i="1" lang="en-US" sz="2800" u="none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then it means the </a:t>
            </a:r>
            <a:r>
              <a:rPr lang="en-US" sz="28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data is changing</a:t>
            </a:r>
            <a:r>
              <a:rPr lang="en-US" sz="28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rapidly</a:t>
            </a:r>
            <a:r>
              <a:rPr lang="en-US" sz="28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on a short distance scale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just">
              <a:lnSpc>
                <a:spcPct val="108392"/>
              </a:lnSpc>
              <a:spcBef>
                <a:spcPts val="685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e.g., a page of  text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0" lvl="0" marL="3129280" rtl="0" algn="ctr">
              <a:lnSpc>
                <a:spcPct val="101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Pixel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180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Intensity</a:t>
            </a:r>
            <a:r>
              <a:rPr b="1" i="1" lang="en-US" sz="1800">
                <a:latin typeface="Calibri"/>
                <a:ea typeface="Calibri"/>
                <a:cs typeface="Calibri"/>
                <a:sym typeface="Calibri"/>
              </a:rPr>
              <a:t>, I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6" name="Google Shape;196;p20"/>
          <p:cNvGrpSpPr/>
          <p:nvPr/>
        </p:nvGrpSpPr>
        <p:grpSpPr>
          <a:xfrm>
            <a:off x="18288" y="4008056"/>
            <a:ext cx="4585715" cy="1556385"/>
            <a:chOff x="18288" y="4008056"/>
            <a:chExt cx="4585715" cy="1556385"/>
          </a:xfrm>
        </p:grpSpPr>
        <p:pic>
          <p:nvPicPr>
            <p:cNvPr id="197" name="Google Shape;197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85775" y="4038226"/>
              <a:ext cx="3914774" cy="14957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" name="Google Shape;198;p20"/>
            <p:cNvSpPr/>
            <p:nvPr/>
          </p:nvSpPr>
          <p:spPr>
            <a:xfrm>
              <a:off x="455612" y="4008056"/>
              <a:ext cx="4117975" cy="1556385"/>
            </a:xfrm>
            <a:custGeom>
              <a:rect b="b" l="l" r="r" t="t"/>
              <a:pathLst>
                <a:path extrusionOk="0" h="1556385" w="4117975">
                  <a:moveTo>
                    <a:pt x="0" y="0"/>
                  </a:moveTo>
                  <a:lnTo>
                    <a:pt x="4117975" y="0"/>
                  </a:lnTo>
                  <a:lnTo>
                    <a:pt x="4117975" y="1556130"/>
                  </a:lnTo>
                  <a:lnTo>
                    <a:pt x="0" y="155613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99" name="Google Shape;199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8288" y="4732020"/>
              <a:ext cx="4585715" cy="1249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" name="Google Shape;200;p20"/>
            <p:cNvSpPr/>
            <p:nvPr/>
          </p:nvSpPr>
          <p:spPr>
            <a:xfrm>
              <a:off x="61721" y="4770881"/>
              <a:ext cx="4480560" cy="1905"/>
            </a:xfrm>
            <a:custGeom>
              <a:rect b="b" l="l" r="r" t="t"/>
              <a:pathLst>
                <a:path extrusionOk="0" h="1904" w="4480560">
                  <a:moveTo>
                    <a:pt x="0" y="0"/>
                  </a:moveTo>
                  <a:lnTo>
                    <a:pt x="4480560" y="1587"/>
                  </a:ln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01" name="Google Shape;201;p20"/>
          <p:cNvSpPr txBox="1"/>
          <p:nvPr/>
        </p:nvSpPr>
        <p:spPr>
          <a:xfrm>
            <a:off x="918715" y="5744447"/>
            <a:ext cx="316039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latin typeface="Calibri"/>
                <a:ea typeface="Calibri"/>
                <a:cs typeface="Calibri"/>
                <a:sym typeface="Calibri"/>
              </a:rPr>
              <a:t>Text image: data changes rapidly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6515072" y="5808912"/>
            <a:ext cx="15233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latin typeface="Calibri"/>
                <a:ea typeface="Calibri"/>
                <a:cs typeface="Calibri"/>
                <a:sym typeface="Calibri"/>
              </a:rPr>
              <a:t>Column index, x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3" name="Google Shape;203;p20"/>
          <p:cNvGrpSpPr/>
          <p:nvPr/>
        </p:nvGrpSpPr>
        <p:grpSpPr>
          <a:xfrm>
            <a:off x="5437632" y="3826764"/>
            <a:ext cx="3706367" cy="2069590"/>
            <a:chOff x="5437632" y="3826764"/>
            <a:chExt cx="3706367" cy="2069590"/>
          </a:xfrm>
        </p:grpSpPr>
        <p:pic>
          <p:nvPicPr>
            <p:cNvPr id="204" name="Google Shape;204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550408" y="5580887"/>
              <a:ext cx="3593591" cy="3154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" name="Google Shape;205;p20"/>
            <p:cNvSpPr/>
            <p:nvPr/>
          </p:nvSpPr>
          <p:spPr>
            <a:xfrm>
              <a:off x="5593842" y="5714237"/>
              <a:ext cx="3379470" cy="1905"/>
            </a:xfrm>
            <a:custGeom>
              <a:rect b="b" l="l" r="r" t="t"/>
              <a:pathLst>
                <a:path extrusionOk="0" h="1904" w="3379470">
                  <a:moveTo>
                    <a:pt x="0" y="0"/>
                  </a:moveTo>
                  <a:lnTo>
                    <a:pt x="3379470" y="1549"/>
                  </a:lnTo>
                </a:path>
              </a:pathLst>
            </a:custGeom>
            <a:noFill/>
            <a:ln cap="flat" cmpd="sng" w="380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6" name="Google Shape;206;p20"/>
            <p:cNvSpPr/>
            <p:nvPr/>
          </p:nvSpPr>
          <p:spPr>
            <a:xfrm>
              <a:off x="8954227" y="5658618"/>
              <a:ext cx="114935" cy="114300"/>
            </a:xfrm>
            <a:custGeom>
              <a:rect b="b" l="l" r="r" t="t"/>
              <a:pathLst>
                <a:path extrusionOk="0" h="114300" w="114934">
                  <a:moveTo>
                    <a:pt x="63" y="0"/>
                  </a:moveTo>
                  <a:lnTo>
                    <a:pt x="0" y="114300"/>
                  </a:lnTo>
                  <a:lnTo>
                    <a:pt x="114338" y="57213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07" name="Google Shape;207;p2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437632" y="3826764"/>
              <a:ext cx="315467" cy="19568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" name="Google Shape;208;p20"/>
            <p:cNvSpPr/>
            <p:nvPr/>
          </p:nvSpPr>
          <p:spPr>
            <a:xfrm>
              <a:off x="5593844" y="4056887"/>
              <a:ext cx="1905" cy="1642110"/>
            </a:xfrm>
            <a:custGeom>
              <a:rect b="b" l="l" r="r" t="t"/>
              <a:pathLst>
                <a:path extrusionOk="0" h="1642110" w="1904">
                  <a:moveTo>
                    <a:pt x="1498" y="0"/>
                  </a:moveTo>
                  <a:lnTo>
                    <a:pt x="0" y="1642110"/>
                  </a:ln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9" name="Google Shape;209;p20"/>
            <p:cNvSpPr/>
            <p:nvPr/>
          </p:nvSpPr>
          <p:spPr>
            <a:xfrm>
              <a:off x="5538180" y="3961639"/>
              <a:ext cx="114300" cy="114935"/>
            </a:xfrm>
            <a:custGeom>
              <a:rect b="b" l="l" r="r" t="t"/>
              <a:pathLst>
                <a:path extrusionOk="0" h="114935" w="114300">
                  <a:moveTo>
                    <a:pt x="57251" y="0"/>
                  </a:moveTo>
                  <a:lnTo>
                    <a:pt x="0" y="114249"/>
                  </a:lnTo>
                  <a:lnTo>
                    <a:pt x="114300" y="114350"/>
                  </a:lnTo>
                  <a:lnTo>
                    <a:pt x="57251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10" name="Google Shape;210;p20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1" name="Google Shape;211;p20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212" name="Google Shape;212;p2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3" name="Google Shape;213;p2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Significance of	Frequency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535950" y="897250"/>
            <a:ext cx="11274900" cy="20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36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b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Low Frequency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4380" marR="395605" rtl="0" algn="l">
              <a:lnSpc>
                <a:spcPct val="99800"/>
              </a:lnSpc>
              <a:spcBef>
                <a:spcPts val="69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If the image has large </a:t>
            </a:r>
            <a:r>
              <a:rPr i="1" lang="en-US" sz="2800" u="sng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low frequency components</a:t>
            </a:r>
            <a:r>
              <a:rPr i="1" lang="en-US" sz="2800" u="none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i="1" lang="en-US" sz="28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then it means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the </a:t>
            </a:r>
            <a:r>
              <a:rPr i="1"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large scale</a:t>
            </a:r>
            <a:r>
              <a:rPr i="1" lang="en-US" sz="28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(slow varying) 	features of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the picture are more prominent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4380" marR="5080" rtl="0" algn="l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e.g. </a:t>
            </a:r>
            <a:r>
              <a:rPr i="1" lang="en-US" sz="2800" u="sng">
                <a:latin typeface="Bell MT"/>
                <a:ea typeface="Bell MT"/>
                <a:cs typeface="Bell MT"/>
                <a:sym typeface="Bell MT"/>
              </a:rPr>
              <a:t>a single fairly simple object </a:t>
            </a:r>
            <a:r>
              <a:rPr i="1" lang="en-US" sz="2800" u="none">
                <a:latin typeface="Bell MT"/>
                <a:ea typeface="Bell MT"/>
                <a:cs typeface="Bell MT"/>
                <a:sym typeface="Bell MT"/>
              </a:rPr>
              <a:t>which </a:t>
            </a:r>
            <a:r>
              <a:rPr i="1" lang="en-US" sz="2800" u="sng">
                <a:latin typeface="Bell MT"/>
                <a:ea typeface="Bell MT"/>
                <a:cs typeface="Bell MT"/>
                <a:sym typeface="Bell MT"/>
              </a:rPr>
              <a:t>occupies</a:t>
            </a:r>
            <a:r>
              <a:rPr i="1" lang="en-US" sz="2800" u="none">
                <a:latin typeface="Bell MT"/>
                <a:ea typeface="Bell MT"/>
                <a:cs typeface="Bell MT"/>
                <a:sym typeface="Bell MT"/>
              </a:rPr>
              <a:t> most of </a:t>
            </a: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i="1" lang="en-US" sz="2800" u="none">
                <a:latin typeface="Bell MT"/>
                <a:ea typeface="Bell MT"/>
                <a:cs typeface="Bell MT"/>
                <a:sym typeface="Bell MT"/>
              </a:rPr>
              <a:t>the image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221" name="Google Shape;221;p21"/>
          <p:cNvGrpSpPr/>
          <p:nvPr/>
        </p:nvGrpSpPr>
        <p:grpSpPr>
          <a:xfrm>
            <a:off x="33528" y="3733800"/>
            <a:ext cx="4128515" cy="2324099"/>
            <a:chOff x="33528" y="3733800"/>
            <a:chExt cx="4128515" cy="2324099"/>
          </a:xfrm>
        </p:grpSpPr>
        <p:pic>
          <p:nvPicPr>
            <p:cNvPr id="222" name="Google Shape;222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42900" y="3733800"/>
              <a:ext cx="3543299" cy="23240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3" name="Google Shape;223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528" y="4925568"/>
              <a:ext cx="4128515" cy="1249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4" name="Google Shape;224;p21"/>
            <p:cNvSpPr/>
            <p:nvPr/>
          </p:nvSpPr>
          <p:spPr>
            <a:xfrm>
              <a:off x="76962" y="4964430"/>
              <a:ext cx="4023360" cy="1905"/>
            </a:xfrm>
            <a:custGeom>
              <a:rect b="b" l="l" r="r" t="t"/>
              <a:pathLst>
                <a:path extrusionOk="0" h="1904" w="4023360">
                  <a:moveTo>
                    <a:pt x="0" y="0"/>
                  </a:moveTo>
                  <a:lnTo>
                    <a:pt x="4023360" y="1587"/>
                  </a:ln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25" name="Google Shape;225;p21"/>
          <p:cNvSpPr txBox="1"/>
          <p:nvPr/>
        </p:nvSpPr>
        <p:spPr>
          <a:xfrm>
            <a:off x="764552" y="6049250"/>
            <a:ext cx="41286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latin typeface="Calibri"/>
                <a:ea typeface="Calibri"/>
                <a:cs typeface="Calibri"/>
                <a:sym typeface="Calibri"/>
              </a:rPr>
              <a:t>Text image: data changes are slow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6" name="Google Shape;226;p21"/>
          <p:cNvGrpSpPr/>
          <p:nvPr/>
        </p:nvGrpSpPr>
        <p:grpSpPr>
          <a:xfrm>
            <a:off x="5437632" y="4055364"/>
            <a:ext cx="3706367" cy="2071114"/>
            <a:chOff x="5437632" y="4055364"/>
            <a:chExt cx="3706367" cy="2071114"/>
          </a:xfrm>
        </p:grpSpPr>
        <p:pic>
          <p:nvPicPr>
            <p:cNvPr id="227" name="Google Shape;227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550408" y="5811011"/>
              <a:ext cx="3593591" cy="3154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" name="Google Shape;228;p21"/>
            <p:cNvSpPr/>
            <p:nvPr/>
          </p:nvSpPr>
          <p:spPr>
            <a:xfrm>
              <a:off x="5593842" y="5944361"/>
              <a:ext cx="3379470" cy="1905"/>
            </a:xfrm>
            <a:custGeom>
              <a:rect b="b" l="l" r="r" t="t"/>
              <a:pathLst>
                <a:path extrusionOk="0" h="1904" w="3379470">
                  <a:moveTo>
                    <a:pt x="0" y="0"/>
                  </a:moveTo>
                  <a:lnTo>
                    <a:pt x="3379470" y="1549"/>
                  </a:lnTo>
                </a:path>
              </a:pathLst>
            </a:custGeom>
            <a:noFill/>
            <a:ln cap="flat" cmpd="sng" w="380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9" name="Google Shape;229;p21"/>
            <p:cNvSpPr/>
            <p:nvPr/>
          </p:nvSpPr>
          <p:spPr>
            <a:xfrm>
              <a:off x="8954227" y="5888742"/>
              <a:ext cx="114935" cy="114300"/>
            </a:xfrm>
            <a:custGeom>
              <a:rect b="b" l="l" r="r" t="t"/>
              <a:pathLst>
                <a:path extrusionOk="0" h="114300" w="114934">
                  <a:moveTo>
                    <a:pt x="63" y="0"/>
                  </a:moveTo>
                  <a:lnTo>
                    <a:pt x="0" y="114300"/>
                  </a:lnTo>
                  <a:lnTo>
                    <a:pt x="114338" y="57213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230" name="Google Shape;230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437632" y="4055364"/>
              <a:ext cx="315467" cy="19568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1" name="Google Shape;231;p21"/>
            <p:cNvSpPr/>
            <p:nvPr/>
          </p:nvSpPr>
          <p:spPr>
            <a:xfrm>
              <a:off x="5593844" y="4285487"/>
              <a:ext cx="1905" cy="1642110"/>
            </a:xfrm>
            <a:custGeom>
              <a:rect b="b" l="l" r="r" t="t"/>
              <a:pathLst>
                <a:path extrusionOk="0" h="1642110" w="1904">
                  <a:moveTo>
                    <a:pt x="1498" y="0"/>
                  </a:moveTo>
                  <a:lnTo>
                    <a:pt x="0" y="1642110"/>
                  </a:ln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2" name="Google Shape;232;p21"/>
            <p:cNvSpPr/>
            <p:nvPr/>
          </p:nvSpPr>
          <p:spPr>
            <a:xfrm>
              <a:off x="5538180" y="4190239"/>
              <a:ext cx="114300" cy="114935"/>
            </a:xfrm>
            <a:custGeom>
              <a:rect b="b" l="l" r="r" t="t"/>
              <a:pathLst>
                <a:path extrusionOk="0" h="114935" w="114300">
                  <a:moveTo>
                    <a:pt x="57251" y="0"/>
                  </a:moveTo>
                  <a:lnTo>
                    <a:pt x="0" y="114249"/>
                  </a:lnTo>
                  <a:lnTo>
                    <a:pt x="114300" y="114350"/>
                  </a:lnTo>
                  <a:lnTo>
                    <a:pt x="57251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33" name="Google Shape;233;p21"/>
          <p:cNvSpPr txBox="1"/>
          <p:nvPr/>
        </p:nvSpPr>
        <p:spPr>
          <a:xfrm>
            <a:off x="4501568" y="4665979"/>
            <a:ext cx="102870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251459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Pixel Intensity</a:t>
            </a:r>
            <a:r>
              <a:rPr b="1" i="1" lang="en-US" sz="1800">
                <a:latin typeface="Calibri"/>
                <a:ea typeface="Calibri"/>
                <a:cs typeface="Calibri"/>
                <a:sym typeface="Calibri"/>
              </a:rPr>
              <a:t>, I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6534965" y="5973114"/>
            <a:ext cx="14827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alibri"/>
                <a:ea typeface="Calibri"/>
                <a:cs typeface="Calibri"/>
                <a:sym typeface="Calibri"/>
              </a:rPr>
              <a:t>Column index, x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6" name="Google Shape;236;p21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237" name="Google Shape;237;p2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8" name="Google Shape;238;p2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9" name="Google Shape;239;p21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2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Fourier Transform: 1-D Case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535950" y="1041900"/>
            <a:ext cx="11351400" cy="25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36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b="1" lang="en-US" sz="3200">
                <a:latin typeface="Bell MT"/>
                <a:ea typeface="Bell MT"/>
                <a:cs typeface="Bell MT"/>
                <a:sym typeface="Bell MT"/>
              </a:rPr>
              <a:t>1-D Case: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4380" marR="612775" rtl="0" algn="l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Consider a continuous </a:t>
            </a:r>
            <a:r>
              <a:rPr lang="en-US" sz="28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function </a:t>
            </a:r>
            <a:r>
              <a:rPr i="1" lang="en-US" sz="28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f(x)</a:t>
            </a:r>
            <a:r>
              <a:rPr i="1" lang="en-US" sz="28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i="1" lang="en-US" sz="2800" u="none">
                <a:latin typeface="Bell MT"/>
                <a:ea typeface="Bell MT"/>
                <a:cs typeface="Bell MT"/>
                <a:sym typeface="Bell MT"/>
              </a:rPr>
              <a:t>of	a single</a:t>
            </a: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i="1" lang="en-US" sz="2800" u="none">
                <a:latin typeface="Bell MT"/>
                <a:ea typeface="Bell MT"/>
                <a:cs typeface="Bell MT"/>
                <a:sym typeface="Bell MT"/>
              </a:rPr>
              <a:t>variable </a:t>
            </a:r>
            <a:r>
              <a:rPr i="1" lang="en-US" sz="28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x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representing distance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marR="508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The Fourier transform of	function </a:t>
            </a:r>
            <a:r>
              <a:rPr i="1" lang="en-US" sz="28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f(x)</a:t>
            </a:r>
            <a:r>
              <a:rPr i="1" lang="en-US" sz="28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, denoted by </a:t>
            </a:r>
            <a:r>
              <a:rPr i="1" lang="en-US" sz="28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F(u)</a:t>
            </a:r>
            <a:r>
              <a:rPr i="1" lang="en-US" sz="28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i="1" lang="en-US" sz="2800" u="none">
                <a:latin typeface="Bell MT"/>
                <a:ea typeface="Bell MT"/>
                <a:cs typeface="Bell MT"/>
                <a:sym typeface="Bell MT"/>
              </a:rPr>
              <a:t>where </a:t>
            </a:r>
            <a:r>
              <a:rPr i="1" lang="en-US" sz="28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u </a:t>
            </a:r>
            <a:r>
              <a:rPr i="1" lang="en-US" sz="2800" u="none">
                <a:latin typeface="Bell MT"/>
                <a:ea typeface="Bell MT"/>
                <a:cs typeface="Bell MT"/>
                <a:sym typeface="Bell MT"/>
              </a:rPr>
              <a:t>represents </a:t>
            </a:r>
            <a:r>
              <a:rPr i="1" lang="en-US" sz="2800" u="sng">
                <a:latin typeface="Bell MT"/>
                <a:ea typeface="Bell MT"/>
                <a:cs typeface="Bell MT"/>
                <a:sym typeface="Bell MT"/>
              </a:rPr>
              <a:t>spatial frequency</a:t>
            </a:r>
            <a:r>
              <a:rPr i="1" lang="en-US" sz="2800" u="none">
                <a:latin typeface="Bell MT"/>
                <a:ea typeface="Bell MT"/>
                <a:cs typeface="Bell MT"/>
                <a:sym typeface="Bell MT"/>
              </a:rPr>
              <a:t>, is defined by:</a:t>
            </a:r>
            <a:endParaRPr sz="205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7" name="Google Shape;247;p22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248" name="Google Shape;248;p2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9" name="Google Shape;249;p2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0" name="Google Shape;250;p22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251" name="Google Shape;25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4950" y="3852125"/>
            <a:ext cx="8295801" cy="189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3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Fourier Transform: 1-D Case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535950" y="990075"/>
            <a:ext cx="10782900" cy="38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95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b="1" lang="en-US" sz="32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Important point to note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4380" marR="5080" rtl="0" algn="l">
              <a:lnSpc>
                <a:spcPct val="113898"/>
              </a:lnSpc>
              <a:spcBef>
                <a:spcPts val="81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Arial"/>
              <a:buChar char="–"/>
            </a:pPr>
            <a:r>
              <a:rPr b="1" lang="en-US" sz="28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in general </a:t>
            </a:r>
            <a:r>
              <a:rPr lang="en-US" sz="295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F(u) will be a complex quantity </a:t>
            </a:r>
            <a:r>
              <a:rPr lang="en-US" sz="295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even though the </a:t>
            </a:r>
            <a:r>
              <a:rPr b="1" lang="en-US" sz="28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original data is purely real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579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Meaning of Complex Quantity: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4380" marR="278130" rtl="0" algn="l">
              <a:lnSpc>
                <a:spcPct val="100200"/>
              </a:lnSpc>
              <a:spcBef>
                <a:spcPts val="69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The meaning of	this is that, not only is the 	magnitude of each frequency present important, but that its </a:t>
            </a:r>
            <a:r>
              <a:rPr b="1" lang="en-US" sz="2800" u="sng">
                <a:latin typeface="Bell MT"/>
                <a:ea typeface="Bell MT"/>
                <a:cs typeface="Bell MT"/>
                <a:sym typeface="Bell MT"/>
              </a:rPr>
              <a:t>phase relationship</a:t>
            </a:r>
            <a:r>
              <a:rPr b="1" lang="en-US" sz="2800" u="none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is too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9" name="Google Shape;259;p23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260" name="Google Shape;260;p2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1" name="Google Shape;261;p2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2" name="Google Shape;262;p23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4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Fourier Transform: 1-D Case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304800" y="1169650"/>
            <a:ext cx="11582400" cy="47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3825">
            <a:spAutoFit/>
          </a:bodyPr>
          <a:lstStyle/>
          <a:p>
            <a:pPr indent="-342900" lvl="0" marL="444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b="1" lang="en-US" sz="3600">
                <a:latin typeface="Bell MT"/>
                <a:ea typeface="Bell MT"/>
                <a:cs typeface="Bell MT"/>
                <a:sym typeface="Bell MT"/>
              </a:rPr>
              <a:t>Inverse Fourier Transform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287020" lvl="0" marL="845185" marR="1207135" rtl="0" algn="l">
              <a:lnSpc>
                <a:spcPct val="100000"/>
              </a:lnSpc>
              <a:spcBef>
                <a:spcPts val="785"/>
              </a:spcBef>
              <a:spcAft>
                <a:spcPts val="0"/>
              </a:spcAft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The inverse Fourier transform for obtaining </a:t>
            </a:r>
            <a:r>
              <a:rPr i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f(x)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from </a:t>
            </a:r>
            <a:r>
              <a:rPr i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F(u) 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is given by: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0" marR="177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177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177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177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177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5400" marR="177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This is quite </a:t>
            </a:r>
            <a:r>
              <a:rPr b="1" lang="en-US" sz="2800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similar to Fourier transform</a:t>
            </a:r>
            <a:r>
              <a:rPr b="1"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800" u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except that the </a:t>
            </a:r>
            <a:r>
              <a:rPr b="1" lang="en-US" sz="2800" u="sng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exponential term</a:t>
            </a:r>
            <a:r>
              <a:rPr b="1" lang="en-US" sz="2800" u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has the </a:t>
            </a:r>
            <a:r>
              <a:rPr b="1" lang="en-US" sz="2800" u="sng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opposite sign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4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0" name="Google Shape;270;p24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271" name="Google Shape;271;p2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2" name="Google Shape;272;p2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3" name="Google Shape;273;p24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274" name="Google Shape;27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0788" y="3064875"/>
            <a:ext cx="8090424" cy="172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5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Fourier Transform: 1-D Case</a:t>
            </a:r>
            <a:endParaRPr/>
          </a:p>
        </p:txBody>
      </p:sp>
      <p:grpSp>
        <p:nvGrpSpPr>
          <p:cNvPr id="280" name="Google Shape;280;p25"/>
          <p:cNvGrpSpPr/>
          <p:nvPr/>
        </p:nvGrpSpPr>
        <p:grpSpPr>
          <a:xfrm>
            <a:off x="5281421" y="3441951"/>
            <a:ext cx="2952002" cy="2732724"/>
            <a:chOff x="5281421" y="3441951"/>
            <a:chExt cx="2952002" cy="2732724"/>
          </a:xfrm>
        </p:grpSpPr>
        <p:sp>
          <p:nvSpPr>
            <p:cNvPr id="281" name="Google Shape;281;p25"/>
            <p:cNvSpPr/>
            <p:nvPr/>
          </p:nvSpPr>
          <p:spPr>
            <a:xfrm>
              <a:off x="6617969" y="3513390"/>
              <a:ext cx="0" cy="2661285"/>
            </a:xfrm>
            <a:custGeom>
              <a:rect b="b" l="l" r="r" t="t"/>
              <a:pathLst>
                <a:path extrusionOk="0" h="2661285" w="120000">
                  <a:moveTo>
                    <a:pt x="0" y="2661234"/>
                  </a:move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2" name="Google Shape;282;p25"/>
            <p:cNvSpPr/>
            <p:nvPr/>
          </p:nvSpPr>
          <p:spPr>
            <a:xfrm>
              <a:off x="6575111" y="3441951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42862" y="0"/>
                  </a:moveTo>
                  <a:lnTo>
                    <a:pt x="0" y="85725"/>
                  </a:lnTo>
                  <a:lnTo>
                    <a:pt x="85725" y="85725"/>
                  </a:lnTo>
                  <a:lnTo>
                    <a:pt x="4286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3" name="Google Shape;283;p25"/>
            <p:cNvSpPr/>
            <p:nvPr/>
          </p:nvSpPr>
          <p:spPr>
            <a:xfrm>
              <a:off x="5281421" y="5753862"/>
              <a:ext cx="2880995" cy="0"/>
            </a:xfrm>
            <a:custGeom>
              <a:rect b="b" l="l" r="r" t="t"/>
              <a:pathLst>
                <a:path extrusionOk="0" h="120000" w="2880995">
                  <a:moveTo>
                    <a:pt x="0" y="0"/>
                  </a:moveTo>
                  <a:lnTo>
                    <a:pt x="2880563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4" name="Google Shape;284;p25"/>
            <p:cNvSpPr/>
            <p:nvPr/>
          </p:nvSpPr>
          <p:spPr>
            <a:xfrm>
              <a:off x="8147698" y="5710996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0" y="0"/>
                  </a:moveTo>
                  <a:lnTo>
                    <a:pt x="0" y="85725"/>
                  </a:lnTo>
                  <a:lnTo>
                    <a:pt x="85725" y="42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5" name="Google Shape;285;p25"/>
            <p:cNvSpPr/>
            <p:nvPr/>
          </p:nvSpPr>
          <p:spPr>
            <a:xfrm>
              <a:off x="6040373" y="4132326"/>
              <a:ext cx="1140460" cy="1621790"/>
            </a:xfrm>
            <a:custGeom>
              <a:rect b="b" l="l" r="r" t="t"/>
              <a:pathLst>
                <a:path extrusionOk="0" h="1621789" w="1140459">
                  <a:moveTo>
                    <a:pt x="0" y="0"/>
                  </a:moveTo>
                  <a:lnTo>
                    <a:pt x="1139952" y="0"/>
                  </a:lnTo>
                  <a:lnTo>
                    <a:pt x="1139952" y="1621536"/>
                  </a:lnTo>
                  <a:lnTo>
                    <a:pt x="0" y="1621536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86" name="Google Shape;286;p25"/>
          <p:cNvSpPr txBox="1"/>
          <p:nvPr/>
        </p:nvSpPr>
        <p:spPr>
          <a:xfrm>
            <a:off x="8093456" y="5724574"/>
            <a:ext cx="172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𝒙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87" name="Google Shape;287;p25"/>
          <p:cNvSpPr txBox="1"/>
          <p:nvPr/>
        </p:nvSpPr>
        <p:spPr>
          <a:xfrm>
            <a:off x="7181388" y="5788390"/>
            <a:ext cx="177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𝟏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88" name="Google Shape;288;p25"/>
          <p:cNvSpPr txBox="1"/>
          <p:nvPr/>
        </p:nvSpPr>
        <p:spPr>
          <a:xfrm>
            <a:off x="5681700" y="5788390"/>
            <a:ext cx="3684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−𝟏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89" name="Google Shape;289;p25"/>
          <p:cNvSpPr txBox="1"/>
          <p:nvPr/>
        </p:nvSpPr>
        <p:spPr>
          <a:xfrm>
            <a:off x="6660909" y="5788390"/>
            <a:ext cx="177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𝟎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90" name="Google Shape;290;p25"/>
          <p:cNvSpPr txBox="1"/>
          <p:nvPr/>
        </p:nvSpPr>
        <p:spPr>
          <a:xfrm>
            <a:off x="535954" y="965700"/>
            <a:ext cx="11253300" cy="3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36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b="1" lang="en-US" sz="3200">
                <a:latin typeface="Bell MT"/>
                <a:ea typeface="Bell MT"/>
                <a:cs typeface="Bell MT"/>
                <a:sym typeface="Bell MT"/>
              </a:rPr>
              <a:t>Example 1: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7019" lvl="0" marL="756285" marR="5080" rtl="0" algn="l">
              <a:lnSpc>
                <a:spcPct val="119642"/>
              </a:lnSpc>
              <a:spcBef>
                <a:spcPts val="81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Consider function </a:t>
            </a: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f(x) defined as below for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Fourier transform computation</a:t>
            </a:r>
            <a:endParaRPr sz="2700">
              <a:latin typeface="Bell MT"/>
              <a:ea typeface="Bell MT"/>
              <a:cs typeface="Bell MT"/>
              <a:sym typeface="Bell MT"/>
            </a:endParaRPr>
          </a:p>
          <a:p>
            <a:pPr indent="0" lvl="0" marL="0" marR="1781175" rtl="0" algn="ctr">
              <a:lnSpc>
                <a:spcPct val="100000"/>
              </a:lnSpc>
              <a:spcBef>
                <a:spcPts val="5835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                               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𝒇(𝒙)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0" marR="1753235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                                             𝟏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291" name="Google Shape;291;p25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2" name="Google Shape;292;p25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293" name="Google Shape;293;p2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4" name="Google Shape;294;p2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5" name="Google Shape;295;p25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296" name="Google Shape;29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950" y="4362379"/>
            <a:ext cx="4286549" cy="1100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6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Fourier Transform: 1-D Case</a:t>
            </a:r>
            <a:endParaRPr/>
          </a:p>
        </p:txBody>
      </p:sp>
      <p:sp>
        <p:nvSpPr>
          <p:cNvPr id="302" name="Google Shape;302;p26"/>
          <p:cNvSpPr txBox="1"/>
          <p:nvPr/>
        </p:nvSpPr>
        <p:spPr>
          <a:xfrm>
            <a:off x="426503" y="5351600"/>
            <a:ext cx="10422000" cy="10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496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Noto Sans Symbols"/>
              <a:buChar char="▪"/>
            </a:pPr>
            <a:r>
              <a:rPr lang="en-US" sz="2000" u="sng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In this case </a:t>
            </a:r>
            <a:r>
              <a:rPr i="1" lang="en-US" sz="2000" u="sng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F(u) </a:t>
            </a:r>
            <a:r>
              <a:rPr lang="en-US" sz="2000" u="sng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is purely real</a:t>
            </a:r>
            <a:r>
              <a:rPr lang="en-US" sz="2000" u="none">
                <a:latin typeface="Bell MT"/>
                <a:ea typeface="Bell MT"/>
                <a:cs typeface="Bell MT"/>
                <a:sym typeface="Bell MT"/>
              </a:rPr>
              <a:t>, which is a consequence of the original data </a:t>
            </a:r>
            <a:r>
              <a:rPr lang="en-US" sz="2000" u="sng">
                <a:latin typeface="Bell MT"/>
                <a:ea typeface="Bell MT"/>
                <a:cs typeface="Bell MT"/>
                <a:sym typeface="Bell MT"/>
              </a:rPr>
              <a:t>being symmetric in </a:t>
            </a:r>
            <a:r>
              <a:rPr i="1" lang="en-US" sz="20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x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Noto Sans Symbols"/>
              <a:buChar char="▪"/>
            </a:pPr>
            <a:r>
              <a:rPr i="1" lang="en-US" sz="20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Sinc </a:t>
            </a:r>
            <a:r>
              <a:rPr lang="en-US" sz="20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function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–	</a:t>
            </a:r>
            <a:r>
              <a:rPr lang="en-US" sz="1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This function is often referred to as the </a:t>
            </a:r>
            <a:r>
              <a:rPr i="1" lang="en-US" sz="18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Sinc </a:t>
            </a:r>
            <a:r>
              <a:rPr lang="en-US" sz="18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function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303" name="Google Shape;30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1426" y="1353029"/>
            <a:ext cx="5335522" cy="270357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6"/>
          <p:cNvSpPr txBox="1"/>
          <p:nvPr/>
        </p:nvSpPr>
        <p:spPr>
          <a:xfrm>
            <a:off x="8232140" y="2997200"/>
            <a:ext cx="1530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p26"/>
          <p:cNvSpPr txBox="1"/>
          <p:nvPr/>
        </p:nvSpPr>
        <p:spPr>
          <a:xfrm>
            <a:off x="6479540" y="1353032"/>
            <a:ext cx="4572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F(u)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" name="Google Shape;306;p26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7" name="Google Shape;307;p26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308" name="Google Shape;308;p2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9" name="Google Shape;309;p2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0" name="Google Shape;310;p26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311" name="Google Shape;31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020450"/>
            <a:ext cx="3958125" cy="417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7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Fourier Transform: 1-D Case</a:t>
            </a:r>
            <a:endParaRPr/>
          </a:p>
        </p:txBody>
      </p:sp>
      <p:sp>
        <p:nvSpPr>
          <p:cNvPr id="317" name="Google Shape;317;p27"/>
          <p:cNvSpPr txBox="1"/>
          <p:nvPr/>
        </p:nvSpPr>
        <p:spPr>
          <a:xfrm>
            <a:off x="535940" y="909320"/>
            <a:ext cx="5274300" cy="9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b="1" lang="en-US" sz="3200">
                <a:latin typeface="Bell MT"/>
                <a:ea typeface="Bell MT"/>
                <a:cs typeface="Bell MT"/>
                <a:sym typeface="Bell MT"/>
              </a:rPr>
              <a:t>Example 2: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i="1" lang="en-US" sz="2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f(x) definition: from 0 to X, f(x) is A</a:t>
            </a:r>
            <a:endParaRPr sz="145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grpSp>
        <p:nvGrpSpPr>
          <p:cNvPr id="318" name="Google Shape;318;p27"/>
          <p:cNvGrpSpPr/>
          <p:nvPr/>
        </p:nvGrpSpPr>
        <p:grpSpPr>
          <a:xfrm>
            <a:off x="6659121" y="1238247"/>
            <a:ext cx="1852831" cy="1496568"/>
            <a:chOff x="6659121" y="1238247"/>
            <a:chExt cx="1852831" cy="1496568"/>
          </a:xfrm>
        </p:grpSpPr>
        <p:sp>
          <p:nvSpPr>
            <p:cNvPr id="319" name="Google Shape;319;p27"/>
            <p:cNvSpPr/>
            <p:nvPr/>
          </p:nvSpPr>
          <p:spPr>
            <a:xfrm>
              <a:off x="6697217" y="2696718"/>
              <a:ext cx="1751330" cy="0"/>
            </a:xfrm>
            <a:custGeom>
              <a:rect b="b" l="l" r="r" t="t"/>
              <a:pathLst>
                <a:path extrusionOk="0" h="120000" w="1751329">
                  <a:moveTo>
                    <a:pt x="0" y="0"/>
                  </a:moveTo>
                  <a:lnTo>
                    <a:pt x="1751228" y="0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0" name="Google Shape;320;p27"/>
            <p:cNvSpPr/>
            <p:nvPr/>
          </p:nvSpPr>
          <p:spPr>
            <a:xfrm>
              <a:off x="8435752" y="2658615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1" name="Google Shape;321;p27"/>
            <p:cNvSpPr/>
            <p:nvPr/>
          </p:nvSpPr>
          <p:spPr>
            <a:xfrm>
              <a:off x="6697217" y="1301750"/>
              <a:ext cx="0" cy="1409065"/>
            </a:xfrm>
            <a:custGeom>
              <a:rect b="b" l="l" r="r" t="t"/>
              <a:pathLst>
                <a:path extrusionOk="0" h="1409064" w="120000">
                  <a:moveTo>
                    <a:pt x="0" y="1408645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2" name="Google Shape;322;p27"/>
            <p:cNvSpPr/>
            <p:nvPr/>
          </p:nvSpPr>
          <p:spPr>
            <a:xfrm>
              <a:off x="6659121" y="1238247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3" name="Google Shape;323;p27"/>
            <p:cNvSpPr/>
            <p:nvPr/>
          </p:nvSpPr>
          <p:spPr>
            <a:xfrm>
              <a:off x="6697217" y="1974342"/>
              <a:ext cx="760095" cy="0"/>
            </a:xfrm>
            <a:custGeom>
              <a:rect b="b" l="l" r="r" t="t"/>
              <a:pathLst>
                <a:path extrusionOk="0" h="120000" w="760095">
                  <a:moveTo>
                    <a:pt x="0" y="0"/>
                  </a:moveTo>
                  <a:lnTo>
                    <a:pt x="759650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4" name="Google Shape;324;p27"/>
            <p:cNvSpPr/>
            <p:nvPr/>
          </p:nvSpPr>
          <p:spPr>
            <a:xfrm>
              <a:off x="7456169" y="1974342"/>
              <a:ext cx="0" cy="736600"/>
            </a:xfrm>
            <a:custGeom>
              <a:rect b="b" l="l" r="r" t="t"/>
              <a:pathLst>
                <a:path extrusionOk="0" h="736600" w="120000">
                  <a:moveTo>
                    <a:pt x="0" y="0"/>
                  </a:moveTo>
                  <a:lnTo>
                    <a:pt x="0" y="736066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25" name="Google Shape;325;p27"/>
          <p:cNvSpPr txBox="1"/>
          <p:nvPr/>
        </p:nvSpPr>
        <p:spPr>
          <a:xfrm>
            <a:off x="6417055" y="1791091"/>
            <a:ext cx="1944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𝑨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26" name="Google Shape;326;p27"/>
          <p:cNvSpPr txBox="1"/>
          <p:nvPr/>
        </p:nvSpPr>
        <p:spPr>
          <a:xfrm>
            <a:off x="7361366" y="2742276"/>
            <a:ext cx="2019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𝑿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27" name="Google Shape;327;p27"/>
          <p:cNvSpPr txBox="1"/>
          <p:nvPr/>
        </p:nvSpPr>
        <p:spPr>
          <a:xfrm>
            <a:off x="6528866" y="2719386"/>
            <a:ext cx="1779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𝟎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28" name="Google Shape;328;p27"/>
          <p:cNvSpPr txBox="1"/>
          <p:nvPr/>
        </p:nvSpPr>
        <p:spPr>
          <a:xfrm>
            <a:off x="8230262" y="2657546"/>
            <a:ext cx="1575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𝒙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29" name="Google Shape;329;p27"/>
          <p:cNvSpPr txBox="1"/>
          <p:nvPr/>
        </p:nvSpPr>
        <p:spPr>
          <a:xfrm>
            <a:off x="6951909" y="1528132"/>
            <a:ext cx="4776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𝒇(𝒙)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30" name="Google Shape;330;p27"/>
          <p:cNvSpPr/>
          <p:nvPr/>
        </p:nvSpPr>
        <p:spPr>
          <a:xfrm>
            <a:off x="3915422" y="3229698"/>
            <a:ext cx="19685" cy="231775"/>
          </a:xfrm>
          <a:custGeom>
            <a:rect b="b" l="l" r="r" t="t"/>
            <a:pathLst>
              <a:path extrusionOk="0" h="231775" w="19685">
                <a:moveTo>
                  <a:pt x="19138" y="0"/>
                </a:moveTo>
                <a:lnTo>
                  <a:pt x="0" y="0"/>
                </a:lnTo>
                <a:lnTo>
                  <a:pt x="0" y="231266"/>
                </a:lnTo>
                <a:lnTo>
                  <a:pt x="19138" y="231266"/>
                </a:lnTo>
                <a:lnTo>
                  <a:pt x="19138" y="0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1" name="Google Shape;331;p27"/>
          <p:cNvSpPr/>
          <p:nvPr/>
        </p:nvSpPr>
        <p:spPr>
          <a:xfrm>
            <a:off x="3296678" y="3229698"/>
            <a:ext cx="19685" cy="231775"/>
          </a:xfrm>
          <a:custGeom>
            <a:rect b="b" l="l" r="r" t="t"/>
            <a:pathLst>
              <a:path extrusionOk="0" h="231775" w="19685">
                <a:moveTo>
                  <a:pt x="19138" y="0"/>
                </a:moveTo>
                <a:lnTo>
                  <a:pt x="0" y="0"/>
                </a:lnTo>
                <a:lnTo>
                  <a:pt x="0" y="231266"/>
                </a:lnTo>
                <a:lnTo>
                  <a:pt x="19138" y="231266"/>
                </a:lnTo>
                <a:lnTo>
                  <a:pt x="19138" y="0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2" name="Google Shape;332;p27"/>
          <p:cNvSpPr/>
          <p:nvPr/>
        </p:nvSpPr>
        <p:spPr>
          <a:xfrm>
            <a:off x="3532186" y="3227956"/>
            <a:ext cx="330835" cy="236220"/>
          </a:xfrm>
          <a:custGeom>
            <a:rect b="b" l="l" r="r" t="t"/>
            <a:pathLst>
              <a:path extrusionOk="0" h="236220" w="330835">
                <a:moveTo>
                  <a:pt x="255460" y="0"/>
                </a:moveTo>
                <a:lnTo>
                  <a:pt x="252107" y="9563"/>
                </a:lnTo>
                <a:lnTo>
                  <a:pt x="265754" y="15490"/>
                </a:lnTo>
                <a:lnTo>
                  <a:pt x="277490" y="23690"/>
                </a:lnTo>
                <a:lnTo>
                  <a:pt x="301315" y="61689"/>
                </a:lnTo>
                <a:lnTo>
                  <a:pt x="309143" y="116687"/>
                </a:lnTo>
                <a:lnTo>
                  <a:pt x="308269" y="137478"/>
                </a:lnTo>
                <a:lnTo>
                  <a:pt x="295160" y="188391"/>
                </a:lnTo>
                <a:lnTo>
                  <a:pt x="265908" y="220226"/>
                </a:lnTo>
                <a:lnTo>
                  <a:pt x="252476" y="226174"/>
                </a:lnTo>
                <a:lnTo>
                  <a:pt x="255460" y="235737"/>
                </a:lnTo>
                <a:lnTo>
                  <a:pt x="300503" y="208984"/>
                </a:lnTo>
                <a:lnTo>
                  <a:pt x="325797" y="159580"/>
                </a:lnTo>
                <a:lnTo>
                  <a:pt x="330644" y="117932"/>
                </a:lnTo>
                <a:lnTo>
                  <a:pt x="329444" y="96575"/>
                </a:lnTo>
                <a:lnTo>
                  <a:pt x="319709" y="58015"/>
                </a:lnTo>
                <a:lnTo>
                  <a:pt x="287540" y="15114"/>
                </a:lnTo>
                <a:lnTo>
                  <a:pt x="272553" y="6169"/>
                </a:lnTo>
                <a:lnTo>
                  <a:pt x="255460" y="0"/>
                </a:lnTo>
                <a:close/>
              </a:path>
              <a:path extrusionOk="0" h="236220" w="330835">
                <a:moveTo>
                  <a:pt x="75184" y="0"/>
                </a:moveTo>
                <a:lnTo>
                  <a:pt x="30231" y="26833"/>
                </a:lnTo>
                <a:lnTo>
                  <a:pt x="4865" y="76347"/>
                </a:lnTo>
                <a:lnTo>
                  <a:pt x="70" y="116687"/>
                </a:lnTo>
                <a:lnTo>
                  <a:pt x="0" y="117932"/>
                </a:lnTo>
                <a:lnTo>
                  <a:pt x="1093" y="137478"/>
                </a:lnTo>
                <a:lnTo>
                  <a:pt x="1212" y="139592"/>
                </a:lnTo>
                <a:lnTo>
                  <a:pt x="10908" y="177898"/>
                </a:lnTo>
                <a:lnTo>
                  <a:pt x="43030" y="220659"/>
                </a:lnTo>
                <a:lnTo>
                  <a:pt x="75184" y="235737"/>
                </a:lnTo>
                <a:lnTo>
                  <a:pt x="78168" y="226174"/>
                </a:lnTo>
                <a:lnTo>
                  <a:pt x="64735" y="220226"/>
                </a:lnTo>
                <a:lnTo>
                  <a:pt x="53144" y="211945"/>
                </a:lnTo>
                <a:lnTo>
                  <a:pt x="29366" y="173330"/>
                </a:lnTo>
                <a:lnTo>
                  <a:pt x="21553" y="117932"/>
                </a:lnTo>
                <a:lnTo>
                  <a:pt x="21501" y="116687"/>
                </a:lnTo>
                <a:lnTo>
                  <a:pt x="22375" y="96575"/>
                </a:lnTo>
                <a:lnTo>
                  <a:pt x="35483" y="46913"/>
                </a:lnTo>
                <a:lnTo>
                  <a:pt x="64949" y="15490"/>
                </a:lnTo>
                <a:lnTo>
                  <a:pt x="78549" y="9563"/>
                </a:lnTo>
                <a:lnTo>
                  <a:pt x="75184" y="0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3" name="Google Shape;333;p27"/>
          <p:cNvSpPr txBox="1"/>
          <p:nvPr/>
        </p:nvSpPr>
        <p:spPr>
          <a:xfrm>
            <a:off x="3334053" y="3150989"/>
            <a:ext cx="4584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B050"/>
                </a:solidFill>
                <a:latin typeface="Cambria Math"/>
                <a:ea typeface="Cambria Math"/>
                <a:cs typeface="Cambria Math"/>
                <a:sym typeface="Cambria Math"/>
              </a:rPr>
              <a:t>𝑭 𝒖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34" name="Google Shape;334;p27"/>
          <p:cNvSpPr/>
          <p:nvPr/>
        </p:nvSpPr>
        <p:spPr>
          <a:xfrm>
            <a:off x="4712474" y="3024377"/>
            <a:ext cx="1193165" cy="642620"/>
          </a:xfrm>
          <a:custGeom>
            <a:rect b="b" l="l" r="r" t="t"/>
            <a:pathLst>
              <a:path extrusionOk="0" h="642620" w="1193164">
                <a:moveTo>
                  <a:pt x="22364" y="0"/>
                </a:moveTo>
                <a:lnTo>
                  <a:pt x="0" y="0"/>
                </a:lnTo>
                <a:lnTo>
                  <a:pt x="0" y="642239"/>
                </a:lnTo>
                <a:lnTo>
                  <a:pt x="22364" y="642239"/>
                </a:lnTo>
                <a:lnTo>
                  <a:pt x="22364" y="0"/>
                </a:lnTo>
                <a:close/>
              </a:path>
              <a:path extrusionOk="0" h="642620" w="1193164">
                <a:moveTo>
                  <a:pt x="1139723" y="313055"/>
                </a:moveTo>
                <a:lnTo>
                  <a:pt x="53111" y="313055"/>
                </a:lnTo>
                <a:lnTo>
                  <a:pt x="53111" y="329819"/>
                </a:lnTo>
                <a:lnTo>
                  <a:pt x="1139723" y="329819"/>
                </a:lnTo>
                <a:lnTo>
                  <a:pt x="1139723" y="313055"/>
                </a:lnTo>
                <a:close/>
              </a:path>
              <a:path extrusionOk="0" h="642620" w="1193164">
                <a:moveTo>
                  <a:pt x="1192796" y="0"/>
                </a:moveTo>
                <a:lnTo>
                  <a:pt x="1170432" y="0"/>
                </a:lnTo>
                <a:lnTo>
                  <a:pt x="1170432" y="642239"/>
                </a:lnTo>
                <a:lnTo>
                  <a:pt x="1192796" y="642239"/>
                </a:lnTo>
                <a:lnTo>
                  <a:pt x="1192796" y="0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5" name="Google Shape;335;p27"/>
          <p:cNvSpPr txBox="1"/>
          <p:nvPr/>
        </p:nvSpPr>
        <p:spPr>
          <a:xfrm>
            <a:off x="4021452" y="2958965"/>
            <a:ext cx="1844100" cy="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743585" rtl="0" algn="l">
              <a:lnSpc>
                <a:spcPct val="97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B050"/>
                </a:solidFill>
                <a:latin typeface="Cambria Math"/>
                <a:ea typeface="Cambria Math"/>
                <a:cs typeface="Cambria Math"/>
                <a:sym typeface="Cambria Math"/>
              </a:rPr>
              <a:t>𝐜𝐬(𝝅𝒖𝑿)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12700" rtl="0" algn="l">
              <a:lnSpc>
                <a:spcPct val="97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B050"/>
                </a:solidFill>
                <a:latin typeface="Cambria Math"/>
                <a:ea typeface="Cambria Math"/>
                <a:cs typeface="Cambria Math"/>
                <a:sym typeface="Cambria Math"/>
              </a:rPr>
              <a:t>= 𝑨𝑿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36" name="Google Shape;336;p27"/>
          <p:cNvSpPr txBox="1"/>
          <p:nvPr/>
        </p:nvSpPr>
        <p:spPr>
          <a:xfrm>
            <a:off x="5037692" y="3321639"/>
            <a:ext cx="5403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B050"/>
                </a:solidFill>
                <a:latin typeface="Cambria Math"/>
                <a:ea typeface="Cambria Math"/>
                <a:cs typeface="Cambria Math"/>
                <a:sym typeface="Cambria Math"/>
              </a:rPr>
              <a:t>𝝅𝒖𝑿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grpSp>
        <p:nvGrpSpPr>
          <p:cNvPr id="337" name="Google Shape;337;p27"/>
          <p:cNvGrpSpPr/>
          <p:nvPr/>
        </p:nvGrpSpPr>
        <p:grpSpPr>
          <a:xfrm>
            <a:off x="3883127" y="3682744"/>
            <a:ext cx="4534068" cy="1910334"/>
            <a:chOff x="3883127" y="3682744"/>
            <a:chExt cx="4534068" cy="1910334"/>
          </a:xfrm>
        </p:grpSpPr>
        <p:pic>
          <p:nvPicPr>
            <p:cNvPr id="338" name="Google Shape;338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358639" y="5353811"/>
              <a:ext cx="3602735" cy="2392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9" name="Google Shape;339;p27"/>
            <p:cNvSpPr/>
            <p:nvPr/>
          </p:nvSpPr>
          <p:spPr>
            <a:xfrm>
              <a:off x="4541773" y="5453633"/>
              <a:ext cx="3237865" cy="0"/>
            </a:xfrm>
            <a:custGeom>
              <a:rect b="b" l="l" r="r" t="t"/>
              <a:pathLst>
                <a:path extrusionOk="0" h="120000" w="3237865">
                  <a:moveTo>
                    <a:pt x="0" y="0"/>
                  </a:moveTo>
                  <a:lnTo>
                    <a:pt x="3237433" y="0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0" name="Google Shape;340;p27"/>
            <p:cNvSpPr/>
            <p:nvPr/>
          </p:nvSpPr>
          <p:spPr>
            <a:xfrm>
              <a:off x="4478274" y="5415533"/>
              <a:ext cx="3364865" cy="76200"/>
            </a:xfrm>
            <a:custGeom>
              <a:rect b="b" l="l" r="r" t="t"/>
              <a:pathLst>
                <a:path extrusionOk="0" h="76200" w="3364865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  <a:path extrusionOk="0" h="76200" w="3364865">
                  <a:moveTo>
                    <a:pt x="3364420" y="38100"/>
                  </a:moveTo>
                  <a:lnTo>
                    <a:pt x="3288220" y="0"/>
                  </a:lnTo>
                  <a:lnTo>
                    <a:pt x="3288220" y="76200"/>
                  </a:lnTo>
                  <a:lnTo>
                    <a:pt x="3364420" y="381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1" name="Google Shape;341;p27"/>
            <p:cNvSpPr/>
            <p:nvPr/>
          </p:nvSpPr>
          <p:spPr>
            <a:xfrm>
              <a:off x="6130289" y="3746244"/>
              <a:ext cx="0" cy="1708150"/>
            </a:xfrm>
            <a:custGeom>
              <a:rect b="b" l="l" r="r" t="t"/>
              <a:pathLst>
                <a:path extrusionOk="0" h="1708150" w="120000">
                  <a:moveTo>
                    <a:pt x="0" y="1707883"/>
                  </a:move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2" name="Google Shape;342;p27"/>
            <p:cNvSpPr/>
            <p:nvPr/>
          </p:nvSpPr>
          <p:spPr>
            <a:xfrm>
              <a:off x="6092193" y="3682744"/>
              <a:ext cx="76200" cy="76200"/>
            </a:xfrm>
            <a:custGeom>
              <a:rect b="b" l="l" r="r" t="t"/>
              <a:pathLst>
                <a:path extrusionOk="0" h="76200" w="76200">
                  <a:moveTo>
                    <a:pt x="38100" y="0"/>
                  </a:moveTo>
                  <a:lnTo>
                    <a:pt x="0" y="76200"/>
                  </a:lnTo>
                  <a:lnTo>
                    <a:pt x="76200" y="762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3" name="Google Shape;343;p27"/>
            <p:cNvSpPr/>
            <p:nvPr/>
          </p:nvSpPr>
          <p:spPr>
            <a:xfrm>
              <a:off x="6131050" y="4357877"/>
              <a:ext cx="438150" cy="1082040"/>
            </a:xfrm>
            <a:custGeom>
              <a:rect b="b" l="l" r="r" t="t"/>
              <a:pathLst>
                <a:path extrusionOk="0" h="1082039" w="438150">
                  <a:moveTo>
                    <a:pt x="0" y="0"/>
                  </a:moveTo>
                  <a:lnTo>
                    <a:pt x="54961" y="8050"/>
                  </a:lnTo>
                  <a:lnTo>
                    <a:pt x="107884" y="31556"/>
                  </a:lnTo>
                  <a:lnTo>
                    <a:pt x="158360" y="69550"/>
                  </a:lnTo>
                  <a:lnTo>
                    <a:pt x="205977" y="121063"/>
                  </a:lnTo>
                  <a:lnTo>
                    <a:pt x="250325" y="185127"/>
                  </a:lnTo>
                  <a:lnTo>
                    <a:pt x="271145" y="221563"/>
                  </a:lnTo>
                  <a:lnTo>
                    <a:pt x="290993" y="260773"/>
                  </a:lnTo>
                  <a:lnTo>
                    <a:pt x="309819" y="302637"/>
                  </a:lnTo>
                  <a:lnTo>
                    <a:pt x="327571" y="347034"/>
                  </a:lnTo>
                  <a:lnTo>
                    <a:pt x="344198" y="393842"/>
                  </a:lnTo>
                  <a:lnTo>
                    <a:pt x="359648" y="442940"/>
                  </a:lnTo>
                  <a:lnTo>
                    <a:pt x="373871" y="494208"/>
                  </a:lnTo>
                  <a:lnTo>
                    <a:pt x="386814" y="547524"/>
                  </a:lnTo>
                  <a:lnTo>
                    <a:pt x="398426" y="602768"/>
                  </a:lnTo>
                  <a:lnTo>
                    <a:pt x="408657" y="659818"/>
                  </a:lnTo>
                  <a:lnTo>
                    <a:pt x="417455" y="718553"/>
                  </a:lnTo>
                  <a:lnTo>
                    <a:pt x="424768" y="778852"/>
                  </a:lnTo>
                  <a:lnTo>
                    <a:pt x="430545" y="840595"/>
                  </a:lnTo>
                  <a:lnTo>
                    <a:pt x="434736" y="903660"/>
                  </a:lnTo>
                  <a:lnTo>
                    <a:pt x="437288" y="967926"/>
                  </a:lnTo>
                  <a:lnTo>
                    <a:pt x="438150" y="1033272"/>
                  </a:lnTo>
                  <a:lnTo>
                    <a:pt x="438121" y="1045320"/>
                  </a:lnTo>
                  <a:lnTo>
                    <a:pt x="438034" y="1057368"/>
                  </a:lnTo>
                  <a:lnTo>
                    <a:pt x="437887" y="1069414"/>
                  </a:lnTo>
                  <a:lnTo>
                    <a:pt x="437680" y="1081455"/>
                  </a:lnTo>
                </a:path>
              </a:pathLst>
            </a:custGeom>
            <a:noFill/>
            <a:ln cap="flat" cmpd="sng" w="380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4" name="Google Shape;344;p27"/>
            <p:cNvSpPr/>
            <p:nvPr/>
          </p:nvSpPr>
          <p:spPr>
            <a:xfrm>
              <a:off x="5720386" y="4358123"/>
              <a:ext cx="426084" cy="1094740"/>
            </a:xfrm>
            <a:custGeom>
              <a:rect b="b" l="l" r="r" t="t"/>
              <a:pathLst>
                <a:path extrusionOk="0" h="1094739" w="426085">
                  <a:moveTo>
                    <a:pt x="425936" y="5935"/>
                  </a:moveTo>
                  <a:lnTo>
                    <a:pt x="399703" y="579"/>
                  </a:lnTo>
                  <a:lnTo>
                    <a:pt x="373753" y="0"/>
                  </a:lnTo>
                  <a:lnTo>
                    <a:pt x="348149" y="4061"/>
                  </a:lnTo>
                  <a:lnTo>
                    <a:pt x="298232" y="25560"/>
                  </a:lnTo>
                  <a:lnTo>
                    <a:pt x="250459" y="63988"/>
                  </a:lnTo>
                  <a:lnTo>
                    <a:pt x="205333" y="118256"/>
                  </a:lnTo>
                  <a:lnTo>
                    <a:pt x="183920" y="150989"/>
                  </a:lnTo>
                  <a:lnTo>
                    <a:pt x="163359" y="187273"/>
                  </a:lnTo>
                  <a:lnTo>
                    <a:pt x="143712" y="226972"/>
                  </a:lnTo>
                  <a:lnTo>
                    <a:pt x="125043" y="269950"/>
                  </a:lnTo>
                  <a:lnTo>
                    <a:pt x="107414" y="316072"/>
                  </a:lnTo>
                  <a:lnTo>
                    <a:pt x="90889" y="365199"/>
                  </a:lnTo>
                  <a:lnTo>
                    <a:pt x="75530" y="417198"/>
                  </a:lnTo>
                  <a:lnTo>
                    <a:pt x="61402" y="471930"/>
                  </a:lnTo>
                  <a:lnTo>
                    <a:pt x="48566" y="529261"/>
                  </a:lnTo>
                  <a:lnTo>
                    <a:pt x="37087" y="589054"/>
                  </a:lnTo>
                  <a:lnTo>
                    <a:pt x="27026" y="651173"/>
                  </a:lnTo>
                  <a:lnTo>
                    <a:pt x="18448" y="715481"/>
                  </a:lnTo>
                  <a:lnTo>
                    <a:pt x="11416" y="781843"/>
                  </a:lnTo>
                  <a:lnTo>
                    <a:pt x="5992" y="850122"/>
                  </a:lnTo>
                  <a:lnTo>
                    <a:pt x="2239" y="920183"/>
                  </a:lnTo>
                  <a:lnTo>
                    <a:pt x="810" y="963575"/>
                  </a:lnTo>
                  <a:lnTo>
                    <a:pt x="64" y="1007074"/>
                  </a:lnTo>
                  <a:lnTo>
                    <a:pt x="0" y="1050618"/>
                  </a:lnTo>
                  <a:lnTo>
                    <a:pt x="613" y="1094147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5" name="Google Shape;345;p27"/>
            <p:cNvSpPr/>
            <p:nvPr/>
          </p:nvSpPr>
          <p:spPr>
            <a:xfrm>
              <a:off x="4855076" y="5090018"/>
              <a:ext cx="869315" cy="370840"/>
            </a:xfrm>
            <a:custGeom>
              <a:rect b="b" l="l" r="r" t="t"/>
              <a:pathLst>
                <a:path extrusionOk="0" h="370839" w="869314">
                  <a:moveTo>
                    <a:pt x="0" y="341351"/>
                  </a:moveTo>
                  <a:lnTo>
                    <a:pt x="12382" y="293995"/>
                  </a:lnTo>
                  <a:lnTo>
                    <a:pt x="29397" y="249424"/>
                  </a:lnTo>
                  <a:lnTo>
                    <a:pt x="50723" y="207836"/>
                  </a:lnTo>
                  <a:lnTo>
                    <a:pt x="76040" y="169433"/>
                  </a:lnTo>
                  <a:lnTo>
                    <a:pt x="105027" y="134413"/>
                  </a:lnTo>
                  <a:lnTo>
                    <a:pt x="137362" y="102976"/>
                  </a:lnTo>
                  <a:lnTo>
                    <a:pt x="172724" y="75321"/>
                  </a:lnTo>
                  <a:lnTo>
                    <a:pt x="210794" y="51648"/>
                  </a:lnTo>
                  <a:lnTo>
                    <a:pt x="251249" y="32157"/>
                  </a:lnTo>
                  <a:lnTo>
                    <a:pt x="293769" y="17047"/>
                  </a:lnTo>
                  <a:lnTo>
                    <a:pt x="338033" y="6518"/>
                  </a:lnTo>
                  <a:lnTo>
                    <a:pt x="383720" y="769"/>
                  </a:lnTo>
                  <a:lnTo>
                    <a:pt x="430509" y="0"/>
                  </a:lnTo>
                  <a:lnTo>
                    <a:pt x="478079" y="4410"/>
                  </a:lnTo>
                  <a:lnTo>
                    <a:pt x="526110" y="14199"/>
                  </a:lnTo>
                  <a:lnTo>
                    <a:pt x="571288" y="28516"/>
                  </a:lnTo>
                  <a:lnTo>
                    <a:pt x="614448" y="47263"/>
                  </a:lnTo>
                  <a:lnTo>
                    <a:pt x="655327" y="70167"/>
                  </a:lnTo>
                  <a:lnTo>
                    <a:pt x="693664" y="96959"/>
                  </a:lnTo>
                  <a:lnTo>
                    <a:pt x="729198" y="127365"/>
                  </a:lnTo>
                  <a:lnTo>
                    <a:pt x="761668" y="161114"/>
                  </a:lnTo>
                  <a:lnTo>
                    <a:pt x="790811" y="197936"/>
                  </a:lnTo>
                  <a:lnTo>
                    <a:pt x="816367" y="237558"/>
                  </a:lnTo>
                  <a:lnTo>
                    <a:pt x="838074" y="279708"/>
                  </a:lnTo>
                  <a:lnTo>
                    <a:pt x="855670" y="324116"/>
                  </a:lnTo>
                  <a:lnTo>
                    <a:pt x="868895" y="37051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6" name="Google Shape;346;p27"/>
            <p:cNvSpPr/>
            <p:nvPr/>
          </p:nvSpPr>
          <p:spPr>
            <a:xfrm>
              <a:off x="6573970" y="5089913"/>
              <a:ext cx="865505" cy="370840"/>
            </a:xfrm>
            <a:custGeom>
              <a:rect b="b" l="l" r="r" t="t"/>
              <a:pathLst>
                <a:path extrusionOk="0" h="370839" w="865504">
                  <a:moveTo>
                    <a:pt x="0" y="324704"/>
                  </a:moveTo>
                  <a:lnTo>
                    <a:pt x="14167" y="277955"/>
                  </a:lnTo>
                  <a:lnTo>
                    <a:pt x="32868" y="234164"/>
                  </a:lnTo>
                  <a:lnTo>
                    <a:pt x="55773" y="193518"/>
                  </a:lnTo>
                  <a:lnTo>
                    <a:pt x="82555" y="156203"/>
                  </a:lnTo>
                  <a:lnTo>
                    <a:pt x="112885" y="122406"/>
                  </a:lnTo>
                  <a:lnTo>
                    <a:pt x="146432" y="92313"/>
                  </a:lnTo>
                  <a:lnTo>
                    <a:pt x="182870" y="66112"/>
                  </a:lnTo>
                  <a:lnTo>
                    <a:pt x="221868" y="43988"/>
                  </a:lnTo>
                  <a:lnTo>
                    <a:pt x="263098" y="26128"/>
                  </a:lnTo>
                  <a:lnTo>
                    <a:pt x="306231" y="12719"/>
                  </a:lnTo>
                  <a:lnTo>
                    <a:pt x="350939" y="3948"/>
                  </a:lnTo>
                  <a:lnTo>
                    <a:pt x="396892" y="0"/>
                  </a:lnTo>
                  <a:lnTo>
                    <a:pt x="443762" y="1062"/>
                  </a:lnTo>
                  <a:lnTo>
                    <a:pt x="491220" y="7321"/>
                  </a:lnTo>
                  <a:lnTo>
                    <a:pt x="538937" y="18964"/>
                  </a:lnTo>
                  <a:lnTo>
                    <a:pt x="586298" y="36139"/>
                  </a:lnTo>
                  <a:lnTo>
                    <a:pt x="631205" y="58197"/>
                  </a:lnTo>
                  <a:lnTo>
                    <a:pt x="673349" y="84806"/>
                  </a:lnTo>
                  <a:lnTo>
                    <a:pt x="712423" y="115635"/>
                  </a:lnTo>
                  <a:lnTo>
                    <a:pt x="748118" y="150350"/>
                  </a:lnTo>
                  <a:lnTo>
                    <a:pt x="780127" y="188621"/>
                  </a:lnTo>
                  <a:lnTo>
                    <a:pt x="808141" y="230115"/>
                  </a:lnTo>
                  <a:lnTo>
                    <a:pt x="831853" y="274499"/>
                  </a:lnTo>
                  <a:lnTo>
                    <a:pt x="850954" y="321443"/>
                  </a:lnTo>
                  <a:lnTo>
                    <a:pt x="865136" y="370614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7" name="Google Shape;347;p27"/>
            <p:cNvSpPr/>
            <p:nvPr/>
          </p:nvSpPr>
          <p:spPr>
            <a:xfrm>
              <a:off x="3883127" y="5226071"/>
              <a:ext cx="972819" cy="199390"/>
            </a:xfrm>
            <a:custGeom>
              <a:rect b="b" l="l" r="r" t="t"/>
              <a:pathLst>
                <a:path extrusionOk="0" h="199389" w="972820">
                  <a:moveTo>
                    <a:pt x="0" y="111955"/>
                  </a:moveTo>
                  <a:lnTo>
                    <a:pt x="41629" y="89123"/>
                  </a:lnTo>
                  <a:lnTo>
                    <a:pt x="84292" y="68914"/>
                  </a:lnTo>
                  <a:lnTo>
                    <a:pt x="127870" y="51318"/>
                  </a:lnTo>
                  <a:lnTo>
                    <a:pt x="172245" y="36323"/>
                  </a:lnTo>
                  <a:lnTo>
                    <a:pt x="217299" y="23918"/>
                  </a:lnTo>
                  <a:lnTo>
                    <a:pt x="262914" y="14095"/>
                  </a:lnTo>
                  <a:lnTo>
                    <a:pt x="308972" y="6841"/>
                  </a:lnTo>
                  <a:lnTo>
                    <a:pt x="355354" y="2146"/>
                  </a:lnTo>
                  <a:lnTo>
                    <a:pt x="401942" y="0"/>
                  </a:lnTo>
                  <a:lnTo>
                    <a:pt x="448618" y="391"/>
                  </a:lnTo>
                  <a:lnTo>
                    <a:pt x="495265" y="3310"/>
                  </a:lnTo>
                  <a:lnTo>
                    <a:pt x="541763" y="8745"/>
                  </a:lnTo>
                  <a:lnTo>
                    <a:pt x="587995" y="16687"/>
                  </a:lnTo>
                  <a:lnTo>
                    <a:pt x="633842" y="27124"/>
                  </a:lnTo>
                  <a:lnTo>
                    <a:pt x="679187" y="40045"/>
                  </a:lnTo>
                  <a:lnTo>
                    <a:pt x="723911" y="55441"/>
                  </a:lnTo>
                  <a:lnTo>
                    <a:pt x="767896" y="73300"/>
                  </a:lnTo>
                  <a:lnTo>
                    <a:pt x="811024" y="93613"/>
                  </a:lnTo>
                  <a:lnTo>
                    <a:pt x="853177" y="116367"/>
                  </a:lnTo>
                  <a:lnTo>
                    <a:pt x="894237" y="141554"/>
                  </a:lnTo>
                  <a:lnTo>
                    <a:pt x="934085" y="169161"/>
                  </a:lnTo>
                  <a:lnTo>
                    <a:pt x="972604" y="199179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8" name="Google Shape;348;p27"/>
            <p:cNvSpPr/>
            <p:nvPr/>
          </p:nvSpPr>
          <p:spPr>
            <a:xfrm>
              <a:off x="7435485" y="5197185"/>
              <a:ext cx="981710" cy="261620"/>
            </a:xfrm>
            <a:custGeom>
              <a:rect b="b" l="l" r="r" t="t"/>
              <a:pathLst>
                <a:path extrusionOk="0" h="261620" w="981709">
                  <a:moveTo>
                    <a:pt x="0" y="261052"/>
                  </a:moveTo>
                  <a:lnTo>
                    <a:pt x="34390" y="226512"/>
                  </a:lnTo>
                  <a:lnTo>
                    <a:pt x="70591" y="194324"/>
                  </a:lnTo>
                  <a:lnTo>
                    <a:pt x="108478" y="164513"/>
                  </a:lnTo>
                  <a:lnTo>
                    <a:pt x="147925" y="137100"/>
                  </a:lnTo>
                  <a:lnTo>
                    <a:pt x="188805" y="112109"/>
                  </a:lnTo>
                  <a:lnTo>
                    <a:pt x="230993" y="89563"/>
                  </a:lnTo>
                  <a:lnTo>
                    <a:pt x="274364" y="69485"/>
                  </a:lnTo>
                  <a:lnTo>
                    <a:pt x="318792" y="51899"/>
                  </a:lnTo>
                  <a:lnTo>
                    <a:pt x="364151" y="36827"/>
                  </a:lnTo>
                  <a:lnTo>
                    <a:pt x="410316" y="24294"/>
                  </a:lnTo>
                  <a:lnTo>
                    <a:pt x="457160" y="14321"/>
                  </a:lnTo>
                  <a:lnTo>
                    <a:pt x="504558" y="6932"/>
                  </a:lnTo>
                  <a:lnTo>
                    <a:pt x="552385" y="2151"/>
                  </a:lnTo>
                  <a:lnTo>
                    <a:pt x="600514" y="0"/>
                  </a:lnTo>
                  <a:lnTo>
                    <a:pt x="648821" y="502"/>
                  </a:lnTo>
                  <a:lnTo>
                    <a:pt x="697179" y="3681"/>
                  </a:lnTo>
                  <a:lnTo>
                    <a:pt x="745463" y="9561"/>
                  </a:lnTo>
                  <a:lnTo>
                    <a:pt x="793546" y="18163"/>
                  </a:lnTo>
                  <a:lnTo>
                    <a:pt x="841304" y="29512"/>
                  </a:lnTo>
                  <a:lnTo>
                    <a:pt x="888610" y="43630"/>
                  </a:lnTo>
                  <a:lnTo>
                    <a:pt x="935340" y="60541"/>
                  </a:lnTo>
                  <a:lnTo>
                    <a:pt x="981367" y="80267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9" name="Google Shape;349;p27"/>
            <p:cNvSpPr/>
            <p:nvPr/>
          </p:nvSpPr>
          <p:spPr>
            <a:xfrm>
              <a:off x="6484927" y="3983034"/>
              <a:ext cx="330835" cy="236220"/>
            </a:xfrm>
            <a:custGeom>
              <a:rect b="b" l="l" r="r" t="t"/>
              <a:pathLst>
                <a:path extrusionOk="0" h="236220" w="330834">
                  <a:moveTo>
                    <a:pt x="255460" y="0"/>
                  </a:moveTo>
                  <a:lnTo>
                    <a:pt x="252107" y="9563"/>
                  </a:lnTo>
                  <a:lnTo>
                    <a:pt x="265754" y="15490"/>
                  </a:lnTo>
                  <a:lnTo>
                    <a:pt x="277490" y="23690"/>
                  </a:lnTo>
                  <a:lnTo>
                    <a:pt x="301315" y="61689"/>
                  </a:lnTo>
                  <a:lnTo>
                    <a:pt x="309143" y="116687"/>
                  </a:lnTo>
                  <a:lnTo>
                    <a:pt x="308269" y="137478"/>
                  </a:lnTo>
                  <a:lnTo>
                    <a:pt x="295160" y="188391"/>
                  </a:lnTo>
                  <a:lnTo>
                    <a:pt x="265908" y="220226"/>
                  </a:lnTo>
                  <a:lnTo>
                    <a:pt x="252476" y="226174"/>
                  </a:lnTo>
                  <a:lnTo>
                    <a:pt x="255460" y="235737"/>
                  </a:lnTo>
                  <a:lnTo>
                    <a:pt x="300503" y="208984"/>
                  </a:lnTo>
                  <a:lnTo>
                    <a:pt x="325797" y="159580"/>
                  </a:lnTo>
                  <a:lnTo>
                    <a:pt x="330644" y="117932"/>
                  </a:lnTo>
                  <a:lnTo>
                    <a:pt x="329444" y="96575"/>
                  </a:lnTo>
                  <a:lnTo>
                    <a:pt x="319709" y="58015"/>
                  </a:lnTo>
                  <a:lnTo>
                    <a:pt x="287540" y="15114"/>
                  </a:lnTo>
                  <a:lnTo>
                    <a:pt x="272553" y="6169"/>
                  </a:lnTo>
                  <a:lnTo>
                    <a:pt x="255460" y="0"/>
                  </a:lnTo>
                  <a:close/>
                </a:path>
                <a:path extrusionOk="0" h="236220" w="330834">
                  <a:moveTo>
                    <a:pt x="75184" y="0"/>
                  </a:moveTo>
                  <a:lnTo>
                    <a:pt x="30231" y="26833"/>
                  </a:lnTo>
                  <a:lnTo>
                    <a:pt x="4865" y="76347"/>
                  </a:lnTo>
                  <a:lnTo>
                    <a:pt x="70" y="116687"/>
                  </a:lnTo>
                  <a:lnTo>
                    <a:pt x="0" y="117932"/>
                  </a:lnTo>
                  <a:lnTo>
                    <a:pt x="1093" y="137478"/>
                  </a:lnTo>
                  <a:lnTo>
                    <a:pt x="1212" y="139592"/>
                  </a:lnTo>
                  <a:lnTo>
                    <a:pt x="10908" y="177898"/>
                  </a:lnTo>
                  <a:lnTo>
                    <a:pt x="43030" y="220659"/>
                  </a:lnTo>
                  <a:lnTo>
                    <a:pt x="75184" y="235737"/>
                  </a:lnTo>
                  <a:lnTo>
                    <a:pt x="78168" y="226174"/>
                  </a:lnTo>
                  <a:lnTo>
                    <a:pt x="64735" y="220226"/>
                  </a:lnTo>
                  <a:lnTo>
                    <a:pt x="53144" y="211945"/>
                  </a:lnTo>
                  <a:lnTo>
                    <a:pt x="29366" y="173330"/>
                  </a:lnTo>
                  <a:lnTo>
                    <a:pt x="21553" y="117932"/>
                  </a:lnTo>
                  <a:lnTo>
                    <a:pt x="21501" y="116687"/>
                  </a:lnTo>
                  <a:lnTo>
                    <a:pt x="22375" y="96575"/>
                  </a:lnTo>
                  <a:lnTo>
                    <a:pt x="35483" y="46913"/>
                  </a:lnTo>
                  <a:lnTo>
                    <a:pt x="64949" y="15490"/>
                  </a:lnTo>
                  <a:lnTo>
                    <a:pt x="78549" y="9563"/>
                  </a:lnTo>
                  <a:lnTo>
                    <a:pt x="751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50" name="Google Shape;350;p27"/>
          <p:cNvSpPr txBox="1"/>
          <p:nvPr/>
        </p:nvSpPr>
        <p:spPr>
          <a:xfrm>
            <a:off x="6206021" y="3906067"/>
            <a:ext cx="7251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|𝑭 𝒖   |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51" name="Google Shape;351;p27"/>
          <p:cNvSpPr txBox="1"/>
          <p:nvPr/>
        </p:nvSpPr>
        <p:spPr>
          <a:xfrm>
            <a:off x="5631816" y="3937189"/>
            <a:ext cx="369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𝑨𝑿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52" name="Google Shape;352;p27"/>
          <p:cNvSpPr txBox="1"/>
          <p:nvPr/>
        </p:nvSpPr>
        <p:spPr>
          <a:xfrm>
            <a:off x="4413157" y="5447743"/>
            <a:ext cx="64071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−𝒋𝒋/𝒙𝒙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53" name="Google Shape;353;p27"/>
          <p:cNvSpPr txBox="1"/>
          <p:nvPr/>
        </p:nvSpPr>
        <p:spPr>
          <a:xfrm>
            <a:off x="5280394" y="5442564"/>
            <a:ext cx="640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−𝟏/𝒙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54" name="Google Shape;354;p27"/>
          <p:cNvSpPr txBox="1"/>
          <p:nvPr/>
        </p:nvSpPr>
        <p:spPr>
          <a:xfrm>
            <a:off x="7163183" y="5436405"/>
            <a:ext cx="449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𝒋/𝒙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55" name="Google Shape;355;p27"/>
          <p:cNvSpPr txBox="1"/>
          <p:nvPr/>
        </p:nvSpPr>
        <p:spPr>
          <a:xfrm>
            <a:off x="6061652" y="5440852"/>
            <a:ext cx="7221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3000">
                <a:latin typeface="Cambria Math"/>
                <a:ea typeface="Cambria Math"/>
                <a:cs typeface="Cambria Math"/>
                <a:sym typeface="Cambria Math"/>
              </a:rPr>
              <a:t>𝟎 </a:t>
            </a: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𝟏/𝒙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56" name="Google Shape;356;p27"/>
          <p:cNvSpPr txBox="1"/>
          <p:nvPr/>
        </p:nvSpPr>
        <p:spPr>
          <a:xfrm>
            <a:off x="6833114" y="5744181"/>
            <a:ext cx="189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𝒖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grpSp>
        <p:nvGrpSpPr>
          <p:cNvPr id="357" name="Google Shape;357;p27"/>
          <p:cNvGrpSpPr/>
          <p:nvPr/>
        </p:nvGrpSpPr>
        <p:grpSpPr>
          <a:xfrm>
            <a:off x="7040118" y="5868918"/>
            <a:ext cx="347782" cy="114300"/>
            <a:chOff x="7040118" y="5868918"/>
            <a:chExt cx="347782" cy="114300"/>
          </a:xfrm>
        </p:grpSpPr>
        <p:sp>
          <p:nvSpPr>
            <p:cNvPr id="358" name="Google Shape;358;p27"/>
            <p:cNvSpPr/>
            <p:nvPr/>
          </p:nvSpPr>
          <p:spPr>
            <a:xfrm>
              <a:off x="7040118" y="5926073"/>
              <a:ext cx="252729" cy="0"/>
            </a:xfrm>
            <a:custGeom>
              <a:rect b="b" l="l" r="r" t="t"/>
              <a:pathLst>
                <a:path extrusionOk="0" h="120000" w="252729">
                  <a:moveTo>
                    <a:pt x="0" y="0"/>
                  </a:moveTo>
                  <a:lnTo>
                    <a:pt x="252526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9" name="Google Shape;359;p27"/>
            <p:cNvSpPr/>
            <p:nvPr/>
          </p:nvSpPr>
          <p:spPr>
            <a:xfrm>
              <a:off x="7273600" y="5868918"/>
              <a:ext cx="114300" cy="114300"/>
            </a:xfrm>
            <a:custGeom>
              <a:rect b="b" l="l" r="r" t="t"/>
              <a:pathLst>
                <a:path extrusionOk="0" h="114300" w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60" name="Google Shape;360;p27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1" name="Google Shape;361;p27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362" name="Google Shape;362;p2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3" name="Google Shape;363;p2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4" name="Google Shape;364;p27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365" name="Google Shape;36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4750" y="1873975"/>
            <a:ext cx="3248375" cy="78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800" y="3279800"/>
            <a:ext cx="2906275" cy="2716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8"/>
          <p:cNvSpPr txBox="1"/>
          <p:nvPr>
            <p:ph idx="4294967295" type="title"/>
          </p:nvPr>
        </p:nvSpPr>
        <p:spPr>
          <a:xfrm>
            <a:off x="0" y="153150"/>
            <a:ext cx="121920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FF0000"/>
                </a:solidFill>
              </a:rPr>
              <a:t>Magnitude and Phase</a:t>
            </a:r>
            <a:endParaRPr sz="4400"/>
          </a:p>
        </p:txBody>
      </p:sp>
      <p:sp>
        <p:nvSpPr>
          <p:cNvPr id="372" name="Google Shape;372;p28"/>
          <p:cNvSpPr/>
          <p:nvPr/>
        </p:nvSpPr>
        <p:spPr>
          <a:xfrm>
            <a:off x="3845092" y="1778106"/>
            <a:ext cx="0" cy="511809"/>
          </a:xfrm>
          <a:custGeom>
            <a:rect b="b" l="l" r="r" t="t"/>
            <a:pathLst>
              <a:path extrusionOk="0" h="511810" w="120000">
                <a:moveTo>
                  <a:pt x="0" y="0"/>
                </a:moveTo>
                <a:lnTo>
                  <a:pt x="0" y="511249"/>
                </a:lnTo>
              </a:path>
            </a:pathLst>
          </a:custGeom>
          <a:noFill/>
          <a:ln cap="flat" cmpd="sng" w="177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3" name="Google Shape;373;p28"/>
          <p:cNvSpPr/>
          <p:nvPr/>
        </p:nvSpPr>
        <p:spPr>
          <a:xfrm>
            <a:off x="4751647" y="1778106"/>
            <a:ext cx="0" cy="511809"/>
          </a:xfrm>
          <a:custGeom>
            <a:rect b="b" l="l" r="r" t="t"/>
            <a:pathLst>
              <a:path extrusionOk="0" h="511810" w="120000">
                <a:moveTo>
                  <a:pt x="0" y="0"/>
                </a:moveTo>
                <a:lnTo>
                  <a:pt x="0" y="511249"/>
                </a:lnTo>
              </a:path>
            </a:pathLst>
          </a:custGeom>
          <a:noFill/>
          <a:ln cap="flat" cmpd="sng" w="177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4" name="Google Shape;374;p28"/>
          <p:cNvSpPr/>
          <p:nvPr/>
        </p:nvSpPr>
        <p:spPr>
          <a:xfrm>
            <a:off x="2551915" y="2610553"/>
            <a:ext cx="0" cy="511809"/>
          </a:xfrm>
          <a:custGeom>
            <a:rect b="b" l="l" r="r" t="t"/>
            <a:pathLst>
              <a:path extrusionOk="0" h="511810" w="120000">
                <a:moveTo>
                  <a:pt x="0" y="0"/>
                </a:moveTo>
                <a:lnTo>
                  <a:pt x="0" y="511249"/>
                </a:lnTo>
              </a:path>
            </a:pathLst>
          </a:custGeom>
          <a:noFill/>
          <a:ln cap="flat" cmpd="sng" w="177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5" name="Google Shape;375;p28"/>
          <p:cNvSpPr/>
          <p:nvPr/>
        </p:nvSpPr>
        <p:spPr>
          <a:xfrm>
            <a:off x="3458471" y="2610553"/>
            <a:ext cx="0" cy="511809"/>
          </a:xfrm>
          <a:custGeom>
            <a:rect b="b" l="l" r="r" t="t"/>
            <a:pathLst>
              <a:path extrusionOk="0" h="511810" w="120000">
                <a:moveTo>
                  <a:pt x="0" y="0"/>
                </a:moveTo>
                <a:lnTo>
                  <a:pt x="0" y="511249"/>
                </a:lnTo>
              </a:path>
            </a:pathLst>
          </a:custGeom>
          <a:noFill/>
          <a:ln cap="flat" cmpd="sng" w="177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376" name="Google Shape;376;p28"/>
          <p:cNvGrpSpPr/>
          <p:nvPr/>
        </p:nvGrpSpPr>
        <p:grpSpPr>
          <a:xfrm>
            <a:off x="3938412" y="2511637"/>
            <a:ext cx="2580261" cy="572983"/>
            <a:chOff x="3938412" y="2511637"/>
            <a:chExt cx="2580261" cy="572983"/>
          </a:xfrm>
        </p:grpSpPr>
        <p:sp>
          <p:nvSpPr>
            <p:cNvPr id="377" name="Google Shape;377;p28"/>
            <p:cNvSpPr/>
            <p:nvPr/>
          </p:nvSpPr>
          <p:spPr>
            <a:xfrm>
              <a:off x="3938412" y="2875069"/>
              <a:ext cx="54610" cy="31115"/>
            </a:xfrm>
            <a:custGeom>
              <a:rect b="b" l="l" r="r" t="t"/>
              <a:pathLst>
                <a:path extrusionOk="0" h="31114" w="54610">
                  <a:moveTo>
                    <a:pt x="0" y="31119"/>
                  </a:moveTo>
                  <a:lnTo>
                    <a:pt x="54437" y="0"/>
                  </a:lnTo>
                </a:path>
              </a:pathLst>
            </a:custGeom>
            <a:noFill/>
            <a:ln cap="flat" cmpd="sng" w="177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8" name="Google Shape;378;p28"/>
            <p:cNvSpPr/>
            <p:nvPr/>
          </p:nvSpPr>
          <p:spPr>
            <a:xfrm>
              <a:off x="3992850" y="2883960"/>
              <a:ext cx="79375" cy="200660"/>
            </a:xfrm>
            <a:custGeom>
              <a:rect b="b" l="l" r="r" t="t"/>
              <a:pathLst>
                <a:path extrusionOk="0" h="200660" w="79375">
                  <a:moveTo>
                    <a:pt x="0" y="0"/>
                  </a:moveTo>
                  <a:lnTo>
                    <a:pt x="78879" y="200054"/>
                  </a:lnTo>
                </a:path>
              </a:pathLst>
            </a:custGeom>
            <a:noFill/>
            <a:ln cap="flat" cmpd="sng" w="355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9" name="Google Shape;379;p28"/>
            <p:cNvSpPr/>
            <p:nvPr/>
          </p:nvSpPr>
          <p:spPr>
            <a:xfrm>
              <a:off x="4080616" y="2511637"/>
              <a:ext cx="104775" cy="572770"/>
            </a:xfrm>
            <a:custGeom>
              <a:rect b="b" l="l" r="r" t="t"/>
              <a:pathLst>
                <a:path extrusionOk="0" h="572769" w="104775">
                  <a:moveTo>
                    <a:pt x="0" y="572376"/>
                  </a:moveTo>
                  <a:lnTo>
                    <a:pt x="104431" y="0"/>
                  </a:lnTo>
                </a:path>
              </a:pathLst>
            </a:custGeom>
            <a:noFill/>
            <a:ln cap="flat" cmpd="sng" w="177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0" name="Google Shape;380;p28"/>
            <p:cNvSpPr/>
            <p:nvPr/>
          </p:nvSpPr>
          <p:spPr>
            <a:xfrm>
              <a:off x="4185048" y="2511637"/>
              <a:ext cx="2333625" cy="0"/>
            </a:xfrm>
            <a:custGeom>
              <a:rect b="b" l="l" r="r" t="t"/>
              <a:pathLst>
                <a:path extrusionOk="0" h="120000" w="2333625">
                  <a:moveTo>
                    <a:pt x="0" y="0"/>
                  </a:moveTo>
                  <a:lnTo>
                    <a:pt x="2333048" y="0"/>
                  </a:lnTo>
                </a:path>
              </a:pathLst>
            </a:custGeom>
            <a:noFill/>
            <a:ln cap="flat" cmpd="sng" w="177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81" name="Google Shape;381;p28"/>
          <p:cNvSpPr/>
          <p:nvPr/>
        </p:nvSpPr>
        <p:spPr>
          <a:xfrm>
            <a:off x="4949398" y="3904236"/>
            <a:ext cx="851535" cy="0"/>
          </a:xfrm>
          <a:custGeom>
            <a:rect b="b" l="l" r="r" t="t"/>
            <a:pathLst>
              <a:path extrusionOk="0" h="120000" w="851535">
                <a:moveTo>
                  <a:pt x="0" y="0"/>
                </a:moveTo>
                <a:lnTo>
                  <a:pt x="851007" y="0"/>
                </a:lnTo>
              </a:path>
            </a:pathLst>
          </a:custGeom>
          <a:noFill/>
          <a:ln cap="flat" cmpd="sng" w="177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2" name="Google Shape;382;p28"/>
          <p:cNvSpPr txBox="1"/>
          <p:nvPr/>
        </p:nvSpPr>
        <p:spPr>
          <a:xfrm>
            <a:off x="4899218" y="3599425"/>
            <a:ext cx="12978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502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335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33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3350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35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baseline="30000" sz="5025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83" name="Google Shape;383;p28"/>
          <p:cNvSpPr txBox="1"/>
          <p:nvPr/>
        </p:nvSpPr>
        <p:spPr>
          <a:xfrm>
            <a:off x="2456987" y="3461098"/>
            <a:ext cx="35643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550">
                <a:latin typeface="Noto Sans Symbols"/>
                <a:ea typeface="Noto Sans Symbols"/>
                <a:cs typeface="Noto Sans Symbols"/>
                <a:sym typeface="Noto Sans Symbols"/>
              </a:rPr>
              <a:t>ϕ</a:t>
            </a:r>
            <a:r>
              <a:rPr lang="en-US" sz="33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3350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35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335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3350">
                <a:latin typeface="Times New Roman"/>
                <a:ea typeface="Times New Roman"/>
                <a:cs typeface="Times New Roman"/>
                <a:sym typeface="Times New Roman"/>
              </a:rPr>
              <a:t> arctan  </a:t>
            </a:r>
            <a:r>
              <a:rPr baseline="30000" i="1" lang="en-US" sz="5025"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baseline="30000" lang="en-US" sz="5025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aseline="30000" i="1" lang="en-US" sz="5025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baseline="30000" lang="en-US" sz="5025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baseline="30000" sz="5025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84" name="Google Shape;384;p28"/>
          <p:cNvSpPr txBox="1"/>
          <p:nvPr/>
        </p:nvSpPr>
        <p:spPr>
          <a:xfrm>
            <a:off x="2273226" y="1700975"/>
            <a:ext cx="4288200" cy="13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marR="762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50">
                <a:latin typeface="Noto Sans Symbols"/>
                <a:ea typeface="Noto Sans Symbols"/>
                <a:cs typeface="Noto Sans Symbols"/>
                <a:sym typeface="Noto Sans Symbols"/>
              </a:rPr>
              <a:t>   </a:t>
            </a:r>
            <a:r>
              <a:rPr lang="en-US" sz="335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335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i="1" lang="en-US" sz="3350"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US" sz="33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3350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35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i="1" lang="en-US" sz="3350"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baseline="30000" i="1" lang="en-US" sz="2925"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baseline="30000" i="1" lang="en-US" sz="3075">
                <a:latin typeface="Noto Sans Symbols"/>
                <a:ea typeface="Noto Sans Symbols"/>
                <a:cs typeface="Noto Sans Symbols"/>
                <a:sym typeface="Noto Sans Symbols"/>
              </a:rPr>
              <a:t>ϕ</a:t>
            </a:r>
            <a:r>
              <a:rPr baseline="30000" lang="en-US" sz="307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aseline="30000" lang="en-US" sz="2925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aseline="30000" i="1" lang="en-US" sz="2925">
                <a:latin typeface="Times New Roman"/>
                <a:ea typeface="Times New Roman"/>
                <a:cs typeface="Times New Roman"/>
                <a:sym typeface="Times New Roman"/>
              </a:rPr>
              <a:t>u </a:t>
            </a:r>
            <a:r>
              <a:rPr baseline="30000" lang="en-US" sz="2925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aseline="30000" sz="292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5080" rtl="0" algn="ctr">
              <a:lnSpc>
                <a:spcPct val="100000"/>
              </a:lnSpc>
              <a:spcBef>
                <a:spcPts val="2535"/>
              </a:spcBef>
              <a:spcAft>
                <a:spcPts val="0"/>
              </a:spcAft>
              <a:buNone/>
            </a:pPr>
            <a:r>
              <a:rPr i="1" lang="en-US" sz="335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i="1" lang="en-US" sz="335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33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3350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35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335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3350">
                <a:latin typeface="Times New Roman"/>
                <a:ea typeface="Times New Roman"/>
                <a:cs typeface="Times New Roman"/>
                <a:sym typeface="Times New Roman"/>
              </a:rPr>
              <a:t>	 </a:t>
            </a:r>
            <a:r>
              <a:rPr i="1" lang="en-US" sz="335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US" sz="2925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US" sz="33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3350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35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3350"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33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3350"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baseline="30000" lang="en-US" sz="2925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US" sz="33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3350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35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3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5" name="Google Shape;385;p28"/>
          <p:cNvSpPr txBox="1"/>
          <p:nvPr/>
        </p:nvSpPr>
        <p:spPr>
          <a:xfrm>
            <a:off x="2536847" y="1006175"/>
            <a:ext cx="5052000" cy="5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350"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US" sz="33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3350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35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335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33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335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33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3350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35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3350"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33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3350">
                <a:latin typeface="Times New Roman"/>
                <a:ea typeface="Times New Roman"/>
                <a:cs typeface="Times New Roman"/>
                <a:sym typeface="Times New Roman"/>
              </a:rPr>
              <a:t>jI </a:t>
            </a:r>
            <a:r>
              <a:rPr lang="en-US" sz="33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3350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335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33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6" name="Google Shape;386;p28"/>
          <p:cNvSpPr txBox="1"/>
          <p:nvPr/>
        </p:nvSpPr>
        <p:spPr>
          <a:xfrm>
            <a:off x="457962" y="4889753"/>
            <a:ext cx="8382000" cy="1447800"/>
          </a:xfrm>
          <a:prstGeom prst="rect">
            <a:avLst/>
          </a:prstGeom>
          <a:noFill/>
          <a:ln cap="flat" cmpd="sng" w="25400">
            <a:solidFill>
              <a:srgbClr val="C05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1575">
            <a:spAutoFit/>
          </a:bodyPr>
          <a:lstStyle/>
          <a:p>
            <a:pPr indent="-342899" lvl="0" marL="43306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i="1" lang="en-US" sz="32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|F(u)| </a:t>
            </a:r>
            <a:r>
              <a:rPr lang="en-US" sz="3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is called the </a:t>
            </a:r>
            <a:r>
              <a:rPr lang="en-US" sz="3200" u="sng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magnitude spectrum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-342899" lvl="0" marL="433069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i="1" lang="en-US" sz="32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φ(u) </a:t>
            </a:r>
            <a:r>
              <a:rPr lang="en-US" sz="3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is called the </a:t>
            </a:r>
            <a:r>
              <a:rPr lang="en-US" sz="3200" u="sng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phase spectrum (phase angle)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8"/>
          <p:cNvSpPr txBox="1"/>
          <p:nvPr/>
        </p:nvSpPr>
        <p:spPr>
          <a:xfrm>
            <a:off x="7683116" y="1535980"/>
            <a:ext cx="2088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1100">
            <a:spAutoFit/>
          </a:bodyPr>
          <a:lstStyle/>
          <a:p>
            <a:pPr indent="0" lvl="0" marL="431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0212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🡨</a:t>
            </a:r>
            <a:r>
              <a:rPr lang="en-US" sz="1800">
                <a:solidFill>
                  <a:srgbClr val="2021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1800">
                <a:solidFill>
                  <a:srgbClr val="202122"/>
                </a:solidFill>
                <a:latin typeface="Arial"/>
                <a:ea typeface="Arial"/>
                <a:cs typeface="Arial"/>
                <a:sym typeface="Arial"/>
              </a:rPr>
              <a:t>Euler's formula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459"/>
              </a:spcBef>
              <a:spcAft>
                <a:spcPts val="0"/>
              </a:spcAft>
              <a:buNone/>
            </a:pP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𝑒</a:t>
            </a:r>
            <a:r>
              <a:rPr baseline="30000" lang="en-US" sz="1950">
                <a:latin typeface="Cambria Math"/>
                <a:ea typeface="Cambria Math"/>
                <a:cs typeface="Cambria Math"/>
                <a:sym typeface="Cambria Math"/>
              </a:rPr>
              <a:t>𝑖𝜑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= cos 𝜑 + 𝑖 sin 𝜑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388" name="Google Shape;388;p28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9" name="Google Shape;389;p28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390" name="Google Shape;390;p2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1" name="Google Shape;391;p2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2" name="Google Shape;392;p28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9"/>
          <p:cNvSpPr/>
          <p:nvPr/>
        </p:nvSpPr>
        <p:spPr>
          <a:xfrm>
            <a:off x="2941668" y="2185892"/>
            <a:ext cx="0" cy="611505"/>
          </a:xfrm>
          <a:custGeom>
            <a:rect b="b" l="l" r="r" t="t"/>
            <a:pathLst>
              <a:path extrusionOk="0" h="611505" w="120000">
                <a:moveTo>
                  <a:pt x="0" y="0"/>
                </a:moveTo>
                <a:lnTo>
                  <a:pt x="0" y="611418"/>
                </a:lnTo>
              </a:path>
            </a:pathLst>
          </a:custGeom>
          <a:noFill/>
          <a:ln cap="flat" cmpd="sng" w="21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8" name="Google Shape;398;p29"/>
          <p:cNvSpPr/>
          <p:nvPr/>
        </p:nvSpPr>
        <p:spPr>
          <a:xfrm>
            <a:off x="4025574" y="2185892"/>
            <a:ext cx="0" cy="611505"/>
          </a:xfrm>
          <a:custGeom>
            <a:rect b="b" l="l" r="r" t="t"/>
            <a:pathLst>
              <a:path extrusionOk="0" h="611505" w="120000">
                <a:moveTo>
                  <a:pt x="0" y="0"/>
                </a:moveTo>
                <a:lnTo>
                  <a:pt x="0" y="611418"/>
                </a:lnTo>
              </a:path>
            </a:pathLst>
          </a:custGeom>
          <a:noFill/>
          <a:ln cap="flat" cmpd="sng" w="21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99" name="Google Shape;399;p29"/>
          <p:cNvSpPr/>
          <p:nvPr/>
        </p:nvSpPr>
        <p:spPr>
          <a:xfrm>
            <a:off x="7392847" y="4147304"/>
            <a:ext cx="0" cy="610235"/>
          </a:xfrm>
          <a:custGeom>
            <a:rect b="b" l="l" r="r" t="t"/>
            <a:pathLst>
              <a:path extrusionOk="0" h="610235" w="120000">
                <a:moveTo>
                  <a:pt x="0" y="0"/>
                </a:moveTo>
                <a:lnTo>
                  <a:pt x="0" y="610123"/>
                </a:lnTo>
              </a:path>
            </a:pathLst>
          </a:custGeom>
          <a:noFill/>
          <a:ln cap="flat" cmpd="sng" w="21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0" name="Google Shape;400;p29"/>
          <p:cNvSpPr/>
          <p:nvPr/>
        </p:nvSpPr>
        <p:spPr>
          <a:xfrm>
            <a:off x="8552943" y="4147304"/>
            <a:ext cx="0" cy="610235"/>
          </a:xfrm>
          <a:custGeom>
            <a:rect b="b" l="l" r="r" t="t"/>
            <a:pathLst>
              <a:path extrusionOk="0" h="610235" w="120000">
                <a:moveTo>
                  <a:pt x="0" y="0"/>
                </a:moveTo>
                <a:lnTo>
                  <a:pt x="0" y="610123"/>
                </a:lnTo>
              </a:path>
            </a:pathLst>
          </a:custGeom>
          <a:noFill/>
          <a:ln cap="flat" cmpd="sng" w="212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1" name="Google Shape;401;p29"/>
          <p:cNvSpPr txBox="1"/>
          <p:nvPr/>
        </p:nvSpPr>
        <p:spPr>
          <a:xfrm>
            <a:off x="304800" y="1127375"/>
            <a:ext cx="117036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5425">
            <a:spAutoFit/>
          </a:bodyPr>
          <a:lstStyle/>
          <a:p>
            <a:pPr indent="-342265" lvl="0" marL="4057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Power Spectrum or </a:t>
            </a:r>
            <a:r>
              <a:rPr lang="en-US" sz="36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Spectral Density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0" lvl="0" marL="748665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1" lang="en-US" sz="40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i="1" lang="en-US" sz="4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4000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400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i="1" lang="en-US" sz="40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4000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baseline="30000" lang="en-US" sz="3525">
                <a:latin typeface="Times New Roman"/>
                <a:ea typeface="Times New Roman"/>
                <a:cs typeface="Times New Roman"/>
                <a:sym typeface="Times New Roman"/>
              </a:rPr>
              <a:t>2	</a:t>
            </a:r>
            <a:r>
              <a:rPr lang="en-US" sz="400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4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US" sz="3525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4000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4000"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4000"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baseline="30000" lang="en-US" sz="3525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4000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06400" marR="8305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Calibri"/>
                <a:ea typeface="Calibri"/>
                <a:cs typeface="Calibri"/>
                <a:sym typeface="Calibri"/>
              </a:rPr>
              <a:t>For display, we can use following formulation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  <a:p>
            <a:pPr indent="0" lvl="0" marL="64135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40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4000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400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40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i="1" lang="en-US" sz="4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log</a:t>
            </a:r>
            <a:r>
              <a:rPr lang="en-US" sz="6000">
                <a:latin typeface="Noto Sans Symbols"/>
                <a:ea typeface="Noto Sans Symbols"/>
                <a:cs typeface="Noto Sans Symbols"/>
                <a:sym typeface="Noto Sans Symbols"/>
              </a:rPr>
              <a:t>(</a:t>
            </a: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4000"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4000"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4000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6000">
                <a:latin typeface="Noto Sans Symbols"/>
                <a:ea typeface="Noto Sans Symbols"/>
                <a:cs typeface="Noto Sans Symbols"/>
                <a:sym typeface="Noto Sans Symbols"/>
              </a:rPr>
              <a:t>)</a:t>
            </a:r>
            <a:endParaRPr sz="60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402" name="Google Shape;402;p29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3" name="Google Shape;403;p29"/>
          <p:cNvSpPr txBox="1"/>
          <p:nvPr>
            <p:ph idx="4294967295" type="ftr"/>
          </p:nvPr>
        </p:nvSpPr>
        <p:spPr>
          <a:xfrm>
            <a:off x="4398753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404" name="Google Shape;404;p2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5" name="Google Shape;405;p29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rgbClr val="FF0000"/>
                </a:solidFill>
              </a:rPr>
              <a:t>Magnitude and Phase</a:t>
            </a:r>
            <a:endParaRPr/>
          </a:p>
        </p:txBody>
      </p:sp>
      <p:sp>
        <p:nvSpPr>
          <p:cNvPr id="406" name="Google Shape;406;p29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0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2" name="Google Shape;412;p30"/>
          <p:cNvSpPr txBox="1"/>
          <p:nvPr>
            <p:ph idx="4294967295" type="ftr"/>
          </p:nvPr>
        </p:nvSpPr>
        <p:spPr>
          <a:xfrm>
            <a:off x="4398753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413" name="Google Shape;413;p3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4" name="Google Shape;414;p30"/>
          <p:cNvSpPr txBox="1"/>
          <p:nvPr/>
        </p:nvSpPr>
        <p:spPr>
          <a:xfrm>
            <a:off x="2945850" y="2874900"/>
            <a:ext cx="630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End</a:t>
            </a:r>
            <a:endParaRPr b="1" sz="60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1"/>
          <p:cNvSpPr txBox="1"/>
          <p:nvPr>
            <p:ph idx="4294967295" type="title"/>
          </p:nvPr>
        </p:nvSpPr>
        <p:spPr>
          <a:xfrm>
            <a:off x="0" y="2280000"/>
            <a:ext cx="12192000" cy="22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9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latin typeface="Bell MT"/>
                <a:ea typeface="Bell MT"/>
                <a:cs typeface="Bell MT"/>
                <a:sym typeface="Bell MT"/>
              </a:rPr>
              <a:t>Fourier	Transform</a:t>
            </a:r>
            <a:endParaRPr sz="6000">
              <a:latin typeface="Bell MT"/>
              <a:ea typeface="Bell MT"/>
              <a:cs typeface="Bell MT"/>
              <a:sym typeface="Bell MT"/>
            </a:endParaRPr>
          </a:p>
          <a:p>
            <a:pPr indent="0" lvl="0" marL="0" rtl="0" algn="ctr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B05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B050"/>
                </a:solidFill>
              </a:rPr>
              <a:t>Part - 2</a:t>
            </a:r>
            <a:endParaRPr/>
          </a:p>
        </p:txBody>
      </p:sp>
      <p:sp>
        <p:nvSpPr>
          <p:cNvPr id="420" name="Google Shape;420;p31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1" name="Google Shape;421;p31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422" name="Google Shape;422;p3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3" name="Google Shape;423;p3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2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58ED5"/>
                </a:solidFill>
              </a:rPr>
              <a:t>Quick Review </a:t>
            </a:r>
            <a:r>
              <a:rPr lang="en-US"/>
              <a:t>of	the Last Class</a:t>
            </a:r>
            <a:endParaRPr/>
          </a:p>
        </p:txBody>
      </p:sp>
      <p:sp>
        <p:nvSpPr>
          <p:cNvPr id="429" name="Google Shape;429;p32"/>
          <p:cNvSpPr txBox="1"/>
          <p:nvPr/>
        </p:nvSpPr>
        <p:spPr>
          <a:xfrm>
            <a:off x="525028" y="1056125"/>
            <a:ext cx="9382800" cy="43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622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Fourier Series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197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Fourier Transform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1964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Notion of	(with respect to images)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1914"/>
              </a:spcBef>
              <a:spcAft>
                <a:spcPts val="0"/>
              </a:spcAft>
              <a:buClr>
                <a:srgbClr val="376092"/>
              </a:buClr>
              <a:buSzPts val="2800"/>
              <a:buFont typeface="Arial"/>
              <a:buChar char="–"/>
            </a:pPr>
            <a:r>
              <a:rPr i="1" lang="en-US" sz="2800">
                <a:solidFill>
                  <a:srgbClr val="376092"/>
                </a:solidFill>
                <a:latin typeface="Bell MT"/>
                <a:ea typeface="Bell MT"/>
                <a:cs typeface="Bell MT"/>
                <a:sym typeface="Bell MT"/>
              </a:rPr>
              <a:t>Low frequency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1870"/>
              </a:spcBef>
              <a:spcAft>
                <a:spcPts val="0"/>
              </a:spcAft>
              <a:buClr>
                <a:srgbClr val="376092"/>
              </a:buClr>
              <a:buSzPts val="2800"/>
              <a:buFont typeface="Arial"/>
              <a:buChar char="–"/>
            </a:pPr>
            <a:r>
              <a:rPr i="1" lang="en-US" sz="2800">
                <a:solidFill>
                  <a:srgbClr val="376092"/>
                </a:solidFill>
                <a:latin typeface="Bell MT"/>
                <a:ea typeface="Bell MT"/>
                <a:cs typeface="Bell MT"/>
                <a:sym typeface="Bell MT"/>
              </a:rPr>
              <a:t>High frequency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193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Fourier Transform: 2-D Case (Continuous)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30" name="Google Shape;430;p32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1" name="Google Shape;431;p32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432" name="Google Shape;432;p3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3" name="Google Shape;433;p3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4" name="Google Shape;434;p32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0944" y="3472007"/>
            <a:ext cx="6486647" cy="193535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33"/>
          <p:cNvSpPr txBox="1"/>
          <p:nvPr>
            <p:ph idx="4294967295" type="title"/>
          </p:nvPr>
        </p:nvSpPr>
        <p:spPr>
          <a:xfrm>
            <a:off x="0" y="153150"/>
            <a:ext cx="12192000" cy="5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3375">
            <a:spAutoFit/>
          </a:bodyPr>
          <a:lstStyle/>
          <a:p>
            <a:pPr indent="0" lvl="0" marL="29876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</a:rPr>
              <a:t>Time (Space) Domain </a:t>
            </a:r>
            <a:r>
              <a:rPr b="1" i="1" lang="en-US" sz="32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Vs. </a:t>
            </a:r>
            <a:r>
              <a:rPr lang="en-US" sz="3200">
                <a:solidFill>
                  <a:srgbClr val="C00000"/>
                </a:solidFill>
              </a:rPr>
              <a:t>Frequency Domain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1" name="Google Shape;441;p33"/>
          <p:cNvSpPr txBox="1"/>
          <p:nvPr/>
        </p:nvSpPr>
        <p:spPr>
          <a:xfrm>
            <a:off x="154956" y="5749325"/>
            <a:ext cx="117327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925">
            <a:spAutoFit/>
          </a:bodyPr>
          <a:lstStyle/>
          <a:p>
            <a:pPr indent="0" lvl="0" marL="24491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030A0"/>
                </a:solidFill>
                <a:latin typeface="Bell MT"/>
                <a:ea typeface="Bell MT"/>
                <a:cs typeface="Bell MT"/>
                <a:sym typeface="Bell MT"/>
              </a:rPr>
              <a:t>Fourier composition of a square wave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  <a:p>
            <a:pPr indent="0" lvl="0" marL="12700" marR="5080" rtl="0" algn="l">
              <a:lnSpc>
                <a:spcPct val="115555"/>
              </a:lnSpc>
              <a:spcBef>
                <a:spcPts val="415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Top Image: Fourier composition of a square wave. </a:t>
            </a:r>
            <a:r>
              <a:rPr i="1" lang="en-US" sz="13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(Courtesy of Dr. Dan Russell, Grad. Prog. Acoustics, Penn State). Taken from https://</a:t>
            </a:r>
            <a:r>
              <a:rPr i="1" lang="en-US" sz="1300" u="sng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www.linkedin.com/feed/</a:t>
            </a:r>
            <a:endParaRPr sz="13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42" name="Google Shape;442;p33"/>
          <p:cNvSpPr txBox="1"/>
          <p:nvPr/>
        </p:nvSpPr>
        <p:spPr>
          <a:xfrm>
            <a:off x="1676834" y="5363447"/>
            <a:ext cx="20499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alibri"/>
                <a:ea typeface="Calibri"/>
                <a:cs typeface="Calibri"/>
                <a:sym typeface="Calibri"/>
              </a:rPr>
              <a:t>Time (spatial) domain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3"/>
          <p:cNvSpPr txBox="1"/>
          <p:nvPr/>
        </p:nvSpPr>
        <p:spPr>
          <a:xfrm>
            <a:off x="5544746" y="5275665"/>
            <a:ext cx="25419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alibri"/>
                <a:ea typeface="Calibri"/>
                <a:cs typeface="Calibri"/>
                <a:sym typeface="Calibri"/>
              </a:rPr>
              <a:t>Fourier (frequency) domain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4" name="Google Shape;444;p33"/>
          <p:cNvGrpSpPr/>
          <p:nvPr/>
        </p:nvGrpSpPr>
        <p:grpSpPr>
          <a:xfrm>
            <a:off x="251450" y="996678"/>
            <a:ext cx="9042881" cy="2682729"/>
            <a:chOff x="251450" y="996678"/>
            <a:chExt cx="9042881" cy="2682729"/>
          </a:xfrm>
        </p:grpSpPr>
        <p:pic>
          <p:nvPicPr>
            <p:cNvPr id="445" name="Google Shape;445;p3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51450" y="996678"/>
              <a:ext cx="1978161" cy="15742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6" name="Google Shape;446;p3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773636" y="1160236"/>
              <a:ext cx="2520695" cy="251917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7" name="Google Shape;447;p33"/>
          <p:cNvSpPr txBox="1"/>
          <p:nvPr/>
        </p:nvSpPr>
        <p:spPr>
          <a:xfrm>
            <a:off x="459754" y="2619125"/>
            <a:ext cx="1716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682EEA"/>
                </a:solidFill>
                <a:latin typeface="Bell MT"/>
                <a:ea typeface="Bell MT"/>
                <a:cs typeface="Bell MT"/>
                <a:sym typeface="Bell MT"/>
              </a:rPr>
              <a:t>Square wave (blue curve)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48" name="Google Shape;448;p33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9" name="Google Shape;449;p33"/>
          <p:cNvSpPr txBox="1"/>
          <p:nvPr>
            <p:ph idx="11" type="ftr"/>
          </p:nvPr>
        </p:nvSpPr>
        <p:spPr>
          <a:xfrm>
            <a:off x="4398740" y="65478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450" name="Google Shape;450;p3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1" name="Google Shape;451;p3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2" name="Google Shape;452;p33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453" name="Google Shape;453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46650" y="1095100"/>
            <a:ext cx="3603676" cy="223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4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Agenda for Today’s Class</a:t>
            </a:r>
            <a:endParaRPr/>
          </a:p>
        </p:txBody>
      </p:sp>
      <p:sp>
        <p:nvSpPr>
          <p:cNvPr id="459" name="Google Shape;459;p34"/>
          <p:cNvSpPr txBox="1"/>
          <p:nvPr/>
        </p:nvSpPr>
        <p:spPr>
          <a:xfrm>
            <a:off x="447355" y="1537825"/>
            <a:ext cx="11057400" cy="28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Fourier Transform: </a:t>
            </a:r>
            <a:r>
              <a:rPr lang="en-US" sz="32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2-D Case (Continuous)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537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Discrete Fourier Transform: </a:t>
            </a:r>
            <a:r>
              <a:rPr lang="en-US" sz="32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1-D Case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537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Discrete Fourier Transform: </a:t>
            </a:r>
            <a:r>
              <a:rPr lang="en-US" sz="32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2-D Case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60" name="Google Shape;460;p34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61" name="Google Shape;461;p34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462" name="Google Shape;462;p3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3" name="Google Shape;463;p3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4" name="Google Shape;464;p34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5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Fourier Transform: 2-D Case</a:t>
            </a:r>
            <a:endParaRPr/>
          </a:p>
        </p:txBody>
      </p:sp>
      <p:sp>
        <p:nvSpPr>
          <p:cNvPr id="470" name="Google Shape;470;p35"/>
          <p:cNvSpPr txBox="1"/>
          <p:nvPr/>
        </p:nvSpPr>
        <p:spPr>
          <a:xfrm>
            <a:off x="535956" y="1088600"/>
            <a:ext cx="11307900" cy="14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46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b="1" lang="en-US" sz="4000">
                <a:latin typeface="Bell MT"/>
                <a:ea typeface="Bell MT"/>
                <a:cs typeface="Bell MT"/>
                <a:sym typeface="Bell MT"/>
              </a:rPr>
              <a:t>Fourier Transform: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-287019" lvl="0" marL="756285" marR="508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None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If </a:t>
            </a:r>
            <a:r>
              <a:rPr i="1"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f(x,y) </a:t>
            </a:r>
            <a:r>
              <a:rPr i="1" lang="en-US" sz="3600">
                <a:latin typeface="Bell MT"/>
                <a:ea typeface="Bell MT"/>
                <a:cs typeface="Bell MT"/>
                <a:sym typeface="Bell MT"/>
              </a:rPr>
              <a:t>is a 2D function, its </a:t>
            </a: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Fourier transform is given by: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71" name="Google Shape;471;p35"/>
          <p:cNvSpPr txBox="1"/>
          <p:nvPr/>
        </p:nvSpPr>
        <p:spPr>
          <a:xfrm>
            <a:off x="535951" y="4963700"/>
            <a:ext cx="11439000" cy="1123500"/>
          </a:xfrm>
          <a:prstGeom prst="rect">
            <a:avLst/>
          </a:prstGeom>
          <a:noFill/>
          <a:ln cap="flat" cmpd="sng" w="25400">
            <a:solidFill>
              <a:srgbClr val="C05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90170" marR="1936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6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f(x, y) is a 2D function and, for example, it can be	 the </a:t>
            </a:r>
            <a:r>
              <a:rPr i="1" lang="en-US" sz="3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brightness in an image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35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73" name="Google Shape;473;p35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474" name="Google Shape;474;p3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5" name="Google Shape;475;p3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6" name="Google Shape;476;p35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477" name="Google Shape;47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7825" y="2885688"/>
            <a:ext cx="8896350" cy="169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6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Fourier Transform: 2-D Case</a:t>
            </a:r>
            <a:endParaRPr/>
          </a:p>
        </p:txBody>
      </p:sp>
      <p:sp>
        <p:nvSpPr>
          <p:cNvPr id="483" name="Google Shape;483;p36"/>
          <p:cNvSpPr txBox="1"/>
          <p:nvPr/>
        </p:nvSpPr>
        <p:spPr>
          <a:xfrm>
            <a:off x="535958" y="936200"/>
            <a:ext cx="11034300" cy="14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46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b="1" lang="en-US" sz="4000">
                <a:latin typeface="Bell MT"/>
                <a:ea typeface="Bell MT"/>
                <a:cs typeface="Bell MT"/>
                <a:sym typeface="Bell MT"/>
              </a:rPr>
              <a:t>Inverse Fourier transform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None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It is given as follows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84" name="Google Shape;484;p36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85" name="Google Shape;485;p36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486" name="Google Shape;486;p3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7" name="Google Shape;487;p3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8" name="Google Shape;488;p36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489" name="Google Shape;48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9175" y="2622025"/>
            <a:ext cx="8513649" cy="2285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7"/>
          <p:cNvSpPr txBox="1"/>
          <p:nvPr>
            <p:ph idx="4294967295" type="title"/>
          </p:nvPr>
        </p:nvSpPr>
        <p:spPr>
          <a:xfrm>
            <a:off x="0" y="3083700"/>
            <a:ext cx="12192000" cy="6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Discrete Fourier Transform</a:t>
            </a:r>
            <a:endParaRPr sz="4400"/>
          </a:p>
        </p:txBody>
      </p:sp>
      <p:sp>
        <p:nvSpPr>
          <p:cNvPr id="495" name="Google Shape;495;p37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96" name="Google Shape;496;p37"/>
          <p:cNvSpPr txBox="1"/>
          <p:nvPr>
            <p:ph idx="4294967295" type="ftr"/>
          </p:nvPr>
        </p:nvSpPr>
        <p:spPr>
          <a:xfrm>
            <a:off x="4398753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497" name="Google Shape;497;p3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8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Discrete Fourier Transform: 1-D Case</a:t>
            </a:r>
            <a:endParaRPr/>
          </a:p>
        </p:txBody>
      </p:sp>
      <p:sp>
        <p:nvSpPr>
          <p:cNvPr id="503" name="Google Shape;503;p38"/>
          <p:cNvSpPr txBox="1"/>
          <p:nvPr/>
        </p:nvSpPr>
        <p:spPr>
          <a:xfrm>
            <a:off x="535954" y="1157225"/>
            <a:ext cx="11274900" cy="43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98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Images are </a:t>
            </a: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discrete sequence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of numbers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5600" marR="1095375" rtl="0" algn="l">
              <a:lnSpc>
                <a:spcPct val="100299"/>
              </a:lnSpc>
              <a:spcBef>
                <a:spcPts val="75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Thus, we need a </a:t>
            </a:r>
            <a:r>
              <a:rPr i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discrete formulation of the Fourier transform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DFT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B0F0"/>
              </a:buClr>
              <a:buSzPts val="2800"/>
              <a:buFont typeface="Arial"/>
              <a:buChar char="–"/>
            </a:pPr>
            <a:r>
              <a:rPr i="1" lang="en-US" sz="28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Input: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takes regularly spaced data values,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4380" marR="67310" rtl="0" algn="l">
              <a:lnSpc>
                <a:spcPct val="99800"/>
              </a:lnSpc>
              <a:spcBef>
                <a:spcPts val="680"/>
              </a:spcBef>
              <a:spcAft>
                <a:spcPts val="0"/>
              </a:spcAft>
              <a:buClr>
                <a:srgbClr val="00B0F0"/>
              </a:buClr>
              <a:buSzPts val="2800"/>
              <a:buFont typeface="Arial"/>
              <a:buChar char="–"/>
            </a:pPr>
            <a:r>
              <a:rPr i="1" lang="en-US" sz="28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Output</a:t>
            </a:r>
            <a:r>
              <a:rPr lang="en-US" sz="28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: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it returns the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value of	the Fourier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 	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transform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 (a set of	values in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frequency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 space which 	are equally spaced)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5600" marR="5080" rtl="0" algn="l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Replacing the integration by summation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quite naturally gives the </a:t>
            </a:r>
            <a:r>
              <a:rPr i="1" lang="en-US" sz="3200" u="none">
                <a:latin typeface="Bell MT"/>
                <a:ea typeface="Bell MT"/>
                <a:cs typeface="Bell MT"/>
                <a:sym typeface="Bell MT"/>
              </a:rPr>
              <a:t>discrete Fourier transform </a:t>
            </a:r>
            <a:r>
              <a:rPr i="1" lang="en-US" sz="2000" u="none">
                <a:latin typeface="Bell MT"/>
                <a:ea typeface="Bell MT"/>
                <a:cs typeface="Bell MT"/>
                <a:sym typeface="Bell MT"/>
              </a:rPr>
              <a:t>(DFT)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04" name="Google Shape;504;p38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05" name="Google Shape;505;p38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506" name="Google Shape;506;p3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7" name="Google Shape;507;p3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8" name="Google Shape;508;p38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9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Discrete Fourier Transform: 1-D Case</a:t>
            </a:r>
            <a:endParaRPr/>
          </a:p>
        </p:txBody>
      </p:sp>
      <p:sp>
        <p:nvSpPr>
          <p:cNvPr id="514" name="Google Shape;514;p39"/>
          <p:cNvSpPr txBox="1"/>
          <p:nvPr/>
        </p:nvSpPr>
        <p:spPr>
          <a:xfrm>
            <a:off x="535954" y="867750"/>
            <a:ext cx="11318700" cy="24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Assume that </a:t>
            </a:r>
            <a:r>
              <a:rPr i="1" lang="en-US" sz="36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x </a:t>
            </a:r>
            <a:r>
              <a:rPr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takes values from </a:t>
            </a:r>
            <a:r>
              <a:rPr i="1" lang="en-US" sz="36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0 to N-1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287019" lvl="0" marL="756285" marR="5080" rtl="0" algn="l">
              <a:lnSpc>
                <a:spcPct val="100099"/>
              </a:lnSpc>
              <a:spcBef>
                <a:spcPts val="805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50505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3200">
                <a:solidFill>
                  <a:srgbClr val="050505"/>
                </a:solidFill>
                <a:latin typeface="Bell MT"/>
                <a:ea typeface="Bell MT"/>
                <a:cs typeface="Bell MT"/>
                <a:sym typeface="Bell MT"/>
              </a:rPr>
              <a:t>In 1-D it is convenient now to assume that </a:t>
            </a:r>
            <a:r>
              <a:rPr i="1" lang="en-US" sz="3200">
                <a:solidFill>
                  <a:srgbClr val="050505"/>
                </a:solidFill>
                <a:latin typeface="Bell MT"/>
                <a:ea typeface="Bell MT"/>
                <a:cs typeface="Bell MT"/>
                <a:sym typeface="Bell MT"/>
              </a:rPr>
              <a:t>x goes up in </a:t>
            </a:r>
            <a:r>
              <a:rPr i="1" lang="en-US" sz="3200" u="sng">
                <a:solidFill>
                  <a:srgbClr val="050505"/>
                </a:solidFill>
                <a:latin typeface="Bell MT"/>
                <a:ea typeface="Bell MT"/>
                <a:cs typeface="Bell MT"/>
                <a:sym typeface="Bell MT"/>
              </a:rPr>
              <a:t>steps of	1</a:t>
            </a:r>
            <a:r>
              <a:rPr i="1" lang="en-US" sz="3200" u="none">
                <a:solidFill>
                  <a:srgbClr val="050505"/>
                </a:solidFill>
                <a:latin typeface="Bell MT"/>
                <a:ea typeface="Bell MT"/>
                <a:cs typeface="Bell MT"/>
                <a:sym typeface="Bell MT"/>
              </a:rPr>
              <a:t>, </a:t>
            </a:r>
            <a:r>
              <a:rPr lang="en-US" sz="3200" u="none">
                <a:solidFill>
                  <a:srgbClr val="050505"/>
                </a:solidFill>
                <a:latin typeface="Bell MT"/>
                <a:ea typeface="Bell MT"/>
                <a:cs typeface="Bell MT"/>
                <a:sym typeface="Bell MT"/>
              </a:rPr>
              <a:t>and that there are </a:t>
            </a:r>
            <a:r>
              <a:rPr i="1" lang="en-US" sz="3200" u="none">
                <a:solidFill>
                  <a:srgbClr val="050505"/>
                </a:solidFill>
                <a:latin typeface="Bell MT"/>
                <a:ea typeface="Bell MT"/>
                <a:cs typeface="Bell MT"/>
                <a:sym typeface="Bell MT"/>
              </a:rPr>
              <a:t>N samples, at values of	x from 0 to N-1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So the DFT takes the form:</a:t>
            </a:r>
            <a:endParaRPr sz="175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515" name="Google Shape;515;p39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16" name="Google Shape;516;p39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517" name="Google Shape;517;p3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8" name="Google Shape;518;p3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9" name="Google Shape;519;p39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520" name="Google Shape;52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2888" y="3450450"/>
            <a:ext cx="9026235" cy="2831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0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Discrete Fourier Transform: 1-D Case</a:t>
            </a:r>
            <a:endParaRPr/>
          </a:p>
        </p:txBody>
      </p:sp>
      <p:sp>
        <p:nvSpPr>
          <p:cNvPr id="526" name="Google Shape;526;p40"/>
          <p:cNvSpPr txBox="1"/>
          <p:nvPr/>
        </p:nvSpPr>
        <p:spPr>
          <a:xfrm>
            <a:off x="535954" y="1163825"/>
            <a:ext cx="11110800" cy="17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725">
            <a:spAutoFit/>
          </a:bodyPr>
          <a:lstStyle/>
          <a:p>
            <a:pPr indent="-343535" lvl="0" marL="355600" marR="454658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▪"/>
            </a:pPr>
            <a:r>
              <a:rPr lang="en-US" sz="2500">
                <a:latin typeface="Bell MT"/>
                <a:ea typeface="Bell MT"/>
                <a:cs typeface="Bell MT"/>
                <a:sym typeface="Bell MT"/>
              </a:rPr>
              <a:t>NOTE the </a:t>
            </a:r>
            <a:r>
              <a:rPr lang="en-US" sz="2500" u="sng">
                <a:latin typeface="Bell MT"/>
                <a:ea typeface="Bell MT"/>
                <a:cs typeface="Bell MT"/>
                <a:sym typeface="Bell MT"/>
              </a:rPr>
              <a:t>minor changes</a:t>
            </a:r>
            <a:r>
              <a:rPr lang="en-US" sz="2500" u="none">
                <a:latin typeface="Bell MT"/>
                <a:ea typeface="Bell MT"/>
                <a:cs typeface="Bell MT"/>
                <a:sym typeface="Bell MT"/>
              </a:rPr>
              <a:t> from the continuous case to discrete case</a:t>
            </a:r>
            <a:endParaRPr sz="25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302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▪"/>
            </a:pPr>
            <a:r>
              <a:rPr lang="en-US" sz="25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1/N factor in DFT</a:t>
            </a:r>
            <a:endParaRPr sz="2500">
              <a:latin typeface="Bell MT"/>
              <a:ea typeface="Bell MT"/>
              <a:cs typeface="Bell MT"/>
              <a:sym typeface="Bell MT"/>
            </a:endParaRPr>
          </a:p>
          <a:p>
            <a:pPr indent="-287019" lvl="0" marL="756285" marR="508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–	</a:t>
            </a: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There is a factor of 1/</a:t>
            </a:r>
            <a:r>
              <a:rPr i="1" lang="en-US" sz="2000">
                <a:latin typeface="Bell MT"/>
                <a:ea typeface="Bell MT"/>
                <a:cs typeface="Bell MT"/>
                <a:sym typeface="Bell MT"/>
              </a:rPr>
              <a:t>N in the </a:t>
            </a: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exponential terms, and also the factor 1/</a:t>
            </a:r>
            <a:r>
              <a:rPr i="1" lang="en-US" sz="2000">
                <a:latin typeface="Bell MT"/>
                <a:ea typeface="Bell MT"/>
                <a:cs typeface="Bell MT"/>
                <a:sym typeface="Bell MT"/>
              </a:rPr>
              <a:t>N in front of the forward </a:t>
            </a: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transform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27" name="Google Shape;527;p40"/>
          <p:cNvSpPr txBox="1"/>
          <p:nvPr/>
        </p:nvSpPr>
        <p:spPr>
          <a:xfrm>
            <a:off x="535940" y="3451352"/>
            <a:ext cx="1422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▪</a:t>
            </a:r>
            <a:endParaRPr sz="20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528" name="Google Shape;528;p40"/>
          <p:cNvSpPr txBox="1"/>
          <p:nvPr/>
        </p:nvSpPr>
        <p:spPr>
          <a:xfrm>
            <a:off x="891572" y="3459475"/>
            <a:ext cx="599400" cy="3849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1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No</a:t>
            </a:r>
            <a:endParaRPr sz="25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29" name="Google Shape;529;p40"/>
          <p:cNvSpPr txBox="1"/>
          <p:nvPr/>
        </p:nvSpPr>
        <p:spPr>
          <a:xfrm>
            <a:off x="1575095" y="3466000"/>
            <a:ext cx="94536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1/N in </a:t>
            </a:r>
            <a:r>
              <a:rPr lang="en-US" sz="25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inverse DFT</a:t>
            </a:r>
            <a:r>
              <a:rPr lang="en-US" sz="25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in front of	expression:</a:t>
            </a:r>
            <a:endParaRPr sz="25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30" name="Google Shape;530;p40"/>
          <p:cNvSpPr txBox="1"/>
          <p:nvPr/>
        </p:nvSpPr>
        <p:spPr>
          <a:xfrm>
            <a:off x="535954" y="4000000"/>
            <a:ext cx="11023500" cy="15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4275">
            <a:spAutoFit/>
          </a:bodyPr>
          <a:lstStyle/>
          <a:p>
            <a:pPr indent="-287019" lvl="0" marL="756285" marR="50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–	</a:t>
            </a: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factor 1/</a:t>
            </a:r>
            <a:r>
              <a:rPr i="1" lang="en-US" sz="2000">
                <a:latin typeface="Bell MT"/>
                <a:ea typeface="Bell MT"/>
                <a:cs typeface="Bell MT"/>
                <a:sym typeface="Bell MT"/>
              </a:rPr>
              <a:t>N </a:t>
            </a: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in front of the forward transform does not appear in the </a:t>
            </a:r>
            <a:r>
              <a:rPr lang="en-US" sz="20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inverse transform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  <a:p>
            <a:pPr indent="-342264" lvl="0" marL="354965" rtl="0" algn="l">
              <a:lnSpc>
                <a:spcPct val="100000"/>
              </a:lnSpc>
              <a:spcBef>
                <a:spcPts val="2630"/>
              </a:spcBef>
              <a:spcAft>
                <a:spcPts val="0"/>
              </a:spcAft>
              <a:buClr>
                <a:srgbClr val="FF0000"/>
              </a:buClr>
              <a:buSzPts val="1750"/>
              <a:buFont typeface="Noto Sans Symbols"/>
              <a:buChar char="▪"/>
            </a:pPr>
            <a:r>
              <a:rPr b="1" lang="en-US" sz="2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Important Note:</a:t>
            </a:r>
            <a:endParaRPr sz="2200">
              <a:latin typeface="Bell MT"/>
              <a:ea typeface="Bell MT"/>
              <a:cs typeface="Bell MT"/>
              <a:sym typeface="Bell MT"/>
            </a:endParaRPr>
          </a:p>
          <a:p>
            <a:pPr indent="-287019" lvl="0" marL="756285" marR="85090" rtl="0" algn="l">
              <a:lnSpc>
                <a:spcPct val="80000"/>
              </a:lnSpc>
              <a:spcBef>
                <a:spcPts val="489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–	</a:t>
            </a:r>
            <a:r>
              <a:rPr b="1" lang="en-US" sz="20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Some authors include(1/N) factor before summation in </a:t>
            </a:r>
            <a:r>
              <a:rPr b="1" lang="en-US" sz="20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inverse</a:t>
            </a:r>
            <a:r>
              <a:rPr b="1" lang="en-US" sz="20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b="1" lang="en-US" sz="20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transform</a:t>
            </a:r>
            <a:r>
              <a:rPr b="1" lang="en-US" sz="20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b="1" lang="en-US" sz="2000" u="none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in place of including it in </a:t>
            </a:r>
            <a:r>
              <a:rPr b="1" lang="en-US" sz="20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forward transform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31" name="Google Shape;531;p40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32" name="Google Shape;532;p40"/>
          <p:cNvSpPr txBox="1"/>
          <p:nvPr>
            <p:ph idx="11" type="ftr"/>
          </p:nvPr>
        </p:nvSpPr>
        <p:spPr>
          <a:xfrm>
            <a:off x="4398740" y="65478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533" name="Google Shape;533;p4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4" name="Google Shape;534;p4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5" name="Google Shape;535;p40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1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00000"/>
                </a:solidFill>
              </a:rPr>
              <a:t>Discrete Fourier Transform </a:t>
            </a:r>
            <a:r>
              <a:rPr lang="en-US">
                <a:solidFill>
                  <a:srgbClr val="00B050"/>
                </a:solidFill>
              </a:rPr>
              <a:t>Pair</a:t>
            </a:r>
            <a:endParaRPr/>
          </a:p>
        </p:txBody>
      </p:sp>
      <p:sp>
        <p:nvSpPr>
          <p:cNvPr id="541" name="Google Shape;541;p41"/>
          <p:cNvSpPr txBox="1"/>
          <p:nvPr/>
        </p:nvSpPr>
        <p:spPr>
          <a:xfrm>
            <a:off x="352053" y="4092325"/>
            <a:ext cx="11487900" cy="20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7950">
            <a:spAutoFit/>
          </a:bodyPr>
          <a:lstStyle/>
          <a:p>
            <a:pPr indent="-342900" lvl="0" marL="513715" rtl="0" algn="l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i="1" lang="en-US" sz="3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F(u) </a:t>
            </a:r>
            <a:r>
              <a:rPr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and </a:t>
            </a:r>
            <a:r>
              <a:rPr i="1" lang="en-US" sz="3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f(x) </a:t>
            </a:r>
            <a:r>
              <a:rPr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makes discrete </a:t>
            </a:r>
            <a:r>
              <a:rPr lang="en-US" sz="30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Fourier transform pair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513715" marR="238125" rtl="0" algn="l">
              <a:lnSpc>
                <a:spcPct val="96000"/>
              </a:lnSpc>
              <a:spcBef>
                <a:spcPts val="4295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This means, substitution of	the value of	</a:t>
            </a:r>
            <a:r>
              <a:rPr i="1" lang="en-US" sz="3000">
                <a:latin typeface="Times New Roman"/>
                <a:ea typeface="Times New Roman"/>
                <a:cs typeface="Times New Roman"/>
                <a:sym typeface="Times New Roman"/>
              </a:rPr>
              <a:t>f(x) </a:t>
            </a: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from second equation into the first equation gives </a:t>
            </a:r>
            <a:r>
              <a:rPr lang="en-US" sz="30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identity </a:t>
            </a:r>
            <a:r>
              <a:rPr i="1" lang="en-US" sz="30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F(u) </a:t>
            </a:r>
            <a:r>
              <a:rPr i="1" lang="en-US" sz="3150">
                <a:solidFill>
                  <a:srgbClr val="00B05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≡</a:t>
            </a:r>
            <a:r>
              <a:rPr lang="en-US" sz="315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30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F(u)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42" name="Google Shape;542;p41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43" name="Google Shape;543;p41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544" name="Google Shape;544;p4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5" name="Google Shape;545;p4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6" name="Google Shape;546;p41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547" name="Google Shape;54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4525" y="1169650"/>
            <a:ext cx="8762950" cy="292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2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00000"/>
                </a:solidFill>
              </a:rPr>
              <a:t>Discrete Fourier Transform </a:t>
            </a:r>
            <a:r>
              <a:rPr lang="en-US">
                <a:solidFill>
                  <a:srgbClr val="00B050"/>
                </a:solidFill>
              </a:rPr>
              <a:t>Pair</a:t>
            </a:r>
            <a:endParaRPr/>
          </a:p>
        </p:txBody>
      </p:sp>
      <p:sp>
        <p:nvSpPr>
          <p:cNvPr id="553" name="Google Shape;553;p42"/>
          <p:cNvSpPr/>
          <p:nvPr/>
        </p:nvSpPr>
        <p:spPr>
          <a:xfrm>
            <a:off x="0" y="6434153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54" name="Google Shape;554;p42"/>
          <p:cNvSpPr txBox="1"/>
          <p:nvPr>
            <p:ph idx="11" type="ftr"/>
          </p:nvPr>
        </p:nvSpPr>
        <p:spPr>
          <a:xfrm>
            <a:off x="4398740" y="65781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555" name="Google Shape;555;p4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6" name="Google Shape;556;p4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7" name="Google Shape;557;p42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558" name="Google Shape;55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1088" y="1030600"/>
            <a:ext cx="9009829" cy="534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3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Discrete Fourier Transform: 2-D Case</a:t>
            </a:r>
            <a:endParaRPr/>
          </a:p>
        </p:txBody>
      </p:sp>
      <p:sp>
        <p:nvSpPr>
          <p:cNvPr id="564" name="Google Shape;564;p43"/>
          <p:cNvSpPr txBox="1"/>
          <p:nvPr/>
        </p:nvSpPr>
        <p:spPr>
          <a:xfrm>
            <a:off x="535954" y="1058675"/>
            <a:ext cx="11143800" cy="12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The 2-D DFT works in a similar way as 1-D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For an </a:t>
            </a:r>
            <a:r>
              <a:rPr i="1" lang="en-US" sz="36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N × M </a:t>
            </a: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grid in </a:t>
            </a:r>
            <a:r>
              <a:rPr i="1" lang="en-US" sz="3600">
                <a:latin typeface="Bell MT"/>
                <a:ea typeface="Bell MT"/>
                <a:cs typeface="Bell MT"/>
                <a:sym typeface="Bell MT"/>
              </a:rPr>
              <a:t>x and y, </a:t>
            </a: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we have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65" name="Google Shape;565;p43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66" name="Google Shape;566;p43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567" name="Google Shape;567;p4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8" name="Google Shape;568;p4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9" name="Google Shape;569;p43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570" name="Google Shape;57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6125" y="2443175"/>
            <a:ext cx="9839743" cy="3838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44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Discrete Fourier Transform: 2-D Case</a:t>
            </a:r>
            <a:endParaRPr/>
          </a:p>
        </p:txBody>
      </p:sp>
      <p:sp>
        <p:nvSpPr>
          <p:cNvPr id="576" name="Google Shape;576;p44"/>
          <p:cNvSpPr txBox="1"/>
          <p:nvPr/>
        </p:nvSpPr>
        <p:spPr>
          <a:xfrm>
            <a:off x="304800" y="987050"/>
            <a:ext cx="11887200" cy="21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-343535" lvl="0" marL="355600" marR="140716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When image size is 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N </a:t>
            </a:r>
            <a:r>
              <a:rPr i="1"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× 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N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, this makes a special case </a:t>
            </a:r>
            <a:r>
              <a:rPr lang="en-US" sz="3200">
                <a:solidFill>
                  <a:srgbClr val="C0504D"/>
                </a:solidFill>
                <a:latin typeface="Bell MT"/>
                <a:ea typeface="Bell MT"/>
                <a:cs typeface="Bell MT"/>
                <a:sym typeface="Bell MT"/>
              </a:rPr>
              <a:t>of	</a:t>
            </a:r>
            <a:r>
              <a:rPr i="1" lang="en-US" sz="3200">
                <a:latin typeface="Times New Roman"/>
                <a:ea typeface="Times New Roman"/>
                <a:cs typeface="Times New Roman"/>
                <a:sym typeface="Times New Roman"/>
              </a:rPr>
              <a:t>f(x,y)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Use N = M to get new formulation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4965" marR="2106930" rtl="0" algn="l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This makes the </a:t>
            </a:r>
            <a:r>
              <a:rPr lang="en-US" sz="3200" u="sng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forward and inverse</a:t>
            </a:r>
            <a:r>
              <a:rPr lang="en-US" sz="3200" u="none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sng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transforms</a:t>
            </a:r>
            <a:r>
              <a:rPr lang="en-US" sz="3200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none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look</a:t>
            </a:r>
            <a:r>
              <a:rPr lang="en-US" sz="3200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none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more </a:t>
            </a:r>
            <a:r>
              <a:rPr lang="en-US" sz="3200" u="sng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symmetrical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77" name="Google Shape;577;p44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78" name="Google Shape;578;p44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579" name="Google Shape;579;p4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0" name="Google Shape;580;p4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1" name="Google Shape;581;p44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582" name="Google Shape;58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7488" y="3240950"/>
            <a:ext cx="10317035" cy="3040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5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Discrete Fourier Transform: 2-D Case</a:t>
            </a:r>
            <a:endParaRPr/>
          </a:p>
        </p:txBody>
      </p:sp>
      <p:sp>
        <p:nvSpPr>
          <p:cNvPr id="588" name="Google Shape;588;p45"/>
          <p:cNvSpPr txBox="1"/>
          <p:nvPr/>
        </p:nvSpPr>
        <p:spPr>
          <a:xfrm>
            <a:off x="228604" y="1304600"/>
            <a:ext cx="10892100" cy="38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3535" lvl="0" marL="355600" marR="1549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The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basis functions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are </a:t>
            </a:r>
            <a:r>
              <a:rPr i="1" lang="en-US" sz="32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sine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and </a:t>
            </a:r>
            <a:r>
              <a:rPr i="1" lang="en-US" sz="32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cosine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waves with increasing frequencies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4965" marR="218440" rtl="0" algn="l">
              <a:lnSpc>
                <a:spcPct val="100000"/>
              </a:lnSpc>
              <a:spcBef>
                <a:spcPts val="537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i="1" lang="en-US" sz="3200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F(0,0)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represents the DC-component of	the image which corresponds to the </a:t>
            </a:r>
            <a:r>
              <a:rPr lang="en-US" sz="3200" u="sng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average</a:t>
            </a:r>
            <a:r>
              <a:rPr lang="en-US" sz="3200" u="none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sng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brightness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537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i="1" lang="en-US" sz="3200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F(N-1,N-1) </a:t>
            </a:r>
            <a:r>
              <a:rPr lang="en-US" sz="3200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represents the highest frequency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89" name="Google Shape;589;p45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90" name="Google Shape;590;p45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591" name="Google Shape;591;p4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2" name="Google Shape;592;p4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3" name="Google Shape;593;p45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6"/>
          <p:cNvSpPr txBox="1"/>
          <p:nvPr>
            <p:ph idx="4294967295" type="title"/>
          </p:nvPr>
        </p:nvSpPr>
        <p:spPr>
          <a:xfrm>
            <a:off x="0" y="147125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00000"/>
                </a:solidFill>
              </a:rPr>
              <a:t>Visualization of DFT</a:t>
            </a:r>
            <a:endParaRPr/>
          </a:p>
        </p:txBody>
      </p:sp>
      <p:sp>
        <p:nvSpPr>
          <p:cNvPr id="599" name="Google Shape;599;p46"/>
          <p:cNvSpPr txBox="1"/>
          <p:nvPr/>
        </p:nvSpPr>
        <p:spPr>
          <a:xfrm>
            <a:off x="228604" y="1254425"/>
            <a:ext cx="11384400" cy="40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925">
            <a:spAutoFit/>
          </a:bodyPr>
          <a:lstStyle/>
          <a:p>
            <a:pPr indent="-342900" lvl="0" marL="354965" marR="378460" rtl="0" algn="l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The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Fourier Transform produces a complex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number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 valued output image which can be displayed with two images,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either with the </a:t>
            </a: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real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and </a:t>
            </a: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imaginary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part or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with </a:t>
            </a: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magnitude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and </a:t>
            </a: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phase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3535" lvl="0" marL="355600" marR="5080" rtl="0" algn="l">
              <a:lnSpc>
                <a:spcPct val="108125"/>
              </a:lnSpc>
              <a:spcBef>
                <a:spcPts val="329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In image processing, </a:t>
            </a:r>
            <a:r>
              <a:rPr lang="en-US" sz="3200" u="sng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often only the magnitude</a:t>
            </a:r>
            <a:r>
              <a:rPr lang="en-US" sz="3200" u="none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sng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of	the Fourier Transform is displayed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, as it contains </a:t>
            </a:r>
            <a:r>
              <a:rPr lang="en-US" sz="3200" u="none">
                <a:solidFill>
                  <a:srgbClr val="92D050"/>
                </a:solidFill>
                <a:latin typeface="Bell MT"/>
                <a:ea typeface="Bell MT"/>
                <a:cs typeface="Bell MT"/>
                <a:sym typeface="Bell MT"/>
              </a:rPr>
              <a:t>most of</a:t>
            </a:r>
            <a:r>
              <a:rPr lang="en-US" sz="3200">
                <a:solidFill>
                  <a:srgbClr val="92D05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none">
                <a:solidFill>
                  <a:srgbClr val="92D050"/>
                </a:solidFill>
                <a:latin typeface="Bell MT"/>
                <a:ea typeface="Bell MT"/>
                <a:cs typeface="Bell MT"/>
                <a:sym typeface="Bell MT"/>
              </a:rPr>
              <a:t>the information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of	the geometric structure of	the spatial domain image.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00" name="Google Shape;600;p46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01" name="Google Shape;601;p46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602" name="Google Shape;602;p4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3" name="Google Shape;603;p4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4" name="Google Shape;604;p46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47"/>
          <p:cNvSpPr txBox="1"/>
          <p:nvPr>
            <p:ph idx="4294967295" type="title"/>
          </p:nvPr>
        </p:nvSpPr>
        <p:spPr>
          <a:xfrm>
            <a:off x="0" y="1679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00000"/>
                </a:solidFill>
              </a:rPr>
              <a:t>Visualization of DFT</a:t>
            </a:r>
            <a:endParaRPr/>
          </a:p>
        </p:txBody>
      </p:sp>
      <p:pic>
        <p:nvPicPr>
          <p:cNvPr id="610" name="Google Shape;61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4265" y="3903141"/>
            <a:ext cx="1854898" cy="1781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7153" y="3894188"/>
            <a:ext cx="1781729" cy="1810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67265" y="3894188"/>
            <a:ext cx="1845940" cy="1818132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47"/>
          <p:cNvSpPr txBox="1"/>
          <p:nvPr/>
        </p:nvSpPr>
        <p:spPr>
          <a:xfrm>
            <a:off x="2516551" y="5734719"/>
            <a:ext cx="7158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-US" sz="3600">
                <a:solidFill>
                  <a:srgbClr val="C00000"/>
                </a:solidFill>
                <a:latin typeface="Book Antiqua"/>
                <a:ea typeface="Book Antiqua"/>
                <a:cs typeface="Book Antiqua"/>
                <a:sym typeface="Book Antiqua"/>
              </a:rPr>
              <a:t>Original image	</a:t>
            </a:r>
            <a:r>
              <a:rPr baseline="30000" lang="en-US" sz="3600">
                <a:solidFill>
                  <a:srgbClr val="00B0F0"/>
                </a:solidFill>
                <a:latin typeface="Book Antiqua"/>
                <a:ea typeface="Book Antiqua"/>
                <a:cs typeface="Book Antiqua"/>
                <a:sym typeface="Book Antiqua"/>
              </a:rPr>
              <a:t>DFT before scaling </a:t>
            </a:r>
            <a:r>
              <a:rPr lang="en-US" sz="2400">
                <a:solidFill>
                  <a:srgbClr val="00B050"/>
                </a:solidFill>
                <a:latin typeface="Book Antiqua"/>
                <a:ea typeface="Book Antiqua"/>
                <a:cs typeface="Book Antiqua"/>
                <a:sym typeface="Book Antiqua"/>
              </a:rPr>
              <a:t>DFT after scaling</a:t>
            </a:r>
            <a:endParaRPr sz="24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614" name="Google Shape;614;p47"/>
          <p:cNvSpPr txBox="1"/>
          <p:nvPr/>
        </p:nvSpPr>
        <p:spPr>
          <a:xfrm>
            <a:off x="764554" y="937450"/>
            <a:ext cx="11057400" cy="16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98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So typically, we visualize </a:t>
            </a: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|</a:t>
            </a:r>
            <a:r>
              <a:rPr i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F</a:t>
            </a: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(</a:t>
            </a:r>
            <a:r>
              <a:rPr i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u,v</a:t>
            </a: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)|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330" marR="14603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Since dynamic range of	</a:t>
            </a: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|</a:t>
            </a:r>
            <a:r>
              <a:rPr i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F</a:t>
            </a: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(</a:t>
            </a:r>
            <a:r>
              <a:rPr i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u</a:t>
            </a: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,</a:t>
            </a:r>
            <a:r>
              <a:rPr i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v</a:t>
            </a: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)|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is normally very large, so </a:t>
            </a:r>
            <a:r>
              <a:rPr lang="en-US" sz="32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stretching</a:t>
            </a:r>
            <a:r>
              <a:rPr lang="en-US" sz="32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is applied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47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16" name="Google Shape;616;p47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617" name="Google Shape;617;p4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8" name="Google Shape;618;p4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9" name="Google Shape;619;p47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620" name="Google Shape;620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26288" y="2749563"/>
            <a:ext cx="7539425" cy="101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48"/>
          <p:cNvSpPr txBox="1"/>
          <p:nvPr>
            <p:ph idx="4294967295" type="title"/>
          </p:nvPr>
        </p:nvSpPr>
        <p:spPr>
          <a:xfrm>
            <a:off x="0" y="136575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00000"/>
                </a:solidFill>
              </a:rPr>
              <a:t>Visualization of DFT</a:t>
            </a:r>
            <a:endParaRPr/>
          </a:p>
        </p:txBody>
      </p:sp>
      <p:sp>
        <p:nvSpPr>
          <p:cNvPr id="626" name="Google Shape;626;p48"/>
          <p:cNvSpPr txBox="1"/>
          <p:nvPr/>
        </p:nvSpPr>
        <p:spPr>
          <a:xfrm>
            <a:off x="228600" y="1109950"/>
            <a:ext cx="11691900" cy="50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925">
            <a:spAutoFit/>
          </a:bodyPr>
          <a:lstStyle/>
          <a:p>
            <a:pPr indent="-343535" lvl="0" marL="355600" marR="422908" rtl="0" algn="l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Requirement to </a:t>
            </a:r>
            <a:r>
              <a:rPr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retransform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the image from </a:t>
            </a:r>
            <a:r>
              <a:rPr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Fourier domain to spatial domain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4380" marR="5080" rtl="0" algn="l">
              <a:lnSpc>
                <a:spcPct val="90000"/>
              </a:lnSpc>
              <a:spcBef>
                <a:spcPts val="64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If we want to re-transform the Fourier image correctly to spatial domain after some processing 	in the frequency domain, </a:t>
            </a:r>
            <a:r>
              <a:rPr lang="en-US" sz="2800" u="sng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we must make sure to</a:t>
            </a:r>
            <a:r>
              <a:rPr lang="en-US" sz="2800" u="none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 	</a:t>
            </a:r>
            <a:r>
              <a:rPr lang="en-US" sz="2800" u="sng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preserve both magnitude and phase of the Fourier</a:t>
            </a:r>
            <a:r>
              <a:rPr lang="en-US" sz="2800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sng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image.</a:t>
            </a:r>
            <a:endParaRPr sz="2800" u="sng">
              <a:solidFill>
                <a:srgbClr val="C00000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indent="0" lvl="0" marL="914400" marR="5080" rtl="0" algn="l">
              <a:lnSpc>
                <a:spcPct val="90000"/>
              </a:lnSpc>
              <a:spcBef>
                <a:spcPts val="645"/>
              </a:spcBef>
              <a:spcAft>
                <a:spcPts val="0"/>
              </a:spcAft>
              <a:buNone/>
            </a:pPr>
            <a:r>
              <a:t/>
            </a:r>
            <a:endParaRPr sz="2800" u="sng">
              <a:solidFill>
                <a:srgbClr val="C00000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indent="-343535" lvl="0" marL="355600" marR="15240" rtl="0" algn="l">
              <a:lnSpc>
                <a:spcPct val="108125"/>
              </a:lnSpc>
              <a:spcBef>
                <a:spcPts val="78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The Fourier domain image has a </a:t>
            </a:r>
            <a:r>
              <a:rPr lang="en-US" sz="3200" u="sng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much greater</a:t>
            </a:r>
            <a:r>
              <a:rPr lang="en-US" sz="3200" u="none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sng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range</a:t>
            </a:r>
            <a:r>
              <a:rPr lang="en-US" sz="3200" u="none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 than the image in the spatial domain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4380" marR="501015" rtl="0" algn="l">
              <a:lnSpc>
                <a:spcPct val="108214"/>
              </a:lnSpc>
              <a:spcBef>
                <a:spcPts val="68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Hence, to be sufficiently accurate, its values are 	usually calculated and stored in </a:t>
            </a:r>
            <a:r>
              <a:rPr lang="en-US" sz="28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float values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.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27" name="Google Shape;627;p48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28" name="Google Shape;628;p48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629" name="Google Shape;629;p4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0" name="Google Shape;630;p4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1" name="Google Shape;631;p48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49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Additional Readings</a:t>
            </a:r>
            <a:endParaRPr/>
          </a:p>
        </p:txBody>
      </p:sp>
      <p:sp>
        <p:nvSpPr>
          <p:cNvPr id="637" name="Google Shape;637;p49"/>
          <p:cNvSpPr txBox="1"/>
          <p:nvPr/>
        </p:nvSpPr>
        <p:spPr>
          <a:xfrm>
            <a:off x="535954" y="1291850"/>
            <a:ext cx="11318700" cy="42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900" lvl="0" marL="355600" marR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b="1" lang="en-US" sz="3200">
                <a:latin typeface="Bell MT"/>
                <a:ea typeface="Bell MT"/>
                <a:cs typeface="Bell MT"/>
                <a:sym typeface="Bell MT"/>
              </a:rPr>
              <a:t>Chapter 4: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Image Enhancement in the Frequency Domain of	the book Digital Image Processing by Rafael C. Gonzalez. and Richard E. Woods.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457200" marR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5600" marR="1132840" rtl="0" algn="l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TheFourierTransform.com: </a:t>
            </a:r>
            <a:r>
              <a:rPr lang="en-US" sz="3200" u="sng">
                <a:solidFill>
                  <a:srgbClr val="0000FF"/>
                </a:solidFill>
                <a:latin typeface="Bell MT"/>
                <a:ea typeface="Bell MT"/>
                <a:cs typeface="Bell MT"/>
                <a:sym typeface="Bell M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https://www.thefouriertransform.com/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457200" marR="1132840" rtl="0" algn="l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5600" marR="5080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 u="sng">
                <a:solidFill>
                  <a:srgbClr val="0000FF"/>
                </a:solidFill>
                <a:latin typeface="Bell MT"/>
                <a:ea typeface="Bell MT"/>
                <a:cs typeface="Bell MT"/>
                <a:sym typeface="Bell M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https://homepages.inf.ed.ac.uk/rbf/HIPR2/fo urier.htm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38" name="Google Shape;638;p49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39" name="Google Shape;639;p49"/>
          <p:cNvSpPr txBox="1"/>
          <p:nvPr>
            <p:ph idx="11" type="ftr"/>
          </p:nvPr>
        </p:nvSpPr>
        <p:spPr>
          <a:xfrm>
            <a:off x="4398740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640" name="Google Shape;640;p4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1" name="Google Shape;641;p4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2" name="Google Shape;642;p49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50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49" name="Google Shape;649;p50"/>
          <p:cNvSpPr txBox="1"/>
          <p:nvPr>
            <p:ph idx="4294967295" type="ftr"/>
          </p:nvPr>
        </p:nvSpPr>
        <p:spPr>
          <a:xfrm>
            <a:off x="4398753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650" name="Google Shape;650;p5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1" name="Google Shape;651;p50"/>
          <p:cNvSpPr txBox="1"/>
          <p:nvPr/>
        </p:nvSpPr>
        <p:spPr>
          <a:xfrm>
            <a:off x="2945850" y="2874900"/>
            <a:ext cx="630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End</a:t>
            </a:r>
            <a:endParaRPr b="1" sz="60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51"/>
          <p:cNvSpPr txBox="1"/>
          <p:nvPr>
            <p:ph idx="4294967295" type="title"/>
          </p:nvPr>
        </p:nvSpPr>
        <p:spPr>
          <a:xfrm>
            <a:off x="0" y="2230650"/>
            <a:ext cx="12192000" cy="23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92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latin typeface="Bell MT"/>
                <a:ea typeface="Bell MT"/>
                <a:cs typeface="Bell MT"/>
                <a:sym typeface="Bell MT"/>
              </a:rPr>
              <a:t>Fourier	Transform</a:t>
            </a:r>
            <a:endParaRPr sz="6000">
              <a:latin typeface="Bell MT"/>
              <a:ea typeface="Bell MT"/>
              <a:cs typeface="Bell MT"/>
              <a:sym typeface="Bell MT"/>
            </a:endParaRPr>
          </a:p>
          <a:p>
            <a:pPr indent="0" lvl="0" marL="0" rtl="0" algn="ctr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None/>
            </a:pPr>
            <a:br>
              <a:rPr lang="en-US">
                <a:solidFill>
                  <a:srgbClr val="00B050"/>
                </a:solidFill>
              </a:rPr>
            </a:br>
            <a:r>
              <a:rPr lang="en-US">
                <a:solidFill>
                  <a:srgbClr val="00B050"/>
                </a:solidFill>
              </a:rPr>
              <a:t>Part – 3</a:t>
            </a:r>
            <a:endParaRPr/>
          </a:p>
        </p:txBody>
      </p:sp>
      <p:sp>
        <p:nvSpPr>
          <p:cNvPr id="657" name="Google Shape;657;p51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58" name="Google Shape;658;p51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659" name="Google Shape;659;p5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0" name="Google Shape;660;p5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52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58ED5"/>
                </a:solidFill>
              </a:rPr>
              <a:t>Quick Review </a:t>
            </a:r>
            <a:r>
              <a:rPr lang="en-US"/>
              <a:t>of	the Last Class</a:t>
            </a:r>
            <a:endParaRPr/>
          </a:p>
        </p:txBody>
      </p:sp>
      <p:sp>
        <p:nvSpPr>
          <p:cNvPr id="666" name="Google Shape;666;p52"/>
          <p:cNvSpPr txBox="1"/>
          <p:nvPr/>
        </p:nvSpPr>
        <p:spPr>
          <a:xfrm>
            <a:off x="535940" y="951991"/>
            <a:ext cx="55137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Discrete Fourier Transform: </a:t>
            </a:r>
            <a:r>
              <a:rPr lang="en-US" sz="30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1-D</a:t>
            </a:r>
            <a:endParaRPr sz="175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667" name="Google Shape;667;p52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68" name="Google Shape;668;p52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669" name="Google Shape;669;p5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0" name="Google Shape;670;p5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1" name="Google Shape;671;p52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672" name="Google Shape;67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7675" y="1578991"/>
            <a:ext cx="8456657" cy="4702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53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58ED5"/>
                </a:solidFill>
              </a:rPr>
              <a:t>Quick Review </a:t>
            </a:r>
            <a:r>
              <a:rPr lang="en-US"/>
              <a:t>of	the Last Class</a:t>
            </a:r>
            <a:r>
              <a:rPr i="1"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…contd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78" name="Google Shape;678;p53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79" name="Google Shape;679;p53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680" name="Google Shape;680;p5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1" name="Google Shape;681;p5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2" name="Google Shape;682;p53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683" name="Google Shape;68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475" y="1030600"/>
            <a:ext cx="10719676" cy="534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54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58ED5"/>
                </a:solidFill>
              </a:rPr>
              <a:t>Quick Review </a:t>
            </a:r>
            <a:r>
              <a:rPr lang="en-US"/>
              <a:t>of	the Last Class</a:t>
            </a:r>
            <a:r>
              <a:rPr i="1"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…contd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89" name="Google Shape;689;p54"/>
          <p:cNvSpPr txBox="1"/>
          <p:nvPr/>
        </p:nvSpPr>
        <p:spPr>
          <a:xfrm>
            <a:off x="535940" y="1066291"/>
            <a:ext cx="41994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Fourier transform image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90" name="Google Shape;690;p54"/>
          <p:cNvSpPr txBox="1"/>
          <p:nvPr/>
        </p:nvSpPr>
        <p:spPr>
          <a:xfrm>
            <a:off x="3922636" y="1072746"/>
            <a:ext cx="3667200" cy="4617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1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spectrum (Magnitude )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91" name="Google Shape;691;p54"/>
          <p:cNvSpPr txBox="1"/>
          <p:nvPr/>
        </p:nvSpPr>
        <p:spPr>
          <a:xfrm>
            <a:off x="1899379" y="1522875"/>
            <a:ext cx="82053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is always </a:t>
            </a:r>
            <a:r>
              <a:rPr lang="en-US" sz="30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symmetrical</a:t>
            </a:r>
            <a:r>
              <a:rPr lang="en-US" sz="30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about the </a:t>
            </a:r>
            <a:r>
              <a:rPr lang="en-US" sz="30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center</a:t>
            </a:r>
            <a:r>
              <a:rPr lang="en-US" sz="30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.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92" name="Google Shape;692;p54"/>
          <p:cNvSpPr txBox="1"/>
          <p:nvPr/>
        </p:nvSpPr>
        <p:spPr>
          <a:xfrm>
            <a:off x="883372" y="2247163"/>
            <a:ext cx="111237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6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For </a:t>
            </a:r>
            <a:r>
              <a:rPr lang="en-US" sz="26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every point</a:t>
            </a:r>
            <a:r>
              <a:rPr lang="en-US" sz="26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on one side of</a:t>
            </a:r>
            <a:r>
              <a:rPr lang="en-US" sz="26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6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the</a:t>
            </a:r>
            <a:r>
              <a:rPr lang="en-US" sz="26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6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magnitude</a:t>
            </a:r>
            <a:r>
              <a:rPr lang="en-US" sz="26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6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spectrum image, we shall always get a similar ‘point’ </a:t>
            </a:r>
            <a:r>
              <a:rPr lang="en-US" sz="26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mirrored</a:t>
            </a:r>
            <a:r>
              <a:rPr lang="en-US" sz="2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6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across the </a:t>
            </a:r>
            <a:r>
              <a:rPr lang="en-US" sz="26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center of the image</a:t>
            </a:r>
            <a:r>
              <a:rPr lang="en-US" sz="26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.</a:t>
            </a:r>
            <a:endParaRPr sz="2600">
              <a:solidFill>
                <a:srgbClr val="00B050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93" name="Google Shape;693;p54"/>
          <p:cNvSpPr txBox="1"/>
          <p:nvPr/>
        </p:nvSpPr>
        <p:spPr>
          <a:xfrm>
            <a:off x="1087324" y="6106663"/>
            <a:ext cx="55281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Original Image and corresponding DFT image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54"/>
          <p:cNvSpPr txBox="1"/>
          <p:nvPr/>
        </p:nvSpPr>
        <p:spPr>
          <a:xfrm>
            <a:off x="1305633" y="5498802"/>
            <a:ext cx="10623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N x M Image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5" name="Google Shape;695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936" y="3558540"/>
            <a:ext cx="2201645" cy="1953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92423" y="3558540"/>
            <a:ext cx="2116835" cy="1965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59423" y="3558540"/>
            <a:ext cx="1945462" cy="1981160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 txBox="1"/>
          <p:nvPr/>
        </p:nvSpPr>
        <p:spPr>
          <a:xfrm>
            <a:off x="3922633" y="5564198"/>
            <a:ext cx="14250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01295" lvl="0" marL="213359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N x M DFT Image (</a:t>
            </a: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Magnitude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)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54"/>
          <p:cNvSpPr txBox="1"/>
          <p:nvPr/>
        </p:nvSpPr>
        <p:spPr>
          <a:xfrm>
            <a:off x="6285211" y="5483527"/>
            <a:ext cx="14250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88619" lvl="0" marL="40068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N x M DFT Image (</a:t>
            </a: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Phase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)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54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01" name="Google Shape;701;p54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702" name="Google Shape;702;p5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3" name="Google Shape;703;p5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4" name="Google Shape;704;p54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55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58ED5"/>
                </a:solidFill>
              </a:rPr>
              <a:t>Quick Review </a:t>
            </a:r>
            <a:r>
              <a:rPr lang="en-US"/>
              <a:t>of	the Last Class</a:t>
            </a:r>
            <a:r>
              <a:rPr i="1"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…contd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10" name="Google Shape;710;p55"/>
          <p:cNvSpPr txBox="1"/>
          <p:nvPr/>
        </p:nvSpPr>
        <p:spPr>
          <a:xfrm>
            <a:off x="535955" y="1044000"/>
            <a:ext cx="11143800" cy="19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3535" lvl="0" marL="355600" marR="5168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The same thing happens with the </a:t>
            </a: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'phase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' component of	FT image pair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7019" lvl="0" marL="756285" marR="508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However, in this case with </a:t>
            </a:r>
            <a:r>
              <a:rPr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a 180 degree shift</a:t>
            </a:r>
            <a:r>
              <a:rPr lang="en-US" sz="28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(a negative phase) in value as well.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711" name="Google Shape;711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3534155"/>
            <a:ext cx="2121325" cy="1882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9000" y="3457955"/>
            <a:ext cx="2118347" cy="1965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3" name="Google Shape;713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3457955"/>
            <a:ext cx="1946973" cy="1981160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55"/>
          <p:cNvSpPr txBox="1"/>
          <p:nvPr/>
        </p:nvSpPr>
        <p:spPr>
          <a:xfrm>
            <a:off x="1305633" y="5498802"/>
            <a:ext cx="10623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N x M Image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55"/>
          <p:cNvSpPr txBox="1"/>
          <p:nvPr/>
        </p:nvSpPr>
        <p:spPr>
          <a:xfrm>
            <a:off x="3922590" y="5564272"/>
            <a:ext cx="14250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01295" lvl="0" marL="213359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N x M DFT Image (</a:t>
            </a: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Magnitude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)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55"/>
          <p:cNvSpPr txBox="1"/>
          <p:nvPr/>
        </p:nvSpPr>
        <p:spPr>
          <a:xfrm>
            <a:off x="6285167" y="5483600"/>
            <a:ext cx="14250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88619" lvl="0" marL="40068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N x M DFT Image (</a:t>
            </a: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Phase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)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55"/>
          <p:cNvSpPr txBox="1"/>
          <p:nvPr/>
        </p:nvSpPr>
        <p:spPr>
          <a:xfrm>
            <a:off x="1305624" y="6106700"/>
            <a:ext cx="56559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Original Image and corresponding DFT image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55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19" name="Google Shape;719;p55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720" name="Google Shape;720;p5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1" name="Google Shape;721;p5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2" name="Google Shape;722;p55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56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Examples of	2D DFT</a:t>
            </a:r>
            <a:endParaRPr/>
          </a:p>
        </p:txBody>
      </p:sp>
      <p:pic>
        <p:nvPicPr>
          <p:cNvPr id="728" name="Google Shape;728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1337940"/>
            <a:ext cx="3733799" cy="3733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9" name="Google Shape;729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8400" y="133794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56"/>
          <p:cNvSpPr txBox="1"/>
          <p:nvPr/>
        </p:nvSpPr>
        <p:spPr>
          <a:xfrm>
            <a:off x="2394417" y="5230249"/>
            <a:ext cx="31800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Shows 2 pixel wide vertical stripes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6"/>
          <p:cNvSpPr txBox="1"/>
          <p:nvPr/>
        </p:nvSpPr>
        <p:spPr>
          <a:xfrm>
            <a:off x="7470251" y="5230249"/>
            <a:ext cx="16638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Fourier transform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56"/>
          <p:cNvSpPr txBox="1"/>
          <p:nvPr/>
        </p:nvSpPr>
        <p:spPr>
          <a:xfrm>
            <a:off x="154963" y="6180425"/>
            <a:ext cx="110172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4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Example Source</a:t>
            </a:r>
            <a:r>
              <a:rPr i="1" lang="en-US" sz="14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i="1" lang="en-US" sz="14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http://homepages.inf.ed.ac.uk/rbf/HIPR2/fourier.htm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56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34" name="Google Shape;734;p56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735" name="Google Shape;735;p5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6" name="Google Shape;736;p5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7" name="Google Shape;737;p56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57"/>
          <p:cNvSpPr txBox="1"/>
          <p:nvPr>
            <p:ph idx="4294967295" type="title"/>
          </p:nvPr>
        </p:nvSpPr>
        <p:spPr>
          <a:xfrm>
            <a:off x="0" y="153150"/>
            <a:ext cx="12192000" cy="624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Examples of	2D DFT</a:t>
            </a:r>
            <a:endParaRPr/>
          </a:p>
        </p:txBody>
      </p:sp>
      <p:sp>
        <p:nvSpPr>
          <p:cNvPr id="743" name="Google Shape;743;p57"/>
          <p:cNvSpPr txBox="1"/>
          <p:nvPr/>
        </p:nvSpPr>
        <p:spPr>
          <a:xfrm>
            <a:off x="228605" y="1164900"/>
            <a:ext cx="11604300" cy="41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4125">
            <a:spAutoFit/>
          </a:bodyPr>
          <a:lstStyle/>
          <a:p>
            <a:pPr indent="-342900" lvl="0" marL="355600" marR="32321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If we check carefully, we see that the Fourier transform in the previous slide contains 3 main values: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-285750" lvl="1" marL="755650" rtl="0" algn="l">
              <a:lnSpc>
                <a:spcPct val="117115"/>
              </a:lnSpc>
              <a:spcBef>
                <a:spcPts val="15"/>
              </a:spcBef>
              <a:spcAft>
                <a:spcPts val="0"/>
              </a:spcAft>
              <a:buSzPts val="2600"/>
              <a:buFont typeface="Arial"/>
              <a:buChar char="–"/>
            </a:pPr>
            <a:r>
              <a:rPr b="1" lang="en-US" sz="2600">
                <a:latin typeface="Bell MT"/>
                <a:ea typeface="Bell MT"/>
                <a:cs typeface="Bell MT"/>
                <a:sym typeface="Bell MT"/>
              </a:rPr>
              <a:t>the DC-value and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-286385" lvl="1" marL="756285" rtl="0" algn="l">
              <a:lnSpc>
                <a:spcPct val="102727"/>
              </a:lnSpc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–"/>
            </a:pPr>
            <a:r>
              <a:rPr lang="en-US" sz="2750">
                <a:latin typeface="Bell MT"/>
                <a:ea typeface="Bell MT"/>
                <a:cs typeface="Bell MT"/>
                <a:sym typeface="Bell MT"/>
              </a:rPr>
              <a:t>since the Fourier image is </a:t>
            </a:r>
            <a:r>
              <a:rPr lang="en-US" sz="275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symmetrical</a:t>
            </a:r>
            <a:r>
              <a:rPr lang="en-US" sz="275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750" u="none">
                <a:latin typeface="Bell MT"/>
                <a:ea typeface="Bell MT"/>
                <a:cs typeface="Bell MT"/>
                <a:sym typeface="Bell MT"/>
              </a:rPr>
              <a:t>to its </a:t>
            </a:r>
            <a:r>
              <a:rPr lang="en-US" sz="2750">
                <a:latin typeface="Bell MT"/>
                <a:ea typeface="Bell MT"/>
                <a:cs typeface="Bell MT"/>
                <a:sym typeface="Bell MT"/>
              </a:rPr>
              <a:t>center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,	two points corresponding to the frequency of the stripes in the original image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4965" marR="237490" rtl="0" algn="l">
              <a:lnSpc>
                <a:spcPct val="80000"/>
              </a:lnSpc>
              <a:spcBef>
                <a:spcPts val="3825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Note that the </a:t>
            </a:r>
            <a:r>
              <a:rPr lang="en-US" sz="3000" u="sng">
                <a:latin typeface="Bell MT"/>
                <a:ea typeface="Bell MT"/>
                <a:cs typeface="Bell MT"/>
                <a:sym typeface="Bell MT"/>
              </a:rPr>
              <a:t>two points</a:t>
            </a:r>
            <a:r>
              <a:rPr lang="en-US" sz="3000" u="none">
                <a:latin typeface="Bell MT"/>
                <a:ea typeface="Bell MT"/>
                <a:cs typeface="Bell MT"/>
                <a:sym typeface="Bell MT"/>
              </a:rPr>
              <a:t> lie on a </a:t>
            </a:r>
            <a:r>
              <a:rPr lang="en-US" sz="30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horizontal line </a:t>
            </a:r>
            <a:r>
              <a:rPr lang="en-US" sz="3000" u="sng">
                <a:latin typeface="Bell MT"/>
                <a:ea typeface="Bell MT"/>
                <a:cs typeface="Bell MT"/>
                <a:sym typeface="Bell MT"/>
              </a:rPr>
              <a:t>through the image center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-287019" lvl="0" marL="756285" marR="720725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This is because the image intensity in the spatial domain </a:t>
            </a:r>
            <a:r>
              <a:rPr lang="en-US" sz="2600" u="sng">
                <a:latin typeface="Bell MT"/>
                <a:ea typeface="Bell MT"/>
                <a:cs typeface="Bell MT"/>
                <a:sym typeface="Bell MT"/>
              </a:rPr>
              <a:t>changes the most if we go along it</a:t>
            </a:r>
            <a:r>
              <a:rPr lang="en-US" sz="2600" u="none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600" u="sng">
                <a:latin typeface="Bell MT"/>
                <a:ea typeface="Bell MT"/>
                <a:cs typeface="Bell MT"/>
                <a:sym typeface="Bell MT"/>
              </a:rPr>
              <a:t>horizontally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44" name="Google Shape;744;p57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45" name="Google Shape;745;p57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746" name="Google Shape;746;p5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7" name="Google Shape;747;p5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8" name="Google Shape;748;p57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58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Examples of	2D DFT</a:t>
            </a:r>
            <a:endParaRPr/>
          </a:p>
        </p:txBody>
      </p:sp>
      <p:sp>
        <p:nvSpPr>
          <p:cNvPr id="754" name="Google Shape;754;p58"/>
          <p:cNvSpPr txBox="1"/>
          <p:nvPr/>
        </p:nvSpPr>
        <p:spPr>
          <a:xfrm>
            <a:off x="417604" y="1071350"/>
            <a:ext cx="11356800" cy="16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4125">
            <a:spAutoFit/>
          </a:bodyPr>
          <a:lstStyle/>
          <a:p>
            <a:pPr indent="-342900" lvl="0" marL="393700" marR="44704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The </a:t>
            </a:r>
            <a:r>
              <a:rPr lang="en-US" sz="30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distance of the points</a:t>
            </a:r>
            <a:r>
              <a:rPr lang="en-US" sz="30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to the center can be explained as follows: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93065" marR="43180" rtl="0" algn="l">
              <a:lnSpc>
                <a:spcPct val="108000"/>
              </a:lnSpc>
              <a:spcBef>
                <a:spcPts val="72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The </a:t>
            </a:r>
            <a:r>
              <a:rPr lang="en-US" sz="3000" u="sng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maximum frequency</a:t>
            </a:r>
            <a:r>
              <a:rPr lang="en-US" sz="3000" u="none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 which can be represented in the spatial domain </a:t>
            </a:r>
            <a:r>
              <a:rPr lang="en-US" sz="3000" u="sng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comes from</a:t>
            </a:r>
            <a:r>
              <a:rPr lang="en-US" sz="3000" u="none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000" u="sng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two pixel wide stripe pairs </a:t>
            </a:r>
            <a:r>
              <a:rPr lang="en-US" sz="3000" u="none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(one white, one black).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55" name="Google Shape;755;p58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56" name="Google Shape;756;p58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757" name="Google Shape;757;p5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8" name="Google Shape;758;p5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9" name="Google Shape;759;p58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60" name="Google Shape;760;p58"/>
          <p:cNvSpPr txBox="1"/>
          <p:nvPr/>
        </p:nvSpPr>
        <p:spPr>
          <a:xfrm>
            <a:off x="417600" y="4161725"/>
            <a:ext cx="11513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03200" marR="246888" rtl="0" algn="l">
              <a:lnSpc>
                <a:spcPct val="118437"/>
              </a:lnSpc>
              <a:spcBef>
                <a:spcPts val="1435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Hence, the two pixel wide stripes in this example image represent</a:t>
            </a:r>
            <a:endParaRPr sz="60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761" name="Google Shape;761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3088" y="2871025"/>
            <a:ext cx="3525823" cy="1290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62" name="Google Shape;762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6311" y="4986163"/>
            <a:ext cx="4259375" cy="1101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59"/>
          <p:cNvSpPr txBox="1"/>
          <p:nvPr>
            <p:ph idx="4294967295" type="title"/>
          </p:nvPr>
        </p:nvSpPr>
        <p:spPr>
          <a:xfrm>
            <a:off x="0" y="153150"/>
            <a:ext cx="12192000" cy="624000"/>
          </a:xfrm>
          <a:prstGeom prst="rect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Examples of	2D DFT</a:t>
            </a:r>
            <a:endParaRPr/>
          </a:p>
        </p:txBody>
      </p:sp>
      <p:sp>
        <p:nvSpPr>
          <p:cNvPr id="768" name="Google Shape;768;p59"/>
          <p:cNvSpPr txBox="1"/>
          <p:nvPr/>
        </p:nvSpPr>
        <p:spPr>
          <a:xfrm>
            <a:off x="535954" y="1067825"/>
            <a:ext cx="11373600" cy="43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3535" lvl="0" marL="355600" marR="4184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50"/>
              <a:buFont typeface="Noto Sans Symbols"/>
              <a:buChar char="▪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Thus, the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points in the Fourier image are halfway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between the center and the edge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 of	the image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615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i="1" lang="en-US" sz="2400">
                <a:latin typeface="Bell MT"/>
                <a:ea typeface="Bell MT"/>
                <a:cs typeface="Bell MT"/>
                <a:sym typeface="Bell MT"/>
              </a:rPr>
              <a:t>i.e. 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the represented frequency is half of	the maximum.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4965" marR="5080" rtl="0" algn="l">
              <a:lnSpc>
                <a:spcPct val="100000"/>
              </a:lnSpc>
              <a:spcBef>
                <a:spcPts val="2935"/>
              </a:spcBef>
              <a:spcAft>
                <a:spcPts val="0"/>
              </a:spcAft>
              <a:buClr>
                <a:srgbClr val="FF0000"/>
              </a:buClr>
              <a:buSzPts val="2250"/>
              <a:buFont typeface="Noto Sans Symbols"/>
              <a:buChar char="▪"/>
            </a:pP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Further investigation shows that the </a:t>
            </a:r>
            <a:r>
              <a:rPr lang="en-US" sz="28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magnitude of </a:t>
            </a:r>
            <a:r>
              <a:rPr lang="en-US" sz="28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other frequencies in the image </a:t>
            </a:r>
            <a:r>
              <a:rPr lang="en-US" sz="28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is less than</a:t>
            </a: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1/100 of </a:t>
            </a:r>
            <a:r>
              <a:rPr lang="en-US" sz="28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the DC-value</a:t>
            </a:r>
            <a:r>
              <a:rPr lang="en-US" sz="28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, </a:t>
            </a:r>
            <a:r>
              <a:rPr i="1" lang="en-US" sz="2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i.e. </a:t>
            </a:r>
            <a:r>
              <a:rPr lang="en-US" sz="28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they don't make any significant contribution to the image.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5600" marR="357505" rtl="0" algn="l">
              <a:lnSpc>
                <a:spcPct val="100000"/>
              </a:lnSpc>
              <a:spcBef>
                <a:spcPts val="4130"/>
              </a:spcBef>
              <a:spcAft>
                <a:spcPts val="0"/>
              </a:spcAft>
              <a:buClr>
                <a:srgbClr val="FF0000"/>
              </a:buClr>
              <a:buSzPts val="2250"/>
              <a:buFont typeface="Noto Sans Symbols"/>
              <a:buChar char="▪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The magnitudes of	the two minor points are each </a:t>
            </a:r>
            <a:r>
              <a:rPr lang="en-US" sz="28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two-thirds</a:t>
            </a:r>
            <a:r>
              <a:rPr lang="en-US" sz="28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of	the DC-value.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69" name="Google Shape;769;p59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70" name="Google Shape;770;p59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771" name="Google Shape;771;p5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2" name="Google Shape;772;p5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3" name="Google Shape;773;p59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8" name="Google Shape;778;p60"/>
          <p:cNvGrpSpPr/>
          <p:nvPr/>
        </p:nvGrpSpPr>
        <p:grpSpPr>
          <a:xfrm>
            <a:off x="2054351" y="2051825"/>
            <a:ext cx="8083296" cy="3813047"/>
            <a:chOff x="530351" y="2057400"/>
            <a:chExt cx="8083296" cy="3813047"/>
          </a:xfrm>
        </p:grpSpPr>
        <p:pic>
          <p:nvPicPr>
            <p:cNvPr id="779" name="Google Shape;779;p6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30351" y="2057400"/>
              <a:ext cx="3813047" cy="37981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0" name="Google Shape;780;p6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800600" y="2057400"/>
              <a:ext cx="3813047" cy="38130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81" name="Google Shape;781;p60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Examples of	2D DFT</a:t>
            </a:r>
            <a:endParaRPr/>
          </a:p>
        </p:txBody>
      </p:sp>
      <p:sp>
        <p:nvSpPr>
          <p:cNvPr id="782" name="Google Shape;782;p60"/>
          <p:cNvSpPr txBox="1"/>
          <p:nvPr/>
        </p:nvSpPr>
        <p:spPr>
          <a:xfrm>
            <a:off x="2325051" y="5955800"/>
            <a:ext cx="36708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Shows 2 pixel wide slanted stripes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60"/>
          <p:cNvSpPr txBox="1"/>
          <p:nvPr/>
        </p:nvSpPr>
        <p:spPr>
          <a:xfrm>
            <a:off x="7391505" y="5879681"/>
            <a:ext cx="16956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Fourier transform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60"/>
          <p:cNvSpPr txBox="1"/>
          <p:nvPr/>
        </p:nvSpPr>
        <p:spPr>
          <a:xfrm>
            <a:off x="535955" y="1080000"/>
            <a:ext cx="113625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Similar effects (as in the previous example) can be seen when applying the Fourier Transform to following image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60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86" name="Google Shape;786;p60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787" name="Google Shape;787;p6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8" name="Google Shape;788;p6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9" name="Google Shape;789;p60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61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Examples of	2D DFT</a:t>
            </a:r>
            <a:endParaRPr/>
          </a:p>
        </p:txBody>
      </p:sp>
      <p:sp>
        <p:nvSpPr>
          <p:cNvPr id="795" name="Google Shape;795;p61"/>
          <p:cNvSpPr txBox="1"/>
          <p:nvPr/>
        </p:nvSpPr>
        <p:spPr>
          <a:xfrm>
            <a:off x="228605" y="1065400"/>
            <a:ext cx="11746500" cy="8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899" lvl="0" marL="35496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50"/>
              <a:buFont typeface="Noto Sans Symbols"/>
              <a:buChar char="▪"/>
            </a:pPr>
            <a:r>
              <a:rPr lang="en-US" sz="1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In the previous slide, in Fourier Transform (magnitude spectrum), we see that, again, the main components of the transformed image are the </a:t>
            </a:r>
            <a:r>
              <a:rPr lang="en-US" sz="1800" u="sng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DC-value</a:t>
            </a:r>
            <a:r>
              <a:rPr lang="en-US" sz="1800" u="none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18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and </a:t>
            </a:r>
            <a:r>
              <a:rPr lang="en-US" sz="1800" u="sng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the</a:t>
            </a:r>
            <a:r>
              <a:rPr lang="en-US" sz="1800" u="none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1800" u="sng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two points corresponding to the frequency of the stripes</a:t>
            </a:r>
            <a:r>
              <a:rPr lang="en-US" sz="18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.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  <a:p>
            <a:pPr indent="-342264" lvl="0" marL="354965" rtl="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>
                <a:srgbClr val="FF0000"/>
              </a:buClr>
              <a:buSzPts val="1450"/>
              <a:buFont typeface="Noto Sans Symbols"/>
              <a:buChar char="▪"/>
            </a:pPr>
            <a:r>
              <a:rPr lang="en-US" sz="1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Now take the log of the transform (magnitude spectrum)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796" name="Google Shape;796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6487" y="2184469"/>
            <a:ext cx="3813047" cy="3813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797" name="Google Shape;797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9888" y="2184469"/>
            <a:ext cx="3813047" cy="3813047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61"/>
          <p:cNvSpPr txBox="1"/>
          <p:nvPr/>
        </p:nvSpPr>
        <p:spPr>
          <a:xfrm>
            <a:off x="1940988" y="5956038"/>
            <a:ext cx="38766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logarithmic transform of the Fourier Transform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61"/>
          <p:cNvSpPr txBox="1"/>
          <p:nvPr/>
        </p:nvSpPr>
        <p:spPr>
          <a:xfrm>
            <a:off x="6242113" y="5956038"/>
            <a:ext cx="40089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Thresholded image (Th=13) for the image on left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61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01" name="Google Shape;801;p61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802" name="Google Shape;802;p6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3" name="Google Shape;803;p6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4" name="Google Shape;804;p61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62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Examples of	2D DFT</a:t>
            </a:r>
            <a:endParaRPr/>
          </a:p>
        </p:txBody>
      </p:sp>
      <p:sp>
        <p:nvSpPr>
          <p:cNvPr id="810" name="Google Shape;810;p62"/>
          <p:cNvSpPr txBox="1"/>
          <p:nvPr/>
        </p:nvSpPr>
        <p:spPr>
          <a:xfrm>
            <a:off x="535955" y="973900"/>
            <a:ext cx="11209500" cy="9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950">
            <a:spAutoFit/>
          </a:bodyPr>
          <a:lstStyle/>
          <a:p>
            <a:pPr indent="-342900" lvl="0" marL="355600" marR="508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However, the </a:t>
            </a:r>
            <a:r>
              <a:rPr lang="en-US" sz="3000" u="sng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logarithmic transform </a:t>
            </a:r>
            <a:r>
              <a:rPr lang="en-US" sz="3000" u="none">
                <a:latin typeface="Bell MT"/>
                <a:ea typeface="Bell MT"/>
                <a:cs typeface="Bell MT"/>
                <a:sym typeface="Bell MT"/>
              </a:rPr>
              <a:t>of	the Fourier transform shows that now the image </a:t>
            </a:r>
            <a:r>
              <a:rPr lang="en-US" sz="30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contains many minor frequencies.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811" name="Google Shape;811;p62"/>
          <p:cNvSpPr txBox="1"/>
          <p:nvPr/>
        </p:nvSpPr>
        <p:spPr>
          <a:xfrm>
            <a:off x="535954" y="2164125"/>
            <a:ext cx="11286000" cy="3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9525">
            <a:spAutoFit/>
          </a:bodyPr>
          <a:lstStyle/>
          <a:p>
            <a:pPr indent="-287019" lvl="0" marL="756285" marR="254000" rtl="0" algn="l">
              <a:lnSpc>
                <a:spcPct val="96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600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The main reason is that a diagonal can only be </a:t>
            </a:r>
            <a:r>
              <a:rPr lang="en-US" sz="2600" u="sng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approximated by the square pixels of the image</a:t>
            </a:r>
            <a:r>
              <a:rPr lang="en-US" sz="2600" u="none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, hence, additional frequencies are needed to compose the image.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5600" marR="5080" rtl="0" algn="l">
              <a:lnSpc>
                <a:spcPct val="96000"/>
              </a:lnSpc>
              <a:spcBef>
                <a:spcPts val="4285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The </a:t>
            </a:r>
            <a:r>
              <a:rPr lang="en-US" sz="30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logarithmic scaling</a:t>
            </a:r>
            <a:r>
              <a:rPr lang="en-US" sz="30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makes it difficult to tell the influence of	single frequencies in the original image.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8076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To find the most important frequencies we </a:t>
            </a:r>
            <a:r>
              <a:rPr lang="en-US" sz="2600" u="sng">
                <a:solidFill>
                  <a:srgbClr val="0000FF"/>
                </a:solidFill>
                <a:latin typeface="Bell MT"/>
                <a:ea typeface="Bell MT"/>
                <a:cs typeface="Bell MT"/>
                <a:sym typeface="Bell M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threshold</a:t>
            </a:r>
            <a:r>
              <a:rPr lang="en-US" sz="2600" u="none">
                <a:solidFill>
                  <a:srgbClr val="0000FF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600" u="none">
                <a:latin typeface="Bell MT"/>
                <a:ea typeface="Bell MT"/>
                <a:cs typeface="Bell MT"/>
                <a:sym typeface="Bell MT"/>
              </a:rPr>
              <a:t>the original Fourier magnitude image at level 13.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812" name="Google Shape;812;p62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13" name="Google Shape;813;p62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814" name="Google Shape;814;p6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5" name="Google Shape;815;p6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6" name="Google Shape;816;p62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63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Examples of	2D DFT</a:t>
            </a:r>
            <a:endParaRPr/>
          </a:p>
        </p:txBody>
      </p:sp>
      <p:pic>
        <p:nvPicPr>
          <p:cNvPr id="822" name="Google Shape;822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6063" y="1516675"/>
            <a:ext cx="3885811" cy="3067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2888" y="1211875"/>
            <a:ext cx="3813047" cy="3813047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63"/>
          <p:cNvSpPr txBox="1"/>
          <p:nvPr/>
        </p:nvSpPr>
        <p:spPr>
          <a:xfrm>
            <a:off x="6412961" y="5079124"/>
            <a:ext cx="3552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928368" lvl="0" marL="94043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 logarithm of the magnitude of its Fourier transform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63"/>
          <p:cNvSpPr txBox="1"/>
          <p:nvPr/>
        </p:nvSpPr>
        <p:spPr>
          <a:xfrm>
            <a:off x="2105452" y="5039576"/>
            <a:ext cx="35091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binary image of English text image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63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27" name="Google Shape;827;p63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828" name="Google Shape;828;p6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9" name="Google Shape;829;p6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0" name="Google Shape;830;p63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64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Examples of	2D DFT</a:t>
            </a:r>
            <a:endParaRPr/>
          </a:p>
        </p:txBody>
      </p:sp>
      <p:pic>
        <p:nvPicPr>
          <p:cNvPr id="836" name="Google Shape;836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65813" y="1088700"/>
            <a:ext cx="3813047" cy="3813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7" name="Google Shape;837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51012" y="1088700"/>
            <a:ext cx="3813047" cy="3813047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64"/>
          <p:cNvSpPr txBox="1"/>
          <p:nvPr/>
        </p:nvSpPr>
        <p:spPr>
          <a:xfrm>
            <a:off x="1971892" y="4955949"/>
            <a:ext cx="35865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944880" lvl="0" marL="956943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 logarithm of the magnitude of its Fourier transform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64"/>
          <p:cNvSpPr txBox="1"/>
          <p:nvPr/>
        </p:nvSpPr>
        <p:spPr>
          <a:xfrm>
            <a:off x="5973305" y="5113911"/>
            <a:ext cx="42468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Thresholded magnitude of the Fourier image.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64"/>
          <p:cNvSpPr txBox="1"/>
          <p:nvPr/>
        </p:nvSpPr>
        <p:spPr>
          <a:xfrm>
            <a:off x="535954" y="5924650"/>
            <a:ext cx="114939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We can see that the main values lie on a vertical line, indicating that the </a:t>
            </a:r>
            <a:r>
              <a:rPr b="1" i="1" lang="en-US" sz="1800" u="sng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text lines</a:t>
            </a:r>
            <a:r>
              <a:rPr b="1" i="1" lang="en-US" sz="1800" u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in the </a:t>
            </a:r>
            <a:r>
              <a:rPr b="1" i="1" lang="en-US" sz="1800" u="sng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input image are horizontal</a:t>
            </a:r>
            <a:r>
              <a:rPr b="1" i="1" lang="en-US" sz="1800" u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64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42" name="Google Shape;842;p64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843" name="Google Shape;843;p6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4" name="Google Shape;844;p6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5" name="Google Shape;845;p64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65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Examples of	2D DFT</a:t>
            </a:r>
            <a:endParaRPr/>
          </a:p>
        </p:txBody>
      </p:sp>
      <p:pic>
        <p:nvPicPr>
          <p:cNvPr id="851" name="Google Shape;851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4600" y="1061860"/>
            <a:ext cx="3505200" cy="3505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2" name="Google Shape;852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1061859"/>
            <a:ext cx="3505199" cy="3505199"/>
          </a:xfrm>
          <a:prstGeom prst="rect">
            <a:avLst/>
          </a:prstGeom>
          <a:noFill/>
          <a:ln>
            <a:noFill/>
          </a:ln>
        </p:spPr>
      </p:pic>
      <p:sp>
        <p:nvSpPr>
          <p:cNvPr id="853" name="Google Shape;853;p65"/>
          <p:cNvSpPr txBox="1"/>
          <p:nvPr/>
        </p:nvSpPr>
        <p:spPr>
          <a:xfrm>
            <a:off x="3067779" y="4764148"/>
            <a:ext cx="56922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Image rotated about 45°	Fourier transform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65"/>
          <p:cNvSpPr txBox="1"/>
          <p:nvPr/>
        </p:nvSpPr>
        <p:spPr>
          <a:xfrm>
            <a:off x="381746" y="5410950"/>
            <a:ext cx="11658900" cy="980100"/>
          </a:xfrm>
          <a:prstGeom prst="rect">
            <a:avLst/>
          </a:prstGeom>
          <a:noFill/>
          <a:ln cap="flat" cmpd="sng" w="25400">
            <a:solidFill>
              <a:srgbClr val="8064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800">
            <a:spAutoFit/>
          </a:bodyPr>
          <a:lstStyle/>
          <a:p>
            <a:pPr indent="-342900" lvl="0" marL="457200" marR="162560" rtl="0" algn="l">
              <a:lnSpc>
                <a:spcPct val="118888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We can see that the line of the </a:t>
            </a:r>
            <a:r>
              <a:rPr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main peaks</a:t>
            </a:r>
            <a:r>
              <a:rPr lang="en-US" sz="1800" u="non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u="none">
                <a:latin typeface="Calibri"/>
                <a:ea typeface="Calibri"/>
                <a:cs typeface="Calibri"/>
                <a:sym typeface="Calibri"/>
              </a:rPr>
              <a:t>in the Fourier domain is </a:t>
            </a:r>
            <a:r>
              <a:rPr b="1"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rotated</a:t>
            </a:r>
            <a:r>
              <a:rPr b="1" lang="en-US" sz="1800" u="non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u="none">
                <a:latin typeface="Calibri"/>
                <a:ea typeface="Calibri"/>
                <a:cs typeface="Calibri"/>
                <a:sym typeface="Calibri"/>
              </a:rPr>
              <a:t>according to rotation of the input image.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162560" rtl="0" algn="l">
              <a:lnSpc>
                <a:spcPct val="118888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second line </a:t>
            </a:r>
            <a:r>
              <a:rPr lang="en-US" sz="1800" u="none">
                <a:latin typeface="Calibri"/>
                <a:ea typeface="Calibri"/>
                <a:cs typeface="Calibri"/>
                <a:sym typeface="Calibri"/>
              </a:rPr>
              <a:t>in the logarithmic image (perpendicular to the main direction) originates from the </a:t>
            </a:r>
            <a:r>
              <a:rPr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black corners</a:t>
            </a:r>
            <a:r>
              <a:rPr lang="en-US" sz="1800" u="non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u="none">
                <a:latin typeface="Calibri"/>
                <a:ea typeface="Calibri"/>
                <a:cs typeface="Calibri"/>
                <a:sym typeface="Calibri"/>
              </a:rPr>
              <a:t>in the rotated image.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65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56" name="Google Shape;856;p65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857" name="Google Shape;857;p6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8" name="Google Shape;858;p6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9" name="Google Shape;859;p65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66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Examples of	2D DFT</a:t>
            </a:r>
            <a:endParaRPr/>
          </a:p>
        </p:txBody>
      </p:sp>
      <p:pic>
        <p:nvPicPr>
          <p:cNvPr id="865" name="Google Shape;865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4852" y="1072263"/>
            <a:ext cx="3813047" cy="3813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6" name="Google Shape;866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34100" y="1072263"/>
            <a:ext cx="3813047" cy="3813047"/>
          </a:xfrm>
          <a:prstGeom prst="rect">
            <a:avLst/>
          </a:prstGeom>
          <a:noFill/>
          <a:ln>
            <a:noFill/>
          </a:ln>
        </p:spPr>
      </p:pic>
      <p:sp>
        <p:nvSpPr>
          <p:cNvPr id="867" name="Google Shape;867;p66"/>
          <p:cNvSpPr txBox="1"/>
          <p:nvPr/>
        </p:nvSpPr>
        <p:spPr>
          <a:xfrm>
            <a:off x="3019290" y="4873211"/>
            <a:ext cx="16638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Fourier transform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66"/>
          <p:cNvSpPr txBox="1"/>
          <p:nvPr/>
        </p:nvSpPr>
        <p:spPr>
          <a:xfrm>
            <a:off x="6199573" y="4854009"/>
            <a:ext cx="37362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Thresholded image of Fourier transform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66"/>
          <p:cNvSpPr txBox="1"/>
          <p:nvPr/>
        </p:nvSpPr>
        <p:spPr>
          <a:xfrm>
            <a:off x="370800" y="5454225"/>
            <a:ext cx="11702700" cy="980100"/>
          </a:xfrm>
          <a:prstGeom prst="rect">
            <a:avLst/>
          </a:prstGeom>
          <a:noFill/>
          <a:ln cap="flat" cmpd="sng" w="25400">
            <a:solidFill>
              <a:srgbClr val="8064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3800">
            <a:spAutoFit/>
          </a:bodyPr>
          <a:lstStyle/>
          <a:p>
            <a:pPr indent="-342900" lvl="0" marL="457200" marR="162560" rtl="0" algn="l">
              <a:lnSpc>
                <a:spcPct val="118888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We can see that the line of the </a:t>
            </a:r>
            <a:r>
              <a:rPr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main peaks</a:t>
            </a:r>
            <a:r>
              <a:rPr lang="en-US" sz="1800" u="non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u="none">
                <a:latin typeface="Calibri"/>
                <a:ea typeface="Calibri"/>
                <a:cs typeface="Calibri"/>
                <a:sym typeface="Calibri"/>
              </a:rPr>
              <a:t>in the Fourier domain is </a:t>
            </a:r>
            <a:r>
              <a:rPr b="1"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rotated</a:t>
            </a:r>
            <a:r>
              <a:rPr b="1" lang="en-US" sz="1800" u="non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u="none">
                <a:latin typeface="Calibri"/>
                <a:ea typeface="Calibri"/>
                <a:cs typeface="Calibri"/>
                <a:sym typeface="Calibri"/>
              </a:rPr>
              <a:t>according to rotation of the input image.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162560" rtl="0" algn="l">
              <a:lnSpc>
                <a:spcPct val="118888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second line </a:t>
            </a:r>
            <a:r>
              <a:rPr lang="en-US" sz="1800" u="none">
                <a:latin typeface="Calibri"/>
                <a:ea typeface="Calibri"/>
                <a:cs typeface="Calibri"/>
                <a:sym typeface="Calibri"/>
              </a:rPr>
              <a:t>in the logarithmic image (perpendicular to the main direction) originates from the </a:t>
            </a:r>
            <a:r>
              <a:rPr lang="en-US" sz="1800" u="sng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black corners</a:t>
            </a:r>
            <a:r>
              <a:rPr lang="en-US" sz="1800" u="non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u="none">
                <a:latin typeface="Calibri"/>
                <a:ea typeface="Calibri"/>
                <a:cs typeface="Calibri"/>
                <a:sym typeface="Calibri"/>
              </a:rPr>
              <a:t>in the rotated image.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66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71" name="Google Shape;871;p66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872" name="Google Shape;872;p6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3" name="Google Shape;873;p6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4" name="Google Shape;874;p66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67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2D DFT – </a:t>
            </a:r>
            <a:r>
              <a:rPr i="1" lang="en-US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Points to note</a:t>
            </a:r>
            <a:endParaRPr/>
          </a:p>
        </p:txBody>
      </p:sp>
      <p:sp>
        <p:nvSpPr>
          <p:cNvPr id="880" name="Google Shape;880;p67"/>
          <p:cNvSpPr txBox="1"/>
          <p:nvPr/>
        </p:nvSpPr>
        <p:spPr>
          <a:xfrm>
            <a:off x="228600" y="1169650"/>
            <a:ext cx="11637000" cy="3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925">
            <a:spAutoFit/>
          </a:bodyPr>
          <a:lstStyle/>
          <a:p>
            <a:pPr indent="-342900" lvl="0" marL="354965" marR="5080" rtl="0" algn="l">
              <a:lnSpc>
                <a:spcPct val="108125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 u="sng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Half of each image is a </a:t>
            </a:r>
            <a:r>
              <a:rPr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duplicate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of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the other half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6385" lvl="0" marL="755650" marR="81915" rtl="0" algn="l">
              <a:lnSpc>
                <a:spcPct val="108214"/>
              </a:lnSpc>
              <a:spcBef>
                <a:spcPts val="685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Both the halves have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exactly the same amount of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information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)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3535" lvl="0" marL="355600" marR="258445" rtl="0" algn="l">
              <a:lnSpc>
                <a:spcPct val="108125"/>
              </a:lnSpc>
              <a:spcBef>
                <a:spcPts val="4959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However,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we need </a:t>
            </a:r>
            <a:r>
              <a:rPr lang="en-US" sz="3200" u="sng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BOTH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 images to recreate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the original image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.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3535" lvl="0" marL="355600" marR="1017268" rtl="0" algn="l">
              <a:lnSpc>
                <a:spcPct val="108125"/>
              </a:lnSpc>
              <a:spcBef>
                <a:spcPts val="4984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Both the halves together</a:t>
            </a:r>
            <a:r>
              <a:rPr lang="en-US" sz="32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produce whole image.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881" name="Google Shape;881;p67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82" name="Google Shape;882;p67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883" name="Google Shape;883;p6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4" name="Google Shape;884;p6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5" name="Google Shape;885;p67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68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00000"/>
                </a:solidFill>
              </a:rPr>
              <a:t>Fast Fourier transform (FFT)</a:t>
            </a:r>
            <a:endParaRPr/>
          </a:p>
        </p:txBody>
      </p:sp>
      <p:sp>
        <p:nvSpPr>
          <p:cNvPr id="891" name="Google Shape;891;p68"/>
          <p:cNvSpPr txBox="1"/>
          <p:nvPr/>
        </p:nvSpPr>
        <p:spPr>
          <a:xfrm>
            <a:off x="228600" y="1225238"/>
            <a:ext cx="11296800" cy="47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67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In case of fast Fourier transform (FFT)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It only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generates the left half	the images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.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4380" marR="676275" rtl="0" algn="l">
              <a:lnSpc>
                <a:spcPct val="108214"/>
              </a:lnSpc>
              <a:spcBef>
                <a:spcPts val="71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The other half is generated by rotations and 	duplication of the generated data.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5600" marR="72390" rtl="0" algn="l">
              <a:lnSpc>
                <a:spcPct val="108125"/>
              </a:lnSpc>
              <a:spcBef>
                <a:spcPts val="443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When converting Frequency Domain images back to a Spatial Domain Image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4380" marR="167640" rtl="0" algn="l">
              <a:lnSpc>
                <a:spcPct val="108214"/>
              </a:lnSpc>
              <a:spcBef>
                <a:spcPts val="68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the algorithm again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only looks at the left half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 of the image.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4380" marR="5080" rtl="0" algn="l">
              <a:lnSpc>
                <a:spcPct val="108214"/>
              </a:lnSpc>
              <a:spcBef>
                <a:spcPts val="66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The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right half is completely ignored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, as it is only a duplicate.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892" name="Google Shape;892;p68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93" name="Google Shape;893;p68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894" name="Google Shape;894;p6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5" name="Google Shape;895;p6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6" name="Google Shape;896;p68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69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Magnitude and Phase of DFT</a:t>
            </a:r>
            <a:endParaRPr/>
          </a:p>
        </p:txBody>
      </p:sp>
      <p:sp>
        <p:nvSpPr>
          <p:cNvPr id="902" name="Google Shape;902;p69"/>
          <p:cNvSpPr txBox="1"/>
          <p:nvPr/>
        </p:nvSpPr>
        <p:spPr>
          <a:xfrm>
            <a:off x="670560" y="1126248"/>
            <a:ext cx="75945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50"/>
              <a:buFont typeface="Noto Sans Symbols"/>
              <a:buChar char="▪"/>
            </a:pP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What is more important (</a:t>
            </a:r>
            <a:r>
              <a:rPr lang="en-US" sz="2800">
                <a:solidFill>
                  <a:srgbClr val="17375E"/>
                </a:solidFill>
                <a:latin typeface="Bell MT"/>
                <a:ea typeface="Bell MT"/>
                <a:cs typeface="Bell MT"/>
                <a:sym typeface="Bell MT"/>
              </a:rPr>
              <a:t>Magnitude </a:t>
            </a: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and </a:t>
            </a:r>
            <a:r>
              <a:rPr lang="en-US" sz="2800">
                <a:solidFill>
                  <a:srgbClr val="17375E"/>
                </a:solidFill>
                <a:latin typeface="Bell MT"/>
                <a:ea typeface="Bell MT"/>
                <a:cs typeface="Bell MT"/>
                <a:sym typeface="Bell MT"/>
              </a:rPr>
              <a:t>Phase</a:t>
            </a: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) ?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03" name="Google Shape;903;p69"/>
          <p:cNvSpPr txBox="1"/>
          <p:nvPr/>
        </p:nvSpPr>
        <p:spPr>
          <a:xfrm>
            <a:off x="634750" y="4960250"/>
            <a:ext cx="11154300" cy="12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50"/>
              <a:buFont typeface="Noto Sans Symbols"/>
              <a:buChar char="▪"/>
            </a:pPr>
            <a:r>
              <a:rPr b="1" lang="en-US" sz="2800" u="sng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Hint: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7019" lvl="0" marL="756285" marR="5080" rtl="0" algn="l">
              <a:lnSpc>
                <a:spcPct val="95833"/>
              </a:lnSpc>
              <a:spcBef>
                <a:spcPts val="5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4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use inverse DFT to reconstruct the image using </a:t>
            </a:r>
            <a:r>
              <a:rPr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magnitude </a:t>
            </a:r>
            <a:r>
              <a:rPr lang="en-US" sz="24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or </a:t>
            </a:r>
            <a:r>
              <a:rPr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phase </a:t>
            </a:r>
            <a:r>
              <a:rPr lang="en-US" sz="24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only information and check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904" name="Google Shape;904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1981200"/>
            <a:ext cx="2121337" cy="1882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33800" y="1905000"/>
            <a:ext cx="2118359" cy="1965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0" y="1905000"/>
            <a:ext cx="1946973" cy="1981160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p69"/>
          <p:cNvSpPr txBox="1"/>
          <p:nvPr/>
        </p:nvSpPr>
        <p:spPr>
          <a:xfrm>
            <a:off x="4296727" y="3824732"/>
            <a:ext cx="10908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030A0"/>
                </a:solidFill>
                <a:latin typeface="Bell MT"/>
                <a:ea typeface="Bell MT"/>
                <a:cs typeface="Bell MT"/>
                <a:sym typeface="Bell MT"/>
              </a:rPr>
              <a:t>magnitude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08" name="Google Shape;908;p69"/>
          <p:cNvSpPr txBox="1"/>
          <p:nvPr/>
        </p:nvSpPr>
        <p:spPr>
          <a:xfrm>
            <a:off x="7108964" y="3824732"/>
            <a:ext cx="5892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7030A0"/>
                </a:solidFill>
                <a:latin typeface="Bell MT"/>
                <a:ea typeface="Bell MT"/>
                <a:cs typeface="Bell MT"/>
                <a:sym typeface="Bell MT"/>
              </a:rPr>
              <a:t>phase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09" name="Google Shape;909;p69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10" name="Google Shape;910;p69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911" name="Google Shape;911;p6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2" name="Google Shape;912;p6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3" name="Google Shape;913;p69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70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Magnitude and Phase of DFT</a:t>
            </a:r>
            <a:endParaRPr/>
          </a:p>
        </p:txBody>
      </p:sp>
      <p:sp>
        <p:nvSpPr>
          <p:cNvPr id="919" name="Google Shape;919;p70"/>
          <p:cNvSpPr txBox="1"/>
          <p:nvPr/>
        </p:nvSpPr>
        <p:spPr>
          <a:xfrm>
            <a:off x="535950" y="1267450"/>
            <a:ext cx="11351400" cy="3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-342900" lvl="0" marL="355600" marR="40640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Magnitude determines the relative presence of	a sinusoid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in the original function </a:t>
            </a:r>
            <a:r>
              <a:rPr i="1" lang="en-US" sz="3200">
                <a:latin typeface="Times New Roman"/>
                <a:ea typeface="Times New Roman"/>
                <a:cs typeface="Times New Roman"/>
                <a:sym typeface="Times New Roman"/>
              </a:rPr>
              <a:t>f(x, y)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66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55600" marR="91376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Phase determines the relative phases (placement)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of the sine and cosine waves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7019" lvl="0" marL="756285" marR="5080" rtl="0" algn="l">
              <a:lnSpc>
                <a:spcPct val="101099"/>
              </a:lnSpc>
              <a:spcBef>
                <a:spcPts val="66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(i.e., how they line up with respect to one another) to form original signal </a:t>
            </a:r>
            <a:r>
              <a:rPr i="1" lang="en-US" sz="2800">
                <a:latin typeface="Times New Roman"/>
                <a:ea typeface="Times New Roman"/>
                <a:cs typeface="Times New Roman"/>
                <a:sym typeface="Times New Roman"/>
              </a:rPr>
              <a:t>f(x, y)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0" name="Google Shape;920;p70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21" name="Google Shape;921;p70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922" name="Google Shape;922;p7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3" name="Google Shape;923;p7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4" name="Google Shape;924;p70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71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Magnitude and Phase of DFT</a:t>
            </a:r>
            <a:endParaRPr/>
          </a:p>
        </p:txBody>
      </p:sp>
      <p:pic>
        <p:nvPicPr>
          <p:cNvPr id="930" name="Google Shape;930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884" y="1219200"/>
            <a:ext cx="2335860" cy="2211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3581400"/>
            <a:ext cx="2267711" cy="2279256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71"/>
          <p:cNvSpPr txBox="1"/>
          <p:nvPr/>
        </p:nvSpPr>
        <p:spPr>
          <a:xfrm>
            <a:off x="3733800" y="1092100"/>
            <a:ext cx="7683300" cy="41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88900" lvl="0" marL="100965" marR="927735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Reconstructed image using </a:t>
            </a:r>
            <a:r>
              <a:rPr lang="en-US" sz="2800">
                <a:solidFill>
                  <a:srgbClr val="C0504D"/>
                </a:solidFill>
                <a:latin typeface="Bell MT"/>
                <a:ea typeface="Bell MT"/>
                <a:cs typeface="Bell MT"/>
                <a:sym typeface="Bell MT"/>
              </a:rPr>
              <a:t>magnitude only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0" lvl="0" marL="12700" marR="5080" rtl="0" algn="l">
              <a:lnSpc>
                <a:spcPct val="1197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(</a:t>
            </a: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i.e.,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magnitude determines the contribution of	each component!)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0" lvl="0" marL="12700" marR="5080" rtl="0" algn="l">
              <a:lnSpc>
                <a:spcPct val="1197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88900" lvl="0" marL="100965" marR="927735" rtl="0" algn="l">
              <a:lnSpc>
                <a:spcPct val="120000"/>
              </a:lnSpc>
              <a:spcBef>
                <a:spcPts val="4875"/>
              </a:spcBef>
              <a:spcAft>
                <a:spcPts val="0"/>
              </a:spcAft>
              <a:buNone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Reconstructed image using </a:t>
            </a:r>
            <a:r>
              <a:rPr lang="en-US" sz="2800">
                <a:solidFill>
                  <a:srgbClr val="C0504D"/>
                </a:solidFill>
                <a:latin typeface="Bell MT"/>
                <a:ea typeface="Bell MT"/>
                <a:cs typeface="Bell MT"/>
                <a:sym typeface="Bell MT"/>
              </a:rPr>
              <a:t>phase only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None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(</a:t>
            </a: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i.e.,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phase determines which components are present!)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33" name="Google Shape;933;p71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34" name="Google Shape;934;p71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935" name="Google Shape;935;p7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6" name="Google Shape;936;p7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7" name="Google Shape;937;p71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72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Magnitude and Phase of DFT</a:t>
            </a:r>
            <a:endParaRPr/>
          </a:p>
        </p:txBody>
      </p:sp>
      <p:sp>
        <p:nvSpPr>
          <p:cNvPr id="943" name="Google Shape;943;p72"/>
          <p:cNvSpPr txBox="1"/>
          <p:nvPr/>
        </p:nvSpPr>
        <p:spPr>
          <a:xfrm>
            <a:off x="228600" y="1074475"/>
            <a:ext cx="11615100" cy="50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157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Which is more important for a given signal?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-368300" lvl="1" marL="83820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C00000"/>
              </a:buClr>
              <a:buSzPts val="2600"/>
              <a:buFont typeface="Arial"/>
              <a:buChar char="–"/>
            </a:pPr>
            <a:r>
              <a:rPr lang="en-US" sz="2600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Answer: Phase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5600" marR="469265" rtl="0" algn="l">
              <a:lnSpc>
                <a:spcPct val="108000"/>
              </a:lnSpc>
              <a:spcBef>
                <a:spcPts val="47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Does one component (magnitude or phase) contain more information than another?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-286385" lvl="1" marL="756285" rtl="0" algn="l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Clr>
                <a:srgbClr val="002060"/>
              </a:buClr>
              <a:buSzPts val="2600"/>
              <a:buFont typeface="Arial"/>
              <a:buChar char="–"/>
            </a:pPr>
            <a:r>
              <a:rPr lang="en-US" sz="2600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Yes, typically phase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5600" marR="5080" rtl="0" algn="l">
              <a:lnSpc>
                <a:spcPct val="108000"/>
              </a:lnSpc>
              <a:spcBef>
                <a:spcPts val="47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When filtering, if	we have to preserve one component (magnitude or phase) more, which one would it be?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-286385" lvl="1" marL="756285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rgbClr val="00B050"/>
              </a:buClr>
              <a:buSzPts val="2600"/>
              <a:buFont typeface="Arial"/>
              <a:buChar char="–"/>
            </a:pPr>
            <a:r>
              <a:rPr lang="en-US" sz="26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It is important to </a:t>
            </a:r>
            <a:r>
              <a:rPr lang="en-US" sz="26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preserve</a:t>
            </a:r>
            <a:r>
              <a:rPr lang="en-US" sz="26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6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phase during filtering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44" name="Google Shape;944;p72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45" name="Google Shape;945;p72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946" name="Google Shape;946;p7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7" name="Google Shape;947;p7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8" name="Google Shape;948;p72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73"/>
          <p:cNvSpPr txBox="1"/>
          <p:nvPr>
            <p:ph idx="4294967295" type="title"/>
          </p:nvPr>
        </p:nvSpPr>
        <p:spPr>
          <a:xfrm>
            <a:off x="750" y="153150"/>
            <a:ext cx="121920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2-D DFT Examples of Few Natural Images</a:t>
            </a:r>
            <a:endParaRPr sz="3200"/>
          </a:p>
        </p:txBody>
      </p:sp>
      <p:pic>
        <p:nvPicPr>
          <p:cNvPr id="954" name="Google Shape;954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7588" y="3937788"/>
            <a:ext cx="2505455" cy="2467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5" name="Google Shape;955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3188" y="1194587"/>
            <a:ext cx="2514599" cy="1876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6" name="Google Shape;956;p7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29388" y="4318788"/>
            <a:ext cx="2467355" cy="1837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57" name="Google Shape;957;p7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48788" y="1118388"/>
            <a:ext cx="2429255" cy="2438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58" name="Google Shape;958;p7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48788" y="3861588"/>
            <a:ext cx="2485631" cy="2523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59" name="Google Shape;959;p7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33788" y="1118388"/>
            <a:ext cx="2458211" cy="2467355"/>
          </a:xfrm>
          <a:prstGeom prst="rect">
            <a:avLst/>
          </a:prstGeom>
          <a:noFill/>
          <a:ln>
            <a:noFill/>
          </a:ln>
        </p:spPr>
      </p:pic>
      <p:sp>
        <p:nvSpPr>
          <p:cNvPr id="960" name="Google Shape;960;p73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61" name="Google Shape;961;p73"/>
          <p:cNvSpPr txBox="1"/>
          <p:nvPr>
            <p:ph idx="4294967295" type="ftr"/>
          </p:nvPr>
        </p:nvSpPr>
        <p:spPr>
          <a:xfrm>
            <a:off x="4399503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962" name="Google Shape;962;p7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3" name="Google Shape;963;p73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74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69" name="Google Shape;969;p74"/>
          <p:cNvSpPr txBox="1"/>
          <p:nvPr>
            <p:ph idx="4294967295" type="ftr"/>
          </p:nvPr>
        </p:nvSpPr>
        <p:spPr>
          <a:xfrm>
            <a:off x="4398753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970" name="Google Shape;970;p7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1" name="Google Shape;971;p74"/>
          <p:cNvSpPr txBox="1"/>
          <p:nvPr/>
        </p:nvSpPr>
        <p:spPr>
          <a:xfrm>
            <a:off x="2945850" y="2874900"/>
            <a:ext cx="630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End</a:t>
            </a:r>
            <a:endParaRPr b="1" sz="60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75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77" name="Google Shape;977;p75"/>
          <p:cNvSpPr txBox="1"/>
          <p:nvPr>
            <p:ph idx="4294967295" type="title"/>
          </p:nvPr>
        </p:nvSpPr>
        <p:spPr>
          <a:xfrm>
            <a:off x="0" y="2185050"/>
            <a:ext cx="12192000" cy="24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92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latin typeface="Bell MT"/>
                <a:ea typeface="Bell MT"/>
                <a:cs typeface="Bell MT"/>
                <a:sym typeface="Bell MT"/>
              </a:rPr>
              <a:t>Fourier	Transform</a:t>
            </a:r>
            <a:endParaRPr sz="6000">
              <a:latin typeface="Bell MT"/>
              <a:ea typeface="Bell MT"/>
              <a:cs typeface="Bell MT"/>
              <a:sym typeface="Bell MT"/>
            </a:endParaRPr>
          </a:p>
          <a:p>
            <a:pPr indent="0" lvl="0" marL="0" rtl="0" algn="ctr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B05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B050"/>
                </a:solidFill>
              </a:rPr>
              <a:t>Part – 4</a:t>
            </a:r>
            <a:endParaRPr/>
          </a:p>
        </p:txBody>
      </p:sp>
      <p:sp>
        <p:nvSpPr>
          <p:cNvPr id="978" name="Google Shape;978;p75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979" name="Google Shape;979;p7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0" name="Google Shape;980;p7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76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86" name="Google Shape;986;p76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87" name="Google Shape;987;p76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Agenda for Today’s Class</a:t>
            </a:r>
            <a:endParaRPr/>
          </a:p>
        </p:txBody>
      </p:sp>
      <p:sp>
        <p:nvSpPr>
          <p:cNvPr id="988" name="Google Shape;988;p76"/>
          <p:cNvSpPr txBox="1"/>
          <p:nvPr/>
        </p:nvSpPr>
        <p:spPr>
          <a:xfrm>
            <a:off x="688352" y="960900"/>
            <a:ext cx="8331300" cy="40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55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Computational Complexity of	FT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1D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2D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535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Filtering in frequency (Fourier) domain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537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Properties of	DFT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89" name="Google Shape;989;p76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990" name="Google Shape;990;p7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1" name="Google Shape;991;p7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77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97" name="Google Shape;997;p77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98" name="Google Shape;998;p77"/>
          <p:cNvSpPr txBox="1"/>
          <p:nvPr>
            <p:ph idx="4294967295" type="title"/>
          </p:nvPr>
        </p:nvSpPr>
        <p:spPr>
          <a:xfrm>
            <a:off x="0" y="153150"/>
            <a:ext cx="12192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B050"/>
                </a:solidFill>
              </a:rPr>
              <a:t>Computational Complexity of 1-D Fourier Transform (1)</a:t>
            </a:r>
            <a:endParaRPr sz="3600"/>
          </a:p>
        </p:txBody>
      </p:sp>
      <p:sp>
        <p:nvSpPr>
          <p:cNvPr id="999" name="Google Shape;999;p77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000" name="Google Shape;1000;p7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1" name="Google Shape;1001;p7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02" name="Google Shape;1002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100" y="1060000"/>
            <a:ext cx="11485827" cy="5307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78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08" name="Google Shape;1008;p78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09" name="Google Shape;1009;p78"/>
          <p:cNvSpPr txBox="1"/>
          <p:nvPr>
            <p:ph idx="4294967295" type="title"/>
          </p:nvPr>
        </p:nvSpPr>
        <p:spPr>
          <a:xfrm>
            <a:off x="0" y="153150"/>
            <a:ext cx="12192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B050"/>
                </a:solidFill>
              </a:rPr>
              <a:t>Computational Complexity of 1-D Fourier Transform (2)</a:t>
            </a:r>
            <a:endParaRPr sz="3600"/>
          </a:p>
        </p:txBody>
      </p:sp>
      <p:sp>
        <p:nvSpPr>
          <p:cNvPr id="1010" name="Google Shape;1010;p78"/>
          <p:cNvSpPr/>
          <p:nvPr/>
        </p:nvSpPr>
        <p:spPr>
          <a:xfrm>
            <a:off x="685800" y="3962400"/>
            <a:ext cx="11049000" cy="2362200"/>
          </a:xfrm>
          <a:custGeom>
            <a:rect b="b" l="l" r="r" t="t"/>
            <a:pathLst>
              <a:path extrusionOk="0" h="2362200" w="11049000">
                <a:moveTo>
                  <a:pt x="0" y="0"/>
                </a:moveTo>
                <a:lnTo>
                  <a:pt x="11049000" y="0"/>
                </a:lnTo>
                <a:lnTo>
                  <a:pt x="110490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11" name="Google Shape;1011;p78"/>
          <p:cNvSpPr txBox="1"/>
          <p:nvPr/>
        </p:nvSpPr>
        <p:spPr>
          <a:xfrm>
            <a:off x="739140" y="3959711"/>
            <a:ext cx="10922100" cy="23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80365" rtl="0" algn="l">
              <a:lnSpc>
                <a:spcPct val="11984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The </a:t>
            </a:r>
            <a:r>
              <a:rPr i="1"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direct implementation 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of	the DFT using above equation requires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O(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N</a:t>
            </a:r>
            <a:r>
              <a:rPr baseline="30000" lang="en-US" sz="3150">
                <a:latin typeface="Bell MT"/>
                <a:ea typeface="Bell MT"/>
                <a:cs typeface="Bell MT"/>
                <a:sym typeface="Bell MT"/>
              </a:rPr>
              <a:t>2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) operations.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495300" rtl="0" algn="l">
              <a:lnSpc>
                <a:spcPct val="100000"/>
              </a:lnSpc>
              <a:spcBef>
                <a:spcPts val="71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i="1"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complexity O(N</a:t>
            </a:r>
            <a:r>
              <a:rPr baseline="30000" i="1" lang="en-US" sz="2775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2</a:t>
            </a:r>
            <a:r>
              <a:rPr i="1"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)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80365" rtl="0" algn="l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Using the </a:t>
            </a:r>
            <a:r>
              <a:rPr i="1" lang="en-US" sz="32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FFT 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this is reduced to </a:t>
            </a: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O(</a:t>
            </a:r>
            <a:r>
              <a:rPr i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N </a:t>
            </a: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log(</a:t>
            </a:r>
            <a:r>
              <a:rPr i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N</a:t>
            </a: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))</a:t>
            </a:r>
            <a:r>
              <a:rPr i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.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012" name="Google Shape;1012;p78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013" name="Google Shape;1013;p7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4" name="Google Shape;1014;p7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5" name="Google Shape;1015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5200" y="1107688"/>
            <a:ext cx="8141599" cy="272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79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21" name="Google Shape;1021;p79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22" name="Google Shape;1022;p79"/>
          <p:cNvSpPr txBox="1"/>
          <p:nvPr>
            <p:ph idx="4294967295" type="title"/>
          </p:nvPr>
        </p:nvSpPr>
        <p:spPr>
          <a:xfrm>
            <a:off x="0" y="153150"/>
            <a:ext cx="12192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4F81BD"/>
                </a:solidFill>
              </a:rPr>
              <a:t>Computational Complexity of 2-D Fourier Transform (1)</a:t>
            </a:r>
            <a:endParaRPr sz="3600"/>
          </a:p>
        </p:txBody>
      </p:sp>
      <p:sp>
        <p:nvSpPr>
          <p:cNvPr id="1023" name="Google Shape;1023;p79"/>
          <p:cNvSpPr txBox="1"/>
          <p:nvPr/>
        </p:nvSpPr>
        <p:spPr>
          <a:xfrm>
            <a:off x="688354" y="1063250"/>
            <a:ext cx="38982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Forward DFT: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024" name="Google Shape;1024;p79"/>
          <p:cNvSpPr txBox="1"/>
          <p:nvPr/>
        </p:nvSpPr>
        <p:spPr>
          <a:xfrm>
            <a:off x="688353" y="2745750"/>
            <a:ext cx="33945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Inverse DFT: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025" name="Google Shape;1025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17391" y="1816711"/>
            <a:ext cx="5100884" cy="77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Google Shape;1026;p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09200" y="3295192"/>
            <a:ext cx="5343699" cy="80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7" name="Google Shape;1027;p79"/>
          <p:cNvSpPr txBox="1"/>
          <p:nvPr/>
        </p:nvSpPr>
        <p:spPr>
          <a:xfrm>
            <a:off x="7622540" y="2467095"/>
            <a:ext cx="2822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u, v = 0,1,2, …, N-1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028" name="Google Shape;1028;p79"/>
          <p:cNvSpPr txBox="1"/>
          <p:nvPr/>
        </p:nvSpPr>
        <p:spPr>
          <a:xfrm>
            <a:off x="7622540" y="4203850"/>
            <a:ext cx="28053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x, y = 0,1,2, …, N-1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029" name="Google Shape;1029;p79"/>
          <p:cNvSpPr txBox="1"/>
          <p:nvPr/>
        </p:nvSpPr>
        <p:spPr>
          <a:xfrm>
            <a:off x="609600" y="5180076"/>
            <a:ext cx="11125200" cy="502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342265" lvl="0" marL="4337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Complexity: O(N</a:t>
            </a:r>
            <a:r>
              <a:rPr baseline="30000" lang="en-US" sz="315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4</a:t>
            </a:r>
            <a:r>
              <a:rPr lang="en-US" sz="32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)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030" name="Google Shape;1030;p79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031" name="Google Shape;1031;p7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2" name="Google Shape;1032;p7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80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38" name="Google Shape;1038;p80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039" name="Google Shape;1039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8263" y="2288399"/>
            <a:ext cx="4988826" cy="796111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0"/>
          <p:cNvSpPr txBox="1"/>
          <p:nvPr>
            <p:ph idx="4294967295" type="title"/>
          </p:nvPr>
        </p:nvSpPr>
        <p:spPr>
          <a:xfrm>
            <a:off x="0" y="750"/>
            <a:ext cx="12192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4F81BD"/>
                </a:solidFill>
              </a:rPr>
              <a:t>Computational Complexity of 2-D Fourier Transform (2)</a:t>
            </a:r>
            <a:endParaRPr sz="3600"/>
          </a:p>
        </p:txBody>
      </p:sp>
      <p:pic>
        <p:nvPicPr>
          <p:cNvPr id="1041" name="Google Shape;1041;p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2208" y="3625930"/>
            <a:ext cx="4569793" cy="689256"/>
          </a:xfrm>
          <a:prstGeom prst="rect">
            <a:avLst/>
          </a:prstGeom>
          <a:noFill/>
          <a:ln>
            <a:noFill/>
          </a:ln>
        </p:spPr>
      </p:pic>
      <p:sp>
        <p:nvSpPr>
          <p:cNvPr id="1042" name="Google Shape;1042;p80"/>
          <p:cNvSpPr txBox="1"/>
          <p:nvPr/>
        </p:nvSpPr>
        <p:spPr>
          <a:xfrm>
            <a:off x="688350" y="370350"/>
            <a:ext cx="10745400" cy="31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2075">
            <a:spAutoFit/>
          </a:bodyPr>
          <a:lstStyle/>
          <a:p>
            <a:pPr indent="0" lvl="0" marL="2235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Reduction using DFT Property of	</a:t>
            </a:r>
            <a:r>
              <a:rPr i="1"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Separability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558ED5"/>
                </a:solidFill>
                <a:latin typeface="Bell MT"/>
                <a:ea typeface="Bell MT"/>
                <a:cs typeface="Bell MT"/>
                <a:sym typeface="Bell MT"/>
              </a:rPr>
              <a:t>The 2-D DFT can be computed using </a:t>
            </a:r>
            <a:r>
              <a:rPr lang="en-US" sz="3200" u="sng">
                <a:solidFill>
                  <a:srgbClr val="558ED5"/>
                </a:solidFill>
                <a:latin typeface="Bell MT"/>
                <a:ea typeface="Bell MT"/>
                <a:cs typeface="Bell MT"/>
                <a:sym typeface="Bell MT"/>
              </a:rPr>
              <a:t>1-D transforms</a:t>
            </a:r>
            <a:r>
              <a:rPr lang="en-US" sz="3200" u="none">
                <a:solidFill>
                  <a:srgbClr val="558ED5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b="1" lang="en-US" sz="3200" u="none">
                <a:solidFill>
                  <a:srgbClr val="558ED5"/>
                </a:solidFill>
                <a:latin typeface="Bell MT"/>
                <a:ea typeface="Bell MT"/>
                <a:cs typeface="Bell MT"/>
                <a:sym typeface="Bell MT"/>
              </a:rPr>
              <a:t>only</a:t>
            </a:r>
            <a:r>
              <a:rPr lang="en-US" sz="3200" u="none">
                <a:solidFill>
                  <a:srgbClr val="558ED5"/>
                </a:solidFill>
                <a:latin typeface="Bell MT"/>
                <a:ea typeface="Bell MT"/>
                <a:cs typeface="Bell MT"/>
                <a:sym typeface="Bell MT"/>
              </a:rPr>
              <a:t>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1831975" marR="6577330" rtl="0" algn="l">
              <a:lnSpc>
                <a:spcPct val="400000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Forward DFT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: Inverse DFT: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043" name="Google Shape;1043;p80"/>
          <p:cNvSpPr txBox="1"/>
          <p:nvPr/>
        </p:nvSpPr>
        <p:spPr>
          <a:xfrm>
            <a:off x="1146201" y="5055975"/>
            <a:ext cx="29577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0504D"/>
                </a:solidFill>
                <a:latin typeface="Bell MT"/>
                <a:ea typeface="Bell MT"/>
                <a:cs typeface="Bell MT"/>
                <a:sym typeface="Bell MT"/>
              </a:rPr>
              <a:t>Kernel is separable: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044" name="Google Shape;1044;p80"/>
          <p:cNvSpPr txBox="1"/>
          <p:nvPr/>
        </p:nvSpPr>
        <p:spPr>
          <a:xfrm>
            <a:off x="5586289" y="5174887"/>
            <a:ext cx="1830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5" name="Google Shape;1045;p80"/>
          <p:cNvSpPr txBox="1"/>
          <p:nvPr/>
        </p:nvSpPr>
        <p:spPr>
          <a:xfrm>
            <a:off x="7597509" y="5174887"/>
            <a:ext cx="1830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6" name="Google Shape;1046;p80"/>
          <p:cNvSpPr txBox="1"/>
          <p:nvPr/>
        </p:nvSpPr>
        <p:spPr>
          <a:xfrm>
            <a:off x="8937955" y="5174887"/>
            <a:ext cx="1830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7" name="Google Shape;1047;p80"/>
          <p:cNvSpPr txBox="1"/>
          <p:nvPr/>
        </p:nvSpPr>
        <p:spPr>
          <a:xfrm>
            <a:off x="4390434" y="5128131"/>
            <a:ext cx="2070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450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34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" name="Google Shape;1048;p80"/>
          <p:cNvSpPr txBox="1"/>
          <p:nvPr/>
        </p:nvSpPr>
        <p:spPr>
          <a:xfrm>
            <a:off x="7946952" y="5128131"/>
            <a:ext cx="2070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450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34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9" name="Google Shape;1049;p80"/>
          <p:cNvSpPr txBox="1"/>
          <p:nvPr/>
        </p:nvSpPr>
        <p:spPr>
          <a:xfrm>
            <a:off x="4573516" y="4962842"/>
            <a:ext cx="1584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j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US" sz="2100">
                <a:latin typeface="Noto Sans Symbols"/>
                <a:ea typeface="Noto Sans Symbols"/>
                <a:cs typeface="Noto Sans Symbols"/>
                <a:sym typeface="Noto Sans Symbols"/>
              </a:rPr>
              <a:t>π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( </a:t>
            </a:r>
            <a:r>
              <a:rPr baseline="30000" i="1" lang="en-US" sz="3000" u="sng">
                <a:latin typeface="Times New Roman"/>
                <a:ea typeface="Times New Roman"/>
                <a:cs typeface="Times New Roman"/>
                <a:sym typeface="Times New Roman"/>
              </a:rPr>
              <a:t>ux</a:t>
            </a:r>
            <a:r>
              <a:rPr baseline="30000" lang="en-US" sz="3000" u="sng"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baseline="30000" i="1" lang="en-US" sz="3000" u="sng">
                <a:latin typeface="Times New Roman"/>
                <a:ea typeface="Times New Roman"/>
                <a:cs typeface="Times New Roman"/>
                <a:sym typeface="Times New Roman"/>
              </a:rPr>
              <a:t>vy</a:t>
            </a:r>
            <a:r>
              <a:rPr baseline="30000" i="1" lang="en-US" sz="3000" u="none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u="none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0" name="Google Shape;1050;p80"/>
          <p:cNvSpPr txBox="1"/>
          <p:nvPr/>
        </p:nvSpPr>
        <p:spPr>
          <a:xfrm>
            <a:off x="6785174" y="4962842"/>
            <a:ext cx="1182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j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US" sz="2100">
                <a:latin typeface="Noto Sans Symbols"/>
                <a:ea typeface="Noto Sans Symbols"/>
                <a:cs typeface="Noto Sans Symbols"/>
                <a:sym typeface="Noto Sans Symbols"/>
              </a:rPr>
              <a:t>π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( </a:t>
            </a:r>
            <a:r>
              <a:rPr baseline="30000" i="1" lang="en-US" sz="3000" u="sng">
                <a:latin typeface="Times New Roman"/>
                <a:ea typeface="Times New Roman"/>
                <a:cs typeface="Times New Roman"/>
                <a:sym typeface="Times New Roman"/>
              </a:rPr>
              <a:t>ux</a:t>
            </a:r>
            <a:r>
              <a:rPr baseline="30000" i="1" lang="en-US" sz="3000" u="none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u="none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1" name="Google Shape;1051;p80"/>
          <p:cNvSpPr txBox="1"/>
          <p:nvPr/>
        </p:nvSpPr>
        <p:spPr>
          <a:xfrm>
            <a:off x="8130189" y="4962842"/>
            <a:ext cx="11748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Noto Sans Symbols"/>
                <a:ea typeface="Noto Sans Symbols"/>
                <a:cs typeface="Noto Sans Symbols"/>
                <a:sym typeface="Noto Sans Symbols"/>
              </a:rPr>
              <a:t>−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j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US" sz="2100">
                <a:latin typeface="Noto Sans Symbols"/>
                <a:ea typeface="Noto Sans Symbols"/>
                <a:cs typeface="Noto Sans Symbols"/>
                <a:sym typeface="Noto Sans Symbols"/>
              </a:rPr>
              <a:t>π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( </a:t>
            </a:r>
            <a:r>
              <a:rPr baseline="30000" i="1" lang="en-US" sz="3000" u="sng">
                <a:latin typeface="Times New Roman"/>
                <a:ea typeface="Times New Roman"/>
                <a:cs typeface="Times New Roman"/>
                <a:sym typeface="Times New Roman"/>
              </a:rPr>
              <a:t>vy</a:t>
            </a:r>
            <a:r>
              <a:rPr baseline="30000" i="1" lang="en-US" sz="3000" u="none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u="none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2" name="Google Shape;1052;p80"/>
          <p:cNvSpPr txBox="1"/>
          <p:nvPr/>
        </p:nvSpPr>
        <p:spPr>
          <a:xfrm>
            <a:off x="6267275" y="5128131"/>
            <a:ext cx="541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i="1" lang="en-US" sz="3450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34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3" name="Google Shape;1053;p80"/>
          <p:cNvSpPr/>
          <p:nvPr/>
        </p:nvSpPr>
        <p:spPr>
          <a:xfrm>
            <a:off x="8027669" y="2134361"/>
            <a:ext cx="1498600" cy="762000"/>
          </a:xfrm>
          <a:custGeom>
            <a:rect b="b" l="l" r="r" t="t"/>
            <a:pathLst>
              <a:path extrusionOk="0" h="762000" w="1498600">
                <a:moveTo>
                  <a:pt x="0" y="0"/>
                </a:moveTo>
                <a:lnTo>
                  <a:pt x="1498092" y="0"/>
                </a:lnTo>
                <a:lnTo>
                  <a:pt x="1498092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054" name="Google Shape;1054;p80"/>
          <p:cNvGrpSpPr/>
          <p:nvPr/>
        </p:nvGrpSpPr>
        <p:grpSpPr>
          <a:xfrm>
            <a:off x="9601961" y="2439159"/>
            <a:ext cx="838200" cy="2929473"/>
            <a:chOff x="9601961" y="2439159"/>
            <a:chExt cx="838200" cy="2929473"/>
          </a:xfrm>
        </p:grpSpPr>
        <p:sp>
          <p:nvSpPr>
            <p:cNvPr id="1055" name="Google Shape;1055;p80"/>
            <p:cNvSpPr/>
            <p:nvPr/>
          </p:nvSpPr>
          <p:spPr>
            <a:xfrm>
              <a:off x="9601961" y="3853522"/>
              <a:ext cx="838200" cy="1515110"/>
            </a:xfrm>
            <a:custGeom>
              <a:rect b="b" l="l" r="r" t="t"/>
              <a:pathLst>
                <a:path extrusionOk="0" h="1515110" w="838200">
                  <a:moveTo>
                    <a:pt x="837184" y="0"/>
                  </a:moveTo>
                  <a:lnTo>
                    <a:pt x="834591" y="58625"/>
                  </a:lnTo>
                  <a:lnTo>
                    <a:pt x="830455" y="116609"/>
                  </a:lnTo>
                  <a:lnTo>
                    <a:pt x="824803" y="173891"/>
                  </a:lnTo>
                  <a:lnTo>
                    <a:pt x="817667" y="230412"/>
                  </a:lnTo>
                  <a:lnTo>
                    <a:pt x="809077" y="286114"/>
                  </a:lnTo>
                  <a:lnTo>
                    <a:pt x="799062" y="340936"/>
                  </a:lnTo>
                  <a:lnTo>
                    <a:pt x="787653" y="394820"/>
                  </a:lnTo>
                  <a:lnTo>
                    <a:pt x="774880" y="447705"/>
                  </a:lnTo>
                  <a:lnTo>
                    <a:pt x="760772" y="499534"/>
                  </a:lnTo>
                  <a:lnTo>
                    <a:pt x="745361" y="550245"/>
                  </a:lnTo>
                  <a:lnTo>
                    <a:pt x="728675" y="599781"/>
                  </a:lnTo>
                  <a:lnTo>
                    <a:pt x="710745" y="648082"/>
                  </a:lnTo>
                  <a:lnTo>
                    <a:pt x="691601" y="695088"/>
                  </a:lnTo>
                  <a:lnTo>
                    <a:pt x="671273" y="740740"/>
                  </a:lnTo>
                  <a:lnTo>
                    <a:pt x="649792" y="784979"/>
                  </a:lnTo>
                  <a:lnTo>
                    <a:pt x="627186" y="827745"/>
                  </a:lnTo>
                  <a:lnTo>
                    <a:pt x="603487" y="868979"/>
                  </a:lnTo>
                  <a:lnTo>
                    <a:pt x="578725" y="908622"/>
                  </a:lnTo>
                  <a:lnTo>
                    <a:pt x="552928" y="946615"/>
                  </a:lnTo>
                  <a:lnTo>
                    <a:pt x="526129" y="982898"/>
                  </a:lnTo>
                  <a:lnTo>
                    <a:pt x="498355" y="1017411"/>
                  </a:lnTo>
                  <a:lnTo>
                    <a:pt x="469638" y="1050096"/>
                  </a:lnTo>
                  <a:lnTo>
                    <a:pt x="440008" y="1080893"/>
                  </a:lnTo>
                  <a:lnTo>
                    <a:pt x="409495" y="1109743"/>
                  </a:lnTo>
                  <a:lnTo>
                    <a:pt x="378128" y="1136587"/>
                  </a:lnTo>
                  <a:lnTo>
                    <a:pt x="345939" y="1161365"/>
                  </a:lnTo>
                  <a:lnTo>
                    <a:pt x="312956" y="1184017"/>
                  </a:lnTo>
                  <a:lnTo>
                    <a:pt x="279210" y="1204485"/>
                  </a:lnTo>
                  <a:lnTo>
                    <a:pt x="244731" y="1222709"/>
                  </a:lnTo>
                  <a:lnTo>
                    <a:pt x="209550" y="1238630"/>
                  </a:lnTo>
                  <a:lnTo>
                    <a:pt x="209550" y="1095540"/>
                  </a:lnTo>
                  <a:lnTo>
                    <a:pt x="0" y="1347889"/>
                  </a:lnTo>
                  <a:lnTo>
                    <a:pt x="209550" y="1514640"/>
                  </a:lnTo>
                  <a:lnTo>
                    <a:pt x="209550" y="1371549"/>
                  </a:lnTo>
                  <a:lnTo>
                    <a:pt x="244211" y="1355886"/>
                  </a:lnTo>
                  <a:lnTo>
                    <a:pt x="278170" y="1338005"/>
                  </a:lnTo>
                  <a:lnTo>
                    <a:pt x="311398" y="1317965"/>
                  </a:lnTo>
                  <a:lnTo>
                    <a:pt x="343870" y="1295822"/>
                  </a:lnTo>
                  <a:lnTo>
                    <a:pt x="375559" y="1271636"/>
                  </a:lnTo>
                  <a:lnTo>
                    <a:pt x="406438" y="1245463"/>
                  </a:lnTo>
                  <a:lnTo>
                    <a:pt x="436481" y="1217363"/>
                  </a:lnTo>
                  <a:lnTo>
                    <a:pt x="465661" y="1187393"/>
                  </a:lnTo>
                  <a:lnTo>
                    <a:pt x="493952" y="1155610"/>
                  </a:lnTo>
                  <a:lnTo>
                    <a:pt x="521328" y="1122074"/>
                  </a:lnTo>
                  <a:lnTo>
                    <a:pt x="547761" y="1086842"/>
                  </a:lnTo>
                  <a:lnTo>
                    <a:pt x="573225" y="1049972"/>
                  </a:lnTo>
                  <a:lnTo>
                    <a:pt x="597694" y="1011521"/>
                  </a:lnTo>
                  <a:lnTo>
                    <a:pt x="621141" y="971549"/>
                  </a:lnTo>
                  <a:lnTo>
                    <a:pt x="643540" y="930112"/>
                  </a:lnTo>
                  <a:lnTo>
                    <a:pt x="664864" y="887270"/>
                  </a:lnTo>
                  <a:lnTo>
                    <a:pt x="685086" y="843079"/>
                  </a:lnTo>
                  <a:lnTo>
                    <a:pt x="704180" y="797598"/>
                  </a:lnTo>
                  <a:lnTo>
                    <a:pt x="722120" y="750885"/>
                  </a:lnTo>
                  <a:lnTo>
                    <a:pt x="738878" y="702998"/>
                  </a:lnTo>
                  <a:lnTo>
                    <a:pt x="754429" y="653995"/>
                  </a:lnTo>
                  <a:lnTo>
                    <a:pt x="768746" y="603933"/>
                  </a:lnTo>
                  <a:lnTo>
                    <a:pt x="781801" y="552872"/>
                  </a:lnTo>
                  <a:lnTo>
                    <a:pt x="793570" y="500868"/>
                  </a:lnTo>
                  <a:lnTo>
                    <a:pt x="804025" y="447980"/>
                  </a:lnTo>
                  <a:lnTo>
                    <a:pt x="813140" y="394265"/>
                  </a:lnTo>
                  <a:lnTo>
                    <a:pt x="820887" y="339782"/>
                  </a:lnTo>
                  <a:lnTo>
                    <a:pt x="827242" y="284589"/>
                  </a:lnTo>
                  <a:lnTo>
                    <a:pt x="832176" y="228744"/>
                  </a:lnTo>
                  <a:lnTo>
                    <a:pt x="835664" y="172304"/>
                  </a:lnTo>
                  <a:lnTo>
                    <a:pt x="837679" y="115329"/>
                  </a:lnTo>
                  <a:lnTo>
                    <a:pt x="838194" y="57874"/>
                  </a:lnTo>
                  <a:lnTo>
                    <a:pt x="837184" y="0"/>
                  </a:lnTo>
                  <a:close/>
                </a:path>
              </a:pathLst>
            </a:custGeom>
            <a:solidFill>
              <a:srgbClr val="4F81B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6" name="Google Shape;1056;p80"/>
            <p:cNvSpPr/>
            <p:nvPr/>
          </p:nvSpPr>
          <p:spPr>
            <a:xfrm>
              <a:off x="9601961" y="2439159"/>
              <a:ext cx="838200" cy="1480820"/>
            </a:xfrm>
            <a:custGeom>
              <a:rect b="b" l="l" r="r" t="t"/>
              <a:pathLst>
                <a:path extrusionOk="0" h="1480820" w="838200">
                  <a:moveTo>
                    <a:pt x="0" y="0"/>
                  </a:moveTo>
                  <a:lnTo>
                    <a:pt x="0" y="132930"/>
                  </a:lnTo>
                  <a:lnTo>
                    <a:pt x="36359" y="134176"/>
                  </a:lnTo>
                  <a:lnTo>
                    <a:pt x="72323" y="137878"/>
                  </a:lnTo>
                  <a:lnTo>
                    <a:pt x="142938" y="152451"/>
                  </a:lnTo>
                  <a:lnTo>
                    <a:pt x="211593" y="176244"/>
                  </a:lnTo>
                  <a:lnTo>
                    <a:pt x="278036" y="208854"/>
                  </a:lnTo>
                  <a:lnTo>
                    <a:pt x="342016" y="249875"/>
                  </a:lnTo>
                  <a:lnTo>
                    <a:pt x="373004" y="273414"/>
                  </a:lnTo>
                  <a:lnTo>
                    <a:pt x="403281" y="298904"/>
                  </a:lnTo>
                  <a:lnTo>
                    <a:pt x="432817" y="326294"/>
                  </a:lnTo>
                  <a:lnTo>
                    <a:pt x="461580" y="355534"/>
                  </a:lnTo>
                  <a:lnTo>
                    <a:pt x="489538" y="386574"/>
                  </a:lnTo>
                  <a:lnTo>
                    <a:pt x="516661" y="419363"/>
                  </a:lnTo>
                  <a:lnTo>
                    <a:pt x="542916" y="453850"/>
                  </a:lnTo>
                  <a:lnTo>
                    <a:pt x="568272" y="489984"/>
                  </a:lnTo>
                  <a:lnTo>
                    <a:pt x="592697" y="527716"/>
                  </a:lnTo>
                  <a:lnTo>
                    <a:pt x="616161" y="566995"/>
                  </a:lnTo>
                  <a:lnTo>
                    <a:pt x="638632" y="607769"/>
                  </a:lnTo>
                  <a:lnTo>
                    <a:pt x="660078" y="649989"/>
                  </a:lnTo>
                  <a:lnTo>
                    <a:pt x="680468" y="693604"/>
                  </a:lnTo>
                  <a:lnTo>
                    <a:pt x="699771" y="738563"/>
                  </a:lnTo>
                  <a:lnTo>
                    <a:pt x="717954" y="784816"/>
                  </a:lnTo>
                  <a:lnTo>
                    <a:pt x="734987" y="832312"/>
                  </a:lnTo>
                  <a:lnTo>
                    <a:pt x="750838" y="881000"/>
                  </a:lnTo>
                  <a:lnTo>
                    <a:pt x="765476" y="930831"/>
                  </a:lnTo>
                  <a:lnTo>
                    <a:pt x="778869" y="981753"/>
                  </a:lnTo>
                  <a:lnTo>
                    <a:pt x="790985" y="1033715"/>
                  </a:lnTo>
                  <a:lnTo>
                    <a:pt x="801794" y="1086668"/>
                  </a:lnTo>
                  <a:lnTo>
                    <a:pt x="811264" y="1140561"/>
                  </a:lnTo>
                  <a:lnTo>
                    <a:pt x="819363" y="1195343"/>
                  </a:lnTo>
                  <a:lnTo>
                    <a:pt x="826061" y="1250963"/>
                  </a:lnTo>
                  <a:lnTo>
                    <a:pt x="831324" y="1307372"/>
                  </a:lnTo>
                  <a:lnTo>
                    <a:pt x="835123" y="1364518"/>
                  </a:lnTo>
                  <a:lnTo>
                    <a:pt x="837425" y="1422351"/>
                  </a:lnTo>
                  <a:lnTo>
                    <a:pt x="838200" y="1480820"/>
                  </a:lnTo>
                  <a:lnTo>
                    <a:pt x="838200" y="1347901"/>
                  </a:lnTo>
                  <a:lnTo>
                    <a:pt x="837425" y="1289432"/>
                  </a:lnTo>
                  <a:lnTo>
                    <a:pt x="835123" y="1231600"/>
                  </a:lnTo>
                  <a:lnTo>
                    <a:pt x="831324" y="1174454"/>
                  </a:lnTo>
                  <a:lnTo>
                    <a:pt x="826061" y="1118045"/>
                  </a:lnTo>
                  <a:lnTo>
                    <a:pt x="819363" y="1062424"/>
                  </a:lnTo>
                  <a:lnTo>
                    <a:pt x="811264" y="1007642"/>
                  </a:lnTo>
                  <a:lnTo>
                    <a:pt x="801794" y="953749"/>
                  </a:lnTo>
                  <a:lnTo>
                    <a:pt x="790985" y="900796"/>
                  </a:lnTo>
                  <a:lnTo>
                    <a:pt x="778869" y="848833"/>
                  </a:lnTo>
                  <a:lnTo>
                    <a:pt x="765476" y="797910"/>
                  </a:lnTo>
                  <a:lnTo>
                    <a:pt x="750838" y="748079"/>
                  </a:lnTo>
                  <a:lnTo>
                    <a:pt x="734987" y="699390"/>
                  </a:lnTo>
                  <a:lnTo>
                    <a:pt x="717954" y="651894"/>
                  </a:lnTo>
                  <a:lnTo>
                    <a:pt x="699771" y="605641"/>
                  </a:lnTo>
                  <a:lnTo>
                    <a:pt x="680468" y="560681"/>
                  </a:lnTo>
                  <a:lnTo>
                    <a:pt x="660078" y="517066"/>
                  </a:lnTo>
                  <a:lnTo>
                    <a:pt x="638632" y="474846"/>
                  </a:lnTo>
                  <a:lnTo>
                    <a:pt x="616161" y="434071"/>
                  </a:lnTo>
                  <a:lnTo>
                    <a:pt x="592697" y="394792"/>
                  </a:lnTo>
                  <a:lnTo>
                    <a:pt x="568272" y="357059"/>
                  </a:lnTo>
                  <a:lnTo>
                    <a:pt x="542916" y="320924"/>
                  </a:lnTo>
                  <a:lnTo>
                    <a:pt x="516661" y="286437"/>
                  </a:lnTo>
                  <a:lnTo>
                    <a:pt x="489538" y="253648"/>
                  </a:lnTo>
                  <a:lnTo>
                    <a:pt x="461580" y="222607"/>
                  </a:lnTo>
                  <a:lnTo>
                    <a:pt x="432817" y="193366"/>
                  </a:lnTo>
                  <a:lnTo>
                    <a:pt x="403281" y="165976"/>
                  </a:lnTo>
                  <a:lnTo>
                    <a:pt x="373004" y="140486"/>
                  </a:lnTo>
                  <a:lnTo>
                    <a:pt x="342016" y="116947"/>
                  </a:lnTo>
                  <a:lnTo>
                    <a:pt x="310350" y="95409"/>
                  </a:lnTo>
                  <a:lnTo>
                    <a:pt x="245107" y="58543"/>
                  </a:lnTo>
                  <a:lnTo>
                    <a:pt x="177526" y="30290"/>
                  </a:lnTo>
                  <a:lnTo>
                    <a:pt x="107860" y="11056"/>
                  </a:lnTo>
                  <a:lnTo>
                    <a:pt x="36359" y="12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689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7" name="Google Shape;1057;p80"/>
            <p:cNvSpPr/>
            <p:nvPr/>
          </p:nvSpPr>
          <p:spPr>
            <a:xfrm>
              <a:off x="9601961" y="2439159"/>
              <a:ext cx="838200" cy="2929254"/>
            </a:xfrm>
            <a:custGeom>
              <a:rect b="b" l="l" r="r" t="t"/>
              <a:pathLst>
                <a:path extrusionOk="0" h="2929254" w="838200">
                  <a:moveTo>
                    <a:pt x="838200" y="1480820"/>
                  </a:moveTo>
                  <a:lnTo>
                    <a:pt x="837425" y="1422351"/>
                  </a:lnTo>
                  <a:lnTo>
                    <a:pt x="835123" y="1364518"/>
                  </a:lnTo>
                  <a:lnTo>
                    <a:pt x="831324" y="1307372"/>
                  </a:lnTo>
                  <a:lnTo>
                    <a:pt x="826061" y="1250963"/>
                  </a:lnTo>
                  <a:lnTo>
                    <a:pt x="819363" y="1195343"/>
                  </a:lnTo>
                  <a:lnTo>
                    <a:pt x="811264" y="1140561"/>
                  </a:lnTo>
                  <a:lnTo>
                    <a:pt x="801794" y="1086668"/>
                  </a:lnTo>
                  <a:lnTo>
                    <a:pt x="790985" y="1033715"/>
                  </a:lnTo>
                  <a:lnTo>
                    <a:pt x="778869" y="981753"/>
                  </a:lnTo>
                  <a:lnTo>
                    <a:pt x="765476" y="930831"/>
                  </a:lnTo>
                  <a:lnTo>
                    <a:pt x="750838" y="881000"/>
                  </a:lnTo>
                  <a:lnTo>
                    <a:pt x="734987" y="832312"/>
                  </a:lnTo>
                  <a:lnTo>
                    <a:pt x="717954" y="784816"/>
                  </a:lnTo>
                  <a:lnTo>
                    <a:pt x="699771" y="738563"/>
                  </a:lnTo>
                  <a:lnTo>
                    <a:pt x="680468" y="693604"/>
                  </a:lnTo>
                  <a:lnTo>
                    <a:pt x="660078" y="649989"/>
                  </a:lnTo>
                  <a:lnTo>
                    <a:pt x="638632" y="607769"/>
                  </a:lnTo>
                  <a:lnTo>
                    <a:pt x="616161" y="566995"/>
                  </a:lnTo>
                  <a:lnTo>
                    <a:pt x="592697" y="527716"/>
                  </a:lnTo>
                  <a:lnTo>
                    <a:pt x="568272" y="489984"/>
                  </a:lnTo>
                  <a:lnTo>
                    <a:pt x="542916" y="453850"/>
                  </a:lnTo>
                  <a:lnTo>
                    <a:pt x="516661" y="419363"/>
                  </a:lnTo>
                  <a:lnTo>
                    <a:pt x="489538" y="386574"/>
                  </a:lnTo>
                  <a:lnTo>
                    <a:pt x="461580" y="355534"/>
                  </a:lnTo>
                  <a:lnTo>
                    <a:pt x="432817" y="326294"/>
                  </a:lnTo>
                  <a:lnTo>
                    <a:pt x="403281" y="298904"/>
                  </a:lnTo>
                  <a:lnTo>
                    <a:pt x="373004" y="273414"/>
                  </a:lnTo>
                  <a:lnTo>
                    <a:pt x="342016" y="249875"/>
                  </a:lnTo>
                  <a:lnTo>
                    <a:pt x="310350" y="228339"/>
                  </a:lnTo>
                  <a:lnTo>
                    <a:pt x="245107" y="191472"/>
                  </a:lnTo>
                  <a:lnTo>
                    <a:pt x="177526" y="163220"/>
                  </a:lnTo>
                  <a:lnTo>
                    <a:pt x="107860" y="143986"/>
                  </a:lnTo>
                  <a:lnTo>
                    <a:pt x="36359" y="134176"/>
                  </a:lnTo>
                  <a:lnTo>
                    <a:pt x="0" y="132930"/>
                  </a:lnTo>
                  <a:lnTo>
                    <a:pt x="0" y="0"/>
                  </a:lnTo>
                  <a:lnTo>
                    <a:pt x="72323" y="4947"/>
                  </a:lnTo>
                  <a:lnTo>
                    <a:pt x="142938" y="19520"/>
                  </a:lnTo>
                  <a:lnTo>
                    <a:pt x="211593" y="43314"/>
                  </a:lnTo>
                  <a:lnTo>
                    <a:pt x="278036" y="75925"/>
                  </a:lnTo>
                  <a:lnTo>
                    <a:pt x="342016" y="116947"/>
                  </a:lnTo>
                  <a:lnTo>
                    <a:pt x="373004" y="140486"/>
                  </a:lnTo>
                  <a:lnTo>
                    <a:pt x="403281" y="165976"/>
                  </a:lnTo>
                  <a:lnTo>
                    <a:pt x="432817" y="193366"/>
                  </a:lnTo>
                  <a:lnTo>
                    <a:pt x="461580" y="222607"/>
                  </a:lnTo>
                  <a:lnTo>
                    <a:pt x="489538" y="253648"/>
                  </a:lnTo>
                  <a:lnTo>
                    <a:pt x="516661" y="286437"/>
                  </a:lnTo>
                  <a:lnTo>
                    <a:pt x="542916" y="320924"/>
                  </a:lnTo>
                  <a:lnTo>
                    <a:pt x="568272" y="357059"/>
                  </a:lnTo>
                  <a:lnTo>
                    <a:pt x="592697" y="394792"/>
                  </a:lnTo>
                  <a:lnTo>
                    <a:pt x="616161" y="434071"/>
                  </a:lnTo>
                  <a:lnTo>
                    <a:pt x="638632" y="474846"/>
                  </a:lnTo>
                  <a:lnTo>
                    <a:pt x="660078" y="517066"/>
                  </a:lnTo>
                  <a:lnTo>
                    <a:pt x="680468" y="560681"/>
                  </a:lnTo>
                  <a:lnTo>
                    <a:pt x="699771" y="605641"/>
                  </a:lnTo>
                  <a:lnTo>
                    <a:pt x="717954" y="651894"/>
                  </a:lnTo>
                  <a:lnTo>
                    <a:pt x="734987" y="699390"/>
                  </a:lnTo>
                  <a:lnTo>
                    <a:pt x="750838" y="748079"/>
                  </a:lnTo>
                  <a:lnTo>
                    <a:pt x="765476" y="797910"/>
                  </a:lnTo>
                  <a:lnTo>
                    <a:pt x="778869" y="848833"/>
                  </a:lnTo>
                  <a:lnTo>
                    <a:pt x="790985" y="900796"/>
                  </a:lnTo>
                  <a:lnTo>
                    <a:pt x="801794" y="953749"/>
                  </a:lnTo>
                  <a:lnTo>
                    <a:pt x="811264" y="1007642"/>
                  </a:lnTo>
                  <a:lnTo>
                    <a:pt x="819363" y="1062424"/>
                  </a:lnTo>
                  <a:lnTo>
                    <a:pt x="826061" y="1118045"/>
                  </a:lnTo>
                  <a:lnTo>
                    <a:pt x="831324" y="1174454"/>
                  </a:lnTo>
                  <a:lnTo>
                    <a:pt x="835123" y="1231600"/>
                  </a:lnTo>
                  <a:lnTo>
                    <a:pt x="837425" y="1289432"/>
                  </a:lnTo>
                  <a:lnTo>
                    <a:pt x="838200" y="1347901"/>
                  </a:lnTo>
                  <a:lnTo>
                    <a:pt x="838200" y="1480820"/>
                  </a:lnTo>
                  <a:lnTo>
                    <a:pt x="837446" y="1538205"/>
                  </a:lnTo>
                  <a:lnTo>
                    <a:pt x="835205" y="1595078"/>
                  </a:lnTo>
                  <a:lnTo>
                    <a:pt x="831503" y="1651383"/>
                  </a:lnTo>
                  <a:lnTo>
                    <a:pt x="826366" y="1707065"/>
                  </a:lnTo>
                  <a:lnTo>
                    <a:pt x="819822" y="1762066"/>
                  </a:lnTo>
                  <a:lnTo>
                    <a:pt x="811898" y="1816332"/>
                  </a:lnTo>
                  <a:lnTo>
                    <a:pt x="802620" y="1869807"/>
                  </a:lnTo>
                  <a:lnTo>
                    <a:pt x="792015" y="1922434"/>
                  </a:lnTo>
                  <a:lnTo>
                    <a:pt x="780111" y="1974157"/>
                  </a:lnTo>
                  <a:lnTo>
                    <a:pt x="766934" y="2024922"/>
                  </a:lnTo>
                  <a:lnTo>
                    <a:pt x="752511" y="2074671"/>
                  </a:lnTo>
                  <a:lnTo>
                    <a:pt x="736870" y="2123349"/>
                  </a:lnTo>
                  <a:lnTo>
                    <a:pt x="720036" y="2170901"/>
                  </a:lnTo>
                  <a:lnTo>
                    <a:pt x="702038" y="2217269"/>
                  </a:lnTo>
                  <a:lnTo>
                    <a:pt x="682901" y="2262399"/>
                  </a:lnTo>
                  <a:lnTo>
                    <a:pt x="662654" y="2306234"/>
                  </a:lnTo>
                  <a:lnTo>
                    <a:pt x="641322" y="2348718"/>
                  </a:lnTo>
                  <a:lnTo>
                    <a:pt x="618933" y="2389796"/>
                  </a:lnTo>
                  <a:lnTo>
                    <a:pt x="595513" y="2429412"/>
                  </a:lnTo>
                  <a:lnTo>
                    <a:pt x="571090" y="2467510"/>
                  </a:lnTo>
                  <a:lnTo>
                    <a:pt x="545691" y="2504033"/>
                  </a:lnTo>
                  <a:lnTo>
                    <a:pt x="519342" y="2538926"/>
                  </a:lnTo>
                  <a:lnTo>
                    <a:pt x="492070" y="2572134"/>
                  </a:lnTo>
                  <a:lnTo>
                    <a:pt x="463903" y="2603599"/>
                  </a:lnTo>
                  <a:lnTo>
                    <a:pt x="434867" y="2633267"/>
                  </a:lnTo>
                  <a:lnTo>
                    <a:pt x="404989" y="2661081"/>
                  </a:lnTo>
                  <a:lnTo>
                    <a:pt x="374296" y="2686986"/>
                  </a:lnTo>
                  <a:lnTo>
                    <a:pt x="342815" y="2710925"/>
                  </a:lnTo>
                  <a:lnTo>
                    <a:pt x="310573" y="2732843"/>
                  </a:lnTo>
                  <a:lnTo>
                    <a:pt x="277597" y="2752684"/>
                  </a:lnTo>
                  <a:lnTo>
                    <a:pt x="209550" y="2785910"/>
                  </a:lnTo>
                  <a:lnTo>
                    <a:pt x="209550" y="2929001"/>
                  </a:lnTo>
                  <a:lnTo>
                    <a:pt x="0" y="2762250"/>
                  </a:lnTo>
                  <a:lnTo>
                    <a:pt x="209550" y="2509901"/>
                  </a:lnTo>
                  <a:lnTo>
                    <a:pt x="209550" y="2652991"/>
                  </a:lnTo>
                  <a:lnTo>
                    <a:pt x="244731" y="2637070"/>
                  </a:lnTo>
                  <a:lnTo>
                    <a:pt x="279210" y="2618846"/>
                  </a:lnTo>
                  <a:lnTo>
                    <a:pt x="312956" y="2598378"/>
                  </a:lnTo>
                  <a:lnTo>
                    <a:pt x="345939" y="2575725"/>
                  </a:lnTo>
                  <a:lnTo>
                    <a:pt x="378128" y="2550948"/>
                  </a:lnTo>
                  <a:lnTo>
                    <a:pt x="409495" y="2524104"/>
                  </a:lnTo>
                  <a:lnTo>
                    <a:pt x="440008" y="2495254"/>
                  </a:lnTo>
                  <a:lnTo>
                    <a:pt x="469638" y="2464457"/>
                  </a:lnTo>
                  <a:lnTo>
                    <a:pt x="498355" y="2431772"/>
                  </a:lnTo>
                  <a:lnTo>
                    <a:pt x="526129" y="2397259"/>
                  </a:lnTo>
                  <a:lnTo>
                    <a:pt x="552928" y="2360976"/>
                  </a:lnTo>
                  <a:lnTo>
                    <a:pt x="578725" y="2322983"/>
                  </a:lnTo>
                  <a:lnTo>
                    <a:pt x="603487" y="2283340"/>
                  </a:lnTo>
                  <a:lnTo>
                    <a:pt x="627186" y="2242106"/>
                  </a:lnTo>
                  <a:lnTo>
                    <a:pt x="649792" y="2199339"/>
                  </a:lnTo>
                  <a:lnTo>
                    <a:pt x="671273" y="2155101"/>
                  </a:lnTo>
                  <a:lnTo>
                    <a:pt x="691601" y="2109449"/>
                  </a:lnTo>
                  <a:lnTo>
                    <a:pt x="710745" y="2062443"/>
                  </a:lnTo>
                  <a:lnTo>
                    <a:pt x="728675" y="2014142"/>
                  </a:lnTo>
                  <a:lnTo>
                    <a:pt x="745361" y="1964606"/>
                  </a:lnTo>
                  <a:lnTo>
                    <a:pt x="760772" y="1913894"/>
                  </a:lnTo>
                  <a:lnTo>
                    <a:pt x="774880" y="1862066"/>
                  </a:lnTo>
                  <a:lnTo>
                    <a:pt x="787653" y="1809180"/>
                  </a:lnTo>
                  <a:lnTo>
                    <a:pt x="799062" y="1755297"/>
                  </a:lnTo>
                  <a:lnTo>
                    <a:pt x="809077" y="1700475"/>
                  </a:lnTo>
                  <a:lnTo>
                    <a:pt x="817667" y="1644773"/>
                  </a:lnTo>
                  <a:lnTo>
                    <a:pt x="824803" y="1588252"/>
                  </a:lnTo>
                  <a:lnTo>
                    <a:pt x="830455" y="1530969"/>
                  </a:lnTo>
                  <a:lnTo>
                    <a:pt x="834591" y="1472986"/>
                  </a:lnTo>
                  <a:lnTo>
                    <a:pt x="837184" y="1414360"/>
                  </a:lnTo>
                </a:path>
              </a:pathLst>
            </a:custGeom>
            <a:noFill/>
            <a:ln cap="flat" cmpd="sng" w="25400">
              <a:solidFill>
                <a:srgbClr val="385D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58" name="Google Shape;1058;p80"/>
          <p:cNvSpPr/>
          <p:nvPr/>
        </p:nvSpPr>
        <p:spPr>
          <a:xfrm>
            <a:off x="4179570" y="4842509"/>
            <a:ext cx="5346700" cy="838200"/>
          </a:xfrm>
          <a:custGeom>
            <a:rect b="b" l="l" r="r" t="t"/>
            <a:pathLst>
              <a:path extrusionOk="0" h="838200" w="5346700">
                <a:moveTo>
                  <a:pt x="0" y="0"/>
                </a:moveTo>
                <a:lnTo>
                  <a:pt x="5346191" y="0"/>
                </a:lnTo>
                <a:lnTo>
                  <a:pt x="5346191" y="838200"/>
                </a:lnTo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59" name="Google Shape;1059;p80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060" name="Google Shape;1060;p8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1" name="Google Shape;1061;p8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81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67" name="Google Shape;1067;p81"/>
          <p:cNvSpPr txBox="1"/>
          <p:nvPr>
            <p:ph idx="4294967295" type="title"/>
          </p:nvPr>
        </p:nvSpPr>
        <p:spPr>
          <a:xfrm>
            <a:off x="0" y="750"/>
            <a:ext cx="12192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4F81BD"/>
                </a:solidFill>
              </a:rPr>
              <a:t>Computational Complexity of 2-D Fourier Transform (3)</a:t>
            </a:r>
            <a:endParaRPr sz="3600"/>
          </a:p>
        </p:txBody>
      </p:sp>
      <p:sp>
        <p:nvSpPr>
          <p:cNvPr id="1068" name="Google Shape;1068;p81"/>
          <p:cNvSpPr txBox="1"/>
          <p:nvPr/>
        </p:nvSpPr>
        <p:spPr>
          <a:xfrm>
            <a:off x="292100" y="494321"/>
            <a:ext cx="116079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19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 u="sng">
                <a:latin typeface="Bell MT"/>
                <a:ea typeface="Bell MT"/>
                <a:cs typeface="Bell MT"/>
                <a:sym typeface="Bell MT"/>
              </a:rPr>
              <a:t>	Reduction using DFT Property of	</a:t>
            </a:r>
            <a:r>
              <a:rPr i="1" lang="en-US" sz="24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Separability	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751205" rtl="0" algn="l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Rewrite </a:t>
            </a:r>
            <a:r>
              <a:rPr i="1"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F(u,v) </a:t>
            </a:r>
            <a:r>
              <a:rPr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as follows: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069" name="Google Shape;1069;p81"/>
          <p:cNvSpPr txBox="1"/>
          <p:nvPr/>
        </p:nvSpPr>
        <p:spPr>
          <a:xfrm>
            <a:off x="688340" y="3928365"/>
            <a:ext cx="1842000" cy="15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Let’s set: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461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Then: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1070" name="Google Shape;1070;p81"/>
          <p:cNvGrpSpPr/>
          <p:nvPr/>
        </p:nvGrpSpPr>
        <p:grpSpPr>
          <a:xfrm>
            <a:off x="3342813" y="2783354"/>
            <a:ext cx="6380669" cy="1140946"/>
            <a:chOff x="3342813" y="2783354"/>
            <a:chExt cx="6380669" cy="1140946"/>
          </a:xfrm>
        </p:grpSpPr>
        <p:pic>
          <p:nvPicPr>
            <p:cNvPr id="1071" name="Google Shape;1071;p8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342813" y="2783354"/>
              <a:ext cx="6380669" cy="8344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2" name="Google Shape;1072;p81"/>
            <p:cNvSpPr/>
            <p:nvPr/>
          </p:nvSpPr>
          <p:spPr>
            <a:xfrm>
              <a:off x="6858000" y="3352800"/>
              <a:ext cx="2819400" cy="571500"/>
            </a:xfrm>
            <a:custGeom>
              <a:rect b="b" l="l" r="r" t="t"/>
              <a:pathLst>
                <a:path extrusionOk="0" h="571500" w="2819400">
                  <a:moveTo>
                    <a:pt x="2819400" y="0"/>
                  </a:moveTo>
                  <a:lnTo>
                    <a:pt x="2817698" y="75961"/>
                  </a:lnTo>
                  <a:lnTo>
                    <a:pt x="2812897" y="144221"/>
                  </a:lnTo>
                  <a:lnTo>
                    <a:pt x="2805450" y="202053"/>
                  </a:lnTo>
                  <a:lnTo>
                    <a:pt x="2795811" y="246735"/>
                  </a:lnTo>
                  <a:lnTo>
                    <a:pt x="2771775" y="285750"/>
                  </a:lnTo>
                  <a:lnTo>
                    <a:pt x="1457325" y="285750"/>
                  </a:lnTo>
                  <a:lnTo>
                    <a:pt x="1444664" y="295957"/>
                  </a:lnTo>
                  <a:lnTo>
                    <a:pt x="1423649" y="369446"/>
                  </a:lnTo>
                  <a:lnTo>
                    <a:pt x="1416202" y="427278"/>
                  </a:lnTo>
                  <a:lnTo>
                    <a:pt x="1411401" y="495538"/>
                  </a:lnTo>
                  <a:lnTo>
                    <a:pt x="1409700" y="571500"/>
                  </a:lnTo>
                  <a:lnTo>
                    <a:pt x="1407998" y="495538"/>
                  </a:lnTo>
                  <a:lnTo>
                    <a:pt x="1403197" y="427278"/>
                  </a:lnTo>
                  <a:lnTo>
                    <a:pt x="1395750" y="369446"/>
                  </a:lnTo>
                  <a:lnTo>
                    <a:pt x="1386111" y="324764"/>
                  </a:lnTo>
                  <a:lnTo>
                    <a:pt x="1362075" y="285750"/>
                  </a:lnTo>
                  <a:lnTo>
                    <a:pt x="47625" y="285750"/>
                  </a:lnTo>
                  <a:lnTo>
                    <a:pt x="34964" y="275542"/>
                  </a:lnTo>
                  <a:lnTo>
                    <a:pt x="23588" y="246735"/>
                  </a:lnTo>
                  <a:lnTo>
                    <a:pt x="13949" y="202053"/>
                  </a:lnTo>
                  <a:lnTo>
                    <a:pt x="6502" y="144221"/>
                  </a:lnTo>
                  <a:lnTo>
                    <a:pt x="1701" y="75961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id="1073" name="Google Shape;1073;p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86200" y="5328956"/>
            <a:ext cx="4828579" cy="8171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4" name="Google Shape;1074;p8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49459" y="4024009"/>
            <a:ext cx="4279824" cy="909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5" name="Google Shape;1075;p8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10200" y="1524000"/>
            <a:ext cx="5695176" cy="1142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76" name="Google Shape;1076;p81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077" name="Google Shape;1077;p8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8" name="Google Shape;1078;p8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9" name="Google Shape;1079;p81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82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85" name="Google Shape;1085;p82"/>
          <p:cNvSpPr txBox="1"/>
          <p:nvPr/>
        </p:nvSpPr>
        <p:spPr>
          <a:xfrm>
            <a:off x="688340" y="4240785"/>
            <a:ext cx="53118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How can we compute </a:t>
            </a:r>
            <a:r>
              <a:rPr i="1" lang="en-US" sz="32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F(u, v)?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6" name="Google Shape;1086;p82"/>
          <p:cNvSpPr txBox="1"/>
          <p:nvPr>
            <p:ph idx="4294967295" type="title"/>
          </p:nvPr>
        </p:nvSpPr>
        <p:spPr>
          <a:xfrm>
            <a:off x="0" y="750"/>
            <a:ext cx="12192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4F81BD"/>
                </a:solidFill>
              </a:rPr>
              <a:t>Computational Complexity of 2-D Fourier Transform (4)</a:t>
            </a:r>
            <a:endParaRPr sz="3600"/>
          </a:p>
        </p:txBody>
      </p:sp>
      <p:sp>
        <p:nvSpPr>
          <p:cNvPr id="1087" name="Google Shape;1087;p82"/>
          <p:cNvSpPr txBox="1"/>
          <p:nvPr/>
        </p:nvSpPr>
        <p:spPr>
          <a:xfrm>
            <a:off x="292100" y="494321"/>
            <a:ext cx="116079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19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 u="sng">
                <a:latin typeface="Bell MT"/>
                <a:ea typeface="Bell MT"/>
                <a:cs typeface="Bell MT"/>
                <a:sym typeface="Bell MT"/>
              </a:rPr>
              <a:t>	Reduction using DFT Property of	</a:t>
            </a:r>
            <a:r>
              <a:rPr i="1" lang="en-US" sz="24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Separability	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751205" rtl="0" algn="l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How can we compute </a:t>
            </a:r>
            <a:r>
              <a:rPr i="1" lang="en-US" sz="32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F(x, v)?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88" name="Google Shape;1088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7395" y="5294461"/>
            <a:ext cx="3747388" cy="634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9" name="Google Shape;1089;p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0090" y="2176078"/>
            <a:ext cx="3658016" cy="783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0" name="Google Shape;1090;p8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80741" y="2181086"/>
            <a:ext cx="2994040" cy="654938"/>
          </a:xfrm>
          <a:prstGeom prst="rect">
            <a:avLst/>
          </a:prstGeom>
          <a:noFill/>
          <a:ln>
            <a:noFill/>
          </a:ln>
        </p:spPr>
      </p:pic>
      <p:sp>
        <p:nvSpPr>
          <p:cNvPr id="1091" name="Google Shape;1091;p82"/>
          <p:cNvSpPr txBox="1"/>
          <p:nvPr/>
        </p:nvSpPr>
        <p:spPr>
          <a:xfrm>
            <a:off x="9727521" y="2315178"/>
            <a:ext cx="954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EECE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82"/>
          <p:cNvSpPr txBox="1"/>
          <p:nvPr/>
        </p:nvSpPr>
        <p:spPr>
          <a:xfrm>
            <a:off x="4726940" y="3279140"/>
            <a:ext cx="30099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N x DFT of	rows of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093" name="Google Shape;1093;p82"/>
          <p:cNvSpPr txBox="1"/>
          <p:nvPr/>
        </p:nvSpPr>
        <p:spPr>
          <a:xfrm>
            <a:off x="7969761" y="3279140"/>
            <a:ext cx="8103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f(x, y)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094" name="Google Shape;1094;p82"/>
          <p:cNvSpPr txBox="1"/>
          <p:nvPr/>
        </p:nvSpPr>
        <p:spPr>
          <a:xfrm>
            <a:off x="6832101" y="5289000"/>
            <a:ext cx="50679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DFT of columns of 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F(x, v)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095" name="Google Shape;1095;p82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096" name="Google Shape;1096;p8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7" name="Google Shape;1097;p8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8" name="Google Shape;1098;p82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83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04" name="Google Shape;1104;p83"/>
          <p:cNvSpPr txBox="1"/>
          <p:nvPr>
            <p:ph idx="4294967295" type="title"/>
          </p:nvPr>
        </p:nvSpPr>
        <p:spPr>
          <a:xfrm>
            <a:off x="0" y="750"/>
            <a:ext cx="12192000" cy="9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571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4F81BD"/>
                </a:solidFill>
              </a:rPr>
              <a:t>Computational Complexity of 2-D Fourier Transform (5)</a:t>
            </a:r>
            <a:endParaRPr sz="3600"/>
          </a:p>
          <a:p>
            <a:pPr indent="0" lvl="0" marL="914400" rtl="0" algn="ctr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i="1" lang="en-US" sz="2400" u="sng">
                <a:latin typeface="Bell MT"/>
                <a:ea typeface="Bell MT"/>
                <a:cs typeface="Bell MT"/>
                <a:sym typeface="Bell MT"/>
              </a:rPr>
              <a:t>Reduction using DFT Property of</a:t>
            </a:r>
            <a:r>
              <a:rPr i="1" lang="en-US" sz="2400" u="sng"/>
              <a:t> </a:t>
            </a:r>
            <a:r>
              <a:rPr i="1" lang="en-US" sz="24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Separability	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105" name="Google Shape;1105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8804" y="2444495"/>
            <a:ext cx="1504187" cy="1347215"/>
          </a:xfrm>
          <a:prstGeom prst="rect">
            <a:avLst/>
          </a:prstGeom>
          <a:noFill/>
          <a:ln>
            <a:noFill/>
          </a:ln>
        </p:spPr>
      </p:pic>
      <p:sp>
        <p:nvSpPr>
          <p:cNvPr id="1106" name="Google Shape;1106;p83"/>
          <p:cNvSpPr txBox="1"/>
          <p:nvPr/>
        </p:nvSpPr>
        <p:spPr>
          <a:xfrm>
            <a:off x="1155953" y="2481833"/>
            <a:ext cx="1389900" cy="803100"/>
          </a:xfrm>
          <a:prstGeom prst="rect">
            <a:avLst/>
          </a:prstGeom>
          <a:solidFill>
            <a:srgbClr val="DDD9C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635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1145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𝒇(𝒙, 𝒚)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grpSp>
        <p:nvGrpSpPr>
          <p:cNvPr id="1107" name="Google Shape;1107;p83"/>
          <p:cNvGrpSpPr/>
          <p:nvPr/>
        </p:nvGrpSpPr>
        <p:grpSpPr>
          <a:xfrm>
            <a:off x="1105954" y="2431822"/>
            <a:ext cx="1895944" cy="1694662"/>
            <a:chOff x="1105954" y="2431822"/>
            <a:chExt cx="1895944" cy="1694662"/>
          </a:xfrm>
        </p:grpSpPr>
        <p:sp>
          <p:nvSpPr>
            <p:cNvPr id="1108" name="Google Shape;1108;p83"/>
            <p:cNvSpPr/>
            <p:nvPr/>
          </p:nvSpPr>
          <p:spPr>
            <a:xfrm>
              <a:off x="1155953" y="2481834"/>
              <a:ext cx="1845945" cy="0"/>
            </a:xfrm>
            <a:custGeom>
              <a:rect b="b" l="l" r="r" t="t"/>
              <a:pathLst>
                <a:path extrusionOk="0" h="120000" w="1845945">
                  <a:moveTo>
                    <a:pt x="0" y="0"/>
                  </a:moveTo>
                  <a:lnTo>
                    <a:pt x="1845818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9" name="Google Shape;1109;p83"/>
            <p:cNvSpPr/>
            <p:nvPr/>
          </p:nvSpPr>
          <p:spPr>
            <a:xfrm>
              <a:off x="2916049" y="2431822"/>
              <a:ext cx="85725" cy="100330"/>
            </a:xfrm>
            <a:custGeom>
              <a:rect b="b" l="l" r="r" t="t"/>
              <a:pathLst>
                <a:path extrusionOk="0" h="100330" w="85725">
                  <a:moveTo>
                    <a:pt x="0" y="0"/>
                  </a:moveTo>
                  <a:lnTo>
                    <a:pt x="85725" y="50012"/>
                  </a:lnTo>
                  <a:lnTo>
                    <a:pt x="0" y="100012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0" name="Google Shape;1110;p83"/>
            <p:cNvSpPr/>
            <p:nvPr/>
          </p:nvSpPr>
          <p:spPr>
            <a:xfrm>
              <a:off x="1155953" y="2481834"/>
              <a:ext cx="0" cy="1644650"/>
            </a:xfrm>
            <a:custGeom>
              <a:rect b="b" l="l" r="r" t="t"/>
              <a:pathLst>
                <a:path extrusionOk="0" h="1644650" w="120000">
                  <a:moveTo>
                    <a:pt x="0" y="0"/>
                  </a:moveTo>
                  <a:lnTo>
                    <a:pt x="0" y="164465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1" name="Google Shape;1111;p83"/>
            <p:cNvSpPr/>
            <p:nvPr/>
          </p:nvSpPr>
          <p:spPr>
            <a:xfrm>
              <a:off x="1105954" y="4040755"/>
              <a:ext cx="100330" cy="85725"/>
            </a:xfrm>
            <a:custGeom>
              <a:rect b="b" l="l" r="r" t="t"/>
              <a:pathLst>
                <a:path extrusionOk="0" h="85725" w="100330">
                  <a:moveTo>
                    <a:pt x="100012" y="0"/>
                  </a:moveTo>
                  <a:lnTo>
                    <a:pt x="49999" y="85724"/>
                  </a:ln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112" name="Google Shape;1112;p83"/>
          <p:cNvSpPr txBox="1"/>
          <p:nvPr/>
        </p:nvSpPr>
        <p:spPr>
          <a:xfrm>
            <a:off x="247904" y="3626683"/>
            <a:ext cx="885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(𝑵 − 𝟏)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113" name="Google Shape;1113;p83"/>
          <p:cNvSpPr txBox="1"/>
          <p:nvPr/>
        </p:nvSpPr>
        <p:spPr>
          <a:xfrm>
            <a:off x="588191" y="1997039"/>
            <a:ext cx="27306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(𝟎, 𝟎)	      (𝑵 − 𝟏) </a:t>
            </a:r>
            <a:r>
              <a:rPr baseline="-25000" lang="en-US" sz="3000">
                <a:latin typeface="Cambria Math"/>
                <a:ea typeface="Cambria Math"/>
                <a:cs typeface="Cambria Math"/>
                <a:sym typeface="Cambria Math"/>
              </a:rPr>
              <a:t>      </a:t>
            </a:r>
            <a:r>
              <a:rPr baseline="-25000" lang="en-US" sz="3000">
                <a:latin typeface="Cambria Math"/>
                <a:ea typeface="Cambria Math"/>
                <a:cs typeface="Cambria Math"/>
                <a:sym typeface="Cambria Math"/>
              </a:rPr>
              <a:t>𝒚</a:t>
            </a:r>
            <a:endParaRPr baseline="-25000" sz="3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114" name="Google Shape;1114;p83"/>
          <p:cNvSpPr txBox="1"/>
          <p:nvPr/>
        </p:nvSpPr>
        <p:spPr>
          <a:xfrm>
            <a:off x="1092879" y="4117041"/>
            <a:ext cx="172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𝒙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id="1115" name="Google Shape;1115;p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1224" y="2438400"/>
            <a:ext cx="1502663" cy="1348739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p83"/>
          <p:cNvSpPr txBox="1"/>
          <p:nvPr/>
        </p:nvSpPr>
        <p:spPr>
          <a:xfrm>
            <a:off x="5278373" y="2475738"/>
            <a:ext cx="1388700" cy="804300"/>
          </a:xfrm>
          <a:prstGeom prst="rect">
            <a:avLst/>
          </a:prstGeom>
          <a:solidFill>
            <a:srgbClr val="DDD9C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647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987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𝑭(𝒙, 𝒗)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grpSp>
        <p:nvGrpSpPr>
          <p:cNvPr id="1117" name="Google Shape;1117;p83"/>
          <p:cNvGrpSpPr/>
          <p:nvPr/>
        </p:nvGrpSpPr>
        <p:grpSpPr>
          <a:xfrm>
            <a:off x="5228374" y="2425727"/>
            <a:ext cx="1895945" cy="1694660"/>
            <a:chOff x="5228374" y="2425727"/>
            <a:chExt cx="1895945" cy="1694660"/>
          </a:xfrm>
        </p:grpSpPr>
        <p:sp>
          <p:nvSpPr>
            <p:cNvPr id="1118" name="Google Shape;1118;p83"/>
            <p:cNvSpPr/>
            <p:nvPr/>
          </p:nvSpPr>
          <p:spPr>
            <a:xfrm>
              <a:off x="5278374" y="2475737"/>
              <a:ext cx="1845945" cy="0"/>
            </a:xfrm>
            <a:custGeom>
              <a:rect b="b" l="l" r="r" t="t"/>
              <a:pathLst>
                <a:path extrusionOk="0" h="120000" w="1845945">
                  <a:moveTo>
                    <a:pt x="0" y="0"/>
                  </a:moveTo>
                  <a:lnTo>
                    <a:pt x="1845818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9" name="Google Shape;1119;p83"/>
            <p:cNvSpPr/>
            <p:nvPr/>
          </p:nvSpPr>
          <p:spPr>
            <a:xfrm>
              <a:off x="7038469" y="2425727"/>
              <a:ext cx="85725" cy="100330"/>
            </a:xfrm>
            <a:custGeom>
              <a:rect b="b" l="l" r="r" t="t"/>
              <a:pathLst>
                <a:path extrusionOk="0" h="100330" w="85725">
                  <a:moveTo>
                    <a:pt x="0" y="0"/>
                  </a:moveTo>
                  <a:lnTo>
                    <a:pt x="85725" y="50012"/>
                  </a:lnTo>
                  <a:lnTo>
                    <a:pt x="0" y="100012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0" name="Google Shape;1120;p83"/>
            <p:cNvSpPr/>
            <p:nvPr/>
          </p:nvSpPr>
          <p:spPr>
            <a:xfrm>
              <a:off x="5278374" y="2475737"/>
              <a:ext cx="0" cy="1644650"/>
            </a:xfrm>
            <a:custGeom>
              <a:rect b="b" l="l" r="r" t="t"/>
              <a:pathLst>
                <a:path extrusionOk="0" h="1644650" w="120000">
                  <a:moveTo>
                    <a:pt x="0" y="0"/>
                  </a:moveTo>
                  <a:lnTo>
                    <a:pt x="0" y="164465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1" name="Google Shape;1121;p83"/>
            <p:cNvSpPr/>
            <p:nvPr/>
          </p:nvSpPr>
          <p:spPr>
            <a:xfrm>
              <a:off x="5228374" y="4034659"/>
              <a:ext cx="100329" cy="85725"/>
            </a:xfrm>
            <a:custGeom>
              <a:rect b="b" l="l" r="r" t="t"/>
              <a:pathLst>
                <a:path extrusionOk="0" h="85725" w="100329">
                  <a:moveTo>
                    <a:pt x="100012" y="0"/>
                  </a:moveTo>
                  <a:lnTo>
                    <a:pt x="49999" y="85724"/>
                  </a:ln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122" name="Google Shape;1122;p83"/>
          <p:cNvSpPr txBox="1"/>
          <p:nvPr/>
        </p:nvSpPr>
        <p:spPr>
          <a:xfrm>
            <a:off x="4362703" y="3626683"/>
            <a:ext cx="885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(𝑵 − 𝟏)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123" name="Google Shape;1123;p83"/>
          <p:cNvSpPr txBox="1"/>
          <p:nvPr/>
        </p:nvSpPr>
        <p:spPr>
          <a:xfrm>
            <a:off x="4710178" y="1991742"/>
            <a:ext cx="27312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(𝟎, 𝟎)	     (𝑵 − 𝟏)       </a:t>
            </a:r>
            <a:r>
              <a:rPr baseline="-25000" lang="en-US" sz="3000">
                <a:latin typeface="Cambria Math"/>
                <a:ea typeface="Cambria Math"/>
                <a:cs typeface="Cambria Math"/>
                <a:sym typeface="Cambria Math"/>
              </a:rPr>
              <a:t>𝒗</a:t>
            </a:r>
            <a:endParaRPr baseline="-25000" sz="3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124" name="Google Shape;1124;p83"/>
          <p:cNvSpPr txBox="1"/>
          <p:nvPr/>
        </p:nvSpPr>
        <p:spPr>
          <a:xfrm>
            <a:off x="5214867" y="4111745"/>
            <a:ext cx="172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𝒙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pic>
        <p:nvPicPr>
          <p:cNvPr id="1125" name="Google Shape;1125;p8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30868" y="2435352"/>
            <a:ext cx="1504187" cy="1348739"/>
          </a:xfrm>
          <a:prstGeom prst="rect">
            <a:avLst/>
          </a:prstGeom>
          <a:noFill/>
          <a:ln>
            <a:noFill/>
          </a:ln>
        </p:spPr>
      </p:pic>
      <p:sp>
        <p:nvSpPr>
          <p:cNvPr id="1126" name="Google Shape;1126;p83"/>
          <p:cNvSpPr txBox="1"/>
          <p:nvPr/>
        </p:nvSpPr>
        <p:spPr>
          <a:xfrm>
            <a:off x="9288018" y="2472689"/>
            <a:ext cx="1389900" cy="804300"/>
          </a:xfrm>
          <a:prstGeom prst="rect">
            <a:avLst/>
          </a:prstGeom>
          <a:solidFill>
            <a:srgbClr val="DDD9C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647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85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𝑭(𝒖, 𝒗)</a:t>
            </a:r>
            <a:endParaRPr sz="2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grpSp>
        <p:nvGrpSpPr>
          <p:cNvPr id="1127" name="Google Shape;1127;p83"/>
          <p:cNvGrpSpPr/>
          <p:nvPr/>
        </p:nvGrpSpPr>
        <p:grpSpPr>
          <a:xfrm>
            <a:off x="9238018" y="2422680"/>
            <a:ext cx="1895945" cy="1694660"/>
            <a:chOff x="9238018" y="2422680"/>
            <a:chExt cx="1895945" cy="1694660"/>
          </a:xfrm>
        </p:grpSpPr>
        <p:sp>
          <p:nvSpPr>
            <p:cNvPr id="1128" name="Google Shape;1128;p83"/>
            <p:cNvSpPr/>
            <p:nvPr/>
          </p:nvSpPr>
          <p:spPr>
            <a:xfrm>
              <a:off x="9288018" y="2472690"/>
              <a:ext cx="1845945" cy="0"/>
            </a:xfrm>
            <a:custGeom>
              <a:rect b="b" l="l" r="r" t="t"/>
              <a:pathLst>
                <a:path extrusionOk="0" h="120000" w="1845945">
                  <a:moveTo>
                    <a:pt x="0" y="0"/>
                  </a:moveTo>
                  <a:lnTo>
                    <a:pt x="1845818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9" name="Google Shape;1129;p83"/>
            <p:cNvSpPr/>
            <p:nvPr/>
          </p:nvSpPr>
          <p:spPr>
            <a:xfrm>
              <a:off x="11048113" y="2422680"/>
              <a:ext cx="85725" cy="100330"/>
            </a:xfrm>
            <a:custGeom>
              <a:rect b="b" l="l" r="r" t="t"/>
              <a:pathLst>
                <a:path extrusionOk="0" h="100330" w="85725">
                  <a:moveTo>
                    <a:pt x="0" y="0"/>
                  </a:moveTo>
                  <a:lnTo>
                    <a:pt x="85725" y="50012"/>
                  </a:lnTo>
                  <a:lnTo>
                    <a:pt x="0" y="100012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0" name="Google Shape;1130;p83"/>
            <p:cNvSpPr/>
            <p:nvPr/>
          </p:nvSpPr>
          <p:spPr>
            <a:xfrm>
              <a:off x="9288018" y="2472690"/>
              <a:ext cx="0" cy="1644650"/>
            </a:xfrm>
            <a:custGeom>
              <a:rect b="b" l="l" r="r" t="t"/>
              <a:pathLst>
                <a:path extrusionOk="0" h="1644650" w="120000">
                  <a:moveTo>
                    <a:pt x="0" y="0"/>
                  </a:moveTo>
                  <a:lnTo>
                    <a:pt x="0" y="164465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1" name="Google Shape;1131;p83"/>
            <p:cNvSpPr/>
            <p:nvPr/>
          </p:nvSpPr>
          <p:spPr>
            <a:xfrm>
              <a:off x="9238018" y="4031611"/>
              <a:ext cx="100329" cy="85725"/>
            </a:xfrm>
            <a:custGeom>
              <a:rect b="b" l="l" r="r" t="t"/>
              <a:pathLst>
                <a:path extrusionOk="0" h="85725" w="100329">
                  <a:moveTo>
                    <a:pt x="100012" y="0"/>
                  </a:moveTo>
                  <a:lnTo>
                    <a:pt x="49999" y="85725"/>
                  </a:lnTo>
                  <a:lnTo>
                    <a:pt x="0" y="0"/>
                  </a:ln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132" name="Google Shape;1132;p83"/>
          <p:cNvSpPr txBox="1"/>
          <p:nvPr/>
        </p:nvSpPr>
        <p:spPr>
          <a:xfrm>
            <a:off x="8325104" y="3626683"/>
            <a:ext cx="885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(𝑵−𝟏)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133" name="Google Shape;1133;p83"/>
          <p:cNvSpPr txBox="1"/>
          <p:nvPr/>
        </p:nvSpPr>
        <p:spPr>
          <a:xfrm>
            <a:off x="8720308" y="1988809"/>
            <a:ext cx="27312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(𝟎, 𝟎)	    (𝑵 − 𝟏)        </a:t>
            </a:r>
            <a:r>
              <a:rPr baseline="-25000" lang="en-US" sz="3000">
                <a:latin typeface="Cambria Math"/>
                <a:ea typeface="Cambria Math"/>
                <a:cs typeface="Cambria Math"/>
                <a:sym typeface="Cambria Math"/>
              </a:rPr>
              <a:t>𝒗</a:t>
            </a:r>
            <a:endParaRPr baseline="-25000" sz="3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134" name="Google Shape;1134;p83"/>
          <p:cNvSpPr txBox="1"/>
          <p:nvPr/>
        </p:nvSpPr>
        <p:spPr>
          <a:xfrm>
            <a:off x="9224996" y="4108813"/>
            <a:ext cx="189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mbria Math"/>
                <a:ea typeface="Cambria Math"/>
                <a:cs typeface="Cambria Math"/>
                <a:sym typeface="Cambria Math"/>
              </a:rPr>
              <a:t>𝒖</a:t>
            </a:r>
            <a:endParaRPr sz="2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135" name="Google Shape;1135;p83"/>
          <p:cNvSpPr txBox="1"/>
          <p:nvPr/>
        </p:nvSpPr>
        <p:spPr>
          <a:xfrm>
            <a:off x="3005029" y="2692400"/>
            <a:ext cx="16467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Georgia"/>
                <a:ea typeface="Georgia"/>
                <a:cs typeface="Georgia"/>
                <a:sym typeface="Georgia"/>
              </a:rPr>
              <a:t>Row transforms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36" name="Google Shape;1136;p83"/>
          <p:cNvSpPr txBox="1"/>
          <p:nvPr/>
        </p:nvSpPr>
        <p:spPr>
          <a:xfrm>
            <a:off x="2831293" y="3180003"/>
            <a:ext cx="19932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Georgia"/>
                <a:ea typeface="Georgia"/>
                <a:cs typeface="Georgia"/>
                <a:sym typeface="Georgia"/>
              </a:rPr>
              <a:t>Multiplication by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𝑵</a:t>
            </a:r>
            <a:endParaRPr sz="18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grpSp>
        <p:nvGrpSpPr>
          <p:cNvPr id="1137" name="Google Shape;1137;p83"/>
          <p:cNvGrpSpPr/>
          <p:nvPr/>
        </p:nvGrpSpPr>
        <p:grpSpPr>
          <a:xfrm>
            <a:off x="2533650" y="3063236"/>
            <a:ext cx="2736002" cy="114300"/>
            <a:chOff x="2533650" y="3063236"/>
            <a:chExt cx="2736002" cy="114300"/>
          </a:xfrm>
        </p:grpSpPr>
        <p:sp>
          <p:nvSpPr>
            <p:cNvPr id="1138" name="Google Shape;1138;p83"/>
            <p:cNvSpPr/>
            <p:nvPr/>
          </p:nvSpPr>
          <p:spPr>
            <a:xfrm>
              <a:off x="2533650" y="3120390"/>
              <a:ext cx="2640965" cy="0"/>
            </a:xfrm>
            <a:custGeom>
              <a:rect b="b" l="l" r="r" t="t"/>
              <a:pathLst>
                <a:path extrusionOk="0" h="120000" w="2640965">
                  <a:moveTo>
                    <a:pt x="0" y="0"/>
                  </a:moveTo>
                  <a:lnTo>
                    <a:pt x="2640749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9" name="Google Shape;1139;p83"/>
            <p:cNvSpPr/>
            <p:nvPr/>
          </p:nvSpPr>
          <p:spPr>
            <a:xfrm>
              <a:off x="5155352" y="3063236"/>
              <a:ext cx="114300" cy="114300"/>
            </a:xfrm>
            <a:custGeom>
              <a:rect b="b" l="l" r="r" t="t"/>
              <a:pathLst>
                <a:path extrusionOk="0" h="114300" w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140" name="Google Shape;1140;p83"/>
          <p:cNvSpPr txBox="1"/>
          <p:nvPr/>
        </p:nvSpPr>
        <p:spPr>
          <a:xfrm>
            <a:off x="7559522" y="2692400"/>
            <a:ext cx="8280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Georgia"/>
                <a:ea typeface="Georgia"/>
                <a:cs typeface="Georgia"/>
                <a:sym typeface="Georgia"/>
              </a:rPr>
              <a:t>Column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41" name="Google Shape;1141;p83"/>
          <p:cNvSpPr txBox="1"/>
          <p:nvPr/>
        </p:nvSpPr>
        <p:spPr>
          <a:xfrm>
            <a:off x="7372070" y="3180003"/>
            <a:ext cx="12015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Georgia"/>
                <a:ea typeface="Georgia"/>
                <a:cs typeface="Georgia"/>
                <a:sym typeface="Georgia"/>
              </a:rPr>
              <a:t>Transforms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  <p:grpSp>
        <p:nvGrpSpPr>
          <p:cNvPr id="1142" name="Google Shape;1142;p83"/>
          <p:cNvGrpSpPr/>
          <p:nvPr/>
        </p:nvGrpSpPr>
        <p:grpSpPr>
          <a:xfrm>
            <a:off x="6669785" y="3081524"/>
            <a:ext cx="2628004" cy="114300"/>
            <a:chOff x="6669785" y="3081524"/>
            <a:chExt cx="2628004" cy="114300"/>
          </a:xfrm>
        </p:grpSpPr>
        <p:sp>
          <p:nvSpPr>
            <p:cNvPr id="1143" name="Google Shape;1143;p83"/>
            <p:cNvSpPr/>
            <p:nvPr/>
          </p:nvSpPr>
          <p:spPr>
            <a:xfrm>
              <a:off x="6669785" y="3138677"/>
              <a:ext cx="2533015" cy="0"/>
            </a:xfrm>
            <a:custGeom>
              <a:rect b="b" l="l" r="r" t="t"/>
              <a:pathLst>
                <a:path extrusionOk="0" h="120000" w="2533015">
                  <a:moveTo>
                    <a:pt x="0" y="0"/>
                  </a:moveTo>
                  <a:lnTo>
                    <a:pt x="2532748" y="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4" name="Google Shape;1144;p83"/>
            <p:cNvSpPr/>
            <p:nvPr/>
          </p:nvSpPr>
          <p:spPr>
            <a:xfrm>
              <a:off x="9183489" y="3081524"/>
              <a:ext cx="114300" cy="114300"/>
            </a:xfrm>
            <a:custGeom>
              <a:rect b="b" l="l" r="r" t="t"/>
              <a:pathLst>
                <a:path extrusionOk="0" h="114300" w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145" name="Google Shape;1145;p83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146" name="Google Shape;1146;p8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7" name="Google Shape;1147;p8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8" name="Google Shape;1148;p83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84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54" name="Google Shape;1154;p84"/>
          <p:cNvSpPr txBox="1"/>
          <p:nvPr>
            <p:ph idx="4294967295" type="title"/>
          </p:nvPr>
        </p:nvSpPr>
        <p:spPr>
          <a:xfrm>
            <a:off x="0" y="750"/>
            <a:ext cx="12192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4F81BD"/>
                </a:solidFill>
              </a:rPr>
              <a:t>Computational Complexity of 2-D Fourier Transform (6)</a:t>
            </a:r>
            <a:endParaRPr sz="3600"/>
          </a:p>
        </p:txBody>
      </p:sp>
      <p:sp>
        <p:nvSpPr>
          <p:cNvPr id="1155" name="Google Shape;1155;p84"/>
          <p:cNvSpPr txBox="1"/>
          <p:nvPr/>
        </p:nvSpPr>
        <p:spPr>
          <a:xfrm>
            <a:off x="292100" y="563707"/>
            <a:ext cx="11607900" cy="54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 u="sng">
                <a:latin typeface="Bell MT"/>
                <a:ea typeface="Bell MT"/>
                <a:cs typeface="Bell MT"/>
                <a:sym typeface="Bell MT"/>
              </a:rPr>
              <a:t>	Reduction using DFT Property of	</a:t>
            </a:r>
            <a:r>
              <a:rPr i="1" lang="en-US" sz="24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Separability	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0" lvl="0" marL="457200" marR="6883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751840" marR="6883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Using these two formulae, the spatial domain image is first transformed into an intermediate image using </a:t>
            </a:r>
            <a:r>
              <a:rPr i="1" lang="en-US" sz="3000" u="sng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N </a:t>
            </a:r>
            <a:r>
              <a:rPr lang="en-US" sz="3000" u="sng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one-dimensional</a:t>
            </a:r>
            <a:r>
              <a:rPr lang="en-US" sz="3000" u="none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000" u="sng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Fourier Transforms</a:t>
            </a:r>
            <a:r>
              <a:rPr lang="en-US" sz="3000" u="none">
                <a:latin typeface="Bell MT"/>
                <a:ea typeface="Bell MT"/>
                <a:cs typeface="Bell MT"/>
                <a:sym typeface="Bell MT"/>
              </a:rPr>
              <a:t>.</a:t>
            </a:r>
            <a:endParaRPr sz="3000" u="none">
              <a:latin typeface="Bell MT"/>
              <a:ea typeface="Bell MT"/>
              <a:cs typeface="Bell MT"/>
              <a:sym typeface="Bell MT"/>
            </a:endParaRPr>
          </a:p>
          <a:p>
            <a:pPr indent="0" lvl="0" marL="457200" marR="6883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751840" marR="7156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This intermediate image is then transformed into the final image, </a:t>
            </a:r>
            <a:r>
              <a:rPr lang="en-US" sz="3000" u="sng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again using </a:t>
            </a:r>
            <a:r>
              <a:rPr i="1" lang="en-US" sz="3000" u="sng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N </a:t>
            </a:r>
            <a:r>
              <a:rPr lang="en-US" sz="3000" u="sng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one-dimensional Fourier Transforms.</a:t>
            </a:r>
            <a:endParaRPr sz="3000" u="sng">
              <a:solidFill>
                <a:srgbClr val="C00000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indent="0" lvl="0" marL="457200" marR="7156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 u="sng">
              <a:solidFill>
                <a:srgbClr val="C00000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751205" marR="615315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Expressing the two-dimensional Fourier Transform </a:t>
            </a:r>
            <a:r>
              <a:rPr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in terms of a series of </a:t>
            </a:r>
            <a:r>
              <a:rPr i="1" lang="en-US" sz="30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2N </a:t>
            </a:r>
            <a:r>
              <a:rPr lang="en-US" sz="30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one-dimensional </a:t>
            </a:r>
            <a:r>
              <a:rPr lang="en-US" sz="30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transforms </a:t>
            </a:r>
            <a:r>
              <a:rPr lang="en-US" sz="30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decreases the number of required computations.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156" name="Google Shape;1156;p84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157" name="Google Shape;1157;p8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8" name="Google Shape;1158;p8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9" name="Google Shape;1159;p84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85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65" name="Google Shape;1165;p85"/>
          <p:cNvSpPr txBox="1"/>
          <p:nvPr>
            <p:ph idx="4294967295" type="title"/>
          </p:nvPr>
        </p:nvSpPr>
        <p:spPr>
          <a:xfrm>
            <a:off x="0" y="750"/>
            <a:ext cx="12192000" cy="9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4F81BD"/>
                </a:solidFill>
              </a:rPr>
              <a:t>Computational Complexity of 2-D Fourier Transform (7)</a:t>
            </a:r>
            <a:endParaRPr sz="3600"/>
          </a:p>
          <a:p>
            <a:pPr indent="0" lvl="0" marL="0" rtl="0" algn="ctr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i="1" lang="en-US" sz="2400" u="sng">
                <a:latin typeface="Bell MT"/>
                <a:ea typeface="Bell MT"/>
                <a:cs typeface="Bell MT"/>
                <a:sym typeface="Bell MT"/>
              </a:rPr>
              <a:t>	Reduction using DFT Property of	</a:t>
            </a:r>
            <a:r>
              <a:rPr i="1" lang="en-US" sz="24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Separability	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166" name="Google Shape;1166;p85"/>
          <p:cNvSpPr/>
          <p:nvPr/>
        </p:nvSpPr>
        <p:spPr>
          <a:xfrm>
            <a:off x="6065520" y="2488692"/>
            <a:ext cx="5179059" cy="22860"/>
          </a:xfrm>
          <a:custGeom>
            <a:rect b="b" l="l" r="r" t="t"/>
            <a:pathLst>
              <a:path extrusionOk="0" h="22860" w="5179059">
                <a:moveTo>
                  <a:pt x="5178552" y="0"/>
                </a:moveTo>
                <a:lnTo>
                  <a:pt x="0" y="0"/>
                </a:lnTo>
                <a:lnTo>
                  <a:pt x="0" y="22860"/>
                </a:lnTo>
                <a:lnTo>
                  <a:pt x="5178552" y="22860"/>
                </a:lnTo>
                <a:lnTo>
                  <a:pt x="5178552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67" name="Google Shape;1167;p85"/>
          <p:cNvSpPr txBox="1"/>
          <p:nvPr/>
        </p:nvSpPr>
        <p:spPr>
          <a:xfrm>
            <a:off x="662940" y="1973071"/>
            <a:ext cx="10719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803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Ordinary one-dimensional </a:t>
            </a:r>
            <a:r>
              <a:rPr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DFT has	O(</a:t>
            </a:r>
            <a:r>
              <a:rPr i="1"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N</a:t>
            </a:r>
            <a:r>
              <a:rPr baseline="30000" i="1"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2</a:t>
            </a:r>
            <a:r>
              <a:rPr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) complexity</a:t>
            </a: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.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168" name="Google Shape;1168;p85"/>
          <p:cNvSpPr txBox="1"/>
          <p:nvPr/>
        </p:nvSpPr>
        <p:spPr>
          <a:xfrm>
            <a:off x="634750" y="3867400"/>
            <a:ext cx="11201400" cy="1154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425">
            <a:spAutoFit/>
          </a:bodyPr>
          <a:lstStyle/>
          <a:p>
            <a:pPr indent="-342265" lvl="0" marL="4337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Even with these computational savings,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0" lvl="0" marL="548640" rtl="0" algn="l">
              <a:lnSpc>
                <a:spcPct val="100000"/>
              </a:lnSpc>
              <a:spcBef>
                <a:spcPts val="805"/>
              </a:spcBef>
              <a:spcAft>
                <a:spcPts val="0"/>
              </a:spcAft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Complexity of	2-D DFT: </a:t>
            </a:r>
            <a:r>
              <a:rPr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O(</a:t>
            </a:r>
            <a:r>
              <a:rPr i="1"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N</a:t>
            </a:r>
            <a:r>
              <a:rPr baseline="30000" i="1" lang="en-US" sz="315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3</a:t>
            </a:r>
            <a:r>
              <a:rPr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)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169" name="Google Shape;1169;p85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170" name="Google Shape;1170;p8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1" name="Google Shape;1171;p8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2" name="Google Shape;1172;p85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86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78" name="Google Shape;1178;p86"/>
          <p:cNvSpPr txBox="1"/>
          <p:nvPr>
            <p:ph idx="4294967295" type="title"/>
          </p:nvPr>
        </p:nvSpPr>
        <p:spPr>
          <a:xfrm>
            <a:off x="0" y="750"/>
            <a:ext cx="12192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4F81BD"/>
                </a:solidFill>
              </a:rPr>
              <a:t>Computational Complexity of 2-D Fourier Transform (8)</a:t>
            </a:r>
            <a:endParaRPr sz="3600"/>
          </a:p>
        </p:txBody>
      </p:sp>
      <p:sp>
        <p:nvSpPr>
          <p:cNvPr id="1179" name="Google Shape;1179;p86"/>
          <p:cNvSpPr/>
          <p:nvPr/>
        </p:nvSpPr>
        <p:spPr>
          <a:xfrm>
            <a:off x="1444752" y="3108960"/>
            <a:ext cx="1129664" cy="17144"/>
          </a:xfrm>
          <a:custGeom>
            <a:rect b="b" l="l" r="r" t="t"/>
            <a:pathLst>
              <a:path extrusionOk="0" h="17144" w="1129664">
                <a:moveTo>
                  <a:pt x="1129284" y="0"/>
                </a:moveTo>
                <a:lnTo>
                  <a:pt x="0" y="0"/>
                </a:lnTo>
                <a:lnTo>
                  <a:pt x="0" y="16763"/>
                </a:lnTo>
                <a:lnTo>
                  <a:pt x="1129284" y="16763"/>
                </a:lnTo>
                <a:lnTo>
                  <a:pt x="1129284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80" name="Google Shape;1180;p86"/>
          <p:cNvSpPr txBox="1"/>
          <p:nvPr/>
        </p:nvSpPr>
        <p:spPr>
          <a:xfrm>
            <a:off x="241350" y="500725"/>
            <a:ext cx="11950800" cy="52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0">
            <a:spAutoFit/>
          </a:bodyPr>
          <a:lstStyle/>
          <a:p>
            <a:pPr indent="0" lvl="0" marL="635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 u="sng">
                <a:latin typeface="Bell MT"/>
                <a:ea typeface="Bell MT"/>
                <a:cs typeface="Bell MT"/>
                <a:sym typeface="Bell MT"/>
              </a:rPr>
              <a:t>	Reduction using </a:t>
            </a:r>
            <a:r>
              <a:rPr i="1" lang="en-US" sz="2400" u="sng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Fast Fourier Transform	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802640" marR="488950" rtl="0" algn="l">
              <a:lnSpc>
                <a:spcPct val="80000"/>
              </a:lnSpc>
              <a:spcBef>
                <a:spcPts val="122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Complexity of	computation of 1-D DFT can be reduced to </a:t>
            </a:r>
            <a:r>
              <a:rPr lang="en-US" sz="30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N log</a:t>
            </a:r>
            <a:r>
              <a:rPr baseline="-25000" lang="en-US" sz="30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2</a:t>
            </a:r>
            <a:r>
              <a:rPr baseline="-25000" lang="en-US" sz="30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0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N if we employ the </a:t>
            </a:r>
            <a:r>
              <a:rPr i="1" lang="en-US" sz="30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Fast Fourier Transform </a:t>
            </a:r>
            <a:r>
              <a:rPr lang="en-US" sz="30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(FFT)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802005" rtl="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So overall complexity: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0" lvl="0" marL="916939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O(N</a:t>
            </a:r>
            <a:r>
              <a:rPr baseline="30000" lang="en-US" sz="255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2</a:t>
            </a:r>
            <a:r>
              <a:rPr lang="en-US" sz="2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log</a:t>
            </a:r>
            <a:r>
              <a:rPr baseline="-25000" lang="en-US" sz="255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2</a:t>
            </a:r>
            <a:r>
              <a:rPr lang="en-US" sz="26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N)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802005" rtl="0" algn="l">
              <a:lnSpc>
                <a:spcPct val="100000"/>
              </a:lnSpc>
              <a:spcBef>
                <a:spcPts val="3585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This is a </a:t>
            </a:r>
            <a:r>
              <a:rPr lang="en-US" sz="30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significant improvement</a:t>
            </a: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, in particular for large images.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802640" marR="530860" rtl="0" algn="l">
              <a:lnSpc>
                <a:spcPct val="80000"/>
              </a:lnSpc>
              <a:spcBef>
                <a:spcPts val="432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There are various forms of	the FFT and most of them restrict the size of	the input image that may be transformed, often to	</a:t>
            </a:r>
            <a:r>
              <a:rPr lang="en-US" sz="30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N = 2</a:t>
            </a:r>
            <a:r>
              <a:rPr baseline="30000" lang="en-US" sz="30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n </a:t>
            </a:r>
            <a:r>
              <a:rPr lang="en-US" sz="30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where </a:t>
            </a:r>
            <a:r>
              <a:rPr i="1" lang="en-US" sz="30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n </a:t>
            </a:r>
            <a:r>
              <a:rPr lang="en-US" sz="30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is an integer.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181" name="Google Shape;1181;p86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182" name="Google Shape;1182;p8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3" name="Google Shape;1183;p8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4" name="Google Shape;1184;p86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87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90" name="Google Shape;1190;p87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91" name="Google Shape;1191;p87"/>
          <p:cNvSpPr txBox="1"/>
          <p:nvPr>
            <p:ph idx="4294967295" type="title"/>
          </p:nvPr>
        </p:nvSpPr>
        <p:spPr>
          <a:xfrm>
            <a:off x="0" y="153150"/>
            <a:ext cx="121920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B050"/>
                </a:solidFill>
              </a:rPr>
              <a:t>Performing filtering in Frequency Domain</a:t>
            </a:r>
            <a:endParaRPr sz="4400"/>
          </a:p>
        </p:txBody>
      </p:sp>
      <p:sp>
        <p:nvSpPr>
          <p:cNvPr id="1192" name="Google Shape;1192;p87"/>
          <p:cNvSpPr txBox="1"/>
          <p:nvPr/>
        </p:nvSpPr>
        <p:spPr>
          <a:xfrm>
            <a:off x="612151" y="987050"/>
            <a:ext cx="87051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For low-pass filtering, the transfer function is: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193" name="Google Shape;1193;p87"/>
          <p:cNvSpPr txBox="1"/>
          <p:nvPr/>
        </p:nvSpPr>
        <p:spPr>
          <a:xfrm>
            <a:off x="612151" y="3466600"/>
            <a:ext cx="5121300" cy="10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4125">
            <a:spAutoFit/>
          </a:bodyPr>
          <a:lstStyle/>
          <a:p>
            <a:pPr indent="-342900" lvl="0" marL="355600" marR="508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latin typeface="Bell MT"/>
                <a:ea typeface="Bell MT"/>
                <a:cs typeface="Bell MT"/>
                <a:sym typeface="Bell MT"/>
              </a:rPr>
              <a:t>For high-pass filtering, the transfer function is: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194" name="Google Shape;1194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8742" y="3276600"/>
            <a:ext cx="6210469" cy="1895659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p87"/>
          <p:cNvSpPr txBox="1"/>
          <p:nvPr/>
        </p:nvSpPr>
        <p:spPr>
          <a:xfrm>
            <a:off x="6027545" y="5107881"/>
            <a:ext cx="38253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141605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Low-pass filter	</a:t>
            </a:r>
            <a:r>
              <a:rPr baseline="30000" lang="en-US" sz="2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Low-pass filter </a:t>
            </a:r>
            <a:r>
              <a:rPr lang="en-US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(perspective plot) </a:t>
            </a:r>
            <a:r>
              <a:rPr baseline="30000" lang="en-US" sz="2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displayed as an image)</a:t>
            </a:r>
            <a:endParaRPr baseline="30000" sz="2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87"/>
          <p:cNvSpPr txBox="1"/>
          <p:nvPr/>
        </p:nvSpPr>
        <p:spPr>
          <a:xfrm>
            <a:off x="9994451" y="5072225"/>
            <a:ext cx="2133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Low-pass filter (radial cross section)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87"/>
          <p:cNvSpPr txBox="1"/>
          <p:nvPr/>
        </p:nvSpPr>
        <p:spPr>
          <a:xfrm>
            <a:off x="115782" y="6121577"/>
            <a:ext cx="108609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Image source: Rafael C. </a:t>
            </a:r>
            <a:r>
              <a:rPr b="1" i="1" lang="en-US" sz="16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Gonzalez</a:t>
            </a:r>
            <a:r>
              <a:rPr i="1" lang="en-US" sz="16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, Richard E. Woods </a:t>
            </a:r>
            <a:r>
              <a:rPr b="1" i="1" lang="en-US" sz="16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Digital Image Processing, </a:t>
            </a:r>
            <a:r>
              <a:rPr i="1" lang="en-US" sz="16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aseline="30000" i="1" lang="en-US" sz="1575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nd </a:t>
            </a:r>
            <a:r>
              <a:rPr b="1" i="1" lang="en-US" sz="16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edition</a:t>
            </a:r>
            <a:r>
              <a:rPr i="1" lang="en-US" sz="16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, Pearson Education, ISBN: 81-7808-629-8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8" name="Google Shape;1198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1000" y="1523715"/>
            <a:ext cx="1419131" cy="1365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9" name="Google Shape;1199;p8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43516" y="1525524"/>
            <a:ext cx="1426463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0" name="Google Shape;1200;p87"/>
          <p:cNvSpPr txBox="1"/>
          <p:nvPr/>
        </p:nvSpPr>
        <p:spPr>
          <a:xfrm>
            <a:off x="7959689" y="2861000"/>
            <a:ext cx="12078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Input image)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87"/>
          <p:cNvSpPr txBox="1"/>
          <p:nvPr/>
        </p:nvSpPr>
        <p:spPr>
          <a:xfrm>
            <a:off x="9811575" y="2861000"/>
            <a:ext cx="20295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Fourier Transform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87"/>
          <p:cNvSpPr txBox="1"/>
          <p:nvPr>
            <p:ph idx="11" type="ftr"/>
          </p:nvPr>
        </p:nvSpPr>
        <p:spPr>
          <a:xfrm>
            <a:off x="4398740" y="65496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203" name="Google Shape;1203;p8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4" name="Google Shape;1204;p8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05" name="Google Shape;1205;p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1538" y="1738375"/>
            <a:ext cx="5374925" cy="11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6" name="Google Shape;1206;p8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2200" y="4796100"/>
            <a:ext cx="5421352" cy="11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88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12" name="Google Shape;1212;p88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13" name="Google Shape;1213;p88"/>
          <p:cNvSpPr txBox="1"/>
          <p:nvPr>
            <p:ph idx="4294967295" type="title"/>
          </p:nvPr>
        </p:nvSpPr>
        <p:spPr>
          <a:xfrm>
            <a:off x="0" y="153150"/>
            <a:ext cx="121920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B050"/>
                </a:solidFill>
              </a:rPr>
              <a:t>Performing filtering in Frequency Domain</a:t>
            </a:r>
            <a:endParaRPr sz="4400"/>
          </a:p>
        </p:txBody>
      </p:sp>
      <p:sp>
        <p:nvSpPr>
          <p:cNvPr id="1214" name="Google Shape;1214;p88"/>
          <p:cNvSpPr txBox="1"/>
          <p:nvPr/>
        </p:nvSpPr>
        <p:spPr>
          <a:xfrm>
            <a:off x="612152" y="1215650"/>
            <a:ext cx="102255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For band-pass filtering, the transfer function is: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215" name="Google Shape;1215;p88"/>
          <p:cNvSpPr txBox="1"/>
          <p:nvPr/>
        </p:nvSpPr>
        <p:spPr>
          <a:xfrm>
            <a:off x="612152" y="3941900"/>
            <a:ext cx="98424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For band-stop filtering, the transfer function is: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216" name="Google Shape;1216;p88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217" name="Google Shape;1217;p8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8" name="Google Shape;1218;p8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19" name="Google Shape;1219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1050" y="1962050"/>
            <a:ext cx="8809901" cy="133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0" name="Google Shape;1220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5988" y="4573175"/>
            <a:ext cx="8220025" cy="146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89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26" name="Google Shape;1226;p89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27" name="Google Shape;1227;p89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Properties of	 DFT</a:t>
            </a:r>
            <a:endParaRPr/>
          </a:p>
        </p:txBody>
      </p:sp>
      <p:sp>
        <p:nvSpPr>
          <p:cNvPr id="1228" name="Google Shape;1228;p89"/>
          <p:cNvSpPr txBox="1"/>
          <p:nvPr/>
        </p:nvSpPr>
        <p:spPr>
          <a:xfrm>
            <a:off x="688340" y="959159"/>
            <a:ext cx="8286900" cy="11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68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Periodicity: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715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The DFT and its inverse are periodic with </a:t>
            </a:r>
            <a:r>
              <a:rPr lang="en-US" sz="28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period </a:t>
            </a:r>
            <a:r>
              <a:rPr i="1" lang="en-US" sz="28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N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229" name="Google Shape;1229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9569" y="2494432"/>
            <a:ext cx="8068897" cy="338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0" name="Google Shape;1230;p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3206" y="3179404"/>
            <a:ext cx="9232141" cy="2397309"/>
          </a:xfrm>
          <a:prstGeom prst="rect">
            <a:avLst/>
          </a:prstGeom>
          <a:noFill/>
          <a:ln>
            <a:noFill/>
          </a:ln>
        </p:spPr>
      </p:pic>
      <p:sp>
        <p:nvSpPr>
          <p:cNvPr id="1231" name="Google Shape;1231;p89"/>
          <p:cNvSpPr txBox="1"/>
          <p:nvPr/>
        </p:nvSpPr>
        <p:spPr>
          <a:xfrm>
            <a:off x="115782" y="6121577"/>
            <a:ext cx="108609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Image source: Rafael C. </a:t>
            </a:r>
            <a:r>
              <a:rPr b="1" i="1" lang="en-US" sz="16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Gonzalez</a:t>
            </a:r>
            <a:r>
              <a:rPr i="1" lang="en-US" sz="16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, Richard E. Woods </a:t>
            </a:r>
            <a:r>
              <a:rPr b="1" i="1" lang="en-US" sz="16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Digital Image Processing, </a:t>
            </a:r>
            <a:r>
              <a:rPr i="1" lang="en-US" sz="16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aseline="30000" i="1" lang="en-US" sz="1575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nd </a:t>
            </a:r>
            <a:r>
              <a:rPr b="1" i="1" lang="en-US" sz="16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edition</a:t>
            </a:r>
            <a:r>
              <a:rPr i="1" lang="en-US" sz="16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, Pearson Education, ISBN: 81-7808-629-8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89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233" name="Google Shape;1233;p8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4" name="Google Shape;1234;p8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90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40" name="Google Shape;1240;p90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41" name="Google Shape;1241;p90"/>
          <p:cNvSpPr txBox="1"/>
          <p:nvPr>
            <p:ph idx="4294967295" type="title"/>
          </p:nvPr>
        </p:nvSpPr>
        <p:spPr>
          <a:xfrm>
            <a:off x="0" y="153150"/>
            <a:ext cx="121920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Properties of	DFT</a:t>
            </a:r>
            <a:endParaRPr sz="4400"/>
          </a:p>
        </p:txBody>
      </p:sp>
      <p:sp>
        <p:nvSpPr>
          <p:cNvPr id="1242" name="Google Shape;1242;p90"/>
          <p:cNvSpPr txBox="1"/>
          <p:nvPr/>
        </p:nvSpPr>
        <p:spPr>
          <a:xfrm>
            <a:off x="535940" y="879467"/>
            <a:ext cx="3985800" cy="1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6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Conjugate Symmetry: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	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If	</a:t>
            </a:r>
            <a:r>
              <a:rPr i="1" lang="en-US" sz="28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f(x, y)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is real, then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243" name="Google Shape;1243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5389" y="3210519"/>
            <a:ext cx="7954818" cy="1019360"/>
          </a:xfrm>
          <a:prstGeom prst="rect">
            <a:avLst/>
          </a:prstGeom>
          <a:noFill/>
          <a:ln>
            <a:noFill/>
          </a:ln>
        </p:spPr>
      </p:pic>
      <p:sp>
        <p:nvSpPr>
          <p:cNvPr id="1244" name="Google Shape;1244;p90"/>
          <p:cNvSpPr txBox="1"/>
          <p:nvPr/>
        </p:nvSpPr>
        <p:spPr>
          <a:xfrm>
            <a:off x="2869097" y="4948071"/>
            <a:ext cx="5561400" cy="13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latin typeface="Times New Roman"/>
                <a:ea typeface="Times New Roman"/>
                <a:cs typeface="Times New Roman"/>
                <a:sym typeface="Times New Roman"/>
              </a:rPr>
              <a:t>f(x, y)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is even if </a:t>
            </a:r>
            <a:r>
              <a:rPr i="1" lang="en-US" sz="2800">
                <a:latin typeface="Times New Roman"/>
                <a:ea typeface="Times New Roman"/>
                <a:cs typeface="Times New Roman"/>
                <a:sym typeface="Times New Roman"/>
              </a:rPr>
              <a:t>f(x, y) = f(-x,-y)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90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E46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f(x, y) </a:t>
            </a:r>
            <a:r>
              <a:rPr lang="en-US" sz="2800">
                <a:solidFill>
                  <a:srgbClr val="E46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odd if </a:t>
            </a:r>
            <a:r>
              <a:rPr i="1" lang="en-US" sz="2800">
                <a:solidFill>
                  <a:srgbClr val="E46C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f(x, y) = -f(-x,-y)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93CDD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function can be neither even nor odd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5" name="Google Shape;1245;p90"/>
          <p:cNvSpPr/>
          <p:nvPr/>
        </p:nvSpPr>
        <p:spPr>
          <a:xfrm>
            <a:off x="685800" y="4648200"/>
            <a:ext cx="10548620" cy="1904"/>
          </a:xfrm>
          <a:custGeom>
            <a:rect b="b" l="l" r="r" t="t"/>
            <a:pathLst>
              <a:path extrusionOk="0" h="1904" w="10548620">
                <a:moveTo>
                  <a:pt x="0" y="0"/>
                </a:moveTo>
                <a:lnTo>
                  <a:pt x="10547997" y="1587"/>
                </a:lnTo>
              </a:path>
            </a:pathLst>
          </a:custGeom>
          <a:noFill/>
          <a:ln cap="flat" cmpd="sng" w="57150">
            <a:solidFill>
              <a:srgbClr val="BE4B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246" name="Google Shape;1246;p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4200" y="2293619"/>
            <a:ext cx="2553456" cy="342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7" name="Google Shape;1247;p9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29425" y="2341244"/>
            <a:ext cx="2657474" cy="2952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8" name="Google Shape;1248;p90"/>
          <p:cNvGrpSpPr/>
          <p:nvPr/>
        </p:nvGrpSpPr>
        <p:grpSpPr>
          <a:xfrm>
            <a:off x="5961126" y="2286761"/>
            <a:ext cx="536575" cy="469900"/>
            <a:chOff x="5961126" y="2286761"/>
            <a:chExt cx="536575" cy="469900"/>
          </a:xfrm>
        </p:grpSpPr>
        <p:sp>
          <p:nvSpPr>
            <p:cNvPr id="1249" name="Google Shape;1249;p90"/>
            <p:cNvSpPr/>
            <p:nvPr/>
          </p:nvSpPr>
          <p:spPr>
            <a:xfrm>
              <a:off x="5961126" y="2286761"/>
              <a:ext cx="536575" cy="469900"/>
            </a:xfrm>
            <a:custGeom>
              <a:rect b="b" l="l" r="r" t="t"/>
              <a:pathLst>
                <a:path extrusionOk="0" h="469900" w="536575">
                  <a:moveTo>
                    <a:pt x="301752" y="0"/>
                  </a:moveTo>
                  <a:lnTo>
                    <a:pt x="301752" y="117348"/>
                  </a:lnTo>
                  <a:lnTo>
                    <a:pt x="0" y="117348"/>
                  </a:lnTo>
                  <a:lnTo>
                    <a:pt x="0" y="352044"/>
                  </a:lnTo>
                  <a:lnTo>
                    <a:pt x="301752" y="352044"/>
                  </a:lnTo>
                  <a:lnTo>
                    <a:pt x="301752" y="469392"/>
                  </a:lnTo>
                  <a:lnTo>
                    <a:pt x="536448" y="234696"/>
                  </a:lnTo>
                  <a:lnTo>
                    <a:pt x="301752" y="0"/>
                  </a:lnTo>
                  <a:close/>
                </a:path>
              </a:pathLst>
            </a:custGeom>
            <a:solidFill>
              <a:srgbClr val="4F81B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0" name="Google Shape;1250;p90"/>
            <p:cNvSpPr/>
            <p:nvPr/>
          </p:nvSpPr>
          <p:spPr>
            <a:xfrm>
              <a:off x="5961126" y="2286761"/>
              <a:ext cx="536575" cy="469900"/>
            </a:xfrm>
            <a:custGeom>
              <a:rect b="b" l="l" r="r" t="t"/>
              <a:pathLst>
                <a:path extrusionOk="0" h="469900" w="536575">
                  <a:moveTo>
                    <a:pt x="0" y="117348"/>
                  </a:moveTo>
                  <a:lnTo>
                    <a:pt x="301752" y="117348"/>
                  </a:lnTo>
                  <a:lnTo>
                    <a:pt x="301752" y="0"/>
                  </a:lnTo>
                  <a:lnTo>
                    <a:pt x="536448" y="234696"/>
                  </a:lnTo>
                  <a:lnTo>
                    <a:pt x="301752" y="469392"/>
                  </a:lnTo>
                  <a:lnTo>
                    <a:pt x="301752" y="352044"/>
                  </a:lnTo>
                  <a:lnTo>
                    <a:pt x="0" y="352044"/>
                  </a:lnTo>
                  <a:lnTo>
                    <a:pt x="0" y="117348"/>
                  </a:lnTo>
                  <a:close/>
                </a:path>
              </a:pathLst>
            </a:custGeom>
            <a:noFill/>
            <a:ln cap="flat" cmpd="sng" w="25400">
              <a:solidFill>
                <a:srgbClr val="385D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251" name="Google Shape;1251;p90"/>
          <p:cNvSpPr txBox="1"/>
          <p:nvPr>
            <p:ph idx="11" type="ftr"/>
          </p:nvPr>
        </p:nvSpPr>
        <p:spPr>
          <a:xfrm>
            <a:off x="439874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252" name="Google Shape;1252;p9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3" name="Google Shape;1253;p9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91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59" name="Google Shape;1259;p91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60" name="Google Shape;1260;p91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Properties of	DFT</a:t>
            </a:r>
            <a:endParaRPr/>
          </a:p>
        </p:txBody>
      </p:sp>
      <p:pic>
        <p:nvPicPr>
          <p:cNvPr id="1261" name="Google Shape;1261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3784" y="1865220"/>
            <a:ext cx="8723603" cy="3778542"/>
          </a:xfrm>
          <a:prstGeom prst="rect">
            <a:avLst/>
          </a:prstGeom>
          <a:noFill/>
          <a:ln>
            <a:noFill/>
          </a:ln>
        </p:spPr>
      </p:pic>
      <p:sp>
        <p:nvSpPr>
          <p:cNvPr id="1262" name="Google Shape;1262;p91"/>
          <p:cNvSpPr txBox="1"/>
          <p:nvPr/>
        </p:nvSpPr>
        <p:spPr>
          <a:xfrm>
            <a:off x="612140" y="987044"/>
            <a:ext cx="10786800" cy="18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Theorem: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The Fourier transform of	a </a:t>
            </a:r>
            <a:r>
              <a:rPr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real even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function is </a:t>
            </a:r>
            <a:r>
              <a:rPr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real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7175500" marR="929005" rtl="0" algn="l">
              <a:lnSpc>
                <a:spcPct val="100000"/>
              </a:lnSpc>
              <a:spcBef>
                <a:spcPts val="354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is frequency here &amp; </a:t>
            </a:r>
            <a:r>
              <a:rPr i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is distance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3" name="Google Shape;1263;p91"/>
          <p:cNvSpPr txBox="1"/>
          <p:nvPr/>
        </p:nvSpPr>
        <p:spPr>
          <a:xfrm>
            <a:off x="612150" y="5929410"/>
            <a:ext cx="10058400" cy="336000"/>
          </a:xfrm>
          <a:prstGeom prst="rect">
            <a:avLst/>
          </a:prstGeom>
          <a:noFill/>
          <a:ln cap="flat" cmpd="sng" w="25400">
            <a:solidFill>
              <a:srgbClr val="C05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7925">
            <a:spAutoFit/>
          </a:bodyPr>
          <a:lstStyle/>
          <a:p>
            <a:pPr indent="0" lvl="0" marL="895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latin typeface="Calibri"/>
                <a:ea typeface="Calibri"/>
                <a:cs typeface="Calibri"/>
                <a:sym typeface="Calibri"/>
              </a:rPr>
              <a:t>Theorem used: </a:t>
            </a:r>
            <a:r>
              <a:rPr i="1" lang="en-US" sz="2000">
                <a:latin typeface="Calibri"/>
                <a:ea typeface="Calibri"/>
                <a:cs typeface="Calibri"/>
                <a:sym typeface="Calibri"/>
              </a:rPr>
              <a:t>The integral of the </a:t>
            </a:r>
            <a:r>
              <a:rPr i="1" lang="en-US" sz="20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product of odd and even </a:t>
            </a:r>
            <a:r>
              <a:rPr i="1" lang="en-US" sz="2000">
                <a:latin typeface="Calibri"/>
                <a:ea typeface="Calibri"/>
                <a:cs typeface="Calibri"/>
                <a:sym typeface="Calibri"/>
              </a:rPr>
              <a:t>functions is </a:t>
            </a:r>
            <a:r>
              <a:rPr i="1" lang="en-US" sz="20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zero</a:t>
            </a:r>
            <a:r>
              <a:rPr i="1" lang="en-US" sz="20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64" name="Google Shape;1264;p91"/>
          <p:cNvGrpSpPr/>
          <p:nvPr/>
        </p:nvGrpSpPr>
        <p:grpSpPr>
          <a:xfrm>
            <a:off x="3886961" y="2916173"/>
            <a:ext cx="6400800" cy="2209800"/>
            <a:chOff x="3886961" y="2916173"/>
            <a:chExt cx="6400800" cy="2209800"/>
          </a:xfrm>
        </p:grpSpPr>
        <p:sp>
          <p:nvSpPr>
            <p:cNvPr id="1265" name="Google Shape;1265;p91"/>
            <p:cNvSpPr/>
            <p:nvPr/>
          </p:nvSpPr>
          <p:spPr>
            <a:xfrm>
              <a:off x="3886961" y="2916173"/>
              <a:ext cx="6400800" cy="0"/>
            </a:xfrm>
            <a:custGeom>
              <a:rect b="b" l="l" r="r" t="t"/>
              <a:pathLst>
                <a:path extrusionOk="0" h="120000" w="6400800">
                  <a:moveTo>
                    <a:pt x="0" y="0"/>
                  </a:moveTo>
                  <a:lnTo>
                    <a:pt x="6400800" y="0"/>
                  </a:lnTo>
                </a:path>
              </a:pathLst>
            </a:cu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6" name="Google Shape;1266;p91"/>
            <p:cNvSpPr/>
            <p:nvPr/>
          </p:nvSpPr>
          <p:spPr>
            <a:xfrm>
              <a:off x="3886961" y="3982973"/>
              <a:ext cx="6400800" cy="0"/>
            </a:xfrm>
            <a:custGeom>
              <a:rect b="b" l="l" r="r" t="t"/>
              <a:pathLst>
                <a:path extrusionOk="0" h="120000" w="6400800">
                  <a:moveTo>
                    <a:pt x="0" y="0"/>
                  </a:moveTo>
                  <a:lnTo>
                    <a:pt x="6400800" y="0"/>
                  </a:lnTo>
                </a:path>
              </a:pathLst>
            </a:custGeom>
            <a:noFill/>
            <a:ln cap="flat" cmpd="sng" w="28575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7" name="Google Shape;1267;p91"/>
            <p:cNvSpPr/>
            <p:nvPr/>
          </p:nvSpPr>
          <p:spPr>
            <a:xfrm>
              <a:off x="3886961" y="5125973"/>
              <a:ext cx="6400800" cy="0"/>
            </a:xfrm>
            <a:custGeom>
              <a:rect b="b" l="l" r="r" t="t"/>
              <a:pathLst>
                <a:path extrusionOk="0" h="120000" w="6400800">
                  <a:moveTo>
                    <a:pt x="0" y="0"/>
                  </a:moveTo>
                  <a:lnTo>
                    <a:pt x="6400800" y="0"/>
                  </a:lnTo>
                </a:path>
              </a:pathLst>
            </a:custGeom>
            <a:noFill/>
            <a:ln cap="flat" cmpd="sng" w="28575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268" name="Google Shape;1268;p91"/>
          <p:cNvSpPr txBox="1"/>
          <p:nvPr>
            <p:ph idx="11" type="ftr"/>
          </p:nvPr>
        </p:nvSpPr>
        <p:spPr>
          <a:xfrm>
            <a:off x="4398740" y="6551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269" name="Google Shape;1269;p9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0" name="Google Shape;1270;p9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p92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76" name="Google Shape;1276;p92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277" name="Google Shape;1277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9878" y="2038724"/>
            <a:ext cx="7980802" cy="3552455"/>
          </a:xfrm>
          <a:prstGeom prst="rect">
            <a:avLst/>
          </a:prstGeom>
          <a:noFill/>
          <a:ln>
            <a:noFill/>
          </a:ln>
        </p:spPr>
      </p:pic>
      <p:sp>
        <p:nvSpPr>
          <p:cNvPr id="1278" name="Google Shape;1278;p92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Properties of	DFT</a:t>
            </a:r>
            <a:endParaRPr/>
          </a:p>
        </p:txBody>
      </p:sp>
      <p:sp>
        <p:nvSpPr>
          <p:cNvPr id="1279" name="Google Shape;1279;p92"/>
          <p:cNvSpPr txBox="1"/>
          <p:nvPr/>
        </p:nvSpPr>
        <p:spPr>
          <a:xfrm>
            <a:off x="612140" y="987044"/>
            <a:ext cx="9919200" cy="19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9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Theorem: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The Fourier transform of	a </a:t>
            </a:r>
            <a:r>
              <a:rPr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real odd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function is </a:t>
            </a:r>
            <a:r>
              <a:rPr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imaginary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.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7175500" rtl="0" algn="l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is frequency here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7175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&amp; </a:t>
            </a:r>
            <a:r>
              <a:rPr i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is distance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0" name="Google Shape;1280;p92"/>
          <p:cNvSpPr txBox="1"/>
          <p:nvPr/>
        </p:nvSpPr>
        <p:spPr>
          <a:xfrm>
            <a:off x="612150" y="5844760"/>
            <a:ext cx="10058400" cy="336000"/>
          </a:xfrm>
          <a:prstGeom prst="rect">
            <a:avLst/>
          </a:prstGeom>
          <a:noFill/>
          <a:ln cap="flat" cmpd="sng" w="25400">
            <a:solidFill>
              <a:srgbClr val="C05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7925">
            <a:spAutoFit/>
          </a:bodyPr>
          <a:lstStyle/>
          <a:p>
            <a:pPr indent="0" lvl="0" marL="895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latin typeface="Calibri"/>
                <a:ea typeface="Calibri"/>
                <a:cs typeface="Calibri"/>
                <a:sym typeface="Calibri"/>
              </a:rPr>
              <a:t>Theorem used: </a:t>
            </a:r>
            <a:r>
              <a:rPr i="1" lang="en-US" sz="2000">
                <a:latin typeface="Calibri"/>
                <a:ea typeface="Calibri"/>
                <a:cs typeface="Calibri"/>
                <a:sym typeface="Calibri"/>
              </a:rPr>
              <a:t>The integral of the </a:t>
            </a:r>
            <a:r>
              <a:rPr i="1" lang="en-US" sz="20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product of odd and even </a:t>
            </a:r>
            <a:r>
              <a:rPr i="1" lang="en-US" sz="2000">
                <a:latin typeface="Calibri"/>
                <a:ea typeface="Calibri"/>
                <a:cs typeface="Calibri"/>
                <a:sym typeface="Calibri"/>
              </a:rPr>
              <a:t>functions is </a:t>
            </a:r>
            <a:r>
              <a:rPr i="1" lang="en-US" sz="20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zero</a:t>
            </a:r>
            <a:r>
              <a:rPr i="1" lang="en-US" sz="20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92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282" name="Google Shape;1282;p9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83" name="Google Shape;1283;p9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93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89" name="Google Shape;1289;p93"/>
          <p:cNvSpPr txBox="1"/>
          <p:nvPr>
            <p:ph idx="4294967295" type="ftr"/>
          </p:nvPr>
        </p:nvSpPr>
        <p:spPr>
          <a:xfrm>
            <a:off x="4398753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290" name="Google Shape;1290;p9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1" name="Google Shape;1291;p93"/>
          <p:cNvSpPr txBox="1"/>
          <p:nvPr/>
        </p:nvSpPr>
        <p:spPr>
          <a:xfrm>
            <a:off x="2945850" y="2874900"/>
            <a:ext cx="630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End</a:t>
            </a:r>
            <a:endParaRPr b="1" sz="60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94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97" name="Google Shape;1297;p94"/>
          <p:cNvSpPr txBox="1"/>
          <p:nvPr>
            <p:ph idx="4294967295" type="title"/>
          </p:nvPr>
        </p:nvSpPr>
        <p:spPr>
          <a:xfrm>
            <a:off x="0" y="1367250"/>
            <a:ext cx="12192000" cy="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latin typeface="Bell MT"/>
                <a:ea typeface="Bell MT"/>
                <a:cs typeface="Bell MT"/>
                <a:sym typeface="Bell MT"/>
              </a:rPr>
              <a:t>Fourier	Transform</a:t>
            </a:r>
            <a:endParaRPr sz="6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298" name="Google Shape;1298;p94"/>
          <p:cNvSpPr txBox="1"/>
          <p:nvPr/>
        </p:nvSpPr>
        <p:spPr>
          <a:xfrm>
            <a:off x="3077845" y="3344987"/>
            <a:ext cx="6036300" cy="22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6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Part – 5</a:t>
            </a:r>
            <a:endParaRPr sz="4000">
              <a:solidFill>
                <a:srgbClr val="00B050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65"/>
              </a:spcBef>
              <a:spcAft>
                <a:spcPts val="0"/>
              </a:spcAft>
              <a:buNone/>
            </a:pPr>
            <a:r>
              <a:t/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3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Properties of Fourier Transform</a:t>
            </a:r>
            <a:endParaRPr sz="35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299" name="Google Shape;1299;p94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300" name="Google Shape;1300;p9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1" name="Google Shape;1301;p9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95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07" name="Google Shape;1307;p95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08" name="Google Shape;1308;p95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Quick Review of	the Last Class</a:t>
            </a:r>
            <a:endParaRPr/>
          </a:p>
        </p:txBody>
      </p:sp>
      <p:sp>
        <p:nvSpPr>
          <p:cNvPr id="1309" name="Google Shape;1309;p95"/>
          <p:cNvSpPr txBox="1"/>
          <p:nvPr/>
        </p:nvSpPr>
        <p:spPr>
          <a:xfrm>
            <a:off x="688340" y="1003809"/>
            <a:ext cx="9102600" cy="53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50"/>
              <a:buFont typeface="Noto Sans Symbols"/>
              <a:buChar char="▪"/>
            </a:pPr>
            <a:r>
              <a:rPr lang="en-US" sz="2700">
                <a:latin typeface="Bell MT"/>
                <a:ea typeface="Bell MT"/>
                <a:cs typeface="Bell MT"/>
                <a:sym typeface="Bell MT"/>
              </a:rPr>
              <a:t>Computational Complexity of	DFTs – 1D &amp; 2D</a:t>
            </a:r>
            <a:endParaRPr sz="27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3240"/>
              </a:spcBef>
              <a:spcAft>
                <a:spcPts val="0"/>
              </a:spcAft>
              <a:buClr>
                <a:srgbClr val="FF0000"/>
              </a:buClr>
              <a:buSzPts val="2150"/>
              <a:buFont typeface="Noto Sans Symbols"/>
              <a:buChar char="▪"/>
            </a:pPr>
            <a:r>
              <a:rPr lang="en-US" sz="2700">
                <a:latin typeface="Bell MT"/>
                <a:ea typeface="Bell MT"/>
                <a:cs typeface="Bell MT"/>
                <a:sym typeface="Bell MT"/>
              </a:rPr>
              <a:t>Filtering in Frequency Domain</a:t>
            </a:r>
            <a:endParaRPr sz="27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3240"/>
              </a:spcBef>
              <a:spcAft>
                <a:spcPts val="0"/>
              </a:spcAft>
              <a:buClr>
                <a:srgbClr val="FF0000"/>
              </a:buClr>
              <a:buSzPts val="2150"/>
              <a:buFont typeface="Noto Sans Symbols"/>
              <a:buChar char="▪"/>
            </a:pPr>
            <a:r>
              <a:rPr lang="en-US" sz="2700">
                <a:latin typeface="Bell MT"/>
                <a:ea typeface="Bell MT"/>
                <a:cs typeface="Bell MT"/>
                <a:sym typeface="Bell MT"/>
              </a:rPr>
              <a:t>Properties of	</a:t>
            </a:r>
            <a:r>
              <a:rPr b="1" lang="en-US" sz="2700">
                <a:latin typeface="Bell MT"/>
                <a:ea typeface="Bell MT"/>
                <a:cs typeface="Bell MT"/>
                <a:sym typeface="Bell MT"/>
              </a:rPr>
              <a:t>Fourier Transform</a:t>
            </a:r>
            <a:endParaRPr sz="27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rgbClr val="00B0F0"/>
              </a:buClr>
              <a:buSzPts val="2400"/>
              <a:buFont typeface="Arial"/>
              <a:buChar char="–"/>
            </a:pPr>
            <a:r>
              <a:rPr b="1" lang="en-US" sz="24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Periodicity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0" lvl="0" marL="26384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latin typeface="Bell MT"/>
                <a:ea typeface="Bell MT"/>
                <a:cs typeface="Bell MT"/>
                <a:sym typeface="Bell MT"/>
              </a:rPr>
              <a:t>F(u, v) = F(u + N, v) = F(u, v + N)=F(u + N, v + N)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400"/>
              <a:buFont typeface="Arial"/>
              <a:buChar char="–"/>
            </a:pPr>
            <a:r>
              <a:rPr b="1" lang="en-US" sz="24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Conjugate symmetry</a:t>
            </a:r>
            <a:endParaRPr b="1" sz="2400">
              <a:solidFill>
                <a:srgbClr val="00B0F0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0B0F0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indent="-227964" lvl="2" marL="1155065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1" lang="en-US" sz="2000">
                <a:latin typeface="Bell MT"/>
                <a:ea typeface="Bell MT"/>
                <a:cs typeface="Bell MT"/>
                <a:sym typeface="Bell MT"/>
              </a:rPr>
              <a:t>If </a:t>
            </a:r>
            <a:r>
              <a:rPr b="1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b="1" lang="en-US" sz="2000">
                <a:latin typeface="Bell MT"/>
                <a:ea typeface="Bell MT"/>
                <a:cs typeface="Bell MT"/>
                <a:sym typeface="Bell MT"/>
              </a:rPr>
              <a:t>(</a:t>
            </a:r>
            <a:r>
              <a:rPr b="1" i="1" lang="en-US" sz="2000">
                <a:latin typeface="Times New Roman"/>
                <a:ea typeface="Times New Roman"/>
                <a:cs typeface="Times New Roman"/>
                <a:sym typeface="Times New Roman"/>
              </a:rPr>
              <a:t>x, y</a:t>
            </a:r>
            <a:r>
              <a:rPr b="1" lang="en-US" sz="2000">
                <a:latin typeface="Bell MT"/>
                <a:ea typeface="Bell MT"/>
                <a:cs typeface="Bell MT"/>
                <a:sym typeface="Bell MT"/>
              </a:rPr>
              <a:t>) is </a:t>
            </a:r>
            <a:r>
              <a:rPr b="1" lang="en-US" sz="2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real </a:t>
            </a:r>
            <a:r>
              <a:rPr b="1" lang="en-US" sz="2000">
                <a:latin typeface="Bell MT"/>
                <a:ea typeface="Bell MT"/>
                <a:cs typeface="Bell MT"/>
                <a:sym typeface="Bell MT"/>
              </a:rPr>
              <a:t>then </a:t>
            </a:r>
            <a:r>
              <a:rPr i="1" lang="en-US" sz="2000">
                <a:latin typeface="Bell MT"/>
                <a:ea typeface="Bell MT"/>
                <a:cs typeface="Bell MT"/>
                <a:sym typeface="Bell MT"/>
              </a:rPr>
              <a:t>F</a:t>
            </a: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(</a:t>
            </a:r>
            <a:r>
              <a:rPr i="1" lang="en-US" sz="2000">
                <a:latin typeface="Bell MT"/>
                <a:ea typeface="Bell MT"/>
                <a:cs typeface="Bell MT"/>
                <a:sym typeface="Bell MT"/>
              </a:rPr>
              <a:t>u, v</a:t>
            </a: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) </a:t>
            </a:r>
            <a:r>
              <a:rPr i="1" lang="en-US" sz="2000">
                <a:latin typeface="Bell MT"/>
                <a:ea typeface="Bell MT"/>
                <a:cs typeface="Bell MT"/>
                <a:sym typeface="Bell MT"/>
              </a:rPr>
              <a:t>= F*</a:t>
            </a: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(</a:t>
            </a:r>
            <a:r>
              <a:rPr i="1" lang="en-US" sz="2000">
                <a:latin typeface="Bell MT"/>
                <a:ea typeface="Bell MT"/>
                <a:cs typeface="Bell MT"/>
                <a:sym typeface="Bell MT"/>
              </a:rPr>
              <a:t>-u, -v</a:t>
            </a: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) </a:t>
            </a:r>
            <a:r>
              <a:rPr lang="en-US" sz="2000">
                <a:latin typeface="Noto Sans Symbols"/>
                <a:ea typeface="Noto Sans Symbols"/>
                <a:cs typeface="Noto Sans Symbols"/>
                <a:sym typeface="Noto Sans Symbols"/>
              </a:rPr>
              <a:t>=&gt;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000">
                <a:latin typeface="Bell MT"/>
                <a:ea typeface="Bell MT"/>
                <a:cs typeface="Bell MT"/>
                <a:sym typeface="Bell MT"/>
              </a:rPr>
              <a:t>|F</a:t>
            </a: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(</a:t>
            </a:r>
            <a:r>
              <a:rPr i="1" lang="en-US" sz="2000">
                <a:latin typeface="Bell MT"/>
                <a:ea typeface="Bell MT"/>
                <a:cs typeface="Bell MT"/>
                <a:sym typeface="Bell MT"/>
              </a:rPr>
              <a:t>u, v</a:t>
            </a: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)</a:t>
            </a:r>
            <a:r>
              <a:rPr i="1" lang="en-US" sz="2000">
                <a:latin typeface="Bell MT"/>
                <a:ea typeface="Bell MT"/>
                <a:cs typeface="Bell MT"/>
                <a:sym typeface="Bell MT"/>
              </a:rPr>
              <a:t>| = |F*</a:t>
            </a: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(</a:t>
            </a:r>
            <a:r>
              <a:rPr i="1" lang="en-US" sz="2000">
                <a:latin typeface="Bell MT"/>
                <a:ea typeface="Bell MT"/>
                <a:cs typeface="Bell MT"/>
                <a:sym typeface="Bell MT"/>
              </a:rPr>
              <a:t>-u, -v</a:t>
            </a: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)</a:t>
            </a:r>
            <a:r>
              <a:rPr i="1" lang="en-US" sz="2000">
                <a:latin typeface="Bell MT"/>
                <a:ea typeface="Bell MT"/>
                <a:cs typeface="Bell MT"/>
                <a:sym typeface="Bell MT"/>
              </a:rPr>
              <a:t>|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286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b="1" lang="en-US" sz="2400">
                <a:latin typeface="Bell MT"/>
                <a:ea typeface="Bell MT"/>
                <a:cs typeface="Bell MT"/>
                <a:sym typeface="Bell MT"/>
              </a:rPr>
              <a:t>The Fourier transform of a </a:t>
            </a:r>
            <a:r>
              <a:rPr b="1" lang="en-US" sz="24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real even </a:t>
            </a:r>
            <a:r>
              <a:rPr b="1" lang="en-US" sz="2400">
                <a:latin typeface="Bell MT"/>
                <a:ea typeface="Bell MT"/>
                <a:cs typeface="Bell MT"/>
                <a:sym typeface="Bell MT"/>
              </a:rPr>
              <a:t>function is </a:t>
            </a:r>
            <a:r>
              <a:rPr b="1" lang="en-US" sz="24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real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288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b="1" lang="en-US" sz="2400">
                <a:latin typeface="Bell MT"/>
                <a:ea typeface="Bell MT"/>
                <a:cs typeface="Bell MT"/>
                <a:sym typeface="Bell MT"/>
              </a:rPr>
              <a:t>The Fourier transform of a </a:t>
            </a:r>
            <a:r>
              <a:rPr b="1" lang="en-US" sz="24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real odd </a:t>
            </a:r>
            <a:r>
              <a:rPr b="1" lang="en-US" sz="2400">
                <a:latin typeface="Bell MT"/>
                <a:ea typeface="Bell MT"/>
                <a:cs typeface="Bell MT"/>
                <a:sym typeface="Bell MT"/>
              </a:rPr>
              <a:t>function is </a:t>
            </a:r>
            <a:r>
              <a:rPr b="1" lang="en-US" sz="24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imaginary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310" name="Google Shape;1310;p95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311" name="Google Shape;1311;p9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2" name="Google Shape;1312;p9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96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18" name="Google Shape;1318;p96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19" name="Google Shape;1319;p96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Agenda for Today’s Class</a:t>
            </a:r>
            <a:endParaRPr/>
          </a:p>
        </p:txBody>
      </p:sp>
      <p:sp>
        <p:nvSpPr>
          <p:cNvPr id="1320" name="Google Shape;1320;p96"/>
          <p:cNvSpPr txBox="1"/>
          <p:nvPr/>
        </p:nvSpPr>
        <p:spPr>
          <a:xfrm>
            <a:off x="688340" y="960907"/>
            <a:ext cx="8391000" cy="37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55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Properties of	</a:t>
            </a:r>
            <a:r>
              <a:rPr b="1" lang="en-US" sz="3200">
                <a:latin typeface="Bell MT"/>
                <a:ea typeface="Bell MT"/>
                <a:cs typeface="Bell MT"/>
                <a:sym typeface="Bell MT"/>
              </a:rPr>
              <a:t>Fourier Transform	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(...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continued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)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B0F0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Scaling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00B0F0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Distribution [Addition/Multiplication]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00B0F0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Derivative and Laplacian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00B0F0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Translation in spatial domain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00B0F0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Translation in frequency domain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00B0F0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Rotation in spatial domain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321" name="Google Shape;1321;p96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322" name="Google Shape;1322;p9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23" name="Google Shape;1323;p9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97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29" name="Google Shape;1329;p97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30" name="Google Shape;1330;p97"/>
          <p:cNvSpPr txBox="1"/>
          <p:nvPr/>
        </p:nvSpPr>
        <p:spPr>
          <a:xfrm>
            <a:off x="688340" y="-132846"/>
            <a:ext cx="8956800" cy="35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5275">
            <a:spAutoFit/>
          </a:bodyPr>
          <a:lstStyle/>
          <a:p>
            <a:pPr indent="0" lvl="0" marL="18707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Bell MT"/>
                <a:ea typeface="Bell MT"/>
                <a:cs typeface="Bell MT"/>
                <a:sym typeface="Bell MT"/>
              </a:rPr>
              <a:t>Properties of	 </a:t>
            </a:r>
            <a:r>
              <a:rPr b="1" lang="en-US" sz="4000">
                <a:latin typeface="Bell MT"/>
                <a:ea typeface="Bell MT"/>
                <a:cs typeface="Bell MT"/>
                <a:sym typeface="Bell MT"/>
              </a:rPr>
              <a:t>Fourier Transform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179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Scaling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1366520" rtl="0" algn="l">
              <a:lnSpc>
                <a:spcPct val="100000"/>
              </a:lnSpc>
              <a:spcBef>
                <a:spcPts val="1405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For two scalars </a:t>
            </a:r>
            <a:r>
              <a:rPr i="1" lang="en-US" sz="4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a </a:t>
            </a:r>
            <a:r>
              <a:rPr lang="en-US" sz="40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and </a:t>
            </a:r>
            <a:r>
              <a:rPr i="1" lang="en-US" sz="4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b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0" lvl="0" marL="0" marR="192405" rtl="0" algn="ctr">
              <a:lnSpc>
                <a:spcPct val="100000"/>
              </a:lnSpc>
              <a:spcBef>
                <a:spcPts val="3160"/>
              </a:spcBef>
              <a:spcAft>
                <a:spcPts val="0"/>
              </a:spcAft>
              <a:buNone/>
            </a:pPr>
            <a:r>
              <a:rPr i="1" lang="en-US" sz="4450">
                <a:latin typeface="Times New Roman"/>
                <a:ea typeface="Times New Roman"/>
                <a:cs typeface="Times New Roman"/>
                <a:sym typeface="Times New Roman"/>
              </a:rPr>
              <a:t>af </a:t>
            </a:r>
            <a:r>
              <a:rPr lang="en-US" sz="44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445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445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US" sz="445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445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4450">
                <a:latin typeface="Noto Sans Symbols"/>
                <a:ea typeface="Noto Sans Symbols"/>
                <a:cs typeface="Noto Sans Symbols"/>
                <a:sym typeface="Noto Sans Symbols"/>
              </a:rPr>
              <a:t>⇔</a:t>
            </a:r>
            <a:r>
              <a:rPr lang="en-US" sz="44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4450">
                <a:latin typeface="Times New Roman"/>
                <a:ea typeface="Times New Roman"/>
                <a:cs typeface="Times New Roman"/>
                <a:sym typeface="Times New Roman"/>
              </a:rPr>
              <a:t>aF </a:t>
            </a:r>
            <a:r>
              <a:rPr lang="en-US" sz="44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4450"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445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US" sz="445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445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44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1" name="Google Shape;1331;p97"/>
          <p:cNvSpPr/>
          <p:nvPr/>
        </p:nvSpPr>
        <p:spPr>
          <a:xfrm>
            <a:off x="5126654" y="4680337"/>
            <a:ext cx="0" cy="688339"/>
          </a:xfrm>
          <a:custGeom>
            <a:rect b="b" l="l" r="r" t="t"/>
            <a:pathLst>
              <a:path extrusionOk="0" h="688339" w="120000">
                <a:moveTo>
                  <a:pt x="0" y="0"/>
                </a:moveTo>
                <a:lnTo>
                  <a:pt x="0" y="687895"/>
                </a:lnTo>
              </a:path>
            </a:pathLst>
          </a:custGeom>
          <a:noFill/>
          <a:ln cap="flat" cmpd="sng" w="23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32" name="Google Shape;1332;p97"/>
          <p:cNvSpPr/>
          <p:nvPr/>
        </p:nvSpPr>
        <p:spPr>
          <a:xfrm>
            <a:off x="5800039" y="4680337"/>
            <a:ext cx="0" cy="688339"/>
          </a:xfrm>
          <a:custGeom>
            <a:rect b="b" l="l" r="r" t="t"/>
            <a:pathLst>
              <a:path extrusionOk="0" h="688339" w="120000">
                <a:moveTo>
                  <a:pt x="0" y="0"/>
                </a:moveTo>
                <a:lnTo>
                  <a:pt x="0" y="687895"/>
                </a:lnTo>
              </a:path>
            </a:pathLst>
          </a:custGeom>
          <a:noFill/>
          <a:ln cap="flat" cmpd="sng" w="23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33" name="Google Shape;1333;p97"/>
          <p:cNvSpPr/>
          <p:nvPr/>
        </p:nvSpPr>
        <p:spPr>
          <a:xfrm>
            <a:off x="5066798" y="4575658"/>
            <a:ext cx="805179" cy="0"/>
          </a:xfrm>
          <a:custGeom>
            <a:rect b="b" l="l" r="r" t="t"/>
            <a:pathLst>
              <a:path extrusionOk="0" h="120000" w="805179">
                <a:moveTo>
                  <a:pt x="0" y="0"/>
                </a:moveTo>
                <a:lnTo>
                  <a:pt x="805068" y="0"/>
                </a:lnTo>
              </a:path>
            </a:pathLst>
          </a:custGeom>
          <a:noFill/>
          <a:ln cap="flat" cmpd="sng" w="23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34" name="Google Shape;1334;p97"/>
          <p:cNvSpPr txBox="1"/>
          <p:nvPr/>
        </p:nvSpPr>
        <p:spPr>
          <a:xfrm>
            <a:off x="5174187" y="4580763"/>
            <a:ext cx="600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4500">
                <a:latin typeface="Times New Roman"/>
                <a:ea typeface="Times New Roman"/>
                <a:cs typeface="Times New Roman"/>
                <a:sym typeface="Times New Roman"/>
              </a:rPr>
              <a:t>ab</a:t>
            </a:r>
            <a:endParaRPr sz="4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5" name="Google Shape;1335;p97"/>
          <p:cNvSpPr txBox="1"/>
          <p:nvPr/>
        </p:nvSpPr>
        <p:spPr>
          <a:xfrm>
            <a:off x="2181152" y="3930625"/>
            <a:ext cx="8956800" cy="10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4500"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US" sz="45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4500">
                <a:latin typeface="Times New Roman"/>
                <a:ea typeface="Times New Roman"/>
                <a:cs typeface="Times New Roman"/>
                <a:sym typeface="Times New Roman"/>
              </a:rPr>
              <a:t>ax</a:t>
            </a:r>
            <a:r>
              <a:rPr lang="en-US" sz="450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US" sz="4500">
                <a:latin typeface="Times New Roman"/>
                <a:ea typeface="Times New Roman"/>
                <a:cs typeface="Times New Roman"/>
                <a:sym typeface="Times New Roman"/>
              </a:rPr>
              <a:t>by</a:t>
            </a:r>
            <a:r>
              <a:rPr lang="en-US" sz="450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4500">
                <a:latin typeface="Noto Sans Symbols"/>
                <a:ea typeface="Noto Sans Symbols"/>
                <a:cs typeface="Noto Sans Symbols"/>
                <a:sym typeface="Noto Sans Symbols"/>
              </a:rPr>
              <a:t>⇔</a:t>
            </a:r>
            <a:r>
              <a:rPr lang="en-US" sz="4500">
                <a:latin typeface="Times New Roman"/>
                <a:ea typeface="Times New Roman"/>
                <a:cs typeface="Times New Roman"/>
                <a:sym typeface="Times New Roman"/>
              </a:rPr>
              <a:t>	   </a:t>
            </a:r>
            <a:r>
              <a:rPr baseline="30000" lang="en-US" sz="6750">
                <a:latin typeface="Times New Roman"/>
                <a:ea typeface="Times New Roman"/>
                <a:cs typeface="Times New Roman"/>
                <a:sym typeface="Times New Roman"/>
              </a:rPr>
              <a:t>1	   </a:t>
            </a:r>
            <a:r>
              <a:rPr i="1" lang="en-US" sz="4500"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US" sz="45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4500">
                <a:latin typeface="Times New Roman"/>
                <a:ea typeface="Times New Roman"/>
                <a:cs typeface="Times New Roman"/>
                <a:sym typeface="Times New Roman"/>
              </a:rPr>
              <a:t>u </a:t>
            </a:r>
            <a:r>
              <a:rPr lang="en-US" sz="4500">
                <a:latin typeface="Times New Roman"/>
                <a:ea typeface="Times New Roman"/>
                <a:cs typeface="Times New Roman"/>
                <a:sym typeface="Times New Roman"/>
              </a:rPr>
              <a:t>/ </a:t>
            </a:r>
            <a:r>
              <a:rPr i="1" lang="en-US" sz="45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450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US" sz="4500"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lang="en-US" sz="4500">
                <a:latin typeface="Times New Roman"/>
                <a:ea typeface="Times New Roman"/>
                <a:cs typeface="Times New Roman"/>
                <a:sym typeface="Times New Roman"/>
              </a:rPr>
              <a:t>/ </a:t>
            </a:r>
            <a:r>
              <a:rPr i="1" lang="en-US" sz="45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45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4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6" name="Google Shape;1336;p97"/>
          <p:cNvSpPr txBox="1"/>
          <p:nvPr/>
        </p:nvSpPr>
        <p:spPr>
          <a:xfrm>
            <a:off x="688350" y="5633725"/>
            <a:ext cx="112485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40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For example, scaling of	the image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337" name="Google Shape;1337;p97"/>
          <p:cNvSpPr txBox="1"/>
          <p:nvPr>
            <p:ph idx="4294967295" type="ftr"/>
          </p:nvPr>
        </p:nvSpPr>
        <p:spPr>
          <a:xfrm>
            <a:off x="4398753" y="652667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338" name="Google Shape;1338;p9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98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44" name="Google Shape;1344;p98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45" name="Google Shape;1345;p98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Properties of	</a:t>
            </a:r>
            <a:r>
              <a:rPr b="1" lang="en-US">
                <a:latin typeface="Bell MT"/>
                <a:ea typeface="Bell MT"/>
                <a:cs typeface="Bell MT"/>
                <a:sym typeface="Bell MT"/>
              </a:rPr>
              <a:t>Fourier Transform</a:t>
            </a:r>
            <a:endParaRPr/>
          </a:p>
        </p:txBody>
      </p:sp>
      <p:sp>
        <p:nvSpPr>
          <p:cNvPr id="1346" name="Google Shape;1346;p98"/>
          <p:cNvSpPr txBox="1"/>
          <p:nvPr/>
        </p:nvSpPr>
        <p:spPr>
          <a:xfrm>
            <a:off x="688340" y="1098295"/>
            <a:ext cx="69660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Distribution [Addition/Multiplication]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347" name="Google Shape;1347;p98"/>
          <p:cNvSpPr txBox="1"/>
          <p:nvPr/>
        </p:nvSpPr>
        <p:spPr>
          <a:xfrm>
            <a:off x="688340" y="3661598"/>
            <a:ext cx="8555400" cy="5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But </a:t>
            </a:r>
            <a:r>
              <a:rPr i="1"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for product</a:t>
            </a:r>
            <a:r>
              <a:rPr i="1" lang="en-US" sz="32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, </a:t>
            </a:r>
            <a:r>
              <a:rPr lang="en-US" sz="32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following is not true in general …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348" name="Google Shape;1348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4101" y="2372393"/>
            <a:ext cx="8384094" cy="521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9" name="Google Shape;1349;p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51430" y="4853940"/>
            <a:ext cx="7410431" cy="500980"/>
          </a:xfrm>
          <a:prstGeom prst="rect">
            <a:avLst/>
          </a:prstGeom>
          <a:noFill/>
          <a:ln>
            <a:noFill/>
          </a:ln>
        </p:spPr>
      </p:pic>
      <p:sp>
        <p:nvSpPr>
          <p:cNvPr id="1350" name="Google Shape;1350;p98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351" name="Google Shape;1351;p9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2" name="Google Shape;1352;p9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99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58" name="Google Shape;1358;p99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59" name="Google Shape;1359;p99"/>
          <p:cNvSpPr txBox="1"/>
          <p:nvPr/>
        </p:nvSpPr>
        <p:spPr>
          <a:xfrm>
            <a:off x="2546762" y="150703"/>
            <a:ext cx="7098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Bell MT"/>
                <a:ea typeface="Bell MT"/>
                <a:cs typeface="Bell MT"/>
                <a:sym typeface="Bell MT"/>
              </a:rPr>
              <a:t>Properties of	</a:t>
            </a:r>
            <a:r>
              <a:rPr b="1" lang="en-US" sz="4000">
                <a:latin typeface="Bell MT"/>
                <a:ea typeface="Bell MT"/>
                <a:cs typeface="Bell MT"/>
                <a:sym typeface="Bell MT"/>
              </a:rPr>
              <a:t>Fourier Transform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360" name="Google Shape;1360;p99"/>
          <p:cNvSpPr txBox="1"/>
          <p:nvPr/>
        </p:nvSpPr>
        <p:spPr>
          <a:xfrm>
            <a:off x="688351" y="1215650"/>
            <a:ext cx="24156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Derivative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361" name="Google Shape;1361;p99"/>
          <p:cNvSpPr txBox="1"/>
          <p:nvPr/>
        </p:nvSpPr>
        <p:spPr>
          <a:xfrm>
            <a:off x="688340" y="2824988"/>
            <a:ext cx="19623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Laplacian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362" name="Google Shape;1362;p99"/>
          <p:cNvSpPr txBox="1"/>
          <p:nvPr/>
        </p:nvSpPr>
        <p:spPr>
          <a:xfrm>
            <a:off x="3103879" y="1412239"/>
            <a:ext cx="2742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Cambria Math"/>
                <a:ea typeface="Cambria Math"/>
                <a:cs typeface="Cambria Math"/>
                <a:sym typeface="Cambria Math"/>
              </a:rPr>
              <a:t>𝐹</a:t>
            </a:r>
            <a:endParaRPr sz="32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363" name="Google Shape;1363;p99"/>
          <p:cNvSpPr/>
          <p:nvPr/>
        </p:nvSpPr>
        <p:spPr>
          <a:xfrm>
            <a:off x="3492386" y="1202016"/>
            <a:ext cx="1485264" cy="1027430"/>
          </a:xfrm>
          <a:custGeom>
            <a:rect b="b" l="l" r="r" t="t"/>
            <a:pathLst>
              <a:path extrusionOk="0" h="1027430" w="1485264">
                <a:moveTo>
                  <a:pt x="102133" y="0"/>
                </a:moveTo>
                <a:lnTo>
                  <a:pt x="0" y="0"/>
                </a:lnTo>
                <a:lnTo>
                  <a:pt x="0" y="19050"/>
                </a:lnTo>
                <a:lnTo>
                  <a:pt x="0" y="1008380"/>
                </a:lnTo>
                <a:lnTo>
                  <a:pt x="0" y="1027430"/>
                </a:lnTo>
                <a:lnTo>
                  <a:pt x="102133" y="1027430"/>
                </a:lnTo>
                <a:lnTo>
                  <a:pt x="102133" y="1008380"/>
                </a:lnTo>
                <a:lnTo>
                  <a:pt x="38747" y="1008380"/>
                </a:lnTo>
                <a:lnTo>
                  <a:pt x="38747" y="19050"/>
                </a:lnTo>
                <a:lnTo>
                  <a:pt x="102133" y="19050"/>
                </a:lnTo>
                <a:lnTo>
                  <a:pt x="102133" y="0"/>
                </a:lnTo>
                <a:close/>
              </a:path>
              <a:path extrusionOk="0" h="1027430" w="1485264">
                <a:moveTo>
                  <a:pt x="1372222" y="501815"/>
                </a:moveTo>
                <a:lnTo>
                  <a:pt x="110350" y="501815"/>
                </a:lnTo>
                <a:lnTo>
                  <a:pt x="110350" y="527723"/>
                </a:lnTo>
                <a:lnTo>
                  <a:pt x="1372222" y="527723"/>
                </a:lnTo>
                <a:lnTo>
                  <a:pt x="1372222" y="501815"/>
                </a:lnTo>
                <a:close/>
              </a:path>
              <a:path extrusionOk="0" h="1027430" w="1485264">
                <a:moveTo>
                  <a:pt x="1484807" y="0"/>
                </a:moveTo>
                <a:lnTo>
                  <a:pt x="1382687" y="0"/>
                </a:lnTo>
                <a:lnTo>
                  <a:pt x="1382687" y="19050"/>
                </a:lnTo>
                <a:lnTo>
                  <a:pt x="1446072" y="19050"/>
                </a:lnTo>
                <a:lnTo>
                  <a:pt x="1446072" y="1008380"/>
                </a:lnTo>
                <a:lnTo>
                  <a:pt x="1382687" y="1008380"/>
                </a:lnTo>
                <a:lnTo>
                  <a:pt x="1382687" y="1027430"/>
                </a:lnTo>
                <a:lnTo>
                  <a:pt x="1484807" y="1027430"/>
                </a:lnTo>
                <a:lnTo>
                  <a:pt x="1484807" y="1008380"/>
                </a:lnTo>
                <a:lnTo>
                  <a:pt x="1484807" y="19050"/>
                </a:lnTo>
                <a:lnTo>
                  <a:pt x="148480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64" name="Google Shape;1364;p99"/>
          <p:cNvSpPr txBox="1"/>
          <p:nvPr/>
        </p:nvSpPr>
        <p:spPr>
          <a:xfrm>
            <a:off x="3564635" y="1104391"/>
            <a:ext cx="13398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Cambria Math"/>
                <a:ea typeface="Cambria Math"/>
                <a:cs typeface="Cambria Math"/>
                <a:sym typeface="Cambria Math"/>
              </a:rPr>
              <a:t>𝑑</a:t>
            </a:r>
            <a:r>
              <a:rPr baseline="30000" lang="en-US" sz="3525">
                <a:latin typeface="Cambria Math"/>
                <a:ea typeface="Cambria Math"/>
                <a:cs typeface="Cambria Math"/>
                <a:sym typeface="Cambria Math"/>
              </a:rPr>
              <a:t>𝑛</a:t>
            </a:r>
            <a:r>
              <a:rPr lang="en-US" sz="3200">
                <a:latin typeface="Cambria Math"/>
                <a:ea typeface="Cambria Math"/>
                <a:cs typeface="Cambria Math"/>
                <a:sym typeface="Cambria Math"/>
              </a:rPr>
              <a:t>𝑓(𝑥)</a:t>
            </a:r>
            <a:endParaRPr sz="32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365" name="Google Shape;1365;p99"/>
          <p:cNvSpPr txBox="1"/>
          <p:nvPr/>
        </p:nvSpPr>
        <p:spPr>
          <a:xfrm>
            <a:off x="3845230" y="1685049"/>
            <a:ext cx="756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Cambria Math"/>
                <a:ea typeface="Cambria Math"/>
                <a:cs typeface="Cambria Math"/>
                <a:sym typeface="Cambria Math"/>
              </a:rPr>
              <a:t>𝑑𝑥</a:t>
            </a:r>
            <a:r>
              <a:rPr baseline="30000" lang="en-US" sz="3525">
                <a:latin typeface="Cambria Math"/>
                <a:ea typeface="Cambria Math"/>
                <a:cs typeface="Cambria Math"/>
                <a:sym typeface="Cambria Math"/>
              </a:rPr>
              <a:t>𝑛</a:t>
            </a:r>
            <a:endParaRPr baseline="30000" sz="3525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366" name="Google Shape;1366;p99"/>
          <p:cNvSpPr/>
          <p:nvPr/>
        </p:nvSpPr>
        <p:spPr>
          <a:xfrm>
            <a:off x="6776629" y="1515567"/>
            <a:ext cx="1543684" cy="518160"/>
          </a:xfrm>
          <a:custGeom>
            <a:rect b="b" l="l" r="r" t="t"/>
            <a:pathLst>
              <a:path extrusionOk="0" h="518160" w="1543684">
                <a:moveTo>
                  <a:pt x="1378292" y="0"/>
                </a:moveTo>
                <a:lnTo>
                  <a:pt x="1370914" y="21031"/>
                </a:lnTo>
                <a:lnTo>
                  <a:pt x="1400905" y="34047"/>
                </a:lnTo>
                <a:lnTo>
                  <a:pt x="1426698" y="52063"/>
                </a:lnTo>
                <a:lnTo>
                  <a:pt x="1465681" y="103098"/>
                </a:lnTo>
                <a:lnTo>
                  <a:pt x="1488627" y="171953"/>
                </a:lnTo>
                <a:lnTo>
                  <a:pt x="1494283" y="211677"/>
                </a:lnTo>
                <a:lnTo>
                  <a:pt x="1496275" y="256438"/>
                </a:lnTo>
                <a:lnTo>
                  <a:pt x="1494354" y="302134"/>
                </a:lnTo>
                <a:lnTo>
                  <a:pt x="1488590" y="343630"/>
                </a:lnTo>
                <a:lnTo>
                  <a:pt x="1478986" y="380925"/>
                </a:lnTo>
                <a:lnTo>
                  <a:pt x="1448163" y="442454"/>
                </a:lnTo>
                <a:lnTo>
                  <a:pt x="1401262" y="483964"/>
                </a:lnTo>
                <a:lnTo>
                  <a:pt x="1371739" y="497039"/>
                </a:lnTo>
                <a:lnTo>
                  <a:pt x="1378292" y="518071"/>
                </a:lnTo>
                <a:lnTo>
                  <a:pt x="1415961" y="504526"/>
                </a:lnTo>
                <a:lnTo>
                  <a:pt x="1448955" y="484922"/>
                </a:lnTo>
                <a:lnTo>
                  <a:pt x="1477273" y="459258"/>
                </a:lnTo>
                <a:lnTo>
                  <a:pt x="1500911" y="427532"/>
                </a:lnTo>
                <a:lnTo>
                  <a:pt x="1519554" y="390949"/>
                </a:lnTo>
                <a:lnTo>
                  <a:pt x="1532869" y="350694"/>
                </a:lnTo>
                <a:lnTo>
                  <a:pt x="1540857" y="306767"/>
                </a:lnTo>
                <a:lnTo>
                  <a:pt x="1543519" y="259168"/>
                </a:lnTo>
                <a:lnTo>
                  <a:pt x="1540880" y="212242"/>
                </a:lnTo>
                <a:lnTo>
                  <a:pt x="1540848" y="211677"/>
                </a:lnTo>
                <a:lnTo>
                  <a:pt x="1532834" y="167786"/>
                </a:lnTo>
                <a:lnTo>
                  <a:pt x="1519479" y="127495"/>
                </a:lnTo>
                <a:lnTo>
                  <a:pt x="1500784" y="90805"/>
                </a:lnTo>
                <a:lnTo>
                  <a:pt x="1477098" y="58962"/>
                </a:lnTo>
                <a:lnTo>
                  <a:pt x="1448787" y="33215"/>
                </a:lnTo>
                <a:lnTo>
                  <a:pt x="1415852" y="13561"/>
                </a:lnTo>
                <a:lnTo>
                  <a:pt x="1378292" y="0"/>
                </a:lnTo>
                <a:close/>
              </a:path>
              <a:path extrusionOk="0" h="518160" w="1543684">
                <a:moveTo>
                  <a:pt x="165227" y="0"/>
                </a:moveTo>
                <a:lnTo>
                  <a:pt x="127667" y="13561"/>
                </a:lnTo>
                <a:lnTo>
                  <a:pt x="94732" y="33215"/>
                </a:lnTo>
                <a:lnTo>
                  <a:pt x="66421" y="58962"/>
                </a:lnTo>
                <a:lnTo>
                  <a:pt x="42735" y="90805"/>
                </a:lnTo>
                <a:lnTo>
                  <a:pt x="24040" y="127495"/>
                </a:lnTo>
                <a:lnTo>
                  <a:pt x="10685" y="167786"/>
                </a:lnTo>
                <a:lnTo>
                  <a:pt x="2671" y="211677"/>
                </a:lnTo>
                <a:lnTo>
                  <a:pt x="0" y="259168"/>
                </a:lnTo>
                <a:lnTo>
                  <a:pt x="2662" y="306767"/>
                </a:lnTo>
                <a:lnTo>
                  <a:pt x="10650" y="350694"/>
                </a:lnTo>
                <a:lnTo>
                  <a:pt x="23965" y="390949"/>
                </a:lnTo>
                <a:lnTo>
                  <a:pt x="42608" y="427532"/>
                </a:lnTo>
                <a:lnTo>
                  <a:pt x="66244" y="459258"/>
                </a:lnTo>
                <a:lnTo>
                  <a:pt x="94559" y="484922"/>
                </a:lnTo>
                <a:lnTo>
                  <a:pt x="127553" y="504526"/>
                </a:lnTo>
                <a:lnTo>
                  <a:pt x="165227" y="518071"/>
                </a:lnTo>
                <a:lnTo>
                  <a:pt x="171780" y="497039"/>
                </a:lnTo>
                <a:lnTo>
                  <a:pt x="142257" y="483964"/>
                </a:lnTo>
                <a:lnTo>
                  <a:pt x="116781" y="465769"/>
                </a:lnTo>
                <a:lnTo>
                  <a:pt x="77965" y="414020"/>
                </a:lnTo>
                <a:lnTo>
                  <a:pt x="54927" y="343630"/>
                </a:lnTo>
                <a:lnTo>
                  <a:pt x="49165" y="302134"/>
                </a:lnTo>
                <a:lnTo>
                  <a:pt x="47358" y="259168"/>
                </a:lnTo>
                <a:lnTo>
                  <a:pt x="47244" y="256438"/>
                </a:lnTo>
                <a:lnTo>
                  <a:pt x="49165" y="212242"/>
                </a:lnTo>
                <a:lnTo>
                  <a:pt x="54927" y="171953"/>
                </a:lnTo>
                <a:lnTo>
                  <a:pt x="77965" y="103098"/>
                </a:lnTo>
                <a:lnTo>
                  <a:pt x="116987" y="52063"/>
                </a:lnTo>
                <a:lnTo>
                  <a:pt x="172593" y="21031"/>
                </a:lnTo>
                <a:lnTo>
                  <a:pt x="16522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67" name="Google Shape;1367;p99"/>
          <p:cNvSpPr txBox="1"/>
          <p:nvPr/>
        </p:nvSpPr>
        <p:spPr>
          <a:xfrm>
            <a:off x="8330210" y="1156831"/>
            <a:ext cx="290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Cambria Math"/>
                <a:ea typeface="Cambria Math"/>
                <a:cs typeface="Cambria Math"/>
                <a:sym typeface="Cambria Math"/>
              </a:rPr>
              <a:t>𝑛</a:t>
            </a:r>
            <a:endParaRPr sz="32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368" name="Google Shape;1368;p99"/>
          <p:cNvSpPr txBox="1"/>
          <p:nvPr/>
        </p:nvSpPr>
        <p:spPr>
          <a:xfrm>
            <a:off x="6946418" y="1362571"/>
            <a:ext cx="3020700" cy="6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latin typeface="Cambria Math"/>
                <a:ea typeface="Cambria Math"/>
                <a:cs typeface="Cambria Math"/>
                <a:sym typeface="Cambria Math"/>
              </a:rPr>
              <a:t>2𝜋𝑗u    𝐹(u)</a:t>
            </a:r>
            <a:endParaRPr sz="4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grpSp>
        <p:nvGrpSpPr>
          <p:cNvPr id="1369" name="Google Shape;1369;p99"/>
          <p:cNvGrpSpPr/>
          <p:nvPr/>
        </p:nvGrpSpPr>
        <p:grpSpPr>
          <a:xfrm>
            <a:off x="5410961" y="1524761"/>
            <a:ext cx="990600" cy="532130"/>
            <a:chOff x="5410961" y="1524761"/>
            <a:chExt cx="990600" cy="532130"/>
          </a:xfrm>
        </p:grpSpPr>
        <p:sp>
          <p:nvSpPr>
            <p:cNvPr id="1370" name="Google Shape;1370;p99"/>
            <p:cNvSpPr/>
            <p:nvPr/>
          </p:nvSpPr>
          <p:spPr>
            <a:xfrm>
              <a:off x="5410961" y="1524761"/>
              <a:ext cx="990600" cy="532130"/>
            </a:xfrm>
            <a:custGeom>
              <a:rect b="b" l="l" r="r" t="t"/>
              <a:pathLst>
                <a:path extrusionOk="0" h="532130" w="990600">
                  <a:moveTo>
                    <a:pt x="724662" y="0"/>
                  </a:moveTo>
                  <a:lnTo>
                    <a:pt x="724662" y="132968"/>
                  </a:lnTo>
                  <a:lnTo>
                    <a:pt x="265938" y="132968"/>
                  </a:lnTo>
                  <a:lnTo>
                    <a:pt x="265938" y="0"/>
                  </a:lnTo>
                  <a:lnTo>
                    <a:pt x="0" y="265938"/>
                  </a:lnTo>
                  <a:lnTo>
                    <a:pt x="265938" y="531876"/>
                  </a:lnTo>
                  <a:lnTo>
                    <a:pt x="265938" y="398906"/>
                  </a:lnTo>
                  <a:lnTo>
                    <a:pt x="724662" y="398906"/>
                  </a:lnTo>
                  <a:lnTo>
                    <a:pt x="724662" y="531876"/>
                  </a:lnTo>
                  <a:lnTo>
                    <a:pt x="990600" y="265938"/>
                  </a:lnTo>
                  <a:lnTo>
                    <a:pt x="724662" y="0"/>
                  </a:lnTo>
                  <a:close/>
                </a:path>
              </a:pathLst>
            </a:custGeom>
            <a:solidFill>
              <a:srgbClr val="4F81B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1" name="Google Shape;1371;p99"/>
            <p:cNvSpPr/>
            <p:nvPr/>
          </p:nvSpPr>
          <p:spPr>
            <a:xfrm>
              <a:off x="5410961" y="1524761"/>
              <a:ext cx="990600" cy="532130"/>
            </a:xfrm>
            <a:custGeom>
              <a:rect b="b" l="l" r="r" t="t"/>
              <a:pathLst>
                <a:path extrusionOk="0" h="532130" w="990600">
                  <a:moveTo>
                    <a:pt x="0" y="265938"/>
                  </a:moveTo>
                  <a:lnTo>
                    <a:pt x="265938" y="0"/>
                  </a:lnTo>
                  <a:lnTo>
                    <a:pt x="265938" y="132968"/>
                  </a:lnTo>
                  <a:lnTo>
                    <a:pt x="724662" y="132968"/>
                  </a:lnTo>
                  <a:lnTo>
                    <a:pt x="724662" y="0"/>
                  </a:lnTo>
                  <a:lnTo>
                    <a:pt x="990600" y="265938"/>
                  </a:lnTo>
                  <a:lnTo>
                    <a:pt x="724662" y="531876"/>
                  </a:lnTo>
                  <a:lnTo>
                    <a:pt x="724662" y="398906"/>
                  </a:lnTo>
                  <a:lnTo>
                    <a:pt x="265938" y="398906"/>
                  </a:lnTo>
                  <a:lnTo>
                    <a:pt x="265938" y="531876"/>
                  </a:lnTo>
                  <a:lnTo>
                    <a:pt x="0" y="265938"/>
                  </a:lnTo>
                  <a:close/>
                </a:path>
              </a:pathLst>
            </a:custGeom>
            <a:noFill/>
            <a:ln cap="flat" cmpd="sng" w="25400">
              <a:solidFill>
                <a:srgbClr val="385D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372" name="Google Shape;1372;p99"/>
          <p:cNvSpPr/>
          <p:nvPr/>
        </p:nvSpPr>
        <p:spPr>
          <a:xfrm>
            <a:off x="4141709" y="3944220"/>
            <a:ext cx="1319529" cy="565150"/>
          </a:xfrm>
          <a:custGeom>
            <a:rect b="b" l="l" r="r" t="t"/>
            <a:pathLst>
              <a:path extrusionOk="0" h="565150" w="1319529">
                <a:moveTo>
                  <a:pt x="1139253" y="0"/>
                </a:moveTo>
                <a:lnTo>
                  <a:pt x="1131214" y="22923"/>
                </a:lnTo>
                <a:lnTo>
                  <a:pt x="1163901" y="37106"/>
                </a:lnTo>
                <a:lnTo>
                  <a:pt x="1192012" y="56740"/>
                </a:lnTo>
                <a:lnTo>
                  <a:pt x="1234503" y="112369"/>
                </a:lnTo>
                <a:lnTo>
                  <a:pt x="1249088" y="147761"/>
                </a:lnTo>
                <a:lnTo>
                  <a:pt x="1259506" y="187415"/>
                </a:lnTo>
                <a:lnTo>
                  <a:pt x="1265669" y="230712"/>
                </a:lnTo>
                <a:lnTo>
                  <a:pt x="1267840" y="279501"/>
                </a:lnTo>
                <a:lnTo>
                  <a:pt x="1265747" y="329303"/>
                </a:lnTo>
                <a:lnTo>
                  <a:pt x="1259468" y="374526"/>
                </a:lnTo>
                <a:lnTo>
                  <a:pt x="1249002" y="415172"/>
                </a:lnTo>
                <a:lnTo>
                  <a:pt x="1234351" y="451243"/>
                </a:lnTo>
                <a:lnTo>
                  <a:pt x="1192048" y="507650"/>
                </a:lnTo>
                <a:lnTo>
                  <a:pt x="1132116" y="541731"/>
                </a:lnTo>
                <a:lnTo>
                  <a:pt x="1139253" y="564654"/>
                </a:lnTo>
                <a:lnTo>
                  <a:pt x="1180310" y="549893"/>
                </a:lnTo>
                <a:lnTo>
                  <a:pt x="1216271" y="528526"/>
                </a:lnTo>
                <a:lnTo>
                  <a:pt x="1247133" y="500553"/>
                </a:lnTo>
                <a:lnTo>
                  <a:pt x="1272895" y="465975"/>
                </a:lnTo>
                <a:lnTo>
                  <a:pt x="1293214" y="426102"/>
                </a:lnTo>
                <a:lnTo>
                  <a:pt x="1307728" y="382225"/>
                </a:lnTo>
                <a:lnTo>
                  <a:pt x="1316436" y="334348"/>
                </a:lnTo>
                <a:lnTo>
                  <a:pt x="1319339" y="282473"/>
                </a:lnTo>
                <a:lnTo>
                  <a:pt x="1316462" y="231329"/>
                </a:lnTo>
                <a:lnTo>
                  <a:pt x="1316427" y="230712"/>
                </a:lnTo>
                <a:lnTo>
                  <a:pt x="1307692" y="182873"/>
                </a:lnTo>
                <a:lnTo>
                  <a:pt x="1293134" y="138959"/>
                </a:lnTo>
                <a:lnTo>
                  <a:pt x="1272755" y="98971"/>
                </a:lnTo>
                <a:lnTo>
                  <a:pt x="1246938" y="64266"/>
                </a:lnTo>
                <a:lnTo>
                  <a:pt x="1216082" y="36202"/>
                </a:lnTo>
                <a:lnTo>
                  <a:pt x="1180187" y="14780"/>
                </a:lnTo>
                <a:lnTo>
                  <a:pt x="1139253" y="0"/>
                </a:lnTo>
                <a:close/>
              </a:path>
              <a:path extrusionOk="0" h="565150" w="1319529">
                <a:moveTo>
                  <a:pt x="180085" y="0"/>
                </a:moveTo>
                <a:lnTo>
                  <a:pt x="139152" y="14780"/>
                </a:lnTo>
                <a:lnTo>
                  <a:pt x="103257" y="36202"/>
                </a:lnTo>
                <a:lnTo>
                  <a:pt x="72401" y="64266"/>
                </a:lnTo>
                <a:lnTo>
                  <a:pt x="46583" y="98971"/>
                </a:lnTo>
                <a:lnTo>
                  <a:pt x="26205" y="138959"/>
                </a:lnTo>
                <a:lnTo>
                  <a:pt x="11647" y="182873"/>
                </a:lnTo>
                <a:lnTo>
                  <a:pt x="2912" y="230712"/>
                </a:lnTo>
                <a:lnTo>
                  <a:pt x="0" y="282473"/>
                </a:lnTo>
                <a:lnTo>
                  <a:pt x="2902" y="334348"/>
                </a:lnTo>
                <a:lnTo>
                  <a:pt x="11610" y="382225"/>
                </a:lnTo>
                <a:lnTo>
                  <a:pt x="26124" y="426102"/>
                </a:lnTo>
                <a:lnTo>
                  <a:pt x="46443" y="465975"/>
                </a:lnTo>
                <a:lnTo>
                  <a:pt x="72206" y="500553"/>
                </a:lnTo>
                <a:lnTo>
                  <a:pt x="103068" y="528526"/>
                </a:lnTo>
                <a:lnTo>
                  <a:pt x="139028" y="549893"/>
                </a:lnTo>
                <a:lnTo>
                  <a:pt x="180085" y="564654"/>
                </a:lnTo>
                <a:lnTo>
                  <a:pt x="187223" y="541731"/>
                </a:lnTo>
                <a:lnTo>
                  <a:pt x="155052" y="527481"/>
                </a:lnTo>
                <a:lnTo>
                  <a:pt x="127290" y="507650"/>
                </a:lnTo>
                <a:lnTo>
                  <a:pt x="84988" y="451243"/>
                </a:lnTo>
                <a:lnTo>
                  <a:pt x="70336" y="415172"/>
                </a:lnTo>
                <a:lnTo>
                  <a:pt x="59870" y="374526"/>
                </a:lnTo>
                <a:lnTo>
                  <a:pt x="53591" y="329303"/>
                </a:lnTo>
                <a:lnTo>
                  <a:pt x="51623" y="282473"/>
                </a:lnTo>
                <a:lnTo>
                  <a:pt x="51498" y="279501"/>
                </a:lnTo>
                <a:lnTo>
                  <a:pt x="53591" y="231329"/>
                </a:lnTo>
                <a:lnTo>
                  <a:pt x="59870" y="187415"/>
                </a:lnTo>
                <a:lnTo>
                  <a:pt x="70336" y="147761"/>
                </a:lnTo>
                <a:lnTo>
                  <a:pt x="84988" y="112369"/>
                </a:lnTo>
                <a:lnTo>
                  <a:pt x="127517" y="56740"/>
                </a:lnTo>
                <a:lnTo>
                  <a:pt x="188125" y="22923"/>
                </a:lnTo>
                <a:lnTo>
                  <a:pt x="18008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73" name="Google Shape;1373;p99"/>
          <p:cNvSpPr txBox="1"/>
          <p:nvPr/>
        </p:nvSpPr>
        <p:spPr>
          <a:xfrm>
            <a:off x="3010668" y="3777941"/>
            <a:ext cx="2278500" cy="8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latin typeface="Cambria Math"/>
                <a:ea typeface="Cambria Math"/>
                <a:cs typeface="Cambria Math"/>
                <a:sym typeface="Cambria Math"/>
              </a:rPr>
              <a:t>𝛻</a:t>
            </a:r>
            <a:r>
              <a:rPr baseline="30000" lang="en-US" sz="525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4800">
                <a:latin typeface="Cambria Math"/>
                <a:ea typeface="Cambria Math"/>
                <a:cs typeface="Cambria Math"/>
                <a:sym typeface="Cambria Math"/>
              </a:rPr>
              <a:t>𝑓	𝑥,𝑦</a:t>
            </a:r>
            <a:endParaRPr sz="48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374" name="Google Shape;1374;p99"/>
          <p:cNvSpPr/>
          <p:nvPr/>
        </p:nvSpPr>
        <p:spPr>
          <a:xfrm>
            <a:off x="6308597" y="4206697"/>
            <a:ext cx="806450" cy="40004"/>
          </a:xfrm>
          <a:custGeom>
            <a:rect b="b" l="l" r="r" t="t"/>
            <a:pathLst>
              <a:path extrusionOk="0" h="40004" w="806450">
                <a:moveTo>
                  <a:pt x="806196" y="0"/>
                </a:moveTo>
                <a:lnTo>
                  <a:pt x="0" y="0"/>
                </a:lnTo>
                <a:lnTo>
                  <a:pt x="0" y="39624"/>
                </a:lnTo>
                <a:lnTo>
                  <a:pt x="806196" y="39624"/>
                </a:lnTo>
                <a:lnTo>
                  <a:pt x="80619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75" name="Google Shape;1375;p99"/>
          <p:cNvSpPr/>
          <p:nvPr/>
        </p:nvSpPr>
        <p:spPr>
          <a:xfrm>
            <a:off x="7844790" y="4206697"/>
            <a:ext cx="821690" cy="40004"/>
          </a:xfrm>
          <a:custGeom>
            <a:rect b="b" l="l" r="r" t="t"/>
            <a:pathLst>
              <a:path extrusionOk="0" h="40004" w="821690">
                <a:moveTo>
                  <a:pt x="821436" y="0"/>
                </a:moveTo>
                <a:lnTo>
                  <a:pt x="0" y="0"/>
                </a:lnTo>
                <a:lnTo>
                  <a:pt x="0" y="39624"/>
                </a:lnTo>
                <a:lnTo>
                  <a:pt x="821436" y="39624"/>
                </a:lnTo>
                <a:lnTo>
                  <a:pt x="82143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76" name="Google Shape;1376;p99"/>
          <p:cNvSpPr txBox="1"/>
          <p:nvPr/>
        </p:nvSpPr>
        <p:spPr>
          <a:xfrm>
            <a:off x="5873959" y="3345125"/>
            <a:ext cx="3038400" cy="7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150">
            <a:spAutoFit/>
          </a:bodyPr>
          <a:lstStyle/>
          <a:p>
            <a:pPr indent="0" lvl="0" marL="0" rtl="0" algn="l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>
                <a:latin typeface="Cambria Math"/>
                <a:ea typeface="Cambria Math"/>
                <a:cs typeface="Cambria Math"/>
                <a:sym typeface="Cambria Math"/>
              </a:rPr>
              <a:t>          </a:t>
            </a:r>
            <a:r>
              <a:rPr lang="en-US" sz="2850">
                <a:latin typeface="Cambria Math"/>
                <a:ea typeface="Cambria Math"/>
                <a:cs typeface="Cambria Math"/>
                <a:sym typeface="Cambria Math"/>
              </a:rPr>
              <a:t>2	            2</a:t>
            </a:r>
            <a:endParaRPr sz="2850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38100" rtl="0" algn="l">
              <a:lnSpc>
                <a:spcPct val="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-US" sz="7200">
                <a:latin typeface="Cambria Math"/>
                <a:ea typeface="Cambria Math"/>
                <a:cs typeface="Cambria Math"/>
                <a:sym typeface="Cambria Math"/>
              </a:rPr>
              <a:t>= </a:t>
            </a:r>
            <a:r>
              <a:rPr lang="en-US" sz="3500">
                <a:latin typeface="Cambria Math"/>
                <a:ea typeface="Cambria Math"/>
                <a:cs typeface="Cambria Math"/>
                <a:sym typeface="Cambria Math"/>
              </a:rPr>
              <a:t>𝜕	𝑓	</a:t>
            </a:r>
            <a:r>
              <a:rPr baseline="-25000" lang="en-US" sz="7200">
                <a:latin typeface="Cambria Math"/>
                <a:ea typeface="Cambria Math"/>
                <a:cs typeface="Cambria Math"/>
                <a:sym typeface="Cambria Math"/>
              </a:rPr>
              <a:t>+  </a:t>
            </a:r>
            <a:r>
              <a:rPr lang="en-US" sz="3500">
                <a:latin typeface="Cambria Math"/>
                <a:ea typeface="Cambria Math"/>
                <a:cs typeface="Cambria Math"/>
                <a:sym typeface="Cambria Math"/>
              </a:rPr>
              <a:t>𝜕  𝑓</a:t>
            </a:r>
            <a:endParaRPr sz="35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377" name="Google Shape;1377;p99"/>
          <p:cNvSpPr/>
          <p:nvPr/>
        </p:nvSpPr>
        <p:spPr>
          <a:xfrm>
            <a:off x="3979151" y="5351513"/>
            <a:ext cx="111125" cy="453389"/>
          </a:xfrm>
          <a:custGeom>
            <a:rect b="b" l="l" r="r" t="t"/>
            <a:pathLst>
              <a:path extrusionOk="0" h="453389" w="111125">
                <a:moveTo>
                  <a:pt x="110515" y="0"/>
                </a:moveTo>
                <a:lnTo>
                  <a:pt x="0" y="0"/>
                </a:lnTo>
                <a:lnTo>
                  <a:pt x="0" y="19050"/>
                </a:lnTo>
                <a:lnTo>
                  <a:pt x="69380" y="19050"/>
                </a:lnTo>
                <a:lnTo>
                  <a:pt x="69380" y="453390"/>
                </a:lnTo>
                <a:lnTo>
                  <a:pt x="110515" y="453390"/>
                </a:lnTo>
                <a:lnTo>
                  <a:pt x="110515" y="19050"/>
                </a:lnTo>
                <a:lnTo>
                  <a:pt x="11051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78" name="Google Shape;1378;p99"/>
          <p:cNvSpPr/>
          <p:nvPr/>
        </p:nvSpPr>
        <p:spPr>
          <a:xfrm>
            <a:off x="1790814" y="5351513"/>
            <a:ext cx="111125" cy="453389"/>
          </a:xfrm>
          <a:custGeom>
            <a:rect b="b" l="l" r="r" t="t"/>
            <a:pathLst>
              <a:path extrusionOk="0" h="453389" w="111125">
                <a:moveTo>
                  <a:pt x="110515" y="0"/>
                </a:moveTo>
                <a:lnTo>
                  <a:pt x="0" y="0"/>
                </a:lnTo>
                <a:lnTo>
                  <a:pt x="0" y="19050"/>
                </a:lnTo>
                <a:lnTo>
                  <a:pt x="0" y="453390"/>
                </a:lnTo>
                <a:lnTo>
                  <a:pt x="41135" y="453390"/>
                </a:lnTo>
                <a:lnTo>
                  <a:pt x="41135" y="19050"/>
                </a:lnTo>
                <a:lnTo>
                  <a:pt x="110515" y="19050"/>
                </a:lnTo>
                <a:lnTo>
                  <a:pt x="11051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79" name="Google Shape;1379;p99"/>
          <p:cNvSpPr txBox="1"/>
          <p:nvPr/>
        </p:nvSpPr>
        <p:spPr>
          <a:xfrm>
            <a:off x="1367027" y="5211714"/>
            <a:ext cx="27609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Cambria Math"/>
                <a:ea typeface="Cambria Math"/>
                <a:cs typeface="Cambria Math"/>
                <a:sym typeface="Cambria Math"/>
              </a:rPr>
              <a:t>𝐹 </a:t>
            </a:r>
            <a:r>
              <a:rPr lang="en-US" sz="4000" u="sng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4000" u="none">
                <a:latin typeface="Cambria Math"/>
                <a:ea typeface="Cambria Math"/>
                <a:cs typeface="Cambria Math"/>
                <a:sym typeface="Cambria Math"/>
              </a:rPr>
              <a:t>𝛻</a:t>
            </a:r>
            <a:r>
              <a:rPr baseline="30000" lang="en-US" sz="4350" u="none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4000" u="none">
                <a:latin typeface="Cambria Math"/>
                <a:ea typeface="Cambria Math"/>
                <a:cs typeface="Cambria Math"/>
                <a:sym typeface="Cambria Math"/>
              </a:rPr>
              <a:t>𝑓(𝑥, 𝑦)</a:t>
            </a:r>
            <a:r>
              <a:rPr lang="en-US" sz="4000" u="sng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endParaRPr sz="40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380" name="Google Shape;1380;p99"/>
          <p:cNvSpPr/>
          <p:nvPr/>
        </p:nvSpPr>
        <p:spPr>
          <a:xfrm>
            <a:off x="7704588" y="5293391"/>
            <a:ext cx="2221865" cy="518160"/>
          </a:xfrm>
          <a:custGeom>
            <a:rect b="b" l="l" r="r" t="t"/>
            <a:pathLst>
              <a:path extrusionOk="0" h="518160" w="2221865">
                <a:moveTo>
                  <a:pt x="2056472" y="0"/>
                </a:moveTo>
                <a:lnTo>
                  <a:pt x="2049094" y="21031"/>
                </a:lnTo>
                <a:lnTo>
                  <a:pt x="2079085" y="34047"/>
                </a:lnTo>
                <a:lnTo>
                  <a:pt x="2104878" y="52063"/>
                </a:lnTo>
                <a:lnTo>
                  <a:pt x="2143861" y="103098"/>
                </a:lnTo>
                <a:lnTo>
                  <a:pt x="2166807" y="171953"/>
                </a:lnTo>
                <a:lnTo>
                  <a:pt x="2172463" y="211677"/>
                </a:lnTo>
                <a:lnTo>
                  <a:pt x="2174455" y="256438"/>
                </a:lnTo>
                <a:lnTo>
                  <a:pt x="2172534" y="302134"/>
                </a:lnTo>
                <a:lnTo>
                  <a:pt x="2166770" y="343630"/>
                </a:lnTo>
                <a:lnTo>
                  <a:pt x="2157166" y="380925"/>
                </a:lnTo>
                <a:lnTo>
                  <a:pt x="2126341" y="442454"/>
                </a:lnTo>
                <a:lnTo>
                  <a:pt x="2079437" y="483964"/>
                </a:lnTo>
                <a:lnTo>
                  <a:pt x="2049919" y="497039"/>
                </a:lnTo>
                <a:lnTo>
                  <a:pt x="2056472" y="518071"/>
                </a:lnTo>
                <a:lnTo>
                  <a:pt x="2094141" y="504526"/>
                </a:lnTo>
                <a:lnTo>
                  <a:pt x="2127135" y="484922"/>
                </a:lnTo>
                <a:lnTo>
                  <a:pt x="2155453" y="459258"/>
                </a:lnTo>
                <a:lnTo>
                  <a:pt x="2179091" y="427532"/>
                </a:lnTo>
                <a:lnTo>
                  <a:pt x="2197734" y="390949"/>
                </a:lnTo>
                <a:lnTo>
                  <a:pt x="2211049" y="350694"/>
                </a:lnTo>
                <a:lnTo>
                  <a:pt x="2219037" y="306767"/>
                </a:lnTo>
                <a:lnTo>
                  <a:pt x="2221699" y="259168"/>
                </a:lnTo>
                <a:lnTo>
                  <a:pt x="2219059" y="212242"/>
                </a:lnTo>
                <a:lnTo>
                  <a:pt x="2211012" y="167786"/>
                </a:lnTo>
                <a:lnTo>
                  <a:pt x="2197654" y="127495"/>
                </a:lnTo>
                <a:lnTo>
                  <a:pt x="2178951" y="90804"/>
                </a:lnTo>
                <a:lnTo>
                  <a:pt x="2155272" y="58962"/>
                </a:lnTo>
                <a:lnTo>
                  <a:pt x="2126965" y="33215"/>
                </a:lnTo>
                <a:lnTo>
                  <a:pt x="2094032" y="13561"/>
                </a:lnTo>
                <a:lnTo>
                  <a:pt x="2056472" y="0"/>
                </a:lnTo>
                <a:close/>
              </a:path>
              <a:path extrusionOk="0" h="518160" w="2221865">
                <a:moveTo>
                  <a:pt x="165227" y="0"/>
                </a:moveTo>
                <a:lnTo>
                  <a:pt x="127667" y="13561"/>
                </a:lnTo>
                <a:lnTo>
                  <a:pt x="94732" y="33215"/>
                </a:lnTo>
                <a:lnTo>
                  <a:pt x="66421" y="58962"/>
                </a:lnTo>
                <a:lnTo>
                  <a:pt x="42735" y="90804"/>
                </a:lnTo>
                <a:lnTo>
                  <a:pt x="24040" y="127495"/>
                </a:lnTo>
                <a:lnTo>
                  <a:pt x="10685" y="167786"/>
                </a:lnTo>
                <a:lnTo>
                  <a:pt x="2671" y="211677"/>
                </a:lnTo>
                <a:lnTo>
                  <a:pt x="0" y="259168"/>
                </a:lnTo>
                <a:lnTo>
                  <a:pt x="2662" y="306767"/>
                </a:lnTo>
                <a:lnTo>
                  <a:pt x="10650" y="350694"/>
                </a:lnTo>
                <a:lnTo>
                  <a:pt x="23965" y="390949"/>
                </a:lnTo>
                <a:lnTo>
                  <a:pt x="42608" y="427532"/>
                </a:lnTo>
                <a:lnTo>
                  <a:pt x="66244" y="459258"/>
                </a:lnTo>
                <a:lnTo>
                  <a:pt x="94559" y="484922"/>
                </a:lnTo>
                <a:lnTo>
                  <a:pt x="127553" y="504526"/>
                </a:lnTo>
                <a:lnTo>
                  <a:pt x="165227" y="518071"/>
                </a:lnTo>
                <a:lnTo>
                  <a:pt x="171780" y="497039"/>
                </a:lnTo>
                <a:lnTo>
                  <a:pt x="142257" y="483964"/>
                </a:lnTo>
                <a:lnTo>
                  <a:pt x="116781" y="465769"/>
                </a:lnTo>
                <a:lnTo>
                  <a:pt x="77965" y="414019"/>
                </a:lnTo>
                <a:lnTo>
                  <a:pt x="54922" y="343630"/>
                </a:lnTo>
                <a:lnTo>
                  <a:pt x="49163" y="302134"/>
                </a:lnTo>
                <a:lnTo>
                  <a:pt x="47358" y="259168"/>
                </a:lnTo>
                <a:lnTo>
                  <a:pt x="47244" y="256438"/>
                </a:lnTo>
                <a:lnTo>
                  <a:pt x="49163" y="212242"/>
                </a:lnTo>
                <a:lnTo>
                  <a:pt x="54922" y="171953"/>
                </a:lnTo>
                <a:lnTo>
                  <a:pt x="77965" y="103098"/>
                </a:lnTo>
                <a:lnTo>
                  <a:pt x="116987" y="52063"/>
                </a:lnTo>
                <a:lnTo>
                  <a:pt x="172593" y="21031"/>
                </a:lnTo>
                <a:lnTo>
                  <a:pt x="16522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81" name="Google Shape;1381;p99"/>
          <p:cNvSpPr txBox="1"/>
          <p:nvPr/>
        </p:nvSpPr>
        <p:spPr>
          <a:xfrm>
            <a:off x="6101457" y="3888410"/>
            <a:ext cx="3746400" cy="20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7175">
            <a:spAutoFit/>
          </a:bodyPr>
          <a:lstStyle/>
          <a:p>
            <a:pPr indent="0" lvl="0" marL="2825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latin typeface="Cambria Math"/>
                <a:ea typeface="Cambria Math"/>
                <a:cs typeface="Cambria Math"/>
                <a:sym typeface="Cambria Math"/>
              </a:rPr>
              <a:t>𝜕𝑥</a:t>
            </a:r>
            <a:r>
              <a:rPr baseline="30000" lang="en-US" sz="4275">
                <a:latin typeface="Cambria Math"/>
                <a:ea typeface="Cambria Math"/>
                <a:cs typeface="Cambria Math"/>
                <a:sym typeface="Cambria Math"/>
              </a:rPr>
              <a:t>2	      </a:t>
            </a:r>
            <a:r>
              <a:rPr lang="en-US" sz="3500">
                <a:latin typeface="Cambria Math"/>
                <a:ea typeface="Cambria Math"/>
                <a:cs typeface="Cambria Math"/>
                <a:sym typeface="Cambria Math"/>
              </a:rPr>
              <a:t>𝜕𝑦</a:t>
            </a:r>
            <a:r>
              <a:rPr baseline="30000" lang="en-US" sz="4275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endParaRPr baseline="30000" sz="4275">
              <a:latin typeface="Cambria Math"/>
              <a:ea typeface="Cambria Math"/>
              <a:cs typeface="Cambria Math"/>
              <a:sym typeface="Cambria Math"/>
            </a:endParaRPr>
          </a:p>
          <a:p>
            <a:pPr indent="0" lvl="0" marL="63500" rtl="0" algn="l">
              <a:lnSpc>
                <a:spcPct val="100000"/>
              </a:lnSpc>
              <a:spcBef>
                <a:spcPts val="2820"/>
              </a:spcBef>
              <a:spcAft>
                <a:spcPts val="0"/>
              </a:spcAft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−(2</a:t>
            </a:r>
            <a:r>
              <a:rPr lang="en-US" sz="4400">
                <a:latin typeface="Cambria Math"/>
                <a:ea typeface="Cambria Math"/>
                <a:cs typeface="Cambria Math"/>
                <a:sym typeface="Cambria Math"/>
              </a:rPr>
              <a:t>𝜋)</a:t>
            </a:r>
            <a:r>
              <a:rPr baseline="30000" lang="en-US" sz="4800">
                <a:latin typeface="Cambria Math"/>
                <a:ea typeface="Cambria Math"/>
                <a:cs typeface="Cambria Math"/>
                <a:sym typeface="Cambria Math"/>
              </a:rPr>
              <a:t>2	  </a:t>
            </a:r>
            <a:r>
              <a:rPr lang="en-US" sz="4400">
                <a:latin typeface="Cambria Math"/>
                <a:ea typeface="Cambria Math"/>
                <a:cs typeface="Cambria Math"/>
                <a:sym typeface="Cambria Math"/>
              </a:rPr>
              <a:t>u</a:t>
            </a:r>
            <a:r>
              <a:rPr baseline="30000" lang="en-US" sz="48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r>
              <a:rPr lang="en-US" sz="4400">
                <a:latin typeface="Cambria Math"/>
                <a:ea typeface="Cambria Math"/>
                <a:cs typeface="Cambria Math"/>
                <a:sym typeface="Cambria Math"/>
              </a:rPr>
              <a:t>+ 𝑣</a:t>
            </a:r>
            <a:r>
              <a:rPr baseline="30000" lang="en-US" sz="4800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endParaRPr baseline="30000" sz="48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382" name="Google Shape;1382;p99"/>
          <p:cNvSpPr txBox="1"/>
          <p:nvPr/>
        </p:nvSpPr>
        <p:spPr>
          <a:xfrm>
            <a:off x="9962257" y="5140397"/>
            <a:ext cx="17145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latin typeface="Cambria Math"/>
                <a:ea typeface="Cambria Math"/>
                <a:cs typeface="Cambria Math"/>
                <a:sym typeface="Cambria Math"/>
              </a:rPr>
              <a:t>𝐹(u, 𝑣)</a:t>
            </a:r>
            <a:endParaRPr sz="44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grpSp>
        <p:nvGrpSpPr>
          <p:cNvPr id="1383" name="Google Shape;1383;p99"/>
          <p:cNvGrpSpPr/>
          <p:nvPr/>
        </p:nvGrpSpPr>
        <p:grpSpPr>
          <a:xfrm>
            <a:off x="4258817" y="5330190"/>
            <a:ext cx="1600200" cy="533400"/>
            <a:chOff x="4258817" y="5330190"/>
            <a:chExt cx="1600200" cy="533400"/>
          </a:xfrm>
        </p:grpSpPr>
        <p:sp>
          <p:nvSpPr>
            <p:cNvPr id="1384" name="Google Shape;1384;p99"/>
            <p:cNvSpPr/>
            <p:nvPr/>
          </p:nvSpPr>
          <p:spPr>
            <a:xfrm>
              <a:off x="4258817" y="5330190"/>
              <a:ext cx="1600200" cy="533400"/>
            </a:xfrm>
            <a:custGeom>
              <a:rect b="b" l="l" r="r" t="t"/>
              <a:pathLst>
                <a:path extrusionOk="0" h="533400" w="1600200">
                  <a:moveTo>
                    <a:pt x="1333500" y="0"/>
                  </a:moveTo>
                  <a:lnTo>
                    <a:pt x="1333500" y="133350"/>
                  </a:lnTo>
                  <a:lnTo>
                    <a:pt x="266700" y="133350"/>
                  </a:lnTo>
                  <a:lnTo>
                    <a:pt x="266700" y="0"/>
                  </a:lnTo>
                  <a:lnTo>
                    <a:pt x="0" y="266700"/>
                  </a:lnTo>
                  <a:lnTo>
                    <a:pt x="266700" y="533400"/>
                  </a:lnTo>
                  <a:lnTo>
                    <a:pt x="266700" y="400050"/>
                  </a:lnTo>
                  <a:lnTo>
                    <a:pt x="1333500" y="400050"/>
                  </a:lnTo>
                  <a:lnTo>
                    <a:pt x="1333500" y="533400"/>
                  </a:lnTo>
                  <a:lnTo>
                    <a:pt x="1600200" y="266700"/>
                  </a:lnTo>
                  <a:lnTo>
                    <a:pt x="1333500" y="0"/>
                  </a:lnTo>
                  <a:close/>
                </a:path>
              </a:pathLst>
            </a:custGeom>
            <a:solidFill>
              <a:srgbClr val="4F81B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5" name="Google Shape;1385;p99"/>
            <p:cNvSpPr/>
            <p:nvPr/>
          </p:nvSpPr>
          <p:spPr>
            <a:xfrm>
              <a:off x="4258817" y="5330190"/>
              <a:ext cx="1600200" cy="533400"/>
            </a:xfrm>
            <a:custGeom>
              <a:rect b="b" l="l" r="r" t="t"/>
              <a:pathLst>
                <a:path extrusionOk="0" h="533400" w="1600200">
                  <a:moveTo>
                    <a:pt x="0" y="266700"/>
                  </a:moveTo>
                  <a:lnTo>
                    <a:pt x="266700" y="0"/>
                  </a:lnTo>
                  <a:lnTo>
                    <a:pt x="266700" y="133350"/>
                  </a:lnTo>
                  <a:lnTo>
                    <a:pt x="1333500" y="133350"/>
                  </a:lnTo>
                  <a:lnTo>
                    <a:pt x="1333500" y="0"/>
                  </a:lnTo>
                  <a:lnTo>
                    <a:pt x="1600200" y="266700"/>
                  </a:lnTo>
                  <a:lnTo>
                    <a:pt x="1333500" y="533400"/>
                  </a:lnTo>
                  <a:lnTo>
                    <a:pt x="1333500" y="400050"/>
                  </a:lnTo>
                  <a:lnTo>
                    <a:pt x="266700" y="400050"/>
                  </a:lnTo>
                  <a:lnTo>
                    <a:pt x="266700" y="533400"/>
                  </a:lnTo>
                  <a:lnTo>
                    <a:pt x="0" y="266700"/>
                  </a:lnTo>
                  <a:close/>
                </a:path>
              </a:pathLst>
            </a:custGeom>
            <a:noFill/>
            <a:ln cap="flat" cmpd="sng" w="25400">
              <a:solidFill>
                <a:srgbClr val="385D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386" name="Google Shape;1386;p99"/>
          <p:cNvSpPr txBox="1"/>
          <p:nvPr>
            <p:ph idx="4294967295" type="ftr"/>
          </p:nvPr>
        </p:nvSpPr>
        <p:spPr>
          <a:xfrm>
            <a:off x="4398753" y="6547849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387" name="Google Shape;1387;p9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100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93" name="Google Shape;1393;p100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94" name="Google Shape;1394;p100"/>
          <p:cNvSpPr txBox="1"/>
          <p:nvPr/>
        </p:nvSpPr>
        <p:spPr>
          <a:xfrm>
            <a:off x="688340" y="1139444"/>
            <a:ext cx="54357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444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Translation in spatial domain: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395" name="Google Shape;1395;p100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Properties of	</a:t>
            </a:r>
            <a:r>
              <a:rPr b="1" lang="en-US">
                <a:latin typeface="Bell MT"/>
                <a:ea typeface="Bell MT"/>
                <a:cs typeface="Bell MT"/>
                <a:sym typeface="Bell MT"/>
              </a:rPr>
              <a:t>Fourier Transform</a:t>
            </a:r>
            <a:endParaRPr/>
          </a:p>
        </p:txBody>
      </p:sp>
      <p:sp>
        <p:nvSpPr>
          <p:cNvPr id="1396" name="Google Shape;1396;p100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397" name="Google Shape;1397;p10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98" name="Google Shape;1398;p10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99" name="Google Shape;1399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" y="1797950"/>
            <a:ext cx="11054100" cy="3923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p101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05" name="Google Shape;1405;p101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406" name="Google Shape;1406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1200" y="2667000"/>
            <a:ext cx="5779150" cy="325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7" name="Google Shape;1407;p101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Properties of	</a:t>
            </a:r>
            <a:r>
              <a:rPr b="1" lang="en-US">
                <a:latin typeface="Bell MT"/>
                <a:ea typeface="Bell MT"/>
                <a:cs typeface="Bell MT"/>
                <a:sym typeface="Bell MT"/>
              </a:rPr>
              <a:t>Fourier Transform</a:t>
            </a:r>
            <a:endParaRPr/>
          </a:p>
        </p:txBody>
      </p:sp>
      <p:sp>
        <p:nvSpPr>
          <p:cNvPr id="1408" name="Google Shape;1408;p101"/>
          <p:cNvSpPr txBox="1"/>
          <p:nvPr/>
        </p:nvSpPr>
        <p:spPr>
          <a:xfrm>
            <a:off x="764540" y="884705"/>
            <a:ext cx="10860900" cy="16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55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Translation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7019" lvl="0" marL="756285" marR="5080" rtl="0" algn="l">
              <a:lnSpc>
                <a:spcPct val="114237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to show a </a:t>
            </a:r>
            <a:r>
              <a:rPr lang="en-US" sz="2800">
                <a:solidFill>
                  <a:srgbClr val="C0504D"/>
                </a:solidFill>
                <a:latin typeface="Bell MT"/>
                <a:ea typeface="Bell MT"/>
                <a:cs typeface="Bell MT"/>
                <a:sym typeface="Bell MT"/>
              </a:rPr>
              <a:t>full period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, we need to translate the origin of the transform at </a:t>
            </a:r>
            <a:r>
              <a:rPr lang="en-US" sz="2950">
                <a:latin typeface="Bell MT"/>
                <a:ea typeface="Bell MT"/>
                <a:cs typeface="Bell MT"/>
                <a:sym typeface="Bell MT"/>
              </a:rPr>
              <a:t>u=N/2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(or at </a:t>
            </a:r>
            <a:r>
              <a:rPr b="1" lang="en-US" sz="2800">
                <a:latin typeface="Bell MT"/>
                <a:ea typeface="Bell MT"/>
                <a:cs typeface="Bell MT"/>
                <a:sym typeface="Bell MT"/>
              </a:rPr>
              <a:t>(</a:t>
            </a:r>
            <a:r>
              <a:rPr lang="en-US" sz="2950">
                <a:latin typeface="Bell MT"/>
                <a:ea typeface="Bell MT"/>
                <a:cs typeface="Bell MT"/>
                <a:sym typeface="Bell MT"/>
              </a:rPr>
              <a:t>N/2</a:t>
            </a:r>
            <a:r>
              <a:rPr b="1" lang="en-US" sz="2800">
                <a:latin typeface="Bell MT"/>
                <a:ea typeface="Bell MT"/>
                <a:cs typeface="Bell MT"/>
                <a:sym typeface="Bell MT"/>
              </a:rPr>
              <a:t>,</a:t>
            </a:r>
            <a:r>
              <a:rPr lang="en-US" sz="2950">
                <a:latin typeface="Bell MT"/>
                <a:ea typeface="Bell MT"/>
                <a:cs typeface="Bell MT"/>
                <a:sym typeface="Bell MT"/>
              </a:rPr>
              <a:t>N/2</a:t>
            </a:r>
            <a:r>
              <a:rPr b="1" lang="en-US" sz="2800">
                <a:latin typeface="Bell MT"/>
                <a:ea typeface="Bell MT"/>
                <a:cs typeface="Bell MT"/>
                <a:sym typeface="Bell MT"/>
              </a:rPr>
              <a:t>)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in 2D)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409" name="Google Shape;1409;p101"/>
          <p:cNvSpPr txBox="1"/>
          <p:nvPr/>
        </p:nvSpPr>
        <p:spPr>
          <a:xfrm>
            <a:off x="8663961" y="5161000"/>
            <a:ext cx="27642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EEECE1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baseline="-25000" i="1"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|</a:t>
            </a:r>
            <a:r>
              <a:rPr lang="en-US" sz="1800">
                <a:solidFill>
                  <a:srgbClr val="EEECE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aseline="-25000" i="1"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F</a:t>
            </a:r>
            <a:r>
              <a:rPr lang="en-US" sz="1800">
                <a:solidFill>
                  <a:srgbClr val="EEECE1"/>
                </a:solidFill>
                <a:latin typeface="Calibri"/>
                <a:ea typeface="Calibri"/>
                <a:cs typeface="Calibri"/>
                <a:sym typeface="Calibri"/>
              </a:rPr>
              <a:t>(u</a:t>
            </a:r>
            <a:r>
              <a:rPr baseline="-25000" i="1"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(u</a:t>
            </a:r>
            <a:r>
              <a:rPr lang="en-US" sz="1800">
                <a:solidFill>
                  <a:srgbClr val="EEECE1"/>
                </a:solidFill>
                <a:latin typeface="Calibri"/>
                <a:ea typeface="Calibri"/>
                <a:cs typeface="Calibri"/>
                <a:sym typeface="Calibri"/>
              </a:rPr>
              <a:t>-N</a:t>
            </a:r>
            <a:r>
              <a:rPr baseline="-25000" i="1"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-N</a:t>
            </a:r>
            <a:r>
              <a:rPr lang="en-US" sz="1800">
                <a:solidFill>
                  <a:srgbClr val="EEECE1"/>
                </a:solidFill>
                <a:latin typeface="Calibri"/>
                <a:ea typeface="Calibri"/>
                <a:cs typeface="Calibri"/>
                <a:sym typeface="Calibri"/>
              </a:rPr>
              <a:t>/2</a:t>
            </a:r>
            <a:r>
              <a:rPr baseline="-25000" i="1"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/</a:t>
            </a:r>
            <a:r>
              <a:rPr lang="en-US" sz="1800">
                <a:solidFill>
                  <a:srgbClr val="EEECE1"/>
                </a:solidFill>
                <a:latin typeface="Calibri"/>
                <a:ea typeface="Calibri"/>
                <a:cs typeface="Calibri"/>
                <a:sym typeface="Calibri"/>
              </a:rPr>
              <a:t>)|</a:t>
            </a:r>
            <a:r>
              <a:rPr baseline="-25000" i="1"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2)|</a:t>
            </a:r>
            <a:endParaRPr baseline="-25000" sz="3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410" name="Google Shape;1410;p101"/>
          <p:cNvSpPr txBox="1"/>
          <p:nvPr/>
        </p:nvSpPr>
        <p:spPr>
          <a:xfrm>
            <a:off x="9068837" y="3475300"/>
            <a:ext cx="17250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i="1"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|</a:t>
            </a:r>
            <a:r>
              <a:rPr lang="en-US" sz="1800">
                <a:solidFill>
                  <a:srgbClr val="EEECE1"/>
                </a:solidFill>
                <a:latin typeface="Calibri"/>
                <a:ea typeface="Calibri"/>
                <a:cs typeface="Calibri"/>
                <a:sym typeface="Calibri"/>
              </a:rPr>
              <a:t>|F</a:t>
            </a:r>
            <a:r>
              <a:rPr baseline="-25000" i="1"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F</a:t>
            </a:r>
            <a:r>
              <a:rPr lang="en-US" sz="1800">
                <a:solidFill>
                  <a:srgbClr val="EEECE1"/>
                </a:solidFill>
                <a:latin typeface="Calibri"/>
                <a:ea typeface="Calibri"/>
                <a:cs typeface="Calibri"/>
                <a:sym typeface="Calibri"/>
              </a:rPr>
              <a:t>(u</a:t>
            </a:r>
            <a:r>
              <a:rPr baseline="-25000" i="1"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(u</a:t>
            </a:r>
            <a:r>
              <a:rPr lang="en-US" sz="1800">
                <a:solidFill>
                  <a:srgbClr val="EEECE1"/>
                </a:solidFill>
                <a:latin typeface="Calibri"/>
                <a:ea typeface="Calibri"/>
                <a:cs typeface="Calibri"/>
                <a:sym typeface="Calibri"/>
              </a:rPr>
              <a:t>)|</a:t>
            </a:r>
            <a:r>
              <a:rPr baseline="-25000" i="1"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)|</a:t>
            </a:r>
            <a:endParaRPr baseline="-25000" sz="30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411" name="Google Shape;1411;p1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1274" y="3385650"/>
            <a:ext cx="1950304" cy="18782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12" name="Google Shape;1412;p101"/>
          <p:cNvGrpSpPr/>
          <p:nvPr/>
        </p:nvGrpSpPr>
        <p:grpSpPr>
          <a:xfrm>
            <a:off x="4648200" y="4133849"/>
            <a:ext cx="838200" cy="114300"/>
            <a:chOff x="4648200" y="4133849"/>
            <a:chExt cx="838200" cy="114300"/>
          </a:xfrm>
        </p:grpSpPr>
        <p:sp>
          <p:nvSpPr>
            <p:cNvPr id="1413" name="Google Shape;1413;p101"/>
            <p:cNvSpPr/>
            <p:nvPr/>
          </p:nvSpPr>
          <p:spPr>
            <a:xfrm>
              <a:off x="4733925" y="4191000"/>
              <a:ext cx="666750" cy="0"/>
            </a:xfrm>
            <a:custGeom>
              <a:rect b="b" l="l" r="r" t="t"/>
              <a:pathLst>
                <a:path extrusionOk="0" h="120000" w="666750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cap="flat" cmpd="sng" w="5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4" name="Google Shape;1414;p101"/>
            <p:cNvSpPr/>
            <p:nvPr/>
          </p:nvSpPr>
          <p:spPr>
            <a:xfrm>
              <a:off x="4648200" y="4133849"/>
              <a:ext cx="838200" cy="114300"/>
            </a:xfrm>
            <a:custGeom>
              <a:rect b="b" l="l" r="r" t="t"/>
              <a:pathLst>
                <a:path extrusionOk="0" h="114300" w="838200">
                  <a:moveTo>
                    <a:pt x="114300" y="0"/>
                  </a:moveTo>
                  <a:lnTo>
                    <a:pt x="0" y="57150"/>
                  </a:lnTo>
                  <a:lnTo>
                    <a:pt x="114300" y="114300"/>
                  </a:lnTo>
                  <a:lnTo>
                    <a:pt x="114300" y="0"/>
                  </a:lnTo>
                  <a:close/>
                </a:path>
                <a:path extrusionOk="0" h="114300" w="838200">
                  <a:moveTo>
                    <a:pt x="838200" y="57150"/>
                  </a:moveTo>
                  <a:lnTo>
                    <a:pt x="723900" y="0"/>
                  </a:lnTo>
                  <a:lnTo>
                    <a:pt x="723900" y="114300"/>
                  </a:lnTo>
                  <a:lnTo>
                    <a:pt x="838200" y="571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415" name="Google Shape;1415;p101"/>
          <p:cNvSpPr txBox="1"/>
          <p:nvPr/>
        </p:nvSpPr>
        <p:spPr>
          <a:xfrm>
            <a:off x="115544" y="6239266"/>
            <a:ext cx="76074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5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Image source: Rafael C. </a:t>
            </a:r>
            <a:r>
              <a:rPr b="1" i="1" lang="en-US" sz="105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Gonzalez </a:t>
            </a:r>
            <a:r>
              <a:rPr i="1" lang="en-US" sz="105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and Richard E. Woods </a:t>
            </a:r>
            <a:r>
              <a:rPr b="1" i="1" lang="en-US" sz="105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Digital Image Processing, 3</a:t>
            </a:r>
            <a:r>
              <a:rPr b="1" baseline="30000" i="1" lang="en-US" sz="105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rd </a:t>
            </a:r>
            <a:r>
              <a:rPr b="1" i="1" lang="en-US" sz="105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edition</a:t>
            </a:r>
            <a:r>
              <a:rPr i="1" lang="en-US" sz="105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, Pearson Education, ISBN: 978-81-317-2695-2</a:t>
            </a:r>
            <a:endParaRPr sz="10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6" name="Google Shape;1416;p101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417" name="Google Shape;1417;p10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8" name="Google Shape;1418;p10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102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24" name="Google Shape;1424;p102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25" name="Google Shape;1425;p102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Properties of	</a:t>
            </a:r>
            <a:r>
              <a:rPr b="1" lang="en-US">
                <a:latin typeface="Bell MT"/>
                <a:ea typeface="Bell MT"/>
                <a:cs typeface="Bell MT"/>
                <a:sym typeface="Bell MT"/>
              </a:rPr>
              <a:t>Fourier Transform</a:t>
            </a:r>
            <a:endParaRPr/>
          </a:p>
        </p:txBody>
      </p:sp>
      <p:sp>
        <p:nvSpPr>
          <p:cNvPr id="1426" name="Google Shape;1426;p102"/>
          <p:cNvSpPr txBox="1"/>
          <p:nvPr/>
        </p:nvSpPr>
        <p:spPr>
          <a:xfrm>
            <a:off x="726440" y="892455"/>
            <a:ext cx="8060100" cy="20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675">
            <a:spAutoFit/>
          </a:bodyPr>
          <a:lstStyle/>
          <a:p>
            <a:pPr indent="-342265" lvl="0" marL="393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Translation: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508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To move </a:t>
            </a: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F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(</a:t>
            </a: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u, v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) at (</a:t>
            </a: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N/2, N/2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), take </a:t>
            </a: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u</a:t>
            </a:r>
            <a:r>
              <a:rPr baseline="-25000" i="1" lang="en-US" sz="2775">
                <a:latin typeface="Bell MT"/>
                <a:ea typeface="Bell MT"/>
                <a:cs typeface="Bell MT"/>
                <a:sym typeface="Bell MT"/>
              </a:rPr>
              <a:t>0 </a:t>
            </a: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= v</a:t>
            </a:r>
            <a:r>
              <a:rPr baseline="-25000" i="1" lang="en-US" sz="2775">
                <a:latin typeface="Bell MT"/>
                <a:ea typeface="Bell MT"/>
                <a:cs typeface="Bell MT"/>
                <a:sym typeface="Bell MT"/>
              </a:rPr>
              <a:t>0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= </a:t>
            </a: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N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/2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93065" rtl="0" algn="l">
              <a:lnSpc>
                <a:spcPct val="100000"/>
              </a:lnSpc>
              <a:spcBef>
                <a:spcPts val="379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Using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427" name="Google Shape;1427;p102"/>
          <p:cNvSpPr txBox="1"/>
          <p:nvPr>
            <p:ph idx="11" type="ftr"/>
          </p:nvPr>
        </p:nvSpPr>
        <p:spPr>
          <a:xfrm>
            <a:off x="4398740" y="65478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428" name="Google Shape;1428;p10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9" name="Google Shape;1429;p10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30" name="Google Shape;1430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3700" y="2908155"/>
            <a:ext cx="6904592" cy="32213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103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36" name="Google Shape;1436;p103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437" name="Google Shape;1437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3438983"/>
            <a:ext cx="2726181" cy="1987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8" name="Google Shape;1438;p10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7800" y="3429000"/>
            <a:ext cx="2590799" cy="195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9" name="Google Shape;1439;p10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61604" y="3456432"/>
            <a:ext cx="2482595" cy="1918715"/>
          </a:xfrm>
          <a:prstGeom prst="rect">
            <a:avLst/>
          </a:prstGeom>
          <a:noFill/>
          <a:ln>
            <a:noFill/>
          </a:ln>
        </p:spPr>
      </p:pic>
      <p:sp>
        <p:nvSpPr>
          <p:cNvPr id="1440" name="Google Shape;1440;p103"/>
          <p:cNvSpPr txBox="1"/>
          <p:nvPr/>
        </p:nvSpPr>
        <p:spPr>
          <a:xfrm>
            <a:off x="5767930" y="5532014"/>
            <a:ext cx="17658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no translation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441" name="Google Shape;1441;p103"/>
          <p:cNvSpPr txBox="1"/>
          <p:nvPr/>
        </p:nvSpPr>
        <p:spPr>
          <a:xfrm>
            <a:off x="8488155" y="5532014"/>
            <a:ext cx="20295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after translation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442" name="Google Shape;1442;p103"/>
          <p:cNvSpPr txBox="1"/>
          <p:nvPr>
            <p:ph idx="4294967295" type="title"/>
          </p:nvPr>
        </p:nvSpPr>
        <p:spPr>
          <a:xfrm>
            <a:off x="0" y="153150"/>
            <a:ext cx="121920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Properties of	</a:t>
            </a:r>
            <a:r>
              <a:rPr b="1" lang="en-US" sz="4400">
                <a:latin typeface="Bell MT"/>
                <a:ea typeface="Bell MT"/>
                <a:cs typeface="Bell MT"/>
                <a:sym typeface="Bell MT"/>
              </a:rPr>
              <a:t>Fourier Transform</a:t>
            </a:r>
            <a:endParaRPr sz="4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443" name="Google Shape;1443;p103"/>
          <p:cNvSpPr txBox="1"/>
          <p:nvPr/>
        </p:nvSpPr>
        <p:spPr>
          <a:xfrm>
            <a:off x="688353" y="1302500"/>
            <a:ext cx="29481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Translation: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4" name="Google Shape;1444;p103"/>
          <p:cNvSpPr/>
          <p:nvPr/>
        </p:nvSpPr>
        <p:spPr>
          <a:xfrm>
            <a:off x="3165928" y="2277775"/>
            <a:ext cx="781685" cy="328930"/>
          </a:xfrm>
          <a:custGeom>
            <a:rect b="b" l="l" r="r" t="t"/>
            <a:pathLst>
              <a:path extrusionOk="0" h="328930" w="781685">
                <a:moveTo>
                  <a:pt x="676529" y="0"/>
                </a:moveTo>
                <a:lnTo>
                  <a:pt x="671842" y="13347"/>
                </a:lnTo>
                <a:lnTo>
                  <a:pt x="690883" y="21612"/>
                </a:lnTo>
                <a:lnTo>
                  <a:pt x="707258" y="33053"/>
                </a:lnTo>
                <a:lnTo>
                  <a:pt x="732015" y="65455"/>
                </a:lnTo>
                <a:lnTo>
                  <a:pt x="746577" y="109167"/>
                </a:lnTo>
                <a:lnTo>
                  <a:pt x="750167" y="134387"/>
                </a:lnTo>
                <a:lnTo>
                  <a:pt x="750219" y="134748"/>
                </a:lnTo>
                <a:lnTo>
                  <a:pt x="750214" y="191819"/>
                </a:lnTo>
                <a:lnTo>
                  <a:pt x="740460" y="241839"/>
                </a:lnTo>
                <a:lnTo>
                  <a:pt x="720889" y="280904"/>
                </a:lnTo>
                <a:lnTo>
                  <a:pt x="691108" y="307255"/>
                </a:lnTo>
                <a:lnTo>
                  <a:pt x="672363" y="315556"/>
                </a:lnTo>
                <a:lnTo>
                  <a:pt x="676529" y="328904"/>
                </a:lnTo>
                <a:lnTo>
                  <a:pt x="721393" y="307867"/>
                </a:lnTo>
                <a:lnTo>
                  <a:pt x="754380" y="271437"/>
                </a:lnTo>
                <a:lnTo>
                  <a:pt x="774668" y="222646"/>
                </a:lnTo>
                <a:lnTo>
                  <a:pt x="781431" y="164541"/>
                </a:lnTo>
                <a:lnTo>
                  <a:pt x="779753" y="134748"/>
                </a:lnTo>
                <a:lnTo>
                  <a:pt x="766161" y="80941"/>
                </a:lnTo>
                <a:lnTo>
                  <a:pt x="739258" y="37433"/>
                </a:lnTo>
                <a:lnTo>
                  <a:pt x="700377" y="8610"/>
                </a:lnTo>
                <a:lnTo>
                  <a:pt x="676529" y="0"/>
                </a:lnTo>
                <a:close/>
              </a:path>
              <a:path extrusionOk="0" h="328930" w="781685">
                <a:moveTo>
                  <a:pt x="104902" y="0"/>
                </a:moveTo>
                <a:lnTo>
                  <a:pt x="60144" y="21088"/>
                </a:lnTo>
                <a:lnTo>
                  <a:pt x="27139" y="57645"/>
                </a:lnTo>
                <a:lnTo>
                  <a:pt x="6783" y="106521"/>
                </a:lnTo>
                <a:lnTo>
                  <a:pt x="97" y="162814"/>
                </a:lnTo>
                <a:lnTo>
                  <a:pt x="0" y="164541"/>
                </a:lnTo>
                <a:lnTo>
                  <a:pt x="6762" y="222646"/>
                </a:lnTo>
                <a:lnTo>
                  <a:pt x="27051" y="271437"/>
                </a:lnTo>
                <a:lnTo>
                  <a:pt x="60037" y="307867"/>
                </a:lnTo>
                <a:lnTo>
                  <a:pt x="104902" y="328904"/>
                </a:lnTo>
                <a:lnTo>
                  <a:pt x="109054" y="315556"/>
                </a:lnTo>
                <a:lnTo>
                  <a:pt x="90316" y="307255"/>
                </a:lnTo>
                <a:lnTo>
                  <a:pt x="74145" y="295705"/>
                </a:lnTo>
                <a:lnTo>
                  <a:pt x="49504" y="262851"/>
                </a:lnTo>
                <a:lnTo>
                  <a:pt x="34874" y="218162"/>
                </a:lnTo>
                <a:lnTo>
                  <a:pt x="30069" y="164541"/>
                </a:lnTo>
                <a:lnTo>
                  <a:pt x="29997" y="162814"/>
                </a:lnTo>
                <a:lnTo>
                  <a:pt x="31216" y="134748"/>
                </a:lnTo>
                <a:lnTo>
                  <a:pt x="40970" y="86070"/>
                </a:lnTo>
                <a:lnTo>
                  <a:pt x="60574" y="47668"/>
                </a:lnTo>
                <a:lnTo>
                  <a:pt x="90611" y="21612"/>
                </a:lnTo>
                <a:lnTo>
                  <a:pt x="109575" y="13347"/>
                </a:lnTo>
                <a:lnTo>
                  <a:pt x="10490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45" name="Google Shape;1445;p103"/>
          <p:cNvSpPr txBox="1"/>
          <p:nvPr/>
        </p:nvSpPr>
        <p:spPr>
          <a:xfrm>
            <a:off x="2336575" y="2175775"/>
            <a:ext cx="29481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Cambria Math"/>
                <a:ea typeface="Cambria Math"/>
                <a:cs typeface="Cambria Math"/>
                <a:sym typeface="Cambria Math"/>
              </a:rPr>
              <a:t>       </a:t>
            </a:r>
            <a:r>
              <a:rPr lang="en-US" sz="2800">
                <a:latin typeface="Cambria Math"/>
                <a:ea typeface="Cambria Math"/>
                <a:cs typeface="Cambria Math"/>
                <a:sym typeface="Cambria Math"/>
              </a:rPr>
              <a:t>𝒇	𝒙, 𝒚  (−𝟏)</a:t>
            </a:r>
            <a:r>
              <a:rPr baseline="30000" lang="en-US" sz="3075">
                <a:latin typeface="Cambria Math"/>
                <a:ea typeface="Cambria Math"/>
                <a:cs typeface="Cambria Math"/>
                <a:sym typeface="Cambria Math"/>
              </a:rPr>
              <a:t>𝒙+𝒚</a:t>
            </a:r>
            <a:endParaRPr baseline="30000" sz="3075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446" name="Google Shape;1446;p103"/>
          <p:cNvSpPr txBox="1"/>
          <p:nvPr/>
        </p:nvSpPr>
        <p:spPr>
          <a:xfrm>
            <a:off x="5404975" y="2175775"/>
            <a:ext cx="4222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ambria Math"/>
                <a:ea typeface="Cambria Math"/>
                <a:cs typeface="Cambria Math"/>
                <a:sym typeface="Cambria Math"/>
              </a:rPr>
              <a:t>↔	𝑭(𝒖 − 𝑵/2, 𝒗 − 𝑵/2)</a:t>
            </a:r>
            <a:endParaRPr b="1" sz="28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447" name="Google Shape;1447;p103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448" name="Google Shape;1448;p10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9" name="Google Shape;1449;p10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p104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55" name="Google Shape;1455;p104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56" name="Google Shape;1456;p104"/>
          <p:cNvSpPr txBox="1"/>
          <p:nvPr>
            <p:ph idx="4294967295" type="title"/>
          </p:nvPr>
        </p:nvSpPr>
        <p:spPr>
          <a:xfrm>
            <a:off x="0" y="153150"/>
            <a:ext cx="12192000" cy="625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Properties of	 </a:t>
            </a:r>
            <a:r>
              <a:rPr b="1" lang="en-US">
                <a:latin typeface="Bell MT"/>
                <a:ea typeface="Bell MT"/>
                <a:cs typeface="Bell MT"/>
                <a:sym typeface="Bell MT"/>
              </a:rPr>
              <a:t>Fourier Transform </a:t>
            </a:r>
            <a:r>
              <a:rPr lang="en-US"/>
              <a:t>– </a:t>
            </a:r>
            <a:r>
              <a:rPr lang="en-US">
                <a:solidFill>
                  <a:srgbClr val="FF0000"/>
                </a:solidFill>
              </a:rPr>
              <a:t>Translation</a:t>
            </a:r>
            <a:endParaRPr/>
          </a:p>
        </p:txBody>
      </p:sp>
      <p:sp>
        <p:nvSpPr>
          <p:cNvPr id="1457" name="Google Shape;1457;p104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458" name="Google Shape;1458;p10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9" name="Google Shape;1459;p10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60" name="Google Shape;1460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006950"/>
            <a:ext cx="11608313" cy="53511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p105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66" name="Google Shape;1466;p105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67" name="Google Shape;1467;p105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Properties of	 </a:t>
            </a:r>
            <a:r>
              <a:rPr b="1" lang="en-US">
                <a:latin typeface="Bell MT"/>
                <a:ea typeface="Bell MT"/>
                <a:cs typeface="Bell MT"/>
                <a:sym typeface="Bell MT"/>
              </a:rPr>
              <a:t>Fourier Transform</a:t>
            </a:r>
            <a:endParaRPr/>
          </a:p>
        </p:txBody>
      </p:sp>
      <p:sp>
        <p:nvSpPr>
          <p:cNvPr id="1468" name="Google Shape;1468;p105"/>
          <p:cNvSpPr txBox="1"/>
          <p:nvPr/>
        </p:nvSpPr>
        <p:spPr>
          <a:xfrm>
            <a:off x="688340" y="1030120"/>
            <a:ext cx="10113000" cy="6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25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Rotation</a:t>
            </a:r>
            <a:endParaRPr sz="3200"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1469" name="Google Shape;1469;p105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470" name="Google Shape;1470;p10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1" name="Google Shape;1471;p10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72" name="Google Shape;1472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8488" y="1798720"/>
            <a:ext cx="10415030" cy="44832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106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78" name="Google Shape;1478;p106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79" name="Google Shape;1479;p106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Properties of	</a:t>
            </a:r>
            <a:r>
              <a:rPr b="1" lang="en-US">
                <a:latin typeface="Bell MT"/>
                <a:ea typeface="Bell MT"/>
                <a:cs typeface="Bell MT"/>
                <a:sym typeface="Bell MT"/>
              </a:rPr>
              <a:t>Fourier Transform</a:t>
            </a:r>
            <a:endParaRPr/>
          </a:p>
        </p:txBody>
      </p:sp>
      <p:sp>
        <p:nvSpPr>
          <p:cNvPr id="1480" name="Google Shape;1480;p106"/>
          <p:cNvSpPr txBox="1"/>
          <p:nvPr/>
        </p:nvSpPr>
        <p:spPr>
          <a:xfrm>
            <a:off x="688340" y="926929"/>
            <a:ext cx="6481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25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Rotation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745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Rotating </a:t>
            </a: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f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(</a:t>
            </a: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x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, </a:t>
            </a: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y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) by </a:t>
            </a:r>
            <a:r>
              <a:rPr i="1" lang="en-US" sz="2800">
                <a:latin typeface="Cambria"/>
                <a:ea typeface="Cambria"/>
                <a:cs typeface="Cambria"/>
                <a:sym typeface="Cambria"/>
              </a:rPr>
              <a:t>θ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rotates </a:t>
            </a: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F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(</a:t>
            </a: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u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, </a:t>
            </a: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v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) by </a:t>
            </a:r>
            <a:r>
              <a:rPr i="1" lang="en-US" sz="2800">
                <a:latin typeface="Cambria"/>
                <a:ea typeface="Cambria"/>
                <a:cs typeface="Cambria"/>
                <a:sym typeface="Cambria"/>
              </a:rPr>
              <a:t>θ</a:t>
            </a:r>
            <a:endParaRPr sz="28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481" name="Google Shape;1481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0" y="2418358"/>
            <a:ext cx="1905000" cy="1906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2" name="Google Shape;1482;p1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9000" y="4468367"/>
            <a:ext cx="1905000" cy="1856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3" name="Google Shape;1483;p10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81800" y="2389396"/>
            <a:ext cx="1966441" cy="1905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4" name="Google Shape;1484;p10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81800" y="4468367"/>
            <a:ext cx="1959368" cy="18562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85" name="Google Shape;1485;p106"/>
          <p:cNvGrpSpPr/>
          <p:nvPr/>
        </p:nvGrpSpPr>
        <p:grpSpPr>
          <a:xfrm>
            <a:off x="5486400" y="3420617"/>
            <a:ext cx="990600" cy="114300"/>
            <a:chOff x="5486400" y="3420617"/>
            <a:chExt cx="990600" cy="114300"/>
          </a:xfrm>
        </p:grpSpPr>
        <p:sp>
          <p:nvSpPr>
            <p:cNvPr id="1486" name="Google Shape;1486;p106"/>
            <p:cNvSpPr/>
            <p:nvPr/>
          </p:nvSpPr>
          <p:spPr>
            <a:xfrm>
              <a:off x="5572125" y="3477767"/>
              <a:ext cx="819150" cy="0"/>
            </a:xfrm>
            <a:custGeom>
              <a:rect b="b" l="l" r="r" t="t"/>
              <a:pathLst>
                <a:path extrusionOk="0" h="120000" w="819150">
                  <a:moveTo>
                    <a:pt x="0" y="0"/>
                  </a:moveTo>
                  <a:lnTo>
                    <a:pt x="819150" y="0"/>
                  </a:lnTo>
                </a:path>
              </a:pathLst>
            </a:custGeom>
            <a:noFill/>
            <a:ln cap="flat" cmpd="sng" w="5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7" name="Google Shape;1487;p106"/>
            <p:cNvSpPr/>
            <p:nvPr/>
          </p:nvSpPr>
          <p:spPr>
            <a:xfrm>
              <a:off x="5486400" y="3420617"/>
              <a:ext cx="990600" cy="114300"/>
            </a:xfrm>
            <a:custGeom>
              <a:rect b="b" l="l" r="r" t="t"/>
              <a:pathLst>
                <a:path extrusionOk="0" h="114300" w="990600">
                  <a:moveTo>
                    <a:pt x="114300" y="0"/>
                  </a:moveTo>
                  <a:lnTo>
                    <a:pt x="0" y="57150"/>
                  </a:lnTo>
                  <a:lnTo>
                    <a:pt x="114300" y="114300"/>
                  </a:lnTo>
                  <a:lnTo>
                    <a:pt x="114300" y="0"/>
                  </a:lnTo>
                  <a:close/>
                </a:path>
                <a:path extrusionOk="0" h="114300" w="990600">
                  <a:moveTo>
                    <a:pt x="990600" y="57150"/>
                  </a:moveTo>
                  <a:lnTo>
                    <a:pt x="876300" y="0"/>
                  </a:lnTo>
                  <a:lnTo>
                    <a:pt x="876300" y="114300"/>
                  </a:lnTo>
                  <a:lnTo>
                    <a:pt x="990600" y="571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1488" name="Google Shape;1488;p106"/>
          <p:cNvGrpSpPr/>
          <p:nvPr/>
        </p:nvGrpSpPr>
        <p:grpSpPr>
          <a:xfrm>
            <a:off x="5486400" y="5325617"/>
            <a:ext cx="990600" cy="114300"/>
            <a:chOff x="5486400" y="5325617"/>
            <a:chExt cx="990600" cy="114300"/>
          </a:xfrm>
        </p:grpSpPr>
        <p:sp>
          <p:nvSpPr>
            <p:cNvPr id="1489" name="Google Shape;1489;p106"/>
            <p:cNvSpPr/>
            <p:nvPr/>
          </p:nvSpPr>
          <p:spPr>
            <a:xfrm>
              <a:off x="5572125" y="5382767"/>
              <a:ext cx="819150" cy="0"/>
            </a:xfrm>
            <a:custGeom>
              <a:rect b="b" l="l" r="r" t="t"/>
              <a:pathLst>
                <a:path extrusionOk="0" h="120000" w="819150">
                  <a:moveTo>
                    <a:pt x="0" y="0"/>
                  </a:moveTo>
                  <a:lnTo>
                    <a:pt x="819150" y="0"/>
                  </a:lnTo>
                </a:path>
              </a:pathLst>
            </a:custGeom>
            <a:noFill/>
            <a:ln cap="flat" cmpd="sng" w="5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0" name="Google Shape;1490;p106"/>
            <p:cNvSpPr/>
            <p:nvPr/>
          </p:nvSpPr>
          <p:spPr>
            <a:xfrm>
              <a:off x="5486400" y="5325617"/>
              <a:ext cx="990600" cy="114300"/>
            </a:xfrm>
            <a:custGeom>
              <a:rect b="b" l="l" r="r" t="t"/>
              <a:pathLst>
                <a:path extrusionOk="0" h="114300" w="990600">
                  <a:moveTo>
                    <a:pt x="114300" y="0"/>
                  </a:moveTo>
                  <a:lnTo>
                    <a:pt x="0" y="57150"/>
                  </a:lnTo>
                  <a:lnTo>
                    <a:pt x="114300" y="114300"/>
                  </a:lnTo>
                  <a:lnTo>
                    <a:pt x="114300" y="0"/>
                  </a:lnTo>
                  <a:close/>
                </a:path>
                <a:path extrusionOk="0" h="114300" w="990600">
                  <a:moveTo>
                    <a:pt x="990600" y="57150"/>
                  </a:moveTo>
                  <a:lnTo>
                    <a:pt x="876300" y="0"/>
                  </a:lnTo>
                  <a:lnTo>
                    <a:pt x="876300" y="114300"/>
                  </a:lnTo>
                  <a:lnTo>
                    <a:pt x="990600" y="571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491" name="Google Shape;1491;p106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492" name="Google Shape;1492;p10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3" name="Google Shape;1493;p10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107"/>
          <p:cNvSpPr txBox="1"/>
          <p:nvPr>
            <p:ph idx="4294967295" type="title"/>
          </p:nvPr>
        </p:nvSpPr>
        <p:spPr>
          <a:xfrm>
            <a:off x="0" y="153150"/>
            <a:ext cx="12192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Properties of	 </a:t>
            </a:r>
            <a:r>
              <a:rPr b="1" lang="en-US">
                <a:latin typeface="Bell MT"/>
                <a:ea typeface="Bell MT"/>
                <a:cs typeface="Bell MT"/>
                <a:sym typeface="Bell MT"/>
              </a:rPr>
              <a:t>Fourier Transform</a:t>
            </a:r>
            <a:endParaRPr/>
          </a:p>
        </p:txBody>
      </p:sp>
      <p:sp>
        <p:nvSpPr>
          <p:cNvPr id="1499" name="Google Shape;1499;p107"/>
          <p:cNvSpPr txBox="1"/>
          <p:nvPr/>
        </p:nvSpPr>
        <p:spPr>
          <a:xfrm>
            <a:off x="688351" y="1139450"/>
            <a:ext cx="38598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Average Value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500" name="Google Shape;1500;p107"/>
          <p:cNvSpPr txBox="1"/>
          <p:nvPr>
            <p:ph idx="4294967295" type="ftr"/>
          </p:nvPr>
        </p:nvSpPr>
        <p:spPr>
          <a:xfrm>
            <a:off x="4398753" y="65139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501" name="Google Shape;1501;p10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02" name="Google Shape;1502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4412" y="1711400"/>
            <a:ext cx="8963175" cy="456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p108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08" name="Google Shape;1508;p108"/>
          <p:cNvSpPr txBox="1"/>
          <p:nvPr>
            <p:ph idx="4294967295" type="ftr"/>
          </p:nvPr>
        </p:nvSpPr>
        <p:spPr>
          <a:xfrm>
            <a:off x="4398753" y="655401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509" name="Google Shape;1509;p10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0" name="Google Shape;1510;p108"/>
          <p:cNvSpPr txBox="1"/>
          <p:nvPr/>
        </p:nvSpPr>
        <p:spPr>
          <a:xfrm>
            <a:off x="2945850" y="2874900"/>
            <a:ext cx="6300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End</a:t>
            </a:r>
            <a:endParaRPr b="1" sz="60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p109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16" name="Google Shape;1516;p109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17" name="Google Shape;1517;p109"/>
          <p:cNvSpPr txBox="1"/>
          <p:nvPr>
            <p:ph idx="4294967295" type="title"/>
          </p:nvPr>
        </p:nvSpPr>
        <p:spPr>
          <a:xfrm>
            <a:off x="0" y="153150"/>
            <a:ext cx="12192000" cy="624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B050"/>
                </a:solidFill>
              </a:rPr>
              <a:t>Appendix</a:t>
            </a:r>
            <a:r>
              <a:rPr lang="en-US"/>
              <a:t>: Theorem Proof</a:t>
            </a:r>
            <a:endParaRPr/>
          </a:p>
        </p:txBody>
      </p:sp>
      <p:sp>
        <p:nvSpPr>
          <p:cNvPr id="1518" name="Google Shape;1518;p109"/>
          <p:cNvSpPr txBox="1"/>
          <p:nvPr/>
        </p:nvSpPr>
        <p:spPr>
          <a:xfrm>
            <a:off x="510540" y="987044"/>
            <a:ext cx="11175900" cy="9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-342900" lvl="0" marL="381000" marR="3048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Theorem: </a:t>
            </a:r>
            <a:r>
              <a:rPr lang="en-US" sz="32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The integral of the product of odd and even functions is zero. </a:t>
            </a:r>
            <a:r>
              <a:rPr lang="en-US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i="1" lang="en-US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baseline="-25000" i="1" lang="en-US" sz="315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):even, </a:t>
            </a:r>
            <a:r>
              <a:rPr i="1" lang="en-US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baseline="-25000" i="1" lang="en-US" sz="315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): odd]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19" name="Google Shape;1519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2258475"/>
            <a:ext cx="11582399" cy="4021538"/>
          </a:xfrm>
          <a:prstGeom prst="rect">
            <a:avLst/>
          </a:prstGeom>
          <a:noFill/>
          <a:ln>
            <a:noFill/>
          </a:ln>
        </p:spPr>
      </p:pic>
      <p:sp>
        <p:nvSpPr>
          <p:cNvPr id="1520" name="Google Shape;1520;p109"/>
          <p:cNvSpPr txBox="1"/>
          <p:nvPr>
            <p:ph idx="11" type="ftr"/>
          </p:nvPr>
        </p:nvSpPr>
        <p:spPr>
          <a:xfrm>
            <a:off x="4398740" y="6553062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521" name="Google Shape;1521;p10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2" name="Google Shape;1522;p10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110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28" name="Google Shape;1528;p110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529" name="Google Shape;1529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288" y="1232059"/>
            <a:ext cx="9836726" cy="4402738"/>
          </a:xfrm>
          <a:prstGeom prst="rect">
            <a:avLst/>
          </a:prstGeom>
          <a:noFill/>
          <a:ln>
            <a:noFill/>
          </a:ln>
        </p:spPr>
      </p:pic>
      <p:sp>
        <p:nvSpPr>
          <p:cNvPr id="1530" name="Google Shape;1530;p110"/>
          <p:cNvSpPr txBox="1"/>
          <p:nvPr>
            <p:ph idx="4294967295" type="title"/>
          </p:nvPr>
        </p:nvSpPr>
        <p:spPr>
          <a:xfrm>
            <a:off x="0" y="153150"/>
            <a:ext cx="12192000" cy="624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Theorem Proof</a:t>
            </a:r>
            <a:endParaRPr/>
          </a:p>
        </p:txBody>
      </p:sp>
      <p:sp>
        <p:nvSpPr>
          <p:cNvPr id="1531" name="Google Shape;1531;p110"/>
          <p:cNvSpPr txBox="1"/>
          <p:nvPr>
            <p:ph idx="11" type="ftr"/>
          </p:nvPr>
        </p:nvSpPr>
        <p:spPr>
          <a:xfrm>
            <a:off x="4398740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532" name="Google Shape;1532;p11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33" name="Google Shape;1533;p11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111"/>
          <p:cNvSpPr/>
          <p:nvPr/>
        </p:nvSpPr>
        <p:spPr>
          <a:xfrm>
            <a:off x="0" y="6434328"/>
            <a:ext cx="12192000" cy="424179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39" name="Google Shape;1539;p111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40" name="Google Shape;1540;p111"/>
          <p:cNvSpPr txBox="1"/>
          <p:nvPr/>
        </p:nvSpPr>
        <p:spPr>
          <a:xfrm>
            <a:off x="576927" y="4832775"/>
            <a:ext cx="112977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Hence, the integral of	the </a:t>
            </a:r>
            <a:r>
              <a:rPr i="1" lang="en-US" sz="36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product of	</a:t>
            </a:r>
            <a:r>
              <a:rPr i="1" lang="en-US" sz="36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odd</a:t>
            </a:r>
            <a:r>
              <a:rPr i="1" lang="en-US" sz="36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and </a:t>
            </a:r>
            <a:r>
              <a:rPr i="1" lang="en-US" sz="36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even </a:t>
            </a:r>
            <a:r>
              <a:rPr lang="en-US" sz="36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functions is </a:t>
            </a:r>
            <a:r>
              <a:rPr lang="en-US" sz="36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zero</a:t>
            </a:r>
            <a:r>
              <a:rPr lang="en-US" sz="36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.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541" name="Google Shape;1541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921" y="1326138"/>
            <a:ext cx="10840237" cy="2547070"/>
          </a:xfrm>
          <a:prstGeom prst="rect">
            <a:avLst/>
          </a:prstGeom>
          <a:noFill/>
          <a:ln>
            <a:noFill/>
          </a:ln>
        </p:spPr>
      </p:pic>
      <p:sp>
        <p:nvSpPr>
          <p:cNvPr id="1542" name="Google Shape;1542;p111"/>
          <p:cNvSpPr txBox="1"/>
          <p:nvPr>
            <p:ph idx="4294967295" type="title"/>
          </p:nvPr>
        </p:nvSpPr>
        <p:spPr>
          <a:xfrm>
            <a:off x="0" y="153150"/>
            <a:ext cx="12192000" cy="624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Theorem Proof</a:t>
            </a:r>
            <a:endParaRPr/>
          </a:p>
        </p:txBody>
      </p:sp>
      <p:sp>
        <p:nvSpPr>
          <p:cNvPr id="1543" name="Google Shape;1543;p111"/>
          <p:cNvSpPr txBox="1"/>
          <p:nvPr>
            <p:ph idx="11" type="ftr"/>
          </p:nvPr>
        </p:nvSpPr>
        <p:spPr>
          <a:xfrm>
            <a:off x="4398753" y="6554024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1544" name="Google Shape;1544;p11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5" name="Google Shape;1545;p11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