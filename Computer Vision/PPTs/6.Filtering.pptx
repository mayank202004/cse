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y="6858000" cx="12192000"/>
  <p:notesSz cx="12192000" cy="6858000"/>
  <p:embeddedFontLst>
    <p:embeddedFont>
      <p:font typeface="Noto Sans Symbols"/>
      <p:regular r:id="rId50"/>
      <p:bold r:id="rId51"/>
    </p:embeddedFont>
    <p:embeddedFont>
      <p:font typeface="Bell MT"/>
      <p:regular r:id="rId52"/>
      <p:bold r:id="rId53"/>
      <p:italic r:id="rId54"/>
      <p:boldItalic r:id="rId55"/>
    </p:embeddedFont>
    <p:embeddedFont>
      <p:font typeface="Cambria Math"/>
      <p:regular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407BD2-0900-41C8-8F19-0FB04DCB6EF6}">
  <a:tblStyle styleId="{2B407BD2-0900-41C8-8F19-0FB04DCB6EF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NotoSansSymbols-bold.fntdata"/><Relationship Id="rId50" Type="http://schemas.openxmlformats.org/officeDocument/2006/relationships/font" Target="fonts/NotoSansSymbols-regular.fntdata"/><Relationship Id="rId53" Type="http://schemas.openxmlformats.org/officeDocument/2006/relationships/font" Target="fonts/BellMT-bold.fntdata"/><Relationship Id="rId52" Type="http://schemas.openxmlformats.org/officeDocument/2006/relationships/font" Target="fonts/BellMT-regular.fntdata"/><Relationship Id="rId11" Type="http://schemas.openxmlformats.org/officeDocument/2006/relationships/slide" Target="slides/slide5.xml"/><Relationship Id="rId55" Type="http://schemas.openxmlformats.org/officeDocument/2006/relationships/font" Target="fonts/BellMT-boldItalic.fntdata"/><Relationship Id="rId10" Type="http://schemas.openxmlformats.org/officeDocument/2006/relationships/slide" Target="slides/slide4.xml"/><Relationship Id="rId54" Type="http://schemas.openxmlformats.org/officeDocument/2006/relationships/font" Target="fonts/BellMT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schemas.openxmlformats.org/officeDocument/2006/relationships/font" Target="fonts/CambriaMath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5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5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6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6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6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6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6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6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6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6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6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6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6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7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7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7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7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7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7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7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7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7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7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7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7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7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7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7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7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7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7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8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8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8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8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8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8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8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8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8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8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8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8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8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8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8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8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8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8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8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8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9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9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9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9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29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9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9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9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9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9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9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9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29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29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29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29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29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29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9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29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30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0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636390" y="6551062"/>
            <a:ext cx="3394633" cy="19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" name="Google Shape;18;p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" name="Google Shape;19;p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" name="Google Shape;22;p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" name="Google Shape;26;p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" name="Google Shape;33;p6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0" y="153150"/>
            <a:ext cx="121920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0" y="1058675"/>
            <a:ext cx="12192000" cy="3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3636390" y="6551062"/>
            <a:ext cx="3394633" cy="19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205740" y="6547862"/>
            <a:ext cx="429005" cy="20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6.png"/><Relationship Id="rId11" Type="http://schemas.openxmlformats.org/officeDocument/2006/relationships/image" Target="../media/image14.jpg"/><Relationship Id="rId10" Type="http://schemas.openxmlformats.org/officeDocument/2006/relationships/image" Target="../media/image13.png"/><Relationship Id="rId12" Type="http://schemas.openxmlformats.org/officeDocument/2006/relationships/image" Target="../media/image9.jpg"/><Relationship Id="rId9" Type="http://schemas.openxmlformats.org/officeDocument/2006/relationships/image" Target="../media/image4.png"/><Relationship Id="rId5" Type="http://schemas.openxmlformats.org/officeDocument/2006/relationships/image" Target="../media/image18.png"/><Relationship Id="rId6" Type="http://schemas.openxmlformats.org/officeDocument/2006/relationships/hyperlink" Target="http://www.star-spain.com/en/blog/transittermstar-nxt-tooltips/filtering-data-records-termstar-nxt" TargetMode="External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37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29.png"/><Relationship Id="rId5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15.png"/><Relationship Id="rId5" Type="http://schemas.openxmlformats.org/officeDocument/2006/relationships/image" Target="../media/image35.png"/><Relationship Id="rId6" Type="http://schemas.openxmlformats.org/officeDocument/2006/relationships/image" Target="../media/image28.png"/><Relationship Id="rId7" Type="http://schemas.openxmlformats.org/officeDocument/2006/relationships/image" Target="../media/image30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Relationship Id="rId4" Type="http://schemas.openxmlformats.org/officeDocument/2006/relationships/image" Target="../media/image43.png"/></Relationships>
</file>

<file path=ppt/slides/_rels/slide15.xml.rels><?xml version="1.0" encoding="UTF-8" standalone="yes"?><Relationships xmlns="http://schemas.openxmlformats.org/package/2006/relationships"><Relationship Id="rId20" Type="http://schemas.openxmlformats.org/officeDocument/2006/relationships/image" Target="../media/image76.png"/><Relationship Id="rId11" Type="http://schemas.openxmlformats.org/officeDocument/2006/relationships/image" Target="../media/image51.png"/><Relationship Id="rId10" Type="http://schemas.openxmlformats.org/officeDocument/2006/relationships/image" Target="../media/image48.png"/><Relationship Id="rId13" Type="http://schemas.openxmlformats.org/officeDocument/2006/relationships/image" Target="../media/image57.png"/><Relationship Id="rId1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Relationship Id="rId4" Type="http://schemas.openxmlformats.org/officeDocument/2006/relationships/image" Target="../media/image44.png"/><Relationship Id="rId9" Type="http://schemas.openxmlformats.org/officeDocument/2006/relationships/image" Target="../media/image46.png"/><Relationship Id="rId15" Type="http://schemas.openxmlformats.org/officeDocument/2006/relationships/image" Target="../media/image62.png"/><Relationship Id="rId14" Type="http://schemas.openxmlformats.org/officeDocument/2006/relationships/image" Target="../media/image58.png"/><Relationship Id="rId17" Type="http://schemas.openxmlformats.org/officeDocument/2006/relationships/image" Target="../media/image63.png"/><Relationship Id="rId16" Type="http://schemas.openxmlformats.org/officeDocument/2006/relationships/image" Target="../media/image61.png"/><Relationship Id="rId5" Type="http://schemas.openxmlformats.org/officeDocument/2006/relationships/image" Target="../media/image32.png"/><Relationship Id="rId19" Type="http://schemas.openxmlformats.org/officeDocument/2006/relationships/image" Target="../media/image64.png"/><Relationship Id="rId6" Type="http://schemas.openxmlformats.org/officeDocument/2006/relationships/image" Target="../media/image45.png"/><Relationship Id="rId18" Type="http://schemas.openxmlformats.org/officeDocument/2006/relationships/image" Target="../media/image59.png"/><Relationship Id="rId7" Type="http://schemas.openxmlformats.org/officeDocument/2006/relationships/image" Target="../media/image49.png"/><Relationship Id="rId8" Type="http://schemas.openxmlformats.org/officeDocument/2006/relationships/image" Target="../media/image4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4.png"/><Relationship Id="rId4" Type="http://schemas.openxmlformats.org/officeDocument/2006/relationships/image" Target="../media/image70.png"/><Relationship Id="rId5" Type="http://schemas.openxmlformats.org/officeDocument/2006/relationships/image" Target="../media/image6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5.jpg"/><Relationship Id="rId4" Type="http://schemas.openxmlformats.org/officeDocument/2006/relationships/image" Target="../media/image82.jpg"/><Relationship Id="rId5" Type="http://schemas.openxmlformats.org/officeDocument/2006/relationships/image" Target="../media/image7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5.png"/><Relationship Id="rId4" Type="http://schemas.openxmlformats.org/officeDocument/2006/relationships/image" Target="../media/image8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5.jpg"/><Relationship Id="rId4" Type="http://schemas.openxmlformats.org/officeDocument/2006/relationships/image" Target="../media/image73.jpg"/><Relationship Id="rId5" Type="http://schemas.openxmlformats.org/officeDocument/2006/relationships/image" Target="../media/image6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0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1.png"/><Relationship Id="rId4" Type="http://schemas.openxmlformats.org/officeDocument/2006/relationships/image" Target="../media/image8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3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3.jpg"/><Relationship Id="rId4" Type="http://schemas.openxmlformats.org/officeDocument/2006/relationships/image" Target="../media/image80.jpg"/><Relationship Id="rId5" Type="http://schemas.openxmlformats.org/officeDocument/2006/relationships/image" Target="../media/image78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" name="Google Shape;40;p7"/>
          <p:cNvSpPr txBox="1"/>
          <p:nvPr>
            <p:ph idx="4294967295" type="body"/>
          </p:nvPr>
        </p:nvSpPr>
        <p:spPr>
          <a:xfrm>
            <a:off x="0" y="1887750"/>
            <a:ext cx="121920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79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 Filtering</a:t>
            </a:r>
            <a:endParaRPr/>
          </a:p>
          <a:p>
            <a:pPr indent="0" lvl="0" marL="3046730" rtl="0" algn="ctr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None/>
            </a:pPr>
            <a:r>
              <a:t/>
            </a:r>
            <a:endParaRPr b="0" sz="4000">
              <a:solidFill>
                <a:srgbClr val="00B05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None/>
            </a:pPr>
            <a:r>
              <a:rPr b="0" lang="en-US" sz="4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Part – 1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1" name="Google Shape;41;p7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9" name="Google Shape;49;p8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" name="Google Shape;50;p8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image filtering?</a:t>
            </a:r>
            <a:endParaRPr/>
          </a:p>
        </p:txBody>
      </p:sp>
      <p:pic>
        <p:nvPicPr>
          <p:cNvPr id="51" name="Google Shape;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0936" y="2255520"/>
            <a:ext cx="3240133" cy="34785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8"/>
          <p:cNvGrpSpPr/>
          <p:nvPr/>
        </p:nvGrpSpPr>
        <p:grpSpPr>
          <a:xfrm>
            <a:off x="2927604" y="1915667"/>
            <a:ext cx="1315211" cy="4261103"/>
            <a:chOff x="2927604" y="1915667"/>
            <a:chExt cx="1315211" cy="4261103"/>
          </a:xfrm>
        </p:grpSpPr>
        <p:pic>
          <p:nvPicPr>
            <p:cNvPr id="53" name="Google Shape;53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30651" y="1915667"/>
              <a:ext cx="1307591" cy="13075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Google Shape;54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7604" y="4867655"/>
              <a:ext cx="1315211" cy="13091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" name="Google Shape;55;p8"/>
          <p:cNvSpPr txBox="1"/>
          <p:nvPr/>
        </p:nvSpPr>
        <p:spPr>
          <a:xfrm>
            <a:off x="4223757" y="2859822"/>
            <a:ext cx="542925" cy="773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8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Input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marR="137160" rtl="0" algn="l">
              <a:lnSpc>
                <a:spcPct val="12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(Noisy image)</a:t>
            </a:r>
            <a:endParaRPr sz="11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6" name="Google Shape;56;p8"/>
          <p:cNvSpPr txBox="1"/>
          <p:nvPr/>
        </p:nvSpPr>
        <p:spPr>
          <a:xfrm>
            <a:off x="592276" y="5694550"/>
            <a:ext cx="8022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975">
            <a:spAutoFit/>
          </a:bodyPr>
          <a:lstStyle/>
          <a:p>
            <a:pPr indent="0" lvl="0" marL="0" marR="96011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                 </a:t>
            </a: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Output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None/>
            </a:pPr>
            <a:r>
              <a:rPr b="1" i="1" lang="en-US" sz="11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Filter Image source: </a:t>
            </a:r>
            <a:r>
              <a:rPr i="1" lang="en-US" sz="11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https://</a:t>
            </a:r>
            <a:r>
              <a:rPr i="1" lang="en-US" sz="11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www.star-spain.com/en/blog/transittermstar-nxt-tooltips/filtering-data-records-termstar-nxt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" name="Google Shape;57;p8"/>
          <p:cNvGrpSpPr/>
          <p:nvPr/>
        </p:nvGrpSpPr>
        <p:grpSpPr>
          <a:xfrm>
            <a:off x="2165942" y="3204982"/>
            <a:ext cx="1632015" cy="1897379"/>
            <a:chOff x="2238755" y="3204972"/>
            <a:chExt cx="1559051" cy="1897379"/>
          </a:xfrm>
        </p:grpSpPr>
        <p:pic>
          <p:nvPicPr>
            <p:cNvPr id="58" name="Google Shape;58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72611" y="3204972"/>
              <a:ext cx="425195" cy="18973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" name="Google Shape;59;p8"/>
            <p:cNvSpPr/>
            <p:nvPr/>
          </p:nvSpPr>
          <p:spPr>
            <a:xfrm>
              <a:off x="3585209" y="3224022"/>
              <a:ext cx="0" cy="1605915"/>
            </a:xfrm>
            <a:custGeom>
              <a:rect b="b" l="l" r="r" t="t"/>
              <a:pathLst>
                <a:path extrusionOk="0" h="1605914" w="120000">
                  <a:moveTo>
                    <a:pt x="0" y="0"/>
                  </a:moveTo>
                  <a:lnTo>
                    <a:pt x="0" y="1605788"/>
                  </a:lnTo>
                </a:path>
              </a:pathLst>
            </a:custGeom>
            <a:noFill/>
            <a:ln cap="flat" cmpd="sng" w="38100">
              <a:solidFill>
                <a:srgbClr val="8064A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" name="Google Shape;60;p8"/>
            <p:cNvSpPr/>
            <p:nvPr/>
          </p:nvSpPr>
          <p:spPr>
            <a:xfrm>
              <a:off x="3518542" y="4715515"/>
              <a:ext cx="133350" cy="114300"/>
            </a:xfrm>
            <a:custGeom>
              <a:rect b="b" l="l" r="r" t="t"/>
              <a:pathLst>
                <a:path extrusionOk="0" h="114300" w="133350">
                  <a:moveTo>
                    <a:pt x="133350" y="0"/>
                  </a:moveTo>
                  <a:lnTo>
                    <a:pt x="66675" y="11430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8064A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1" name="Google Shape;61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238755" y="3832859"/>
              <a:ext cx="1289303" cy="7406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2;p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310384" y="3814572"/>
              <a:ext cx="1203959" cy="8397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285999" y="3860291"/>
              <a:ext cx="1194815" cy="6461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8"/>
          <p:cNvSpPr txBox="1"/>
          <p:nvPr/>
        </p:nvSpPr>
        <p:spPr>
          <a:xfrm>
            <a:off x="2165850" y="3860300"/>
            <a:ext cx="1315200" cy="580500"/>
          </a:xfrm>
          <a:prstGeom prst="rect">
            <a:avLst/>
          </a:prstGeom>
          <a:noFill/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1270" lvl="0" marL="203834" marR="1974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953735"/>
                </a:solidFill>
                <a:latin typeface="Bell MT"/>
                <a:ea typeface="Bell MT"/>
                <a:cs typeface="Bell MT"/>
                <a:sym typeface="Bell MT"/>
              </a:rPr>
              <a:t>Filtering operation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65" name="Google Shape;65;p8"/>
          <p:cNvGrpSpPr/>
          <p:nvPr/>
        </p:nvGrpSpPr>
        <p:grpSpPr>
          <a:xfrm>
            <a:off x="7848600" y="1915667"/>
            <a:ext cx="2135126" cy="4259580"/>
            <a:chOff x="7848600" y="1915667"/>
            <a:chExt cx="2135126" cy="4259580"/>
          </a:xfrm>
        </p:grpSpPr>
        <p:pic>
          <p:nvPicPr>
            <p:cNvPr id="66" name="Google Shape;66;p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848600" y="1915667"/>
              <a:ext cx="1324343" cy="13075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854696" y="4867656"/>
              <a:ext cx="1312163" cy="13075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322564" y="3204971"/>
              <a:ext cx="425195" cy="18973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8"/>
            <p:cNvSpPr/>
            <p:nvPr/>
          </p:nvSpPr>
          <p:spPr>
            <a:xfrm>
              <a:off x="8535162" y="3224021"/>
              <a:ext cx="0" cy="1605915"/>
            </a:xfrm>
            <a:custGeom>
              <a:rect b="b" l="l" r="r" t="t"/>
              <a:pathLst>
                <a:path extrusionOk="0" h="1605914" w="120000">
                  <a:moveTo>
                    <a:pt x="0" y="0"/>
                  </a:moveTo>
                  <a:lnTo>
                    <a:pt x="0" y="1605788"/>
                  </a:lnTo>
                </a:path>
              </a:pathLst>
            </a:custGeom>
            <a:noFill/>
            <a:ln cap="flat" cmpd="sng" w="38100">
              <a:solidFill>
                <a:srgbClr val="8064A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8468494" y="4715515"/>
              <a:ext cx="133350" cy="114300"/>
            </a:xfrm>
            <a:custGeom>
              <a:rect b="b" l="l" r="r" t="t"/>
              <a:pathLst>
                <a:path extrusionOk="0" h="114300" w="133350">
                  <a:moveTo>
                    <a:pt x="133350" y="0"/>
                  </a:moveTo>
                  <a:lnTo>
                    <a:pt x="66675" y="11430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8064A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1" name="Google Shape;71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587740" y="3832860"/>
              <a:ext cx="1289303" cy="7406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659376" y="3814575"/>
              <a:ext cx="1324350" cy="839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634983" y="3860291"/>
              <a:ext cx="1194816" cy="6461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8"/>
          <p:cNvSpPr txBox="1"/>
          <p:nvPr/>
        </p:nvSpPr>
        <p:spPr>
          <a:xfrm>
            <a:off x="9267780" y="2762947"/>
            <a:ext cx="834390" cy="773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8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Input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marR="5080" rtl="0" algn="l">
              <a:lnSpc>
                <a:spcPct val="12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(Image with poor contrast)</a:t>
            </a:r>
            <a:endParaRPr sz="11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5" name="Google Shape;75;p8"/>
          <p:cNvSpPr txBox="1"/>
          <p:nvPr/>
        </p:nvSpPr>
        <p:spPr>
          <a:xfrm>
            <a:off x="9289226" y="5795401"/>
            <a:ext cx="6991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Output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6" name="Google Shape;76;p8"/>
          <p:cNvSpPr txBox="1"/>
          <p:nvPr/>
        </p:nvSpPr>
        <p:spPr>
          <a:xfrm>
            <a:off x="8634975" y="3860300"/>
            <a:ext cx="1199700" cy="580500"/>
          </a:xfrm>
          <a:prstGeom prst="rect">
            <a:avLst/>
          </a:prstGeom>
          <a:noFill/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1270" lvl="0" marL="204470" marR="1974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953735"/>
                </a:solidFill>
                <a:latin typeface="Bell MT"/>
                <a:ea typeface="Bell MT"/>
                <a:cs typeface="Bell MT"/>
                <a:sym typeface="Bell MT"/>
              </a:rPr>
              <a:t>Filtering operation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7" name="Google Shape;77;p8"/>
          <p:cNvSpPr txBox="1"/>
          <p:nvPr/>
        </p:nvSpPr>
        <p:spPr>
          <a:xfrm>
            <a:off x="304790" y="1069610"/>
            <a:ext cx="81192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6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Noto Sans Symbols"/>
              <a:buChar char="▪"/>
            </a:pPr>
            <a:r>
              <a:rPr lang="en-US" sz="2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Removal of </a:t>
            </a:r>
            <a:r>
              <a:rPr lang="en-US" sz="20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unwanted signal</a:t>
            </a:r>
            <a:r>
              <a:rPr lang="en-US" sz="20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000" u="none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or </a:t>
            </a:r>
            <a:r>
              <a:rPr lang="en-US" sz="20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undesirable characteristics</a:t>
            </a:r>
            <a:r>
              <a:rPr lang="en-US" sz="20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000" u="none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from the image.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Noto Sans Symbols"/>
              <a:buChar char="▪"/>
            </a:pPr>
            <a:r>
              <a:rPr lang="en-US" sz="2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It is used to </a:t>
            </a:r>
            <a:r>
              <a:rPr lang="en-US" sz="2000" u="sng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enhance</a:t>
            </a:r>
            <a:r>
              <a:rPr lang="en-US" sz="2000" u="none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 or </a:t>
            </a:r>
            <a:r>
              <a:rPr lang="en-US" sz="2000" u="sng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modify</a:t>
            </a:r>
            <a:r>
              <a:rPr lang="en-US" sz="2000" u="none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 the image.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8" name="Google Shape;78;p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8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6" name="Google Shape;86;p9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7" name="Google Shape;87;p9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image filtering?</a:t>
            </a:r>
            <a:endParaRPr/>
          </a:p>
        </p:txBody>
      </p:sp>
      <p:sp>
        <p:nvSpPr>
          <p:cNvPr id="88" name="Google Shape;88;p9"/>
          <p:cNvSpPr txBox="1"/>
          <p:nvPr/>
        </p:nvSpPr>
        <p:spPr>
          <a:xfrm>
            <a:off x="688352" y="1075450"/>
            <a:ext cx="9186600" cy="8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▪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The term “filtering” basically comes from frequency domain.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▪"/>
            </a:pPr>
            <a:r>
              <a:rPr lang="en-US" sz="24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Formation of a new image</a:t>
            </a:r>
            <a:r>
              <a:rPr lang="en-US" sz="24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400" u="none">
                <a:latin typeface="Bell MT"/>
                <a:ea typeface="Bell MT"/>
                <a:cs typeface="Bell MT"/>
                <a:sym typeface="Bell MT"/>
              </a:rPr>
              <a:t>by applying </a:t>
            </a:r>
            <a:r>
              <a:rPr lang="en-US" sz="24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filter</a:t>
            </a:r>
            <a:r>
              <a:rPr lang="en-US" sz="24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4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on input image.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9" name="Google Shape;89;p9"/>
          <p:cNvSpPr txBox="1"/>
          <p:nvPr/>
        </p:nvSpPr>
        <p:spPr>
          <a:xfrm>
            <a:off x="1869441" y="3472530"/>
            <a:ext cx="793115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775">
            <a:spAutoFit/>
          </a:bodyPr>
          <a:lstStyle/>
          <a:p>
            <a:pPr indent="0" lvl="0" marL="2019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f(x,y)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image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9"/>
          <p:cNvSpPr txBox="1"/>
          <p:nvPr/>
        </p:nvSpPr>
        <p:spPr>
          <a:xfrm>
            <a:off x="9350909" y="3590145"/>
            <a:ext cx="948055" cy="567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0" lvl="0" marL="0" marR="4000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g(x,y)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Filtered image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5703" y="2286000"/>
            <a:ext cx="2377439" cy="1584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4743" y="2286000"/>
            <a:ext cx="2377439" cy="15849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9"/>
          <p:cNvGrpSpPr/>
          <p:nvPr/>
        </p:nvGrpSpPr>
        <p:grpSpPr>
          <a:xfrm>
            <a:off x="5474208" y="2929127"/>
            <a:ext cx="1007744" cy="457200"/>
            <a:chOff x="5474208" y="2929127"/>
            <a:chExt cx="1007744" cy="457200"/>
          </a:xfrm>
        </p:grpSpPr>
        <p:sp>
          <p:nvSpPr>
            <p:cNvPr id="94" name="Google Shape;94;p9"/>
            <p:cNvSpPr/>
            <p:nvPr/>
          </p:nvSpPr>
          <p:spPr>
            <a:xfrm>
              <a:off x="5474208" y="2929127"/>
              <a:ext cx="1007744" cy="457200"/>
            </a:xfrm>
            <a:custGeom>
              <a:rect b="b" l="l" r="r" t="t"/>
              <a:pathLst>
                <a:path extrusionOk="0" h="457200" w="1007745">
                  <a:moveTo>
                    <a:pt x="683514" y="0"/>
                  </a:moveTo>
                  <a:lnTo>
                    <a:pt x="683514" y="114300"/>
                  </a:lnTo>
                  <a:lnTo>
                    <a:pt x="0" y="114300"/>
                  </a:lnTo>
                  <a:lnTo>
                    <a:pt x="0" y="342900"/>
                  </a:lnTo>
                  <a:lnTo>
                    <a:pt x="683514" y="342900"/>
                  </a:lnTo>
                  <a:lnTo>
                    <a:pt x="683514" y="457200"/>
                  </a:lnTo>
                  <a:lnTo>
                    <a:pt x="1007363" y="228600"/>
                  </a:lnTo>
                  <a:lnTo>
                    <a:pt x="683514" y="0"/>
                  </a:lnTo>
                  <a:close/>
                </a:path>
              </a:pathLst>
            </a:custGeom>
            <a:solidFill>
              <a:srgbClr val="4F81B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" name="Google Shape;95;p9"/>
            <p:cNvSpPr/>
            <p:nvPr/>
          </p:nvSpPr>
          <p:spPr>
            <a:xfrm>
              <a:off x="5474208" y="2929127"/>
              <a:ext cx="1007744" cy="457200"/>
            </a:xfrm>
            <a:custGeom>
              <a:rect b="b" l="l" r="r" t="t"/>
              <a:pathLst>
                <a:path extrusionOk="0" h="457200" w="1007745">
                  <a:moveTo>
                    <a:pt x="0" y="114300"/>
                  </a:moveTo>
                  <a:lnTo>
                    <a:pt x="683514" y="114300"/>
                  </a:lnTo>
                  <a:lnTo>
                    <a:pt x="683514" y="0"/>
                  </a:lnTo>
                  <a:lnTo>
                    <a:pt x="1007363" y="228600"/>
                  </a:lnTo>
                  <a:lnTo>
                    <a:pt x="683514" y="457200"/>
                  </a:lnTo>
                  <a:lnTo>
                    <a:pt x="683514" y="342900"/>
                  </a:lnTo>
                  <a:lnTo>
                    <a:pt x="0" y="34290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6" name="Google Shape;96;p9"/>
          <p:cNvSpPr txBox="1"/>
          <p:nvPr/>
        </p:nvSpPr>
        <p:spPr>
          <a:xfrm>
            <a:off x="5545622" y="2596993"/>
            <a:ext cx="8655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Filtering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" name="Google Shape;9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65704" y="3947159"/>
            <a:ext cx="2373630" cy="1801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5704" y="3947159"/>
            <a:ext cx="2366231" cy="17754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" name="Google Shape;99;p9"/>
          <p:cNvGrpSpPr/>
          <p:nvPr/>
        </p:nvGrpSpPr>
        <p:grpSpPr>
          <a:xfrm>
            <a:off x="5472684" y="4632959"/>
            <a:ext cx="1010919" cy="457200"/>
            <a:chOff x="5472684" y="4632959"/>
            <a:chExt cx="1010919" cy="457200"/>
          </a:xfrm>
        </p:grpSpPr>
        <p:sp>
          <p:nvSpPr>
            <p:cNvPr id="100" name="Google Shape;100;p9"/>
            <p:cNvSpPr/>
            <p:nvPr/>
          </p:nvSpPr>
          <p:spPr>
            <a:xfrm>
              <a:off x="5472684" y="4632959"/>
              <a:ext cx="1010919" cy="457200"/>
            </a:xfrm>
            <a:custGeom>
              <a:rect b="b" l="l" r="r" t="t"/>
              <a:pathLst>
                <a:path extrusionOk="0" h="457200" w="1010920">
                  <a:moveTo>
                    <a:pt x="686562" y="0"/>
                  </a:moveTo>
                  <a:lnTo>
                    <a:pt x="686562" y="114300"/>
                  </a:lnTo>
                  <a:lnTo>
                    <a:pt x="0" y="114300"/>
                  </a:lnTo>
                  <a:lnTo>
                    <a:pt x="0" y="342900"/>
                  </a:lnTo>
                  <a:lnTo>
                    <a:pt x="686562" y="342900"/>
                  </a:lnTo>
                  <a:lnTo>
                    <a:pt x="686562" y="457200"/>
                  </a:lnTo>
                  <a:lnTo>
                    <a:pt x="1010412" y="228600"/>
                  </a:lnTo>
                  <a:lnTo>
                    <a:pt x="686562" y="0"/>
                  </a:lnTo>
                  <a:close/>
                </a:path>
              </a:pathLst>
            </a:custGeom>
            <a:solidFill>
              <a:srgbClr val="4F81B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5472684" y="4632959"/>
              <a:ext cx="1010919" cy="457200"/>
            </a:xfrm>
            <a:custGeom>
              <a:rect b="b" l="l" r="r" t="t"/>
              <a:pathLst>
                <a:path extrusionOk="0" h="457200" w="1010920">
                  <a:moveTo>
                    <a:pt x="0" y="114300"/>
                  </a:moveTo>
                  <a:lnTo>
                    <a:pt x="686562" y="114300"/>
                  </a:lnTo>
                  <a:lnTo>
                    <a:pt x="686562" y="0"/>
                  </a:lnTo>
                  <a:lnTo>
                    <a:pt x="1010412" y="228600"/>
                  </a:lnTo>
                  <a:lnTo>
                    <a:pt x="686562" y="457200"/>
                  </a:lnTo>
                  <a:lnTo>
                    <a:pt x="686562" y="342900"/>
                  </a:lnTo>
                  <a:lnTo>
                    <a:pt x="0" y="34290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2" name="Google Shape;102;p9"/>
          <p:cNvSpPr txBox="1"/>
          <p:nvPr/>
        </p:nvSpPr>
        <p:spPr>
          <a:xfrm>
            <a:off x="5545621" y="4273393"/>
            <a:ext cx="8655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Filtering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9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1" name="Google Shape;111;p10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2" name="Google Shape;112;p10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 Filtering Methods</a:t>
            </a:r>
            <a:endParaRPr/>
          </a:p>
        </p:txBody>
      </p:sp>
      <p:sp>
        <p:nvSpPr>
          <p:cNvPr id="113" name="Google Shape;113;p10"/>
          <p:cNvSpPr txBox="1"/>
          <p:nvPr/>
        </p:nvSpPr>
        <p:spPr>
          <a:xfrm>
            <a:off x="688340" y="987045"/>
            <a:ext cx="291782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Spatial Domain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4" name="Google Shape;114;p10"/>
          <p:cNvSpPr txBox="1"/>
          <p:nvPr/>
        </p:nvSpPr>
        <p:spPr>
          <a:xfrm>
            <a:off x="688340" y="3108453"/>
            <a:ext cx="745299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Frequency Domain (</a:t>
            </a:r>
            <a:r>
              <a:rPr i="1"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i.e., </a:t>
            </a:r>
            <a:r>
              <a:rPr i="1"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use of	Fourier Transform</a:t>
            </a: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15" name="Google Shape;1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6065" y="4309573"/>
            <a:ext cx="7436321" cy="1093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2800" y="1447800"/>
            <a:ext cx="1219199" cy="1540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48277" y="1936051"/>
            <a:ext cx="1152523" cy="607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0" y="1760129"/>
            <a:ext cx="1018131" cy="88489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0"/>
          <p:cNvSpPr txBox="1"/>
          <p:nvPr/>
        </p:nvSpPr>
        <p:spPr>
          <a:xfrm>
            <a:off x="1639545" y="6239266"/>
            <a:ext cx="7607300" cy="18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Image source: Rafael C. </a:t>
            </a:r>
            <a:r>
              <a:rPr b="1"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Gonzalez </a:t>
            </a:r>
            <a:r>
              <a:rPr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and Richard E. Woods </a:t>
            </a:r>
            <a:r>
              <a:rPr b="1"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Digital Image Processing, 3</a:t>
            </a:r>
            <a:r>
              <a:rPr b="1" baseline="30000"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rd </a:t>
            </a:r>
            <a:r>
              <a:rPr b="1"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edition</a:t>
            </a:r>
            <a:r>
              <a:rPr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, Pearson Education, ISBN: 978-81-317-2695-2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1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10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Spatial Domain Methods</a:t>
            </a:r>
            <a:endParaRPr/>
          </a:p>
        </p:txBody>
      </p:sp>
      <p:sp>
        <p:nvSpPr>
          <p:cNvPr id="128" name="Google Shape;128;p11"/>
          <p:cNvSpPr txBox="1"/>
          <p:nvPr/>
        </p:nvSpPr>
        <p:spPr>
          <a:xfrm>
            <a:off x="3215641" y="4552846"/>
            <a:ext cx="4364355" cy="92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52400" rtl="0" algn="l">
              <a:lnSpc>
                <a:spcPct val="695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EECE1"/>
                </a:solidFill>
                <a:latin typeface="Bell MT"/>
                <a:ea typeface="Bell MT"/>
                <a:cs typeface="Bell MT"/>
                <a:sym typeface="Bell MT"/>
              </a:rPr>
              <a:t>f(x,y)	</a:t>
            </a:r>
            <a:r>
              <a:rPr baseline="-25000" lang="en-US" sz="2100">
                <a:solidFill>
                  <a:srgbClr val="EEECE1"/>
                </a:solidFill>
                <a:latin typeface="Bell MT"/>
                <a:ea typeface="Bell MT"/>
                <a:cs typeface="Bell MT"/>
                <a:sym typeface="Bell MT"/>
              </a:rPr>
              <a:t>g(x</a:t>
            </a:r>
            <a:endParaRPr baseline="-25000" sz="21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EECE1"/>
                </a:solidFill>
                <a:latin typeface="Bell MT"/>
                <a:ea typeface="Bell MT"/>
                <a:cs typeface="Bell MT"/>
                <a:sym typeface="Bell MT"/>
              </a:rPr>
              <a:t>f(x,y)	</a:t>
            </a:r>
            <a:r>
              <a:rPr baseline="30000" lang="en-US" sz="2100">
                <a:solidFill>
                  <a:srgbClr val="EEECE1"/>
                </a:solidFill>
                <a:latin typeface="Bell MT"/>
                <a:ea typeface="Bell MT"/>
                <a:cs typeface="Bell MT"/>
                <a:sym typeface="Bell MT"/>
              </a:rPr>
              <a:t>g</a:t>
            </a:r>
            <a:endParaRPr baseline="30000" sz="21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29" name="Google Shape;12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4423" y="5760720"/>
            <a:ext cx="824483" cy="51358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1"/>
          <p:cNvSpPr txBox="1"/>
          <p:nvPr/>
        </p:nvSpPr>
        <p:spPr>
          <a:xfrm>
            <a:off x="3522553" y="5804408"/>
            <a:ext cx="327215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Area or Mask Processing Methods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31" name="Google Shape;131;p11"/>
          <p:cNvSpPr txBox="1"/>
          <p:nvPr/>
        </p:nvSpPr>
        <p:spPr>
          <a:xfrm>
            <a:off x="7528127" y="4540321"/>
            <a:ext cx="23691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EECE1"/>
                </a:solidFill>
                <a:latin typeface="Bell MT"/>
                <a:ea typeface="Bell MT"/>
                <a:cs typeface="Bell MT"/>
                <a:sym typeface="Bell MT"/>
              </a:rPr>
              <a:t>,y)	</a:t>
            </a:r>
            <a:r>
              <a:rPr i="1" lang="en-US" sz="1800">
                <a:latin typeface="Bell MT"/>
                <a:ea typeface="Bell MT"/>
                <a:cs typeface="Bell MT"/>
                <a:sym typeface="Bell MT"/>
              </a:rPr>
              <a:t>G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1800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,</a:t>
            </a:r>
            <a:r>
              <a:rPr i="1" lang="en-US" sz="1800">
                <a:latin typeface="Bell MT"/>
                <a:ea typeface="Bell MT"/>
                <a:cs typeface="Bell MT"/>
                <a:sym typeface="Bell MT"/>
              </a:rPr>
              <a:t>y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)=T[</a:t>
            </a:r>
            <a:r>
              <a:rPr i="1" lang="en-US" sz="1800">
                <a:latin typeface="Bell MT"/>
                <a:ea typeface="Bell MT"/>
                <a:cs typeface="Bell MT"/>
                <a:sym typeface="Bell MT"/>
              </a:rPr>
              <a:t>f 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1800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,</a:t>
            </a:r>
            <a:r>
              <a:rPr i="1" lang="en-US" sz="1800">
                <a:latin typeface="Bell MT"/>
                <a:ea typeface="Bell MT"/>
                <a:cs typeface="Bell MT"/>
                <a:sym typeface="Bell MT"/>
              </a:rPr>
              <a:t>y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)]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  <a:p>
            <a:pPr indent="0" lvl="0" marL="5753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T operates on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  <a:p>
            <a:pPr indent="0" lvl="0" marL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2100">
                <a:solidFill>
                  <a:srgbClr val="EEECE1"/>
                </a:solidFill>
                <a:latin typeface="Bell MT"/>
                <a:ea typeface="Bell MT"/>
                <a:cs typeface="Bell MT"/>
                <a:sym typeface="Bell MT"/>
              </a:rPr>
              <a:t>(x</a:t>
            </a: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neighborhood</a:t>
            </a: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of pixels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32" name="Google Shape;132;p11"/>
          <p:cNvSpPr txBox="1"/>
          <p:nvPr/>
        </p:nvSpPr>
        <p:spPr>
          <a:xfrm>
            <a:off x="3215641" y="2114714"/>
            <a:ext cx="4364355" cy="27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2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EECE1"/>
                </a:solidFill>
                <a:latin typeface="Bell MT"/>
                <a:ea typeface="Bell MT"/>
                <a:cs typeface="Bell MT"/>
                <a:sym typeface="Bell MT"/>
              </a:rPr>
              <a:t>f(x,y)	</a:t>
            </a:r>
            <a:r>
              <a:rPr baseline="30000" lang="en-US" sz="2100">
                <a:solidFill>
                  <a:srgbClr val="EEECE1"/>
                </a:solidFill>
                <a:latin typeface="Bell MT"/>
                <a:ea typeface="Bell MT"/>
                <a:cs typeface="Bell MT"/>
                <a:sym typeface="Bell MT"/>
              </a:rPr>
              <a:t>g</a:t>
            </a:r>
            <a:endParaRPr baseline="30000" sz="21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33" name="Google Shape;13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6916" y="1295400"/>
            <a:ext cx="4838699" cy="179984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1"/>
          <p:cNvSpPr txBox="1"/>
          <p:nvPr/>
        </p:nvSpPr>
        <p:spPr>
          <a:xfrm>
            <a:off x="7566225" y="1769000"/>
            <a:ext cx="27354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69265" rtl="0" algn="l">
              <a:lnSpc>
                <a:spcPct val="11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)=T[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)]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100">
                <a:solidFill>
                  <a:srgbClr val="EEECE1"/>
                </a:solidFill>
                <a:latin typeface="Bell MT"/>
                <a:ea typeface="Bell MT"/>
                <a:cs typeface="Bell MT"/>
                <a:sym typeface="Bell MT"/>
              </a:rPr>
              <a:t>(x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aseline="30000" lang="en-US" sz="2100">
                <a:solidFill>
                  <a:srgbClr val="EEECE1"/>
                </a:solidFill>
                <a:latin typeface="Bell MT"/>
                <a:ea typeface="Bell MT"/>
                <a:cs typeface="Bell MT"/>
                <a:sym typeface="Bell MT"/>
              </a:rPr>
              <a:t>,y)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operates on one pixel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35" name="Google Shape;135;p11"/>
          <p:cNvSpPr txBox="1"/>
          <p:nvPr/>
        </p:nvSpPr>
        <p:spPr>
          <a:xfrm>
            <a:off x="3245074" y="3108825"/>
            <a:ext cx="4800600" cy="8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6832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Point Processing Methods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35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Input image	                 Enhanced output image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36" name="Google Shape;13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75204" y="3986784"/>
            <a:ext cx="4800599" cy="178001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1"/>
          <p:cNvSpPr txBox="1"/>
          <p:nvPr/>
        </p:nvSpPr>
        <p:spPr>
          <a:xfrm>
            <a:off x="3176976" y="968575"/>
            <a:ext cx="5002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Input image	                  Enhanced output image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38" name="Google Shape;138;p1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11"/>
          <p:cNvSpPr txBox="1"/>
          <p:nvPr>
            <p:ph idx="4294967295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5" name="Google Shape;145;p12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6" name="Google Shape;146;p12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 Processing Methods</a:t>
            </a:r>
            <a:endParaRPr/>
          </a:p>
        </p:txBody>
      </p:sp>
      <p:sp>
        <p:nvSpPr>
          <p:cNvPr id="147" name="Google Shape;147;p12"/>
          <p:cNvSpPr txBox="1"/>
          <p:nvPr/>
        </p:nvSpPr>
        <p:spPr>
          <a:xfrm>
            <a:off x="304800" y="1169650"/>
            <a:ext cx="115824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Converting a 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given pixel</a:t>
            </a:r>
            <a:r>
              <a:rPr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value to a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new pixel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value based on some </a:t>
            </a:r>
            <a:r>
              <a:rPr i="1" lang="en-US" sz="2800" u="sng">
                <a:latin typeface="Bell MT"/>
                <a:ea typeface="Bell MT"/>
                <a:cs typeface="Bell MT"/>
                <a:sym typeface="Bell MT"/>
              </a:rPr>
              <a:t>predefined function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.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48" name="Google Shape;14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1400" y="1784604"/>
            <a:ext cx="4495812" cy="415899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1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12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7" name="Google Shape;157;p13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8" name="Google Shape;158;p13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 Processing Methods - </a:t>
            </a:r>
            <a:r>
              <a:rPr i="1" lang="en-US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Examples</a:t>
            </a:r>
            <a:endParaRPr/>
          </a:p>
        </p:txBody>
      </p:sp>
      <p:pic>
        <p:nvPicPr>
          <p:cNvPr id="159" name="Google Shape;1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247" y="1383791"/>
            <a:ext cx="2161131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3"/>
          <p:cNvSpPr txBox="1"/>
          <p:nvPr/>
        </p:nvSpPr>
        <p:spPr>
          <a:xfrm>
            <a:off x="2136141" y="1041368"/>
            <a:ext cx="4154804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Negative	Contrast stretching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61" name="Google Shape;161;p13"/>
          <p:cNvSpPr txBox="1"/>
          <p:nvPr/>
        </p:nvSpPr>
        <p:spPr>
          <a:xfrm>
            <a:off x="7121056" y="1254162"/>
            <a:ext cx="1584325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Thresholding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162" name="Google Shape;162;p13"/>
          <p:cNvGrpSpPr/>
          <p:nvPr/>
        </p:nvGrpSpPr>
        <p:grpSpPr>
          <a:xfrm>
            <a:off x="6897623" y="1040892"/>
            <a:ext cx="3698749" cy="2670048"/>
            <a:chOff x="6897623" y="1040892"/>
            <a:chExt cx="3698749" cy="2670048"/>
          </a:xfrm>
        </p:grpSpPr>
        <p:pic>
          <p:nvPicPr>
            <p:cNvPr id="163" name="Google Shape;163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97623" y="1600200"/>
              <a:ext cx="2057400" cy="15193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996172" y="2540508"/>
              <a:ext cx="1600200" cy="11704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996172" y="1040892"/>
              <a:ext cx="1600200" cy="13715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" name="Google Shape;166;p13"/>
          <p:cNvSpPr txBox="1"/>
          <p:nvPr/>
        </p:nvSpPr>
        <p:spPr>
          <a:xfrm>
            <a:off x="9521528" y="2223008"/>
            <a:ext cx="5429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Input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67" name="Google Shape;167;p13"/>
          <p:cNvSpPr txBox="1"/>
          <p:nvPr/>
        </p:nvSpPr>
        <p:spPr>
          <a:xfrm>
            <a:off x="9443804" y="3620896"/>
            <a:ext cx="6991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Output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1782504" y="3594607"/>
            <a:ext cx="5429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Input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69" name="Google Shape;169;p13"/>
          <p:cNvSpPr txBox="1"/>
          <p:nvPr/>
        </p:nvSpPr>
        <p:spPr>
          <a:xfrm>
            <a:off x="2912703" y="3594607"/>
            <a:ext cx="6991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Output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70" name="Google Shape;17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78223" y="1371600"/>
            <a:ext cx="2104194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3"/>
          <p:cNvSpPr txBox="1"/>
          <p:nvPr/>
        </p:nvSpPr>
        <p:spPr>
          <a:xfrm>
            <a:off x="4278882" y="3594607"/>
            <a:ext cx="5429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Input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5336614" y="3594607"/>
            <a:ext cx="6991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Output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73" name="Google Shape;173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51532" y="4191000"/>
            <a:ext cx="2525267" cy="1684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00800" y="4219955"/>
            <a:ext cx="2438399" cy="16261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13"/>
          <p:cNvGrpSpPr/>
          <p:nvPr/>
        </p:nvGrpSpPr>
        <p:grpSpPr>
          <a:xfrm>
            <a:off x="5141976" y="4957565"/>
            <a:ext cx="1067426" cy="152400"/>
            <a:chOff x="5141976" y="4957565"/>
            <a:chExt cx="1067426" cy="152400"/>
          </a:xfrm>
        </p:grpSpPr>
        <p:sp>
          <p:nvSpPr>
            <p:cNvPr id="176" name="Google Shape;176;p13"/>
            <p:cNvSpPr/>
            <p:nvPr/>
          </p:nvSpPr>
          <p:spPr>
            <a:xfrm>
              <a:off x="5141976" y="5033771"/>
              <a:ext cx="952500" cy="0"/>
            </a:xfrm>
            <a:custGeom>
              <a:rect b="b" l="l" r="r" t="t"/>
              <a:pathLst>
                <a:path extrusionOk="0" h="120000" w="952500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" name="Google Shape;177;p13"/>
            <p:cNvSpPr/>
            <p:nvPr/>
          </p:nvSpPr>
          <p:spPr>
            <a:xfrm>
              <a:off x="6056367" y="4957565"/>
              <a:ext cx="153035" cy="152400"/>
            </a:xfrm>
            <a:custGeom>
              <a:rect b="b" l="l" r="r" t="t"/>
              <a:pathLst>
                <a:path extrusionOk="0" h="152400" w="153035">
                  <a:moveTo>
                    <a:pt x="12" y="0"/>
                  </a:moveTo>
                  <a:lnTo>
                    <a:pt x="0" y="152399"/>
                  </a:lnTo>
                  <a:lnTo>
                    <a:pt x="152412" y="7621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8" name="Google Shape;178;p13"/>
          <p:cNvSpPr txBox="1"/>
          <p:nvPr/>
        </p:nvSpPr>
        <p:spPr>
          <a:xfrm>
            <a:off x="4907350" y="4254400"/>
            <a:ext cx="15843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97154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Histogram Equalization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79" name="Google Shape;179;p13"/>
          <p:cNvSpPr txBox="1"/>
          <p:nvPr/>
        </p:nvSpPr>
        <p:spPr>
          <a:xfrm>
            <a:off x="4955541" y="5461090"/>
            <a:ext cx="5429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Input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80" name="Google Shape;180;p13"/>
          <p:cNvSpPr txBox="1"/>
          <p:nvPr/>
        </p:nvSpPr>
        <p:spPr>
          <a:xfrm>
            <a:off x="8887690" y="5461090"/>
            <a:ext cx="6991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Output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81" name="Google Shape;181;p1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p1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13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9" name="Google Shape;189;p14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0" name="Google Shape;190;p14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Area </a:t>
            </a:r>
            <a:r>
              <a:rPr lang="en-US"/>
              <a:t>or </a:t>
            </a:r>
            <a:r>
              <a:rPr lang="en-US">
                <a:solidFill>
                  <a:srgbClr val="FF0000"/>
                </a:solidFill>
              </a:rPr>
              <a:t>Mask </a:t>
            </a:r>
            <a:r>
              <a:rPr lang="en-US"/>
              <a:t>Processing Methods</a:t>
            </a:r>
            <a:endParaRPr/>
          </a:p>
        </p:txBody>
      </p:sp>
      <p:sp>
        <p:nvSpPr>
          <p:cNvPr id="191" name="Google Shape;191;p14"/>
          <p:cNvSpPr txBox="1"/>
          <p:nvPr/>
        </p:nvSpPr>
        <p:spPr>
          <a:xfrm>
            <a:off x="688340" y="952159"/>
            <a:ext cx="3024505" cy="1513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38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Need to define: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i="1" lang="en-US" sz="2400">
                <a:latin typeface="Bell MT"/>
                <a:ea typeface="Bell MT"/>
                <a:cs typeface="Bell MT"/>
                <a:sym typeface="Bell MT"/>
              </a:rPr>
              <a:t>Area shape and size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i="1" lang="en-US" sz="2400">
                <a:latin typeface="Bell MT"/>
                <a:ea typeface="Bell MT"/>
                <a:cs typeface="Bell MT"/>
                <a:sym typeface="Bell MT"/>
              </a:rPr>
              <a:t>Operation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92" name="Google Shape;1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3352800"/>
            <a:ext cx="5096255" cy="188632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4"/>
          <p:cNvSpPr txBox="1"/>
          <p:nvPr/>
        </p:nvSpPr>
        <p:spPr>
          <a:xfrm>
            <a:off x="4020106" y="3919000"/>
            <a:ext cx="6336000" cy="15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11797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Bell MT"/>
                <a:ea typeface="Bell MT"/>
                <a:cs typeface="Bell MT"/>
                <a:sym typeface="Bell MT"/>
              </a:rPr>
              <a:t>G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1800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,</a:t>
            </a:r>
            <a:r>
              <a:rPr i="1" lang="en-US" sz="1800">
                <a:latin typeface="Bell MT"/>
                <a:ea typeface="Bell MT"/>
                <a:cs typeface="Bell MT"/>
                <a:sym typeface="Bell MT"/>
              </a:rPr>
              <a:t>y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)=T[</a:t>
            </a:r>
            <a:r>
              <a:rPr i="1" lang="en-US" sz="1800">
                <a:latin typeface="Bell MT"/>
                <a:ea typeface="Bell MT"/>
                <a:cs typeface="Bell MT"/>
                <a:sym typeface="Bell MT"/>
              </a:rPr>
              <a:t>f 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1800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,</a:t>
            </a:r>
            <a:r>
              <a:rPr i="1" lang="en-US" sz="1800">
                <a:latin typeface="Bell MT"/>
                <a:ea typeface="Bell MT"/>
                <a:cs typeface="Bell MT"/>
                <a:sym typeface="Bell MT"/>
              </a:rPr>
              <a:t>y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)]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  <a:p>
            <a:pPr indent="-3809" lvl="0" marL="413385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T operates on </a:t>
            </a: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neighborhood 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of pixels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54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Area or </a:t>
            </a: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Mask 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Processing Methods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94" name="Google Shape;194;p14"/>
          <p:cNvSpPr txBox="1"/>
          <p:nvPr/>
        </p:nvSpPr>
        <p:spPr>
          <a:xfrm>
            <a:off x="3481753" y="3045291"/>
            <a:ext cx="11569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Input image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6285760" y="3045291"/>
            <a:ext cx="15640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Enhanced image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96" name="Google Shape;196;p1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1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14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4" name="Google Shape;204;p15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5" name="Google Shape;205;p15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Area Shape and Size</a:t>
            </a:r>
            <a:endParaRPr/>
          </a:p>
        </p:txBody>
      </p:sp>
      <p:sp>
        <p:nvSpPr>
          <p:cNvPr id="206" name="Google Shape;206;p15"/>
          <p:cNvSpPr txBox="1"/>
          <p:nvPr/>
        </p:nvSpPr>
        <p:spPr>
          <a:xfrm>
            <a:off x="688340" y="1063245"/>
            <a:ext cx="486727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Area shape is defined using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07" name="Google Shape;207;p15"/>
          <p:cNvSpPr txBox="1"/>
          <p:nvPr/>
        </p:nvSpPr>
        <p:spPr>
          <a:xfrm>
            <a:off x="5644896" y="1150619"/>
            <a:ext cx="960119" cy="4495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mask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08" name="Google Shape;208;p15"/>
          <p:cNvSpPr txBox="1"/>
          <p:nvPr/>
        </p:nvSpPr>
        <p:spPr>
          <a:xfrm>
            <a:off x="1043939" y="1638300"/>
            <a:ext cx="942340" cy="4495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shape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09" name="Google Shape;209;p15"/>
          <p:cNvSpPr txBox="1"/>
          <p:nvPr/>
        </p:nvSpPr>
        <p:spPr>
          <a:xfrm>
            <a:off x="1066801" y="2124700"/>
            <a:ext cx="61233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typically defined using a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square mask	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10" name="Google Shape;210;p15"/>
          <p:cNvSpPr txBox="1"/>
          <p:nvPr/>
        </p:nvSpPr>
        <p:spPr>
          <a:xfrm>
            <a:off x="750890" y="3063615"/>
            <a:ext cx="47421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Area size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is determined by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11" name="Google Shape;211;p15"/>
          <p:cNvSpPr txBox="1"/>
          <p:nvPr/>
        </p:nvSpPr>
        <p:spPr>
          <a:xfrm>
            <a:off x="5516879" y="3101339"/>
            <a:ext cx="960119" cy="4495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mask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12" name="Google Shape;212;p15"/>
          <p:cNvSpPr txBox="1"/>
          <p:nvPr/>
        </p:nvSpPr>
        <p:spPr>
          <a:xfrm>
            <a:off x="688354" y="3811775"/>
            <a:ext cx="6441300" cy="14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size, e.g., 3x3 or 5x5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4965" marR="5080" rtl="0" algn="l">
              <a:lnSpc>
                <a:spcPct val="100000"/>
              </a:lnSpc>
              <a:spcBef>
                <a:spcPts val="364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Mask size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is an important parameter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213" name="Google Shape;2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0" y="1016508"/>
            <a:ext cx="3729914" cy="329794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4" name="Google Shape;214;p15"/>
          <p:cNvGraphicFramePr/>
          <p:nvPr/>
        </p:nvGraphicFramePr>
        <p:xfrm>
          <a:off x="8268969" y="4337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{2B407BD2-0900-41C8-8F19-0FB04DCB6EF6}</a:tableStyleId>
              </a:tblPr>
              <a:tblGrid>
                <a:gridCol w="670550"/>
                <a:gridCol w="670550"/>
                <a:gridCol w="670550"/>
              </a:tblGrid>
              <a:tr h="609600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sp>
        <p:nvSpPr>
          <p:cNvPr id="215" name="Google Shape;215;p15"/>
          <p:cNvSpPr txBox="1"/>
          <p:nvPr/>
        </p:nvSpPr>
        <p:spPr>
          <a:xfrm>
            <a:off x="1664945" y="6267460"/>
            <a:ext cx="7556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9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Image source: Rafael C. </a:t>
            </a:r>
            <a:r>
              <a:rPr b="1"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Gonzalez </a:t>
            </a:r>
            <a:r>
              <a:rPr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and Richard E. Woods </a:t>
            </a:r>
            <a:r>
              <a:rPr b="1"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Digital Image Processing, 3</a:t>
            </a:r>
            <a:r>
              <a:rPr b="1" baseline="30000"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rd </a:t>
            </a:r>
            <a:r>
              <a:rPr b="1"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edition</a:t>
            </a:r>
            <a:r>
              <a:rPr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, Pearson Education, ISBN: 978-81-317-2695-2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7" name="Google Shape;217;p1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15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4" name="Google Shape;224;p16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5" name="Google Shape;225;p16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Operation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688350" y="1139450"/>
            <a:ext cx="6397500" cy="39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33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Typically</a:t>
            </a:r>
            <a:r>
              <a:rPr lang="en-US" sz="32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linear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combinations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of pixel values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.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477519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e.g., weight pixel values and add them together.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4965" marR="984885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Different results can be obtained using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different</a:t>
            </a:r>
            <a:r>
              <a:rPr lang="en-US" sz="32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weights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.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756285" rtl="0" algn="l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e.g., smoothing, sharpening, edge detection.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227" name="Google Shape;2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2800" y="1092708"/>
            <a:ext cx="4648198" cy="502005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6"/>
          <p:cNvSpPr txBox="1"/>
          <p:nvPr/>
        </p:nvSpPr>
        <p:spPr>
          <a:xfrm>
            <a:off x="1664945" y="6267460"/>
            <a:ext cx="7556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9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Image source: Rafael C. </a:t>
            </a:r>
            <a:r>
              <a:rPr b="1"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Gonzalez </a:t>
            </a:r>
            <a:r>
              <a:rPr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and Richard E. Woods </a:t>
            </a:r>
            <a:r>
              <a:rPr b="1"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Digital Image Processing, 3</a:t>
            </a:r>
            <a:r>
              <a:rPr b="1" baseline="30000"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rd </a:t>
            </a:r>
            <a:r>
              <a:rPr b="1"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edition</a:t>
            </a:r>
            <a:r>
              <a:rPr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, Pearson Education, ISBN: 978-81-317-2695-2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" name="Google Shape;230;p1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16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7" name="Google Shape;237;p17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8" name="Google Shape;238;p17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5720581" y="5310477"/>
            <a:ext cx="11906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Mask/Filter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40" name="Google Shape;240;p17"/>
          <p:cNvSpPr txBox="1"/>
          <p:nvPr/>
        </p:nvSpPr>
        <p:spPr>
          <a:xfrm>
            <a:off x="8066246" y="5310477"/>
            <a:ext cx="19272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Modified image data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41" name="Google Shape;241;p17"/>
          <p:cNvSpPr txBox="1"/>
          <p:nvPr/>
        </p:nvSpPr>
        <p:spPr>
          <a:xfrm>
            <a:off x="2748324" y="5310477"/>
            <a:ext cx="131953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8382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Local image neighborhood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242" name="Google Shape;242;p17"/>
          <p:cNvGrpSpPr/>
          <p:nvPr/>
        </p:nvGrpSpPr>
        <p:grpSpPr>
          <a:xfrm>
            <a:off x="7213092" y="4248911"/>
            <a:ext cx="966215" cy="361187"/>
            <a:chOff x="7213092" y="4248911"/>
            <a:chExt cx="966215" cy="361187"/>
          </a:xfrm>
        </p:grpSpPr>
        <p:pic>
          <p:nvPicPr>
            <p:cNvPr id="243" name="Google Shape;243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213092" y="4248911"/>
              <a:ext cx="966215" cy="3611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17"/>
            <p:cNvSpPr/>
            <p:nvPr/>
          </p:nvSpPr>
          <p:spPr>
            <a:xfrm>
              <a:off x="7239762" y="4400549"/>
              <a:ext cx="703580" cy="1905"/>
            </a:xfrm>
            <a:custGeom>
              <a:rect b="b" l="l" r="r" t="t"/>
              <a:pathLst>
                <a:path extrusionOk="0" h="1904" w="703579">
                  <a:moveTo>
                    <a:pt x="0" y="0"/>
                  </a:moveTo>
                  <a:lnTo>
                    <a:pt x="703224" y="1524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5" name="Google Shape;245;p17"/>
            <p:cNvSpPr/>
            <p:nvPr/>
          </p:nvSpPr>
          <p:spPr>
            <a:xfrm>
              <a:off x="7857162" y="4351878"/>
              <a:ext cx="86360" cy="100330"/>
            </a:xfrm>
            <a:custGeom>
              <a:rect b="b" l="l" r="r" t="t"/>
              <a:pathLst>
                <a:path extrusionOk="0" h="100329" w="86359">
                  <a:moveTo>
                    <a:pt x="215" y="0"/>
                  </a:moveTo>
                  <a:lnTo>
                    <a:pt x="85826" y="50190"/>
                  </a:lnTo>
                  <a:lnTo>
                    <a:pt x="0" y="100012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aphicFrame>
        <p:nvGraphicFramePr>
          <p:cNvPr id="246" name="Google Shape;246;p17"/>
          <p:cNvGraphicFramePr/>
          <p:nvPr/>
        </p:nvGraphicFramePr>
        <p:xfrm>
          <a:off x="5162310" y="1136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{2B407BD2-0900-41C8-8F19-0FB04DCB6EF6}</a:tableStyleId>
              </a:tblPr>
              <a:tblGrid>
                <a:gridCol w="670550"/>
                <a:gridCol w="670550"/>
                <a:gridCol w="670550"/>
              </a:tblGrid>
              <a:tr h="609600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7" name="Google Shape;247;p17"/>
          <p:cNvGraphicFramePr/>
          <p:nvPr/>
        </p:nvGraphicFramePr>
        <p:xfrm>
          <a:off x="2397362" y="34800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{2B407BD2-0900-41C8-8F19-0FB04DCB6EF6}</a:tableStyleId>
              </a:tblPr>
              <a:tblGrid>
                <a:gridCol w="670550"/>
                <a:gridCol w="670550"/>
                <a:gridCol w="670550"/>
                <a:gridCol w="778500"/>
                <a:gridCol w="670550"/>
                <a:gridCol w="670550"/>
                <a:gridCol w="670550"/>
              </a:tblGrid>
              <a:tr h="60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8" name="Google Shape;248;p17"/>
          <p:cNvGraphicFramePr/>
          <p:nvPr/>
        </p:nvGraphicFramePr>
        <p:xfrm>
          <a:off x="8017794" y="34800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{2B407BD2-0900-41C8-8F19-0FB04DCB6EF6}</a:tableStyleId>
              </a:tblPr>
              <a:tblGrid>
                <a:gridCol w="670550"/>
                <a:gridCol w="670550"/>
                <a:gridCol w="670550"/>
              </a:tblGrid>
              <a:tr h="60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A8A7"/>
                    </a:solidFill>
                  </a:tcPr>
                </a:tc>
              </a:tr>
            </a:tbl>
          </a:graphicData>
        </a:graphic>
      </p:graphicFrame>
      <p:grpSp>
        <p:nvGrpSpPr>
          <p:cNvPr id="249" name="Google Shape;249;p17"/>
          <p:cNvGrpSpPr/>
          <p:nvPr/>
        </p:nvGrpSpPr>
        <p:grpSpPr>
          <a:xfrm>
            <a:off x="4424171" y="4248911"/>
            <a:ext cx="966215" cy="361187"/>
            <a:chOff x="4424171" y="4248911"/>
            <a:chExt cx="966215" cy="361187"/>
          </a:xfrm>
        </p:grpSpPr>
        <p:pic>
          <p:nvPicPr>
            <p:cNvPr id="250" name="Google Shape;25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424171" y="4248911"/>
              <a:ext cx="966215" cy="3611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" name="Google Shape;251;p17"/>
            <p:cNvSpPr/>
            <p:nvPr/>
          </p:nvSpPr>
          <p:spPr>
            <a:xfrm>
              <a:off x="4450841" y="4400549"/>
              <a:ext cx="703580" cy="1905"/>
            </a:xfrm>
            <a:custGeom>
              <a:rect b="b" l="l" r="r" t="t"/>
              <a:pathLst>
                <a:path extrusionOk="0" h="1904" w="703579">
                  <a:moveTo>
                    <a:pt x="0" y="0"/>
                  </a:moveTo>
                  <a:lnTo>
                    <a:pt x="703224" y="1524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2" name="Google Shape;252;p17"/>
            <p:cNvSpPr/>
            <p:nvPr/>
          </p:nvSpPr>
          <p:spPr>
            <a:xfrm>
              <a:off x="5068242" y="4351878"/>
              <a:ext cx="86360" cy="100330"/>
            </a:xfrm>
            <a:custGeom>
              <a:rect b="b" l="l" r="r" t="t"/>
              <a:pathLst>
                <a:path extrusionOk="0" h="100329" w="86360">
                  <a:moveTo>
                    <a:pt x="215" y="0"/>
                  </a:moveTo>
                  <a:lnTo>
                    <a:pt x="85826" y="50190"/>
                  </a:lnTo>
                  <a:lnTo>
                    <a:pt x="0" y="100012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53" name="Google Shape;253;p17"/>
          <p:cNvSpPr txBox="1"/>
          <p:nvPr/>
        </p:nvSpPr>
        <p:spPr>
          <a:xfrm>
            <a:off x="3044856" y="3149075"/>
            <a:ext cx="6083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Image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54" name="Google Shape;254;p17"/>
          <p:cNvSpPr txBox="1"/>
          <p:nvPr/>
        </p:nvSpPr>
        <p:spPr>
          <a:xfrm>
            <a:off x="7327575" y="1604100"/>
            <a:ext cx="4276800" cy="8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0" lvl="0" marL="12700" marR="5080" rtl="0" algn="just">
              <a:lnSpc>
                <a:spcPct val="9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lang="en-US" sz="19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Weight matrix defines (is called) </a:t>
            </a:r>
            <a:r>
              <a:rPr lang="en-US" sz="19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filter</a:t>
            </a:r>
            <a:endParaRPr sz="1900">
              <a:solidFill>
                <a:srgbClr val="00B05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0" marR="5080" rtl="0" algn="just">
              <a:lnSpc>
                <a:spcPct val="9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B05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marR="48895" rtl="0" algn="l">
              <a:lnSpc>
                <a:spcPct val="945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i="1" lang="en-US" sz="1900">
                <a:solidFill>
                  <a:srgbClr val="00B05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lang="en-US" sz="19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Filter is also referred as mask, kernel</a:t>
            </a:r>
            <a:endParaRPr sz="19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55" name="Google Shape;255;p1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6" name="Google Shape;256;p1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7" name="Google Shape;257;p17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3" name="Google Shape;263;p18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4" name="Google Shape;264;p18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Linear Filtering – Examples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349652" y="1203000"/>
            <a:ext cx="66813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Following uses linear filtering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Correlation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Convolution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66" name="Google Shape;266;p1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" name="Google Shape;267;p1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18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4" name="Google Shape;274;p19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5" name="Google Shape;275;p19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Correlation</a:t>
            </a:r>
            <a:endParaRPr/>
          </a:p>
        </p:txBody>
      </p:sp>
      <p:sp>
        <p:nvSpPr>
          <p:cNvPr id="276" name="Google Shape;276;p19"/>
          <p:cNvSpPr txBox="1"/>
          <p:nvPr/>
        </p:nvSpPr>
        <p:spPr>
          <a:xfrm>
            <a:off x="612152" y="991625"/>
            <a:ext cx="112749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49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A filtered image is generated as the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center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 of	the mask (kernel or filter) visits every pixel in the input image.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277" name="Google Shape;2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8600" y="1905000"/>
            <a:ext cx="4561089" cy="90357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9"/>
          <p:cNvSpPr txBox="1"/>
          <p:nvPr/>
        </p:nvSpPr>
        <p:spPr>
          <a:xfrm>
            <a:off x="8473440" y="5497831"/>
            <a:ext cx="67246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filtered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2667000"/>
            <a:ext cx="7543798" cy="3538727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9"/>
          <p:cNvSpPr txBox="1"/>
          <p:nvPr/>
        </p:nvSpPr>
        <p:spPr>
          <a:xfrm>
            <a:off x="6477000" y="3686555"/>
            <a:ext cx="914400" cy="398145"/>
          </a:xfrm>
          <a:prstGeom prst="rect">
            <a:avLst/>
          </a:prstGeom>
          <a:solidFill>
            <a:srgbClr val="E46C0A"/>
          </a:solidFill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2076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EEEC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g(i,j)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9"/>
          <p:cNvSpPr txBox="1"/>
          <p:nvPr/>
        </p:nvSpPr>
        <p:spPr>
          <a:xfrm>
            <a:off x="3208020" y="2667000"/>
            <a:ext cx="312420" cy="399415"/>
          </a:xfrm>
          <a:prstGeom prst="rect">
            <a:avLst/>
          </a:prstGeom>
          <a:solidFill>
            <a:srgbClr val="E46C0A"/>
          </a:solidFill>
          <a:ln>
            <a:noFill/>
          </a:ln>
        </p:spPr>
        <p:txBody>
          <a:bodyPr anchorCtr="0" anchor="t" bIns="0" lIns="0" spcFirstLastPara="1" rIns="0" wrap="square" tIns="36825">
            <a:spAutoFit/>
          </a:bodyPr>
          <a:lstStyle/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EEEC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9"/>
          <p:cNvSpPr txBox="1"/>
          <p:nvPr/>
        </p:nvSpPr>
        <p:spPr>
          <a:xfrm>
            <a:off x="3520440" y="4401311"/>
            <a:ext cx="645160" cy="399415"/>
          </a:xfrm>
          <a:prstGeom prst="rect">
            <a:avLst/>
          </a:prstGeom>
          <a:solidFill>
            <a:srgbClr val="E46C0A"/>
          </a:solidFill>
          <a:ln>
            <a:noFill/>
          </a:ln>
        </p:spPr>
        <p:txBody>
          <a:bodyPr anchorCtr="0" anchor="t" bIns="0" lIns="0" spcFirstLastPara="1" rIns="0" wrap="square" tIns="36825">
            <a:spAutoFit/>
          </a:bodyPr>
          <a:lstStyle/>
          <a:p>
            <a:pPr indent="0" lvl="0" marL="920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EEEC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f(i,j)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19"/>
          <p:cNvSpPr txBox="1"/>
          <p:nvPr/>
        </p:nvSpPr>
        <p:spPr>
          <a:xfrm>
            <a:off x="4803128" y="2667956"/>
            <a:ext cx="1076960" cy="347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 </a:t>
            </a:r>
            <a:r>
              <a:rPr i="1" lang="en-US" sz="21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×</a:t>
            </a:r>
            <a:r>
              <a:rPr lang="en-US" sz="2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 mask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84" name="Google Shape;284;p1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5" name="Google Shape;285;p1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" name="Google Shape;286;p19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2" name="Google Shape;292;p20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3" name="Google Shape;293;p20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Handling Pixels Close to Boundaries</a:t>
            </a:r>
            <a:endParaRPr/>
          </a:p>
        </p:txBody>
      </p:sp>
      <p:pic>
        <p:nvPicPr>
          <p:cNvPr id="294" name="Google Shape;2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6515" y="2432869"/>
            <a:ext cx="2495834" cy="2501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38842" y="2205479"/>
            <a:ext cx="3012055" cy="3152886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0"/>
          <p:cNvSpPr txBox="1"/>
          <p:nvPr/>
        </p:nvSpPr>
        <p:spPr>
          <a:xfrm>
            <a:off x="3812540" y="5014903"/>
            <a:ext cx="14814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pad with zeroes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6259703" y="3637588"/>
            <a:ext cx="2266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or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3566684" y="2270506"/>
            <a:ext cx="215900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953735"/>
                </a:solidFill>
                <a:latin typeface="Bell MT"/>
                <a:ea typeface="Bell MT"/>
                <a:cs typeface="Bell MT"/>
                <a:sym typeface="Bell MT"/>
              </a:rPr>
              <a:t>0 0 0 ……………………….0</a:t>
            </a:r>
            <a:endParaRPr sz="1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99" name="Google Shape;299;p20"/>
          <p:cNvSpPr txBox="1"/>
          <p:nvPr/>
        </p:nvSpPr>
        <p:spPr>
          <a:xfrm rot="5400000">
            <a:off x="2039598" y="3746500"/>
            <a:ext cx="2159000" cy="224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953735"/>
                </a:solidFill>
                <a:latin typeface="Bell MT"/>
                <a:ea typeface="Bell MT"/>
                <a:cs typeface="Bell MT"/>
                <a:sym typeface="Bell MT"/>
              </a:rPr>
              <a:t>0 0 0 ……………………….0</a:t>
            </a:r>
            <a:endParaRPr sz="1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7706576" y="5014903"/>
            <a:ext cx="12134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wrap around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01" name="Google Shape;301;p2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2" name="Google Shape;302;p2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3" name="Google Shape;303;p20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1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9" name="Google Shape;309;p21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0" name="Google Shape;310;p21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Correlation – </a:t>
            </a:r>
            <a:r>
              <a:rPr i="1" lang="en-US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/>
          </a:p>
        </p:txBody>
      </p:sp>
      <p:sp>
        <p:nvSpPr>
          <p:cNvPr id="311" name="Google Shape;311;p21"/>
          <p:cNvSpPr txBox="1"/>
          <p:nvPr/>
        </p:nvSpPr>
        <p:spPr>
          <a:xfrm>
            <a:off x="134175" y="6112250"/>
            <a:ext cx="11906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1/9 </a:t>
            </a:r>
            <a:r>
              <a:rPr lang="en-US" sz="1800">
                <a:latin typeface="Noto Sans Symbols"/>
                <a:ea typeface="Noto Sans Symbols"/>
                <a:cs typeface="Noto Sans Symbols"/>
                <a:sym typeface="Noto Sans Symbols"/>
              </a:rPr>
              <a:t>×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(10x1 + 11x1 + 10x1 + 9x1 + 10x1 + 11x1 + 10x1 + 9x1 + 10x1) = 1/9.( 90) = 10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312" name="Google Shape;312;p21"/>
          <p:cNvGrpSpPr/>
          <p:nvPr/>
        </p:nvGrpSpPr>
        <p:grpSpPr>
          <a:xfrm>
            <a:off x="1944623" y="1569720"/>
            <a:ext cx="1662683" cy="1504186"/>
            <a:chOff x="1944623" y="1569720"/>
            <a:chExt cx="1662683" cy="1504186"/>
          </a:xfrm>
        </p:grpSpPr>
        <p:pic>
          <p:nvPicPr>
            <p:cNvPr id="313" name="Google Shape;313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04059" y="1616964"/>
              <a:ext cx="5364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" name="Google Shape;314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54223" y="1569720"/>
              <a:ext cx="5364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11423" y="1569720"/>
              <a:ext cx="5364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6" name="Google Shape;316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156459" y="2074164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78023" y="2026919"/>
              <a:ext cx="5364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070859" y="2074164"/>
              <a:ext cx="5364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44623" y="2560319"/>
              <a:ext cx="536447" cy="51358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0" name="Google Shape;320;p21"/>
          <p:cNvGrpSpPr/>
          <p:nvPr/>
        </p:nvGrpSpPr>
        <p:grpSpPr>
          <a:xfrm>
            <a:off x="1944623" y="1569720"/>
            <a:ext cx="3127247" cy="2875787"/>
            <a:chOff x="1944623" y="1569720"/>
            <a:chExt cx="3127247" cy="2875787"/>
          </a:xfrm>
        </p:grpSpPr>
        <p:pic>
          <p:nvPicPr>
            <p:cNvPr id="321" name="Google Shape;321;p2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554223" y="2560319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" name="Google Shape;322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94659" y="2531364"/>
              <a:ext cx="5364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3" name="Google Shape;323;p2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544823" y="2026919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" name="Google Shape;324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78023" y="3474720"/>
              <a:ext cx="5364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68623" y="3093719"/>
              <a:ext cx="5364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6" name="Google Shape;326;p2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002023" y="2560319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2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078223" y="3017519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2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544823" y="2560319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2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011423" y="3017519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" name="Google Shape;330;p2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544823" y="1569720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p2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554223" y="3931920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2" name="Google Shape;332;p2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020823" y="3474720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" name="Google Shape;333;p2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087623" y="3931920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2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544823" y="3474720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2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002023" y="1569720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p2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459223" y="2560319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7" name="Google Shape;337;p2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002023" y="3474720"/>
              <a:ext cx="5364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002023" y="3931920"/>
              <a:ext cx="5364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78023" y="3017519"/>
              <a:ext cx="5364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0" name="Google Shape;340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35423" y="3017519"/>
              <a:ext cx="5364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2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535423" y="2026919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2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002023" y="2026919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3" name="Google Shape;343;p2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535423" y="1569720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44823" y="3931920"/>
              <a:ext cx="5364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11423" y="3474720"/>
              <a:ext cx="5364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20823" y="3017519"/>
              <a:ext cx="5364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7" name="Google Shape;347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35423" y="3474720"/>
              <a:ext cx="5364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59223" y="3931920"/>
              <a:ext cx="5364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44623" y="3931920"/>
              <a:ext cx="536447" cy="513587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350" name="Google Shape;350;p21"/>
          <p:cNvGraphicFramePr/>
          <p:nvPr/>
        </p:nvGraphicFramePr>
        <p:xfrm>
          <a:off x="1991677" y="15954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{2B407BD2-0900-41C8-8F19-0FB04DCB6EF6}</a:tableStyleId>
              </a:tblPr>
              <a:tblGrid>
                <a:gridCol w="533400"/>
                <a:gridCol w="533400"/>
                <a:gridCol w="457200"/>
                <a:gridCol w="533400"/>
                <a:gridCol w="533400"/>
                <a:gridCol w="457200"/>
              </a:tblGrid>
              <a:tr h="457200">
                <a:tc>
                  <a:txBody>
                    <a:bodyPr/>
                    <a:lstStyle/>
                    <a:p>
                      <a:pPr indent="0" lvl="0" marL="0" marR="14541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71750" marB="0" marR="0" marL="0">
                    <a:lnL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68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68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107314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9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71750" marB="0" marR="0" marL="0">
                    <a:lnL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52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71750" marB="0" marR="0" marL="0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68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02225" marB="0" marR="0" marL="0">
                    <a:lnL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68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9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022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6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717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68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02225" marB="0" marR="0" marL="0">
                    <a:lnL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022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58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022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129539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9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022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68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9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29539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168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9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68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9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99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29539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68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9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9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68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58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51" name="Google Shape;351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70660" y="2607564"/>
            <a:ext cx="393191" cy="51358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1"/>
          <p:cNvSpPr txBox="1"/>
          <p:nvPr/>
        </p:nvSpPr>
        <p:spPr>
          <a:xfrm>
            <a:off x="1602741" y="2650045"/>
            <a:ext cx="1111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I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353" name="Google Shape;353;p21"/>
          <p:cNvGrpSpPr/>
          <p:nvPr/>
        </p:nvGrpSpPr>
        <p:grpSpPr>
          <a:xfrm>
            <a:off x="5494020" y="3979164"/>
            <a:ext cx="1427987" cy="1456943"/>
            <a:chOff x="5494020" y="3979164"/>
            <a:chExt cx="1427987" cy="1456943"/>
          </a:xfrm>
        </p:grpSpPr>
        <p:pic>
          <p:nvPicPr>
            <p:cNvPr id="354" name="Google Shape;354;p21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5494020" y="3979164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2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5966460" y="4465320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" name="Google Shape;356;p2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5966460" y="4008120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7" name="Google Shape;357;p2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5509260" y="4465320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2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042660" y="4922520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" name="Google Shape;359;p2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499860" y="4922520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" name="Google Shape;360;p2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499860" y="4465320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" name="Google Shape;361;p2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499860" y="4008120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2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5509260" y="4922520"/>
              <a:ext cx="422147" cy="513587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363" name="Google Shape;363;p21"/>
          <p:cNvGraphicFramePr/>
          <p:nvPr/>
        </p:nvGraphicFramePr>
        <p:xfrm>
          <a:off x="5481637" y="39576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{2B407BD2-0900-41C8-8F19-0FB04DCB6EF6}</a:tableStyleId>
              </a:tblPr>
              <a:tblGrid>
                <a:gridCol w="533400"/>
                <a:gridCol w="533400"/>
                <a:gridCol w="457200"/>
              </a:tblGrid>
              <a:tr h="457200">
                <a:tc>
                  <a:txBody>
                    <a:bodyPr/>
                    <a:lstStyle/>
                    <a:p>
                      <a:pPr indent="0" lvl="0" marL="1511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717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016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016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1670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016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016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016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1670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016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670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016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016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64" name="Google Shape;364;p2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978652" y="3550920"/>
            <a:ext cx="451103" cy="513587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1"/>
          <p:cNvSpPr/>
          <p:nvPr/>
        </p:nvSpPr>
        <p:spPr>
          <a:xfrm>
            <a:off x="2225738" y="1905000"/>
            <a:ext cx="136525" cy="3899535"/>
          </a:xfrm>
          <a:custGeom>
            <a:rect b="b" l="l" r="r" t="t"/>
            <a:pathLst>
              <a:path extrusionOk="0" h="3899535" w="136525">
                <a:moveTo>
                  <a:pt x="136461" y="0"/>
                </a:moveTo>
                <a:lnTo>
                  <a:pt x="0" y="3898938"/>
                </a:lnTo>
              </a:path>
            </a:pathLst>
          </a:custGeom>
          <a:noFill/>
          <a:ln cap="flat" cmpd="sng" w="12700">
            <a:solidFill>
              <a:srgbClr val="FF0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6" name="Google Shape;366;p21"/>
          <p:cNvSpPr/>
          <p:nvPr/>
        </p:nvSpPr>
        <p:spPr>
          <a:xfrm>
            <a:off x="2188095" y="5789917"/>
            <a:ext cx="386080" cy="78105"/>
          </a:xfrm>
          <a:custGeom>
            <a:rect b="b" l="l" r="r" t="t"/>
            <a:pathLst>
              <a:path extrusionOk="0" h="78104" w="386080">
                <a:moveTo>
                  <a:pt x="76149" y="2667"/>
                </a:moveTo>
                <a:lnTo>
                  <a:pt x="0" y="0"/>
                </a:lnTo>
                <a:lnTo>
                  <a:pt x="35420" y="77482"/>
                </a:lnTo>
                <a:lnTo>
                  <a:pt x="76149" y="2667"/>
                </a:lnTo>
                <a:close/>
              </a:path>
              <a:path extrusionOk="0" h="78104" w="386080">
                <a:moveTo>
                  <a:pt x="385775" y="76098"/>
                </a:moveTo>
                <a:lnTo>
                  <a:pt x="350583" y="8509"/>
                </a:lnTo>
                <a:lnTo>
                  <a:pt x="300583" y="77495"/>
                </a:lnTo>
                <a:lnTo>
                  <a:pt x="385775" y="76098"/>
                </a:lnTo>
                <a:close/>
              </a:path>
            </a:pathLst>
          </a:custGeom>
          <a:solidFill>
            <a:srgbClr val="FF006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67" name="Google Shape;367;p21"/>
          <p:cNvGrpSpPr/>
          <p:nvPr/>
        </p:nvGrpSpPr>
        <p:grpSpPr>
          <a:xfrm>
            <a:off x="7261859" y="1417320"/>
            <a:ext cx="1543811" cy="1504186"/>
            <a:chOff x="7261859" y="1417320"/>
            <a:chExt cx="1543811" cy="1504186"/>
          </a:xfrm>
        </p:grpSpPr>
        <p:pic>
          <p:nvPicPr>
            <p:cNvPr id="368" name="Google Shape;368;p21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7322819" y="1464564"/>
              <a:ext cx="47701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2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871459" y="1417320"/>
              <a:ext cx="47701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2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8328659" y="1417320"/>
              <a:ext cx="47701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1" name="Google Shape;371;p2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338059" y="1950720"/>
              <a:ext cx="47701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2" name="Google Shape;372;p2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7795259" y="1874519"/>
              <a:ext cx="536447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2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261859" y="2407919"/>
              <a:ext cx="477011" cy="51358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74" name="Google Shape;374;p2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871459" y="3779520"/>
            <a:ext cx="477011" cy="5135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5" name="Google Shape;375;p21"/>
          <p:cNvGrpSpPr/>
          <p:nvPr/>
        </p:nvGrpSpPr>
        <p:grpSpPr>
          <a:xfrm>
            <a:off x="8862059" y="1417320"/>
            <a:ext cx="934211" cy="513587"/>
            <a:chOff x="8862059" y="1417320"/>
            <a:chExt cx="934211" cy="513587"/>
          </a:xfrm>
        </p:grpSpPr>
        <p:pic>
          <p:nvPicPr>
            <p:cNvPr id="376" name="Google Shape;376;p2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8862059" y="1417320"/>
              <a:ext cx="47701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7" name="Google Shape;377;p2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9319259" y="1417320"/>
              <a:ext cx="477011" cy="51358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8" name="Google Shape;378;p21"/>
          <p:cNvGrpSpPr/>
          <p:nvPr/>
        </p:nvGrpSpPr>
        <p:grpSpPr>
          <a:xfrm>
            <a:off x="8404859" y="1417320"/>
            <a:ext cx="1924811" cy="2875787"/>
            <a:chOff x="8404859" y="1417320"/>
            <a:chExt cx="1924811" cy="2875787"/>
          </a:xfrm>
        </p:grpSpPr>
        <p:pic>
          <p:nvPicPr>
            <p:cNvPr id="379" name="Google Shape;379;p2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8404859" y="3779520"/>
              <a:ext cx="47701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0" name="Google Shape;380;p2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9776459" y="2407919"/>
              <a:ext cx="47701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1" name="Google Shape;381;p2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9319259" y="3779520"/>
              <a:ext cx="47701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2" name="Google Shape;382;p2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9852659" y="2865119"/>
              <a:ext cx="47701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3" name="Google Shape;383;p2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9852659" y="1874519"/>
              <a:ext cx="47701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4" name="Google Shape;384;p2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9852659" y="1417320"/>
              <a:ext cx="47701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5" name="Google Shape;385;p2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8862059" y="3779520"/>
              <a:ext cx="47701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6" name="Google Shape;386;p2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9852659" y="3322320"/>
              <a:ext cx="47701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7" name="Google Shape;387;p2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9776459" y="3779520"/>
              <a:ext cx="477011" cy="51358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8" name="Google Shape;388;p21"/>
          <p:cNvGrpSpPr/>
          <p:nvPr/>
        </p:nvGrpSpPr>
        <p:grpSpPr>
          <a:xfrm>
            <a:off x="7261859" y="2865120"/>
            <a:ext cx="553211" cy="1427987"/>
            <a:chOff x="7261859" y="2865120"/>
            <a:chExt cx="553211" cy="1427987"/>
          </a:xfrm>
        </p:grpSpPr>
        <p:pic>
          <p:nvPicPr>
            <p:cNvPr id="389" name="Google Shape;389;p2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338059" y="3322320"/>
              <a:ext cx="47701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0" name="Google Shape;390;p2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338059" y="2865120"/>
              <a:ext cx="47701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1" name="Google Shape;391;p2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261859" y="3779520"/>
              <a:ext cx="477011" cy="513587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392" name="Google Shape;392;p21"/>
          <p:cNvGraphicFramePr/>
          <p:nvPr/>
        </p:nvGraphicFramePr>
        <p:xfrm>
          <a:off x="7310437" y="14430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{2B407BD2-0900-41C8-8F19-0FB04DCB6EF6}</a:tableStyleId>
              </a:tblPr>
              <a:tblGrid>
                <a:gridCol w="533400"/>
                <a:gridCol w="533400"/>
                <a:gridCol w="457200"/>
                <a:gridCol w="533400"/>
                <a:gridCol w="533400"/>
                <a:gridCol w="457200"/>
              </a:tblGrid>
              <a:tr h="457200">
                <a:tc>
                  <a:txBody>
                    <a:bodyPr/>
                    <a:lstStyle/>
                    <a:p>
                      <a:pPr indent="0" lvl="0" marL="0" marR="20447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71750" marB="0" marR="0" marL="0">
                    <a:lnL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8859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095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8859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18859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02225" marB="0" marR="0" marL="0">
                    <a:lnL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0637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8859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02225" marB="0" marR="0" marL="0">
                    <a:lnL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52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022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18859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50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8859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18859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8859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8859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676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095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52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X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3" name="Google Shape;393;p21"/>
          <p:cNvSpPr/>
          <p:nvPr/>
        </p:nvSpPr>
        <p:spPr>
          <a:xfrm>
            <a:off x="2545016" y="4267200"/>
            <a:ext cx="3018155" cy="1570990"/>
          </a:xfrm>
          <a:custGeom>
            <a:rect b="b" l="l" r="r" t="t"/>
            <a:pathLst>
              <a:path extrusionOk="0" h="1570989" w="3018154">
                <a:moveTo>
                  <a:pt x="3017583" y="0"/>
                </a:moveTo>
                <a:lnTo>
                  <a:pt x="0" y="1570875"/>
                </a:lnTo>
              </a:path>
            </a:pathLst>
          </a:custGeom>
          <a:noFill/>
          <a:ln cap="flat" cmpd="sng" w="12675">
            <a:solidFill>
              <a:srgbClr val="FF0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4" name="Google Shape;394;p21"/>
          <p:cNvSpPr txBox="1"/>
          <p:nvPr/>
        </p:nvSpPr>
        <p:spPr>
          <a:xfrm>
            <a:off x="5116508" y="3594607"/>
            <a:ext cx="1161300" cy="1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F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1/9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395" name="Google Shape;395;p2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637019" y="2302764"/>
            <a:ext cx="473963" cy="513587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1"/>
          <p:cNvSpPr txBox="1"/>
          <p:nvPr/>
        </p:nvSpPr>
        <p:spPr>
          <a:xfrm>
            <a:off x="6768465" y="2345245"/>
            <a:ext cx="1924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O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6019800" y="2418321"/>
            <a:ext cx="2028189" cy="3830320"/>
          </a:xfrm>
          <a:custGeom>
            <a:rect b="b" l="l" r="r" t="t"/>
            <a:pathLst>
              <a:path extrusionOk="0" h="3830320" w="2028190">
                <a:moveTo>
                  <a:pt x="0" y="3830078"/>
                </a:moveTo>
                <a:lnTo>
                  <a:pt x="2027694" y="0"/>
                </a:lnTo>
              </a:path>
            </a:pathLst>
          </a:custGeom>
          <a:noFill/>
          <a:ln cap="flat" cmpd="sng" w="12700">
            <a:solidFill>
              <a:srgbClr val="FF0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8" name="Google Shape;398;p21"/>
          <p:cNvSpPr/>
          <p:nvPr/>
        </p:nvSpPr>
        <p:spPr>
          <a:xfrm>
            <a:off x="8007875" y="2362205"/>
            <a:ext cx="69850" cy="85725"/>
          </a:xfrm>
          <a:custGeom>
            <a:rect b="b" l="l" r="r" t="t"/>
            <a:pathLst>
              <a:path extrusionOk="0" h="85725" w="69850">
                <a:moveTo>
                  <a:pt x="69329" y="0"/>
                </a:moveTo>
                <a:lnTo>
                  <a:pt x="0" y="49517"/>
                </a:lnTo>
                <a:lnTo>
                  <a:pt x="67348" y="85166"/>
                </a:lnTo>
                <a:lnTo>
                  <a:pt x="69329" y="0"/>
                </a:lnTo>
                <a:close/>
              </a:path>
            </a:pathLst>
          </a:custGeom>
          <a:solidFill>
            <a:srgbClr val="FF006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9" name="Google Shape;399;p2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0" name="Google Shape;400;p2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1" name="Google Shape;401;p21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2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7" name="Google Shape;407;p22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8" name="Google Shape;408;p22"/>
          <p:cNvSpPr txBox="1"/>
          <p:nvPr>
            <p:ph idx="4294967295" type="title"/>
          </p:nvPr>
        </p:nvSpPr>
        <p:spPr>
          <a:xfrm>
            <a:off x="0" y="153150"/>
            <a:ext cx="121920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/>
              <a:t>Convolution</a:t>
            </a:r>
            <a:endParaRPr sz="4900"/>
          </a:p>
        </p:txBody>
      </p:sp>
      <p:sp>
        <p:nvSpPr>
          <p:cNvPr id="409" name="Google Shape;409;p22"/>
          <p:cNvSpPr txBox="1"/>
          <p:nvPr/>
        </p:nvSpPr>
        <p:spPr>
          <a:xfrm>
            <a:off x="637540" y="1063245"/>
            <a:ext cx="10798175" cy="4954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405765" marR="55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Same as correlation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, but with 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kernel (filter or mask) rotated by 180</a:t>
            </a:r>
            <a:r>
              <a:rPr baseline="30000" lang="en-US" sz="315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0</a:t>
            </a:r>
            <a:endParaRPr baseline="30000" sz="315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405765" rtl="0" algn="l">
              <a:lnSpc>
                <a:spcPct val="100000"/>
              </a:lnSpc>
              <a:spcBef>
                <a:spcPts val="364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Kernel,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F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, represents the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linear weights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as an image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405765" rtl="0" algn="l">
              <a:lnSpc>
                <a:spcPct val="100000"/>
              </a:lnSpc>
              <a:spcBef>
                <a:spcPts val="36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latin typeface="Bell MT"/>
                <a:ea typeface="Bell MT"/>
                <a:cs typeface="Bell MT"/>
                <a:sym typeface="Bell MT"/>
              </a:rPr>
              <a:t>Steps: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805815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Rotate the kernel by 180 degrees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805815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Center origin of	the kernel 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at each pixel location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805815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Multiply weights by corresponding pixels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80581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Set resulting value for each pixel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10" name="Google Shape;410;p2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1" name="Google Shape;411;p2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p22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8" name="Google Shape;418;p2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9" name="Google Shape;419;p23"/>
          <p:cNvSpPr txBox="1"/>
          <p:nvPr>
            <p:ph idx="4294967295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20" name="Google Shape;420;p23"/>
          <p:cNvSpPr txBox="1"/>
          <p:nvPr/>
        </p:nvSpPr>
        <p:spPr>
          <a:xfrm>
            <a:off x="2945850" y="2874900"/>
            <a:ext cx="630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End</a:t>
            </a:r>
            <a:endParaRPr b="1"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6" name="Google Shape;426;p24"/>
          <p:cNvSpPr txBox="1"/>
          <p:nvPr>
            <p:ph idx="4294967295" type="body"/>
          </p:nvPr>
        </p:nvSpPr>
        <p:spPr>
          <a:xfrm>
            <a:off x="14098" y="445775"/>
            <a:ext cx="121920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92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Image Filtering</a:t>
            </a:r>
            <a:endParaRPr/>
          </a:p>
          <a:p>
            <a:pPr indent="0" lvl="0" marL="3051175" rtl="0" algn="ctr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None/>
            </a:pPr>
            <a:r>
              <a:t/>
            </a:r>
            <a:endParaRPr b="0" sz="4000">
              <a:solidFill>
                <a:srgbClr val="00AF5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None/>
            </a:pPr>
            <a:r>
              <a:rPr b="0" lang="en-US" sz="40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Part – 2</a:t>
            </a:r>
            <a:endParaRPr sz="4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7" name="Google Shape;427;p2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8" name="Google Shape;428;p2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9" name="Google Shape;429;p24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5" name="Google Shape;435;p25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6" name="Google Shape;436;p25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Quick Review of	 the Last Class</a:t>
            </a:r>
            <a:endParaRPr/>
          </a:p>
        </p:txBody>
      </p:sp>
      <p:sp>
        <p:nvSpPr>
          <p:cNvPr id="437" name="Google Shape;437;p25"/>
          <p:cNvSpPr txBox="1"/>
          <p:nvPr/>
        </p:nvSpPr>
        <p:spPr>
          <a:xfrm>
            <a:off x="634754" y="1421550"/>
            <a:ext cx="9175800" cy="3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Spatial Domain Filtering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92D05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92D050"/>
                </a:solidFill>
                <a:latin typeface="Georgia"/>
                <a:ea typeface="Georgia"/>
                <a:cs typeface="Georgia"/>
                <a:sym typeface="Georgia"/>
              </a:rPr>
              <a:t>Point Processing based filtering methods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27964" lvl="2" marL="1155065" rtl="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Operation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0" lvl="2" marL="0" rtl="0" algn="l">
              <a:lnSpc>
                <a:spcPct val="100000"/>
              </a:lnSpc>
              <a:spcBef>
                <a:spcPts val="252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92D050"/>
                </a:solidFill>
                <a:latin typeface="Georgia"/>
                <a:ea typeface="Georgia"/>
                <a:cs typeface="Georgia"/>
                <a:sym typeface="Georgia"/>
              </a:rPr>
              <a:t>Area based filtering methods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27329" lvl="2" marL="1154430" rtl="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Operation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-227964" lvl="2" marL="115506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Size/Shape of the mask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8" name="Google Shape;438;p2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9" name="Google Shape;439;p2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0" name="Google Shape;440;p25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6" name="Google Shape;446;p26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7" name="Google Shape;447;p26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Quick Review of	 the Last Class</a:t>
            </a:r>
            <a:endParaRPr/>
          </a:p>
        </p:txBody>
      </p:sp>
      <p:sp>
        <p:nvSpPr>
          <p:cNvPr id="448" name="Google Shape;448;p26"/>
          <p:cNvSpPr txBox="1"/>
          <p:nvPr/>
        </p:nvSpPr>
        <p:spPr>
          <a:xfrm>
            <a:off x="688354" y="988050"/>
            <a:ext cx="61023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Spatial Domain Filtering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0" lvl="0" marL="2501900" rtl="0" algn="l">
              <a:lnSpc>
                <a:spcPct val="11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Input image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9" name="Google Shape;449;p26"/>
          <p:cNvSpPr txBox="1"/>
          <p:nvPr/>
        </p:nvSpPr>
        <p:spPr>
          <a:xfrm>
            <a:off x="7566745" y="5163058"/>
            <a:ext cx="35496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DEBE0"/>
                </a:solidFill>
                <a:latin typeface="Georgia"/>
                <a:ea typeface="Georgia"/>
                <a:cs typeface="Georgia"/>
                <a:sym typeface="Georgia"/>
              </a:rPr>
              <a:t>(x,y)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0" name="Google Shape;450;p26"/>
          <p:cNvSpPr txBox="1"/>
          <p:nvPr/>
        </p:nvSpPr>
        <p:spPr>
          <a:xfrm>
            <a:off x="3215894" y="4554201"/>
            <a:ext cx="436372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52400" rtl="0" algn="l">
              <a:lnSpc>
                <a:spcPct val="6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DEBE0"/>
                </a:solidFill>
                <a:latin typeface="Georgia"/>
                <a:ea typeface="Georgia"/>
                <a:cs typeface="Georgia"/>
                <a:sym typeface="Georgia"/>
              </a:rPr>
              <a:t>f(x,y)	</a:t>
            </a:r>
            <a:r>
              <a:rPr baseline="-25000" lang="en-US" sz="2100">
                <a:solidFill>
                  <a:srgbClr val="EDEBE0"/>
                </a:solidFill>
                <a:latin typeface="Georgia"/>
                <a:ea typeface="Georgia"/>
                <a:cs typeface="Georgia"/>
                <a:sym typeface="Georgia"/>
              </a:rPr>
              <a:t>g(x</a:t>
            </a:r>
            <a:endParaRPr baseline="-25000" sz="2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DEBE0"/>
                </a:solidFill>
                <a:latin typeface="Georgia"/>
                <a:ea typeface="Georgia"/>
                <a:cs typeface="Georgia"/>
                <a:sym typeface="Georgia"/>
              </a:rPr>
              <a:t>f(x,y)	</a:t>
            </a:r>
            <a:r>
              <a:rPr baseline="30000" lang="en-US" sz="2100">
                <a:solidFill>
                  <a:srgbClr val="EDEBE0"/>
                </a:solidFill>
                <a:latin typeface="Georgia"/>
                <a:ea typeface="Georgia"/>
                <a:cs typeface="Georgia"/>
                <a:sym typeface="Georgia"/>
              </a:rPr>
              <a:t>g</a:t>
            </a:r>
            <a:endParaRPr baseline="30000" sz="21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451" name="Google Shape;45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6709" y="6079997"/>
            <a:ext cx="817626" cy="506717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6"/>
          <p:cNvSpPr txBox="1"/>
          <p:nvPr/>
        </p:nvSpPr>
        <p:spPr>
          <a:xfrm>
            <a:off x="7562253" y="4547675"/>
            <a:ext cx="31113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DEBE0"/>
                </a:solidFill>
                <a:latin typeface="Georgia"/>
                <a:ea typeface="Georgia"/>
                <a:cs typeface="Georgia"/>
                <a:sym typeface="Georgia"/>
              </a:rPr>
              <a:t>,y)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287655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rPr i="1" lang="en-US" sz="1800"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lang="en-US" sz="1800">
                <a:latin typeface="Georgia"/>
                <a:ea typeface="Georgia"/>
                <a:cs typeface="Georgia"/>
                <a:sym typeface="Georgia"/>
              </a:rPr>
              <a:t>(</a:t>
            </a:r>
            <a:r>
              <a:rPr i="1" lang="en-US" sz="1800">
                <a:latin typeface="Georgia"/>
                <a:ea typeface="Georgia"/>
                <a:cs typeface="Georgia"/>
                <a:sym typeface="Georgia"/>
              </a:rPr>
              <a:t>x</a:t>
            </a:r>
            <a:r>
              <a:rPr lang="en-US" sz="1800"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i="1" lang="en-US" sz="1800">
                <a:latin typeface="Georgia"/>
                <a:ea typeface="Georgia"/>
                <a:cs typeface="Georgia"/>
                <a:sym typeface="Georgia"/>
              </a:rPr>
              <a:t>y</a:t>
            </a:r>
            <a:r>
              <a:rPr lang="en-US" sz="1800">
                <a:latin typeface="Georgia"/>
                <a:ea typeface="Georgia"/>
                <a:cs typeface="Georgia"/>
                <a:sym typeface="Georgia"/>
              </a:rPr>
              <a:t>)=T[</a:t>
            </a:r>
            <a:r>
              <a:rPr i="1" lang="en-US" sz="1800">
                <a:latin typeface="Georgia"/>
                <a:ea typeface="Georgia"/>
                <a:cs typeface="Georgia"/>
                <a:sym typeface="Georgia"/>
              </a:rPr>
              <a:t>f </a:t>
            </a:r>
            <a:r>
              <a:rPr lang="en-US" sz="1800">
                <a:latin typeface="Georgia"/>
                <a:ea typeface="Georgia"/>
                <a:cs typeface="Georgia"/>
                <a:sym typeface="Georgia"/>
              </a:rPr>
              <a:t>(</a:t>
            </a:r>
            <a:r>
              <a:rPr i="1" lang="en-US" sz="1800">
                <a:latin typeface="Georgia"/>
                <a:ea typeface="Georgia"/>
                <a:cs typeface="Georgia"/>
                <a:sym typeface="Georgia"/>
              </a:rPr>
              <a:t>x</a:t>
            </a:r>
            <a:r>
              <a:rPr lang="en-US" sz="1800"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i="1" lang="en-US" sz="1800">
                <a:latin typeface="Georgia"/>
                <a:ea typeface="Georgia"/>
                <a:cs typeface="Georgia"/>
                <a:sym typeface="Georgia"/>
              </a:rPr>
              <a:t>y</a:t>
            </a:r>
            <a:r>
              <a:rPr lang="en-US" sz="1800">
                <a:latin typeface="Georgia"/>
                <a:ea typeface="Georgia"/>
                <a:cs typeface="Georgia"/>
                <a:sym typeface="Georgia"/>
              </a:rPr>
              <a:t>)]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3" name="Google Shape;453;p26"/>
          <p:cNvSpPr txBox="1"/>
          <p:nvPr/>
        </p:nvSpPr>
        <p:spPr>
          <a:xfrm>
            <a:off x="8091169" y="5130800"/>
            <a:ext cx="13188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eorgia"/>
                <a:ea typeface="Georgia"/>
                <a:cs typeface="Georgia"/>
                <a:sym typeface="Georgia"/>
              </a:rPr>
              <a:t>T operates on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4" name="Google Shape;454;p26"/>
          <p:cNvSpPr txBox="1"/>
          <p:nvPr/>
        </p:nvSpPr>
        <p:spPr>
          <a:xfrm>
            <a:off x="7945625" y="4826925"/>
            <a:ext cx="4054500" cy="13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                                                              </a:t>
            </a:r>
            <a:endParaRPr sz="1800"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        </a:t>
            </a:r>
            <a:endParaRPr sz="1800"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         </a:t>
            </a:r>
            <a:r>
              <a:rPr lang="en-US" sz="18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neighborhood </a:t>
            </a:r>
            <a:r>
              <a:rPr lang="en-US" sz="1800">
                <a:latin typeface="Georgia"/>
                <a:ea typeface="Georgia"/>
                <a:cs typeface="Georgia"/>
                <a:sym typeface="Georgia"/>
              </a:rPr>
              <a:t>of pixels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Area or Mask Processing Methods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5" name="Google Shape;455;p26"/>
          <p:cNvSpPr txBox="1"/>
          <p:nvPr/>
        </p:nvSpPr>
        <p:spPr>
          <a:xfrm>
            <a:off x="3215894" y="2115547"/>
            <a:ext cx="4363720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76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DEBE0"/>
                </a:solidFill>
                <a:latin typeface="Georgia"/>
                <a:ea typeface="Georgia"/>
                <a:cs typeface="Georgia"/>
                <a:sym typeface="Georgia"/>
              </a:rPr>
              <a:t>f(x,y)	</a:t>
            </a:r>
            <a:r>
              <a:rPr baseline="30000" lang="en-US" sz="2100">
                <a:solidFill>
                  <a:srgbClr val="EDEBE0"/>
                </a:solidFill>
                <a:latin typeface="Georgia"/>
                <a:ea typeface="Georgia"/>
                <a:cs typeface="Georgia"/>
                <a:sym typeface="Georgia"/>
              </a:rPr>
              <a:t>g</a:t>
            </a:r>
            <a:endParaRPr baseline="30000" sz="21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456" name="Google Shape;45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6916" y="1869185"/>
            <a:ext cx="4838700" cy="1799844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6"/>
          <p:cNvSpPr txBox="1"/>
          <p:nvPr/>
        </p:nvSpPr>
        <p:spPr>
          <a:xfrm>
            <a:off x="3245866" y="1574624"/>
            <a:ext cx="6660600" cy="2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43332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DEBE0"/>
                </a:solidFill>
                <a:latin typeface="Georgia"/>
                <a:ea typeface="Georgia"/>
                <a:cs typeface="Georgia"/>
                <a:sym typeface="Georgia"/>
              </a:rPr>
              <a:t>(x,y)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4452620" rtl="0" algn="ctr">
              <a:lnSpc>
                <a:spcPct val="117777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)=T[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)]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451350" rtl="0" algn="ctr">
              <a:lnSpc>
                <a:spcPct val="11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lang="en-US" sz="1800">
                <a:latin typeface="Georgia"/>
                <a:ea typeface="Georgia"/>
                <a:cs typeface="Georgia"/>
                <a:sym typeface="Georgia"/>
              </a:rPr>
              <a:t>operates on one pixel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151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6832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Point Processing Methods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Input image	                  Enhanced output image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458" name="Google Shape;45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75966" y="4303014"/>
            <a:ext cx="4800600" cy="1780794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26"/>
          <p:cNvSpPr txBox="1"/>
          <p:nvPr/>
        </p:nvSpPr>
        <p:spPr>
          <a:xfrm>
            <a:off x="5447273" y="1541525"/>
            <a:ext cx="28200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Enhanced output image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0" name="Google Shape;460;p2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1" name="Google Shape;461;p2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2" name="Google Shape;462;p26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8" name="Google Shape;468;p27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9" name="Google Shape;469;p27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Quick Review of	the Last Class</a:t>
            </a:r>
            <a:endParaRPr/>
          </a:p>
        </p:txBody>
      </p:sp>
      <p:sp>
        <p:nvSpPr>
          <p:cNvPr id="470" name="Google Shape;470;p27"/>
          <p:cNvSpPr txBox="1"/>
          <p:nvPr/>
        </p:nvSpPr>
        <p:spPr>
          <a:xfrm>
            <a:off x="688352" y="1120525"/>
            <a:ext cx="6309900" cy="41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4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Spatial Filtering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  <a:p>
            <a:pPr indent="-285750" lvl="1" marL="755650" marR="508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00AF50"/>
              </a:buClr>
              <a:buSzPts val="2600"/>
              <a:buFont typeface="Arial"/>
              <a:buChar char="–"/>
            </a:pPr>
            <a:r>
              <a:rPr lang="en-US" sz="2600" u="sng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Weighted Linear</a:t>
            </a:r>
            <a:r>
              <a:rPr lang="en-US" sz="2600" u="sng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combinations of </a:t>
            </a:r>
            <a:r>
              <a:rPr lang="en-US" sz="2600" u="none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600" u="sng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pixel values</a:t>
            </a:r>
            <a:r>
              <a:rPr lang="en-US" sz="2600" u="none">
                <a:latin typeface="Georgia"/>
                <a:ea typeface="Georgia"/>
                <a:cs typeface="Georgia"/>
                <a:sym typeface="Georgia"/>
              </a:rPr>
              <a:t>.</a:t>
            </a:r>
            <a:endParaRPr sz="2600">
              <a:latin typeface="Georgia"/>
              <a:ea typeface="Georgia"/>
              <a:cs typeface="Georgia"/>
              <a:sym typeface="Georgia"/>
            </a:endParaRPr>
          </a:p>
          <a:p>
            <a:pPr indent="-285750" lvl="1" marL="755650" marR="233045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Georgia"/>
                <a:ea typeface="Georgia"/>
                <a:cs typeface="Georgia"/>
                <a:sym typeface="Georgia"/>
              </a:rPr>
              <a:t>e.g., weight pixel values and add them together.</a:t>
            </a:r>
            <a:endParaRPr sz="2600">
              <a:latin typeface="Georgia"/>
              <a:ea typeface="Georgia"/>
              <a:cs typeface="Georgia"/>
              <a:sym typeface="Georgia"/>
            </a:endParaRPr>
          </a:p>
          <a:p>
            <a:pPr indent="0" lvl="1" marL="0" rtl="0" algn="l">
              <a:lnSpc>
                <a:spcPct val="100000"/>
              </a:lnSpc>
              <a:spcBef>
                <a:spcPts val="1989"/>
              </a:spcBef>
              <a:spcAft>
                <a:spcPts val="0"/>
              </a:spcAft>
              <a:buSzPts val="2600"/>
              <a:buFont typeface="Arial"/>
              <a:buNone/>
            </a:pPr>
            <a:r>
              <a:t/>
            </a:r>
            <a:endParaRPr sz="2600">
              <a:latin typeface="Georgia"/>
              <a:ea typeface="Georgia"/>
              <a:cs typeface="Georgia"/>
              <a:sym typeface="Georgia"/>
            </a:endParaRPr>
          </a:p>
          <a:p>
            <a:pPr indent="-285750" lvl="1" marL="755650" marR="1765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Georgia"/>
                <a:ea typeface="Georgia"/>
                <a:cs typeface="Georgia"/>
                <a:sym typeface="Georgia"/>
              </a:rPr>
              <a:t>Different results can be obtained using </a:t>
            </a:r>
            <a:r>
              <a:rPr lang="en-US" sz="2600" u="sng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different weights</a:t>
            </a:r>
            <a:r>
              <a:rPr lang="en-US" sz="2600" u="none">
                <a:latin typeface="Georgia"/>
                <a:ea typeface="Georgia"/>
                <a:cs typeface="Georgia"/>
                <a:sym typeface="Georgia"/>
              </a:rPr>
              <a:t>.</a:t>
            </a:r>
            <a:endParaRPr sz="2600">
              <a:latin typeface="Georgia"/>
              <a:ea typeface="Georgia"/>
              <a:cs typeface="Georgia"/>
              <a:sym typeface="Georgia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SzPts val="1900"/>
              <a:buFont typeface="Arial"/>
              <a:buChar char="–"/>
            </a:pPr>
            <a:r>
              <a:rPr lang="en-US" sz="1900">
                <a:latin typeface="Georgia"/>
                <a:ea typeface="Georgia"/>
                <a:cs typeface="Georgia"/>
                <a:sym typeface="Georgia"/>
              </a:rPr>
              <a:t>e.g., smoothing, sharpening, edge detection</a:t>
            </a:r>
            <a:endParaRPr sz="19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471" name="Google Shape;47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0215" y="1118039"/>
            <a:ext cx="4648200" cy="5020055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27"/>
          <p:cNvSpPr txBox="1"/>
          <p:nvPr/>
        </p:nvSpPr>
        <p:spPr>
          <a:xfrm>
            <a:off x="53339" y="6240526"/>
            <a:ext cx="7600950" cy="18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00AFEF"/>
                </a:solidFill>
                <a:latin typeface="Calibri"/>
                <a:ea typeface="Calibri"/>
                <a:cs typeface="Calibri"/>
                <a:sym typeface="Calibri"/>
              </a:rPr>
              <a:t>Image source: Rafael C. </a:t>
            </a:r>
            <a:r>
              <a:rPr b="1" i="1" lang="en-US" sz="1050">
                <a:solidFill>
                  <a:srgbClr val="00AFEF"/>
                </a:solidFill>
                <a:latin typeface="Calibri"/>
                <a:ea typeface="Calibri"/>
                <a:cs typeface="Calibri"/>
                <a:sym typeface="Calibri"/>
              </a:rPr>
              <a:t>Gonzalez </a:t>
            </a:r>
            <a:r>
              <a:rPr i="1" lang="en-US" sz="1050">
                <a:solidFill>
                  <a:srgbClr val="00AFEF"/>
                </a:solidFill>
                <a:latin typeface="Calibri"/>
                <a:ea typeface="Calibri"/>
                <a:cs typeface="Calibri"/>
                <a:sym typeface="Calibri"/>
              </a:rPr>
              <a:t>and Richard E. Woods </a:t>
            </a:r>
            <a:r>
              <a:rPr b="1" i="1" lang="en-US" sz="1050">
                <a:solidFill>
                  <a:srgbClr val="00AFEF"/>
                </a:solidFill>
                <a:latin typeface="Calibri"/>
                <a:ea typeface="Calibri"/>
                <a:cs typeface="Calibri"/>
                <a:sym typeface="Calibri"/>
              </a:rPr>
              <a:t>Digital Image Processing, 3</a:t>
            </a:r>
            <a:r>
              <a:rPr b="1" baseline="30000" i="1" lang="en-US" sz="1050">
                <a:solidFill>
                  <a:srgbClr val="00AFEF"/>
                </a:solidFill>
                <a:latin typeface="Calibri"/>
                <a:ea typeface="Calibri"/>
                <a:cs typeface="Calibri"/>
                <a:sym typeface="Calibri"/>
              </a:rPr>
              <a:t>rd </a:t>
            </a:r>
            <a:r>
              <a:rPr b="1" i="1" lang="en-US" sz="1050">
                <a:solidFill>
                  <a:srgbClr val="00AFEF"/>
                </a:solidFill>
                <a:latin typeface="Calibri"/>
                <a:ea typeface="Calibri"/>
                <a:cs typeface="Calibri"/>
                <a:sym typeface="Calibri"/>
              </a:rPr>
              <a:t>edition</a:t>
            </a:r>
            <a:r>
              <a:rPr i="1" lang="en-US" sz="1050">
                <a:solidFill>
                  <a:srgbClr val="00AFEF"/>
                </a:solidFill>
                <a:latin typeface="Calibri"/>
                <a:ea typeface="Calibri"/>
                <a:cs typeface="Calibri"/>
                <a:sym typeface="Calibri"/>
              </a:rPr>
              <a:t>, Pearson Education, ISBN: 978-81-317-2695-2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4" name="Google Shape;474;p2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5" name="Google Shape;475;p27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1" name="Google Shape;481;p28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2" name="Google Shape;482;p28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Agenda for Today’s Class</a:t>
            </a:r>
            <a:endParaRPr/>
          </a:p>
        </p:txBody>
      </p:sp>
      <p:sp>
        <p:nvSpPr>
          <p:cNvPr id="483" name="Google Shape;483;p28"/>
          <p:cNvSpPr txBox="1"/>
          <p:nvPr/>
        </p:nvSpPr>
        <p:spPr>
          <a:xfrm>
            <a:off x="688355" y="1295150"/>
            <a:ext cx="6660000" cy="12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Spatial Filters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270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 u="sng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Convolution based Filters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4" name="Google Shape;484;p28"/>
          <p:cNvSpPr txBox="1"/>
          <p:nvPr/>
        </p:nvSpPr>
        <p:spPr>
          <a:xfrm>
            <a:off x="1145558" y="2921250"/>
            <a:ext cx="62028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4480" lvl="0" marL="297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2800"/>
              <a:buFont typeface="Arial"/>
              <a:buChar char="–"/>
            </a:pPr>
            <a:r>
              <a:rPr lang="en-US" sz="2800" u="sng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Order Statistics Filters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84480" lvl="0" marL="297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2800"/>
              <a:buFont typeface="Arial"/>
              <a:buChar char="–"/>
            </a:pPr>
            <a:r>
              <a:rPr lang="en-US" sz="2800" u="sng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Hybrid Filters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5" name="Google Shape;485;p2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6" name="Google Shape;486;p2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7" name="Google Shape;487;p28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93" name="Google Shape;493;p29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94" name="Google Shape;494;p29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Spatial Filters</a:t>
            </a:r>
            <a:endParaRPr/>
          </a:p>
        </p:txBody>
      </p:sp>
      <p:sp>
        <p:nvSpPr>
          <p:cNvPr id="495" name="Google Shape;495;p29"/>
          <p:cNvSpPr txBox="1"/>
          <p:nvPr/>
        </p:nvSpPr>
        <p:spPr>
          <a:xfrm>
            <a:off x="305176" y="1001700"/>
            <a:ext cx="11582400" cy="5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5914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50"/>
              <a:buFont typeface="Noto Sans Symbols"/>
              <a:buChar char="▪"/>
            </a:pPr>
            <a:r>
              <a:rPr b="1" lang="en-US" sz="2600" u="sng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Convolution based Filters</a:t>
            </a:r>
            <a:endParaRPr sz="2600">
              <a:latin typeface="Georgia"/>
              <a:ea typeface="Georgia"/>
              <a:cs typeface="Georgia"/>
              <a:sym typeface="Georgia"/>
            </a:endParaRPr>
          </a:p>
          <a:p>
            <a:pPr indent="-278130" lvl="1" marL="7543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Arial"/>
              <a:buChar char="–"/>
            </a:pPr>
            <a:r>
              <a:rPr i="1" lang="en-US" sz="23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use of spatial mask, </a:t>
            </a:r>
            <a:r>
              <a:rPr i="1" lang="en-US" sz="2300">
                <a:solidFill>
                  <a:srgbClr val="548ED4"/>
                </a:solidFill>
                <a:latin typeface="Georgia"/>
                <a:ea typeface="Georgia"/>
                <a:cs typeface="Georgia"/>
                <a:sym typeface="Georgia"/>
              </a:rPr>
              <a:t>mask is convolved with the image to get desired result </a:t>
            </a:r>
            <a:r>
              <a:rPr lang="en-US" sz="23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- Linear</a:t>
            </a:r>
            <a:endParaRPr sz="2300">
              <a:latin typeface="Georgia"/>
              <a:ea typeface="Georgia"/>
              <a:cs typeface="Georgia"/>
              <a:sym typeface="Georgi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300">
                <a:latin typeface="Georgia"/>
                <a:ea typeface="Georgia"/>
                <a:cs typeface="Georgia"/>
                <a:sym typeface="Georgia"/>
              </a:rPr>
              <a:t>Examples:</a:t>
            </a:r>
            <a:endParaRPr sz="2300">
              <a:latin typeface="Georgia"/>
              <a:ea typeface="Georgia"/>
              <a:cs typeface="Georgia"/>
              <a:sym typeface="Georgia"/>
            </a:endParaRPr>
          </a:p>
          <a:p>
            <a:pPr indent="-222250" lvl="2" marL="1155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Georgia"/>
                <a:ea typeface="Georgia"/>
                <a:cs typeface="Georgia"/>
                <a:sym typeface="Georgia"/>
              </a:rPr>
              <a:t>Average or Mean Filter (Box Filter)</a:t>
            </a:r>
            <a:endParaRPr sz="1900">
              <a:latin typeface="Georgia"/>
              <a:ea typeface="Georgia"/>
              <a:cs typeface="Georgia"/>
              <a:sym typeface="Georgia"/>
            </a:endParaRPr>
          </a:p>
          <a:p>
            <a:pPr indent="-222250" lvl="2" marL="1155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Georgia"/>
                <a:ea typeface="Georgia"/>
                <a:cs typeface="Georgia"/>
                <a:sym typeface="Georgia"/>
              </a:rPr>
              <a:t>Gaussian Filter</a:t>
            </a:r>
            <a:endParaRPr sz="1900">
              <a:latin typeface="Georgia"/>
              <a:ea typeface="Georgia"/>
              <a:cs typeface="Georgia"/>
              <a:sym typeface="Georgia"/>
            </a:endParaRPr>
          </a:p>
          <a:p>
            <a:pPr indent="0" lvl="2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sz="1900">
              <a:latin typeface="Georgia"/>
              <a:ea typeface="Georgia"/>
              <a:cs typeface="Georgia"/>
              <a:sym typeface="Georgia"/>
            </a:endParaRPr>
          </a:p>
          <a:p>
            <a:pPr indent="-335914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50"/>
              <a:buFont typeface="Noto Sans Symbols"/>
              <a:buChar char="▪"/>
            </a:pPr>
            <a:r>
              <a:rPr b="1" lang="en-US" sz="2600" u="sng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Order Statistics Filters</a:t>
            </a:r>
            <a:endParaRPr sz="2600">
              <a:latin typeface="Georgia"/>
              <a:ea typeface="Georgia"/>
              <a:cs typeface="Georgia"/>
              <a:sym typeface="Georgia"/>
            </a:endParaRPr>
          </a:p>
          <a:p>
            <a:pPr indent="-278130" lvl="1" marL="7543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50"/>
              </a:buClr>
              <a:buSzPts val="2300"/>
              <a:buFont typeface="Arial"/>
              <a:buChar char="–"/>
            </a:pPr>
            <a:r>
              <a:rPr i="1" lang="en-US" sz="23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use of spatial mask, </a:t>
            </a:r>
            <a:r>
              <a:rPr i="1" lang="en-US" sz="2300">
                <a:solidFill>
                  <a:srgbClr val="548ED4"/>
                </a:solidFill>
                <a:latin typeface="Georgia"/>
                <a:ea typeface="Georgia"/>
                <a:cs typeface="Georgia"/>
                <a:sym typeface="Georgia"/>
              </a:rPr>
              <a:t>pixel under mask are arranged in a particular order </a:t>
            </a:r>
            <a:r>
              <a:rPr lang="en-US" sz="23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– Non-linear</a:t>
            </a:r>
            <a:endParaRPr sz="2300">
              <a:latin typeface="Georgia"/>
              <a:ea typeface="Georgia"/>
              <a:cs typeface="Georgia"/>
              <a:sym typeface="Georgia"/>
            </a:endParaRPr>
          </a:p>
          <a:p>
            <a:pPr indent="-278130" lvl="1" marL="7543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–"/>
            </a:pPr>
            <a:r>
              <a:rPr lang="en-US" sz="2300">
                <a:latin typeface="Georgia"/>
                <a:ea typeface="Georgia"/>
                <a:cs typeface="Georgia"/>
                <a:sym typeface="Georgia"/>
              </a:rPr>
              <a:t>Examples</a:t>
            </a:r>
            <a:endParaRPr sz="2300">
              <a:latin typeface="Georgia"/>
              <a:ea typeface="Georgia"/>
              <a:cs typeface="Georgia"/>
              <a:sym typeface="Georgia"/>
            </a:endParaRPr>
          </a:p>
          <a:p>
            <a:pPr indent="-222250" lvl="2" marL="1155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Georgia"/>
                <a:ea typeface="Georgia"/>
                <a:cs typeface="Georgia"/>
                <a:sym typeface="Georgia"/>
              </a:rPr>
              <a:t>Median Filter</a:t>
            </a:r>
            <a:endParaRPr sz="1900">
              <a:latin typeface="Georgia"/>
              <a:ea typeface="Georgia"/>
              <a:cs typeface="Georgia"/>
              <a:sym typeface="Georgia"/>
            </a:endParaRPr>
          </a:p>
          <a:p>
            <a:pPr indent="-222250" lvl="2" marL="1155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Georgia"/>
                <a:ea typeface="Georgia"/>
                <a:cs typeface="Georgia"/>
                <a:sym typeface="Georgia"/>
              </a:rPr>
              <a:t>Rank order Filters</a:t>
            </a:r>
            <a:endParaRPr sz="1900">
              <a:latin typeface="Georgia"/>
              <a:ea typeface="Georgia"/>
              <a:cs typeface="Georgia"/>
              <a:sym typeface="Georgia"/>
            </a:endParaRPr>
          </a:p>
          <a:p>
            <a:pPr indent="0" lvl="2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sz="1900">
              <a:latin typeface="Georgia"/>
              <a:ea typeface="Georgia"/>
              <a:cs typeface="Georgia"/>
              <a:sym typeface="Georgia"/>
            </a:endParaRPr>
          </a:p>
          <a:p>
            <a:pPr indent="-335914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50"/>
              <a:buFont typeface="Noto Sans Symbols"/>
              <a:buChar char="▪"/>
            </a:pPr>
            <a:r>
              <a:rPr b="1" lang="en-US" sz="2600" u="sng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Hybrid Filters</a:t>
            </a:r>
            <a:endParaRPr sz="2600">
              <a:latin typeface="Georgia"/>
              <a:ea typeface="Georgia"/>
              <a:cs typeface="Georgia"/>
              <a:sym typeface="Georgia"/>
            </a:endParaRPr>
          </a:p>
          <a:p>
            <a:pPr indent="-278130" lvl="1" marL="7543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2300"/>
              <a:buFont typeface="Arial"/>
              <a:buChar char="–"/>
            </a:pPr>
            <a:r>
              <a:rPr lang="en-US" sz="23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Combination of above two types of filters</a:t>
            </a:r>
            <a:endParaRPr sz="23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96" name="Google Shape;496;p2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7" name="Google Shape;497;p2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8" name="Google Shape;498;p29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4" name="Google Shape;504;p3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5" name="Google Shape;505;p3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Convolution based Filters</a:t>
            </a:r>
            <a:endParaRPr/>
          </a:p>
        </p:txBody>
      </p:sp>
      <p:sp>
        <p:nvSpPr>
          <p:cNvPr id="506" name="Google Shape;506;p30"/>
          <p:cNvSpPr txBox="1"/>
          <p:nvPr/>
        </p:nvSpPr>
        <p:spPr>
          <a:xfrm>
            <a:off x="688353" y="1195025"/>
            <a:ext cx="8191200" cy="11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8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Average or Mean Filter (Box Filter)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Gaussian Filter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7" name="Google Shape;507;p3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8" name="Google Shape;508;p3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9" name="Google Shape;509;p30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15" name="Google Shape;515;p3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516" name="Google Shape;516;p31"/>
          <p:cNvGraphicFramePr/>
          <p:nvPr/>
        </p:nvGraphicFramePr>
        <p:xfrm>
          <a:off x="4927282" y="32623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{2B407BD2-0900-41C8-8F19-0FB04DCB6EF6}</a:tableStyleId>
              </a:tblPr>
              <a:tblGrid>
                <a:gridCol w="610225"/>
                <a:gridCol w="609600"/>
                <a:gridCol w="608975"/>
              </a:tblGrid>
              <a:tr h="601975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  <a:endParaRPr sz="20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263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  <a:endParaRPr sz="20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263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  <a:endParaRPr sz="20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263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99"/>
                    </a:solidFill>
                  </a:tcPr>
                </a:tc>
              </a:tr>
              <a:tr h="599450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  <a:endParaRPr sz="20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2510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  <a:endParaRPr sz="20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251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  <a:endParaRPr sz="20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251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99"/>
                    </a:solidFill>
                  </a:tcPr>
                </a:tc>
              </a:tr>
              <a:tr h="601350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  <a:endParaRPr sz="20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2572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  <a:endParaRPr sz="20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257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  <a:endParaRPr sz="20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257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99"/>
                    </a:solidFill>
                  </a:tcPr>
                </a:tc>
              </a:tr>
            </a:tbl>
          </a:graphicData>
        </a:graphic>
      </p:graphicFrame>
      <p:pic>
        <p:nvPicPr>
          <p:cNvPr id="517" name="Google Shape;51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4088" y="3745991"/>
            <a:ext cx="268224" cy="890015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31"/>
          <p:cNvSpPr txBox="1"/>
          <p:nvPr/>
        </p:nvSpPr>
        <p:spPr>
          <a:xfrm>
            <a:off x="1257305" y="5526643"/>
            <a:ext cx="9677400" cy="565800"/>
          </a:xfrm>
          <a:prstGeom prst="rect">
            <a:avLst/>
          </a:prstGeom>
          <a:noFill/>
          <a:ln cap="flat" cmpd="sng" w="25400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36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Average filter performs image smoothing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9" name="Google Shape;519;p3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Average or Mean Filter (Box Filter)</a:t>
            </a:r>
            <a:endParaRPr/>
          </a:p>
        </p:txBody>
      </p:sp>
      <p:sp>
        <p:nvSpPr>
          <p:cNvPr id="520" name="Google Shape;520;p31"/>
          <p:cNvSpPr txBox="1"/>
          <p:nvPr/>
        </p:nvSpPr>
        <p:spPr>
          <a:xfrm>
            <a:off x="688351" y="966425"/>
            <a:ext cx="111993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8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All weights are equal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Mask with positive entries (weights) that sum to 1.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Replaces each pixel with an average of	its neighborhood.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1" name="Google Shape;521;p3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2" name="Google Shape;522;p3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3" name="Google Shape;523;p31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0679" y="1783079"/>
            <a:ext cx="4389120" cy="438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2679" y="1783079"/>
            <a:ext cx="4389120" cy="438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53100" y="1014222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2"/>
          <p:cNvSpPr txBox="1"/>
          <p:nvPr>
            <p:ph idx="4294967295" type="title"/>
          </p:nvPr>
        </p:nvSpPr>
        <p:spPr>
          <a:xfrm>
            <a:off x="75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Example</a:t>
            </a:r>
            <a:r>
              <a:rPr lang="en-US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: Smoothing with a Box Filter</a:t>
            </a:r>
            <a:endParaRPr/>
          </a:p>
        </p:txBody>
      </p:sp>
      <p:sp>
        <p:nvSpPr>
          <p:cNvPr id="532" name="Google Shape;532;p3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3" name="Google Shape;533;p32"/>
          <p:cNvSpPr txBox="1"/>
          <p:nvPr>
            <p:ph idx="4294967295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39" name="Google Shape;539;p3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40" name="Google Shape;540;p33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Gaussian Filter</a:t>
            </a:r>
            <a:endParaRPr/>
          </a:p>
        </p:txBody>
      </p:sp>
      <p:sp>
        <p:nvSpPr>
          <p:cNvPr id="541" name="Google Shape;541;p33"/>
          <p:cNvSpPr txBox="1"/>
          <p:nvPr/>
        </p:nvSpPr>
        <p:spPr>
          <a:xfrm>
            <a:off x="612153" y="1062225"/>
            <a:ext cx="112755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Arial"/>
              <a:buChar char="•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Idea: Weight contributions of neighboring pixels by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542" name="Google Shape;54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676400"/>
            <a:ext cx="1828800" cy="1828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43" name="Google Shape;543;p33"/>
          <p:cNvGraphicFramePr/>
          <p:nvPr/>
        </p:nvGraphicFramePr>
        <p:xfrm>
          <a:off x="6853618" y="19015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{2B407BD2-0900-41C8-8F19-0FB04DCB6EF6}</a:tableStyleId>
              </a:tblPr>
              <a:tblGrid>
                <a:gridCol w="619125"/>
                <a:gridCol w="603250"/>
                <a:gridCol w="603250"/>
                <a:gridCol w="603250"/>
                <a:gridCol w="648325"/>
              </a:tblGrid>
              <a:tr h="297825">
                <a:tc>
                  <a:txBody>
                    <a:bodyPr/>
                    <a:lstStyle/>
                    <a:p>
                      <a:pPr indent="0" lvl="0" marL="158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0.003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311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0.013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31125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0.022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31125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0.013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31125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0.003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31125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15875" marR="0" rtl="0" algn="ctr">
                        <a:lnSpc>
                          <a:spcPct val="10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0.013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0.059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0.097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0.059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0.013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43200">
                <a:tc>
                  <a:txBody>
                    <a:bodyPr/>
                    <a:lstStyle/>
                    <a:p>
                      <a:pPr indent="0" lvl="0" marL="15875" marR="0" rtl="0" algn="ctr">
                        <a:lnSpc>
                          <a:spcPct val="10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0.022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0.097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0.159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0.097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0.022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43200">
                <a:tc>
                  <a:txBody>
                    <a:bodyPr/>
                    <a:lstStyle/>
                    <a:p>
                      <a:pPr indent="0" lvl="0" marL="15875" marR="0" rtl="0" algn="ctr">
                        <a:lnSpc>
                          <a:spcPct val="10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0.013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0.059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0.097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0.059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0.013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93375">
                <a:tc>
                  <a:txBody>
                    <a:bodyPr/>
                    <a:lstStyle/>
                    <a:p>
                      <a:pPr indent="0" lvl="0" marL="15875" marR="0" rtl="0" algn="ctr">
                        <a:lnSpc>
                          <a:spcPct val="10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0.003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0.013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0.022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0.013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0.003</a:t>
                      </a:r>
                      <a:endParaRPr sz="16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4" name="Google Shape;544;p33"/>
          <p:cNvSpPr txBox="1"/>
          <p:nvPr/>
        </p:nvSpPr>
        <p:spPr>
          <a:xfrm>
            <a:off x="7889747" y="3536188"/>
            <a:ext cx="11176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eorgia"/>
                <a:ea typeface="Georgia"/>
                <a:cs typeface="Georgia"/>
                <a:sym typeface="Georgia"/>
              </a:rPr>
              <a:t>5 x 5, </a:t>
            </a:r>
            <a:r>
              <a:rPr lang="en-US" sz="1800"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latin typeface="Georgia"/>
                <a:ea typeface="Georgia"/>
                <a:cs typeface="Georgia"/>
                <a:sym typeface="Georgia"/>
              </a:rPr>
              <a:t>= 1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5" name="Google Shape;545;p33"/>
          <p:cNvSpPr txBox="1"/>
          <p:nvPr/>
        </p:nvSpPr>
        <p:spPr>
          <a:xfrm>
            <a:off x="305175" y="5261075"/>
            <a:ext cx="11735400" cy="941700"/>
          </a:xfrm>
          <a:prstGeom prst="rect">
            <a:avLst/>
          </a:prstGeom>
          <a:noFill/>
          <a:ln cap="flat" cmpd="sng" w="25400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0" lvl="0" marL="90805" marR="273050" rtl="0" algn="l">
              <a:lnSpc>
                <a:spcPct val="95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u="sng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Constant factor at front makes volume sum to 1 </a:t>
            </a:r>
            <a:r>
              <a:rPr lang="en-US" sz="3100" u="none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(can be ignored, as we should re-normalize weights to sum to 1 in any case)</a:t>
            </a:r>
            <a:endParaRPr sz="3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6" name="Google Shape;546;p33"/>
          <p:cNvSpPr txBox="1"/>
          <p:nvPr/>
        </p:nvSpPr>
        <p:spPr>
          <a:xfrm>
            <a:off x="7394452" y="4357875"/>
            <a:ext cx="2841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Gaussian Kernel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547" name="Google Shape;54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2394" y="2120462"/>
            <a:ext cx="2771337" cy="1602827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33"/>
          <p:cNvSpPr txBox="1"/>
          <p:nvPr/>
        </p:nvSpPr>
        <p:spPr>
          <a:xfrm>
            <a:off x="3595623" y="4406646"/>
            <a:ext cx="165735" cy="292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00AFEF"/>
                </a:solidFill>
                <a:latin typeface="Cambria Math"/>
                <a:ea typeface="Cambria Math"/>
                <a:cs typeface="Cambria Math"/>
                <a:sym typeface="Cambria Math"/>
              </a:rPr>
              <a:t>𝝈</a:t>
            </a:r>
            <a:endParaRPr sz="17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549" name="Google Shape;549;p33"/>
          <p:cNvSpPr/>
          <p:nvPr/>
        </p:nvSpPr>
        <p:spPr>
          <a:xfrm>
            <a:off x="3788028" y="4350892"/>
            <a:ext cx="669925" cy="282575"/>
          </a:xfrm>
          <a:custGeom>
            <a:rect b="b" l="l" r="r" t="t"/>
            <a:pathLst>
              <a:path extrusionOk="0" h="282575" w="669925">
                <a:moveTo>
                  <a:pt x="579501" y="0"/>
                </a:moveTo>
                <a:lnTo>
                  <a:pt x="575563" y="11429"/>
                </a:lnTo>
                <a:lnTo>
                  <a:pt x="591871" y="18522"/>
                </a:lnTo>
                <a:lnTo>
                  <a:pt x="605917" y="28352"/>
                </a:lnTo>
                <a:lnTo>
                  <a:pt x="634440" y="73852"/>
                </a:lnTo>
                <a:lnTo>
                  <a:pt x="642695" y="115341"/>
                </a:lnTo>
                <a:lnTo>
                  <a:pt x="642735" y="115623"/>
                </a:lnTo>
                <a:lnTo>
                  <a:pt x="642717" y="164633"/>
                </a:lnTo>
                <a:lnTo>
                  <a:pt x="634386" y="207547"/>
                </a:lnTo>
                <a:lnTo>
                  <a:pt x="605964" y="253841"/>
                </a:lnTo>
                <a:lnTo>
                  <a:pt x="575945" y="270890"/>
                </a:lnTo>
                <a:lnTo>
                  <a:pt x="579501" y="282320"/>
                </a:lnTo>
                <a:lnTo>
                  <a:pt x="617997" y="264239"/>
                </a:lnTo>
                <a:lnTo>
                  <a:pt x="646303" y="232917"/>
                </a:lnTo>
                <a:lnTo>
                  <a:pt x="663733" y="191119"/>
                </a:lnTo>
                <a:lnTo>
                  <a:pt x="669544" y="141223"/>
                </a:lnTo>
                <a:lnTo>
                  <a:pt x="668107" y="115623"/>
                </a:lnTo>
                <a:lnTo>
                  <a:pt x="668091" y="115341"/>
                </a:lnTo>
                <a:lnTo>
                  <a:pt x="656470" y="69482"/>
                </a:lnTo>
                <a:lnTo>
                  <a:pt x="633347" y="32146"/>
                </a:lnTo>
                <a:lnTo>
                  <a:pt x="599957" y="7381"/>
                </a:lnTo>
                <a:lnTo>
                  <a:pt x="579501" y="0"/>
                </a:lnTo>
                <a:close/>
              </a:path>
              <a:path extrusionOk="0" h="282575" w="669925">
                <a:moveTo>
                  <a:pt x="90043" y="0"/>
                </a:moveTo>
                <a:lnTo>
                  <a:pt x="51641" y="18097"/>
                </a:lnTo>
                <a:lnTo>
                  <a:pt x="23241" y="49529"/>
                </a:lnTo>
                <a:lnTo>
                  <a:pt x="5810" y="91424"/>
                </a:lnTo>
                <a:lnTo>
                  <a:pt x="85" y="139699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31" y="263771"/>
                </a:lnTo>
                <a:lnTo>
                  <a:pt x="63642" y="253841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A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0" name="Google Shape;550;p33"/>
          <p:cNvSpPr txBox="1"/>
          <p:nvPr/>
        </p:nvSpPr>
        <p:spPr>
          <a:xfrm>
            <a:off x="3390646" y="4261866"/>
            <a:ext cx="1419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AFEF"/>
                </a:solidFill>
                <a:latin typeface="Cambria Math"/>
                <a:ea typeface="Cambria Math"/>
                <a:cs typeface="Cambria Math"/>
                <a:sym typeface="Cambria Math"/>
              </a:rPr>
              <a:t>𝑮	𝒙, 𝒚   =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551" name="Google Shape;551;p33"/>
          <p:cNvSpPr/>
          <p:nvPr/>
        </p:nvSpPr>
        <p:spPr>
          <a:xfrm>
            <a:off x="4881371" y="4482084"/>
            <a:ext cx="730250" cy="20320"/>
          </a:xfrm>
          <a:custGeom>
            <a:rect b="b" l="l" r="r" t="t"/>
            <a:pathLst>
              <a:path extrusionOk="0" h="20320" w="730250">
                <a:moveTo>
                  <a:pt x="729996" y="0"/>
                </a:moveTo>
                <a:lnTo>
                  <a:pt x="0" y="0"/>
                </a:lnTo>
                <a:lnTo>
                  <a:pt x="0" y="19812"/>
                </a:lnTo>
                <a:lnTo>
                  <a:pt x="729996" y="19812"/>
                </a:lnTo>
                <a:lnTo>
                  <a:pt x="729996" y="0"/>
                </a:lnTo>
                <a:close/>
              </a:path>
            </a:pathLst>
          </a:custGeom>
          <a:solidFill>
            <a:srgbClr val="00A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2" name="Google Shape;552;p33"/>
          <p:cNvSpPr txBox="1"/>
          <p:nvPr/>
        </p:nvSpPr>
        <p:spPr>
          <a:xfrm>
            <a:off x="5142484" y="4030979"/>
            <a:ext cx="208279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AFEF"/>
                </a:solidFill>
                <a:latin typeface="Cambria Math"/>
                <a:ea typeface="Cambria Math"/>
                <a:cs typeface="Cambria Math"/>
                <a:sym typeface="Cambria Math"/>
              </a:rPr>
              <a:t>𝟏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553" name="Google Shape;553;p33"/>
          <p:cNvSpPr txBox="1"/>
          <p:nvPr/>
        </p:nvSpPr>
        <p:spPr>
          <a:xfrm>
            <a:off x="4843526" y="4466082"/>
            <a:ext cx="79311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AFEF"/>
                </a:solidFill>
                <a:latin typeface="Cambria Math"/>
                <a:ea typeface="Cambria Math"/>
                <a:cs typeface="Cambria Math"/>
                <a:sym typeface="Cambria Math"/>
              </a:rPr>
              <a:t>𝟐𝝅𝝈</a:t>
            </a:r>
            <a:r>
              <a:rPr baseline="30000" lang="en-US" sz="2625">
                <a:solidFill>
                  <a:srgbClr val="00AFEF"/>
                </a:solidFill>
                <a:latin typeface="Cambria Math"/>
                <a:ea typeface="Cambria Math"/>
                <a:cs typeface="Cambria Math"/>
                <a:sym typeface="Cambria Math"/>
              </a:rPr>
              <a:t>𝟐</a:t>
            </a:r>
            <a:endParaRPr baseline="30000" sz="262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554" name="Google Shape;554;p33"/>
          <p:cNvSpPr txBox="1"/>
          <p:nvPr/>
        </p:nvSpPr>
        <p:spPr>
          <a:xfrm>
            <a:off x="5649976" y="4088129"/>
            <a:ext cx="355600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80340" rtl="0" algn="l">
              <a:lnSpc>
                <a:spcPct val="99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00AFEF"/>
                </a:solidFill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endParaRPr sz="175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12700" rtl="0" algn="l">
              <a:lnSpc>
                <a:spcPct val="104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AFEF"/>
                </a:solidFill>
                <a:latin typeface="Cambria Math"/>
                <a:ea typeface="Cambria Math"/>
                <a:cs typeface="Cambria Math"/>
                <a:sym typeface="Cambria Math"/>
              </a:rPr>
              <a:t>𝒆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555" name="Google Shape;555;p33"/>
          <p:cNvSpPr/>
          <p:nvPr/>
        </p:nvSpPr>
        <p:spPr>
          <a:xfrm>
            <a:off x="6009894" y="3976242"/>
            <a:ext cx="880110" cy="567690"/>
          </a:xfrm>
          <a:custGeom>
            <a:rect b="b" l="l" r="r" t="t"/>
            <a:pathLst>
              <a:path extrusionOk="0" h="567689" w="880109">
                <a:moveTo>
                  <a:pt x="102235" y="8128"/>
                </a:moveTo>
                <a:lnTo>
                  <a:pt x="57035" y="47663"/>
                </a:lnTo>
                <a:lnTo>
                  <a:pt x="26162" y="114173"/>
                </a:lnTo>
                <a:lnTo>
                  <a:pt x="14732" y="153187"/>
                </a:lnTo>
                <a:lnTo>
                  <a:pt x="6553" y="194373"/>
                </a:lnTo>
                <a:lnTo>
                  <a:pt x="1638" y="237769"/>
                </a:lnTo>
                <a:lnTo>
                  <a:pt x="0" y="283464"/>
                </a:lnTo>
                <a:lnTo>
                  <a:pt x="1574" y="326618"/>
                </a:lnTo>
                <a:lnTo>
                  <a:pt x="1638" y="328422"/>
                </a:lnTo>
                <a:lnTo>
                  <a:pt x="6553" y="371627"/>
                </a:lnTo>
                <a:lnTo>
                  <a:pt x="14732" y="412953"/>
                </a:lnTo>
                <a:lnTo>
                  <a:pt x="26162" y="452374"/>
                </a:lnTo>
                <a:lnTo>
                  <a:pt x="40449" y="488429"/>
                </a:lnTo>
                <a:lnTo>
                  <a:pt x="75933" y="545960"/>
                </a:lnTo>
                <a:lnTo>
                  <a:pt x="97155" y="567436"/>
                </a:lnTo>
                <a:lnTo>
                  <a:pt x="102235" y="559308"/>
                </a:lnTo>
                <a:lnTo>
                  <a:pt x="84010" y="537502"/>
                </a:lnTo>
                <a:lnTo>
                  <a:pt x="68033" y="511302"/>
                </a:lnTo>
                <a:lnTo>
                  <a:pt x="42799" y="445770"/>
                </a:lnTo>
                <a:lnTo>
                  <a:pt x="33642" y="407771"/>
                </a:lnTo>
                <a:lnTo>
                  <a:pt x="27139" y="368046"/>
                </a:lnTo>
                <a:lnTo>
                  <a:pt x="23253" y="326618"/>
                </a:lnTo>
                <a:lnTo>
                  <a:pt x="21971" y="283464"/>
                </a:lnTo>
                <a:lnTo>
                  <a:pt x="23253" y="239483"/>
                </a:lnTo>
                <a:lnTo>
                  <a:pt x="27139" y="197650"/>
                </a:lnTo>
                <a:lnTo>
                  <a:pt x="33642" y="157949"/>
                </a:lnTo>
                <a:lnTo>
                  <a:pt x="42799" y="120396"/>
                </a:lnTo>
                <a:lnTo>
                  <a:pt x="68135" y="55841"/>
                </a:lnTo>
                <a:lnTo>
                  <a:pt x="84086" y="29870"/>
                </a:lnTo>
                <a:lnTo>
                  <a:pt x="102235" y="8128"/>
                </a:lnTo>
                <a:close/>
              </a:path>
              <a:path extrusionOk="0" h="567689" w="880109">
                <a:moveTo>
                  <a:pt x="771144" y="276479"/>
                </a:moveTo>
                <a:lnTo>
                  <a:pt x="109728" y="276479"/>
                </a:lnTo>
                <a:lnTo>
                  <a:pt x="109728" y="290957"/>
                </a:lnTo>
                <a:lnTo>
                  <a:pt x="771144" y="290957"/>
                </a:lnTo>
                <a:lnTo>
                  <a:pt x="771144" y="276479"/>
                </a:lnTo>
                <a:close/>
              </a:path>
              <a:path extrusionOk="0" h="567689" w="880109">
                <a:moveTo>
                  <a:pt x="879716" y="283464"/>
                </a:moveTo>
                <a:lnTo>
                  <a:pt x="878166" y="239483"/>
                </a:lnTo>
                <a:lnTo>
                  <a:pt x="873213" y="194373"/>
                </a:lnTo>
                <a:lnTo>
                  <a:pt x="865047" y="153187"/>
                </a:lnTo>
                <a:lnTo>
                  <a:pt x="853567" y="114173"/>
                </a:lnTo>
                <a:lnTo>
                  <a:pt x="839279" y="78549"/>
                </a:lnTo>
                <a:lnTo>
                  <a:pt x="803846" y="21488"/>
                </a:lnTo>
                <a:lnTo>
                  <a:pt x="782701" y="0"/>
                </a:lnTo>
                <a:lnTo>
                  <a:pt x="777494" y="8128"/>
                </a:lnTo>
                <a:lnTo>
                  <a:pt x="795616" y="29870"/>
                </a:lnTo>
                <a:lnTo>
                  <a:pt x="811542" y="55841"/>
                </a:lnTo>
                <a:lnTo>
                  <a:pt x="836930" y="120396"/>
                </a:lnTo>
                <a:lnTo>
                  <a:pt x="846086" y="157949"/>
                </a:lnTo>
                <a:lnTo>
                  <a:pt x="852639" y="197650"/>
                </a:lnTo>
                <a:lnTo>
                  <a:pt x="856564" y="239483"/>
                </a:lnTo>
                <a:lnTo>
                  <a:pt x="857885" y="283464"/>
                </a:lnTo>
                <a:lnTo>
                  <a:pt x="856564" y="326618"/>
                </a:lnTo>
                <a:lnTo>
                  <a:pt x="852639" y="368046"/>
                </a:lnTo>
                <a:lnTo>
                  <a:pt x="846086" y="407771"/>
                </a:lnTo>
                <a:lnTo>
                  <a:pt x="836930" y="445770"/>
                </a:lnTo>
                <a:lnTo>
                  <a:pt x="811682" y="511302"/>
                </a:lnTo>
                <a:lnTo>
                  <a:pt x="777494" y="559308"/>
                </a:lnTo>
                <a:lnTo>
                  <a:pt x="782701" y="567436"/>
                </a:lnTo>
                <a:lnTo>
                  <a:pt x="822706" y="519633"/>
                </a:lnTo>
                <a:lnTo>
                  <a:pt x="853567" y="452374"/>
                </a:lnTo>
                <a:lnTo>
                  <a:pt x="865047" y="412953"/>
                </a:lnTo>
                <a:lnTo>
                  <a:pt x="873213" y="371627"/>
                </a:lnTo>
                <a:lnTo>
                  <a:pt x="878103" y="328422"/>
                </a:lnTo>
                <a:lnTo>
                  <a:pt x="879716" y="283464"/>
                </a:lnTo>
                <a:close/>
              </a:path>
            </a:pathLst>
          </a:custGeom>
          <a:solidFill>
            <a:srgbClr val="00A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6" name="Google Shape;556;p33"/>
          <p:cNvSpPr txBox="1"/>
          <p:nvPr/>
        </p:nvSpPr>
        <p:spPr>
          <a:xfrm>
            <a:off x="6082029" y="3956303"/>
            <a:ext cx="727710" cy="292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00AFEF"/>
                </a:solidFill>
                <a:latin typeface="Cambria Math"/>
                <a:ea typeface="Cambria Math"/>
                <a:cs typeface="Cambria Math"/>
                <a:sym typeface="Cambria Math"/>
              </a:rPr>
              <a:t>𝒙</a:t>
            </a:r>
            <a:r>
              <a:rPr baseline="30000" lang="en-US" sz="2175">
                <a:solidFill>
                  <a:srgbClr val="00AFEF"/>
                </a:solidFill>
                <a:latin typeface="Cambria Math"/>
                <a:ea typeface="Cambria Math"/>
                <a:cs typeface="Cambria Math"/>
                <a:sym typeface="Cambria Math"/>
              </a:rPr>
              <a:t>𝟐</a:t>
            </a:r>
            <a:r>
              <a:rPr lang="en-US" sz="1750">
                <a:solidFill>
                  <a:srgbClr val="00AFEF"/>
                </a:solidFill>
                <a:latin typeface="Cambria Math"/>
                <a:ea typeface="Cambria Math"/>
                <a:cs typeface="Cambria Math"/>
                <a:sym typeface="Cambria Math"/>
              </a:rPr>
              <a:t>+𝒚</a:t>
            </a:r>
            <a:r>
              <a:rPr baseline="30000" lang="en-US" sz="2175">
                <a:solidFill>
                  <a:srgbClr val="00AFEF"/>
                </a:solidFill>
                <a:latin typeface="Cambria Math"/>
                <a:ea typeface="Cambria Math"/>
                <a:cs typeface="Cambria Math"/>
                <a:sym typeface="Cambria Math"/>
              </a:rPr>
              <a:t>𝟐</a:t>
            </a:r>
            <a:endParaRPr baseline="30000" sz="217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557" name="Google Shape;557;p33"/>
          <p:cNvSpPr txBox="1"/>
          <p:nvPr/>
        </p:nvSpPr>
        <p:spPr>
          <a:xfrm>
            <a:off x="6216141" y="4236720"/>
            <a:ext cx="459740" cy="292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00AFEF"/>
                </a:solidFill>
                <a:latin typeface="Cambria Math"/>
                <a:ea typeface="Cambria Math"/>
                <a:cs typeface="Cambria Math"/>
                <a:sym typeface="Cambria Math"/>
              </a:rPr>
              <a:t>𝟐𝝈</a:t>
            </a:r>
            <a:r>
              <a:rPr baseline="30000" lang="en-US" sz="2175">
                <a:solidFill>
                  <a:srgbClr val="00AFEF"/>
                </a:solidFill>
                <a:latin typeface="Cambria Math"/>
                <a:ea typeface="Cambria Math"/>
                <a:cs typeface="Cambria Math"/>
                <a:sym typeface="Cambria Math"/>
              </a:rPr>
              <a:t>𝟐</a:t>
            </a:r>
            <a:endParaRPr baseline="30000" sz="217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558" name="Google Shape;558;p3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9" name="Google Shape;559;p3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0" name="Google Shape;560;p33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905000"/>
            <a:ext cx="4419600" cy="441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1905000"/>
            <a:ext cx="4419600" cy="441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0" y="10668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34"/>
          <p:cNvSpPr txBox="1"/>
          <p:nvPr>
            <p:ph idx="4294967295" type="title"/>
          </p:nvPr>
        </p:nvSpPr>
        <p:spPr>
          <a:xfrm>
            <a:off x="75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Smoothing with a Gaussian Filter</a:t>
            </a:r>
            <a:endParaRPr/>
          </a:p>
        </p:txBody>
      </p:sp>
      <p:sp>
        <p:nvSpPr>
          <p:cNvPr id="569" name="Google Shape;569;p3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0" name="Google Shape;570;p34"/>
          <p:cNvSpPr txBox="1"/>
          <p:nvPr>
            <p:ph idx="4294967295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76" name="Google Shape;576;p35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77" name="Google Shape;577;p35"/>
          <p:cNvSpPr txBox="1"/>
          <p:nvPr>
            <p:ph idx="4294967295" type="title"/>
          </p:nvPr>
        </p:nvSpPr>
        <p:spPr>
          <a:xfrm>
            <a:off x="0" y="1531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Application of Smoothing: </a:t>
            </a:r>
            <a:r>
              <a:rPr lang="en-US" sz="36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Noise Removal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8" name="Google Shape;578;p35"/>
          <p:cNvSpPr txBox="1"/>
          <p:nvPr/>
        </p:nvSpPr>
        <p:spPr>
          <a:xfrm>
            <a:off x="688350" y="988050"/>
            <a:ext cx="83991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For example</a:t>
            </a: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, the central pixel in the figure below is replaced by the value: 13 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    (the nearest integer 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     to the average)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9" name="Google Shape;579;p35"/>
          <p:cNvSpPr txBox="1"/>
          <p:nvPr/>
        </p:nvSpPr>
        <p:spPr>
          <a:xfrm>
            <a:off x="678490" y="3741418"/>
            <a:ext cx="10835100" cy="26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9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How does noise get removed in smoothing?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  <a:p>
            <a:pPr indent="-285750" lvl="0" marL="755650" marR="5080" rtl="0" algn="l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If	any one of	the pixels in the neighborhood has a faulty value due to noise, </a:t>
            </a:r>
            <a:r>
              <a:rPr i="1" lang="en-US" sz="2800" u="sng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this fault will now be smeared over nine pixels</a:t>
            </a:r>
            <a:r>
              <a:rPr i="1" lang="en-US" sz="2800" u="none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u="none">
                <a:latin typeface="Georgia"/>
                <a:ea typeface="Georgia"/>
                <a:cs typeface="Georgia"/>
                <a:sym typeface="Georgia"/>
              </a:rPr>
              <a:t>as the image is smoothed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Noise is removed but smoothing tends to blur the image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580" name="Google Shape;580;p35"/>
          <p:cNvGraphicFramePr/>
          <p:nvPr/>
        </p:nvGraphicFramePr>
        <p:xfrm>
          <a:off x="6165850" y="2051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{2B407BD2-0900-41C8-8F19-0FB04DCB6EF6}</a:tableStyleId>
              </a:tblPr>
              <a:tblGrid>
                <a:gridCol w="914400"/>
                <a:gridCol w="914400"/>
                <a:gridCol w="914400"/>
              </a:tblGrid>
              <a:tr h="558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pic>
        <p:nvPicPr>
          <p:cNvPr id="581" name="Google Shape;58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20200" y="1600200"/>
            <a:ext cx="2923031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3" name="Google Shape;583;p3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4" name="Google Shape;584;p35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590" name="Google Shape;590;p36"/>
          <p:cNvGrpSpPr/>
          <p:nvPr/>
        </p:nvGrpSpPr>
        <p:grpSpPr>
          <a:xfrm>
            <a:off x="305181" y="974978"/>
            <a:ext cx="11582400" cy="5349621"/>
            <a:chOff x="305181" y="974978"/>
            <a:chExt cx="11582400" cy="5349621"/>
          </a:xfrm>
        </p:grpSpPr>
        <p:sp>
          <p:nvSpPr>
            <p:cNvPr id="591" name="Google Shape;591;p36"/>
            <p:cNvSpPr/>
            <p:nvPr/>
          </p:nvSpPr>
          <p:spPr>
            <a:xfrm>
              <a:off x="305181" y="974978"/>
              <a:ext cx="11582400" cy="0"/>
            </a:xfrm>
            <a:custGeom>
              <a:rect b="b" l="l" r="r" t="t"/>
              <a:pathLst>
                <a:path extrusionOk="0" h="120000" w="11582400">
                  <a:moveTo>
                    <a:pt x="0" y="0"/>
                  </a:moveTo>
                  <a:lnTo>
                    <a:pt x="11582400" y="0"/>
                  </a:lnTo>
                </a:path>
              </a:pathLst>
            </a:custGeom>
            <a:noFill/>
            <a:ln cap="flat" cmpd="sng" w="9525">
              <a:solidFill>
                <a:srgbClr val="A400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92" name="Google Shape;59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78100" y="1015999"/>
              <a:ext cx="5880100" cy="5308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3" name="Google Shape;593;p36"/>
          <p:cNvSpPr txBox="1"/>
          <p:nvPr/>
        </p:nvSpPr>
        <p:spPr>
          <a:xfrm>
            <a:off x="8677152" y="1643375"/>
            <a:ext cx="29217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F2F9F"/>
                </a:solidFill>
                <a:latin typeface="Georgia"/>
                <a:ea typeface="Georgia"/>
                <a:cs typeface="Georgia"/>
                <a:sym typeface="Georgia"/>
              </a:rPr>
              <a:t>Each row shows smoothing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F2F9F"/>
                </a:solidFill>
                <a:latin typeface="Georgia"/>
                <a:ea typeface="Georgia"/>
                <a:cs typeface="Georgia"/>
                <a:sym typeface="Georgia"/>
              </a:rPr>
              <a:t>with Gaussians of different width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4" name="Google Shape;594;p36"/>
          <p:cNvSpPr txBox="1"/>
          <p:nvPr/>
        </p:nvSpPr>
        <p:spPr>
          <a:xfrm>
            <a:off x="8750424" y="4069450"/>
            <a:ext cx="3191700" cy="1489800"/>
          </a:xfrm>
          <a:prstGeom prst="rect">
            <a:avLst/>
          </a:prstGeom>
          <a:noFill/>
          <a:ln cap="flat" cmpd="sng" w="254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83210" marR="27495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Georgia"/>
                <a:ea typeface="Georgia"/>
                <a:cs typeface="Georgia"/>
                <a:sym typeface="Georgia"/>
              </a:rPr>
              <a:t>Smoothing reduces pixel noise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5" name="Google Shape;595;p36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Application of	Smoothing: </a:t>
            </a:r>
            <a:r>
              <a:rPr lang="en-US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Noise Removal</a:t>
            </a:r>
            <a:endParaRPr/>
          </a:p>
        </p:txBody>
      </p:sp>
      <p:sp>
        <p:nvSpPr>
          <p:cNvPr id="596" name="Google Shape;596;p36"/>
          <p:cNvSpPr txBox="1"/>
          <p:nvPr/>
        </p:nvSpPr>
        <p:spPr>
          <a:xfrm>
            <a:off x="305176" y="1228350"/>
            <a:ext cx="21663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Each column shows different amounts of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6"/>
          <p:cNvSpPr txBox="1"/>
          <p:nvPr/>
        </p:nvSpPr>
        <p:spPr>
          <a:xfrm>
            <a:off x="548640" y="2351532"/>
            <a:ext cx="1855470" cy="37274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Gaussian noise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9" name="Google Shape;599;p36"/>
          <p:cNvSpPr txBox="1"/>
          <p:nvPr>
            <p:ph idx="4294967295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05" name="Google Shape;605;p37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06" name="Google Shape;606;p37"/>
          <p:cNvSpPr txBox="1"/>
          <p:nvPr/>
        </p:nvSpPr>
        <p:spPr>
          <a:xfrm>
            <a:off x="688340" y="1679194"/>
            <a:ext cx="10532110" cy="176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125">
            <a:spAutoFit/>
          </a:bodyPr>
          <a:lstStyle/>
          <a:p>
            <a:pPr indent="-342900" lvl="0" marL="355600" marR="50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Both the Box filter and the Gaussian filter are </a:t>
            </a:r>
            <a:r>
              <a:rPr b="1" lang="en-US" sz="30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separable </a:t>
            </a:r>
            <a:r>
              <a:rPr lang="en-US" sz="30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into two 1-D convolution filters: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  <a:p>
            <a:pPr indent="-285750" lvl="1" marL="755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3000"/>
              <a:buFont typeface="Georgia"/>
              <a:buChar char="–"/>
            </a:pPr>
            <a:r>
              <a:rPr lang="en-US" sz="30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First convolve each row with a 1-D filter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  <a:p>
            <a:pPr indent="-285750" lvl="1" marL="755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3000"/>
              <a:buFont typeface="Georgia"/>
              <a:buChar char="–"/>
            </a:pPr>
            <a:r>
              <a:rPr lang="en-US" sz="30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Then convolve each column with a 1-D filter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7" name="Google Shape;607;p37"/>
          <p:cNvSpPr txBox="1"/>
          <p:nvPr/>
        </p:nvSpPr>
        <p:spPr>
          <a:xfrm>
            <a:off x="1145554" y="3416550"/>
            <a:ext cx="28752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– </a:t>
            </a:r>
            <a:r>
              <a:rPr i="1" lang="en-US" sz="30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or vice-versa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8" name="Google Shape;608;p37"/>
          <p:cNvSpPr txBox="1"/>
          <p:nvPr/>
        </p:nvSpPr>
        <p:spPr>
          <a:xfrm>
            <a:off x="0" y="18440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Efficient Implementation of </a:t>
            </a:r>
            <a:r>
              <a:rPr lang="en-US" sz="36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Box </a:t>
            </a:r>
            <a:r>
              <a:rPr lang="en-US" sz="3600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and </a:t>
            </a:r>
            <a:r>
              <a:rPr lang="en-US" sz="36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Gaussian Filters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9" name="Google Shape;609;p3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0" name="Google Shape;610;p3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1" name="Google Shape;611;p37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612" name="Google Shape;61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2000" y="1016250"/>
            <a:ext cx="4998600" cy="62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3154" y="3594354"/>
            <a:ext cx="7297379" cy="2686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9" name="Google Shape;619;p38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0" name="Google Shape;620;p38"/>
          <p:cNvSpPr txBox="1"/>
          <p:nvPr>
            <p:ph idx="4294967295" type="title"/>
          </p:nvPr>
        </p:nvSpPr>
        <p:spPr>
          <a:xfrm>
            <a:off x="0" y="1531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Separability of	the Gaussian Filter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1" name="Google Shape;621;p38"/>
          <p:cNvSpPr txBox="1"/>
          <p:nvPr/>
        </p:nvSpPr>
        <p:spPr>
          <a:xfrm>
            <a:off x="688353" y="1023100"/>
            <a:ext cx="9729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Considering 2D Gaussian equation as below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2" name="Google Shape;622;p38"/>
          <p:cNvSpPr txBox="1"/>
          <p:nvPr/>
        </p:nvSpPr>
        <p:spPr>
          <a:xfrm>
            <a:off x="688352" y="2556250"/>
            <a:ext cx="11154300" cy="10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-342900" lvl="0" marL="355600" marR="508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Gaussian equation </a:t>
            </a: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can be alternatively expressed as the product of	two functions as shown above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3" name="Google Shape;623;p38"/>
          <p:cNvSpPr txBox="1"/>
          <p:nvPr/>
        </p:nvSpPr>
        <p:spPr>
          <a:xfrm>
            <a:off x="1069350" y="3866725"/>
            <a:ext cx="3932700" cy="9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875">
            <a:spAutoFit/>
          </a:bodyPr>
          <a:lstStyle/>
          <a:p>
            <a:pPr indent="-284480" lvl="0" marL="297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2800"/>
              <a:buFont typeface="Arial"/>
              <a:buChar char="–"/>
            </a:pPr>
            <a:r>
              <a:rPr i="1" lang="en-US" sz="28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One function of	 x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84480" lvl="0" marL="29718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006FC0"/>
              </a:buClr>
              <a:buSzPts val="2800"/>
              <a:buFont typeface="Arial"/>
              <a:buChar char="–"/>
            </a:pPr>
            <a:r>
              <a:rPr i="1" lang="en-US" sz="28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Another function of y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4" name="Google Shape;624;p38"/>
          <p:cNvSpPr txBox="1"/>
          <p:nvPr/>
        </p:nvSpPr>
        <p:spPr>
          <a:xfrm>
            <a:off x="688351" y="5409450"/>
            <a:ext cx="111993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6F2F9F"/>
                </a:solidFill>
                <a:latin typeface="Georgia"/>
                <a:ea typeface="Georgia"/>
                <a:cs typeface="Georgia"/>
                <a:sym typeface="Georgia"/>
              </a:rPr>
              <a:t>These functions can be termed as </a:t>
            </a:r>
            <a:r>
              <a:rPr lang="en-US" sz="3200" u="sng">
                <a:solidFill>
                  <a:srgbClr val="6F2F9F"/>
                </a:solidFill>
                <a:latin typeface="Georgia"/>
                <a:ea typeface="Georgia"/>
                <a:cs typeface="Georgia"/>
                <a:sym typeface="Georgia"/>
              </a:rPr>
              <a:t>1-D Gaussian functions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5" name="Google Shape;625;p38"/>
          <p:cNvSpPr txBox="1"/>
          <p:nvPr/>
        </p:nvSpPr>
        <p:spPr>
          <a:xfrm>
            <a:off x="3367023" y="1999233"/>
            <a:ext cx="165735" cy="292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𝝈</a:t>
            </a:r>
            <a:endParaRPr sz="17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26" name="Google Shape;626;p38"/>
          <p:cNvSpPr/>
          <p:nvPr/>
        </p:nvSpPr>
        <p:spPr>
          <a:xfrm>
            <a:off x="3559428" y="1943735"/>
            <a:ext cx="669925" cy="282575"/>
          </a:xfrm>
          <a:custGeom>
            <a:rect b="b" l="l" r="r" t="t"/>
            <a:pathLst>
              <a:path extrusionOk="0" h="282575" w="669925">
                <a:moveTo>
                  <a:pt x="579501" y="0"/>
                </a:moveTo>
                <a:lnTo>
                  <a:pt x="575563" y="11429"/>
                </a:lnTo>
                <a:lnTo>
                  <a:pt x="591871" y="18504"/>
                </a:lnTo>
                <a:lnTo>
                  <a:pt x="605917" y="28305"/>
                </a:lnTo>
                <a:lnTo>
                  <a:pt x="634440" y="73852"/>
                </a:lnTo>
                <a:lnTo>
                  <a:pt x="642695" y="115339"/>
                </a:lnTo>
                <a:lnTo>
                  <a:pt x="642735" y="115623"/>
                </a:lnTo>
                <a:lnTo>
                  <a:pt x="642717" y="164580"/>
                </a:lnTo>
                <a:lnTo>
                  <a:pt x="634386" y="207529"/>
                </a:lnTo>
                <a:lnTo>
                  <a:pt x="605964" y="253777"/>
                </a:lnTo>
                <a:lnTo>
                  <a:pt x="575945" y="270763"/>
                </a:lnTo>
                <a:lnTo>
                  <a:pt x="579501" y="282320"/>
                </a:lnTo>
                <a:lnTo>
                  <a:pt x="617997" y="264239"/>
                </a:lnTo>
                <a:lnTo>
                  <a:pt x="646303" y="232917"/>
                </a:lnTo>
                <a:lnTo>
                  <a:pt x="663733" y="191071"/>
                </a:lnTo>
                <a:lnTo>
                  <a:pt x="669544" y="141224"/>
                </a:lnTo>
                <a:lnTo>
                  <a:pt x="668107" y="115623"/>
                </a:lnTo>
                <a:lnTo>
                  <a:pt x="668091" y="115339"/>
                </a:lnTo>
                <a:lnTo>
                  <a:pt x="656470" y="69429"/>
                </a:lnTo>
                <a:lnTo>
                  <a:pt x="633347" y="32093"/>
                </a:lnTo>
                <a:lnTo>
                  <a:pt x="599957" y="7379"/>
                </a:lnTo>
                <a:lnTo>
                  <a:pt x="579501" y="0"/>
                </a:lnTo>
                <a:close/>
              </a:path>
              <a:path extrusionOk="0" h="282575" w="66992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845" y="141224"/>
                </a:lnTo>
                <a:lnTo>
                  <a:pt x="25781" y="139700"/>
                </a:lnTo>
                <a:lnTo>
                  <a:pt x="29972" y="93678"/>
                </a:lnTo>
                <a:lnTo>
                  <a:pt x="42545" y="56134"/>
                </a:lnTo>
                <a:lnTo>
                  <a:pt x="77799" y="18504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7" name="Google Shape;627;p38"/>
          <p:cNvSpPr txBox="1"/>
          <p:nvPr/>
        </p:nvSpPr>
        <p:spPr>
          <a:xfrm>
            <a:off x="3162045" y="1854453"/>
            <a:ext cx="1419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𝑮	𝒙, 𝒚   =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28" name="Google Shape;628;p38"/>
          <p:cNvSpPr/>
          <p:nvPr/>
        </p:nvSpPr>
        <p:spPr>
          <a:xfrm>
            <a:off x="4652771" y="2074926"/>
            <a:ext cx="730250" cy="20320"/>
          </a:xfrm>
          <a:custGeom>
            <a:rect b="b" l="l" r="r" t="t"/>
            <a:pathLst>
              <a:path extrusionOk="0" h="20319" w="730250">
                <a:moveTo>
                  <a:pt x="729996" y="0"/>
                </a:moveTo>
                <a:lnTo>
                  <a:pt x="0" y="0"/>
                </a:lnTo>
                <a:lnTo>
                  <a:pt x="0" y="19812"/>
                </a:lnTo>
                <a:lnTo>
                  <a:pt x="729996" y="19812"/>
                </a:lnTo>
                <a:lnTo>
                  <a:pt x="729996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9" name="Google Shape;629;p38"/>
          <p:cNvSpPr txBox="1"/>
          <p:nvPr/>
        </p:nvSpPr>
        <p:spPr>
          <a:xfrm>
            <a:off x="4913884" y="1623567"/>
            <a:ext cx="208279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𝟏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30" name="Google Shape;630;p38"/>
          <p:cNvSpPr txBox="1"/>
          <p:nvPr/>
        </p:nvSpPr>
        <p:spPr>
          <a:xfrm>
            <a:off x="4614926" y="2058670"/>
            <a:ext cx="79311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𝟐𝝅𝝈</a:t>
            </a:r>
            <a:r>
              <a:rPr baseline="30000" lang="en-US" sz="2625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𝟐</a:t>
            </a:r>
            <a:endParaRPr baseline="30000" sz="262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31" name="Google Shape;631;p38"/>
          <p:cNvSpPr txBox="1"/>
          <p:nvPr/>
        </p:nvSpPr>
        <p:spPr>
          <a:xfrm>
            <a:off x="5421376" y="1680717"/>
            <a:ext cx="354965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9705" rtl="0" algn="l">
              <a:lnSpc>
                <a:spcPct val="99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endParaRPr sz="175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12700" rtl="0" algn="l">
              <a:lnSpc>
                <a:spcPct val="104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𝒆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32" name="Google Shape;632;p38"/>
          <p:cNvSpPr/>
          <p:nvPr/>
        </p:nvSpPr>
        <p:spPr>
          <a:xfrm>
            <a:off x="5781294" y="1569084"/>
            <a:ext cx="880110" cy="567690"/>
          </a:xfrm>
          <a:custGeom>
            <a:rect b="b" l="l" r="r" t="t"/>
            <a:pathLst>
              <a:path extrusionOk="0" h="567689" w="880109">
                <a:moveTo>
                  <a:pt x="102235" y="8128"/>
                </a:moveTo>
                <a:lnTo>
                  <a:pt x="57035" y="47650"/>
                </a:lnTo>
                <a:lnTo>
                  <a:pt x="26162" y="114046"/>
                </a:lnTo>
                <a:lnTo>
                  <a:pt x="14732" y="153073"/>
                </a:lnTo>
                <a:lnTo>
                  <a:pt x="6553" y="194310"/>
                </a:lnTo>
                <a:lnTo>
                  <a:pt x="1638" y="237744"/>
                </a:lnTo>
                <a:lnTo>
                  <a:pt x="0" y="283464"/>
                </a:lnTo>
                <a:lnTo>
                  <a:pt x="1574" y="326618"/>
                </a:lnTo>
                <a:lnTo>
                  <a:pt x="1638" y="328422"/>
                </a:lnTo>
                <a:lnTo>
                  <a:pt x="6553" y="371627"/>
                </a:lnTo>
                <a:lnTo>
                  <a:pt x="14732" y="412953"/>
                </a:lnTo>
                <a:lnTo>
                  <a:pt x="26162" y="452374"/>
                </a:lnTo>
                <a:lnTo>
                  <a:pt x="40449" y="488429"/>
                </a:lnTo>
                <a:lnTo>
                  <a:pt x="75933" y="545909"/>
                </a:lnTo>
                <a:lnTo>
                  <a:pt x="97155" y="567309"/>
                </a:lnTo>
                <a:lnTo>
                  <a:pt x="102235" y="559308"/>
                </a:lnTo>
                <a:lnTo>
                  <a:pt x="84010" y="537502"/>
                </a:lnTo>
                <a:lnTo>
                  <a:pt x="68033" y="511302"/>
                </a:lnTo>
                <a:lnTo>
                  <a:pt x="42799" y="445770"/>
                </a:lnTo>
                <a:lnTo>
                  <a:pt x="33642" y="407771"/>
                </a:lnTo>
                <a:lnTo>
                  <a:pt x="27139" y="368046"/>
                </a:lnTo>
                <a:lnTo>
                  <a:pt x="23253" y="326618"/>
                </a:lnTo>
                <a:lnTo>
                  <a:pt x="21971" y="283464"/>
                </a:lnTo>
                <a:lnTo>
                  <a:pt x="23253" y="239483"/>
                </a:lnTo>
                <a:lnTo>
                  <a:pt x="27139" y="197650"/>
                </a:lnTo>
                <a:lnTo>
                  <a:pt x="33642" y="157949"/>
                </a:lnTo>
                <a:lnTo>
                  <a:pt x="42799" y="120396"/>
                </a:lnTo>
                <a:lnTo>
                  <a:pt x="68135" y="55841"/>
                </a:lnTo>
                <a:lnTo>
                  <a:pt x="84086" y="29870"/>
                </a:lnTo>
                <a:lnTo>
                  <a:pt x="102235" y="8128"/>
                </a:lnTo>
                <a:close/>
              </a:path>
              <a:path extrusionOk="0" h="567689" w="880109">
                <a:moveTo>
                  <a:pt x="771144" y="276479"/>
                </a:moveTo>
                <a:lnTo>
                  <a:pt x="109728" y="276479"/>
                </a:lnTo>
                <a:lnTo>
                  <a:pt x="109728" y="290957"/>
                </a:lnTo>
                <a:lnTo>
                  <a:pt x="771144" y="290957"/>
                </a:lnTo>
                <a:lnTo>
                  <a:pt x="771144" y="276479"/>
                </a:lnTo>
                <a:close/>
              </a:path>
              <a:path extrusionOk="0" h="567689" w="880109">
                <a:moveTo>
                  <a:pt x="879716" y="283464"/>
                </a:moveTo>
                <a:lnTo>
                  <a:pt x="878166" y="239483"/>
                </a:lnTo>
                <a:lnTo>
                  <a:pt x="873213" y="194310"/>
                </a:lnTo>
                <a:lnTo>
                  <a:pt x="865047" y="153073"/>
                </a:lnTo>
                <a:lnTo>
                  <a:pt x="853554" y="114046"/>
                </a:lnTo>
                <a:lnTo>
                  <a:pt x="839266" y="78498"/>
                </a:lnTo>
                <a:lnTo>
                  <a:pt x="803846" y="21488"/>
                </a:lnTo>
                <a:lnTo>
                  <a:pt x="782701" y="0"/>
                </a:lnTo>
                <a:lnTo>
                  <a:pt x="777494" y="8128"/>
                </a:lnTo>
                <a:lnTo>
                  <a:pt x="795616" y="29870"/>
                </a:lnTo>
                <a:lnTo>
                  <a:pt x="811542" y="55841"/>
                </a:lnTo>
                <a:lnTo>
                  <a:pt x="836930" y="120396"/>
                </a:lnTo>
                <a:lnTo>
                  <a:pt x="846086" y="157949"/>
                </a:lnTo>
                <a:lnTo>
                  <a:pt x="852639" y="197650"/>
                </a:lnTo>
                <a:lnTo>
                  <a:pt x="856564" y="239483"/>
                </a:lnTo>
                <a:lnTo>
                  <a:pt x="857885" y="283464"/>
                </a:lnTo>
                <a:lnTo>
                  <a:pt x="856564" y="326618"/>
                </a:lnTo>
                <a:lnTo>
                  <a:pt x="852639" y="368046"/>
                </a:lnTo>
                <a:lnTo>
                  <a:pt x="846086" y="407771"/>
                </a:lnTo>
                <a:lnTo>
                  <a:pt x="836930" y="445770"/>
                </a:lnTo>
                <a:lnTo>
                  <a:pt x="811682" y="511302"/>
                </a:lnTo>
                <a:lnTo>
                  <a:pt x="777494" y="559308"/>
                </a:lnTo>
                <a:lnTo>
                  <a:pt x="782701" y="567309"/>
                </a:lnTo>
                <a:lnTo>
                  <a:pt x="822706" y="519607"/>
                </a:lnTo>
                <a:lnTo>
                  <a:pt x="853554" y="452374"/>
                </a:lnTo>
                <a:lnTo>
                  <a:pt x="865047" y="412953"/>
                </a:lnTo>
                <a:lnTo>
                  <a:pt x="873213" y="371627"/>
                </a:lnTo>
                <a:lnTo>
                  <a:pt x="878103" y="328422"/>
                </a:lnTo>
                <a:lnTo>
                  <a:pt x="879716" y="283464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3" name="Google Shape;633;p38"/>
          <p:cNvSpPr txBox="1"/>
          <p:nvPr/>
        </p:nvSpPr>
        <p:spPr>
          <a:xfrm>
            <a:off x="5853429" y="1548892"/>
            <a:ext cx="727710" cy="292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𝒙</a:t>
            </a:r>
            <a:r>
              <a:rPr baseline="30000" lang="en-US" sz="2175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𝟐</a:t>
            </a:r>
            <a:r>
              <a:rPr lang="en-US" sz="175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+𝒚</a:t>
            </a:r>
            <a:r>
              <a:rPr baseline="30000" lang="en-US" sz="2175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𝟐</a:t>
            </a:r>
            <a:endParaRPr baseline="30000" sz="217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34" name="Google Shape;634;p38"/>
          <p:cNvSpPr txBox="1"/>
          <p:nvPr/>
        </p:nvSpPr>
        <p:spPr>
          <a:xfrm>
            <a:off x="5987541" y="1829307"/>
            <a:ext cx="459740" cy="292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𝟐𝝈</a:t>
            </a:r>
            <a:r>
              <a:rPr baseline="30000" lang="en-US" sz="2175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𝟐</a:t>
            </a:r>
            <a:endParaRPr baseline="30000" sz="217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35" name="Google Shape;635;p38"/>
          <p:cNvSpPr txBox="1"/>
          <p:nvPr/>
        </p:nvSpPr>
        <p:spPr>
          <a:xfrm>
            <a:off x="5377179" y="4344923"/>
            <a:ext cx="165735" cy="292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𝝈</a:t>
            </a:r>
            <a:endParaRPr sz="17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36" name="Google Shape;636;p38"/>
          <p:cNvSpPr/>
          <p:nvPr/>
        </p:nvSpPr>
        <p:spPr>
          <a:xfrm>
            <a:off x="5569584" y="4289171"/>
            <a:ext cx="669925" cy="282575"/>
          </a:xfrm>
          <a:custGeom>
            <a:rect b="b" l="l" r="r" t="t"/>
            <a:pathLst>
              <a:path extrusionOk="0" h="282575" w="669925">
                <a:moveTo>
                  <a:pt x="579501" y="0"/>
                </a:moveTo>
                <a:lnTo>
                  <a:pt x="575563" y="11429"/>
                </a:lnTo>
                <a:lnTo>
                  <a:pt x="591871" y="18504"/>
                </a:lnTo>
                <a:lnTo>
                  <a:pt x="605916" y="28305"/>
                </a:lnTo>
                <a:lnTo>
                  <a:pt x="634440" y="73852"/>
                </a:lnTo>
                <a:lnTo>
                  <a:pt x="642695" y="115339"/>
                </a:lnTo>
                <a:lnTo>
                  <a:pt x="642735" y="115623"/>
                </a:lnTo>
                <a:lnTo>
                  <a:pt x="642717" y="164580"/>
                </a:lnTo>
                <a:lnTo>
                  <a:pt x="634386" y="207529"/>
                </a:lnTo>
                <a:lnTo>
                  <a:pt x="605964" y="253777"/>
                </a:lnTo>
                <a:lnTo>
                  <a:pt x="575944" y="270763"/>
                </a:lnTo>
                <a:lnTo>
                  <a:pt x="579501" y="282320"/>
                </a:lnTo>
                <a:lnTo>
                  <a:pt x="617997" y="264239"/>
                </a:lnTo>
                <a:lnTo>
                  <a:pt x="646302" y="232917"/>
                </a:lnTo>
                <a:lnTo>
                  <a:pt x="663733" y="191071"/>
                </a:lnTo>
                <a:lnTo>
                  <a:pt x="669543" y="141223"/>
                </a:lnTo>
                <a:lnTo>
                  <a:pt x="668107" y="115623"/>
                </a:lnTo>
                <a:lnTo>
                  <a:pt x="656470" y="69429"/>
                </a:lnTo>
                <a:lnTo>
                  <a:pt x="633347" y="32093"/>
                </a:lnTo>
                <a:lnTo>
                  <a:pt x="599957" y="7379"/>
                </a:lnTo>
                <a:lnTo>
                  <a:pt x="579501" y="0"/>
                </a:lnTo>
                <a:close/>
              </a:path>
              <a:path extrusionOk="0" h="282575" w="669925">
                <a:moveTo>
                  <a:pt x="90042" y="0"/>
                </a:moveTo>
                <a:lnTo>
                  <a:pt x="51641" y="18081"/>
                </a:lnTo>
                <a:lnTo>
                  <a:pt x="23240" y="49402"/>
                </a:lnTo>
                <a:lnTo>
                  <a:pt x="5810" y="91408"/>
                </a:lnTo>
                <a:lnTo>
                  <a:pt x="85" y="139699"/>
                </a:lnTo>
                <a:lnTo>
                  <a:pt x="0" y="141223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763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845" y="141223"/>
                </a:lnTo>
                <a:lnTo>
                  <a:pt x="25780" y="139699"/>
                </a:lnTo>
                <a:lnTo>
                  <a:pt x="29971" y="93678"/>
                </a:lnTo>
                <a:lnTo>
                  <a:pt x="42544" y="56133"/>
                </a:lnTo>
                <a:lnTo>
                  <a:pt x="77799" y="18504"/>
                </a:lnTo>
                <a:lnTo>
                  <a:pt x="94106" y="11429"/>
                </a:lnTo>
                <a:lnTo>
                  <a:pt x="90042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7" name="Google Shape;637;p38"/>
          <p:cNvSpPr txBox="1"/>
          <p:nvPr/>
        </p:nvSpPr>
        <p:spPr>
          <a:xfrm>
            <a:off x="5172202" y="4200144"/>
            <a:ext cx="1420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𝑮	𝒙, 𝒚   =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38" name="Google Shape;638;p38"/>
          <p:cNvSpPr/>
          <p:nvPr/>
        </p:nvSpPr>
        <p:spPr>
          <a:xfrm>
            <a:off x="6686677" y="3900423"/>
            <a:ext cx="2147570" cy="901065"/>
          </a:xfrm>
          <a:custGeom>
            <a:rect b="b" l="l" r="r" t="t"/>
            <a:pathLst>
              <a:path extrusionOk="0" h="901064" w="2147570">
                <a:moveTo>
                  <a:pt x="152273" y="10668"/>
                </a:moveTo>
                <a:lnTo>
                  <a:pt x="110972" y="36029"/>
                </a:lnTo>
                <a:lnTo>
                  <a:pt x="82905" y="78193"/>
                </a:lnTo>
                <a:lnTo>
                  <a:pt x="58534" y="126466"/>
                </a:lnTo>
                <a:lnTo>
                  <a:pt x="37846" y="180848"/>
                </a:lnTo>
                <a:lnTo>
                  <a:pt x="24244" y="228371"/>
                </a:lnTo>
                <a:lnTo>
                  <a:pt x="13652" y="279031"/>
                </a:lnTo>
                <a:lnTo>
                  <a:pt x="6070" y="332828"/>
                </a:lnTo>
                <a:lnTo>
                  <a:pt x="1511" y="389763"/>
                </a:lnTo>
                <a:lnTo>
                  <a:pt x="0" y="449834"/>
                </a:lnTo>
                <a:lnTo>
                  <a:pt x="1435" y="506958"/>
                </a:lnTo>
                <a:lnTo>
                  <a:pt x="1511" y="510324"/>
                </a:lnTo>
                <a:lnTo>
                  <a:pt x="6070" y="567588"/>
                </a:lnTo>
                <a:lnTo>
                  <a:pt x="13652" y="621614"/>
                </a:lnTo>
                <a:lnTo>
                  <a:pt x="24244" y="672401"/>
                </a:lnTo>
                <a:lnTo>
                  <a:pt x="37846" y="719963"/>
                </a:lnTo>
                <a:lnTo>
                  <a:pt x="58534" y="774331"/>
                </a:lnTo>
                <a:lnTo>
                  <a:pt x="82905" y="822591"/>
                </a:lnTo>
                <a:lnTo>
                  <a:pt x="110972" y="864743"/>
                </a:lnTo>
                <a:lnTo>
                  <a:pt x="142748" y="900811"/>
                </a:lnTo>
                <a:lnTo>
                  <a:pt x="152273" y="890143"/>
                </a:lnTo>
                <a:lnTo>
                  <a:pt x="124002" y="853541"/>
                </a:lnTo>
                <a:lnTo>
                  <a:pt x="99402" y="811174"/>
                </a:lnTo>
                <a:lnTo>
                  <a:pt x="78473" y="763003"/>
                </a:lnTo>
                <a:lnTo>
                  <a:pt x="61214" y="709041"/>
                </a:lnTo>
                <a:lnTo>
                  <a:pt x="50114" y="662305"/>
                </a:lnTo>
                <a:lnTo>
                  <a:pt x="41503" y="613054"/>
                </a:lnTo>
                <a:lnTo>
                  <a:pt x="35369" y="561276"/>
                </a:lnTo>
                <a:lnTo>
                  <a:pt x="31699" y="506958"/>
                </a:lnTo>
                <a:lnTo>
                  <a:pt x="30480" y="450088"/>
                </a:lnTo>
                <a:lnTo>
                  <a:pt x="31699" y="393547"/>
                </a:lnTo>
                <a:lnTo>
                  <a:pt x="35369" y="339445"/>
                </a:lnTo>
                <a:lnTo>
                  <a:pt x="41503" y="287782"/>
                </a:lnTo>
                <a:lnTo>
                  <a:pt x="50114" y="238556"/>
                </a:lnTo>
                <a:lnTo>
                  <a:pt x="61214" y="191770"/>
                </a:lnTo>
                <a:lnTo>
                  <a:pt x="78473" y="137795"/>
                </a:lnTo>
                <a:lnTo>
                  <a:pt x="99402" y="89598"/>
                </a:lnTo>
                <a:lnTo>
                  <a:pt x="124002" y="47218"/>
                </a:lnTo>
                <a:lnTo>
                  <a:pt x="152273" y="10668"/>
                </a:lnTo>
                <a:close/>
              </a:path>
              <a:path extrusionOk="0" h="901064" w="2147570">
                <a:moveTo>
                  <a:pt x="946277" y="519938"/>
                </a:moveTo>
                <a:lnTo>
                  <a:pt x="162179" y="519938"/>
                </a:lnTo>
                <a:lnTo>
                  <a:pt x="162179" y="539750"/>
                </a:lnTo>
                <a:lnTo>
                  <a:pt x="946277" y="539750"/>
                </a:lnTo>
                <a:lnTo>
                  <a:pt x="946277" y="519938"/>
                </a:lnTo>
                <a:close/>
              </a:path>
              <a:path extrusionOk="0" h="901064" w="2147570">
                <a:moveTo>
                  <a:pt x="2147557" y="450088"/>
                </a:moveTo>
                <a:lnTo>
                  <a:pt x="2146147" y="393547"/>
                </a:lnTo>
                <a:lnTo>
                  <a:pt x="2146058" y="389763"/>
                </a:lnTo>
                <a:lnTo>
                  <a:pt x="2141524" y="332828"/>
                </a:lnTo>
                <a:lnTo>
                  <a:pt x="2133981" y="279031"/>
                </a:lnTo>
                <a:lnTo>
                  <a:pt x="2123427" y="228371"/>
                </a:lnTo>
                <a:lnTo>
                  <a:pt x="2109851" y="180848"/>
                </a:lnTo>
                <a:lnTo>
                  <a:pt x="2089124" y="126466"/>
                </a:lnTo>
                <a:lnTo>
                  <a:pt x="2064715" y="78193"/>
                </a:lnTo>
                <a:lnTo>
                  <a:pt x="2036597" y="36029"/>
                </a:lnTo>
                <a:lnTo>
                  <a:pt x="2004822" y="0"/>
                </a:lnTo>
                <a:lnTo>
                  <a:pt x="1995297" y="10668"/>
                </a:lnTo>
                <a:lnTo>
                  <a:pt x="2023630" y="47218"/>
                </a:lnTo>
                <a:lnTo>
                  <a:pt x="2048256" y="89598"/>
                </a:lnTo>
                <a:lnTo>
                  <a:pt x="2069160" y="137795"/>
                </a:lnTo>
                <a:lnTo>
                  <a:pt x="2086356" y="191770"/>
                </a:lnTo>
                <a:lnTo>
                  <a:pt x="2097455" y="238556"/>
                </a:lnTo>
                <a:lnTo>
                  <a:pt x="2106104" y="287782"/>
                </a:lnTo>
                <a:lnTo>
                  <a:pt x="2112276" y="339445"/>
                </a:lnTo>
                <a:lnTo>
                  <a:pt x="2115972" y="393547"/>
                </a:lnTo>
                <a:lnTo>
                  <a:pt x="2117204" y="449834"/>
                </a:lnTo>
                <a:lnTo>
                  <a:pt x="2115972" y="506958"/>
                </a:lnTo>
                <a:lnTo>
                  <a:pt x="2112276" y="561276"/>
                </a:lnTo>
                <a:lnTo>
                  <a:pt x="2106104" y="613054"/>
                </a:lnTo>
                <a:lnTo>
                  <a:pt x="2097455" y="662305"/>
                </a:lnTo>
                <a:lnTo>
                  <a:pt x="2086356" y="709041"/>
                </a:lnTo>
                <a:lnTo>
                  <a:pt x="2069160" y="763003"/>
                </a:lnTo>
                <a:lnTo>
                  <a:pt x="2048256" y="811174"/>
                </a:lnTo>
                <a:lnTo>
                  <a:pt x="2023630" y="853541"/>
                </a:lnTo>
                <a:lnTo>
                  <a:pt x="1995297" y="890143"/>
                </a:lnTo>
                <a:lnTo>
                  <a:pt x="2004822" y="900811"/>
                </a:lnTo>
                <a:lnTo>
                  <a:pt x="2036597" y="864743"/>
                </a:lnTo>
                <a:lnTo>
                  <a:pt x="2064715" y="822579"/>
                </a:lnTo>
                <a:lnTo>
                  <a:pt x="2089124" y="774331"/>
                </a:lnTo>
                <a:lnTo>
                  <a:pt x="2109851" y="719963"/>
                </a:lnTo>
                <a:lnTo>
                  <a:pt x="2123427" y="672401"/>
                </a:lnTo>
                <a:lnTo>
                  <a:pt x="2133981" y="621614"/>
                </a:lnTo>
                <a:lnTo>
                  <a:pt x="2141524" y="567588"/>
                </a:lnTo>
                <a:lnTo>
                  <a:pt x="2146058" y="510324"/>
                </a:lnTo>
                <a:lnTo>
                  <a:pt x="2147557" y="450088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9" name="Google Shape;639;p38"/>
          <p:cNvSpPr txBox="1"/>
          <p:nvPr/>
        </p:nvSpPr>
        <p:spPr>
          <a:xfrm>
            <a:off x="7136892" y="3969257"/>
            <a:ext cx="208279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𝟏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40" name="Google Shape;640;p38"/>
          <p:cNvSpPr/>
          <p:nvPr/>
        </p:nvSpPr>
        <p:spPr>
          <a:xfrm>
            <a:off x="6854063" y="4498594"/>
            <a:ext cx="588010" cy="293370"/>
          </a:xfrm>
          <a:custGeom>
            <a:rect b="b" l="l" r="r" t="t"/>
            <a:pathLst>
              <a:path extrusionOk="0" h="293370" w="588009">
                <a:moveTo>
                  <a:pt x="212851" y="0"/>
                </a:moveTo>
                <a:lnTo>
                  <a:pt x="174878" y="0"/>
                </a:lnTo>
                <a:lnTo>
                  <a:pt x="101345" y="253999"/>
                </a:lnTo>
                <a:lnTo>
                  <a:pt x="48767" y="138556"/>
                </a:lnTo>
                <a:lnTo>
                  <a:pt x="0" y="160908"/>
                </a:lnTo>
                <a:lnTo>
                  <a:pt x="4571" y="172084"/>
                </a:lnTo>
                <a:lnTo>
                  <a:pt x="29717" y="160908"/>
                </a:lnTo>
                <a:lnTo>
                  <a:pt x="91439" y="293369"/>
                </a:lnTo>
                <a:lnTo>
                  <a:pt x="105790" y="293369"/>
                </a:lnTo>
                <a:lnTo>
                  <a:pt x="185927" y="19811"/>
                </a:lnTo>
                <a:lnTo>
                  <a:pt x="195198" y="19811"/>
                </a:lnTo>
                <a:lnTo>
                  <a:pt x="195198" y="20065"/>
                </a:lnTo>
                <a:lnTo>
                  <a:pt x="587628" y="20065"/>
                </a:lnTo>
                <a:lnTo>
                  <a:pt x="587628" y="253"/>
                </a:lnTo>
                <a:lnTo>
                  <a:pt x="212851" y="253"/>
                </a:lnTo>
                <a:lnTo>
                  <a:pt x="212851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1" name="Google Shape;641;p38"/>
          <p:cNvSpPr txBox="1"/>
          <p:nvPr/>
        </p:nvSpPr>
        <p:spPr>
          <a:xfrm>
            <a:off x="7037069" y="4450079"/>
            <a:ext cx="60960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𝟐𝝅𝝈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42" name="Google Shape;642;p38"/>
          <p:cNvSpPr txBox="1"/>
          <p:nvPr/>
        </p:nvSpPr>
        <p:spPr>
          <a:xfrm>
            <a:off x="7671054" y="4200144"/>
            <a:ext cx="19304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𝒆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43" name="Google Shape;643;p38"/>
          <p:cNvSpPr txBox="1"/>
          <p:nvPr/>
        </p:nvSpPr>
        <p:spPr>
          <a:xfrm>
            <a:off x="7838693" y="4026408"/>
            <a:ext cx="187325" cy="292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endParaRPr sz="17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44" name="Google Shape;644;p38"/>
          <p:cNvSpPr/>
          <p:nvPr/>
        </p:nvSpPr>
        <p:spPr>
          <a:xfrm>
            <a:off x="8030718" y="3914520"/>
            <a:ext cx="610870" cy="567690"/>
          </a:xfrm>
          <a:custGeom>
            <a:rect b="b" l="l" r="r" t="t"/>
            <a:pathLst>
              <a:path extrusionOk="0" h="567689" w="610870">
                <a:moveTo>
                  <a:pt x="102235" y="8128"/>
                </a:moveTo>
                <a:lnTo>
                  <a:pt x="57035" y="47650"/>
                </a:lnTo>
                <a:lnTo>
                  <a:pt x="26162" y="114046"/>
                </a:lnTo>
                <a:lnTo>
                  <a:pt x="14732" y="153073"/>
                </a:lnTo>
                <a:lnTo>
                  <a:pt x="6553" y="194310"/>
                </a:lnTo>
                <a:lnTo>
                  <a:pt x="1638" y="237744"/>
                </a:lnTo>
                <a:lnTo>
                  <a:pt x="0" y="283337"/>
                </a:lnTo>
                <a:lnTo>
                  <a:pt x="1574" y="326618"/>
                </a:lnTo>
                <a:lnTo>
                  <a:pt x="1638" y="328422"/>
                </a:lnTo>
                <a:lnTo>
                  <a:pt x="6553" y="371627"/>
                </a:lnTo>
                <a:lnTo>
                  <a:pt x="14732" y="412953"/>
                </a:lnTo>
                <a:lnTo>
                  <a:pt x="26162" y="452374"/>
                </a:lnTo>
                <a:lnTo>
                  <a:pt x="40449" y="488429"/>
                </a:lnTo>
                <a:lnTo>
                  <a:pt x="75933" y="545909"/>
                </a:lnTo>
                <a:lnTo>
                  <a:pt x="97155" y="567309"/>
                </a:lnTo>
                <a:lnTo>
                  <a:pt x="102235" y="559308"/>
                </a:lnTo>
                <a:lnTo>
                  <a:pt x="84010" y="537502"/>
                </a:lnTo>
                <a:lnTo>
                  <a:pt x="68033" y="511302"/>
                </a:lnTo>
                <a:lnTo>
                  <a:pt x="42799" y="445770"/>
                </a:lnTo>
                <a:lnTo>
                  <a:pt x="33642" y="407771"/>
                </a:lnTo>
                <a:lnTo>
                  <a:pt x="27139" y="368046"/>
                </a:lnTo>
                <a:lnTo>
                  <a:pt x="23253" y="326618"/>
                </a:lnTo>
                <a:lnTo>
                  <a:pt x="21971" y="283464"/>
                </a:lnTo>
                <a:lnTo>
                  <a:pt x="23253" y="239483"/>
                </a:lnTo>
                <a:lnTo>
                  <a:pt x="27139" y="197650"/>
                </a:lnTo>
                <a:lnTo>
                  <a:pt x="33642" y="157949"/>
                </a:lnTo>
                <a:lnTo>
                  <a:pt x="42799" y="120396"/>
                </a:lnTo>
                <a:lnTo>
                  <a:pt x="68122" y="55841"/>
                </a:lnTo>
                <a:lnTo>
                  <a:pt x="84086" y="29870"/>
                </a:lnTo>
                <a:lnTo>
                  <a:pt x="102235" y="8128"/>
                </a:lnTo>
                <a:close/>
              </a:path>
              <a:path extrusionOk="0" h="567689" w="610870">
                <a:moveTo>
                  <a:pt x="501396" y="276479"/>
                </a:moveTo>
                <a:lnTo>
                  <a:pt x="109728" y="276479"/>
                </a:lnTo>
                <a:lnTo>
                  <a:pt x="109728" y="290957"/>
                </a:lnTo>
                <a:lnTo>
                  <a:pt x="501396" y="290957"/>
                </a:lnTo>
                <a:lnTo>
                  <a:pt x="501396" y="276479"/>
                </a:lnTo>
                <a:close/>
              </a:path>
              <a:path extrusionOk="0" h="567689" w="610870">
                <a:moveTo>
                  <a:pt x="610730" y="283464"/>
                </a:moveTo>
                <a:lnTo>
                  <a:pt x="609180" y="239483"/>
                </a:lnTo>
                <a:lnTo>
                  <a:pt x="604227" y="194310"/>
                </a:lnTo>
                <a:lnTo>
                  <a:pt x="596061" y="153073"/>
                </a:lnTo>
                <a:lnTo>
                  <a:pt x="584581" y="114046"/>
                </a:lnTo>
                <a:lnTo>
                  <a:pt x="570280" y="78498"/>
                </a:lnTo>
                <a:lnTo>
                  <a:pt x="534847" y="21488"/>
                </a:lnTo>
                <a:lnTo>
                  <a:pt x="513715" y="0"/>
                </a:lnTo>
                <a:lnTo>
                  <a:pt x="508508" y="8128"/>
                </a:lnTo>
                <a:lnTo>
                  <a:pt x="526630" y="29870"/>
                </a:lnTo>
                <a:lnTo>
                  <a:pt x="542556" y="55841"/>
                </a:lnTo>
                <a:lnTo>
                  <a:pt x="567944" y="120396"/>
                </a:lnTo>
                <a:lnTo>
                  <a:pt x="577100" y="157949"/>
                </a:lnTo>
                <a:lnTo>
                  <a:pt x="583653" y="197650"/>
                </a:lnTo>
                <a:lnTo>
                  <a:pt x="587578" y="239483"/>
                </a:lnTo>
                <a:lnTo>
                  <a:pt x="588886" y="283337"/>
                </a:lnTo>
                <a:lnTo>
                  <a:pt x="587578" y="326618"/>
                </a:lnTo>
                <a:lnTo>
                  <a:pt x="583653" y="368046"/>
                </a:lnTo>
                <a:lnTo>
                  <a:pt x="577100" y="407771"/>
                </a:lnTo>
                <a:lnTo>
                  <a:pt x="567944" y="445770"/>
                </a:lnTo>
                <a:lnTo>
                  <a:pt x="542696" y="511302"/>
                </a:lnTo>
                <a:lnTo>
                  <a:pt x="508508" y="559308"/>
                </a:lnTo>
                <a:lnTo>
                  <a:pt x="513715" y="567309"/>
                </a:lnTo>
                <a:lnTo>
                  <a:pt x="553720" y="519607"/>
                </a:lnTo>
                <a:lnTo>
                  <a:pt x="584581" y="452374"/>
                </a:lnTo>
                <a:lnTo>
                  <a:pt x="596061" y="412953"/>
                </a:lnTo>
                <a:lnTo>
                  <a:pt x="604227" y="371627"/>
                </a:lnTo>
                <a:lnTo>
                  <a:pt x="609117" y="328422"/>
                </a:lnTo>
                <a:lnTo>
                  <a:pt x="610730" y="283464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5" name="Google Shape;645;p38"/>
          <p:cNvSpPr txBox="1"/>
          <p:nvPr/>
        </p:nvSpPr>
        <p:spPr>
          <a:xfrm>
            <a:off x="8174481" y="3661664"/>
            <a:ext cx="3138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2625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𝒙</a:t>
            </a:r>
            <a:r>
              <a:rPr lang="en-US" sz="145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𝟐</a:t>
            </a:r>
            <a:endParaRPr sz="14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46" name="Google Shape;646;p38"/>
          <p:cNvSpPr txBox="1"/>
          <p:nvPr/>
        </p:nvSpPr>
        <p:spPr>
          <a:xfrm>
            <a:off x="8102854" y="4174997"/>
            <a:ext cx="458470" cy="292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𝟐𝝈</a:t>
            </a:r>
            <a:r>
              <a:rPr baseline="30000" lang="en-US" sz="2175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𝟐</a:t>
            </a:r>
            <a:endParaRPr baseline="30000" sz="217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47" name="Google Shape;647;p38"/>
          <p:cNvSpPr/>
          <p:nvPr/>
        </p:nvSpPr>
        <p:spPr>
          <a:xfrm>
            <a:off x="8932291" y="3900423"/>
            <a:ext cx="2148840" cy="901065"/>
          </a:xfrm>
          <a:custGeom>
            <a:rect b="b" l="l" r="r" t="t"/>
            <a:pathLst>
              <a:path extrusionOk="0" h="901064" w="2148840">
                <a:moveTo>
                  <a:pt x="152273" y="10668"/>
                </a:moveTo>
                <a:lnTo>
                  <a:pt x="110972" y="36029"/>
                </a:lnTo>
                <a:lnTo>
                  <a:pt x="82905" y="78193"/>
                </a:lnTo>
                <a:lnTo>
                  <a:pt x="58534" y="126466"/>
                </a:lnTo>
                <a:lnTo>
                  <a:pt x="37846" y="180848"/>
                </a:lnTo>
                <a:lnTo>
                  <a:pt x="24244" y="228371"/>
                </a:lnTo>
                <a:lnTo>
                  <a:pt x="13652" y="279031"/>
                </a:lnTo>
                <a:lnTo>
                  <a:pt x="6070" y="332828"/>
                </a:lnTo>
                <a:lnTo>
                  <a:pt x="1511" y="389763"/>
                </a:lnTo>
                <a:lnTo>
                  <a:pt x="0" y="449834"/>
                </a:lnTo>
                <a:lnTo>
                  <a:pt x="1435" y="506958"/>
                </a:lnTo>
                <a:lnTo>
                  <a:pt x="1511" y="510324"/>
                </a:lnTo>
                <a:lnTo>
                  <a:pt x="6070" y="567588"/>
                </a:lnTo>
                <a:lnTo>
                  <a:pt x="13652" y="621614"/>
                </a:lnTo>
                <a:lnTo>
                  <a:pt x="24244" y="672401"/>
                </a:lnTo>
                <a:lnTo>
                  <a:pt x="37846" y="719963"/>
                </a:lnTo>
                <a:lnTo>
                  <a:pt x="58534" y="774331"/>
                </a:lnTo>
                <a:lnTo>
                  <a:pt x="82905" y="822591"/>
                </a:lnTo>
                <a:lnTo>
                  <a:pt x="110972" y="864743"/>
                </a:lnTo>
                <a:lnTo>
                  <a:pt x="142748" y="900811"/>
                </a:lnTo>
                <a:lnTo>
                  <a:pt x="152273" y="890143"/>
                </a:lnTo>
                <a:lnTo>
                  <a:pt x="124002" y="853541"/>
                </a:lnTo>
                <a:lnTo>
                  <a:pt x="99402" y="811174"/>
                </a:lnTo>
                <a:lnTo>
                  <a:pt x="78473" y="763003"/>
                </a:lnTo>
                <a:lnTo>
                  <a:pt x="61214" y="709041"/>
                </a:lnTo>
                <a:lnTo>
                  <a:pt x="50114" y="662305"/>
                </a:lnTo>
                <a:lnTo>
                  <a:pt x="41503" y="613054"/>
                </a:lnTo>
                <a:lnTo>
                  <a:pt x="35369" y="561276"/>
                </a:lnTo>
                <a:lnTo>
                  <a:pt x="31699" y="506958"/>
                </a:lnTo>
                <a:lnTo>
                  <a:pt x="30480" y="450088"/>
                </a:lnTo>
                <a:lnTo>
                  <a:pt x="31699" y="393547"/>
                </a:lnTo>
                <a:lnTo>
                  <a:pt x="35369" y="339445"/>
                </a:lnTo>
                <a:lnTo>
                  <a:pt x="41503" y="287782"/>
                </a:lnTo>
                <a:lnTo>
                  <a:pt x="50114" y="238556"/>
                </a:lnTo>
                <a:lnTo>
                  <a:pt x="61214" y="191770"/>
                </a:lnTo>
                <a:lnTo>
                  <a:pt x="78473" y="137795"/>
                </a:lnTo>
                <a:lnTo>
                  <a:pt x="99402" y="89598"/>
                </a:lnTo>
                <a:lnTo>
                  <a:pt x="124002" y="47218"/>
                </a:lnTo>
                <a:lnTo>
                  <a:pt x="152273" y="10668"/>
                </a:lnTo>
                <a:close/>
              </a:path>
              <a:path extrusionOk="0" h="901064" w="2148840">
                <a:moveTo>
                  <a:pt x="946277" y="519938"/>
                </a:moveTo>
                <a:lnTo>
                  <a:pt x="162179" y="519938"/>
                </a:lnTo>
                <a:lnTo>
                  <a:pt x="162179" y="539750"/>
                </a:lnTo>
                <a:lnTo>
                  <a:pt x="946277" y="539750"/>
                </a:lnTo>
                <a:lnTo>
                  <a:pt x="946277" y="519938"/>
                </a:lnTo>
                <a:close/>
              </a:path>
              <a:path extrusionOk="0" h="901064" w="2148840">
                <a:moveTo>
                  <a:pt x="2148319" y="450088"/>
                </a:moveTo>
                <a:lnTo>
                  <a:pt x="2146909" y="393547"/>
                </a:lnTo>
                <a:lnTo>
                  <a:pt x="2146820" y="389763"/>
                </a:lnTo>
                <a:lnTo>
                  <a:pt x="2142286" y="332828"/>
                </a:lnTo>
                <a:lnTo>
                  <a:pt x="2134743" y="279031"/>
                </a:lnTo>
                <a:lnTo>
                  <a:pt x="2124189" y="228371"/>
                </a:lnTo>
                <a:lnTo>
                  <a:pt x="2110613" y="180848"/>
                </a:lnTo>
                <a:lnTo>
                  <a:pt x="2089886" y="126466"/>
                </a:lnTo>
                <a:lnTo>
                  <a:pt x="2065477" y="78193"/>
                </a:lnTo>
                <a:lnTo>
                  <a:pt x="2037359" y="36029"/>
                </a:lnTo>
                <a:lnTo>
                  <a:pt x="2005584" y="0"/>
                </a:lnTo>
                <a:lnTo>
                  <a:pt x="1996059" y="10668"/>
                </a:lnTo>
                <a:lnTo>
                  <a:pt x="2024392" y="47218"/>
                </a:lnTo>
                <a:lnTo>
                  <a:pt x="2049018" y="89598"/>
                </a:lnTo>
                <a:lnTo>
                  <a:pt x="2069922" y="137795"/>
                </a:lnTo>
                <a:lnTo>
                  <a:pt x="2087118" y="191770"/>
                </a:lnTo>
                <a:lnTo>
                  <a:pt x="2098217" y="238556"/>
                </a:lnTo>
                <a:lnTo>
                  <a:pt x="2106866" y="287782"/>
                </a:lnTo>
                <a:lnTo>
                  <a:pt x="2113038" y="339445"/>
                </a:lnTo>
                <a:lnTo>
                  <a:pt x="2116734" y="393547"/>
                </a:lnTo>
                <a:lnTo>
                  <a:pt x="2117966" y="449834"/>
                </a:lnTo>
                <a:lnTo>
                  <a:pt x="2116734" y="506958"/>
                </a:lnTo>
                <a:lnTo>
                  <a:pt x="2113038" y="561276"/>
                </a:lnTo>
                <a:lnTo>
                  <a:pt x="2106866" y="613054"/>
                </a:lnTo>
                <a:lnTo>
                  <a:pt x="2098217" y="662305"/>
                </a:lnTo>
                <a:lnTo>
                  <a:pt x="2087118" y="709041"/>
                </a:lnTo>
                <a:lnTo>
                  <a:pt x="2069922" y="763003"/>
                </a:lnTo>
                <a:lnTo>
                  <a:pt x="2049018" y="811174"/>
                </a:lnTo>
                <a:lnTo>
                  <a:pt x="2024392" y="853541"/>
                </a:lnTo>
                <a:lnTo>
                  <a:pt x="1996059" y="890143"/>
                </a:lnTo>
                <a:lnTo>
                  <a:pt x="2005584" y="900811"/>
                </a:lnTo>
                <a:lnTo>
                  <a:pt x="2037359" y="864743"/>
                </a:lnTo>
                <a:lnTo>
                  <a:pt x="2065477" y="822579"/>
                </a:lnTo>
                <a:lnTo>
                  <a:pt x="2089886" y="774331"/>
                </a:lnTo>
                <a:lnTo>
                  <a:pt x="2110613" y="719963"/>
                </a:lnTo>
                <a:lnTo>
                  <a:pt x="2124189" y="672401"/>
                </a:lnTo>
                <a:lnTo>
                  <a:pt x="2134743" y="621614"/>
                </a:lnTo>
                <a:lnTo>
                  <a:pt x="2142286" y="567588"/>
                </a:lnTo>
                <a:lnTo>
                  <a:pt x="2146820" y="510324"/>
                </a:lnTo>
                <a:lnTo>
                  <a:pt x="2148319" y="450088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8" name="Google Shape;648;p38"/>
          <p:cNvSpPr txBox="1"/>
          <p:nvPr/>
        </p:nvSpPr>
        <p:spPr>
          <a:xfrm>
            <a:off x="9382506" y="3969257"/>
            <a:ext cx="208279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𝟏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49" name="Google Shape;649;p38"/>
          <p:cNvSpPr/>
          <p:nvPr/>
        </p:nvSpPr>
        <p:spPr>
          <a:xfrm>
            <a:off x="9099677" y="4498594"/>
            <a:ext cx="588010" cy="293370"/>
          </a:xfrm>
          <a:custGeom>
            <a:rect b="b" l="l" r="r" t="t"/>
            <a:pathLst>
              <a:path extrusionOk="0" h="293370" w="588009">
                <a:moveTo>
                  <a:pt x="212851" y="0"/>
                </a:moveTo>
                <a:lnTo>
                  <a:pt x="174878" y="0"/>
                </a:lnTo>
                <a:lnTo>
                  <a:pt x="101346" y="253999"/>
                </a:lnTo>
                <a:lnTo>
                  <a:pt x="48768" y="138556"/>
                </a:lnTo>
                <a:lnTo>
                  <a:pt x="0" y="160908"/>
                </a:lnTo>
                <a:lnTo>
                  <a:pt x="4572" y="172084"/>
                </a:lnTo>
                <a:lnTo>
                  <a:pt x="29718" y="160908"/>
                </a:lnTo>
                <a:lnTo>
                  <a:pt x="91440" y="293369"/>
                </a:lnTo>
                <a:lnTo>
                  <a:pt x="105791" y="293369"/>
                </a:lnTo>
                <a:lnTo>
                  <a:pt x="185927" y="19811"/>
                </a:lnTo>
                <a:lnTo>
                  <a:pt x="195199" y="19811"/>
                </a:lnTo>
                <a:lnTo>
                  <a:pt x="195199" y="20065"/>
                </a:lnTo>
                <a:lnTo>
                  <a:pt x="587628" y="20065"/>
                </a:lnTo>
                <a:lnTo>
                  <a:pt x="587628" y="253"/>
                </a:lnTo>
                <a:lnTo>
                  <a:pt x="212851" y="253"/>
                </a:lnTo>
                <a:lnTo>
                  <a:pt x="212851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0" name="Google Shape;650;p38"/>
          <p:cNvSpPr txBox="1"/>
          <p:nvPr/>
        </p:nvSpPr>
        <p:spPr>
          <a:xfrm>
            <a:off x="9282683" y="4450079"/>
            <a:ext cx="60960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𝟐𝝅𝝈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51" name="Google Shape;651;p38"/>
          <p:cNvSpPr txBox="1"/>
          <p:nvPr/>
        </p:nvSpPr>
        <p:spPr>
          <a:xfrm>
            <a:off x="9917683" y="4026408"/>
            <a:ext cx="354330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9070" rtl="0" algn="l">
              <a:lnSpc>
                <a:spcPct val="99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endParaRPr sz="175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12700" rtl="0" algn="l">
              <a:lnSpc>
                <a:spcPct val="104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𝒆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52" name="Google Shape;652;p38"/>
          <p:cNvSpPr/>
          <p:nvPr/>
        </p:nvSpPr>
        <p:spPr>
          <a:xfrm>
            <a:off x="10276332" y="3914520"/>
            <a:ext cx="610870" cy="567690"/>
          </a:xfrm>
          <a:custGeom>
            <a:rect b="b" l="l" r="r" t="t"/>
            <a:pathLst>
              <a:path extrusionOk="0" h="567689" w="610870">
                <a:moveTo>
                  <a:pt x="102235" y="8128"/>
                </a:moveTo>
                <a:lnTo>
                  <a:pt x="57035" y="47650"/>
                </a:lnTo>
                <a:lnTo>
                  <a:pt x="26162" y="114046"/>
                </a:lnTo>
                <a:lnTo>
                  <a:pt x="14732" y="153073"/>
                </a:lnTo>
                <a:lnTo>
                  <a:pt x="6553" y="194310"/>
                </a:lnTo>
                <a:lnTo>
                  <a:pt x="1638" y="237744"/>
                </a:lnTo>
                <a:lnTo>
                  <a:pt x="0" y="283337"/>
                </a:lnTo>
                <a:lnTo>
                  <a:pt x="1574" y="326618"/>
                </a:lnTo>
                <a:lnTo>
                  <a:pt x="1638" y="328422"/>
                </a:lnTo>
                <a:lnTo>
                  <a:pt x="6553" y="371627"/>
                </a:lnTo>
                <a:lnTo>
                  <a:pt x="14732" y="412953"/>
                </a:lnTo>
                <a:lnTo>
                  <a:pt x="26162" y="452374"/>
                </a:lnTo>
                <a:lnTo>
                  <a:pt x="40449" y="488429"/>
                </a:lnTo>
                <a:lnTo>
                  <a:pt x="75933" y="545909"/>
                </a:lnTo>
                <a:lnTo>
                  <a:pt x="97155" y="567309"/>
                </a:lnTo>
                <a:lnTo>
                  <a:pt x="102235" y="559308"/>
                </a:lnTo>
                <a:lnTo>
                  <a:pt x="84010" y="537502"/>
                </a:lnTo>
                <a:lnTo>
                  <a:pt x="68033" y="511302"/>
                </a:lnTo>
                <a:lnTo>
                  <a:pt x="42799" y="445770"/>
                </a:lnTo>
                <a:lnTo>
                  <a:pt x="33642" y="407771"/>
                </a:lnTo>
                <a:lnTo>
                  <a:pt x="27139" y="368046"/>
                </a:lnTo>
                <a:lnTo>
                  <a:pt x="23253" y="326618"/>
                </a:lnTo>
                <a:lnTo>
                  <a:pt x="21971" y="283464"/>
                </a:lnTo>
                <a:lnTo>
                  <a:pt x="23253" y="239483"/>
                </a:lnTo>
                <a:lnTo>
                  <a:pt x="27139" y="197650"/>
                </a:lnTo>
                <a:lnTo>
                  <a:pt x="33642" y="157949"/>
                </a:lnTo>
                <a:lnTo>
                  <a:pt x="42799" y="120396"/>
                </a:lnTo>
                <a:lnTo>
                  <a:pt x="68135" y="55841"/>
                </a:lnTo>
                <a:lnTo>
                  <a:pt x="84086" y="29870"/>
                </a:lnTo>
                <a:lnTo>
                  <a:pt x="102235" y="8128"/>
                </a:lnTo>
                <a:close/>
              </a:path>
              <a:path extrusionOk="0" h="567689" w="610870">
                <a:moveTo>
                  <a:pt x="501396" y="276479"/>
                </a:moveTo>
                <a:lnTo>
                  <a:pt x="109728" y="276479"/>
                </a:lnTo>
                <a:lnTo>
                  <a:pt x="109728" y="290957"/>
                </a:lnTo>
                <a:lnTo>
                  <a:pt x="501396" y="290957"/>
                </a:lnTo>
                <a:lnTo>
                  <a:pt x="501396" y="276479"/>
                </a:lnTo>
                <a:close/>
              </a:path>
              <a:path extrusionOk="0" h="567689" w="610870">
                <a:moveTo>
                  <a:pt x="610730" y="283464"/>
                </a:moveTo>
                <a:lnTo>
                  <a:pt x="609180" y="239483"/>
                </a:lnTo>
                <a:lnTo>
                  <a:pt x="604227" y="194310"/>
                </a:lnTo>
                <a:lnTo>
                  <a:pt x="596061" y="153073"/>
                </a:lnTo>
                <a:lnTo>
                  <a:pt x="584581" y="114046"/>
                </a:lnTo>
                <a:lnTo>
                  <a:pt x="570280" y="78498"/>
                </a:lnTo>
                <a:lnTo>
                  <a:pt x="534860" y="21488"/>
                </a:lnTo>
                <a:lnTo>
                  <a:pt x="513715" y="0"/>
                </a:lnTo>
                <a:lnTo>
                  <a:pt x="508508" y="8128"/>
                </a:lnTo>
                <a:lnTo>
                  <a:pt x="526630" y="29870"/>
                </a:lnTo>
                <a:lnTo>
                  <a:pt x="542556" y="55841"/>
                </a:lnTo>
                <a:lnTo>
                  <a:pt x="567944" y="120396"/>
                </a:lnTo>
                <a:lnTo>
                  <a:pt x="577100" y="157949"/>
                </a:lnTo>
                <a:lnTo>
                  <a:pt x="583653" y="197650"/>
                </a:lnTo>
                <a:lnTo>
                  <a:pt x="587578" y="239483"/>
                </a:lnTo>
                <a:lnTo>
                  <a:pt x="588886" y="283337"/>
                </a:lnTo>
                <a:lnTo>
                  <a:pt x="587578" y="326618"/>
                </a:lnTo>
                <a:lnTo>
                  <a:pt x="583653" y="368046"/>
                </a:lnTo>
                <a:lnTo>
                  <a:pt x="577100" y="407771"/>
                </a:lnTo>
                <a:lnTo>
                  <a:pt x="567944" y="445770"/>
                </a:lnTo>
                <a:lnTo>
                  <a:pt x="542696" y="511302"/>
                </a:lnTo>
                <a:lnTo>
                  <a:pt x="508508" y="559308"/>
                </a:lnTo>
                <a:lnTo>
                  <a:pt x="513715" y="567309"/>
                </a:lnTo>
                <a:lnTo>
                  <a:pt x="553720" y="519607"/>
                </a:lnTo>
                <a:lnTo>
                  <a:pt x="584581" y="452374"/>
                </a:lnTo>
                <a:lnTo>
                  <a:pt x="596061" y="412953"/>
                </a:lnTo>
                <a:lnTo>
                  <a:pt x="604227" y="371627"/>
                </a:lnTo>
                <a:lnTo>
                  <a:pt x="609117" y="328422"/>
                </a:lnTo>
                <a:lnTo>
                  <a:pt x="610730" y="283464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3" name="Google Shape;653;p38"/>
          <p:cNvSpPr txBox="1"/>
          <p:nvPr/>
        </p:nvSpPr>
        <p:spPr>
          <a:xfrm>
            <a:off x="10418064" y="3660140"/>
            <a:ext cx="3195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2625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𝒚</a:t>
            </a:r>
            <a:r>
              <a:rPr lang="en-US" sz="145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𝟐</a:t>
            </a:r>
            <a:endParaRPr sz="14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54" name="Google Shape;654;p38"/>
          <p:cNvSpPr txBox="1"/>
          <p:nvPr/>
        </p:nvSpPr>
        <p:spPr>
          <a:xfrm>
            <a:off x="10348721" y="4174997"/>
            <a:ext cx="459740" cy="292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𝟐𝝈</a:t>
            </a:r>
            <a:r>
              <a:rPr baseline="30000" lang="en-US" sz="2175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𝟐</a:t>
            </a:r>
            <a:endParaRPr baseline="30000" sz="217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55" name="Google Shape;655;p3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6" name="Google Shape;656;p3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7" name="Google Shape;657;p38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63" name="Google Shape;663;p39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64" name="Google Shape;664;p39"/>
          <p:cNvSpPr txBox="1"/>
          <p:nvPr>
            <p:ph idx="4294967295" type="title"/>
          </p:nvPr>
        </p:nvSpPr>
        <p:spPr>
          <a:xfrm>
            <a:off x="0" y="1531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Separability of	the Gaussian Filter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5" name="Google Shape;665;p39"/>
          <p:cNvSpPr txBox="1"/>
          <p:nvPr/>
        </p:nvSpPr>
        <p:spPr>
          <a:xfrm>
            <a:off x="624840" y="1461361"/>
            <a:ext cx="10706100" cy="3832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654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3900">
                <a:latin typeface="Noto Sans Symbols"/>
                <a:ea typeface="Noto Sans Symbols"/>
                <a:cs typeface="Noto Sans Symbols"/>
                <a:sym typeface="Noto Sans Symbols"/>
              </a:rPr>
              <a:t>(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95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900">
                <a:latin typeface="Noto Sans Symbols"/>
                <a:ea typeface="Noto Sans Symbols"/>
                <a:cs typeface="Noto Sans Symbols"/>
                <a:sym typeface="Noto Sans Symbols"/>
              </a:rPr>
              <a:t>)</a:t>
            </a:r>
            <a:r>
              <a:rPr lang="en-US" sz="39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9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3900">
                <a:latin typeface="Noto Sans Symbols"/>
                <a:ea typeface="Noto Sans Symbols"/>
                <a:cs typeface="Noto Sans Symbols"/>
                <a:sym typeface="Noto Sans Symbols"/>
              </a:rPr>
              <a:t>(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95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900">
                <a:latin typeface="Noto Sans Symbols"/>
                <a:ea typeface="Noto Sans Symbols"/>
                <a:cs typeface="Noto Sans Symbols"/>
                <a:sym typeface="Noto Sans Symbols"/>
              </a:rPr>
              <a:t>)</a:t>
            </a:r>
            <a:r>
              <a:rPr lang="en-US" sz="2950"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900">
                <a:latin typeface="Noto Sans Symbols"/>
                <a:ea typeface="Noto Sans Symbols"/>
                <a:cs typeface="Noto Sans Symbols"/>
                <a:sym typeface="Noto Sans Symbols"/>
              </a:rPr>
              <a:t>(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95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900">
                <a:latin typeface="Noto Sans Symbols"/>
                <a:ea typeface="Noto Sans Symbols"/>
                <a:cs typeface="Noto Sans Symbols"/>
                <a:sym typeface="Noto Sans Symbols"/>
              </a:rPr>
              <a:t>)</a:t>
            </a:r>
            <a:endParaRPr sz="39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None/>
            </a:pPr>
            <a:r>
              <a:t/>
            </a:r>
            <a:endParaRPr sz="295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Requires </a:t>
            </a:r>
            <a:r>
              <a:rPr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i="1" lang="en-US" sz="315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30000" i="1" lang="en-US" sz="315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multiplications for </a:t>
            </a:r>
            <a:r>
              <a:rPr i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i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image and </a:t>
            </a:r>
            <a:r>
              <a:rPr i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i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kernel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654175" rtl="0" algn="l">
              <a:lnSpc>
                <a:spcPct val="100000"/>
              </a:lnSpc>
              <a:spcBef>
                <a:spcPts val="3529"/>
              </a:spcBef>
              <a:spcAft>
                <a:spcPts val="0"/>
              </a:spcAft>
              <a:buNone/>
            </a:pP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3900">
                <a:latin typeface="Noto Sans Symbols"/>
                <a:ea typeface="Noto Sans Symbols"/>
                <a:cs typeface="Noto Sans Symbols"/>
                <a:sym typeface="Noto Sans Symbols"/>
              </a:rPr>
              <a:t>(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95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900">
                <a:latin typeface="Noto Sans Symbols"/>
                <a:ea typeface="Noto Sans Symbols"/>
                <a:cs typeface="Noto Sans Symbols"/>
                <a:sym typeface="Noto Sans Symbols"/>
              </a:rPr>
              <a:t>)</a:t>
            </a:r>
            <a:r>
              <a:rPr lang="en-US" sz="39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9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3900">
                <a:latin typeface="Noto Sans Symbols"/>
                <a:ea typeface="Noto Sans Symbols"/>
                <a:cs typeface="Noto Sans Symbols"/>
                <a:sym typeface="Noto Sans Symbols"/>
              </a:rPr>
              <a:t>(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95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900">
                <a:latin typeface="Noto Sans Symbols"/>
                <a:ea typeface="Noto Sans Symbols"/>
                <a:cs typeface="Noto Sans Symbols"/>
                <a:sym typeface="Noto Sans Symbols"/>
              </a:rPr>
              <a:t>)</a:t>
            </a:r>
            <a:r>
              <a:rPr lang="en-US" sz="2950"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900">
                <a:latin typeface="Noto Sans Symbols"/>
                <a:ea typeface="Noto Sans Symbols"/>
                <a:cs typeface="Noto Sans Symbols"/>
                <a:sym typeface="Noto Sans Symbols"/>
              </a:rPr>
              <a:t>(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900">
                <a:latin typeface="Noto Sans Symbols"/>
                <a:ea typeface="Noto Sans Symbols"/>
                <a:cs typeface="Noto Sans Symbols"/>
                <a:sym typeface="Noto Sans Symbols"/>
              </a:rPr>
              <a:t>)</a:t>
            </a:r>
            <a:r>
              <a:rPr lang="en-US" sz="2950"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950">
                <a:latin typeface="Times New Roman"/>
                <a:ea typeface="Times New Roman"/>
                <a:cs typeface="Times New Roman"/>
                <a:sym typeface="Times New Roman"/>
              </a:rPr>
              <a:t>( 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9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850"/>
              </a:spcBef>
              <a:spcAft>
                <a:spcPts val="0"/>
              </a:spcAft>
              <a:buNone/>
            </a:pPr>
            <a:r>
              <a:t/>
            </a:r>
            <a:endParaRPr sz="2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Requires </a:t>
            </a:r>
            <a:r>
              <a:rPr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2kn</a:t>
            </a:r>
            <a:r>
              <a:rPr baseline="30000" i="1" lang="en-US" sz="315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multiplications for </a:t>
            </a:r>
            <a:r>
              <a:rPr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by </a:t>
            </a:r>
            <a:r>
              <a:rPr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image and </a:t>
            </a:r>
            <a:r>
              <a:rPr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by </a:t>
            </a:r>
            <a:r>
              <a:rPr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kernel.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6" name="Google Shape;666;p3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7" name="Google Shape;667;p3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8" name="Google Shape;668;p39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74" name="Google Shape;674;p4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75" name="Google Shape;675;p4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Issues in Smoothing using </a:t>
            </a:r>
            <a:r>
              <a:rPr lang="en-US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Averaging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6" name="Google Shape;676;p40"/>
          <p:cNvSpPr txBox="1"/>
          <p:nvPr/>
        </p:nvSpPr>
        <p:spPr>
          <a:xfrm>
            <a:off x="688351" y="1140450"/>
            <a:ext cx="11199300" cy="9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Consider a case where one of the pixels in the neighborhood </a:t>
            </a:r>
            <a:r>
              <a:rPr lang="en-US" sz="3200" u="sng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has a very high faulty (spurious) value due to noise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7" name="Google Shape;677;p40"/>
          <p:cNvSpPr txBox="1"/>
          <p:nvPr/>
        </p:nvSpPr>
        <p:spPr>
          <a:xfrm>
            <a:off x="688350" y="2749575"/>
            <a:ext cx="11392500" cy="3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29895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This fault will now be </a:t>
            </a:r>
            <a:r>
              <a:rPr lang="en-US" sz="3200" u="sng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smeared</a:t>
            </a:r>
            <a:r>
              <a:rPr lang="en-US" sz="3200" u="none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 over nine pixels around it </a:t>
            </a:r>
            <a:r>
              <a:rPr lang="en-US" sz="3200" u="none">
                <a:latin typeface="Georgia"/>
                <a:ea typeface="Georgia"/>
                <a:cs typeface="Georgia"/>
                <a:sym typeface="Georgia"/>
              </a:rPr>
              <a:t>when the image is </a:t>
            </a:r>
            <a:endParaRPr sz="3200" u="none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29895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    </a:t>
            </a:r>
            <a:r>
              <a:rPr lang="en-US" sz="3200" u="none">
                <a:latin typeface="Georgia"/>
                <a:ea typeface="Georgia"/>
                <a:cs typeface="Georgia"/>
                <a:sym typeface="Georgia"/>
              </a:rPr>
              <a:t>smoothed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1745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Since noisy value is very high, </a:t>
            </a:r>
            <a:r>
              <a:rPr lang="en-US" sz="3200" u="sng">
                <a:latin typeface="Georgia"/>
                <a:ea typeface="Georgia"/>
                <a:cs typeface="Georgia"/>
                <a:sym typeface="Georgia"/>
              </a:rPr>
              <a:t>the value of all the neighboring</a:t>
            </a:r>
            <a:r>
              <a:rPr lang="en-US" sz="3200" u="none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3200" u="sng">
                <a:latin typeface="Georgia"/>
                <a:ea typeface="Georgia"/>
                <a:cs typeface="Georgia"/>
                <a:sym typeface="Georgia"/>
              </a:rPr>
              <a:t>pixel will be increased wrongly</a:t>
            </a:r>
            <a:r>
              <a:rPr lang="en-US" sz="3200" u="none">
                <a:latin typeface="Georgia"/>
                <a:ea typeface="Georgia"/>
                <a:cs typeface="Georgia"/>
                <a:sym typeface="Georgia"/>
              </a:rPr>
              <a:t> to a relatively high value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678" name="Google Shape;678;p40"/>
          <p:cNvGraphicFramePr/>
          <p:nvPr/>
        </p:nvGraphicFramePr>
        <p:xfrm>
          <a:off x="8680450" y="2584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{2B407BD2-0900-41C8-8F19-0FB04DCB6EF6}</a:tableStyleId>
              </a:tblPr>
              <a:tblGrid>
                <a:gridCol w="939800"/>
                <a:gridCol w="939800"/>
                <a:gridCol w="939800"/>
              </a:tblGrid>
              <a:tr h="685800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C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12</a:t>
                      </a:r>
                      <a:endParaRPr sz="28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65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C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10</a:t>
                      </a:r>
                      <a:endParaRPr sz="28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65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C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15</a:t>
                      </a:r>
                      <a:endParaRPr sz="28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65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C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10</a:t>
                      </a:r>
                      <a:endParaRPr sz="28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65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C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33</a:t>
                      </a:r>
                      <a:endParaRPr sz="28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65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C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11</a:t>
                      </a:r>
                      <a:endParaRPr sz="28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65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C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12</a:t>
                      </a:r>
                      <a:endParaRPr sz="28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65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C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11</a:t>
                      </a:r>
                      <a:endParaRPr sz="28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65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C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14</a:t>
                      </a:r>
                      <a:endParaRPr sz="28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165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679" name="Google Shape;679;p4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0" name="Google Shape;680;p4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1" name="Google Shape;681;p40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87" name="Google Shape;687;p4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88" name="Google Shape;688;p41"/>
          <p:cNvSpPr txBox="1"/>
          <p:nvPr>
            <p:ph idx="4294967295" type="title"/>
          </p:nvPr>
        </p:nvSpPr>
        <p:spPr>
          <a:xfrm>
            <a:off x="0" y="1531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Order Statistics Filter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9" name="Google Shape;689;p41"/>
          <p:cNvSpPr txBox="1"/>
          <p:nvPr/>
        </p:nvSpPr>
        <p:spPr>
          <a:xfrm>
            <a:off x="634755" y="1283600"/>
            <a:ext cx="5194200" cy="11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8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Median Filter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Rank Order Filters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0" name="Google Shape;690;p4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1" name="Google Shape;691;p4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2" name="Google Shape;692;p41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98" name="Google Shape;698;p4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99" name="Google Shape;699;p42"/>
          <p:cNvSpPr txBox="1"/>
          <p:nvPr>
            <p:ph idx="4294967295" type="title"/>
          </p:nvPr>
        </p:nvSpPr>
        <p:spPr>
          <a:xfrm>
            <a:off x="0" y="1531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Median Filter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00" name="Google Shape;700;p42"/>
          <p:cNvSpPr txBox="1"/>
          <p:nvPr/>
        </p:nvSpPr>
        <p:spPr>
          <a:xfrm>
            <a:off x="478650" y="1229800"/>
            <a:ext cx="11234700" cy="45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98449" lvl="0" marL="355600" marR="508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lang="en-US" sz="3000">
                <a:latin typeface="Georgia"/>
                <a:ea typeface="Georgia"/>
                <a:cs typeface="Georgia"/>
                <a:sym typeface="Georgia"/>
              </a:rPr>
              <a:t>A better approach for smoothing (noise removal) is to use a </a:t>
            </a:r>
            <a:r>
              <a:rPr i="1" lang="en-US" sz="3000" u="sng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median filter</a:t>
            </a:r>
            <a:endParaRPr i="1" sz="3000" u="sng"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marR="508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3000" u="sng"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98449" lvl="0" marL="355600" marR="61849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i="1" lang="en-US" sz="3000" u="sng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In median filter</a:t>
            </a:r>
            <a:r>
              <a:rPr i="1" lang="en-US" sz="3000" u="none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3000" u="sng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similar neighborhood</a:t>
            </a:r>
            <a:r>
              <a:rPr lang="en-US" sz="3000" u="none">
                <a:solidFill>
                  <a:srgbClr val="00AF50"/>
                </a:solidFill>
                <a:latin typeface="Georgia"/>
                <a:ea typeface="Georgia"/>
                <a:cs typeface="Georgia"/>
                <a:sym typeface="Georgia"/>
              </a:rPr>
              <a:t> as in average filter is considered</a:t>
            </a:r>
            <a:endParaRPr sz="3000" u="none">
              <a:solidFill>
                <a:srgbClr val="00AF5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marR="61849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AF5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98449" lvl="0" marL="355600" marR="635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lang="en-US" sz="3000">
                <a:latin typeface="Georgia"/>
                <a:ea typeface="Georgia"/>
                <a:cs typeface="Georgia"/>
                <a:sym typeface="Georgia"/>
              </a:rPr>
              <a:t>But this time the pixel value is </a:t>
            </a:r>
            <a:r>
              <a:rPr lang="en-US" sz="3000" u="sng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replaced by the </a:t>
            </a:r>
            <a:r>
              <a:rPr i="1" lang="en-US" sz="3000" u="sng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median</a:t>
            </a:r>
            <a:r>
              <a:rPr i="1" lang="en-US" sz="30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i="1" lang="en-US" sz="3000" u="sng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pixel value</a:t>
            </a:r>
            <a:r>
              <a:rPr i="1" lang="en-US" sz="3000" u="none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3000" u="none">
                <a:latin typeface="Georgia"/>
                <a:ea typeface="Georgia"/>
                <a:cs typeface="Georgia"/>
                <a:sym typeface="Georgia"/>
              </a:rPr>
              <a:t>of	the neighborhood </a:t>
            </a:r>
            <a:r>
              <a:rPr lang="en-US" sz="3000" u="sng">
                <a:latin typeface="Georgia"/>
                <a:ea typeface="Georgia"/>
                <a:cs typeface="Georgia"/>
                <a:sym typeface="Georgia"/>
              </a:rPr>
              <a:t>in place of mean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01" name="Google Shape;701;p4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2" name="Google Shape;702;p4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3" name="Google Shape;703;p42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09" name="Google Shape;709;p4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0" name="Google Shape;710;p43"/>
          <p:cNvSpPr txBox="1"/>
          <p:nvPr>
            <p:ph idx="4294967295" type="title"/>
          </p:nvPr>
        </p:nvSpPr>
        <p:spPr>
          <a:xfrm>
            <a:off x="0" y="1531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Median Filter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711" name="Google Shape;711;p43"/>
          <p:cNvGraphicFramePr/>
          <p:nvPr/>
        </p:nvGraphicFramePr>
        <p:xfrm>
          <a:off x="4489450" y="3194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{2B407BD2-0900-41C8-8F19-0FB04DCB6EF6}</a:tableStyleId>
              </a:tblPr>
              <a:tblGrid>
                <a:gridCol w="1016000"/>
                <a:gridCol w="1016000"/>
                <a:gridCol w="1016000"/>
              </a:tblGrid>
              <a:tr h="660400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12</a:t>
                      </a:r>
                      <a:endParaRPr sz="2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10</a:t>
                      </a:r>
                      <a:endParaRPr sz="2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15</a:t>
                      </a:r>
                      <a:endParaRPr sz="2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10</a:t>
                      </a:r>
                      <a:endParaRPr sz="2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203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33</a:t>
                      </a:r>
                      <a:endParaRPr sz="2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203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11</a:t>
                      </a:r>
                      <a:endParaRPr sz="2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203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12</a:t>
                      </a:r>
                      <a:endParaRPr sz="2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11</a:t>
                      </a:r>
                      <a:endParaRPr sz="2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14</a:t>
                      </a:r>
                      <a:endParaRPr sz="2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712" name="Google Shape;712;p43"/>
          <p:cNvSpPr txBox="1"/>
          <p:nvPr/>
        </p:nvSpPr>
        <p:spPr>
          <a:xfrm>
            <a:off x="305175" y="1122400"/>
            <a:ext cx="11582400" cy="4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7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How does median filtering work?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marR="5080" rtl="0" algn="l">
              <a:lnSpc>
                <a:spcPct val="107857"/>
              </a:lnSpc>
              <a:spcBef>
                <a:spcPts val="75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if we have a 3×3 neighborhood, we write the 9 pixel values in a sorted 	order, and replace the central pixel by </a:t>
            </a:r>
            <a:r>
              <a:rPr i="1" lang="en-US" sz="2800" u="sng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the fifth highest </a:t>
            </a:r>
            <a:r>
              <a:rPr lang="en-US" sz="2800" u="none">
                <a:latin typeface="Georgia"/>
                <a:ea typeface="Georgia"/>
                <a:cs typeface="Georgia"/>
                <a:sym typeface="Georgia"/>
              </a:rPr>
              <a:t>value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0" lvl="1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Example: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0" lvl="0" marL="70300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6F2F9F"/>
                </a:solidFill>
                <a:latin typeface="Georgia"/>
                <a:ea typeface="Georgia"/>
                <a:cs typeface="Georgia"/>
                <a:sym typeface="Georgia"/>
              </a:rPr>
              <a:t>      </a:t>
            </a:r>
            <a:r>
              <a:rPr i="1" lang="en-US" sz="2400">
                <a:solidFill>
                  <a:srgbClr val="6F2F9F"/>
                </a:solidFill>
                <a:latin typeface="Georgia"/>
                <a:ea typeface="Georgia"/>
                <a:cs typeface="Georgia"/>
                <a:sym typeface="Georgia"/>
              </a:rPr>
              <a:t>10, 10, 11, 11, </a:t>
            </a:r>
            <a:r>
              <a:rPr b="1" i="1" lang="en-US" sz="25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12</a:t>
            </a:r>
            <a:r>
              <a:rPr i="1" lang="en-US" sz="2400">
                <a:solidFill>
                  <a:srgbClr val="6F2F9F"/>
                </a:solidFill>
                <a:latin typeface="Georgia"/>
                <a:ea typeface="Georgia"/>
                <a:cs typeface="Georgia"/>
                <a:sym typeface="Georgia"/>
              </a:rPr>
              <a:t>, 12,14, 15, 33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2405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Here central pixel is replaced by the value </a:t>
            </a:r>
            <a:r>
              <a:rPr lang="en-US" sz="28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12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3" name="Google Shape;713;p4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4" name="Google Shape;714;p4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5" name="Google Shape;715;p43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21" name="Google Shape;721;p4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22" name="Google Shape;722;p44"/>
          <p:cNvSpPr txBox="1"/>
          <p:nvPr>
            <p:ph idx="4294967295" type="title"/>
          </p:nvPr>
        </p:nvSpPr>
        <p:spPr>
          <a:xfrm>
            <a:off x="0" y="1531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Median Filter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3" name="Google Shape;723;p44"/>
          <p:cNvSpPr txBox="1"/>
          <p:nvPr/>
        </p:nvSpPr>
        <p:spPr>
          <a:xfrm>
            <a:off x="305175" y="1229800"/>
            <a:ext cx="115824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2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This approach has two advantages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3200" u="sng">
                <a:latin typeface="Georgia"/>
                <a:ea typeface="Georgia"/>
                <a:cs typeface="Georgia"/>
                <a:sym typeface="Georgia"/>
              </a:rPr>
              <a:t>Occasional spurious high or low values</a:t>
            </a:r>
            <a:r>
              <a:rPr lang="en-US" sz="3200" u="none">
                <a:latin typeface="Georgia"/>
                <a:ea typeface="Georgia"/>
                <a:cs typeface="Georgia"/>
                <a:sym typeface="Georgia"/>
              </a:rPr>
              <a:t> are </a:t>
            </a:r>
            <a:r>
              <a:rPr lang="en-US" sz="3200" u="sng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not</a:t>
            </a:r>
            <a:r>
              <a:rPr lang="en-US" sz="3200" u="none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3200" u="none">
                <a:latin typeface="Georgia"/>
                <a:ea typeface="Georgia"/>
                <a:cs typeface="Georgia"/>
                <a:sym typeface="Georgia"/>
              </a:rPr>
              <a:t>averaged in,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4" name="Google Shape;724;p44"/>
          <p:cNvSpPr txBox="1"/>
          <p:nvPr/>
        </p:nvSpPr>
        <p:spPr>
          <a:xfrm>
            <a:off x="763875" y="2509900"/>
            <a:ext cx="11123700" cy="10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1275">
            <a:spAutoFit/>
          </a:bodyPr>
          <a:lstStyle/>
          <a:p>
            <a:pPr indent="-285115" lvl="0" marL="2978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The sharpness of edges is preserved.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227965" lvl="1" marL="697865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To see this, consider the pixel data shown below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725" name="Google Shape;725;p44"/>
          <p:cNvGraphicFramePr/>
          <p:nvPr/>
        </p:nvGraphicFramePr>
        <p:xfrm>
          <a:off x="4343400" y="38622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{2B407BD2-0900-41C8-8F19-0FB04DCB6EF6}</a:tableStyleId>
              </a:tblPr>
              <a:tblGrid>
                <a:gridCol w="876300"/>
                <a:gridCol w="876300"/>
                <a:gridCol w="876300"/>
                <a:gridCol w="876300"/>
              </a:tblGrid>
              <a:tr h="762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726" name="Google Shape;726;p4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7" name="Google Shape;727;p4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8" name="Google Shape;728;p44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4" name="Google Shape;734;p45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5" name="Google Shape;735;p45"/>
          <p:cNvSpPr txBox="1"/>
          <p:nvPr>
            <p:ph idx="4294967295" type="title"/>
          </p:nvPr>
        </p:nvSpPr>
        <p:spPr>
          <a:xfrm>
            <a:off x="0" y="1531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Median Filter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6" name="Google Shape;736;p45"/>
          <p:cNvSpPr txBox="1"/>
          <p:nvPr/>
        </p:nvSpPr>
        <p:spPr>
          <a:xfrm>
            <a:off x="634751" y="1099100"/>
            <a:ext cx="11199300" cy="14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When the neighborhood covers the left-hand nine pixels, the median value is </a:t>
            </a:r>
            <a:r>
              <a:rPr lang="en-US" sz="32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100</a:t>
            </a: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; when it covers the right hand ones, the median value is </a:t>
            </a:r>
            <a:r>
              <a:rPr lang="en-US" sz="32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200</a:t>
            </a: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; thus the edge is preserved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7" name="Google Shape;737;p45"/>
          <p:cNvSpPr txBox="1"/>
          <p:nvPr/>
        </p:nvSpPr>
        <p:spPr>
          <a:xfrm>
            <a:off x="688340" y="4321073"/>
            <a:ext cx="10579200" cy="21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4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50"/>
              <a:buFont typeface="Noto Sans Symbols"/>
              <a:buChar char="▪"/>
            </a:pPr>
            <a:r>
              <a:rPr lang="en-US" sz="3300">
                <a:latin typeface="Georgia"/>
                <a:ea typeface="Georgia"/>
                <a:cs typeface="Georgia"/>
                <a:sym typeface="Georgia"/>
              </a:rPr>
              <a:t>Notes</a:t>
            </a:r>
            <a:endParaRPr sz="3300">
              <a:latin typeface="Georgia"/>
              <a:ea typeface="Georgia"/>
              <a:cs typeface="Georgia"/>
              <a:sym typeface="Georgia"/>
            </a:endParaRPr>
          </a:p>
          <a:p>
            <a:pPr indent="-285750" lvl="0" marL="755650" marR="5080" rtl="0" algn="l">
              <a:lnSpc>
                <a:spcPct val="108000"/>
              </a:lnSpc>
              <a:spcBef>
                <a:spcPts val="785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3000">
                <a:latin typeface="Georgia"/>
                <a:ea typeface="Georgia"/>
                <a:cs typeface="Georgia"/>
                <a:sym typeface="Georgia"/>
              </a:rPr>
              <a:t>If there are large amounts of	noise in an image, </a:t>
            </a:r>
            <a:r>
              <a:rPr lang="en-US" sz="3000" u="sng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more than one</a:t>
            </a:r>
            <a:r>
              <a:rPr lang="en-US" sz="3000" u="none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3000" u="sng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pass of	median filtering may be useful </a:t>
            </a:r>
            <a:r>
              <a:rPr lang="en-US" sz="3000" u="none">
                <a:latin typeface="Georgia"/>
                <a:ea typeface="Georgia"/>
                <a:cs typeface="Georgia"/>
                <a:sym typeface="Georgia"/>
              </a:rPr>
              <a:t>to further reduce the noise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738" name="Google Shape;738;p45"/>
          <p:cNvGraphicFramePr/>
          <p:nvPr/>
        </p:nvGraphicFramePr>
        <p:xfrm>
          <a:off x="4337050" y="26650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{2B407BD2-0900-41C8-8F19-0FB04DCB6EF6}</a:tableStyleId>
              </a:tblPr>
              <a:tblGrid>
                <a:gridCol w="876300"/>
                <a:gridCol w="876300"/>
                <a:gridCol w="876300"/>
                <a:gridCol w="876300"/>
              </a:tblGrid>
              <a:tr h="762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76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pic>
        <p:nvPicPr>
          <p:cNvPr id="739" name="Google Shape;73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4800" y="2667000"/>
            <a:ext cx="3048000" cy="2298192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4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1" name="Google Shape;741;p4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2" name="Google Shape;742;p45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4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8" name="Google Shape;748;p46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9" name="Google Shape;749;p46"/>
          <p:cNvSpPr txBox="1"/>
          <p:nvPr>
            <p:ph idx="4294967295" type="title"/>
          </p:nvPr>
        </p:nvSpPr>
        <p:spPr>
          <a:xfrm>
            <a:off x="0" y="1531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Median Filter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50" name="Google Shape;75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066800"/>
            <a:ext cx="3486150" cy="2628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1" name="Google Shape;751;p46"/>
          <p:cNvGrpSpPr/>
          <p:nvPr/>
        </p:nvGrpSpPr>
        <p:grpSpPr>
          <a:xfrm>
            <a:off x="4419600" y="1066800"/>
            <a:ext cx="5839205" cy="5327141"/>
            <a:chOff x="4419600" y="1066800"/>
            <a:chExt cx="5839205" cy="5327141"/>
          </a:xfrm>
        </p:grpSpPr>
        <p:pic>
          <p:nvPicPr>
            <p:cNvPr id="752" name="Google Shape;752;p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05600" y="1066800"/>
              <a:ext cx="3553205" cy="268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3" name="Google Shape;753;p4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19600" y="3774185"/>
              <a:ext cx="3486150" cy="26197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54" name="Google Shape;754;p46"/>
          <p:cNvSpPr txBox="1"/>
          <p:nvPr/>
        </p:nvSpPr>
        <p:spPr>
          <a:xfrm>
            <a:off x="413776" y="2423150"/>
            <a:ext cx="11922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35890" lvl="0" marL="14795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Original Image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55" name="Google Shape;755;p46"/>
          <p:cNvSpPr txBox="1"/>
          <p:nvPr/>
        </p:nvSpPr>
        <p:spPr>
          <a:xfrm>
            <a:off x="10337800" y="3145282"/>
            <a:ext cx="16090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Noisy Image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56" name="Google Shape;756;p46"/>
          <p:cNvSpPr txBox="1"/>
          <p:nvPr/>
        </p:nvSpPr>
        <p:spPr>
          <a:xfrm>
            <a:off x="7939023" y="5551423"/>
            <a:ext cx="28944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Median Filtered Image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57" name="Google Shape;757;p4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8" name="Google Shape;758;p4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9" name="Google Shape;759;p46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7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5" name="Google Shape;765;p47"/>
          <p:cNvSpPr txBox="1"/>
          <p:nvPr/>
        </p:nvSpPr>
        <p:spPr>
          <a:xfrm>
            <a:off x="688340" y="1296113"/>
            <a:ext cx="10798200" cy="4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240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rgbClr val="FF0000"/>
              </a:buClr>
              <a:buSzPts val="3500"/>
              <a:buFont typeface="Noto Sans Symbols"/>
              <a:buChar char="▪"/>
            </a:pPr>
            <a:r>
              <a:rPr lang="en-US" sz="4400"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lang="en-US" sz="4400">
                <a:latin typeface="Georgia"/>
                <a:ea typeface="Georgia"/>
                <a:cs typeface="Georgia"/>
                <a:sym typeface="Georgia"/>
              </a:rPr>
              <a:t>n place of	taking the mean, rank all the pixel values in a window</a:t>
            </a:r>
            <a:endParaRPr sz="4400">
              <a:latin typeface="Georgia"/>
              <a:ea typeface="Georgia"/>
              <a:cs typeface="Georgia"/>
              <a:sym typeface="Georgi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4000">
                <a:latin typeface="Georgia"/>
                <a:ea typeface="Georgia"/>
                <a:cs typeface="Georgia"/>
                <a:sym typeface="Georgia"/>
              </a:rPr>
              <a:t>Take the </a:t>
            </a:r>
            <a:r>
              <a:rPr i="1" lang="en-US" sz="4000"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US" sz="4000">
                <a:latin typeface="Georgia"/>
                <a:ea typeface="Georgia"/>
                <a:cs typeface="Georgia"/>
                <a:sym typeface="Georgia"/>
              </a:rPr>
              <a:t>-th order value</a:t>
            </a:r>
            <a:endParaRPr sz="40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2815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Georgia"/>
              <a:ea typeface="Georgia"/>
              <a:cs typeface="Georgia"/>
              <a:sym typeface="Georgia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500"/>
              <a:buFont typeface="Noto Sans Symbols"/>
              <a:buChar char="▪"/>
            </a:pPr>
            <a:r>
              <a:rPr lang="en-US" sz="4400">
                <a:latin typeface="Georgia"/>
                <a:ea typeface="Georgia"/>
                <a:cs typeface="Georgia"/>
                <a:sym typeface="Georgia"/>
              </a:rPr>
              <a:t>Example: </a:t>
            </a:r>
            <a:r>
              <a:rPr i="1" lang="en-US" sz="4400">
                <a:latin typeface="Georgia"/>
                <a:ea typeface="Georgia"/>
                <a:cs typeface="Georgia"/>
                <a:sym typeface="Georgia"/>
              </a:rPr>
              <a:t>max </a:t>
            </a:r>
            <a:r>
              <a:rPr lang="en-US" sz="4400">
                <a:latin typeface="Georgia"/>
                <a:ea typeface="Georgia"/>
                <a:cs typeface="Georgia"/>
                <a:sym typeface="Georgia"/>
              </a:rPr>
              <a:t>or </a:t>
            </a:r>
            <a:r>
              <a:rPr i="1" lang="en-US" sz="4400">
                <a:latin typeface="Georgia"/>
                <a:ea typeface="Georgia"/>
                <a:cs typeface="Georgia"/>
                <a:sym typeface="Georgia"/>
              </a:rPr>
              <a:t>min </a:t>
            </a:r>
            <a:r>
              <a:rPr lang="en-US" sz="4400">
                <a:latin typeface="Georgia"/>
                <a:ea typeface="Georgia"/>
                <a:cs typeface="Georgia"/>
                <a:sym typeface="Georgia"/>
              </a:rPr>
              <a:t>or </a:t>
            </a:r>
            <a:r>
              <a:rPr i="1" lang="en-US" sz="4400">
                <a:latin typeface="Georgia"/>
                <a:ea typeface="Georgia"/>
                <a:cs typeface="Georgia"/>
                <a:sym typeface="Georgia"/>
              </a:rPr>
              <a:t>median</a:t>
            </a:r>
            <a:endParaRPr sz="4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66" name="Google Shape;766;p4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7" name="Google Shape;767;p47"/>
          <p:cNvSpPr txBox="1"/>
          <p:nvPr>
            <p:ph idx="4294967295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768" name="Google Shape;768;p47"/>
          <p:cNvSpPr txBox="1"/>
          <p:nvPr/>
        </p:nvSpPr>
        <p:spPr>
          <a:xfrm>
            <a:off x="0" y="102125"/>
            <a:ext cx="1219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714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600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Rank Order Filters</a:t>
            </a:r>
            <a:endParaRPr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4" name="Google Shape;774;p48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4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5" name="Google Shape;775;p48"/>
          <p:cNvSpPr txBox="1"/>
          <p:nvPr>
            <p:ph idx="4294967295" type="title"/>
          </p:nvPr>
        </p:nvSpPr>
        <p:spPr>
          <a:xfrm>
            <a:off x="0" y="1531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993300"/>
                </a:solidFill>
                <a:latin typeface="Georgia"/>
                <a:ea typeface="Georgia"/>
                <a:cs typeface="Georgia"/>
                <a:sym typeface="Georgia"/>
              </a:rPr>
              <a:t>Hybrid Filters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76" name="Google Shape;776;p48"/>
          <p:cNvSpPr txBox="1"/>
          <p:nvPr/>
        </p:nvSpPr>
        <p:spPr>
          <a:xfrm>
            <a:off x="350903" y="1321350"/>
            <a:ext cx="7194300" cy="1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9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6FC0"/>
                </a:solidFill>
                <a:latin typeface="Georgia"/>
                <a:ea typeface="Georgia"/>
                <a:cs typeface="Georgia"/>
                <a:sym typeface="Georgia"/>
              </a:rPr>
              <a:t>Combination of	 following filters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Clr>
                <a:srgbClr val="6F2F9F"/>
              </a:buClr>
              <a:buSzPts val="2800"/>
              <a:buFont typeface="Arial"/>
              <a:buChar char="–"/>
            </a:pPr>
            <a:r>
              <a:rPr i="1" lang="en-US" sz="2800">
                <a:solidFill>
                  <a:srgbClr val="6F2F9F"/>
                </a:solidFill>
                <a:latin typeface="Georgia"/>
                <a:ea typeface="Georgia"/>
                <a:cs typeface="Georgia"/>
                <a:sym typeface="Georgia"/>
              </a:rPr>
              <a:t>Convolution based filter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6F2F9F"/>
              </a:buClr>
              <a:buSzPts val="2800"/>
              <a:buFont typeface="Arial"/>
              <a:buChar char="–"/>
            </a:pPr>
            <a:r>
              <a:rPr i="1" lang="en-US" sz="2800">
                <a:solidFill>
                  <a:srgbClr val="6F2F9F"/>
                </a:solidFill>
                <a:latin typeface="Georgia"/>
                <a:ea typeface="Georgia"/>
                <a:cs typeface="Georgia"/>
                <a:sym typeface="Georgia"/>
              </a:rPr>
              <a:t>Order statistics filter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77" name="Google Shape;777;p4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8" name="Google Shape;778;p4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9" name="Google Shape;779;p48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5" name="Google Shape;785;p49"/>
          <p:cNvSpPr txBox="1"/>
          <p:nvPr/>
        </p:nvSpPr>
        <p:spPr>
          <a:xfrm>
            <a:off x="2945850" y="2874900"/>
            <a:ext cx="630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End</a:t>
            </a:r>
            <a:endParaRPr b="1"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86" name="Google Shape;786;p49"/>
          <p:cNvSpPr txBox="1"/>
          <p:nvPr>
            <p:ph idx="4294967295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