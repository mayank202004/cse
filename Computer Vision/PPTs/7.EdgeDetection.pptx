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</p:sldIdLst>
  <p:sldSz cy="6858000" cx="12192000"/>
  <p:notesSz cx="12192000" cy="6858000"/>
  <p:embeddedFontLst>
    <p:embeddedFont>
      <p:font typeface="Palatino Linotype"/>
      <p:regular r:id="rId118"/>
      <p:bold r:id="rId119"/>
      <p:italic r:id="rId120"/>
      <p:boldItalic r:id="rId121"/>
    </p:embeddedFont>
    <p:embeddedFont>
      <p:font typeface="Tahoma"/>
      <p:regular r:id="rId122"/>
      <p:bold r:id="rId123"/>
    </p:embeddedFont>
    <p:embeddedFont>
      <p:font typeface="Noto Sans Symbols"/>
      <p:regular r:id="rId124"/>
      <p:bold r:id="rId125"/>
    </p:embeddedFont>
    <p:embeddedFont>
      <p:font typeface="Bell MT"/>
      <p:regular r:id="rId126"/>
      <p:bold r:id="rId127"/>
      <p:italic r:id="rId128"/>
      <p:boldItalic r:id="rId129"/>
    </p:embeddedFont>
    <p:embeddedFont>
      <p:font typeface="Cambria Math"/>
      <p:regular r:id="rId1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31AD5B-B408-4F61-B6F0-10DCD702AF72}">
  <a:tblStyle styleId="{C631AD5B-B408-4F61-B6F0-10DCD702AF7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font" Target="fonts/BellMT-boldItalic.fntdata"/><Relationship Id="rId128" Type="http://schemas.openxmlformats.org/officeDocument/2006/relationships/font" Target="fonts/BellMT-italic.fntdata"/><Relationship Id="rId127" Type="http://schemas.openxmlformats.org/officeDocument/2006/relationships/font" Target="fonts/BellMT-bold.fntdata"/><Relationship Id="rId126" Type="http://schemas.openxmlformats.org/officeDocument/2006/relationships/font" Target="fonts/BellMT-regular.fntdata"/><Relationship Id="rId26" Type="http://schemas.openxmlformats.org/officeDocument/2006/relationships/slide" Target="slides/slide20.xml"/><Relationship Id="rId121" Type="http://schemas.openxmlformats.org/officeDocument/2006/relationships/font" Target="fonts/PalatinoLinotype-boldItalic.fntdata"/><Relationship Id="rId25" Type="http://schemas.openxmlformats.org/officeDocument/2006/relationships/slide" Target="slides/slide19.xml"/><Relationship Id="rId120" Type="http://schemas.openxmlformats.org/officeDocument/2006/relationships/font" Target="fonts/PalatinoLinotype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font" Target="fonts/NotoSansSymbols-bold.fntdata"/><Relationship Id="rId29" Type="http://schemas.openxmlformats.org/officeDocument/2006/relationships/slide" Target="slides/slide23.xml"/><Relationship Id="rId124" Type="http://schemas.openxmlformats.org/officeDocument/2006/relationships/font" Target="fonts/NotoSansSymbols-regular.fntdata"/><Relationship Id="rId123" Type="http://schemas.openxmlformats.org/officeDocument/2006/relationships/font" Target="fonts/Tahoma-bold.fntdata"/><Relationship Id="rId122" Type="http://schemas.openxmlformats.org/officeDocument/2006/relationships/font" Target="fonts/Tahoma-regular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PalatinoLinotype-regular.fntdata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font" Target="fonts/PalatinoLinotype-bold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0" Type="http://schemas.openxmlformats.org/officeDocument/2006/relationships/font" Target="fonts/CambriaMath-regular.fntdata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0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0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0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0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0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0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0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0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0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0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1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1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1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1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1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1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1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1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1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1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2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2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2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2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2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2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2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2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2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2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2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2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2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2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2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2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2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2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3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3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3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3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3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3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3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3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3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3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3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3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3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3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3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3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3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3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3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4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4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4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4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4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4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4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4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4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4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4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4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4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4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4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4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4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4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4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4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5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5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5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5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35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5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5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5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5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5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5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5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5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5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5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5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5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5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35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5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6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6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6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36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36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36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6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36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36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36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36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36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36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36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36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6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36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6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36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37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37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37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37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7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37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37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37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7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37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37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37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37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7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37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37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37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37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37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37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38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38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38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38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38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38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38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38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38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38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38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38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38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38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38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38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38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38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38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38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39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39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39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39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39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39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39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39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39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39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39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39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39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39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9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39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39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39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39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39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40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40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40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40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40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40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40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40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40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40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40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40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40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40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40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40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40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40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40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40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41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41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41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41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" name="Google Shape;19;p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" name="Google Shape;26;p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" name="Google Shape;33;p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0" y="153150"/>
            <a:ext cx="121920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0" y="1058675"/>
            <a:ext cx="12192000" cy="3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205740" y="6547862"/>
            <a:ext cx="429005" cy="20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22.png"/><Relationship Id="rId13" Type="http://schemas.openxmlformats.org/officeDocument/2006/relationships/image" Target="../media/image29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9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2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jpg"/><Relationship Id="rId4" Type="http://schemas.openxmlformats.org/officeDocument/2006/relationships/image" Target="../media/image3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Relationship Id="rId4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jpg"/><Relationship Id="rId4" Type="http://schemas.openxmlformats.org/officeDocument/2006/relationships/image" Target="../media/image41.jpg"/><Relationship Id="rId5" Type="http://schemas.openxmlformats.org/officeDocument/2006/relationships/image" Target="../media/image4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7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5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8.jpg"/><Relationship Id="rId4" Type="http://schemas.openxmlformats.org/officeDocument/2006/relationships/image" Target="../media/image53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9.jpg"/><Relationship Id="rId4" Type="http://schemas.openxmlformats.org/officeDocument/2006/relationships/image" Target="../media/image5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73.jpg"/><Relationship Id="rId5" Type="http://schemas.openxmlformats.org/officeDocument/2006/relationships/image" Target="../media/image62.png"/><Relationship Id="rId6" Type="http://schemas.openxmlformats.org/officeDocument/2006/relationships/image" Target="../media/image59.jpg"/><Relationship Id="rId7" Type="http://schemas.openxmlformats.org/officeDocument/2006/relationships/image" Target="../media/image57.png"/><Relationship Id="rId8" Type="http://schemas.openxmlformats.org/officeDocument/2006/relationships/image" Target="../media/image6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0.jpg"/><Relationship Id="rId4" Type="http://schemas.openxmlformats.org/officeDocument/2006/relationships/image" Target="../media/image68.jpg"/><Relationship Id="rId5" Type="http://schemas.openxmlformats.org/officeDocument/2006/relationships/image" Target="../media/image6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6.jpg"/><Relationship Id="rId4" Type="http://schemas.openxmlformats.org/officeDocument/2006/relationships/image" Target="../media/image64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1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1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5.png"/><Relationship Id="rId4" Type="http://schemas.openxmlformats.org/officeDocument/2006/relationships/image" Target="../media/image6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4.png"/><Relationship Id="rId4" Type="http://schemas.openxmlformats.org/officeDocument/2006/relationships/image" Target="../media/image84.png"/><Relationship Id="rId5" Type="http://schemas.openxmlformats.org/officeDocument/2006/relationships/image" Target="../media/image80.png"/><Relationship Id="rId6" Type="http://schemas.openxmlformats.org/officeDocument/2006/relationships/image" Target="../media/image78.png"/><Relationship Id="rId7" Type="http://schemas.openxmlformats.org/officeDocument/2006/relationships/image" Target="../media/image92.png"/><Relationship Id="rId8" Type="http://schemas.openxmlformats.org/officeDocument/2006/relationships/image" Target="../media/image8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4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7.jpg"/><Relationship Id="rId4" Type="http://schemas.openxmlformats.org/officeDocument/2006/relationships/image" Target="../media/image86.jpg"/><Relationship Id="rId5" Type="http://schemas.openxmlformats.org/officeDocument/2006/relationships/image" Target="../media/image9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8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90.jpg"/><Relationship Id="rId4" Type="http://schemas.openxmlformats.org/officeDocument/2006/relationships/image" Target="../media/image101.jpg"/><Relationship Id="rId5" Type="http://schemas.openxmlformats.org/officeDocument/2006/relationships/image" Target="../media/image88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93.jpg"/><Relationship Id="rId4" Type="http://schemas.openxmlformats.org/officeDocument/2006/relationships/image" Target="../media/image94.jpg"/><Relationship Id="rId5" Type="http://schemas.openxmlformats.org/officeDocument/2006/relationships/image" Target="../media/image97.jpg"/><Relationship Id="rId6" Type="http://schemas.openxmlformats.org/officeDocument/2006/relationships/image" Target="../media/image95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3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99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96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18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03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03.jpg"/><Relationship Id="rId4" Type="http://schemas.openxmlformats.org/officeDocument/2006/relationships/image" Target="../media/image100.jpg"/><Relationship Id="rId5" Type="http://schemas.openxmlformats.org/officeDocument/2006/relationships/image" Target="../media/image111.png"/><Relationship Id="rId6" Type="http://schemas.openxmlformats.org/officeDocument/2006/relationships/image" Target="../media/image107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02.png"/><Relationship Id="rId4" Type="http://schemas.openxmlformats.org/officeDocument/2006/relationships/image" Target="../media/image103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04.jpg"/><Relationship Id="rId4" Type="http://schemas.openxmlformats.org/officeDocument/2006/relationships/image" Target="../media/image106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08.jpg"/><Relationship Id="rId4" Type="http://schemas.openxmlformats.org/officeDocument/2006/relationships/image" Target="../media/image109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20.png"/><Relationship Id="rId4" Type="http://schemas.openxmlformats.org/officeDocument/2006/relationships/image" Target="../media/image104.jpg"/><Relationship Id="rId5" Type="http://schemas.openxmlformats.org/officeDocument/2006/relationships/image" Target="../media/image106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28.jpg"/><Relationship Id="rId4" Type="http://schemas.openxmlformats.org/officeDocument/2006/relationships/image" Target="../media/image117.jpg"/><Relationship Id="rId5" Type="http://schemas.openxmlformats.org/officeDocument/2006/relationships/image" Target="../media/image125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0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34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50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9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26.jpg"/><Relationship Id="rId4" Type="http://schemas.openxmlformats.org/officeDocument/2006/relationships/image" Target="../media/image133.jpg"/><Relationship Id="rId5" Type="http://schemas.openxmlformats.org/officeDocument/2006/relationships/image" Target="../media/image122.jpg"/><Relationship Id="rId6" Type="http://schemas.openxmlformats.org/officeDocument/2006/relationships/image" Target="../media/image136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45.png"/><Relationship Id="rId4" Type="http://schemas.openxmlformats.org/officeDocument/2006/relationships/image" Target="../media/image127.png"/><Relationship Id="rId5" Type="http://schemas.openxmlformats.org/officeDocument/2006/relationships/image" Target="../media/image132.png"/><Relationship Id="rId6" Type="http://schemas.openxmlformats.org/officeDocument/2006/relationships/image" Target="../media/image128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5.jpg"/><Relationship Id="rId4" Type="http://schemas.openxmlformats.org/officeDocument/2006/relationships/image" Target="../media/image52.jpg"/><Relationship Id="rId5" Type="http://schemas.openxmlformats.org/officeDocument/2006/relationships/image" Target="../media/image138.jpg"/><Relationship Id="rId6" Type="http://schemas.openxmlformats.org/officeDocument/2006/relationships/image" Target="../media/image137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97.jpg"/><Relationship Id="rId4" Type="http://schemas.openxmlformats.org/officeDocument/2006/relationships/image" Target="../media/image95.jpg"/><Relationship Id="rId5" Type="http://schemas.openxmlformats.org/officeDocument/2006/relationships/image" Target="../media/image135.jpg"/><Relationship Id="rId6" Type="http://schemas.openxmlformats.org/officeDocument/2006/relationships/image" Target="../media/image144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41.jpg"/><Relationship Id="rId4" Type="http://schemas.openxmlformats.org/officeDocument/2006/relationships/image" Target="../media/image142.png"/><Relationship Id="rId5" Type="http://schemas.openxmlformats.org/officeDocument/2006/relationships/image" Target="../media/image148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39.png"/><Relationship Id="rId4" Type="http://schemas.openxmlformats.org/officeDocument/2006/relationships/image" Target="../media/image141.jpg"/><Relationship Id="rId5" Type="http://schemas.openxmlformats.org/officeDocument/2006/relationships/image" Target="../media/image143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49.jpg"/><Relationship Id="rId4" Type="http://schemas.openxmlformats.org/officeDocument/2006/relationships/image" Target="../media/image146.jpg"/><Relationship Id="rId5" Type="http://schemas.openxmlformats.org/officeDocument/2006/relationships/image" Target="../media/image150.jpg"/><Relationship Id="rId6" Type="http://schemas.openxmlformats.org/officeDocument/2006/relationships/image" Target="../media/image147.jp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" name="Google Shape;40;p7"/>
          <p:cNvSpPr txBox="1"/>
          <p:nvPr>
            <p:ph idx="4294967295" type="body"/>
          </p:nvPr>
        </p:nvSpPr>
        <p:spPr>
          <a:xfrm>
            <a:off x="-2" y="2001150"/>
            <a:ext cx="12192000" cy="28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12863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Edge Detection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Part - 1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" name="Google Shape;49;p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" name="Google Shape;50;p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51" name="Google Shape;51;p8"/>
          <p:cNvSpPr txBox="1"/>
          <p:nvPr/>
        </p:nvSpPr>
        <p:spPr>
          <a:xfrm>
            <a:off x="688340" y="966166"/>
            <a:ext cx="4738500" cy="4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Motivation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What is an Edge?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Image Gradient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Edge Detection Operators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Prewitt operator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Sobel operator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Robert cross operator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Laplacian operator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LoG operator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" name="Google Shape;60;p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61" name="Google Shape;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5632" y="1081277"/>
            <a:ext cx="4384547" cy="292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3429000"/>
            <a:ext cx="4384547" cy="292607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/>
        </p:nvSpPr>
        <p:spPr>
          <a:xfrm>
            <a:off x="5577028" y="1928994"/>
            <a:ext cx="4498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10216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36"/>
              <a:buFont typeface="Noto Sans Symbols"/>
              <a:buChar char="✔"/>
            </a:pPr>
            <a:r>
              <a:rPr lang="en-US" sz="1800"/>
              <a:t>	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Edges provide good amount of information to recognize an object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1755139" y="4128334"/>
            <a:ext cx="2503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What is this object?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5" name="Google Shape;65;p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" name="Google Shape;74;p1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104138"/>
            <a:ext cx="4581905" cy="30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3343655"/>
            <a:ext cx="4581905" cy="30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0"/>
          <p:cNvSpPr txBox="1"/>
          <p:nvPr/>
        </p:nvSpPr>
        <p:spPr>
          <a:xfrm>
            <a:off x="1864676" y="4272788"/>
            <a:ext cx="2503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What is this object?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8" name="Google Shape;78;p1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1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" name="Google Shape;87;p1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88" name="Google Shape;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3200400"/>
            <a:ext cx="4581905" cy="3057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295400"/>
            <a:ext cx="4581905" cy="305790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91" name="Google Shape;91;p11"/>
          <p:cNvSpPr txBox="1"/>
          <p:nvPr/>
        </p:nvSpPr>
        <p:spPr>
          <a:xfrm>
            <a:off x="1788280" y="4425188"/>
            <a:ext cx="2503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What is this object?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8196" y="1139190"/>
            <a:ext cx="3888486" cy="2594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1897" y="1139190"/>
            <a:ext cx="3888485" cy="2594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7152" y="3800855"/>
            <a:ext cx="3887723" cy="2593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2952" y="3789426"/>
            <a:ext cx="3887723" cy="25946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2"/>
          <p:cNvSpPr txBox="1"/>
          <p:nvPr>
            <p:ph idx="4294967295" type="title"/>
          </p:nvPr>
        </p:nvSpPr>
        <p:spPr>
          <a:xfrm>
            <a:off x="75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104" name="Google Shape;104;p1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2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" name="Google Shape;111;p1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" name="Google Shape;112;p13"/>
          <p:cNvSpPr txBox="1"/>
          <p:nvPr>
            <p:ph idx="4294967295" type="title"/>
          </p:nvPr>
        </p:nvSpPr>
        <p:spPr>
          <a:xfrm>
            <a:off x="0" y="153150"/>
            <a:ext cx="12192000" cy="615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688351" y="1012950"/>
            <a:ext cx="11199300" cy="18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-343535" lvl="0" marL="355600" marR="508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These </a:t>
            </a:r>
            <a:r>
              <a:rPr lang="en-US" sz="3600" u="sng">
                <a:latin typeface="Bell MT"/>
                <a:ea typeface="Bell MT"/>
                <a:cs typeface="Bell MT"/>
                <a:sym typeface="Bell MT"/>
              </a:rPr>
              <a:t>highlighted pixels in the image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 are called edge pixels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Collectively</a:t>
            </a:r>
            <a:r>
              <a:rPr lang="en-US" sz="36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these pixels define edges.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625596"/>
            <a:ext cx="3887725" cy="2594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2326" y="3636264"/>
            <a:ext cx="3888485" cy="259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9204" y="3653802"/>
            <a:ext cx="3887722" cy="259459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1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" name="Google Shape;125;p1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6" name="Google Shape;126;p14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Why should we use Edges for Image Representation?</a:t>
            </a:r>
            <a:endParaRPr sz="3600"/>
          </a:p>
        </p:txBody>
      </p:sp>
      <p:sp>
        <p:nvSpPr>
          <p:cNvPr id="127" name="Google Shape;127;p14"/>
          <p:cNvSpPr txBox="1"/>
          <p:nvPr/>
        </p:nvSpPr>
        <p:spPr>
          <a:xfrm>
            <a:off x="535950" y="1064000"/>
            <a:ext cx="115824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49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Edges provide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good amount of	information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to recognize an object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Require less storage space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210184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Edges are invariant (up to quite an extent) to image issues such as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Contrast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Illumination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Noise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etc.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5028" y="4050029"/>
            <a:ext cx="3418331" cy="2280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3755" y="4050356"/>
            <a:ext cx="3385676" cy="22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1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1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8" name="Google Shape;138;p1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9" name="Google Shape;139;p15"/>
          <p:cNvSpPr txBox="1"/>
          <p:nvPr>
            <p:ph idx="4294967295" type="title"/>
          </p:nvPr>
        </p:nvSpPr>
        <p:spPr>
          <a:xfrm>
            <a:off x="0" y="122900"/>
            <a:ext cx="121920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3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What is an </a:t>
            </a:r>
            <a:r>
              <a:rPr lang="en-US" sz="4400">
                <a:solidFill>
                  <a:srgbClr val="FF0000"/>
                </a:solidFill>
              </a:rPr>
              <a:t>Edge </a:t>
            </a:r>
            <a:r>
              <a:rPr lang="en-US" sz="4400"/>
              <a:t>in an image?</a:t>
            </a:r>
            <a:endParaRPr sz="4400"/>
          </a:p>
        </p:txBody>
      </p:sp>
      <p:sp>
        <p:nvSpPr>
          <p:cNvPr id="140" name="Google Shape;140;p15"/>
          <p:cNvSpPr txBox="1"/>
          <p:nvPr/>
        </p:nvSpPr>
        <p:spPr>
          <a:xfrm>
            <a:off x="764551" y="987800"/>
            <a:ext cx="11123100" cy="3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Edge is a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boundary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between two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homogeneous regions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5080" rtl="0" algn="l">
              <a:lnSpc>
                <a:spcPct val="100000"/>
              </a:lnSpc>
              <a:spcBef>
                <a:spcPts val="278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gray level properties of	the two regions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on either side of an edge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are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distinct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, and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940435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exhibit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some local uniformity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or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homogeneity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among 	themselves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5028" y="4050029"/>
            <a:ext cx="3418331" cy="2280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3755" y="4050356"/>
            <a:ext cx="3385676" cy="22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1" name="Google Shape;151;p1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2" name="Google Shape;152;p16"/>
          <p:cNvSpPr txBox="1"/>
          <p:nvPr>
            <p:ph idx="4294967295" type="title"/>
          </p:nvPr>
        </p:nvSpPr>
        <p:spPr>
          <a:xfrm>
            <a:off x="22250" y="172975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an </a:t>
            </a:r>
            <a:r>
              <a:rPr lang="en-US">
                <a:solidFill>
                  <a:srgbClr val="FF0000"/>
                </a:solidFill>
              </a:rPr>
              <a:t>Edge </a:t>
            </a:r>
            <a:r>
              <a:rPr lang="en-US"/>
              <a:t>in an image?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88353" y="1216400"/>
            <a:ext cx="81039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Examples of Ideal Edge </a:t>
            </a:r>
            <a:r>
              <a:rPr lang="en-US" sz="32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(Step Edge)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7888754" y="5588041"/>
            <a:ext cx="17019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Step edge in 2-D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2216731" y="5588041"/>
            <a:ext cx="22656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Ideal Step edge in 1-D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56" name="Google Shape;156;p16"/>
          <p:cNvGrpSpPr/>
          <p:nvPr/>
        </p:nvGrpSpPr>
        <p:grpSpPr>
          <a:xfrm>
            <a:off x="6321171" y="2146173"/>
            <a:ext cx="4858004" cy="3340735"/>
            <a:chOff x="6321171" y="2146173"/>
            <a:chExt cx="4858004" cy="3340735"/>
          </a:xfrm>
        </p:grpSpPr>
        <p:sp>
          <p:nvSpPr>
            <p:cNvPr id="157" name="Google Shape;157;p16"/>
            <p:cNvSpPr/>
            <p:nvPr/>
          </p:nvSpPr>
          <p:spPr>
            <a:xfrm>
              <a:off x="7900035" y="2146173"/>
              <a:ext cx="3279140" cy="3340735"/>
            </a:xfrm>
            <a:custGeom>
              <a:rect b="b" l="l" r="r" t="t"/>
              <a:pathLst>
                <a:path extrusionOk="0" h="3340735" w="3279140">
                  <a:moveTo>
                    <a:pt x="0" y="0"/>
                  </a:moveTo>
                  <a:lnTo>
                    <a:pt x="3278886" y="0"/>
                  </a:lnTo>
                  <a:lnTo>
                    <a:pt x="3278886" y="3340608"/>
                  </a:lnTo>
                  <a:lnTo>
                    <a:pt x="0" y="33406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DADA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6321171" y="2146173"/>
              <a:ext cx="2428875" cy="3340735"/>
            </a:xfrm>
            <a:custGeom>
              <a:rect b="b" l="l" r="r" t="t"/>
              <a:pathLst>
                <a:path extrusionOk="0" h="3340735" w="2428875">
                  <a:moveTo>
                    <a:pt x="2428494" y="0"/>
                  </a:moveTo>
                  <a:lnTo>
                    <a:pt x="0" y="0"/>
                  </a:lnTo>
                  <a:lnTo>
                    <a:pt x="0" y="3340608"/>
                  </a:lnTo>
                  <a:lnTo>
                    <a:pt x="2428494" y="3340608"/>
                  </a:lnTo>
                  <a:lnTo>
                    <a:pt x="24284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6321171" y="2146173"/>
              <a:ext cx="2428875" cy="3340735"/>
            </a:xfrm>
            <a:custGeom>
              <a:rect b="b" l="l" r="r" t="t"/>
              <a:pathLst>
                <a:path extrusionOk="0" h="3340735" w="2428875">
                  <a:moveTo>
                    <a:pt x="0" y="0"/>
                  </a:moveTo>
                  <a:lnTo>
                    <a:pt x="2428494" y="0"/>
                  </a:lnTo>
                  <a:lnTo>
                    <a:pt x="2428494" y="3340608"/>
                  </a:lnTo>
                  <a:lnTo>
                    <a:pt x="0" y="33406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60" name="Google Shape;160;p16"/>
          <p:cNvGrpSpPr/>
          <p:nvPr/>
        </p:nvGrpSpPr>
        <p:grpSpPr>
          <a:xfrm>
            <a:off x="932688" y="2145792"/>
            <a:ext cx="4859020" cy="3340735"/>
            <a:chOff x="932688" y="2145792"/>
            <a:chExt cx="4859020" cy="3340735"/>
          </a:xfrm>
        </p:grpSpPr>
        <p:sp>
          <p:nvSpPr>
            <p:cNvPr id="161" name="Google Shape;161;p16"/>
            <p:cNvSpPr/>
            <p:nvPr/>
          </p:nvSpPr>
          <p:spPr>
            <a:xfrm>
              <a:off x="1131570" y="3755136"/>
              <a:ext cx="2289175" cy="0"/>
            </a:xfrm>
            <a:custGeom>
              <a:rect b="b" l="l" r="r" t="t"/>
              <a:pathLst>
                <a:path extrusionOk="0" h="120000" w="2289175">
                  <a:moveTo>
                    <a:pt x="0" y="0"/>
                  </a:moveTo>
                  <a:lnTo>
                    <a:pt x="228855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3411473" y="2399538"/>
              <a:ext cx="2181860" cy="1355725"/>
            </a:xfrm>
            <a:custGeom>
              <a:rect b="b" l="l" r="r" t="t"/>
              <a:pathLst>
                <a:path extrusionOk="0" h="1355725" w="2181860">
                  <a:moveTo>
                    <a:pt x="0" y="0"/>
                  </a:moveTo>
                  <a:lnTo>
                    <a:pt x="2181275" y="0"/>
                  </a:lnTo>
                </a:path>
                <a:path extrusionOk="0" h="1355725" w="2181860">
                  <a:moveTo>
                    <a:pt x="0" y="0"/>
                  </a:moveTo>
                  <a:lnTo>
                    <a:pt x="0" y="1355559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1131570" y="3714020"/>
              <a:ext cx="4461510" cy="1552575"/>
            </a:xfrm>
            <a:custGeom>
              <a:rect b="b" l="l" r="r" t="t"/>
              <a:pathLst>
                <a:path extrusionOk="0" h="1552575" w="4461510">
                  <a:moveTo>
                    <a:pt x="0" y="1483593"/>
                  </a:moveTo>
                  <a:lnTo>
                    <a:pt x="59581" y="1488627"/>
                  </a:lnTo>
                  <a:lnTo>
                    <a:pt x="119129" y="1493636"/>
                  </a:lnTo>
                  <a:lnTo>
                    <a:pt x="178607" y="1498597"/>
                  </a:lnTo>
                  <a:lnTo>
                    <a:pt x="237982" y="1503485"/>
                  </a:lnTo>
                  <a:lnTo>
                    <a:pt x="297219" y="1508276"/>
                  </a:lnTo>
                  <a:lnTo>
                    <a:pt x="356285" y="1512947"/>
                  </a:lnTo>
                  <a:lnTo>
                    <a:pt x="415144" y="1517473"/>
                  </a:lnTo>
                  <a:lnTo>
                    <a:pt x="473761" y="1521829"/>
                  </a:lnTo>
                  <a:lnTo>
                    <a:pt x="532104" y="1525993"/>
                  </a:lnTo>
                  <a:lnTo>
                    <a:pt x="590136" y="1529938"/>
                  </a:lnTo>
                  <a:lnTo>
                    <a:pt x="647825" y="1533642"/>
                  </a:lnTo>
                  <a:lnTo>
                    <a:pt x="705135" y="1537081"/>
                  </a:lnTo>
                  <a:lnTo>
                    <a:pt x="762032" y="1540229"/>
                  </a:lnTo>
                  <a:lnTo>
                    <a:pt x="818481" y="1543063"/>
                  </a:lnTo>
                  <a:lnTo>
                    <a:pt x="874449" y="1545559"/>
                  </a:lnTo>
                  <a:lnTo>
                    <a:pt x="929900" y="1547693"/>
                  </a:lnTo>
                  <a:lnTo>
                    <a:pt x="984801" y="1549440"/>
                  </a:lnTo>
                  <a:lnTo>
                    <a:pt x="1039116" y="1550776"/>
                  </a:lnTo>
                  <a:lnTo>
                    <a:pt x="1092812" y="1551677"/>
                  </a:lnTo>
                  <a:lnTo>
                    <a:pt x="1145854" y="1552119"/>
                  </a:lnTo>
                  <a:lnTo>
                    <a:pt x="1198208" y="1552078"/>
                  </a:lnTo>
                  <a:lnTo>
                    <a:pt x="1249839" y="1551530"/>
                  </a:lnTo>
                  <a:lnTo>
                    <a:pt x="1300713" y="1550450"/>
                  </a:lnTo>
                  <a:lnTo>
                    <a:pt x="1350795" y="1548814"/>
                  </a:lnTo>
                  <a:lnTo>
                    <a:pt x="1400051" y="1546598"/>
                  </a:lnTo>
                  <a:lnTo>
                    <a:pt x="1448447" y="1543779"/>
                  </a:lnTo>
                  <a:lnTo>
                    <a:pt x="1495948" y="1540331"/>
                  </a:lnTo>
                  <a:lnTo>
                    <a:pt x="1542520" y="1536231"/>
                  </a:lnTo>
                  <a:lnTo>
                    <a:pt x="1588128" y="1531454"/>
                  </a:lnTo>
                  <a:lnTo>
                    <a:pt x="1632738" y="1525977"/>
                  </a:lnTo>
                  <a:lnTo>
                    <a:pt x="1676316" y="1519774"/>
                  </a:lnTo>
                  <a:lnTo>
                    <a:pt x="1718826" y="1512823"/>
                  </a:lnTo>
                  <a:lnTo>
                    <a:pt x="1760235" y="1505099"/>
                  </a:lnTo>
                  <a:lnTo>
                    <a:pt x="1800509" y="1496577"/>
                  </a:lnTo>
                  <a:lnTo>
                    <a:pt x="1839612" y="1487234"/>
                  </a:lnTo>
                  <a:lnTo>
                    <a:pt x="1877511" y="1477045"/>
                  </a:lnTo>
                  <a:lnTo>
                    <a:pt x="1914171" y="1465987"/>
                  </a:lnTo>
                  <a:lnTo>
                    <a:pt x="1983636" y="1441164"/>
                  </a:lnTo>
                  <a:lnTo>
                    <a:pt x="2047733" y="1412571"/>
                  </a:lnTo>
                  <a:lnTo>
                    <a:pt x="2109946" y="1376452"/>
                  </a:lnTo>
                  <a:lnTo>
                    <a:pt x="2164047" y="1328036"/>
                  </a:lnTo>
                  <a:lnTo>
                    <a:pt x="2205597" y="1270360"/>
                  </a:lnTo>
                  <a:lnTo>
                    <a:pt x="2236219" y="1204665"/>
                  </a:lnTo>
                  <a:lnTo>
                    <a:pt x="2257536" y="1132190"/>
                  </a:lnTo>
                  <a:lnTo>
                    <a:pt x="2265213" y="1093796"/>
                  </a:lnTo>
                  <a:lnTo>
                    <a:pt x="2271172" y="1054172"/>
                  </a:lnTo>
                  <a:lnTo>
                    <a:pt x="2275617" y="1013472"/>
                  </a:lnTo>
                  <a:lnTo>
                    <a:pt x="2278749" y="971852"/>
                  </a:lnTo>
                  <a:lnTo>
                    <a:pt x="2280774" y="929465"/>
                  </a:lnTo>
                  <a:lnTo>
                    <a:pt x="2281892" y="886467"/>
                  </a:lnTo>
                  <a:lnTo>
                    <a:pt x="2282307" y="843014"/>
                  </a:lnTo>
                  <a:lnTo>
                    <a:pt x="2282222" y="799258"/>
                  </a:lnTo>
                  <a:lnTo>
                    <a:pt x="2281840" y="755356"/>
                  </a:lnTo>
                  <a:lnTo>
                    <a:pt x="2281364" y="711463"/>
                  </a:lnTo>
                  <a:lnTo>
                    <a:pt x="2280996" y="667733"/>
                  </a:lnTo>
                  <a:lnTo>
                    <a:pt x="2280940" y="624320"/>
                  </a:lnTo>
                  <a:lnTo>
                    <a:pt x="2281398" y="581381"/>
                  </a:lnTo>
                  <a:lnTo>
                    <a:pt x="2282573" y="539070"/>
                  </a:lnTo>
                  <a:lnTo>
                    <a:pt x="2284669" y="497541"/>
                  </a:lnTo>
                  <a:lnTo>
                    <a:pt x="2287887" y="456950"/>
                  </a:lnTo>
                  <a:lnTo>
                    <a:pt x="2292432" y="417451"/>
                  </a:lnTo>
                  <a:lnTo>
                    <a:pt x="2298505" y="379199"/>
                  </a:lnTo>
                  <a:lnTo>
                    <a:pt x="2316050" y="307058"/>
                  </a:lnTo>
                  <a:lnTo>
                    <a:pt x="2342146" y="241763"/>
                  </a:lnTo>
                  <a:lnTo>
                    <a:pt x="2378414" y="184556"/>
                  </a:lnTo>
                  <a:lnTo>
                    <a:pt x="2426479" y="136673"/>
                  </a:lnTo>
                  <a:lnTo>
                    <a:pt x="2486152" y="99724"/>
                  </a:lnTo>
                  <a:lnTo>
                    <a:pt x="2556727" y="70602"/>
                  </a:lnTo>
                  <a:lnTo>
                    <a:pt x="2596233" y="58246"/>
                  </a:lnTo>
                  <a:lnTo>
                    <a:pt x="2638311" y="47277"/>
                  </a:lnTo>
                  <a:lnTo>
                    <a:pt x="2682779" y="37631"/>
                  </a:lnTo>
                  <a:lnTo>
                    <a:pt x="2729458" y="29246"/>
                  </a:lnTo>
                  <a:lnTo>
                    <a:pt x="2778168" y="22058"/>
                  </a:lnTo>
                  <a:lnTo>
                    <a:pt x="2828727" y="16005"/>
                  </a:lnTo>
                  <a:lnTo>
                    <a:pt x="2880956" y="11024"/>
                  </a:lnTo>
                  <a:lnTo>
                    <a:pt x="2934674" y="7053"/>
                  </a:lnTo>
                  <a:lnTo>
                    <a:pt x="2989701" y="4027"/>
                  </a:lnTo>
                  <a:lnTo>
                    <a:pt x="3045855" y="1885"/>
                  </a:lnTo>
                  <a:lnTo>
                    <a:pt x="3102958" y="563"/>
                  </a:lnTo>
                  <a:lnTo>
                    <a:pt x="3160828" y="0"/>
                  </a:lnTo>
                  <a:lnTo>
                    <a:pt x="3219285" y="130"/>
                  </a:lnTo>
                  <a:lnTo>
                    <a:pt x="3278148" y="893"/>
                  </a:lnTo>
                  <a:lnTo>
                    <a:pt x="3337238" y="2225"/>
                  </a:lnTo>
                  <a:lnTo>
                    <a:pt x="3396373" y="4062"/>
                  </a:lnTo>
                  <a:lnTo>
                    <a:pt x="3455374" y="6344"/>
                  </a:lnTo>
                  <a:lnTo>
                    <a:pt x="3514060" y="9005"/>
                  </a:lnTo>
                  <a:lnTo>
                    <a:pt x="3572250" y="11984"/>
                  </a:lnTo>
                  <a:lnTo>
                    <a:pt x="3629764" y="15218"/>
                  </a:lnTo>
                  <a:lnTo>
                    <a:pt x="3686422" y="18643"/>
                  </a:lnTo>
                  <a:lnTo>
                    <a:pt x="3742043" y="22198"/>
                  </a:lnTo>
                  <a:lnTo>
                    <a:pt x="3796447" y="25818"/>
                  </a:lnTo>
                  <a:lnTo>
                    <a:pt x="3849453" y="29441"/>
                  </a:lnTo>
                  <a:lnTo>
                    <a:pt x="3900882" y="33005"/>
                  </a:lnTo>
                  <a:lnTo>
                    <a:pt x="3950552" y="36447"/>
                  </a:lnTo>
                  <a:lnTo>
                    <a:pt x="3998283" y="39703"/>
                  </a:lnTo>
                  <a:lnTo>
                    <a:pt x="4043896" y="42710"/>
                  </a:lnTo>
                  <a:lnTo>
                    <a:pt x="4087208" y="45406"/>
                  </a:lnTo>
                  <a:lnTo>
                    <a:pt x="4128041" y="47729"/>
                  </a:lnTo>
                  <a:lnTo>
                    <a:pt x="4166213" y="49614"/>
                  </a:lnTo>
                  <a:lnTo>
                    <a:pt x="4233854" y="51822"/>
                  </a:lnTo>
                  <a:lnTo>
                    <a:pt x="4262962" y="52020"/>
                  </a:lnTo>
                  <a:lnTo>
                    <a:pt x="4288688" y="51529"/>
                  </a:lnTo>
                  <a:lnTo>
                    <a:pt x="4355272" y="49144"/>
                  </a:lnTo>
                  <a:lnTo>
                    <a:pt x="4404245" y="47381"/>
                  </a:lnTo>
                  <a:lnTo>
                    <a:pt x="4455762" y="45495"/>
                  </a:lnTo>
                  <a:lnTo>
                    <a:pt x="4461507" y="45259"/>
                  </a:lnTo>
                  <a:lnTo>
                    <a:pt x="4456045" y="45418"/>
                  </a:lnTo>
                  <a:lnTo>
                    <a:pt x="4417905" y="46700"/>
                  </a:lnTo>
                  <a:lnTo>
                    <a:pt x="4354150" y="48887"/>
                  </a:lnTo>
                  <a:lnTo>
                    <a:pt x="4277588" y="51529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932688" y="2145792"/>
              <a:ext cx="4859020" cy="3340735"/>
            </a:xfrm>
            <a:custGeom>
              <a:rect b="b" l="l" r="r" t="t"/>
              <a:pathLst>
                <a:path extrusionOk="0" h="3340735" w="4859020">
                  <a:moveTo>
                    <a:pt x="0" y="0"/>
                  </a:moveTo>
                  <a:lnTo>
                    <a:pt x="4858512" y="0"/>
                  </a:lnTo>
                  <a:lnTo>
                    <a:pt x="4858512" y="3340608"/>
                  </a:lnTo>
                  <a:lnTo>
                    <a:pt x="0" y="33406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855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5" name="Google Shape;165;p1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1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1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3" name="Google Shape;173;p1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4" name="Google Shape;174;p17"/>
          <p:cNvSpPr txBox="1"/>
          <p:nvPr>
            <p:ph idx="4294967295" type="title"/>
          </p:nvPr>
        </p:nvSpPr>
        <p:spPr>
          <a:xfrm>
            <a:off x="0" y="153150"/>
            <a:ext cx="121920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2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Edge Detection</a:t>
            </a:r>
            <a:endParaRPr sz="4400"/>
          </a:p>
        </p:txBody>
      </p:sp>
      <p:sp>
        <p:nvSpPr>
          <p:cNvPr id="175" name="Google Shape;175;p17"/>
          <p:cNvSpPr txBox="1"/>
          <p:nvPr/>
        </p:nvSpPr>
        <p:spPr>
          <a:xfrm>
            <a:off x="764540" y="987807"/>
            <a:ext cx="107181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49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Goal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: map image from 2D array of	pixels to a set of	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curves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or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line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segments or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contours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764540" y="4303490"/>
            <a:ext cx="6154500" cy="16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3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Main idea to detect edges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Look for pixels with strong </a:t>
            </a:r>
            <a:r>
              <a:rPr b="1" lang="en-US" sz="2800">
                <a:latin typeface="Bell MT"/>
                <a:ea typeface="Bell MT"/>
                <a:cs typeface="Bell MT"/>
                <a:sym typeface="Bell MT"/>
              </a:rPr>
              <a:t>gradient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Do some post-processing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7084569" y="4922641"/>
            <a:ext cx="4803000" cy="1134000"/>
          </a:xfrm>
          <a:prstGeom prst="rect">
            <a:avLst/>
          </a:prstGeom>
          <a:noFill/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-52068" lvl="0" marL="806450" marR="8318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 edge is typically extracted by computing the derivative of the </a:t>
            </a:r>
            <a:r>
              <a:rPr lang="en-US" sz="24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image intensity</a:t>
            </a:r>
            <a:r>
              <a:rPr lang="en-US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function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1028" y="2145029"/>
            <a:ext cx="3418319" cy="2280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9768" y="2145356"/>
            <a:ext cx="3385663" cy="22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1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1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8" name="Google Shape;188;p1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9" name="Google Shape;189;p18"/>
          <p:cNvSpPr txBox="1"/>
          <p:nvPr/>
        </p:nvSpPr>
        <p:spPr>
          <a:xfrm>
            <a:off x="1064540" y="1045604"/>
            <a:ext cx="10062900" cy="51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Edge detection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Computation of Image Gradient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99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Gradient is a directional quantity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07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b="1" lang="en-US" sz="3600">
                <a:latin typeface="Bell MT"/>
                <a:ea typeface="Bell MT"/>
                <a:cs typeface="Bell MT"/>
                <a:sym typeface="Bell MT"/>
              </a:rPr>
              <a:t>Analysis of	gradient consists of	two parts: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55015" marR="123380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Magnitude of the gradient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: measure of the strength /contrast of the edge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Direction of	the gradient vector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: edge orientation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90" name="Google Shape;190;p18"/>
          <p:cNvSpPr txBox="1"/>
          <p:nvPr>
            <p:ph idx="4294967295" type="title"/>
          </p:nvPr>
        </p:nvSpPr>
        <p:spPr>
          <a:xfrm>
            <a:off x="0" y="153150"/>
            <a:ext cx="121920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3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Edge Detection</a:t>
            </a:r>
            <a:endParaRPr sz="4400"/>
          </a:p>
        </p:txBody>
      </p:sp>
      <p:sp>
        <p:nvSpPr>
          <p:cNvPr id="191" name="Google Shape;191;p1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1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1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9" name="Google Shape;199;p1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0" name="Google Shape;200;p19"/>
          <p:cNvSpPr txBox="1"/>
          <p:nvPr>
            <p:ph idx="4294967295" type="title"/>
          </p:nvPr>
        </p:nvSpPr>
        <p:spPr>
          <a:xfrm>
            <a:off x="0" y="153150"/>
            <a:ext cx="121920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Edge Detection - Image Gradient</a:t>
            </a:r>
            <a:endParaRPr sz="4400"/>
          </a:p>
        </p:txBody>
      </p:sp>
      <p:sp>
        <p:nvSpPr>
          <p:cNvPr id="201" name="Google Shape;201;p19"/>
          <p:cNvSpPr txBox="1"/>
          <p:nvPr/>
        </p:nvSpPr>
        <p:spPr>
          <a:xfrm>
            <a:off x="688340" y="1035051"/>
            <a:ext cx="10157400" cy="13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The gradient of	an image: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885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The gradient points in the direction of	most rapid change in intensity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6205" y="1383791"/>
            <a:ext cx="2468879" cy="6332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19"/>
          <p:cNvGrpSpPr/>
          <p:nvPr/>
        </p:nvGrpSpPr>
        <p:grpSpPr>
          <a:xfrm>
            <a:off x="1897379" y="2819400"/>
            <a:ext cx="2558796" cy="990600"/>
            <a:chOff x="1897379" y="2819400"/>
            <a:chExt cx="2558796" cy="990600"/>
          </a:xfrm>
        </p:grpSpPr>
        <p:sp>
          <p:nvSpPr>
            <p:cNvPr id="204" name="Google Shape;204;p19"/>
            <p:cNvSpPr/>
            <p:nvPr/>
          </p:nvSpPr>
          <p:spPr>
            <a:xfrm>
              <a:off x="2895599" y="3352800"/>
              <a:ext cx="309880" cy="0"/>
            </a:xfrm>
            <a:custGeom>
              <a:rect b="b" l="l" r="r" t="t"/>
              <a:pathLst>
                <a:path extrusionOk="0" h="120000" w="309880">
                  <a:moveTo>
                    <a:pt x="0" y="0"/>
                  </a:moveTo>
                  <a:lnTo>
                    <a:pt x="309562" y="0"/>
                  </a:ln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3190877" y="3309934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06" name="Google Shape;206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97379" y="2819400"/>
              <a:ext cx="998219" cy="99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48000" y="2894076"/>
              <a:ext cx="1408175" cy="3825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8" name="Google Shape;208;p19"/>
          <p:cNvSpPr txBox="1"/>
          <p:nvPr/>
        </p:nvSpPr>
        <p:spPr>
          <a:xfrm>
            <a:off x="688340" y="4115816"/>
            <a:ext cx="6792600" cy="20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699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The gradient direction (orientation of	edge normal) is given by: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457833" lvl="0" marL="469900" marR="371475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i="1"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edge strength</a:t>
            </a:r>
            <a:r>
              <a:rPr i="1"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is given by the gradient magnitude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09" name="Google Shape;20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9930" y="4658105"/>
            <a:ext cx="2796527" cy="50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3254" y="5723382"/>
            <a:ext cx="3707890" cy="6690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19"/>
          <p:cNvGrpSpPr/>
          <p:nvPr/>
        </p:nvGrpSpPr>
        <p:grpSpPr>
          <a:xfrm>
            <a:off x="4964429" y="2735579"/>
            <a:ext cx="2260092" cy="1260347"/>
            <a:chOff x="4964429" y="2735579"/>
            <a:chExt cx="2260092" cy="1260347"/>
          </a:xfrm>
        </p:grpSpPr>
        <p:pic>
          <p:nvPicPr>
            <p:cNvPr id="212" name="Google Shape;212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964429" y="2735579"/>
              <a:ext cx="1104899" cy="10664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1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767578" y="3538727"/>
              <a:ext cx="1456943" cy="457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4" name="Google Shape;214;p19"/>
          <p:cNvGrpSpPr/>
          <p:nvPr/>
        </p:nvGrpSpPr>
        <p:grpSpPr>
          <a:xfrm>
            <a:off x="7620000" y="2819400"/>
            <a:ext cx="990600" cy="990600"/>
            <a:chOff x="7620000" y="2819400"/>
            <a:chExt cx="990600" cy="990600"/>
          </a:xfrm>
        </p:grpSpPr>
        <p:pic>
          <p:nvPicPr>
            <p:cNvPr id="215" name="Google Shape;215;p1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620000" y="2819400"/>
              <a:ext cx="990600" cy="990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19"/>
            <p:cNvSpPr/>
            <p:nvPr/>
          </p:nvSpPr>
          <p:spPr>
            <a:xfrm>
              <a:off x="8129777" y="3022307"/>
              <a:ext cx="278129" cy="278129"/>
            </a:xfrm>
            <a:custGeom>
              <a:rect b="b" l="l" r="r" t="t"/>
              <a:pathLst>
                <a:path extrusionOk="0" h="278129" w="278129">
                  <a:moveTo>
                    <a:pt x="0" y="277914"/>
                  </a:moveTo>
                  <a:lnTo>
                    <a:pt x="277914" y="0"/>
                  </a:ln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8367279" y="2971793"/>
              <a:ext cx="91440" cy="91439"/>
            </a:xfrm>
            <a:custGeom>
              <a:rect b="b" l="l" r="r" t="t"/>
              <a:pathLst>
                <a:path extrusionOk="0" h="91439" w="91440">
                  <a:moveTo>
                    <a:pt x="90919" y="0"/>
                  </a:moveTo>
                  <a:lnTo>
                    <a:pt x="0" y="30314"/>
                  </a:lnTo>
                  <a:lnTo>
                    <a:pt x="60617" y="90932"/>
                  </a:lnTo>
                  <a:lnTo>
                    <a:pt x="90919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18" name="Google Shape;218;p1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077200" y="3276600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9" name="Google Shape;219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75369" y="2895600"/>
            <a:ext cx="1535428" cy="387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19"/>
          <p:cNvGrpSpPr/>
          <p:nvPr/>
        </p:nvGrpSpPr>
        <p:grpSpPr>
          <a:xfrm>
            <a:off x="6477384" y="2819778"/>
            <a:ext cx="524255" cy="533400"/>
            <a:chOff x="6477384" y="2819778"/>
            <a:chExt cx="524255" cy="533400"/>
          </a:xfrm>
        </p:grpSpPr>
        <p:sp>
          <p:nvSpPr>
            <p:cNvPr id="221" name="Google Shape;221;p19"/>
            <p:cNvSpPr/>
            <p:nvPr/>
          </p:nvSpPr>
          <p:spPr>
            <a:xfrm>
              <a:off x="6520053" y="3315080"/>
              <a:ext cx="418465" cy="0"/>
            </a:xfrm>
            <a:custGeom>
              <a:rect b="b" l="l" r="r" t="t"/>
              <a:pathLst>
                <a:path extrusionOk="0" h="120000" w="418465">
                  <a:moveTo>
                    <a:pt x="0" y="0"/>
                  </a:moveTo>
                  <a:lnTo>
                    <a:pt x="418084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6925439" y="32769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6515481" y="2883281"/>
              <a:ext cx="0" cy="446404"/>
            </a:xfrm>
            <a:custGeom>
              <a:rect b="b" l="l" r="r" t="t"/>
              <a:pathLst>
                <a:path extrusionOk="0" h="446404" w="120000">
                  <a:moveTo>
                    <a:pt x="0" y="44627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6477384" y="28197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6616827" y="3225927"/>
              <a:ext cx="40640" cy="81914"/>
            </a:xfrm>
            <a:custGeom>
              <a:rect b="b" l="l" r="r" t="t"/>
              <a:pathLst>
                <a:path extrusionOk="0" h="81914" w="40640">
                  <a:moveTo>
                    <a:pt x="28955" y="81534"/>
                  </a:moveTo>
                  <a:lnTo>
                    <a:pt x="33859" y="66993"/>
                  </a:lnTo>
                  <a:lnTo>
                    <a:pt x="38006" y="52755"/>
                  </a:lnTo>
                  <a:lnTo>
                    <a:pt x="40041" y="39718"/>
                  </a:lnTo>
                  <a:lnTo>
                    <a:pt x="38607" y="28778"/>
                  </a:lnTo>
                  <a:lnTo>
                    <a:pt x="32802" y="20009"/>
                  </a:lnTo>
                  <a:lnTo>
                    <a:pt x="23528" y="12588"/>
                  </a:lnTo>
                  <a:lnTo>
                    <a:pt x="12142" y="6068"/>
                  </a:lnTo>
                  <a:lnTo>
                    <a:pt x="0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26" name="Google Shape;226;p1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748272" y="3124200"/>
              <a:ext cx="109727" cy="1950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" name="Google Shape;227;p1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1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1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5" name="Google Shape;235;p20"/>
          <p:cNvSpPr txBox="1"/>
          <p:nvPr/>
        </p:nvSpPr>
        <p:spPr>
          <a:xfrm>
            <a:off x="911240" y="-62795"/>
            <a:ext cx="10369500" cy="21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9075">
            <a:spAutoFit/>
          </a:bodyPr>
          <a:lstStyle/>
          <a:p>
            <a:pPr indent="0" lvl="0" marL="197357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Edge Detection - </a:t>
            </a:r>
            <a:r>
              <a:rPr lang="en-US" sz="4000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Image Gradient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405765" marR="5588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Direction of edge is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always perpendicular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to the direction of gradient [</a:t>
            </a:r>
            <a:r>
              <a:rPr i="1" lang="en-US" sz="3200" u="none">
                <a:latin typeface="Bell MT"/>
                <a:ea typeface="Bell MT"/>
                <a:cs typeface="Bell MT"/>
                <a:sym typeface="Bell MT"/>
              </a:rPr>
              <a:t>G</a:t>
            </a:r>
            <a:r>
              <a:rPr baseline="-25000" i="1" lang="en-US" sz="3150" u="none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i="1" lang="en-US" sz="3200" u="none">
                <a:latin typeface="Bell MT"/>
                <a:ea typeface="Bell MT"/>
                <a:cs typeface="Bell MT"/>
                <a:sym typeface="Bell MT"/>
              </a:rPr>
              <a:t>, G</a:t>
            </a:r>
            <a:r>
              <a:rPr baseline="-25000" i="1" lang="en-US" sz="3150" u="none">
                <a:latin typeface="Bell MT"/>
                <a:ea typeface="Bell MT"/>
                <a:cs typeface="Bell MT"/>
                <a:sym typeface="Bell MT"/>
              </a:rPr>
              <a:t>y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]</a:t>
            </a:r>
            <a:endParaRPr sz="4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20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238" name="Google Shape;2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561" y="2465639"/>
            <a:ext cx="6782874" cy="36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4" name="Google Shape;244;p2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5" name="Google Shape;245;p2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Edge Detection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88351" y="982475"/>
            <a:ext cx="6145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Computing the derivatives: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6802373" y="1079753"/>
            <a:ext cx="4367400" cy="554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" rtl="0" algn="l">
              <a:lnSpc>
                <a:spcPct val="10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Finite difference in 1-D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248" name="Google Shape;248;p21"/>
          <p:cNvGrpSpPr/>
          <p:nvPr/>
        </p:nvGrpSpPr>
        <p:grpSpPr>
          <a:xfrm>
            <a:off x="1347792" y="2074343"/>
            <a:ext cx="3624629" cy="2083316"/>
            <a:chOff x="1347792" y="2074343"/>
            <a:chExt cx="3624629" cy="2083316"/>
          </a:xfrm>
        </p:grpSpPr>
        <p:sp>
          <p:nvSpPr>
            <p:cNvPr id="249" name="Google Shape;249;p21"/>
            <p:cNvSpPr/>
            <p:nvPr/>
          </p:nvSpPr>
          <p:spPr>
            <a:xfrm>
              <a:off x="1390649" y="4114800"/>
              <a:ext cx="3357879" cy="0"/>
            </a:xfrm>
            <a:custGeom>
              <a:rect b="b" l="l" r="r" t="t"/>
              <a:pathLst>
                <a:path extrusionOk="0" h="120000" w="3357879">
                  <a:moveTo>
                    <a:pt x="0" y="0"/>
                  </a:moveTo>
                  <a:lnTo>
                    <a:pt x="3357562" y="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4733927" y="4071934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1390649" y="2262187"/>
              <a:ext cx="0" cy="1852929"/>
            </a:xfrm>
            <a:custGeom>
              <a:rect b="b" l="l" r="r" t="t"/>
              <a:pathLst>
                <a:path extrusionOk="0" h="1852929" w="120000">
                  <a:moveTo>
                    <a:pt x="0" y="185261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1347792" y="2190747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2838450" y="2590800"/>
              <a:ext cx="0" cy="1524000"/>
            </a:xfrm>
            <a:custGeom>
              <a:rect b="b" l="l" r="r" t="t"/>
              <a:pathLst>
                <a:path extrusionOk="0" h="1524000" w="120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3143250" y="2438400"/>
              <a:ext cx="0" cy="1676400"/>
            </a:xfrm>
            <a:custGeom>
              <a:rect b="b" l="l" r="r" t="t"/>
              <a:pathLst>
                <a:path extrusionOk="0" h="1676400" w="120000">
                  <a:moveTo>
                    <a:pt x="0" y="167640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3448050" y="2362200"/>
              <a:ext cx="0" cy="1752600"/>
            </a:xfrm>
            <a:custGeom>
              <a:rect b="b" l="l" r="r" t="t"/>
              <a:pathLst>
                <a:path extrusionOk="0" h="1752600" w="120000">
                  <a:moveTo>
                    <a:pt x="0" y="175260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1871717" y="2074343"/>
              <a:ext cx="3100704" cy="1820545"/>
            </a:xfrm>
            <a:custGeom>
              <a:rect b="b" l="l" r="r" t="t"/>
              <a:pathLst>
                <a:path extrusionOk="0" h="1820545" w="3100704">
                  <a:moveTo>
                    <a:pt x="3100324" y="0"/>
                  </a:moveTo>
                  <a:lnTo>
                    <a:pt x="3043282" y="9322"/>
                  </a:lnTo>
                  <a:lnTo>
                    <a:pt x="2986262" y="18653"/>
                  </a:lnTo>
                  <a:lnTo>
                    <a:pt x="2929285" y="28002"/>
                  </a:lnTo>
                  <a:lnTo>
                    <a:pt x="2872374" y="37379"/>
                  </a:lnTo>
                  <a:lnTo>
                    <a:pt x="2815550" y="46792"/>
                  </a:lnTo>
                  <a:lnTo>
                    <a:pt x="2758835" y="56251"/>
                  </a:lnTo>
                  <a:lnTo>
                    <a:pt x="2702251" y="65764"/>
                  </a:lnTo>
                  <a:lnTo>
                    <a:pt x="2645819" y="75340"/>
                  </a:lnTo>
                  <a:lnTo>
                    <a:pt x="2589562" y="84990"/>
                  </a:lnTo>
                  <a:lnTo>
                    <a:pt x="2533500" y="94721"/>
                  </a:lnTo>
                  <a:lnTo>
                    <a:pt x="2477657" y="104543"/>
                  </a:lnTo>
                  <a:lnTo>
                    <a:pt x="2422053" y="114466"/>
                  </a:lnTo>
                  <a:lnTo>
                    <a:pt x="2366711" y="124497"/>
                  </a:lnTo>
                  <a:lnTo>
                    <a:pt x="2311651" y="134647"/>
                  </a:lnTo>
                  <a:lnTo>
                    <a:pt x="2256897" y="144924"/>
                  </a:lnTo>
                  <a:lnTo>
                    <a:pt x="2202470" y="155337"/>
                  </a:lnTo>
                  <a:lnTo>
                    <a:pt x="2148391" y="165896"/>
                  </a:lnTo>
                  <a:lnTo>
                    <a:pt x="2094683" y="176609"/>
                  </a:lnTo>
                  <a:lnTo>
                    <a:pt x="2041367" y="187487"/>
                  </a:lnTo>
                  <a:lnTo>
                    <a:pt x="1988464" y="198537"/>
                  </a:lnTo>
                  <a:lnTo>
                    <a:pt x="1935998" y="209769"/>
                  </a:lnTo>
                  <a:lnTo>
                    <a:pt x="1883989" y="221191"/>
                  </a:lnTo>
                  <a:lnTo>
                    <a:pt x="1832459" y="232815"/>
                  </a:lnTo>
                  <a:lnTo>
                    <a:pt x="1781431" y="244647"/>
                  </a:lnTo>
                  <a:lnTo>
                    <a:pt x="1730925" y="256697"/>
                  </a:lnTo>
                  <a:lnTo>
                    <a:pt x="1680964" y="268975"/>
                  </a:lnTo>
                  <a:lnTo>
                    <a:pt x="1631569" y="281490"/>
                  </a:lnTo>
                  <a:lnTo>
                    <a:pt x="1582763" y="294250"/>
                  </a:lnTo>
                  <a:lnTo>
                    <a:pt x="1534567" y="307264"/>
                  </a:lnTo>
                  <a:lnTo>
                    <a:pt x="1487002" y="320543"/>
                  </a:lnTo>
                  <a:lnTo>
                    <a:pt x="1440092" y="334094"/>
                  </a:lnTo>
                  <a:lnTo>
                    <a:pt x="1393856" y="347928"/>
                  </a:lnTo>
                  <a:lnTo>
                    <a:pt x="1348318" y="362052"/>
                  </a:lnTo>
                  <a:lnTo>
                    <a:pt x="1303499" y="376477"/>
                  </a:lnTo>
                  <a:lnTo>
                    <a:pt x="1259420" y="391211"/>
                  </a:lnTo>
                  <a:lnTo>
                    <a:pt x="1216104" y="406263"/>
                  </a:lnTo>
                  <a:lnTo>
                    <a:pt x="1173573" y="421643"/>
                  </a:lnTo>
                  <a:lnTo>
                    <a:pt x="1131847" y="437359"/>
                  </a:lnTo>
                  <a:lnTo>
                    <a:pt x="1090950" y="453421"/>
                  </a:lnTo>
                  <a:lnTo>
                    <a:pt x="1050902" y="469838"/>
                  </a:lnTo>
                  <a:lnTo>
                    <a:pt x="1011725" y="486618"/>
                  </a:lnTo>
                  <a:lnTo>
                    <a:pt x="973442" y="503772"/>
                  </a:lnTo>
                  <a:lnTo>
                    <a:pt x="936074" y="521307"/>
                  </a:lnTo>
                  <a:lnTo>
                    <a:pt x="899643" y="539234"/>
                  </a:lnTo>
                  <a:lnTo>
                    <a:pt x="864170" y="557561"/>
                  </a:lnTo>
                  <a:lnTo>
                    <a:pt x="829678" y="576297"/>
                  </a:lnTo>
                  <a:lnTo>
                    <a:pt x="796188" y="595452"/>
                  </a:lnTo>
                  <a:lnTo>
                    <a:pt x="453790" y="914866"/>
                  </a:lnTo>
                  <a:lnTo>
                    <a:pt x="204322" y="1321747"/>
                  </a:lnTo>
                  <a:lnTo>
                    <a:pt x="51739" y="1671738"/>
                  </a:lnTo>
                  <a:lnTo>
                    <a:pt x="0" y="1820481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57" name="Google Shape;257;p21"/>
          <p:cNvSpPr txBox="1"/>
          <p:nvPr/>
        </p:nvSpPr>
        <p:spPr>
          <a:xfrm>
            <a:off x="4879412" y="4135234"/>
            <a:ext cx="184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Cambria Math"/>
                <a:ea typeface="Cambria Math"/>
                <a:cs typeface="Cambria Math"/>
                <a:sym typeface="Cambria Math"/>
              </a:rPr>
              <a:t>𝑿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786637" y="2333754"/>
            <a:ext cx="476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Cambria Math"/>
                <a:ea typeface="Cambria Math"/>
                <a:cs typeface="Cambria Math"/>
                <a:sym typeface="Cambria Math"/>
              </a:rPr>
              <a:t>𝒇(𝒙)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3064282" y="4184888"/>
            <a:ext cx="1575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Cambria Math"/>
                <a:ea typeface="Cambria Math"/>
                <a:cs typeface="Cambria Math"/>
                <a:sym typeface="Cambria Math"/>
              </a:rPr>
              <a:t>𝒙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3374147" y="4192384"/>
            <a:ext cx="899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Cambria Math"/>
                <a:ea typeface="Cambria Math"/>
                <a:cs typeface="Cambria Math"/>
                <a:sym typeface="Cambria Math"/>
              </a:rPr>
              <a:t>(𝒙 + 𝒅𝒙)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1998979" y="4192384"/>
            <a:ext cx="900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Cambria Math"/>
                <a:ea typeface="Cambria Math"/>
                <a:cs typeface="Cambria Math"/>
                <a:sym typeface="Cambria Math"/>
              </a:rPr>
              <a:t>(𝒙 − 𝒅𝒙)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62" name="Google Shape;262;p2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2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2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265" name="Google Shape;26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5600" y="3590300"/>
            <a:ext cx="6440575" cy="219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1" name="Google Shape;271;p2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2" name="Google Shape;272;p2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Edge Detection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688351" y="987800"/>
            <a:ext cx="53802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Computing the derivatives: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6076950" y="1075175"/>
            <a:ext cx="4650300" cy="492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Finite differences in 2-D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75" name="Google Shape;275;p2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2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2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278" name="Google Shape;27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38" y="1720175"/>
            <a:ext cx="11215737" cy="4560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4" name="Google Shape;284;p2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5" name="Google Shape;285;p2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ideal step edge and its derivative profile..</a:t>
            </a:r>
            <a:endParaRPr/>
          </a:p>
        </p:txBody>
      </p:sp>
      <p:grpSp>
        <p:nvGrpSpPr>
          <p:cNvPr id="286" name="Google Shape;286;p23"/>
          <p:cNvGrpSpPr/>
          <p:nvPr/>
        </p:nvGrpSpPr>
        <p:grpSpPr>
          <a:xfrm>
            <a:off x="4340928" y="1155189"/>
            <a:ext cx="2864806" cy="5113210"/>
            <a:chOff x="4340928" y="1155189"/>
            <a:chExt cx="2864806" cy="5113210"/>
          </a:xfrm>
        </p:grpSpPr>
        <p:sp>
          <p:nvSpPr>
            <p:cNvPr id="287" name="Google Shape;287;p23"/>
            <p:cNvSpPr/>
            <p:nvPr/>
          </p:nvSpPr>
          <p:spPr>
            <a:xfrm>
              <a:off x="5251703" y="1751080"/>
              <a:ext cx="829310" cy="1309370"/>
            </a:xfrm>
            <a:custGeom>
              <a:rect b="b" l="l" r="r" t="t"/>
              <a:pathLst>
                <a:path extrusionOk="0" h="1309370" w="829310">
                  <a:moveTo>
                    <a:pt x="0" y="1266208"/>
                  </a:moveTo>
                  <a:lnTo>
                    <a:pt x="23692" y="1285871"/>
                  </a:lnTo>
                  <a:lnTo>
                    <a:pt x="48170" y="1301470"/>
                  </a:lnTo>
                  <a:lnTo>
                    <a:pt x="74222" y="1308941"/>
                  </a:lnTo>
                  <a:lnTo>
                    <a:pt x="102634" y="1304222"/>
                  </a:lnTo>
                  <a:lnTo>
                    <a:pt x="169688" y="1241955"/>
                  </a:lnTo>
                  <a:lnTo>
                    <a:pt x="209905" y="1176279"/>
                  </a:lnTo>
                  <a:lnTo>
                    <a:pt x="239259" y="1115271"/>
                  </a:lnTo>
                  <a:lnTo>
                    <a:pt x="255356" y="1077579"/>
                  </a:lnTo>
                  <a:lnTo>
                    <a:pt x="272264" y="1035773"/>
                  </a:lnTo>
                  <a:lnTo>
                    <a:pt x="289881" y="990357"/>
                  </a:lnTo>
                  <a:lnTo>
                    <a:pt x="308107" y="941839"/>
                  </a:lnTo>
                  <a:lnTo>
                    <a:pt x="326839" y="890726"/>
                  </a:lnTo>
                  <a:lnTo>
                    <a:pt x="345978" y="837524"/>
                  </a:lnTo>
                  <a:lnTo>
                    <a:pt x="365420" y="782740"/>
                  </a:lnTo>
                  <a:lnTo>
                    <a:pt x="385065" y="726881"/>
                  </a:lnTo>
                  <a:lnTo>
                    <a:pt x="404812" y="670453"/>
                  </a:lnTo>
                  <a:lnTo>
                    <a:pt x="424559" y="613963"/>
                  </a:lnTo>
                  <a:lnTo>
                    <a:pt x="444204" y="557918"/>
                  </a:lnTo>
                  <a:lnTo>
                    <a:pt x="463646" y="502824"/>
                  </a:lnTo>
                  <a:lnTo>
                    <a:pt x="482785" y="449188"/>
                  </a:lnTo>
                  <a:lnTo>
                    <a:pt x="501517" y="397517"/>
                  </a:lnTo>
                  <a:lnTo>
                    <a:pt x="519743" y="348318"/>
                  </a:lnTo>
                  <a:lnTo>
                    <a:pt x="537360" y="302097"/>
                  </a:lnTo>
                  <a:lnTo>
                    <a:pt x="554268" y="259361"/>
                  </a:lnTo>
                  <a:lnTo>
                    <a:pt x="570365" y="220617"/>
                  </a:lnTo>
                  <a:lnTo>
                    <a:pt x="599719" y="157130"/>
                  </a:lnTo>
                  <a:lnTo>
                    <a:pt x="640981" y="88531"/>
                  </a:lnTo>
                  <a:lnTo>
                    <a:pt x="678922" y="45711"/>
                  </a:lnTo>
                  <a:lnTo>
                    <a:pt x="713279" y="22641"/>
                  </a:lnTo>
                  <a:lnTo>
                    <a:pt x="770193" y="11630"/>
                  </a:lnTo>
                  <a:lnTo>
                    <a:pt x="792225" y="11629"/>
                  </a:lnTo>
                  <a:lnTo>
                    <a:pt x="809625" y="7257"/>
                  </a:lnTo>
                  <a:lnTo>
                    <a:pt x="826839" y="0"/>
                  </a:lnTo>
                  <a:lnTo>
                    <a:pt x="829298" y="5384"/>
                  </a:lnTo>
                  <a:lnTo>
                    <a:pt x="821921" y="19198"/>
                  </a:lnTo>
                  <a:lnTo>
                    <a:pt x="809625" y="37229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8" name="Google Shape;288;p23"/>
            <p:cNvSpPr/>
            <p:nvPr/>
          </p:nvSpPr>
          <p:spPr>
            <a:xfrm>
              <a:off x="4767071" y="3060191"/>
              <a:ext cx="534670" cy="0"/>
            </a:xfrm>
            <a:custGeom>
              <a:rect b="b" l="l" r="r" t="t"/>
              <a:pathLst>
                <a:path extrusionOk="0" h="120000" w="534670">
                  <a:moveTo>
                    <a:pt x="0" y="0"/>
                  </a:moveTo>
                  <a:lnTo>
                    <a:pt x="534606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9" name="Google Shape;289;p23"/>
            <p:cNvSpPr/>
            <p:nvPr/>
          </p:nvSpPr>
          <p:spPr>
            <a:xfrm>
              <a:off x="6081521" y="1751076"/>
              <a:ext cx="514984" cy="0"/>
            </a:xfrm>
            <a:custGeom>
              <a:rect b="b" l="l" r="r" t="t"/>
              <a:pathLst>
                <a:path extrusionOk="0" h="120000" w="514984">
                  <a:moveTo>
                    <a:pt x="0" y="0"/>
                  </a:moveTo>
                  <a:lnTo>
                    <a:pt x="51440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90" name="Google Shape;290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15223" y="2954983"/>
              <a:ext cx="232572" cy="782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23"/>
            <p:cNvSpPr/>
            <p:nvPr/>
          </p:nvSpPr>
          <p:spPr>
            <a:xfrm>
              <a:off x="4383785" y="3364991"/>
              <a:ext cx="2750820" cy="0"/>
            </a:xfrm>
            <a:custGeom>
              <a:rect b="b" l="l" r="r" t="t"/>
              <a:pathLst>
                <a:path extrusionOk="0" h="120000" w="2750820">
                  <a:moveTo>
                    <a:pt x="0" y="0"/>
                  </a:moveTo>
                  <a:lnTo>
                    <a:pt x="2750515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7120009" y="3322125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83785" y="1226629"/>
              <a:ext cx="0" cy="2138679"/>
            </a:xfrm>
            <a:custGeom>
              <a:rect b="b" l="l" r="r" t="t"/>
              <a:pathLst>
                <a:path extrusionOk="0" h="2138679" w="120000">
                  <a:moveTo>
                    <a:pt x="0" y="21383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" name="Google Shape;294;p23"/>
            <p:cNvSpPr/>
            <p:nvPr/>
          </p:nvSpPr>
          <p:spPr>
            <a:xfrm>
              <a:off x="4340928" y="1155189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4415027" y="6225540"/>
              <a:ext cx="2719704" cy="0"/>
            </a:xfrm>
            <a:custGeom>
              <a:rect b="b" l="l" r="r" t="t"/>
              <a:pathLst>
                <a:path extrusionOk="0" h="120000" w="2719704">
                  <a:moveTo>
                    <a:pt x="0" y="0"/>
                  </a:moveTo>
                  <a:lnTo>
                    <a:pt x="2719247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23"/>
            <p:cNvSpPr/>
            <p:nvPr/>
          </p:nvSpPr>
          <p:spPr>
            <a:xfrm>
              <a:off x="7119994" y="6182674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4415027" y="4087177"/>
              <a:ext cx="0" cy="2138679"/>
            </a:xfrm>
            <a:custGeom>
              <a:rect b="b" l="l" r="r" t="t"/>
              <a:pathLst>
                <a:path extrusionOk="0" h="2138679" w="120000">
                  <a:moveTo>
                    <a:pt x="0" y="21383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4372170" y="4015737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23"/>
            <p:cNvSpPr/>
            <p:nvPr/>
          </p:nvSpPr>
          <p:spPr>
            <a:xfrm>
              <a:off x="5679185" y="1307592"/>
              <a:ext cx="0" cy="4918075"/>
            </a:xfrm>
            <a:custGeom>
              <a:rect b="b" l="l" r="r" t="t"/>
              <a:pathLst>
                <a:path extrusionOk="0" h="4918075" w="120000">
                  <a:moveTo>
                    <a:pt x="0" y="0"/>
                  </a:moveTo>
                  <a:lnTo>
                    <a:pt x="0" y="4917973"/>
                  </a:lnTo>
                </a:path>
              </a:pathLst>
            </a:custGeom>
            <a:noFill/>
            <a:ln cap="flat" cmpd="sng" w="38100">
              <a:solidFill>
                <a:srgbClr val="80808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23"/>
            <p:cNvSpPr/>
            <p:nvPr/>
          </p:nvSpPr>
          <p:spPr>
            <a:xfrm>
              <a:off x="5344667" y="4433316"/>
              <a:ext cx="674370" cy="1758314"/>
            </a:xfrm>
            <a:custGeom>
              <a:rect b="b" l="l" r="r" t="t"/>
              <a:pathLst>
                <a:path extrusionOk="0" h="1758314" w="674370">
                  <a:moveTo>
                    <a:pt x="0" y="1757933"/>
                  </a:moveTo>
                  <a:lnTo>
                    <a:pt x="8202" y="1686683"/>
                  </a:lnTo>
                  <a:lnTo>
                    <a:pt x="16405" y="1615537"/>
                  </a:lnTo>
                  <a:lnTo>
                    <a:pt x="24611" y="1544599"/>
                  </a:lnTo>
                  <a:lnTo>
                    <a:pt x="32821" y="1473974"/>
                  </a:lnTo>
                  <a:lnTo>
                    <a:pt x="41036" y="1403765"/>
                  </a:lnTo>
                  <a:lnTo>
                    <a:pt x="49258" y="1334076"/>
                  </a:lnTo>
                  <a:lnTo>
                    <a:pt x="57488" y="1265012"/>
                  </a:lnTo>
                  <a:lnTo>
                    <a:pt x="65727" y="1196677"/>
                  </a:lnTo>
                  <a:lnTo>
                    <a:pt x="73977" y="1129175"/>
                  </a:lnTo>
                  <a:lnTo>
                    <a:pt x="82239" y="1062610"/>
                  </a:lnTo>
                  <a:lnTo>
                    <a:pt x="90515" y="997086"/>
                  </a:lnTo>
                  <a:lnTo>
                    <a:pt x="98804" y="932708"/>
                  </a:lnTo>
                  <a:lnTo>
                    <a:pt x="107110" y="869579"/>
                  </a:lnTo>
                  <a:lnTo>
                    <a:pt x="115434" y="807803"/>
                  </a:lnTo>
                  <a:lnTo>
                    <a:pt x="123775" y="747485"/>
                  </a:lnTo>
                  <a:lnTo>
                    <a:pt x="132137" y="688729"/>
                  </a:lnTo>
                  <a:lnTo>
                    <a:pt x="140520" y="631638"/>
                  </a:lnTo>
                  <a:lnTo>
                    <a:pt x="148926" y="576318"/>
                  </a:lnTo>
                  <a:lnTo>
                    <a:pt x="157356" y="522871"/>
                  </a:lnTo>
                  <a:lnTo>
                    <a:pt x="165811" y="471403"/>
                  </a:lnTo>
                  <a:lnTo>
                    <a:pt x="174292" y="422017"/>
                  </a:lnTo>
                  <a:lnTo>
                    <a:pt x="182802" y="374818"/>
                  </a:lnTo>
                  <a:lnTo>
                    <a:pt x="191341" y="329909"/>
                  </a:lnTo>
                  <a:lnTo>
                    <a:pt x="199910" y="287395"/>
                  </a:lnTo>
                  <a:lnTo>
                    <a:pt x="208511" y="247380"/>
                  </a:lnTo>
                  <a:lnTo>
                    <a:pt x="217146" y="209967"/>
                  </a:lnTo>
                  <a:lnTo>
                    <a:pt x="234521" y="143368"/>
                  </a:lnTo>
                  <a:lnTo>
                    <a:pt x="252045" y="88429"/>
                  </a:lnTo>
                  <a:lnTo>
                    <a:pt x="269728" y="45984"/>
                  </a:lnTo>
                  <a:lnTo>
                    <a:pt x="296576" y="7565"/>
                  </a:lnTo>
                  <a:lnTo>
                    <a:pt x="314706" y="0"/>
                  </a:lnTo>
                  <a:lnTo>
                    <a:pt x="323843" y="1908"/>
                  </a:lnTo>
                  <a:lnTo>
                    <a:pt x="351538" y="29707"/>
                  </a:lnTo>
                  <a:lnTo>
                    <a:pt x="370223" y="65593"/>
                  </a:lnTo>
                  <a:lnTo>
                    <a:pt x="389073" y="114389"/>
                  </a:lnTo>
                  <a:lnTo>
                    <a:pt x="408078" y="175262"/>
                  </a:lnTo>
                  <a:lnTo>
                    <a:pt x="427226" y="247380"/>
                  </a:lnTo>
                  <a:lnTo>
                    <a:pt x="436851" y="287395"/>
                  </a:lnTo>
                  <a:lnTo>
                    <a:pt x="446508" y="329909"/>
                  </a:lnTo>
                  <a:lnTo>
                    <a:pt x="456195" y="374818"/>
                  </a:lnTo>
                  <a:lnTo>
                    <a:pt x="465912" y="422017"/>
                  </a:lnTo>
                  <a:lnTo>
                    <a:pt x="475656" y="471403"/>
                  </a:lnTo>
                  <a:lnTo>
                    <a:pt x="485427" y="522871"/>
                  </a:lnTo>
                  <a:lnTo>
                    <a:pt x="495224" y="576318"/>
                  </a:lnTo>
                  <a:lnTo>
                    <a:pt x="505045" y="631638"/>
                  </a:lnTo>
                  <a:lnTo>
                    <a:pt x="514888" y="688729"/>
                  </a:lnTo>
                  <a:lnTo>
                    <a:pt x="524752" y="747485"/>
                  </a:lnTo>
                  <a:lnTo>
                    <a:pt x="534637" y="807803"/>
                  </a:lnTo>
                  <a:lnTo>
                    <a:pt x="544540" y="869579"/>
                  </a:lnTo>
                  <a:lnTo>
                    <a:pt x="554460" y="932708"/>
                  </a:lnTo>
                  <a:lnTo>
                    <a:pt x="564396" y="997086"/>
                  </a:lnTo>
                  <a:lnTo>
                    <a:pt x="574347" y="1062610"/>
                  </a:lnTo>
                  <a:lnTo>
                    <a:pt x="584311" y="1129175"/>
                  </a:lnTo>
                  <a:lnTo>
                    <a:pt x="594288" y="1196677"/>
                  </a:lnTo>
                  <a:lnTo>
                    <a:pt x="604275" y="1265012"/>
                  </a:lnTo>
                  <a:lnTo>
                    <a:pt x="614271" y="1334076"/>
                  </a:lnTo>
                  <a:lnTo>
                    <a:pt x="624275" y="1403765"/>
                  </a:lnTo>
                  <a:lnTo>
                    <a:pt x="634286" y="1473974"/>
                  </a:lnTo>
                  <a:lnTo>
                    <a:pt x="644302" y="1544599"/>
                  </a:lnTo>
                  <a:lnTo>
                    <a:pt x="654322" y="1615537"/>
                  </a:lnTo>
                  <a:lnTo>
                    <a:pt x="664345" y="1686683"/>
                  </a:lnTo>
                  <a:lnTo>
                    <a:pt x="674370" y="1757933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01" name="Google Shape;301;p23"/>
          <p:cNvSpPr txBox="1"/>
          <p:nvPr/>
        </p:nvSpPr>
        <p:spPr>
          <a:xfrm rot="-5400000">
            <a:off x="3662626" y="2117512"/>
            <a:ext cx="9132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Intensity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23"/>
          <p:cNvSpPr txBox="1"/>
          <p:nvPr/>
        </p:nvSpPr>
        <p:spPr>
          <a:xfrm rot="-5400000">
            <a:off x="3604020" y="5010537"/>
            <a:ext cx="10974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Derivative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3"/>
          <p:cNvSpPr txBox="1"/>
          <p:nvPr/>
        </p:nvSpPr>
        <p:spPr>
          <a:xfrm>
            <a:off x="5888106" y="2693860"/>
            <a:ext cx="20688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Slice through image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04" name="Google Shape;304;p23"/>
          <p:cNvGrpSpPr/>
          <p:nvPr/>
        </p:nvGrpSpPr>
        <p:grpSpPr>
          <a:xfrm>
            <a:off x="5213061" y="1813151"/>
            <a:ext cx="937548" cy="1214521"/>
            <a:chOff x="5213061" y="1813151"/>
            <a:chExt cx="937548" cy="1214521"/>
          </a:xfrm>
        </p:grpSpPr>
        <p:sp>
          <p:nvSpPr>
            <p:cNvPr id="305" name="Google Shape;305;p23"/>
            <p:cNvSpPr/>
            <p:nvPr/>
          </p:nvSpPr>
          <p:spPr>
            <a:xfrm>
              <a:off x="5284294" y="3024215"/>
              <a:ext cx="635" cy="0"/>
            </a:xfrm>
            <a:custGeom>
              <a:rect b="b" l="l" r="r" t="t"/>
              <a:pathLst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</a:pathLst>
            </a:custGeom>
            <a:noFill/>
            <a:ln cap="flat" cmpd="sng" w="17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23"/>
            <p:cNvSpPr/>
            <p:nvPr/>
          </p:nvSpPr>
          <p:spPr>
            <a:xfrm>
              <a:off x="5314175" y="3024215"/>
              <a:ext cx="635" cy="0"/>
            </a:xfrm>
            <a:custGeom>
              <a:rect b="b" l="l" r="r" t="t"/>
              <a:pathLst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</a:pathLst>
            </a:custGeom>
            <a:noFill/>
            <a:ln cap="flat" cmpd="sng" w="17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23"/>
            <p:cNvSpPr/>
            <p:nvPr/>
          </p:nvSpPr>
          <p:spPr>
            <a:xfrm>
              <a:off x="5269168" y="3024215"/>
              <a:ext cx="15875" cy="0"/>
            </a:xfrm>
            <a:custGeom>
              <a:rect b="b" l="l" r="r" t="t"/>
              <a:pathLst>
                <a:path extrusionOk="0" h="120000" w="15875">
                  <a:moveTo>
                    <a:pt x="15125" y="0"/>
                  </a:moveTo>
                  <a:lnTo>
                    <a:pt x="15125" y="0"/>
                  </a:lnTo>
                  <a:lnTo>
                    <a:pt x="15481" y="0"/>
                  </a:lnTo>
                </a:path>
                <a:path extrusionOk="0" h="120000" w="15875">
                  <a:moveTo>
                    <a:pt x="15125" y="0"/>
                  </a:moveTo>
                  <a:lnTo>
                    <a:pt x="12611" y="0"/>
                  </a:lnTo>
                  <a:lnTo>
                    <a:pt x="684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17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5238935" y="3024215"/>
              <a:ext cx="635" cy="0"/>
            </a:xfrm>
            <a:custGeom>
              <a:rect b="b" l="l" r="r" t="t"/>
              <a:pathLst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</a:pathLst>
            </a:custGeom>
            <a:noFill/>
            <a:ln cap="flat" cmpd="sng" w="17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23"/>
            <p:cNvSpPr/>
            <p:nvPr/>
          </p:nvSpPr>
          <p:spPr>
            <a:xfrm>
              <a:off x="5254054" y="3024215"/>
              <a:ext cx="635" cy="0"/>
            </a:xfrm>
            <a:custGeom>
              <a:rect b="b" l="l" r="r" t="t"/>
              <a:pathLst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</a:pathLst>
            </a:custGeom>
            <a:noFill/>
            <a:ln cap="flat" cmpd="sng" w="17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23"/>
            <p:cNvSpPr/>
            <p:nvPr/>
          </p:nvSpPr>
          <p:spPr>
            <a:xfrm>
              <a:off x="5213061" y="3027672"/>
              <a:ext cx="118110" cy="0"/>
            </a:xfrm>
            <a:custGeom>
              <a:rect b="b" l="l" r="r" t="t"/>
              <a:pathLst>
                <a:path extrusionOk="0" h="120000" w="118110">
                  <a:moveTo>
                    <a:pt x="117716" y="0"/>
                  </a:moveTo>
                  <a:lnTo>
                    <a:pt x="117716" y="0"/>
                  </a:lnTo>
                  <a:lnTo>
                    <a:pt x="12954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60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6019799" y="1813151"/>
              <a:ext cx="130810" cy="15875"/>
            </a:xfrm>
            <a:custGeom>
              <a:rect b="b" l="l" r="r" t="t"/>
              <a:pathLst>
                <a:path extrusionOk="0" h="15875" w="130810">
                  <a:moveTo>
                    <a:pt x="0" y="15481"/>
                  </a:moveTo>
                  <a:lnTo>
                    <a:pt x="0" y="12966"/>
                  </a:lnTo>
                  <a:lnTo>
                    <a:pt x="2514" y="9715"/>
                  </a:lnTo>
                  <a:lnTo>
                    <a:pt x="43205" y="723"/>
                  </a:lnTo>
                  <a:lnTo>
                    <a:pt x="79197" y="0"/>
                  </a:lnTo>
                  <a:lnTo>
                    <a:pt x="97917" y="0"/>
                  </a:lnTo>
                  <a:lnTo>
                    <a:pt x="116281" y="0"/>
                  </a:lnTo>
                  <a:lnTo>
                    <a:pt x="128523" y="355"/>
                  </a:lnTo>
                  <a:lnTo>
                    <a:pt x="130682" y="355"/>
                  </a:lnTo>
                  <a:lnTo>
                    <a:pt x="124917" y="355"/>
                  </a:lnTo>
                  <a:lnTo>
                    <a:pt x="113398" y="723"/>
                  </a:lnTo>
                  <a:lnTo>
                    <a:pt x="96126" y="723"/>
                  </a:lnTo>
                  <a:lnTo>
                    <a:pt x="76314" y="723"/>
                  </a:lnTo>
                  <a:lnTo>
                    <a:pt x="58318" y="723"/>
                  </a:lnTo>
                </a:path>
              </a:pathLst>
            </a:custGeom>
            <a:noFill/>
            <a:ln cap="flat" cmpd="sng" w="360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23"/>
            <p:cNvSpPr/>
            <p:nvPr/>
          </p:nvSpPr>
          <p:spPr>
            <a:xfrm>
              <a:off x="6064991" y="2353031"/>
              <a:ext cx="635" cy="0"/>
            </a:xfrm>
            <a:custGeom>
              <a:rect b="b" l="l" r="r" t="t"/>
              <a:pathLst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</a:pathLst>
            </a:custGeom>
            <a:noFill/>
            <a:ln cap="flat" cmpd="sng" w="360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3" name="Google Shape;313;p2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2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5" name="Google Shape;315;p2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1" name="Google Shape;321;p2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2" name="Google Shape;322;p2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ideal step edge and its derivative profile..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688340" y="1027516"/>
            <a:ext cx="104673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An ideal step edge and its first and second derivative profiles.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324" name="Google Shape;324;p24"/>
          <p:cNvGrpSpPr/>
          <p:nvPr/>
        </p:nvGrpSpPr>
        <p:grpSpPr>
          <a:xfrm>
            <a:off x="2514780" y="1874520"/>
            <a:ext cx="4984569" cy="4480560"/>
            <a:chOff x="2514780" y="1874520"/>
            <a:chExt cx="4984569" cy="4480560"/>
          </a:xfrm>
        </p:grpSpPr>
        <p:sp>
          <p:nvSpPr>
            <p:cNvPr id="325" name="Google Shape;325;p24"/>
            <p:cNvSpPr/>
            <p:nvPr/>
          </p:nvSpPr>
          <p:spPr>
            <a:xfrm>
              <a:off x="2559558" y="2289101"/>
              <a:ext cx="3448050" cy="828039"/>
            </a:xfrm>
            <a:custGeom>
              <a:rect b="b" l="l" r="r" t="t"/>
              <a:pathLst>
                <a:path extrusionOk="0" h="828039" w="3448050">
                  <a:moveTo>
                    <a:pt x="0" y="784780"/>
                  </a:moveTo>
                  <a:lnTo>
                    <a:pt x="57713" y="787526"/>
                  </a:lnTo>
                  <a:lnTo>
                    <a:pt x="115403" y="790263"/>
                  </a:lnTo>
                  <a:lnTo>
                    <a:pt x="173048" y="792979"/>
                  </a:lnTo>
                  <a:lnTo>
                    <a:pt x="230624" y="795664"/>
                  </a:lnTo>
                  <a:lnTo>
                    <a:pt x="288108" y="798310"/>
                  </a:lnTo>
                  <a:lnTo>
                    <a:pt x="345477" y="800904"/>
                  </a:lnTo>
                  <a:lnTo>
                    <a:pt x="402708" y="803438"/>
                  </a:lnTo>
                  <a:lnTo>
                    <a:pt x="459779" y="805902"/>
                  </a:lnTo>
                  <a:lnTo>
                    <a:pt x="516666" y="808284"/>
                  </a:lnTo>
                  <a:lnTo>
                    <a:pt x="573347" y="810575"/>
                  </a:lnTo>
                  <a:lnTo>
                    <a:pt x="629798" y="812765"/>
                  </a:lnTo>
                  <a:lnTo>
                    <a:pt x="685997" y="814843"/>
                  </a:lnTo>
                  <a:lnTo>
                    <a:pt x="741920" y="816801"/>
                  </a:lnTo>
                  <a:lnTo>
                    <a:pt x="797545" y="818626"/>
                  </a:lnTo>
                  <a:lnTo>
                    <a:pt x="852849" y="820310"/>
                  </a:lnTo>
                  <a:lnTo>
                    <a:pt x="907809" y="821843"/>
                  </a:lnTo>
                  <a:lnTo>
                    <a:pt x="962401" y="823213"/>
                  </a:lnTo>
                  <a:lnTo>
                    <a:pt x="1016603" y="824412"/>
                  </a:lnTo>
                  <a:lnTo>
                    <a:pt x="1070392" y="825428"/>
                  </a:lnTo>
                  <a:lnTo>
                    <a:pt x="1123745" y="826252"/>
                  </a:lnTo>
                  <a:lnTo>
                    <a:pt x="1176639" y="826874"/>
                  </a:lnTo>
                  <a:lnTo>
                    <a:pt x="1229051" y="827284"/>
                  </a:lnTo>
                  <a:lnTo>
                    <a:pt x="1280958" y="827470"/>
                  </a:lnTo>
                  <a:lnTo>
                    <a:pt x="1332337" y="827425"/>
                  </a:lnTo>
                  <a:lnTo>
                    <a:pt x="1383166" y="827136"/>
                  </a:lnTo>
                  <a:lnTo>
                    <a:pt x="1433421" y="826595"/>
                  </a:lnTo>
                  <a:lnTo>
                    <a:pt x="1483079" y="825790"/>
                  </a:lnTo>
                  <a:lnTo>
                    <a:pt x="1532117" y="824713"/>
                  </a:lnTo>
                  <a:lnTo>
                    <a:pt x="1580513" y="823352"/>
                  </a:lnTo>
                  <a:lnTo>
                    <a:pt x="1628243" y="821698"/>
                  </a:lnTo>
                  <a:lnTo>
                    <a:pt x="1675285" y="819740"/>
                  </a:lnTo>
                  <a:lnTo>
                    <a:pt x="1721615" y="817469"/>
                  </a:lnTo>
                  <a:lnTo>
                    <a:pt x="1767211" y="814874"/>
                  </a:lnTo>
                  <a:lnTo>
                    <a:pt x="1812049" y="811946"/>
                  </a:lnTo>
                  <a:lnTo>
                    <a:pt x="1856108" y="808673"/>
                  </a:lnTo>
                  <a:lnTo>
                    <a:pt x="1899363" y="805047"/>
                  </a:lnTo>
                  <a:lnTo>
                    <a:pt x="1941792" y="801056"/>
                  </a:lnTo>
                  <a:lnTo>
                    <a:pt x="1983371" y="796691"/>
                  </a:lnTo>
                  <a:lnTo>
                    <a:pt x="2024079" y="791942"/>
                  </a:lnTo>
                  <a:lnTo>
                    <a:pt x="2063891" y="786798"/>
                  </a:lnTo>
                  <a:lnTo>
                    <a:pt x="2102786" y="781249"/>
                  </a:lnTo>
                  <a:lnTo>
                    <a:pt x="2140739" y="775286"/>
                  </a:lnTo>
                  <a:lnTo>
                    <a:pt x="2213732" y="762075"/>
                  </a:lnTo>
                  <a:lnTo>
                    <a:pt x="2311430" y="739262"/>
                  </a:lnTo>
                  <a:lnTo>
                    <a:pt x="2370371" y="720896"/>
                  </a:lnTo>
                  <a:lnTo>
                    <a:pt x="2425739" y="699960"/>
                  </a:lnTo>
                  <a:lnTo>
                    <a:pt x="2477728" y="676706"/>
                  </a:lnTo>
                  <a:lnTo>
                    <a:pt x="2526528" y="651383"/>
                  </a:lnTo>
                  <a:lnTo>
                    <a:pt x="2572332" y="624242"/>
                  </a:lnTo>
                  <a:lnTo>
                    <a:pt x="2615331" y="595533"/>
                  </a:lnTo>
                  <a:lnTo>
                    <a:pt x="2655718" y="565507"/>
                  </a:lnTo>
                  <a:lnTo>
                    <a:pt x="2693685" y="534414"/>
                  </a:lnTo>
                  <a:lnTo>
                    <a:pt x="2729423" y="502505"/>
                  </a:lnTo>
                  <a:lnTo>
                    <a:pt x="2763124" y="470030"/>
                  </a:lnTo>
                  <a:lnTo>
                    <a:pt x="2794981" y="437239"/>
                  </a:lnTo>
                  <a:lnTo>
                    <a:pt x="2825185" y="404384"/>
                  </a:lnTo>
                  <a:lnTo>
                    <a:pt x="2853928" y="371714"/>
                  </a:lnTo>
                  <a:lnTo>
                    <a:pt x="2881402" y="339479"/>
                  </a:lnTo>
                  <a:lnTo>
                    <a:pt x="2907799" y="307931"/>
                  </a:lnTo>
                  <a:lnTo>
                    <a:pt x="2933312" y="277320"/>
                  </a:lnTo>
                  <a:lnTo>
                    <a:pt x="2958132" y="247896"/>
                  </a:lnTo>
                  <a:lnTo>
                    <a:pt x="3006459" y="193611"/>
                  </a:lnTo>
                  <a:lnTo>
                    <a:pt x="3054318" y="147081"/>
                  </a:lnTo>
                  <a:lnTo>
                    <a:pt x="3103245" y="110308"/>
                  </a:lnTo>
                  <a:lnTo>
                    <a:pt x="3172478" y="69529"/>
                  </a:lnTo>
                  <a:lnTo>
                    <a:pt x="3231258" y="39815"/>
                  </a:lnTo>
                  <a:lnTo>
                    <a:pt x="3281079" y="19587"/>
                  </a:lnTo>
                  <a:lnTo>
                    <a:pt x="3323434" y="7262"/>
                  </a:lnTo>
                  <a:lnTo>
                    <a:pt x="3391716" y="0"/>
                  </a:lnTo>
                  <a:lnTo>
                    <a:pt x="3420630" y="1900"/>
                  </a:lnTo>
                  <a:lnTo>
                    <a:pt x="3448050" y="5381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2514780" y="2996821"/>
              <a:ext cx="721994" cy="310514"/>
            </a:xfrm>
            <a:custGeom>
              <a:rect b="b" l="l" r="r" t="t"/>
              <a:pathLst>
                <a:path extrusionOk="0" h="310514" w="721994">
                  <a:moveTo>
                    <a:pt x="44284" y="73444"/>
                  </a:moveTo>
                  <a:lnTo>
                    <a:pt x="47167" y="71640"/>
                  </a:lnTo>
                  <a:lnTo>
                    <a:pt x="49682" y="69850"/>
                  </a:lnTo>
                  <a:lnTo>
                    <a:pt x="52565" y="68402"/>
                  </a:lnTo>
                  <a:lnTo>
                    <a:pt x="55803" y="66967"/>
                  </a:lnTo>
                  <a:lnTo>
                    <a:pt x="58686" y="65519"/>
                  </a:lnTo>
                  <a:lnTo>
                    <a:pt x="61569" y="64084"/>
                  </a:lnTo>
                  <a:lnTo>
                    <a:pt x="64808" y="63004"/>
                  </a:lnTo>
                  <a:lnTo>
                    <a:pt x="68046" y="62280"/>
                  </a:lnTo>
                  <a:lnTo>
                    <a:pt x="71285" y="61201"/>
                  </a:lnTo>
                  <a:lnTo>
                    <a:pt x="74523" y="60845"/>
                  </a:lnTo>
                  <a:lnTo>
                    <a:pt x="77762" y="60121"/>
                  </a:lnTo>
                  <a:lnTo>
                    <a:pt x="85331" y="59397"/>
                  </a:lnTo>
                  <a:lnTo>
                    <a:pt x="102603" y="56159"/>
                  </a:lnTo>
                  <a:lnTo>
                    <a:pt x="120243" y="52209"/>
                  </a:lnTo>
                  <a:lnTo>
                    <a:pt x="138239" y="48602"/>
                  </a:lnTo>
                  <a:lnTo>
                    <a:pt x="156248" y="46088"/>
                  </a:lnTo>
                  <a:lnTo>
                    <a:pt x="204127" y="42849"/>
                  </a:lnTo>
                  <a:lnTo>
                    <a:pt x="168846" y="42481"/>
                  </a:lnTo>
                  <a:lnTo>
                    <a:pt x="58686" y="43929"/>
                  </a:lnTo>
                  <a:lnTo>
                    <a:pt x="54000" y="44284"/>
                  </a:lnTo>
                  <a:lnTo>
                    <a:pt x="49682" y="45008"/>
                  </a:lnTo>
                  <a:lnTo>
                    <a:pt x="45364" y="45720"/>
                  </a:lnTo>
                  <a:lnTo>
                    <a:pt x="41046" y="46443"/>
                  </a:lnTo>
                  <a:lnTo>
                    <a:pt x="28803" y="50406"/>
                  </a:lnTo>
                  <a:lnTo>
                    <a:pt x="28079" y="50761"/>
                  </a:lnTo>
                  <a:lnTo>
                    <a:pt x="27000" y="51117"/>
                  </a:lnTo>
                  <a:lnTo>
                    <a:pt x="26288" y="51485"/>
                  </a:lnTo>
                  <a:lnTo>
                    <a:pt x="25209" y="51841"/>
                  </a:lnTo>
                  <a:lnTo>
                    <a:pt x="24485" y="52565"/>
                  </a:lnTo>
                  <a:lnTo>
                    <a:pt x="23761" y="52920"/>
                  </a:lnTo>
                  <a:lnTo>
                    <a:pt x="23050" y="53644"/>
                  </a:lnTo>
                  <a:lnTo>
                    <a:pt x="21970" y="54000"/>
                  </a:lnTo>
                  <a:lnTo>
                    <a:pt x="21247" y="54724"/>
                  </a:lnTo>
                  <a:lnTo>
                    <a:pt x="20523" y="55448"/>
                  </a:lnTo>
                  <a:lnTo>
                    <a:pt x="19799" y="56159"/>
                  </a:lnTo>
                  <a:lnTo>
                    <a:pt x="19443" y="56883"/>
                  </a:lnTo>
                  <a:lnTo>
                    <a:pt x="18008" y="58318"/>
                  </a:lnTo>
                  <a:lnTo>
                    <a:pt x="17640" y="59042"/>
                  </a:lnTo>
                  <a:lnTo>
                    <a:pt x="17640" y="59397"/>
                  </a:lnTo>
                  <a:lnTo>
                    <a:pt x="17284" y="59766"/>
                  </a:lnTo>
                  <a:lnTo>
                    <a:pt x="17284" y="60121"/>
                  </a:lnTo>
                  <a:lnTo>
                    <a:pt x="17284" y="60490"/>
                  </a:lnTo>
                  <a:lnTo>
                    <a:pt x="16929" y="61201"/>
                  </a:lnTo>
                  <a:lnTo>
                    <a:pt x="16929" y="61569"/>
                  </a:lnTo>
                  <a:lnTo>
                    <a:pt x="16929" y="65519"/>
                  </a:lnTo>
                  <a:lnTo>
                    <a:pt x="17284" y="66243"/>
                  </a:lnTo>
                  <a:lnTo>
                    <a:pt x="17284" y="66598"/>
                  </a:lnTo>
                  <a:lnTo>
                    <a:pt x="17284" y="66967"/>
                  </a:lnTo>
                  <a:lnTo>
                    <a:pt x="17640" y="67322"/>
                  </a:lnTo>
                  <a:lnTo>
                    <a:pt x="17640" y="67678"/>
                  </a:lnTo>
                  <a:lnTo>
                    <a:pt x="18008" y="68402"/>
                  </a:lnTo>
                  <a:lnTo>
                    <a:pt x="18364" y="68757"/>
                  </a:lnTo>
                  <a:lnTo>
                    <a:pt x="18364" y="69126"/>
                  </a:lnTo>
                  <a:lnTo>
                    <a:pt x="18719" y="69481"/>
                  </a:lnTo>
                  <a:lnTo>
                    <a:pt x="19088" y="69850"/>
                  </a:lnTo>
                  <a:lnTo>
                    <a:pt x="19799" y="70929"/>
                  </a:lnTo>
                  <a:lnTo>
                    <a:pt x="22326" y="73444"/>
                  </a:lnTo>
                  <a:lnTo>
                    <a:pt x="25209" y="76327"/>
                  </a:lnTo>
                  <a:lnTo>
                    <a:pt x="27724" y="78841"/>
                  </a:lnTo>
                  <a:lnTo>
                    <a:pt x="30606" y="81368"/>
                  </a:lnTo>
                  <a:lnTo>
                    <a:pt x="33845" y="83527"/>
                  </a:lnTo>
                  <a:lnTo>
                    <a:pt x="36728" y="85686"/>
                  </a:lnTo>
                  <a:lnTo>
                    <a:pt x="84607" y="101879"/>
                  </a:lnTo>
                  <a:lnTo>
                    <a:pt x="133921" y="105486"/>
                  </a:lnTo>
                  <a:lnTo>
                    <a:pt x="313931" y="103327"/>
                  </a:lnTo>
                  <a:lnTo>
                    <a:pt x="318249" y="102958"/>
                  </a:lnTo>
                  <a:lnTo>
                    <a:pt x="318960" y="101523"/>
                  </a:lnTo>
                  <a:lnTo>
                    <a:pt x="312127" y="96837"/>
                  </a:lnTo>
                  <a:lnTo>
                    <a:pt x="269646" y="82804"/>
                  </a:lnTo>
                  <a:lnTo>
                    <a:pt x="212407" y="72364"/>
                  </a:lnTo>
                  <a:lnTo>
                    <a:pt x="149771" y="63360"/>
                  </a:lnTo>
                  <a:lnTo>
                    <a:pt x="61201" y="59397"/>
                  </a:lnTo>
                  <a:lnTo>
                    <a:pt x="12611" y="58318"/>
                  </a:lnTo>
                  <a:lnTo>
                    <a:pt x="270725" y="59766"/>
                  </a:lnTo>
                  <a:lnTo>
                    <a:pt x="392404" y="58686"/>
                  </a:lnTo>
                  <a:lnTo>
                    <a:pt x="430923" y="58686"/>
                  </a:lnTo>
                  <a:lnTo>
                    <a:pt x="0" y="58686"/>
                  </a:lnTo>
                  <a:lnTo>
                    <a:pt x="12966" y="59397"/>
                  </a:lnTo>
                  <a:lnTo>
                    <a:pt x="25920" y="60845"/>
                  </a:lnTo>
                  <a:lnTo>
                    <a:pt x="53289" y="65519"/>
                  </a:lnTo>
                  <a:lnTo>
                    <a:pt x="83527" y="70561"/>
                  </a:lnTo>
                  <a:lnTo>
                    <a:pt x="333730" y="90004"/>
                  </a:lnTo>
                  <a:lnTo>
                    <a:pt x="65163" y="88925"/>
                  </a:lnTo>
                  <a:lnTo>
                    <a:pt x="118808" y="89281"/>
                  </a:lnTo>
                  <a:lnTo>
                    <a:pt x="219240" y="89649"/>
                  </a:lnTo>
                  <a:lnTo>
                    <a:pt x="245529" y="88569"/>
                  </a:lnTo>
                  <a:lnTo>
                    <a:pt x="317169" y="79565"/>
                  </a:lnTo>
                  <a:lnTo>
                    <a:pt x="324726" y="77038"/>
                  </a:lnTo>
                  <a:lnTo>
                    <a:pt x="320763" y="75247"/>
                  </a:lnTo>
                  <a:lnTo>
                    <a:pt x="302044" y="73799"/>
                  </a:lnTo>
                  <a:lnTo>
                    <a:pt x="147967" y="73088"/>
                  </a:lnTo>
                  <a:lnTo>
                    <a:pt x="111607" y="73088"/>
                  </a:lnTo>
                  <a:lnTo>
                    <a:pt x="109080" y="73088"/>
                  </a:lnTo>
                  <a:lnTo>
                    <a:pt x="99364" y="73799"/>
                  </a:lnTo>
                  <a:lnTo>
                    <a:pt x="100088" y="74523"/>
                  </a:lnTo>
                  <a:lnTo>
                    <a:pt x="107645" y="76682"/>
                  </a:lnTo>
                  <a:lnTo>
                    <a:pt x="236169" y="93599"/>
                  </a:lnTo>
                  <a:lnTo>
                    <a:pt x="369722" y="100799"/>
                  </a:lnTo>
                  <a:lnTo>
                    <a:pt x="395998" y="101879"/>
                  </a:lnTo>
                  <a:lnTo>
                    <a:pt x="555840" y="104038"/>
                  </a:lnTo>
                  <a:lnTo>
                    <a:pt x="397446" y="103327"/>
                  </a:lnTo>
                  <a:lnTo>
                    <a:pt x="329399" y="103682"/>
                  </a:lnTo>
                  <a:lnTo>
                    <a:pt x="324370" y="103327"/>
                  </a:lnTo>
                  <a:lnTo>
                    <a:pt x="319684" y="103327"/>
                  </a:lnTo>
                  <a:lnTo>
                    <a:pt x="315010" y="103327"/>
                  </a:lnTo>
                  <a:lnTo>
                    <a:pt x="310324" y="103327"/>
                  </a:lnTo>
                  <a:lnTo>
                    <a:pt x="306006" y="103682"/>
                  </a:lnTo>
                  <a:lnTo>
                    <a:pt x="301320" y="104406"/>
                  </a:lnTo>
                  <a:lnTo>
                    <a:pt x="290169" y="106565"/>
                  </a:lnTo>
                  <a:lnTo>
                    <a:pt x="289801" y="106921"/>
                  </a:lnTo>
                  <a:lnTo>
                    <a:pt x="289445" y="106921"/>
                  </a:lnTo>
                  <a:lnTo>
                    <a:pt x="289090" y="106921"/>
                  </a:lnTo>
                  <a:lnTo>
                    <a:pt x="288721" y="106921"/>
                  </a:lnTo>
                  <a:lnTo>
                    <a:pt x="288721" y="107289"/>
                  </a:lnTo>
                  <a:lnTo>
                    <a:pt x="288366" y="107289"/>
                  </a:lnTo>
                  <a:lnTo>
                    <a:pt x="288010" y="107289"/>
                  </a:lnTo>
                  <a:lnTo>
                    <a:pt x="288010" y="107645"/>
                  </a:lnTo>
                  <a:lnTo>
                    <a:pt x="287642" y="107645"/>
                  </a:lnTo>
                  <a:lnTo>
                    <a:pt x="287286" y="108000"/>
                  </a:lnTo>
                  <a:lnTo>
                    <a:pt x="286931" y="108369"/>
                  </a:lnTo>
                  <a:lnTo>
                    <a:pt x="286562" y="108724"/>
                  </a:lnTo>
                  <a:lnTo>
                    <a:pt x="286207" y="109080"/>
                  </a:lnTo>
                  <a:lnTo>
                    <a:pt x="286207" y="109448"/>
                  </a:lnTo>
                  <a:lnTo>
                    <a:pt x="285838" y="109804"/>
                  </a:lnTo>
                  <a:lnTo>
                    <a:pt x="285838" y="110159"/>
                  </a:lnTo>
                  <a:lnTo>
                    <a:pt x="285483" y="110528"/>
                  </a:lnTo>
                  <a:lnTo>
                    <a:pt x="285483" y="110883"/>
                  </a:lnTo>
                  <a:lnTo>
                    <a:pt x="285483" y="111239"/>
                  </a:lnTo>
                  <a:lnTo>
                    <a:pt x="285483" y="111607"/>
                  </a:lnTo>
                  <a:lnTo>
                    <a:pt x="285127" y="111963"/>
                  </a:lnTo>
                  <a:lnTo>
                    <a:pt x="285127" y="112687"/>
                  </a:lnTo>
                  <a:lnTo>
                    <a:pt x="285483" y="113042"/>
                  </a:lnTo>
                  <a:lnTo>
                    <a:pt x="285483" y="113398"/>
                  </a:lnTo>
                  <a:lnTo>
                    <a:pt x="285838" y="113766"/>
                  </a:lnTo>
                  <a:lnTo>
                    <a:pt x="286207" y="114122"/>
                  </a:lnTo>
                  <a:lnTo>
                    <a:pt x="286207" y="114477"/>
                  </a:lnTo>
                  <a:lnTo>
                    <a:pt x="286562" y="114846"/>
                  </a:lnTo>
                  <a:lnTo>
                    <a:pt x="286931" y="115201"/>
                  </a:lnTo>
                  <a:lnTo>
                    <a:pt x="287286" y="115570"/>
                  </a:lnTo>
                  <a:lnTo>
                    <a:pt x="287286" y="115925"/>
                  </a:lnTo>
                  <a:lnTo>
                    <a:pt x="287642" y="116281"/>
                  </a:lnTo>
                  <a:lnTo>
                    <a:pt x="288010" y="116649"/>
                  </a:lnTo>
                  <a:lnTo>
                    <a:pt x="288366" y="117005"/>
                  </a:lnTo>
                  <a:lnTo>
                    <a:pt x="288721" y="117360"/>
                  </a:lnTo>
                  <a:lnTo>
                    <a:pt x="289090" y="117729"/>
                  </a:lnTo>
                  <a:lnTo>
                    <a:pt x="289445" y="117729"/>
                  </a:lnTo>
                  <a:lnTo>
                    <a:pt x="289801" y="118084"/>
                  </a:lnTo>
                  <a:lnTo>
                    <a:pt x="291249" y="118440"/>
                  </a:lnTo>
                  <a:lnTo>
                    <a:pt x="297726" y="121323"/>
                  </a:lnTo>
                  <a:lnTo>
                    <a:pt x="304203" y="123482"/>
                  </a:lnTo>
                  <a:lnTo>
                    <a:pt x="311048" y="125641"/>
                  </a:lnTo>
                  <a:lnTo>
                    <a:pt x="317525" y="127088"/>
                  </a:lnTo>
                  <a:lnTo>
                    <a:pt x="324370" y="128524"/>
                  </a:lnTo>
                  <a:lnTo>
                    <a:pt x="331558" y="129603"/>
                  </a:lnTo>
                  <a:lnTo>
                    <a:pt x="338404" y="130683"/>
                  </a:lnTo>
                  <a:lnTo>
                    <a:pt x="357847" y="131406"/>
                  </a:lnTo>
                  <a:lnTo>
                    <a:pt x="368287" y="131762"/>
                  </a:lnTo>
                  <a:lnTo>
                    <a:pt x="524891" y="134645"/>
                  </a:lnTo>
                  <a:lnTo>
                    <a:pt x="534250" y="134645"/>
                  </a:lnTo>
                  <a:lnTo>
                    <a:pt x="530288" y="134289"/>
                  </a:lnTo>
                  <a:lnTo>
                    <a:pt x="510120" y="133921"/>
                  </a:lnTo>
                  <a:lnTo>
                    <a:pt x="324002" y="133565"/>
                  </a:lnTo>
                  <a:lnTo>
                    <a:pt x="543966" y="133565"/>
                  </a:lnTo>
                  <a:lnTo>
                    <a:pt x="528485" y="133921"/>
                  </a:lnTo>
                  <a:lnTo>
                    <a:pt x="522363" y="134645"/>
                  </a:lnTo>
                  <a:lnTo>
                    <a:pt x="516610" y="134645"/>
                  </a:lnTo>
                  <a:lnTo>
                    <a:pt x="510489" y="135001"/>
                  </a:lnTo>
                  <a:lnTo>
                    <a:pt x="504723" y="134645"/>
                  </a:lnTo>
                  <a:lnTo>
                    <a:pt x="498970" y="134289"/>
                  </a:lnTo>
                  <a:lnTo>
                    <a:pt x="492848" y="133565"/>
                  </a:lnTo>
                  <a:lnTo>
                    <a:pt x="487083" y="132486"/>
                  </a:lnTo>
                  <a:lnTo>
                    <a:pt x="481329" y="131406"/>
                  </a:lnTo>
                  <a:lnTo>
                    <a:pt x="469087" y="127800"/>
                  </a:lnTo>
                  <a:lnTo>
                    <a:pt x="468718" y="127800"/>
                  </a:lnTo>
                  <a:lnTo>
                    <a:pt x="468363" y="127444"/>
                  </a:lnTo>
                  <a:lnTo>
                    <a:pt x="468007" y="127444"/>
                  </a:lnTo>
                  <a:lnTo>
                    <a:pt x="467283" y="127088"/>
                  </a:lnTo>
                  <a:lnTo>
                    <a:pt x="466928" y="127088"/>
                  </a:lnTo>
                  <a:lnTo>
                    <a:pt x="466559" y="126720"/>
                  </a:lnTo>
                  <a:lnTo>
                    <a:pt x="466204" y="126720"/>
                  </a:lnTo>
                  <a:lnTo>
                    <a:pt x="465848" y="126365"/>
                  </a:lnTo>
                  <a:lnTo>
                    <a:pt x="465480" y="126009"/>
                  </a:lnTo>
                  <a:lnTo>
                    <a:pt x="465124" y="126009"/>
                  </a:lnTo>
                  <a:lnTo>
                    <a:pt x="464769" y="125641"/>
                  </a:lnTo>
                  <a:lnTo>
                    <a:pt x="464769" y="125285"/>
                  </a:lnTo>
                  <a:lnTo>
                    <a:pt x="464400" y="124929"/>
                  </a:lnTo>
                  <a:lnTo>
                    <a:pt x="464045" y="124561"/>
                  </a:lnTo>
                  <a:lnTo>
                    <a:pt x="463689" y="124561"/>
                  </a:lnTo>
                  <a:lnTo>
                    <a:pt x="463321" y="124206"/>
                  </a:lnTo>
                  <a:lnTo>
                    <a:pt x="463321" y="123850"/>
                  </a:lnTo>
                  <a:lnTo>
                    <a:pt x="462965" y="123482"/>
                  </a:lnTo>
                  <a:lnTo>
                    <a:pt x="462965" y="123126"/>
                  </a:lnTo>
                  <a:lnTo>
                    <a:pt x="462610" y="122758"/>
                  </a:lnTo>
                  <a:lnTo>
                    <a:pt x="462610" y="122047"/>
                  </a:lnTo>
                  <a:lnTo>
                    <a:pt x="462241" y="121678"/>
                  </a:lnTo>
                  <a:lnTo>
                    <a:pt x="462241" y="121323"/>
                  </a:lnTo>
                  <a:lnTo>
                    <a:pt x="461886" y="120967"/>
                  </a:lnTo>
                  <a:lnTo>
                    <a:pt x="461886" y="120599"/>
                  </a:lnTo>
                  <a:lnTo>
                    <a:pt x="461886" y="120243"/>
                  </a:lnTo>
                  <a:lnTo>
                    <a:pt x="461886" y="119888"/>
                  </a:lnTo>
                  <a:lnTo>
                    <a:pt x="461530" y="119164"/>
                  </a:lnTo>
                  <a:lnTo>
                    <a:pt x="461530" y="118808"/>
                  </a:lnTo>
                  <a:lnTo>
                    <a:pt x="461530" y="118440"/>
                  </a:lnTo>
                  <a:lnTo>
                    <a:pt x="461530" y="117360"/>
                  </a:lnTo>
                  <a:lnTo>
                    <a:pt x="461886" y="116649"/>
                  </a:lnTo>
                  <a:lnTo>
                    <a:pt x="462241" y="115570"/>
                  </a:lnTo>
                  <a:lnTo>
                    <a:pt x="462610" y="114846"/>
                  </a:lnTo>
                  <a:lnTo>
                    <a:pt x="463321" y="114122"/>
                  </a:lnTo>
                  <a:lnTo>
                    <a:pt x="463689" y="113042"/>
                  </a:lnTo>
                  <a:lnTo>
                    <a:pt x="464400" y="112318"/>
                  </a:lnTo>
                  <a:lnTo>
                    <a:pt x="464769" y="111607"/>
                  </a:lnTo>
                  <a:lnTo>
                    <a:pt x="465480" y="110883"/>
                  </a:lnTo>
                  <a:lnTo>
                    <a:pt x="466204" y="110159"/>
                  </a:lnTo>
                  <a:lnTo>
                    <a:pt x="466559" y="109448"/>
                  </a:lnTo>
                  <a:lnTo>
                    <a:pt x="467283" y="108724"/>
                  </a:lnTo>
                  <a:lnTo>
                    <a:pt x="468007" y="108000"/>
                  </a:lnTo>
                  <a:lnTo>
                    <a:pt x="468718" y="107289"/>
                  </a:lnTo>
                  <a:lnTo>
                    <a:pt x="470522" y="106210"/>
                  </a:lnTo>
                  <a:lnTo>
                    <a:pt x="476643" y="102247"/>
                  </a:lnTo>
                  <a:lnTo>
                    <a:pt x="482765" y="98285"/>
                  </a:lnTo>
                  <a:lnTo>
                    <a:pt x="500405" y="89281"/>
                  </a:lnTo>
                  <a:lnTo>
                    <a:pt x="502208" y="88569"/>
                  </a:lnTo>
                  <a:lnTo>
                    <a:pt x="510489" y="84963"/>
                  </a:lnTo>
                  <a:lnTo>
                    <a:pt x="516242" y="82448"/>
                  </a:lnTo>
                  <a:lnTo>
                    <a:pt x="522363" y="79565"/>
                  </a:lnTo>
                  <a:lnTo>
                    <a:pt x="537121" y="70561"/>
                  </a:lnTo>
                  <a:lnTo>
                    <a:pt x="537489" y="70561"/>
                  </a:lnTo>
                  <a:lnTo>
                    <a:pt x="537844" y="70561"/>
                  </a:lnTo>
                  <a:lnTo>
                    <a:pt x="538200" y="70561"/>
                  </a:lnTo>
                  <a:lnTo>
                    <a:pt x="538200" y="70205"/>
                  </a:lnTo>
                  <a:lnTo>
                    <a:pt x="538568" y="70205"/>
                  </a:lnTo>
                  <a:lnTo>
                    <a:pt x="538568" y="69850"/>
                  </a:lnTo>
                  <a:lnTo>
                    <a:pt x="538924" y="69850"/>
                  </a:lnTo>
                  <a:lnTo>
                    <a:pt x="538924" y="69481"/>
                  </a:lnTo>
                  <a:lnTo>
                    <a:pt x="539280" y="69481"/>
                  </a:lnTo>
                  <a:lnTo>
                    <a:pt x="539280" y="69126"/>
                  </a:lnTo>
                  <a:lnTo>
                    <a:pt x="539280" y="68757"/>
                  </a:lnTo>
                  <a:lnTo>
                    <a:pt x="539648" y="68757"/>
                  </a:lnTo>
                  <a:lnTo>
                    <a:pt x="539648" y="68402"/>
                  </a:lnTo>
                  <a:lnTo>
                    <a:pt x="539648" y="68046"/>
                  </a:lnTo>
                  <a:lnTo>
                    <a:pt x="540004" y="67678"/>
                  </a:lnTo>
                  <a:lnTo>
                    <a:pt x="540004" y="67322"/>
                  </a:lnTo>
                  <a:lnTo>
                    <a:pt x="540004" y="66967"/>
                  </a:lnTo>
                  <a:lnTo>
                    <a:pt x="540004" y="66598"/>
                  </a:lnTo>
                  <a:lnTo>
                    <a:pt x="539648" y="66598"/>
                  </a:lnTo>
                  <a:lnTo>
                    <a:pt x="539648" y="66243"/>
                  </a:lnTo>
                  <a:lnTo>
                    <a:pt x="539648" y="65887"/>
                  </a:lnTo>
                  <a:lnTo>
                    <a:pt x="539648" y="65519"/>
                  </a:lnTo>
                  <a:lnTo>
                    <a:pt x="539280" y="65519"/>
                  </a:lnTo>
                  <a:lnTo>
                    <a:pt x="539280" y="65163"/>
                  </a:lnTo>
                  <a:lnTo>
                    <a:pt x="538924" y="64808"/>
                  </a:lnTo>
                  <a:lnTo>
                    <a:pt x="530288" y="61201"/>
                  </a:lnTo>
                  <a:lnTo>
                    <a:pt x="510120" y="58318"/>
                  </a:lnTo>
                  <a:lnTo>
                    <a:pt x="449999" y="57238"/>
                  </a:lnTo>
                  <a:lnTo>
                    <a:pt x="500049" y="57962"/>
                  </a:lnTo>
                  <a:lnTo>
                    <a:pt x="511568" y="58686"/>
                  </a:lnTo>
                  <a:lnTo>
                    <a:pt x="477723" y="59042"/>
                  </a:lnTo>
                  <a:lnTo>
                    <a:pt x="222122" y="58686"/>
                  </a:lnTo>
                  <a:lnTo>
                    <a:pt x="495363" y="58686"/>
                  </a:lnTo>
                  <a:lnTo>
                    <a:pt x="461530" y="58318"/>
                  </a:lnTo>
                  <a:lnTo>
                    <a:pt x="382689" y="59042"/>
                  </a:lnTo>
                  <a:lnTo>
                    <a:pt x="381609" y="59042"/>
                  </a:lnTo>
                  <a:lnTo>
                    <a:pt x="380530" y="59042"/>
                  </a:lnTo>
                  <a:lnTo>
                    <a:pt x="379450" y="59397"/>
                  </a:lnTo>
                  <a:lnTo>
                    <a:pt x="378371" y="59397"/>
                  </a:lnTo>
                  <a:lnTo>
                    <a:pt x="377278" y="59397"/>
                  </a:lnTo>
                  <a:lnTo>
                    <a:pt x="376199" y="59766"/>
                  </a:lnTo>
                  <a:lnTo>
                    <a:pt x="375119" y="59766"/>
                  </a:lnTo>
                  <a:lnTo>
                    <a:pt x="374040" y="60121"/>
                  </a:lnTo>
                  <a:lnTo>
                    <a:pt x="372960" y="60490"/>
                  </a:lnTo>
                  <a:lnTo>
                    <a:pt x="372249" y="60845"/>
                  </a:lnTo>
                  <a:lnTo>
                    <a:pt x="371170" y="61201"/>
                  </a:lnTo>
                  <a:lnTo>
                    <a:pt x="370090" y="61925"/>
                  </a:lnTo>
                  <a:lnTo>
                    <a:pt x="369366" y="62280"/>
                  </a:lnTo>
                  <a:lnTo>
                    <a:pt x="368287" y="62649"/>
                  </a:lnTo>
                  <a:lnTo>
                    <a:pt x="367563" y="63360"/>
                  </a:lnTo>
                  <a:lnTo>
                    <a:pt x="366483" y="64084"/>
                  </a:lnTo>
                  <a:lnTo>
                    <a:pt x="364680" y="65519"/>
                  </a:lnTo>
                  <a:lnTo>
                    <a:pt x="364680" y="65887"/>
                  </a:lnTo>
                  <a:lnTo>
                    <a:pt x="364680" y="66243"/>
                  </a:lnTo>
                  <a:lnTo>
                    <a:pt x="364324" y="66598"/>
                  </a:lnTo>
                  <a:lnTo>
                    <a:pt x="364324" y="66967"/>
                  </a:lnTo>
                  <a:lnTo>
                    <a:pt x="364324" y="67678"/>
                  </a:lnTo>
                  <a:lnTo>
                    <a:pt x="363969" y="68046"/>
                  </a:lnTo>
                  <a:lnTo>
                    <a:pt x="363969" y="68402"/>
                  </a:lnTo>
                  <a:lnTo>
                    <a:pt x="363969" y="69126"/>
                  </a:lnTo>
                  <a:lnTo>
                    <a:pt x="363969" y="71285"/>
                  </a:lnTo>
                  <a:lnTo>
                    <a:pt x="364324" y="71640"/>
                  </a:lnTo>
                  <a:lnTo>
                    <a:pt x="364324" y="72364"/>
                  </a:lnTo>
                  <a:lnTo>
                    <a:pt x="364324" y="72720"/>
                  </a:lnTo>
                  <a:lnTo>
                    <a:pt x="364680" y="73088"/>
                  </a:lnTo>
                  <a:lnTo>
                    <a:pt x="364680" y="73444"/>
                  </a:lnTo>
                  <a:lnTo>
                    <a:pt x="365048" y="73799"/>
                  </a:lnTo>
                  <a:lnTo>
                    <a:pt x="365048" y="74523"/>
                  </a:lnTo>
                  <a:lnTo>
                    <a:pt x="365404" y="74879"/>
                  </a:lnTo>
                  <a:lnTo>
                    <a:pt x="365404" y="75247"/>
                  </a:lnTo>
                  <a:lnTo>
                    <a:pt x="365759" y="75603"/>
                  </a:lnTo>
                  <a:lnTo>
                    <a:pt x="366128" y="75958"/>
                  </a:lnTo>
                  <a:lnTo>
                    <a:pt x="366483" y="76327"/>
                  </a:lnTo>
                  <a:lnTo>
                    <a:pt x="366839" y="76682"/>
                  </a:lnTo>
                  <a:lnTo>
                    <a:pt x="366839" y="77038"/>
                  </a:lnTo>
                  <a:lnTo>
                    <a:pt x="367207" y="77406"/>
                  </a:lnTo>
                  <a:lnTo>
                    <a:pt x="367563" y="77762"/>
                  </a:lnTo>
                  <a:lnTo>
                    <a:pt x="367918" y="78117"/>
                  </a:lnTo>
                  <a:lnTo>
                    <a:pt x="368287" y="78117"/>
                  </a:lnTo>
                  <a:lnTo>
                    <a:pt x="368642" y="78486"/>
                  </a:lnTo>
                  <a:lnTo>
                    <a:pt x="369011" y="78841"/>
                  </a:lnTo>
                  <a:lnTo>
                    <a:pt x="369722" y="78841"/>
                  </a:lnTo>
                  <a:lnTo>
                    <a:pt x="370801" y="79565"/>
                  </a:lnTo>
                  <a:lnTo>
                    <a:pt x="398170" y="93599"/>
                  </a:lnTo>
                  <a:lnTo>
                    <a:pt x="418680" y="103327"/>
                  </a:lnTo>
                  <a:lnTo>
                    <a:pt x="419404" y="103682"/>
                  </a:lnTo>
                  <a:lnTo>
                    <a:pt x="420128" y="104038"/>
                  </a:lnTo>
                  <a:lnTo>
                    <a:pt x="420484" y="104406"/>
                  </a:lnTo>
                  <a:lnTo>
                    <a:pt x="421208" y="104762"/>
                  </a:lnTo>
                  <a:lnTo>
                    <a:pt x="421563" y="105117"/>
                  </a:lnTo>
                  <a:lnTo>
                    <a:pt x="421919" y="105486"/>
                  </a:lnTo>
                  <a:lnTo>
                    <a:pt x="422643" y="105841"/>
                  </a:lnTo>
                  <a:lnTo>
                    <a:pt x="422998" y="106565"/>
                  </a:lnTo>
                  <a:lnTo>
                    <a:pt x="423367" y="106921"/>
                  </a:lnTo>
                  <a:lnTo>
                    <a:pt x="423722" y="107289"/>
                  </a:lnTo>
                  <a:lnTo>
                    <a:pt x="424446" y="108000"/>
                  </a:lnTo>
                  <a:lnTo>
                    <a:pt x="424802" y="108369"/>
                  </a:lnTo>
                  <a:lnTo>
                    <a:pt x="425170" y="109080"/>
                  </a:lnTo>
                  <a:lnTo>
                    <a:pt x="425526" y="109448"/>
                  </a:lnTo>
                  <a:lnTo>
                    <a:pt x="425526" y="110159"/>
                  </a:lnTo>
                  <a:lnTo>
                    <a:pt x="425881" y="110528"/>
                  </a:lnTo>
                  <a:lnTo>
                    <a:pt x="426250" y="111239"/>
                  </a:lnTo>
                  <a:lnTo>
                    <a:pt x="426605" y="113042"/>
                  </a:lnTo>
                  <a:lnTo>
                    <a:pt x="426605" y="113398"/>
                  </a:lnTo>
                  <a:lnTo>
                    <a:pt x="426605" y="113766"/>
                  </a:lnTo>
                  <a:lnTo>
                    <a:pt x="426605" y="115570"/>
                  </a:lnTo>
                  <a:lnTo>
                    <a:pt x="426250" y="115925"/>
                  </a:lnTo>
                  <a:lnTo>
                    <a:pt x="426250" y="116649"/>
                  </a:lnTo>
                  <a:lnTo>
                    <a:pt x="426250" y="117005"/>
                  </a:lnTo>
                  <a:lnTo>
                    <a:pt x="425881" y="117360"/>
                  </a:lnTo>
                  <a:lnTo>
                    <a:pt x="425881" y="117729"/>
                  </a:lnTo>
                  <a:lnTo>
                    <a:pt x="425526" y="118084"/>
                  </a:lnTo>
                  <a:lnTo>
                    <a:pt x="425170" y="118440"/>
                  </a:lnTo>
                  <a:lnTo>
                    <a:pt x="425170" y="118808"/>
                  </a:lnTo>
                  <a:lnTo>
                    <a:pt x="424802" y="118808"/>
                  </a:lnTo>
                  <a:lnTo>
                    <a:pt x="424446" y="119164"/>
                  </a:lnTo>
                  <a:lnTo>
                    <a:pt x="424446" y="119519"/>
                  </a:lnTo>
                  <a:lnTo>
                    <a:pt x="424091" y="119888"/>
                  </a:lnTo>
                  <a:lnTo>
                    <a:pt x="423722" y="120243"/>
                  </a:lnTo>
                  <a:lnTo>
                    <a:pt x="422998" y="120967"/>
                  </a:lnTo>
                  <a:lnTo>
                    <a:pt x="420839" y="122402"/>
                  </a:lnTo>
                  <a:lnTo>
                    <a:pt x="419049" y="123482"/>
                  </a:lnTo>
                  <a:lnTo>
                    <a:pt x="416890" y="124561"/>
                  </a:lnTo>
                  <a:lnTo>
                    <a:pt x="415086" y="125641"/>
                  </a:lnTo>
                  <a:lnTo>
                    <a:pt x="412927" y="126720"/>
                  </a:lnTo>
                  <a:lnTo>
                    <a:pt x="410768" y="127800"/>
                  </a:lnTo>
                  <a:lnTo>
                    <a:pt x="408609" y="128524"/>
                  </a:lnTo>
                  <a:lnTo>
                    <a:pt x="367918" y="135369"/>
                  </a:lnTo>
                  <a:lnTo>
                    <a:pt x="361441" y="135369"/>
                  </a:lnTo>
                  <a:lnTo>
                    <a:pt x="346684" y="134289"/>
                  </a:lnTo>
                  <a:lnTo>
                    <a:pt x="346328" y="134289"/>
                  </a:lnTo>
                  <a:lnTo>
                    <a:pt x="345960" y="134289"/>
                  </a:lnTo>
                  <a:lnTo>
                    <a:pt x="345605" y="134289"/>
                  </a:lnTo>
                  <a:lnTo>
                    <a:pt x="345249" y="134289"/>
                  </a:lnTo>
                  <a:lnTo>
                    <a:pt x="344881" y="134289"/>
                  </a:lnTo>
                  <a:lnTo>
                    <a:pt x="344881" y="133921"/>
                  </a:lnTo>
                  <a:lnTo>
                    <a:pt x="344525" y="133921"/>
                  </a:lnTo>
                  <a:lnTo>
                    <a:pt x="344169" y="133921"/>
                  </a:lnTo>
                  <a:lnTo>
                    <a:pt x="344169" y="133565"/>
                  </a:lnTo>
                  <a:lnTo>
                    <a:pt x="343801" y="133565"/>
                  </a:lnTo>
                  <a:lnTo>
                    <a:pt x="343801" y="133210"/>
                  </a:lnTo>
                  <a:lnTo>
                    <a:pt x="343446" y="132842"/>
                  </a:lnTo>
                  <a:lnTo>
                    <a:pt x="343446" y="132486"/>
                  </a:lnTo>
                  <a:lnTo>
                    <a:pt x="343090" y="132486"/>
                  </a:lnTo>
                  <a:lnTo>
                    <a:pt x="343090" y="132118"/>
                  </a:lnTo>
                  <a:lnTo>
                    <a:pt x="343090" y="129959"/>
                  </a:lnTo>
                  <a:lnTo>
                    <a:pt x="343446" y="129959"/>
                  </a:lnTo>
                  <a:lnTo>
                    <a:pt x="343446" y="129603"/>
                  </a:lnTo>
                  <a:lnTo>
                    <a:pt x="343801" y="129247"/>
                  </a:lnTo>
                  <a:lnTo>
                    <a:pt x="343801" y="128879"/>
                  </a:lnTo>
                  <a:lnTo>
                    <a:pt x="344169" y="128879"/>
                  </a:lnTo>
                  <a:lnTo>
                    <a:pt x="344525" y="128524"/>
                  </a:lnTo>
                  <a:lnTo>
                    <a:pt x="351726" y="122758"/>
                  </a:lnTo>
                  <a:lnTo>
                    <a:pt x="361810" y="117005"/>
                  </a:lnTo>
                  <a:lnTo>
                    <a:pt x="372249" y="111963"/>
                  </a:lnTo>
                  <a:lnTo>
                    <a:pt x="382689" y="106921"/>
                  </a:lnTo>
                  <a:lnTo>
                    <a:pt x="393128" y="102603"/>
                  </a:lnTo>
                  <a:lnTo>
                    <a:pt x="425526" y="92887"/>
                  </a:lnTo>
                  <a:lnTo>
                    <a:pt x="433450" y="90004"/>
                  </a:lnTo>
                  <a:lnTo>
                    <a:pt x="433806" y="90004"/>
                  </a:lnTo>
                  <a:lnTo>
                    <a:pt x="433806" y="89649"/>
                  </a:lnTo>
                  <a:lnTo>
                    <a:pt x="434162" y="89281"/>
                  </a:lnTo>
                  <a:lnTo>
                    <a:pt x="434162" y="88925"/>
                  </a:lnTo>
                  <a:lnTo>
                    <a:pt x="433806" y="88569"/>
                  </a:lnTo>
                  <a:lnTo>
                    <a:pt x="433806" y="88201"/>
                  </a:lnTo>
                  <a:lnTo>
                    <a:pt x="433450" y="88201"/>
                  </a:lnTo>
                  <a:lnTo>
                    <a:pt x="433082" y="88201"/>
                  </a:lnTo>
                  <a:lnTo>
                    <a:pt x="432727" y="88201"/>
                  </a:lnTo>
                  <a:lnTo>
                    <a:pt x="416521" y="87122"/>
                  </a:lnTo>
                  <a:lnTo>
                    <a:pt x="301320" y="88569"/>
                  </a:lnTo>
                  <a:lnTo>
                    <a:pt x="350278" y="88569"/>
                  </a:lnTo>
                  <a:lnTo>
                    <a:pt x="343801" y="87845"/>
                  </a:lnTo>
                  <a:lnTo>
                    <a:pt x="277202" y="77038"/>
                  </a:lnTo>
                  <a:lnTo>
                    <a:pt x="267487" y="73088"/>
                  </a:lnTo>
                  <a:lnTo>
                    <a:pt x="267119" y="73088"/>
                  </a:lnTo>
                  <a:lnTo>
                    <a:pt x="267119" y="72720"/>
                  </a:lnTo>
                  <a:lnTo>
                    <a:pt x="266763" y="72720"/>
                  </a:lnTo>
                  <a:lnTo>
                    <a:pt x="266763" y="72364"/>
                  </a:lnTo>
                  <a:lnTo>
                    <a:pt x="266763" y="72009"/>
                  </a:lnTo>
                  <a:lnTo>
                    <a:pt x="266763" y="71640"/>
                  </a:lnTo>
                  <a:lnTo>
                    <a:pt x="266763" y="71285"/>
                  </a:lnTo>
                  <a:lnTo>
                    <a:pt x="266763" y="70929"/>
                  </a:lnTo>
                  <a:lnTo>
                    <a:pt x="267119" y="70929"/>
                  </a:lnTo>
                  <a:lnTo>
                    <a:pt x="267119" y="70561"/>
                  </a:lnTo>
                  <a:lnTo>
                    <a:pt x="267487" y="70561"/>
                  </a:lnTo>
                  <a:lnTo>
                    <a:pt x="267487" y="70205"/>
                  </a:lnTo>
                  <a:lnTo>
                    <a:pt x="267842" y="70205"/>
                  </a:lnTo>
                  <a:lnTo>
                    <a:pt x="288010" y="66243"/>
                  </a:lnTo>
                  <a:lnTo>
                    <a:pt x="476643" y="58318"/>
                  </a:lnTo>
                  <a:lnTo>
                    <a:pt x="530644" y="57607"/>
                  </a:lnTo>
                  <a:lnTo>
                    <a:pt x="286207" y="58686"/>
                  </a:lnTo>
                  <a:lnTo>
                    <a:pt x="376567" y="64439"/>
                  </a:lnTo>
                  <a:lnTo>
                    <a:pt x="721804" y="74168"/>
                  </a:lnTo>
                  <a:lnTo>
                    <a:pt x="715327" y="74168"/>
                  </a:lnTo>
                  <a:lnTo>
                    <a:pt x="671766" y="82804"/>
                  </a:lnTo>
                  <a:lnTo>
                    <a:pt x="624611" y="102603"/>
                  </a:lnTo>
                  <a:lnTo>
                    <a:pt x="621360" y="104406"/>
                  </a:lnTo>
                  <a:lnTo>
                    <a:pt x="610565" y="107645"/>
                  </a:lnTo>
                  <a:lnTo>
                    <a:pt x="610209" y="107645"/>
                  </a:lnTo>
                  <a:lnTo>
                    <a:pt x="609841" y="107289"/>
                  </a:lnTo>
                  <a:lnTo>
                    <a:pt x="609485" y="107289"/>
                  </a:lnTo>
                  <a:lnTo>
                    <a:pt x="609130" y="106921"/>
                  </a:lnTo>
                  <a:lnTo>
                    <a:pt x="608761" y="106921"/>
                  </a:lnTo>
                  <a:lnTo>
                    <a:pt x="608406" y="106565"/>
                  </a:lnTo>
                  <a:lnTo>
                    <a:pt x="608050" y="106565"/>
                  </a:lnTo>
                  <a:lnTo>
                    <a:pt x="607682" y="106210"/>
                  </a:lnTo>
                  <a:lnTo>
                    <a:pt x="607326" y="106210"/>
                  </a:lnTo>
                  <a:lnTo>
                    <a:pt x="607326" y="105841"/>
                  </a:lnTo>
                  <a:lnTo>
                    <a:pt x="606971" y="105486"/>
                  </a:lnTo>
                  <a:lnTo>
                    <a:pt x="606602" y="105486"/>
                  </a:lnTo>
                  <a:lnTo>
                    <a:pt x="606247" y="105117"/>
                  </a:lnTo>
                  <a:lnTo>
                    <a:pt x="606247" y="104762"/>
                  </a:lnTo>
                  <a:lnTo>
                    <a:pt x="605878" y="104762"/>
                  </a:lnTo>
                  <a:lnTo>
                    <a:pt x="605523" y="104406"/>
                  </a:lnTo>
                  <a:lnTo>
                    <a:pt x="605523" y="104038"/>
                  </a:lnTo>
                  <a:lnTo>
                    <a:pt x="605167" y="103682"/>
                  </a:lnTo>
                  <a:lnTo>
                    <a:pt x="605167" y="103327"/>
                  </a:lnTo>
                  <a:lnTo>
                    <a:pt x="604799" y="102958"/>
                  </a:lnTo>
                  <a:lnTo>
                    <a:pt x="604799" y="102603"/>
                  </a:lnTo>
                  <a:lnTo>
                    <a:pt x="604799" y="102247"/>
                  </a:lnTo>
                  <a:lnTo>
                    <a:pt x="604443" y="102247"/>
                  </a:lnTo>
                  <a:lnTo>
                    <a:pt x="604443" y="101879"/>
                  </a:lnTo>
                  <a:lnTo>
                    <a:pt x="604443" y="101523"/>
                  </a:lnTo>
                  <a:lnTo>
                    <a:pt x="604088" y="100444"/>
                  </a:lnTo>
                  <a:lnTo>
                    <a:pt x="603719" y="99364"/>
                  </a:lnTo>
                  <a:lnTo>
                    <a:pt x="603364" y="98640"/>
                  </a:lnTo>
                  <a:lnTo>
                    <a:pt x="602640" y="97561"/>
                  </a:lnTo>
                  <a:lnTo>
                    <a:pt x="602284" y="96481"/>
                  </a:lnTo>
                  <a:lnTo>
                    <a:pt x="601560" y="95758"/>
                  </a:lnTo>
                  <a:lnTo>
                    <a:pt x="600849" y="95046"/>
                  </a:lnTo>
                  <a:lnTo>
                    <a:pt x="600125" y="93967"/>
                  </a:lnTo>
                  <a:lnTo>
                    <a:pt x="599401" y="93243"/>
                  </a:lnTo>
                  <a:lnTo>
                    <a:pt x="598690" y="92519"/>
                  </a:lnTo>
                  <a:lnTo>
                    <a:pt x="597966" y="91808"/>
                  </a:lnTo>
                  <a:lnTo>
                    <a:pt x="597242" y="91084"/>
                  </a:lnTo>
                  <a:lnTo>
                    <a:pt x="596518" y="90360"/>
                  </a:lnTo>
                  <a:lnTo>
                    <a:pt x="595439" y="89649"/>
                  </a:lnTo>
                  <a:lnTo>
                    <a:pt x="594728" y="89281"/>
                  </a:lnTo>
                  <a:lnTo>
                    <a:pt x="593648" y="88569"/>
                  </a:lnTo>
                  <a:lnTo>
                    <a:pt x="592924" y="88201"/>
                  </a:lnTo>
                  <a:lnTo>
                    <a:pt x="561251" y="80289"/>
                  </a:lnTo>
                  <a:lnTo>
                    <a:pt x="523087" y="74168"/>
                  </a:lnTo>
                  <a:lnTo>
                    <a:pt x="522719" y="74168"/>
                  </a:lnTo>
                  <a:lnTo>
                    <a:pt x="522719" y="73799"/>
                  </a:lnTo>
                  <a:lnTo>
                    <a:pt x="522363" y="73799"/>
                  </a:lnTo>
                  <a:lnTo>
                    <a:pt x="522008" y="73799"/>
                  </a:lnTo>
                  <a:lnTo>
                    <a:pt x="521639" y="73799"/>
                  </a:lnTo>
                  <a:lnTo>
                    <a:pt x="521284" y="73799"/>
                  </a:lnTo>
                  <a:lnTo>
                    <a:pt x="520928" y="74168"/>
                  </a:lnTo>
                  <a:lnTo>
                    <a:pt x="520560" y="74168"/>
                  </a:lnTo>
                  <a:lnTo>
                    <a:pt x="520560" y="74523"/>
                  </a:lnTo>
                  <a:lnTo>
                    <a:pt x="520560" y="74879"/>
                  </a:lnTo>
                  <a:lnTo>
                    <a:pt x="520204" y="74879"/>
                  </a:lnTo>
                  <a:lnTo>
                    <a:pt x="520204" y="75247"/>
                  </a:lnTo>
                  <a:lnTo>
                    <a:pt x="520204" y="75603"/>
                  </a:lnTo>
                  <a:lnTo>
                    <a:pt x="570966" y="96126"/>
                  </a:lnTo>
                  <a:lnTo>
                    <a:pt x="625690" y="105117"/>
                  </a:lnTo>
                  <a:lnTo>
                    <a:pt x="681126" y="114122"/>
                  </a:lnTo>
                  <a:lnTo>
                    <a:pt x="685799" y="115925"/>
                  </a:lnTo>
                  <a:lnTo>
                    <a:pt x="684720" y="117005"/>
                  </a:lnTo>
                  <a:lnTo>
                    <a:pt x="675360" y="118440"/>
                  </a:lnTo>
                  <a:lnTo>
                    <a:pt x="650163" y="119888"/>
                  </a:lnTo>
                  <a:lnTo>
                    <a:pt x="620649" y="121678"/>
                  </a:lnTo>
                  <a:lnTo>
                    <a:pt x="552602" y="130683"/>
                  </a:lnTo>
                  <a:lnTo>
                    <a:pt x="550799" y="131406"/>
                  </a:lnTo>
                  <a:lnTo>
                    <a:pt x="551522" y="132118"/>
                  </a:lnTo>
                  <a:lnTo>
                    <a:pt x="558368" y="133210"/>
                  </a:lnTo>
                  <a:lnTo>
                    <a:pt x="576719" y="134289"/>
                  </a:lnTo>
                  <a:lnTo>
                    <a:pt x="591489" y="133921"/>
                  </a:lnTo>
                  <a:lnTo>
                    <a:pt x="596887" y="133210"/>
                  </a:lnTo>
                  <a:lnTo>
                    <a:pt x="602284" y="133210"/>
                  </a:lnTo>
                  <a:lnTo>
                    <a:pt x="607682" y="133210"/>
                  </a:lnTo>
                  <a:lnTo>
                    <a:pt x="613079" y="133565"/>
                  </a:lnTo>
                  <a:lnTo>
                    <a:pt x="618845" y="133921"/>
                  </a:lnTo>
                  <a:lnTo>
                    <a:pt x="638644" y="138963"/>
                  </a:lnTo>
                  <a:lnTo>
                    <a:pt x="639724" y="139687"/>
                  </a:lnTo>
                  <a:lnTo>
                    <a:pt x="640803" y="140398"/>
                  </a:lnTo>
                  <a:lnTo>
                    <a:pt x="641527" y="141122"/>
                  </a:lnTo>
                  <a:lnTo>
                    <a:pt x="642607" y="141846"/>
                  </a:lnTo>
                  <a:lnTo>
                    <a:pt x="643686" y="142925"/>
                  </a:lnTo>
                  <a:lnTo>
                    <a:pt x="644410" y="143649"/>
                  </a:lnTo>
                  <a:lnTo>
                    <a:pt x="645121" y="144729"/>
                  </a:lnTo>
                  <a:lnTo>
                    <a:pt x="645845" y="145808"/>
                  </a:lnTo>
                  <a:lnTo>
                    <a:pt x="646925" y="146519"/>
                  </a:lnTo>
                  <a:lnTo>
                    <a:pt x="647280" y="147599"/>
                  </a:lnTo>
                  <a:lnTo>
                    <a:pt x="648004" y="148678"/>
                  </a:lnTo>
                  <a:lnTo>
                    <a:pt x="648728" y="149758"/>
                  </a:lnTo>
                  <a:lnTo>
                    <a:pt x="649439" y="150837"/>
                  </a:lnTo>
                  <a:lnTo>
                    <a:pt x="649808" y="152285"/>
                  </a:lnTo>
                  <a:lnTo>
                    <a:pt x="650163" y="153365"/>
                  </a:lnTo>
                  <a:lnTo>
                    <a:pt x="650519" y="154444"/>
                  </a:lnTo>
                  <a:lnTo>
                    <a:pt x="650887" y="155524"/>
                  </a:lnTo>
                  <a:lnTo>
                    <a:pt x="651243" y="156959"/>
                  </a:lnTo>
                  <a:lnTo>
                    <a:pt x="651598" y="158038"/>
                  </a:lnTo>
                  <a:lnTo>
                    <a:pt x="651598" y="159486"/>
                  </a:lnTo>
                  <a:lnTo>
                    <a:pt x="651967" y="160566"/>
                  </a:lnTo>
                  <a:lnTo>
                    <a:pt x="651967" y="162001"/>
                  </a:lnTo>
                  <a:lnTo>
                    <a:pt x="651967" y="163080"/>
                  </a:lnTo>
                  <a:lnTo>
                    <a:pt x="651598" y="166687"/>
                  </a:lnTo>
                  <a:lnTo>
                    <a:pt x="651598" y="171729"/>
                  </a:lnTo>
                  <a:lnTo>
                    <a:pt x="651243" y="177126"/>
                  </a:lnTo>
                  <a:lnTo>
                    <a:pt x="645490" y="205206"/>
                  </a:lnTo>
                  <a:lnTo>
                    <a:pt x="645121" y="206641"/>
                  </a:lnTo>
                  <a:lnTo>
                    <a:pt x="644410" y="208089"/>
                  </a:lnTo>
                  <a:lnTo>
                    <a:pt x="643686" y="209524"/>
                  </a:lnTo>
                  <a:lnTo>
                    <a:pt x="642962" y="210959"/>
                  </a:lnTo>
                  <a:lnTo>
                    <a:pt x="642238" y="212407"/>
                  </a:lnTo>
                  <a:lnTo>
                    <a:pt x="641159" y="213842"/>
                  </a:lnTo>
                  <a:lnTo>
                    <a:pt x="639000" y="216725"/>
                  </a:lnTo>
                  <a:lnTo>
                    <a:pt x="638644" y="216725"/>
                  </a:lnTo>
                  <a:lnTo>
                    <a:pt x="638644" y="217081"/>
                  </a:lnTo>
                  <a:lnTo>
                    <a:pt x="638289" y="217449"/>
                  </a:lnTo>
                  <a:lnTo>
                    <a:pt x="637921" y="217449"/>
                  </a:lnTo>
                  <a:lnTo>
                    <a:pt x="637565" y="217805"/>
                  </a:lnTo>
                  <a:lnTo>
                    <a:pt x="637209" y="217805"/>
                  </a:lnTo>
                  <a:lnTo>
                    <a:pt x="636841" y="217805"/>
                  </a:lnTo>
                  <a:lnTo>
                    <a:pt x="636485" y="218160"/>
                  </a:lnTo>
                  <a:lnTo>
                    <a:pt x="636130" y="218160"/>
                  </a:lnTo>
                  <a:lnTo>
                    <a:pt x="635761" y="217805"/>
                  </a:lnTo>
                  <a:lnTo>
                    <a:pt x="635406" y="217805"/>
                  </a:lnTo>
                  <a:lnTo>
                    <a:pt x="635050" y="217805"/>
                  </a:lnTo>
                  <a:lnTo>
                    <a:pt x="634682" y="217805"/>
                  </a:lnTo>
                  <a:lnTo>
                    <a:pt x="634682" y="217449"/>
                  </a:lnTo>
                  <a:lnTo>
                    <a:pt x="631088" y="209880"/>
                  </a:lnTo>
                  <a:lnTo>
                    <a:pt x="628929" y="196202"/>
                  </a:lnTo>
                  <a:lnTo>
                    <a:pt x="627481" y="182524"/>
                  </a:lnTo>
                  <a:lnTo>
                    <a:pt x="626770" y="168846"/>
                  </a:lnTo>
                  <a:lnTo>
                    <a:pt x="627849" y="133210"/>
                  </a:lnTo>
                  <a:lnTo>
                    <a:pt x="628561" y="108000"/>
                  </a:lnTo>
                  <a:lnTo>
                    <a:pt x="628205" y="102247"/>
                  </a:lnTo>
                  <a:lnTo>
                    <a:pt x="628205" y="96837"/>
                  </a:lnTo>
                  <a:lnTo>
                    <a:pt x="628561" y="91084"/>
                  </a:lnTo>
                  <a:lnTo>
                    <a:pt x="629285" y="85686"/>
                  </a:lnTo>
                  <a:lnTo>
                    <a:pt x="630008" y="80289"/>
                  </a:lnTo>
                  <a:lnTo>
                    <a:pt x="641159" y="45008"/>
                  </a:lnTo>
                  <a:lnTo>
                    <a:pt x="641159" y="44640"/>
                  </a:lnTo>
                  <a:lnTo>
                    <a:pt x="641159" y="44284"/>
                  </a:lnTo>
                  <a:lnTo>
                    <a:pt x="641527" y="44284"/>
                  </a:lnTo>
                  <a:lnTo>
                    <a:pt x="641527" y="43929"/>
                  </a:lnTo>
                  <a:lnTo>
                    <a:pt x="641883" y="43561"/>
                  </a:lnTo>
                  <a:lnTo>
                    <a:pt x="641883" y="43205"/>
                  </a:lnTo>
                  <a:lnTo>
                    <a:pt x="642238" y="42849"/>
                  </a:lnTo>
                  <a:lnTo>
                    <a:pt x="642238" y="42481"/>
                  </a:lnTo>
                  <a:lnTo>
                    <a:pt x="642607" y="42125"/>
                  </a:lnTo>
                  <a:lnTo>
                    <a:pt x="642962" y="42125"/>
                  </a:lnTo>
                  <a:lnTo>
                    <a:pt x="642962" y="41757"/>
                  </a:lnTo>
                  <a:lnTo>
                    <a:pt x="643331" y="41402"/>
                  </a:lnTo>
                  <a:lnTo>
                    <a:pt x="643686" y="41046"/>
                  </a:lnTo>
                  <a:lnTo>
                    <a:pt x="644042" y="41046"/>
                  </a:lnTo>
                  <a:lnTo>
                    <a:pt x="644410" y="40678"/>
                  </a:lnTo>
                  <a:lnTo>
                    <a:pt x="644766" y="40322"/>
                  </a:lnTo>
                  <a:lnTo>
                    <a:pt x="645121" y="40322"/>
                  </a:lnTo>
                  <a:lnTo>
                    <a:pt x="645490" y="39966"/>
                  </a:lnTo>
                  <a:lnTo>
                    <a:pt x="645845" y="39966"/>
                  </a:lnTo>
                  <a:lnTo>
                    <a:pt x="646201" y="39598"/>
                  </a:lnTo>
                  <a:lnTo>
                    <a:pt x="646569" y="39598"/>
                  </a:lnTo>
                  <a:lnTo>
                    <a:pt x="646925" y="39598"/>
                  </a:lnTo>
                  <a:lnTo>
                    <a:pt x="647280" y="39598"/>
                  </a:lnTo>
                  <a:lnTo>
                    <a:pt x="647649" y="39243"/>
                  </a:lnTo>
                  <a:lnTo>
                    <a:pt x="650519" y="39243"/>
                  </a:lnTo>
                  <a:lnTo>
                    <a:pt x="650887" y="39598"/>
                  </a:lnTo>
                  <a:lnTo>
                    <a:pt x="651243" y="39598"/>
                  </a:lnTo>
                  <a:lnTo>
                    <a:pt x="651598" y="39598"/>
                  </a:lnTo>
                  <a:lnTo>
                    <a:pt x="651967" y="39598"/>
                  </a:lnTo>
                  <a:lnTo>
                    <a:pt x="652322" y="39966"/>
                  </a:lnTo>
                  <a:lnTo>
                    <a:pt x="652691" y="39966"/>
                  </a:lnTo>
                  <a:lnTo>
                    <a:pt x="653046" y="40322"/>
                  </a:lnTo>
                  <a:lnTo>
                    <a:pt x="653402" y="40322"/>
                  </a:lnTo>
                  <a:lnTo>
                    <a:pt x="653770" y="40678"/>
                  </a:lnTo>
                  <a:lnTo>
                    <a:pt x="654126" y="40678"/>
                  </a:lnTo>
                  <a:lnTo>
                    <a:pt x="654126" y="41046"/>
                  </a:lnTo>
                  <a:lnTo>
                    <a:pt x="654481" y="41402"/>
                  </a:lnTo>
                  <a:lnTo>
                    <a:pt x="654850" y="41402"/>
                  </a:lnTo>
                  <a:lnTo>
                    <a:pt x="655205" y="41757"/>
                  </a:lnTo>
                  <a:lnTo>
                    <a:pt x="655205" y="42125"/>
                  </a:lnTo>
                  <a:lnTo>
                    <a:pt x="655561" y="42481"/>
                  </a:lnTo>
                  <a:lnTo>
                    <a:pt x="655929" y="42481"/>
                  </a:lnTo>
                  <a:lnTo>
                    <a:pt x="655929" y="42849"/>
                  </a:lnTo>
                  <a:lnTo>
                    <a:pt x="656285" y="43205"/>
                  </a:lnTo>
                  <a:lnTo>
                    <a:pt x="656285" y="43561"/>
                  </a:lnTo>
                  <a:lnTo>
                    <a:pt x="656640" y="43929"/>
                  </a:lnTo>
                  <a:lnTo>
                    <a:pt x="656640" y="44284"/>
                  </a:lnTo>
                  <a:lnTo>
                    <a:pt x="657009" y="45008"/>
                  </a:lnTo>
                  <a:lnTo>
                    <a:pt x="659168" y="48602"/>
                  </a:lnTo>
                  <a:lnTo>
                    <a:pt x="661327" y="52209"/>
                  </a:lnTo>
                  <a:lnTo>
                    <a:pt x="663130" y="55803"/>
                  </a:lnTo>
                  <a:lnTo>
                    <a:pt x="667080" y="66243"/>
                  </a:lnTo>
                  <a:lnTo>
                    <a:pt x="667448" y="66967"/>
                  </a:lnTo>
                  <a:lnTo>
                    <a:pt x="680770" y="108000"/>
                  </a:lnTo>
                  <a:lnTo>
                    <a:pt x="690130" y="173888"/>
                  </a:lnTo>
                  <a:lnTo>
                    <a:pt x="689051" y="57238"/>
                  </a:lnTo>
                  <a:lnTo>
                    <a:pt x="689051" y="77406"/>
                  </a:lnTo>
                  <a:lnTo>
                    <a:pt x="690130" y="97561"/>
                  </a:lnTo>
                  <a:lnTo>
                    <a:pt x="698042" y="156603"/>
                  </a:lnTo>
                  <a:lnTo>
                    <a:pt x="701281" y="167767"/>
                  </a:lnTo>
                  <a:lnTo>
                    <a:pt x="701281" y="167398"/>
                  </a:lnTo>
                  <a:lnTo>
                    <a:pt x="701281" y="167043"/>
                  </a:lnTo>
                  <a:lnTo>
                    <a:pt x="701281" y="166687"/>
                  </a:lnTo>
                  <a:lnTo>
                    <a:pt x="701649" y="166687"/>
                  </a:lnTo>
                  <a:lnTo>
                    <a:pt x="701649" y="166319"/>
                  </a:lnTo>
                  <a:lnTo>
                    <a:pt x="702005" y="166319"/>
                  </a:lnTo>
                  <a:lnTo>
                    <a:pt x="702360" y="166319"/>
                  </a:lnTo>
                  <a:lnTo>
                    <a:pt x="702729" y="166319"/>
                  </a:lnTo>
                  <a:lnTo>
                    <a:pt x="702729" y="166687"/>
                  </a:lnTo>
                  <a:lnTo>
                    <a:pt x="703084" y="166687"/>
                  </a:lnTo>
                  <a:lnTo>
                    <a:pt x="704519" y="146519"/>
                  </a:lnTo>
                  <a:lnTo>
                    <a:pt x="703440" y="104406"/>
                  </a:lnTo>
                  <a:lnTo>
                    <a:pt x="702360" y="87477"/>
                  </a:lnTo>
                  <a:lnTo>
                    <a:pt x="702005" y="70205"/>
                  </a:lnTo>
                  <a:lnTo>
                    <a:pt x="702360" y="52920"/>
                  </a:lnTo>
                  <a:lnTo>
                    <a:pt x="706678" y="10807"/>
                  </a:lnTo>
                  <a:lnTo>
                    <a:pt x="710285" y="368"/>
                  </a:lnTo>
                  <a:lnTo>
                    <a:pt x="710641" y="368"/>
                  </a:lnTo>
                  <a:lnTo>
                    <a:pt x="710641" y="0"/>
                  </a:lnTo>
                  <a:lnTo>
                    <a:pt x="712444" y="0"/>
                  </a:lnTo>
                  <a:lnTo>
                    <a:pt x="712444" y="368"/>
                  </a:lnTo>
                  <a:lnTo>
                    <a:pt x="712800" y="368"/>
                  </a:lnTo>
                  <a:lnTo>
                    <a:pt x="712800" y="723"/>
                  </a:lnTo>
                  <a:lnTo>
                    <a:pt x="713168" y="723"/>
                  </a:lnTo>
                  <a:lnTo>
                    <a:pt x="713168" y="1079"/>
                  </a:lnTo>
                  <a:lnTo>
                    <a:pt x="713524" y="1079"/>
                  </a:lnTo>
                  <a:lnTo>
                    <a:pt x="713524" y="1447"/>
                  </a:lnTo>
                  <a:lnTo>
                    <a:pt x="713524" y="1803"/>
                  </a:lnTo>
                  <a:lnTo>
                    <a:pt x="713524" y="2159"/>
                  </a:lnTo>
                  <a:lnTo>
                    <a:pt x="717486" y="22326"/>
                  </a:lnTo>
                  <a:lnTo>
                    <a:pt x="719645" y="144005"/>
                  </a:lnTo>
                  <a:lnTo>
                    <a:pt x="719289" y="186486"/>
                  </a:lnTo>
                  <a:lnTo>
                    <a:pt x="719289" y="192963"/>
                  </a:lnTo>
                  <a:lnTo>
                    <a:pt x="719289" y="199809"/>
                  </a:lnTo>
                  <a:lnTo>
                    <a:pt x="718566" y="206641"/>
                  </a:lnTo>
                  <a:lnTo>
                    <a:pt x="710641" y="242277"/>
                  </a:lnTo>
                  <a:lnTo>
                    <a:pt x="709929" y="244081"/>
                  </a:lnTo>
                  <a:lnTo>
                    <a:pt x="709206" y="245884"/>
                  </a:lnTo>
                  <a:lnTo>
                    <a:pt x="708126" y="247688"/>
                  </a:lnTo>
                  <a:lnTo>
                    <a:pt x="707047" y="249478"/>
                  </a:lnTo>
                  <a:lnTo>
                    <a:pt x="705967" y="251282"/>
                  </a:lnTo>
                  <a:lnTo>
                    <a:pt x="704888" y="252730"/>
                  </a:lnTo>
                  <a:lnTo>
                    <a:pt x="703440" y="254165"/>
                  </a:lnTo>
                  <a:lnTo>
                    <a:pt x="702005" y="255968"/>
                  </a:lnTo>
                  <a:lnTo>
                    <a:pt x="700570" y="257403"/>
                  </a:lnTo>
                  <a:lnTo>
                    <a:pt x="699122" y="258483"/>
                  </a:lnTo>
                  <a:lnTo>
                    <a:pt x="697687" y="259918"/>
                  </a:lnTo>
                  <a:lnTo>
                    <a:pt x="696239" y="261366"/>
                  </a:lnTo>
                  <a:lnTo>
                    <a:pt x="694448" y="262445"/>
                  </a:lnTo>
                  <a:lnTo>
                    <a:pt x="693000" y="263525"/>
                  </a:lnTo>
                  <a:lnTo>
                    <a:pt x="691210" y="264604"/>
                  </a:lnTo>
                  <a:lnTo>
                    <a:pt x="689406" y="265328"/>
                  </a:lnTo>
                  <a:lnTo>
                    <a:pt x="687603" y="266407"/>
                  </a:lnTo>
                  <a:lnTo>
                    <a:pt x="685799" y="267119"/>
                  </a:lnTo>
                  <a:lnTo>
                    <a:pt x="684009" y="267843"/>
                  </a:lnTo>
                  <a:lnTo>
                    <a:pt x="681850" y="268566"/>
                  </a:lnTo>
                  <a:lnTo>
                    <a:pt x="680046" y="268922"/>
                  </a:lnTo>
                  <a:lnTo>
                    <a:pt x="674649" y="270002"/>
                  </a:lnTo>
                  <a:lnTo>
                    <a:pt x="672122" y="270725"/>
                  </a:lnTo>
                  <a:lnTo>
                    <a:pt x="669963" y="271081"/>
                  </a:lnTo>
                  <a:lnTo>
                    <a:pt x="667804" y="271081"/>
                  </a:lnTo>
                  <a:lnTo>
                    <a:pt x="665645" y="271449"/>
                  </a:lnTo>
                  <a:lnTo>
                    <a:pt x="663130" y="271449"/>
                  </a:lnTo>
                  <a:lnTo>
                    <a:pt x="660958" y="271081"/>
                  </a:lnTo>
                  <a:lnTo>
                    <a:pt x="658799" y="271081"/>
                  </a:lnTo>
                  <a:lnTo>
                    <a:pt x="656640" y="270725"/>
                  </a:lnTo>
                  <a:lnTo>
                    <a:pt x="654126" y="270357"/>
                  </a:lnTo>
                  <a:lnTo>
                    <a:pt x="651967" y="270002"/>
                  </a:lnTo>
                  <a:lnTo>
                    <a:pt x="649808" y="269278"/>
                  </a:lnTo>
                  <a:lnTo>
                    <a:pt x="647649" y="268922"/>
                  </a:lnTo>
                  <a:lnTo>
                    <a:pt x="645490" y="268198"/>
                  </a:lnTo>
                  <a:lnTo>
                    <a:pt x="643331" y="267119"/>
                  </a:lnTo>
                  <a:lnTo>
                    <a:pt x="641159" y="266407"/>
                  </a:lnTo>
                  <a:lnTo>
                    <a:pt x="639368" y="265328"/>
                  </a:lnTo>
                  <a:lnTo>
                    <a:pt x="637209" y="264248"/>
                  </a:lnTo>
                  <a:lnTo>
                    <a:pt x="633247" y="261366"/>
                  </a:lnTo>
                  <a:lnTo>
                    <a:pt x="622084" y="249847"/>
                  </a:lnTo>
                  <a:lnTo>
                    <a:pt x="619925" y="247319"/>
                  </a:lnTo>
                  <a:lnTo>
                    <a:pt x="603719" y="204482"/>
                  </a:lnTo>
                  <a:lnTo>
                    <a:pt x="597242" y="140042"/>
                  </a:lnTo>
                  <a:lnTo>
                    <a:pt x="597242" y="128168"/>
                  </a:lnTo>
                  <a:lnTo>
                    <a:pt x="597242" y="105117"/>
                  </a:lnTo>
                  <a:lnTo>
                    <a:pt x="596887" y="99364"/>
                  </a:lnTo>
                  <a:lnTo>
                    <a:pt x="595083" y="101523"/>
                  </a:lnTo>
                  <a:lnTo>
                    <a:pt x="559079" y="262445"/>
                  </a:lnTo>
                  <a:lnTo>
                    <a:pt x="557999" y="267843"/>
                  </a:lnTo>
                  <a:lnTo>
                    <a:pt x="557288" y="273240"/>
                  </a:lnTo>
                  <a:lnTo>
                    <a:pt x="555840" y="278282"/>
                  </a:lnTo>
                  <a:lnTo>
                    <a:pt x="554405" y="283679"/>
                  </a:lnTo>
                  <a:lnTo>
                    <a:pt x="552602" y="288721"/>
                  </a:lnTo>
                  <a:lnTo>
                    <a:pt x="550799" y="293763"/>
                  </a:lnTo>
                  <a:lnTo>
                    <a:pt x="545045" y="306362"/>
                  </a:lnTo>
                  <a:lnTo>
                    <a:pt x="545045" y="306717"/>
                  </a:lnTo>
                  <a:lnTo>
                    <a:pt x="544690" y="306717"/>
                  </a:lnTo>
                  <a:lnTo>
                    <a:pt x="544690" y="307086"/>
                  </a:lnTo>
                  <a:lnTo>
                    <a:pt x="544690" y="307441"/>
                  </a:lnTo>
                  <a:lnTo>
                    <a:pt x="544321" y="307809"/>
                  </a:lnTo>
                  <a:lnTo>
                    <a:pt x="544321" y="308165"/>
                  </a:lnTo>
                  <a:lnTo>
                    <a:pt x="543966" y="308165"/>
                  </a:lnTo>
                  <a:lnTo>
                    <a:pt x="543966" y="308521"/>
                  </a:lnTo>
                  <a:lnTo>
                    <a:pt x="543610" y="308889"/>
                  </a:lnTo>
                  <a:lnTo>
                    <a:pt x="543242" y="309245"/>
                  </a:lnTo>
                  <a:lnTo>
                    <a:pt x="542886" y="309245"/>
                  </a:lnTo>
                  <a:lnTo>
                    <a:pt x="542886" y="309600"/>
                  </a:lnTo>
                  <a:lnTo>
                    <a:pt x="542531" y="309600"/>
                  </a:lnTo>
                  <a:lnTo>
                    <a:pt x="542163" y="309968"/>
                  </a:lnTo>
                  <a:lnTo>
                    <a:pt x="541807" y="309968"/>
                  </a:lnTo>
                  <a:lnTo>
                    <a:pt x="541807" y="310324"/>
                  </a:lnTo>
                  <a:lnTo>
                    <a:pt x="541439" y="310324"/>
                  </a:lnTo>
                  <a:lnTo>
                    <a:pt x="541083" y="310324"/>
                  </a:lnTo>
                  <a:lnTo>
                    <a:pt x="538200" y="310324"/>
                  </a:lnTo>
                  <a:lnTo>
                    <a:pt x="537844" y="309968"/>
                  </a:lnTo>
                  <a:lnTo>
                    <a:pt x="537489" y="309968"/>
                  </a:lnTo>
                  <a:lnTo>
                    <a:pt x="537121" y="309600"/>
                  </a:lnTo>
                  <a:lnTo>
                    <a:pt x="536409" y="309245"/>
                  </a:lnTo>
                  <a:lnTo>
                    <a:pt x="524891" y="255600"/>
                  </a:lnTo>
                  <a:lnTo>
                    <a:pt x="522719" y="171361"/>
                  </a:lnTo>
                  <a:lnTo>
                    <a:pt x="522719" y="153365"/>
                  </a:lnTo>
                  <a:lnTo>
                    <a:pt x="523087" y="141846"/>
                  </a:lnTo>
                  <a:lnTo>
                    <a:pt x="523087" y="140766"/>
                  </a:lnTo>
                  <a:lnTo>
                    <a:pt x="523087" y="142201"/>
                  </a:lnTo>
                  <a:lnTo>
                    <a:pt x="523443" y="161290"/>
                  </a:lnTo>
                  <a:lnTo>
                    <a:pt x="524522" y="186842"/>
                  </a:lnTo>
                  <a:lnTo>
                    <a:pt x="525602" y="199809"/>
                  </a:lnTo>
                  <a:lnTo>
                    <a:pt x="525970" y="212407"/>
                  </a:lnTo>
                  <a:lnTo>
                    <a:pt x="525602" y="225361"/>
                  </a:lnTo>
                  <a:lnTo>
                    <a:pt x="524891" y="237959"/>
                  </a:lnTo>
                  <a:lnTo>
                    <a:pt x="521639" y="264604"/>
                  </a:lnTo>
                  <a:lnTo>
                    <a:pt x="521284" y="264604"/>
                  </a:lnTo>
                  <a:lnTo>
                    <a:pt x="521284" y="264248"/>
                  </a:lnTo>
                  <a:lnTo>
                    <a:pt x="520928" y="263880"/>
                  </a:lnTo>
                  <a:lnTo>
                    <a:pt x="520560" y="263880"/>
                  </a:lnTo>
                  <a:lnTo>
                    <a:pt x="520560" y="263525"/>
                  </a:lnTo>
                  <a:lnTo>
                    <a:pt x="520204" y="263525"/>
                  </a:lnTo>
                  <a:lnTo>
                    <a:pt x="519849" y="263525"/>
                  </a:lnTo>
                  <a:lnTo>
                    <a:pt x="519480" y="263525"/>
                  </a:lnTo>
                  <a:lnTo>
                    <a:pt x="519125" y="263525"/>
                  </a:lnTo>
                  <a:lnTo>
                    <a:pt x="518769" y="263525"/>
                  </a:lnTo>
                  <a:lnTo>
                    <a:pt x="518769" y="263880"/>
                  </a:lnTo>
                  <a:lnTo>
                    <a:pt x="518401" y="263880"/>
                  </a:lnTo>
                  <a:lnTo>
                    <a:pt x="518401" y="264248"/>
                  </a:lnTo>
                  <a:lnTo>
                    <a:pt x="518045" y="264248"/>
                  </a:lnTo>
                  <a:lnTo>
                    <a:pt x="518045" y="264604"/>
                  </a:lnTo>
                  <a:lnTo>
                    <a:pt x="517690" y="264604"/>
                  </a:lnTo>
                  <a:lnTo>
                    <a:pt x="517690" y="264960"/>
                  </a:lnTo>
                  <a:lnTo>
                    <a:pt x="515162" y="254165"/>
                  </a:lnTo>
                  <a:lnTo>
                    <a:pt x="511200" y="179641"/>
                  </a:lnTo>
                  <a:lnTo>
                    <a:pt x="507961" y="109448"/>
                  </a:lnTo>
                  <a:lnTo>
                    <a:pt x="506882" y="106921"/>
                  </a:lnTo>
                  <a:lnTo>
                    <a:pt x="486727" y="150482"/>
                  </a:lnTo>
                  <a:lnTo>
                    <a:pt x="471970" y="195478"/>
                  </a:lnTo>
                  <a:lnTo>
                    <a:pt x="463321" y="222846"/>
                  </a:lnTo>
                  <a:lnTo>
                    <a:pt x="455764" y="240842"/>
                  </a:lnTo>
                  <a:lnTo>
                    <a:pt x="455764" y="240487"/>
                  </a:lnTo>
                  <a:lnTo>
                    <a:pt x="455764" y="240118"/>
                  </a:lnTo>
                  <a:lnTo>
                    <a:pt x="455409" y="240118"/>
                  </a:lnTo>
                  <a:lnTo>
                    <a:pt x="455409" y="239763"/>
                  </a:lnTo>
                  <a:lnTo>
                    <a:pt x="455041" y="239763"/>
                  </a:lnTo>
                  <a:lnTo>
                    <a:pt x="455041" y="239407"/>
                  </a:lnTo>
                  <a:lnTo>
                    <a:pt x="452881" y="239407"/>
                  </a:lnTo>
                  <a:lnTo>
                    <a:pt x="452881" y="239763"/>
                  </a:lnTo>
                  <a:lnTo>
                    <a:pt x="452526" y="239763"/>
                  </a:lnTo>
                  <a:lnTo>
                    <a:pt x="452526" y="240118"/>
                  </a:lnTo>
                  <a:lnTo>
                    <a:pt x="452170" y="240118"/>
                  </a:lnTo>
                  <a:lnTo>
                    <a:pt x="452170" y="240487"/>
                  </a:lnTo>
                  <a:lnTo>
                    <a:pt x="451802" y="240487"/>
                  </a:lnTo>
                  <a:lnTo>
                    <a:pt x="452526" y="228244"/>
                  </a:lnTo>
                  <a:lnTo>
                    <a:pt x="453250" y="215646"/>
                  </a:lnTo>
                  <a:lnTo>
                    <a:pt x="454685" y="203403"/>
                  </a:lnTo>
                  <a:lnTo>
                    <a:pt x="456844" y="191160"/>
                  </a:lnTo>
                  <a:lnTo>
                    <a:pt x="465480" y="156248"/>
                  </a:lnTo>
                  <a:lnTo>
                    <a:pt x="468363" y="145808"/>
                  </a:lnTo>
                  <a:lnTo>
                    <a:pt x="470522" y="135724"/>
                  </a:lnTo>
                  <a:lnTo>
                    <a:pt x="473405" y="126009"/>
                  </a:lnTo>
                  <a:lnTo>
                    <a:pt x="476288" y="116281"/>
                  </a:lnTo>
                  <a:lnTo>
                    <a:pt x="479882" y="106565"/>
                  </a:lnTo>
                  <a:lnTo>
                    <a:pt x="489610" y="85686"/>
                  </a:lnTo>
                  <a:lnTo>
                    <a:pt x="489610" y="85318"/>
                  </a:lnTo>
                  <a:lnTo>
                    <a:pt x="489966" y="84607"/>
                  </a:lnTo>
                  <a:lnTo>
                    <a:pt x="489966" y="84239"/>
                  </a:lnTo>
                  <a:lnTo>
                    <a:pt x="490321" y="83883"/>
                  </a:lnTo>
                  <a:lnTo>
                    <a:pt x="490321" y="83527"/>
                  </a:lnTo>
                  <a:lnTo>
                    <a:pt x="490689" y="83159"/>
                  </a:lnTo>
                  <a:lnTo>
                    <a:pt x="491045" y="82804"/>
                  </a:lnTo>
                  <a:lnTo>
                    <a:pt x="491045" y="82448"/>
                  </a:lnTo>
                  <a:lnTo>
                    <a:pt x="491401" y="82448"/>
                  </a:lnTo>
                  <a:lnTo>
                    <a:pt x="491769" y="82080"/>
                  </a:lnTo>
                  <a:lnTo>
                    <a:pt x="492124" y="81724"/>
                  </a:lnTo>
                  <a:lnTo>
                    <a:pt x="492480" y="81368"/>
                  </a:lnTo>
                  <a:lnTo>
                    <a:pt x="492848" y="81000"/>
                  </a:lnTo>
                  <a:lnTo>
                    <a:pt x="492848" y="80645"/>
                  </a:lnTo>
                  <a:lnTo>
                    <a:pt x="493204" y="80645"/>
                  </a:lnTo>
                  <a:lnTo>
                    <a:pt x="493560" y="80289"/>
                  </a:lnTo>
                  <a:lnTo>
                    <a:pt x="493928" y="80289"/>
                  </a:lnTo>
                  <a:lnTo>
                    <a:pt x="494283" y="79921"/>
                  </a:lnTo>
                  <a:lnTo>
                    <a:pt x="494639" y="79565"/>
                  </a:lnTo>
                  <a:lnTo>
                    <a:pt x="495363" y="79565"/>
                  </a:lnTo>
                  <a:lnTo>
                    <a:pt x="495719" y="79565"/>
                  </a:lnTo>
                  <a:lnTo>
                    <a:pt x="496087" y="79209"/>
                  </a:lnTo>
                  <a:lnTo>
                    <a:pt x="496442" y="79209"/>
                  </a:lnTo>
                  <a:lnTo>
                    <a:pt x="496811" y="79209"/>
                  </a:lnTo>
                  <a:lnTo>
                    <a:pt x="497166" y="78841"/>
                  </a:lnTo>
                  <a:lnTo>
                    <a:pt x="498246" y="78841"/>
                  </a:lnTo>
                  <a:lnTo>
                    <a:pt x="498602" y="79209"/>
                  </a:lnTo>
                  <a:lnTo>
                    <a:pt x="498970" y="79565"/>
                  </a:lnTo>
                  <a:lnTo>
                    <a:pt x="499681" y="79565"/>
                  </a:lnTo>
                  <a:lnTo>
                    <a:pt x="500049" y="79921"/>
                  </a:lnTo>
                  <a:lnTo>
                    <a:pt x="500405" y="80289"/>
                  </a:lnTo>
                  <a:lnTo>
                    <a:pt x="500760" y="80645"/>
                  </a:lnTo>
                  <a:lnTo>
                    <a:pt x="501129" y="81000"/>
                  </a:lnTo>
                  <a:lnTo>
                    <a:pt x="501484" y="81368"/>
                  </a:lnTo>
                  <a:lnTo>
                    <a:pt x="501840" y="82080"/>
                  </a:lnTo>
                  <a:lnTo>
                    <a:pt x="502208" y="82448"/>
                  </a:lnTo>
                  <a:lnTo>
                    <a:pt x="502564" y="82804"/>
                  </a:lnTo>
                  <a:lnTo>
                    <a:pt x="502564" y="83159"/>
                  </a:lnTo>
                  <a:lnTo>
                    <a:pt x="502919" y="83527"/>
                  </a:lnTo>
                  <a:lnTo>
                    <a:pt x="503288" y="84239"/>
                  </a:lnTo>
                  <a:lnTo>
                    <a:pt x="503288" y="84607"/>
                  </a:lnTo>
                  <a:lnTo>
                    <a:pt x="503643" y="84963"/>
                  </a:lnTo>
                  <a:lnTo>
                    <a:pt x="503643" y="85686"/>
                  </a:lnTo>
                  <a:lnTo>
                    <a:pt x="503999" y="86042"/>
                  </a:lnTo>
                  <a:lnTo>
                    <a:pt x="503999" y="86766"/>
                  </a:lnTo>
                  <a:lnTo>
                    <a:pt x="504367" y="87845"/>
                  </a:lnTo>
                  <a:lnTo>
                    <a:pt x="506171" y="96481"/>
                  </a:lnTo>
                  <a:lnTo>
                    <a:pt x="507606" y="105117"/>
                  </a:lnTo>
                  <a:lnTo>
                    <a:pt x="510120" y="128524"/>
                  </a:lnTo>
                  <a:lnTo>
                    <a:pt x="514083" y="161645"/>
                  </a:lnTo>
                  <a:lnTo>
                    <a:pt x="514083" y="162725"/>
                  </a:lnTo>
                  <a:lnTo>
                    <a:pt x="514438" y="163449"/>
                  </a:lnTo>
                  <a:lnTo>
                    <a:pt x="514807" y="164528"/>
                  </a:lnTo>
                  <a:lnTo>
                    <a:pt x="514807" y="165608"/>
                  </a:lnTo>
                  <a:lnTo>
                    <a:pt x="515162" y="166319"/>
                  </a:lnTo>
                  <a:lnTo>
                    <a:pt x="515531" y="167398"/>
                  </a:lnTo>
                  <a:lnTo>
                    <a:pt x="515886" y="168122"/>
                  </a:lnTo>
                  <a:lnTo>
                    <a:pt x="516242" y="169202"/>
                  </a:lnTo>
                  <a:lnTo>
                    <a:pt x="516966" y="169926"/>
                  </a:lnTo>
                  <a:lnTo>
                    <a:pt x="517321" y="170649"/>
                  </a:lnTo>
                  <a:lnTo>
                    <a:pt x="517690" y="171729"/>
                  </a:lnTo>
                  <a:lnTo>
                    <a:pt x="519480" y="173888"/>
                  </a:lnTo>
                  <a:lnTo>
                    <a:pt x="519849" y="173888"/>
                  </a:lnTo>
                  <a:lnTo>
                    <a:pt x="519849" y="174244"/>
                  </a:lnTo>
                  <a:lnTo>
                    <a:pt x="520204" y="174244"/>
                  </a:lnTo>
                  <a:lnTo>
                    <a:pt x="520560" y="174599"/>
                  </a:lnTo>
                  <a:lnTo>
                    <a:pt x="520928" y="174599"/>
                  </a:lnTo>
                  <a:lnTo>
                    <a:pt x="521284" y="174599"/>
                  </a:lnTo>
                  <a:lnTo>
                    <a:pt x="521639" y="174967"/>
                  </a:lnTo>
                  <a:lnTo>
                    <a:pt x="522008" y="174967"/>
                  </a:lnTo>
                  <a:lnTo>
                    <a:pt x="522363" y="174967"/>
                  </a:lnTo>
                  <a:lnTo>
                    <a:pt x="522719" y="174967"/>
                  </a:lnTo>
                  <a:lnTo>
                    <a:pt x="523087" y="174967"/>
                  </a:lnTo>
                  <a:lnTo>
                    <a:pt x="523443" y="174967"/>
                  </a:lnTo>
                  <a:lnTo>
                    <a:pt x="523798" y="174967"/>
                  </a:lnTo>
                  <a:lnTo>
                    <a:pt x="524167" y="174599"/>
                  </a:lnTo>
                  <a:lnTo>
                    <a:pt x="524522" y="174599"/>
                  </a:lnTo>
                  <a:lnTo>
                    <a:pt x="524891" y="174599"/>
                  </a:lnTo>
                  <a:lnTo>
                    <a:pt x="525246" y="174244"/>
                  </a:lnTo>
                  <a:lnTo>
                    <a:pt x="525602" y="174244"/>
                  </a:lnTo>
                  <a:lnTo>
                    <a:pt x="525602" y="173888"/>
                  </a:lnTo>
                  <a:lnTo>
                    <a:pt x="525970" y="173888"/>
                  </a:lnTo>
                  <a:lnTo>
                    <a:pt x="526326" y="173520"/>
                  </a:lnTo>
                  <a:lnTo>
                    <a:pt x="528129" y="171729"/>
                  </a:lnTo>
                  <a:lnTo>
                    <a:pt x="529564" y="169926"/>
                  </a:lnTo>
                  <a:lnTo>
                    <a:pt x="531368" y="168122"/>
                  </a:lnTo>
                  <a:lnTo>
                    <a:pt x="532803" y="165963"/>
                  </a:lnTo>
                  <a:lnTo>
                    <a:pt x="534250" y="163804"/>
                  </a:lnTo>
                  <a:lnTo>
                    <a:pt x="535330" y="162001"/>
                  </a:lnTo>
                  <a:lnTo>
                    <a:pt x="536765" y="159842"/>
                  </a:lnTo>
                  <a:lnTo>
                    <a:pt x="539648" y="153009"/>
                  </a:lnTo>
                  <a:lnTo>
                    <a:pt x="547928" y="128879"/>
                  </a:lnTo>
                  <a:lnTo>
                    <a:pt x="549719" y="123482"/>
                  </a:lnTo>
                  <a:lnTo>
                    <a:pt x="551167" y="117729"/>
                  </a:lnTo>
                  <a:lnTo>
                    <a:pt x="553326" y="112318"/>
                  </a:lnTo>
                  <a:lnTo>
                    <a:pt x="555485" y="106921"/>
                  </a:lnTo>
                  <a:lnTo>
                    <a:pt x="557999" y="101879"/>
                  </a:lnTo>
                  <a:lnTo>
                    <a:pt x="564489" y="89649"/>
                  </a:lnTo>
                  <a:lnTo>
                    <a:pt x="564489" y="89281"/>
                  </a:lnTo>
                  <a:lnTo>
                    <a:pt x="564845" y="89281"/>
                  </a:lnTo>
                  <a:lnTo>
                    <a:pt x="564845" y="88925"/>
                  </a:lnTo>
                  <a:lnTo>
                    <a:pt x="565200" y="88925"/>
                  </a:lnTo>
                  <a:lnTo>
                    <a:pt x="565200" y="88569"/>
                  </a:lnTo>
                  <a:lnTo>
                    <a:pt x="565569" y="88569"/>
                  </a:lnTo>
                  <a:lnTo>
                    <a:pt x="565924" y="88201"/>
                  </a:lnTo>
                  <a:lnTo>
                    <a:pt x="566280" y="88201"/>
                  </a:lnTo>
                  <a:lnTo>
                    <a:pt x="566648" y="88201"/>
                  </a:lnTo>
                  <a:lnTo>
                    <a:pt x="566648" y="88569"/>
                  </a:lnTo>
                  <a:lnTo>
                    <a:pt x="567004" y="88569"/>
                  </a:lnTo>
                  <a:lnTo>
                    <a:pt x="567359" y="88569"/>
                  </a:lnTo>
                  <a:lnTo>
                    <a:pt x="567359" y="88925"/>
                  </a:lnTo>
                  <a:lnTo>
                    <a:pt x="567728" y="88925"/>
                  </a:lnTo>
                  <a:lnTo>
                    <a:pt x="567728" y="89281"/>
                  </a:lnTo>
                  <a:lnTo>
                    <a:pt x="569887" y="95758"/>
                  </a:lnTo>
                  <a:lnTo>
                    <a:pt x="565924" y="137160"/>
                  </a:lnTo>
                  <a:lnTo>
                    <a:pt x="551891" y="172085"/>
                  </a:lnTo>
                  <a:lnTo>
                    <a:pt x="551522" y="172085"/>
                  </a:lnTo>
                  <a:lnTo>
                    <a:pt x="551522" y="172440"/>
                  </a:lnTo>
                  <a:lnTo>
                    <a:pt x="551167" y="172440"/>
                  </a:lnTo>
                  <a:lnTo>
                    <a:pt x="550799" y="172808"/>
                  </a:lnTo>
                  <a:lnTo>
                    <a:pt x="550443" y="172808"/>
                  </a:lnTo>
                  <a:lnTo>
                    <a:pt x="548640" y="172808"/>
                  </a:lnTo>
                  <a:lnTo>
                    <a:pt x="548640" y="172440"/>
                  </a:lnTo>
                  <a:lnTo>
                    <a:pt x="548284" y="172440"/>
                  </a:lnTo>
                  <a:lnTo>
                    <a:pt x="547928" y="172440"/>
                  </a:lnTo>
                  <a:lnTo>
                    <a:pt x="547928" y="172085"/>
                  </a:lnTo>
                  <a:lnTo>
                    <a:pt x="547560" y="172085"/>
                  </a:lnTo>
                  <a:lnTo>
                    <a:pt x="547560" y="171729"/>
                  </a:lnTo>
                  <a:lnTo>
                    <a:pt x="546125" y="169926"/>
                  </a:lnTo>
                  <a:lnTo>
                    <a:pt x="545045" y="168122"/>
                  </a:lnTo>
                  <a:lnTo>
                    <a:pt x="544321" y="166319"/>
                  </a:lnTo>
                  <a:lnTo>
                    <a:pt x="543242" y="164528"/>
                  </a:lnTo>
                  <a:lnTo>
                    <a:pt x="542531" y="162725"/>
                  </a:lnTo>
                  <a:lnTo>
                    <a:pt x="541807" y="160921"/>
                  </a:lnTo>
                  <a:lnTo>
                    <a:pt x="540359" y="155879"/>
                  </a:lnTo>
                  <a:lnTo>
                    <a:pt x="537121" y="146888"/>
                  </a:lnTo>
                  <a:lnTo>
                    <a:pt x="536765" y="146164"/>
                  </a:lnTo>
                  <a:lnTo>
                    <a:pt x="536409" y="145084"/>
                  </a:lnTo>
                  <a:lnTo>
                    <a:pt x="536041" y="144360"/>
                  </a:lnTo>
                  <a:lnTo>
                    <a:pt x="535685" y="143649"/>
                  </a:lnTo>
                  <a:lnTo>
                    <a:pt x="535330" y="142925"/>
                  </a:lnTo>
                  <a:lnTo>
                    <a:pt x="534962" y="142201"/>
                  </a:lnTo>
                  <a:lnTo>
                    <a:pt x="534606" y="141478"/>
                  </a:lnTo>
                  <a:lnTo>
                    <a:pt x="533882" y="140766"/>
                  </a:lnTo>
                  <a:lnTo>
                    <a:pt x="533527" y="140042"/>
                  </a:lnTo>
                  <a:lnTo>
                    <a:pt x="532803" y="139319"/>
                  </a:lnTo>
                  <a:lnTo>
                    <a:pt x="532447" y="138607"/>
                  </a:lnTo>
                  <a:lnTo>
                    <a:pt x="531723" y="138239"/>
                  </a:lnTo>
                  <a:lnTo>
                    <a:pt x="530999" y="137528"/>
                  </a:lnTo>
                  <a:lnTo>
                    <a:pt x="530288" y="136804"/>
                  </a:lnTo>
                  <a:lnTo>
                    <a:pt x="529920" y="136448"/>
                  </a:lnTo>
                  <a:lnTo>
                    <a:pt x="529208" y="136080"/>
                  </a:lnTo>
                  <a:lnTo>
                    <a:pt x="528485" y="135369"/>
                  </a:lnTo>
                  <a:lnTo>
                    <a:pt x="527761" y="135001"/>
                  </a:lnTo>
                  <a:lnTo>
                    <a:pt x="526681" y="134645"/>
                  </a:lnTo>
                  <a:lnTo>
                    <a:pt x="525970" y="134289"/>
                  </a:lnTo>
                  <a:lnTo>
                    <a:pt x="525246" y="133921"/>
                  </a:lnTo>
                  <a:lnTo>
                    <a:pt x="524522" y="133565"/>
                  </a:lnTo>
                  <a:lnTo>
                    <a:pt x="523798" y="133210"/>
                  </a:lnTo>
                  <a:lnTo>
                    <a:pt x="522719" y="133210"/>
                  </a:lnTo>
                  <a:lnTo>
                    <a:pt x="522008" y="132842"/>
                  </a:lnTo>
                  <a:lnTo>
                    <a:pt x="521284" y="132842"/>
                  </a:lnTo>
                  <a:lnTo>
                    <a:pt x="520204" y="132486"/>
                  </a:lnTo>
                  <a:lnTo>
                    <a:pt x="519480" y="132486"/>
                  </a:lnTo>
                  <a:lnTo>
                    <a:pt x="518401" y="132486"/>
                  </a:lnTo>
                  <a:lnTo>
                    <a:pt x="517690" y="132486"/>
                  </a:lnTo>
                  <a:lnTo>
                    <a:pt x="516966" y="132486"/>
                  </a:lnTo>
                  <a:lnTo>
                    <a:pt x="515886" y="132486"/>
                  </a:lnTo>
                  <a:lnTo>
                    <a:pt x="515162" y="132842"/>
                  </a:lnTo>
                  <a:lnTo>
                    <a:pt x="514438" y="132842"/>
                  </a:lnTo>
                  <a:lnTo>
                    <a:pt x="513359" y="133210"/>
                  </a:lnTo>
                  <a:lnTo>
                    <a:pt x="512648" y="133210"/>
                  </a:lnTo>
                  <a:lnTo>
                    <a:pt x="511924" y="133565"/>
                  </a:lnTo>
                  <a:lnTo>
                    <a:pt x="509765" y="134289"/>
                  </a:lnTo>
                  <a:lnTo>
                    <a:pt x="497890" y="136080"/>
                  </a:lnTo>
                  <a:lnTo>
                    <a:pt x="497166" y="136080"/>
                  </a:lnTo>
                  <a:lnTo>
                    <a:pt x="496442" y="135724"/>
                  </a:lnTo>
                  <a:lnTo>
                    <a:pt x="496087" y="135724"/>
                  </a:lnTo>
                  <a:lnTo>
                    <a:pt x="495363" y="135724"/>
                  </a:lnTo>
                  <a:lnTo>
                    <a:pt x="494639" y="135369"/>
                  </a:lnTo>
                  <a:lnTo>
                    <a:pt x="493928" y="135369"/>
                  </a:lnTo>
                  <a:lnTo>
                    <a:pt x="493204" y="135001"/>
                  </a:lnTo>
                  <a:lnTo>
                    <a:pt x="492480" y="134645"/>
                  </a:lnTo>
                  <a:lnTo>
                    <a:pt x="491769" y="134289"/>
                  </a:lnTo>
                  <a:lnTo>
                    <a:pt x="491401" y="134289"/>
                  </a:lnTo>
                  <a:lnTo>
                    <a:pt x="490689" y="133921"/>
                  </a:lnTo>
                  <a:lnTo>
                    <a:pt x="489966" y="133565"/>
                  </a:lnTo>
                  <a:lnTo>
                    <a:pt x="489610" y="132842"/>
                  </a:lnTo>
                  <a:lnTo>
                    <a:pt x="488886" y="132486"/>
                  </a:lnTo>
                  <a:lnTo>
                    <a:pt x="488530" y="132118"/>
                  </a:lnTo>
                  <a:lnTo>
                    <a:pt x="487806" y="131762"/>
                  </a:lnTo>
                  <a:lnTo>
                    <a:pt x="487451" y="131038"/>
                  </a:lnTo>
                  <a:lnTo>
                    <a:pt x="486727" y="130683"/>
                  </a:lnTo>
                  <a:lnTo>
                    <a:pt x="486359" y="130327"/>
                  </a:lnTo>
                  <a:lnTo>
                    <a:pt x="486003" y="129603"/>
                  </a:lnTo>
                  <a:lnTo>
                    <a:pt x="485647" y="128879"/>
                  </a:lnTo>
                  <a:lnTo>
                    <a:pt x="485279" y="128524"/>
                  </a:lnTo>
                  <a:lnTo>
                    <a:pt x="484924" y="127800"/>
                  </a:lnTo>
                  <a:lnTo>
                    <a:pt x="484568" y="127088"/>
                  </a:lnTo>
                  <a:lnTo>
                    <a:pt x="484200" y="126720"/>
                  </a:lnTo>
                  <a:lnTo>
                    <a:pt x="483844" y="126009"/>
                  </a:lnTo>
                  <a:lnTo>
                    <a:pt x="483844" y="125285"/>
                  </a:lnTo>
                  <a:lnTo>
                    <a:pt x="483120" y="123482"/>
                  </a:lnTo>
                  <a:lnTo>
                    <a:pt x="478447" y="100444"/>
                  </a:lnTo>
                  <a:lnTo>
                    <a:pt x="477723" y="95046"/>
                  </a:lnTo>
                  <a:lnTo>
                    <a:pt x="473049" y="75958"/>
                  </a:lnTo>
                  <a:lnTo>
                    <a:pt x="471970" y="72364"/>
                  </a:lnTo>
                  <a:lnTo>
                    <a:pt x="470890" y="68757"/>
                  </a:lnTo>
                  <a:lnTo>
                    <a:pt x="470166" y="65163"/>
                  </a:lnTo>
                  <a:lnTo>
                    <a:pt x="469442" y="61569"/>
                  </a:lnTo>
                  <a:lnTo>
                    <a:pt x="469087" y="57962"/>
                  </a:lnTo>
                  <a:lnTo>
                    <a:pt x="468363" y="50406"/>
                  </a:lnTo>
                  <a:lnTo>
                    <a:pt x="468718" y="48958"/>
                  </a:lnTo>
                  <a:lnTo>
                    <a:pt x="468718" y="47523"/>
                  </a:lnTo>
                  <a:lnTo>
                    <a:pt x="469087" y="46088"/>
                  </a:lnTo>
                  <a:lnTo>
                    <a:pt x="469442" y="44284"/>
                  </a:lnTo>
                  <a:lnTo>
                    <a:pt x="469811" y="42849"/>
                  </a:lnTo>
                  <a:lnTo>
                    <a:pt x="470166" y="41402"/>
                  </a:lnTo>
                  <a:lnTo>
                    <a:pt x="470890" y="39966"/>
                  </a:lnTo>
                  <a:lnTo>
                    <a:pt x="471246" y="38519"/>
                  </a:lnTo>
                  <a:lnTo>
                    <a:pt x="471970" y="37084"/>
                  </a:lnTo>
                  <a:lnTo>
                    <a:pt x="472681" y="35648"/>
                  </a:lnTo>
                  <a:lnTo>
                    <a:pt x="473405" y="34569"/>
                  </a:lnTo>
                  <a:lnTo>
                    <a:pt x="474129" y="33121"/>
                  </a:lnTo>
                  <a:lnTo>
                    <a:pt x="475208" y="32042"/>
                  </a:lnTo>
                  <a:lnTo>
                    <a:pt x="475919" y="30607"/>
                  </a:lnTo>
                  <a:lnTo>
                    <a:pt x="476999" y="29527"/>
                  </a:lnTo>
                  <a:lnTo>
                    <a:pt x="479882" y="26289"/>
                  </a:lnTo>
                  <a:lnTo>
                    <a:pt x="480250" y="25920"/>
                  </a:lnTo>
                  <a:lnTo>
                    <a:pt x="480606" y="25565"/>
                  </a:lnTo>
                  <a:lnTo>
                    <a:pt x="480961" y="25209"/>
                  </a:lnTo>
                  <a:lnTo>
                    <a:pt x="481329" y="24841"/>
                  </a:lnTo>
                  <a:lnTo>
                    <a:pt x="481685" y="24485"/>
                  </a:lnTo>
                  <a:lnTo>
                    <a:pt x="482041" y="24130"/>
                  </a:lnTo>
                  <a:lnTo>
                    <a:pt x="482409" y="23761"/>
                  </a:lnTo>
                  <a:lnTo>
                    <a:pt x="482765" y="23406"/>
                  </a:lnTo>
                  <a:lnTo>
                    <a:pt x="483120" y="23037"/>
                  </a:lnTo>
                  <a:lnTo>
                    <a:pt x="483488" y="22682"/>
                  </a:lnTo>
                  <a:lnTo>
                    <a:pt x="484200" y="22326"/>
                  </a:lnTo>
                  <a:lnTo>
                    <a:pt x="484568" y="22326"/>
                  </a:lnTo>
                  <a:lnTo>
                    <a:pt x="484924" y="21958"/>
                  </a:lnTo>
                  <a:lnTo>
                    <a:pt x="485279" y="21958"/>
                  </a:lnTo>
                  <a:lnTo>
                    <a:pt x="486003" y="21602"/>
                  </a:lnTo>
                  <a:lnTo>
                    <a:pt x="486359" y="21602"/>
                  </a:lnTo>
                  <a:lnTo>
                    <a:pt x="486727" y="21247"/>
                  </a:lnTo>
                  <a:lnTo>
                    <a:pt x="487451" y="21247"/>
                  </a:lnTo>
                  <a:lnTo>
                    <a:pt x="487806" y="21247"/>
                  </a:lnTo>
                  <a:lnTo>
                    <a:pt x="488530" y="20878"/>
                  </a:lnTo>
                  <a:lnTo>
                    <a:pt x="488886" y="20878"/>
                  </a:lnTo>
                  <a:lnTo>
                    <a:pt x="489610" y="20878"/>
                  </a:lnTo>
                  <a:lnTo>
                    <a:pt x="489966" y="20878"/>
                  </a:lnTo>
                  <a:lnTo>
                    <a:pt x="490321" y="20878"/>
                  </a:lnTo>
                  <a:lnTo>
                    <a:pt x="491045" y="20878"/>
                  </a:lnTo>
                  <a:lnTo>
                    <a:pt x="491401" y="21247"/>
                  </a:lnTo>
                  <a:lnTo>
                    <a:pt x="492848" y="21247"/>
                  </a:lnTo>
                  <a:lnTo>
                    <a:pt x="493560" y="21602"/>
                  </a:lnTo>
                  <a:lnTo>
                    <a:pt x="493928" y="22326"/>
                  </a:lnTo>
                  <a:lnTo>
                    <a:pt x="494639" y="22682"/>
                  </a:lnTo>
                  <a:lnTo>
                    <a:pt x="495363" y="23406"/>
                  </a:lnTo>
                  <a:lnTo>
                    <a:pt x="495719" y="23761"/>
                  </a:lnTo>
                  <a:lnTo>
                    <a:pt x="496442" y="24485"/>
                  </a:lnTo>
                  <a:lnTo>
                    <a:pt x="496811" y="24841"/>
                  </a:lnTo>
                  <a:lnTo>
                    <a:pt x="497522" y="25565"/>
                  </a:lnTo>
                  <a:lnTo>
                    <a:pt x="497890" y="26289"/>
                  </a:lnTo>
                  <a:lnTo>
                    <a:pt x="498246" y="26644"/>
                  </a:lnTo>
                  <a:lnTo>
                    <a:pt x="498970" y="27368"/>
                  </a:lnTo>
                  <a:lnTo>
                    <a:pt x="499325" y="28079"/>
                  </a:lnTo>
                  <a:lnTo>
                    <a:pt x="499681" y="28803"/>
                  </a:lnTo>
                  <a:lnTo>
                    <a:pt x="500049" y="29527"/>
                  </a:lnTo>
                  <a:lnTo>
                    <a:pt x="500049" y="30238"/>
                  </a:lnTo>
                  <a:lnTo>
                    <a:pt x="500760" y="32042"/>
                  </a:lnTo>
                  <a:lnTo>
                    <a:pt x="502564" y="37807"/>
                  </a:lnTo>
                  <a:lnTo>
                    <a:pt x="503999" y="43929"/>
                  </a:lnTo>
                  <a:lnTo>
                    <a:pt x="505078" y="50038"/>
                  </a:lnTo>
                  <a:lnTo>
                    <a:pt x="506882" y="64439"/>
                  </a:lnTo>
                  <a:lnTo>
                    <a:pt x="507250" y="65519"/>
                  </a:lnTo>
                  <a:lnTo>
                    <a:pt x="510844" y="149758"/>
                  </a:lnTo>
                  <a:lnTo>
                    <a:pt x="510489" y="171361"/>
                  </a:lnTo>
                </a:path>
              </a:pathLst>
            </a:custGeom>
            <a:noFill/>
            <a:ln cap="flat" cmpd="sng" w="360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4553711" y="3584498"/>
              <a:ext cx="1324610" cy="1079500"/>
            </a:xfrm>
            <a:custGeom>
              <a:rect b="b" l="l" r="r" t="t"/>
              <a:pathLst>
                <a:path extrusionOk="0" h="1079500" w="1324610">
                  <a:moveTo>
                    <a:pt x="0" y="1078941"/>
                  </a:moveTo>
                  <a:lnTo>
                    <a:pt x="60017" y="1074747"/>
                  </a:lnTo>
                  <a:lnTo>
                    <a:pt x="126851" y="1045388"/>
                  </a:lnTo>
                  <a:lnTo>
                    <a:pt x="164956" y="1013409"/>
                  </a:lnTo>
                  <a:lnTo>
                    <a:pt x="207321" y="965702"/>
                  </a:lnTo>
                  <a:lnTo>
                    <a:pt x="254800" y="899121"/>
                  </a:lnTo>
                  <a:lnTo>
                    <a:pt x="288358" y="837481"/>
                  </a:lnTo>
                  <a:lnTo>
                    <a:pt x="306208" y="798295"/>
                  </a:lnTo>
                  <a:lnTo>
                    <a:pt x="324698" y="754495"/>
                  </a:lnTo>
                  <a:lnTo>
                    <a:pt x="343773" y="706801"/>
                  </a:lnTo>
                  <a:lnTo>
                    <a:pt x="363380" y="655937"/>
                  </a:lnTo>
                  <a:lnTo>
                    <a:pt x="383462" y="602624"/>
                  </a:lnTo>
                  <a:lnTo>
                    <a:pt x="403965" y="547584"/>
                  </a:lnTo>
                  <a:lnTo>
                    <a:pt x="424834" y="491540"/>
                  </a:lnTo>
                  <a:lnTo>
                    <a:pt x="446014" y="435212"/>
                  </a:lnTo>
                  <a:lnTo>
                    <a:pt x="467450" y="379323"/>
                  </a:lnTo>
                  <a:lnTo>
                    <a:pt x="489087" y="324595"/>
                  </a:lnTo>
                  <a:lnTo>
                    <a:pt x="510871" y="271750"/>
                  </a:lnTo>
                  <a:lnTo>
                    <a:pt x="532747" y="221510"/>
                  </a:lnTo>
                  <a:lnTo>
                    <a:pt x="554659" y="174597"/>
                  </a:lnTo>
                  <a:lnTo>
                    <a:pt x="576552" y="131733"/>
                  </a:lnTo>
                  <a:lnTo>
                    <a:pt x="598373" y="93639"/>
                  </a:lnTo>
                  <a:lnTo>
                    <a:pt x="620065" y="61038"/>
                  </a:lnTo>
                  <a:lnTo>
                    <a:pt x="662846" y="15202"/>
                  </a:lnTo>
                  <a:lnTo>
                    <a:pt x="704456" y="0"/>
                  </a:lnTo>
                  <a:lnTo>
                    <a:pt x="725190" y="5556"/>
                  </a:lnTo>
                  <a:lnTo>
                    <a:pt x="768180" y="41620"/>
                  </a:lnTo>
                  <a:lnTo>
                    <a:pt x="812633" y="105944"/>
                  </a:lnTo>
                  <a:lnTo>
                    <a:pt x="835197" y="146825"/>
                  </a:lnTo>
                  <a:lnTo>
                    <a:pt x="857874" y="192515"/>
                  </a:lnTo>
                  <a:lnTo>
                    <a:pt x="880580" y="242265"/>
                  </a:lnTo>
                  <a:lnTo>
                    <a:pt x="903229" y="295321"/>
                  </a:lnTo>
                  <a:lnTo>
                    <a:pt x="925737" y="350934"/>
                  </a:lnTo>
                  <a:lnTo>
                    <a:pt x="948020" y="408351"/>
                  </a:lnTo>
                  <a:lnTo>
                    <a:pt x="969993" y="466820"/>
                  </a:lnTo>
                  <a:lnTo>
                    <a:pt x="991572" y="525591"/>
                  </a:lnTo>
                  <a:lnTo>
                    <a:pt x="1012672" y="583911"/>
                  </a:lnTo>
                  <a:lnTo>
                    <a:pt x="1033210" y="641029"/>
                  </a:lnTo>
                  <a:lnTo>
                    <a:pt x="1053100" y="696194"/>
                  </a:lnTo>
                  <a:lnTo>
                    <a:pt x="1072258" y="748655"/>
                  </a:lnTo>
                  <a:lnTo>
                    <a:pt x="1090599" y="797658"/>
                  </a:lnTo>
                  <a:lnTo>
                    <a:pt x="1108040" y="842454"/>
                  </a:lnTo>
                  <a:lnTo>
                    <a:pt x="1124495" y="882291"/>
                  </a:lnTo>
                  <a:lnTo>
                    <a:pt x="1154112" y="944079"/>
                  </a:lnTo>
                  <a:lnTo>
                    <a:pt x="1198002" y="1013314"/>
                  </a:lnTo>
                  <a:lnTo>
                    <a:pt x="1231274" y="1050083"/>
                  </a:lnTo>
                  <a:lnTo>
                    <a:pt x="1275129" y="1064513"/>
                  </a:lnTo>
                  <a:lnTo>
                    <a:pt x="1290291" y="1061321"/>
                  </a:lnTo>
                  <a:lnTo>
                    <a:pt x="1303997" y="1063955"/>
                  </a:lnTo>
                  <a:lnTo>
                    <a:pt x="1318807" y="1071273"/>
                  </a:lnTo>
                  <a:lnTo>
                    <a:pt x="1324135" y="1069106"/>
                  </a:lnTo>
                  <a:lnTo>
                    <a:pt x="1323141" y="1060617"/>
                  </a:lnTo>
                  <a:lnTo>
                    <a:pt x="1318983" y="1048969"/>
                  </a:lnTo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3079238" y="4659630"/>
              <a:ext cx="1474470" cy="0"/>
            </a:xfrm>
            <a:custGeom>
              <a:rect b="b" l="l" r="r" t="t"/>
              <a:pathLst>
                <a:path extrusionOk="0" h="120000" w="1474470">
                  <a:moveTo>
                    <a:pt x="147403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5875020" y="4648962"/>
              <a:ext cx="1624329" cy="11429"/>
            </a:xfrm>
            <a:custGeom>
              <a:rect b="b" l="l" r="r" t="t"/>
              <a:pathLst>
                <a:path extrusionOk="0" h="11429" w="1624329">
                  <a:moveTo>
                    <a:pt x="0" y="0"/>
                  </a:moveTo>
                  <a:lnTo>
                    <a:pt x="1623936" y="11239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" name="Google Shape;330;p24"/>
            <p:cNvSpPr/>
            <p:nvPr/>
          </p:nvSpPr>
          <p:spPr>
            <a:xfrm>
              <a:off x="6001511" y="2287527"/>
              <a:ext cx="1491615" cy="5714"/>
            </a:xfrm>
            <a:custGeom>
              <a:rect b="b" l="l" r="r" t="t"/>
              <a:pathLst>
                <a:path extrusionOk="0" h="5714" w="1491615">
                  <a:moveTo>
                    <a:pt x="0" y="5435"/>
                  </a:moveTo>
                  <a:lnTo>
                    <a:pt x="1491526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" name="Google Shape;331;p24"/>
            <p:cNvSpPr/>
            <p:nvPr/>
          </p:nvSpPr>
          <p:spPr>
            <a:xfrm>
              <a:off x="3155442" y="3086103"/>
              <a:ext cx="1491614" cy="5714"/>
            </a:xfrm>
            <a:custGeom>
              <a:rect b="b" l="l" r="r" t="t"/>
              <a:pathLst>
                <a:path extrusionOk="0" h="5714" w="1491614">
                  <a:moveTo>
                    <a:pt x="0" y="5435"/>
                  </a:moveTo>
                  <a:lnTo>
                    <a:pt x="1491526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" name="Google Shape;332;p24"/>
            <p:cNvSpPr/>
            <p:nvPr/>
          </p:nvSpPr>
          <p:spPr>
            <a:xfrm>
              <a:off x="3192780" y="3118104"/>
              <a:ext cx="1454150" cy="0"/>
            </a:xfrm>
            <a:custGeom>
              <a:rect b="b" l="l" r="r" t="t"/>
              <a:pathLst>
                <a:path extrusionOk="0" h="120000" w="1454150">
                  <a:moveTo>
                    <a:pt x="0" y="0"/>
                  </a:moveTo>
                  <a:lnTo>
                    <a:pt x="1453984" y="0"/>
                  </a:lnTo>
                </a:path>
              </a:pathLst>
            </a:cu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" name="Google Shape;333;p24"/>
            <p:cNvSpPr/>
            <p:nvPr/>
          </p:nvSpPr>
          <p:spPr>
            <a:xfrm>
              <a:off x="4433316" y="5414066"/>
              <a:ext cx="1619250" cy="895350"/>
            </a:xfrm>
            <a:custGeom>
              <a:rect b="b" l="l" r="r" t="t"/>
              <a:pathLst>
                <a:path extrusionOk="0" h="895350" w="1619250">
                  <a:moveTo>
                    <a:pt x="0" y="506686"/>
                  </a:moveTo>
                  <a:lnTo>
                    <a:pt x="36337" y="493307"/>
                  </a:lnTo>
                  <a:lnTo>
                    <a:pt x="73299" y="478369"/>
                  </a:lnTo>
                  <a:lnTo>
                    <a:pt x="111510" y="460309"/>
                  </a:lnTo>
                  <a:lnTo>
                    <a:pt x="151596" y="437564"/>
                  </a:lnTo>
                  <a:lnTo>
                    <a:pt x="194181" y="408573"/>
                  </a:lnTo>
                  <a:lnTo>
                    <a:pt x="239890" y="371774"/>
                  </a:lnTo>
                  <a:lnTo>
                    <a:pt x="282979" y="316498"/>
                  </a:lnTo>
                  <a:lnTo>
                    <a:pt x="304339" y="278922"/>
                  </a:lnTo>
                  <a:lnTo>
                    <a:pt x="325904" y="237368"/>
                  </a:lnTo>
                  <a:lnTo>
                    <a:pt x="347919" y="193822"/>
                  </a:lnTo>
                  <a:lnTo>
                    <a:pt x="370630" y="150269"/>
                  </a:lnTo>
                  <a:lnTo>
                    <a:pt x="394283" y="108694"/>
                  </a:lnTo>
                  <a:lnTo>
                    <a:pt x="419123" y="71084"/>
                  </a:lnTo>
                  <a:lnTo>
                    <a:pt x="445396" y="39424"/>
                  </a:lnTo>
                  <a:lnTo>
                    <a:pt x="503225" y="1896"/>
                  </a:lnTo>
                  <a:lnTo>
                    <a:pt x="535272" y="0"/>
                  </a:lnTo>
                  <a:lnTo>
                    <a:pt x="569734" y="11995"/>
                  </a:lnTo>
                  <a:lnTo>
                    <a:pt x="615355" y="49363"/>
                  </a:lnTo>
                  <a:lnTo>
                    <a:pt x="666811" y="111487"/>
                  </a:lnTo>
                  <a:lnTo>
                    <a:pt x="694305" y="150121"/>
                  </a:lnTo>
                  <a:lnTo>
                    <a:pt x="722750" y="192893"/>
                  </a:lnTo>
                  <a:lnTo>
                    <a:pt x="751979" y="239116"/>
                  </a:lnTo>
                  <a:lnTo>
                    <a:pt x="781821" y="288107"/>
                  </a:lnTo>
                  <a:lnTo>
                    <a:pt x="812108" y="339182"/>
                  </a:lnTo>
                  <a:lnTo>
                    <a:pt x="842672" y="391657"/>
                  </a:lnTo>
                  <a:lnTo>
                    <a:pt x="873342" y="444846"/>
                  </a:lnTo>
                  <a:lnTo>
                    <a:pt x="903950" y="498067"/>
                  </a:lnTo>
                  <a:lnTo>
                    <a:pt x="934328" y="550634"/>
                  </a:lnTo>
                  <a:lnTo>
                    <a:pt x="964305" y="601864"/>
                  </a:lnTo>
                  <a:lnTo>
                    <a:pt x="993714" y="651073"/>
                  </a:lnTo>
                  <a:lnTo>
                    <a:pt x="1022385" y="697575"/>
                  </a:lnTo>
                  <a:lnTo>
                    <a:pt x="1050149" y="740688"/>
                  </a:lnTo>
                  <a:lnTo>
                    <a:pt x="1076837" y="779726"/>
                  </a:lnTo>
                  <a:lnTo>
                    <a:pt x="1102281" y="814005"/>
                  </a:lnTo>
                  <a:lnTo>
                    <a:pt x="1148758" y="865552"/>
                  </a:lnTo>
                  <a:lnTo>
                    <a:pt x="1203778" y="895146"/>
                  </a:lnTo>
                  <a:lnTo>
                    <a:pt x="1234563" y="892940"/>
                  </a:lnTo>
                  <a:lnTo>
                    <a:pt x="1287179" y="850919"/>
                  </a:lnTo>
                  <a:lnTo>
                    <a:pt x="1309843" y="816154"/>
                  </a:lnTo>
                  <a:lnTo>
                    <a:pt x="1330632" y="775584"/>
                  </a:lnTo>
                  <a:lnTo>
                    <a:pt x="1349964" y="731736"/>
                  </a:lnTo>
                  <a:lnTo>
                    <a:pt x="1368255" y="687132"/>
                  </a:lnTo>
                  <a:lnTo>
                    <a:pt x="1385920" y="644297"/>
                  </a:lnTo>
                  <a:lnTo>
                    <a:pt x="1403376" y="605757"/>
                  </a:lnTo>
                  <a:lnTo>
                    <a:pt x="1439329" y="551656"/>
                  </a:lnTo>
                  <a:lnTo>
                    <a:pt x="1491689" y="512011"/>
                  </a:lnTo>
                  <a:lnTo>
                    <a:pt x="1537723" y="490285"/>
                  </a:lnTo>
                  <a:lnTo>
                    <a:pt x="1579541" y="480506"/>
                  </a:lnTo>
                  <a:lnTo>
                    <a:pt x="1619250" y="476701"/>
                  </a:lnTo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24"/>
            <p:cNvSpPr/>
            <p:nvPr/>
          </p:nvSpPr>
          <p:spPr>
            <a:xfrm>
              <a:off x="6052566" y="5861306"/>
              <a:ext cx="1440815" cy="29210"/>
            </a:xfrm>
            <a:custGeom>
              <a:rect b="b" l="l" r="r" t="t"/>
              <a:pathLst>
                <a:path extrusionOk="0" h="29210" w="1440815">
                  <a:moveTo>
                    <a:pt x="0" y="29083"/>
                  </a:moveTo>
                  <a:lnTo>
                    <a:pt x="144037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" name="Google Shape;335;p24"/>
            <p:cNvSpPr/>
            <p:nvPr/>
          </p:nvSpPr>
          <p:spPr>
            <a:xfrm>
              <a:off x="3079242" y="5905500"/>
              <a:ext cx="1372235" cy="0"/>
            </a:xfrm>
            <a:custGeom>
              <a:rect b="b" l="l" r="r" t="t"/>
              <a:pathLst>
                <a:path extrusionOk="0" h="120000" w="1372235">
                  <a:moveTo>
                    <a:pt x="0" y="0"/>
                  </a:moveTo>
                  <a:lnTo>
                    <a:pt x="137193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4447871" y="5949431"/>
              <a:ext cx="635" cy="0"/>
            </a:xfrm>
            <a:custGeom>
              <a:rect b="b" l="l" r="r" t="t"/>
              <a:pathLst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55" y="0"/>
                  </a:lnTo>
                </a:path>
              </a:pathLst>
            </a:custGeom>
            <a:noFill/>
            <a:ln cap="flat" cmpd="sng" w="360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5261610" y="1874520"/>
              <a:ext cx="27304" cy="4480560"/>
            </a:xfrm>
            <a:custGeom>
              <a:rect b="b" l="l" r="r" t="t"/>
              <a:pathLst>
                <a:path extrusionOk="0" h="4480560" w="27304">
                  <a:moveTo>
                    <a:pt x="0" y="0"/>
                  </a:moveTo>
                  <a:lnTo>
                    <a:pt x="27292" y="4480560"/>
                  </a:lnTo>
                </a:path>
              </a:pathLst>
            </a:custGeom>
            <a:noFill/>
            <a:ln cap="flat" cmpd="sng" w="28550">
              <a:solidFill>
                <a:srgbClr val="4A7EBB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38" name="Google Shape;338;p24"/>
          <p:cNvSpPr txBox="1"/>
          <p:nvPr/>
        </p:nvSpPr>
        <p:spPr>
          <a:xfrm>
            <a:off x="3602956" y="1906384"/>
            <a:ext cx="1579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Cambria Math"/>
                <a:ea typeface="Cambria Math"/>
                <a:cs typeface="Cambria Math"/>
                <a:sym typeface="Cambria Math"/>
              </a:rPr>
              <a:t>𝑭unction F(𝑰)</a:t>
            </a:r>
            <a:endParaRPr b="1" i="1"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39" name="Google Shape;339;p24"/>
          <p:cNvSpPr txBox="1"/>
          <p:nvPr/>
        </p:nvSpPr>
        <p:spPr>
          <a:xfrm>
            <a:off x="3471875" y="3264179"/>
            <a:ext cx="1645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Cambria Math"/>
                <a:ea typeface="Cambria Math"/>
                <a:cs typeface="Cambria Math"/>
                <a:sym typeface="Cambria Math"/>
              </a:rPr>
              <a:t>1st Derivative</a:t>
            </a:r>
            <a:endParaRPr b="1" i="1"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40" name="Google Shape;340;p24"/>
          <p:cNvSpPr txBox="1"/>
          <p:nvPr/>
        </p:nvSpPr>
        <p:spPr>
          <a:xfrm>
            <a:off x="3393926" y="5022216"/>
            <a:ext cx="1731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Cambria Math"/>
                <a:ea typeface="Cambria Math"/>
                <a:cs typeface="Cambria Math"/>
                <a:sym typeface="Cambria Math"/>
              </a:rPr>
              <a:t>2nd Derivative</a:t>
            </a:r>
            <a:endParaRPr b="1" i="1"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41" name="Google Shape;341;p24"/>
          <p:cNvSpPr txBox="1"/>
          <p:nvPr/>
        </p:nvSpPr>
        <p:spPr>
          <a:xfrm>
            <a:off x="5912246" y="5028965"/>
            <a:ext cx="1586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Cambria Math"/>
                <a:ea typeface="Cambria Math"/>
                <a:cs typeface="Cambria Math"/>
                <a:sym typeface="Cambria Math"/>
              </a:rPr>
              <a:t>Zero Crossing</a:t>
            </a:r>
            <a:endParaRPr b="1" i="1"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342" name="Google Shape;342;p24"/>
          <p:cNvGrpSpPr/>
          <p:nvPr/>
        </p:nvGrpSpPr>
        <p:grpSpPr>
          <a:xfrm>
            <a:off x="5346951" y="5193791"/>
            <a:ext cx="545139" cy="530959"/>
            <a:chOff x="5346951" y="5193791"/>
            <a:chExt cx="545139" cy="530959"/>
          </a:xfrm>
        </p:grpSpPr>
        <p:sp>
          <p:nvSpPr>
            <p:cNvPr id="343" name="Google Shape;343;p24"/>
            <p:cNvSpPr/>
            <p:nvPr/>
          </p:nvSpPr>
          <p:spPr>
            <a:xfrm>
              <a:off x="5415205" y="5193791"/>
              <a:ext cx="476885" cy="464185"/>
            </a:xfrm>
            <a:custGeom>
              <a:rect b="b" l="l" r="r" t="t"/>
              <a:pathLst>
                <a:path extrusionOk="0" h="464185" w="476885">
                  <a:moveTo>
                    <a:pt x="476580" y="0"/>
                  </a:moveTo>
                  <a:lnTo>
                    <a:pt x="0" y="463918"/>
                  </a:lnTo>
                </a:path>
              </a:pathLst>
            </a:custGeom>
            <a:noFill/>
            <a:ln cap="flat" cmpd="sng" w="38075">
              <a:solidFill>
                <a:srgbClr val="4A7EBB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24"/>
            <p:cNvSpPr/>
            <p:nvPr/>
          </p:nvSpPr>
          <p:spPr>
            <a:xfrm>
              <a:off x="5346951" y="5603465"/>
              <a:ext cx="121920" cy="121285"/>
            </a:xfrm>
            <a:custGeom>
              <a:rect b="b" l="l" r="r" t="t"/>
              <a:pathLst>
                <a:path extrusionOk="0" h="121285" w="121920">
                  <a:moveTo>
                    <a:pt x="42037" y="0"/>
                  </a:moveTo>
                  <a:lnTo>
                    <a:pt x="0" y="120675"/>
                  </a:lnTo>
                  <a:lnTo>
                    <a:pt x="121767" y="81902"/>
                  </a:lnTo>
                  <a:lnTo>
                    <a:pt x="42037" y="0"/>
                  </a:lnTo>
                  <a:close/>
                </a:path>
              </a:pathLst>
            </a:custGeom>
            <a:solidFill>
              <a:srgbClr val="4A7E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5" name="Google Shape;345;p2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2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7" name="Google Shape;347;p2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3" name="Google Shape;353;p2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4" name="Google Shape;354;p2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Important Edge Operators</a:t>
            </a:r>
            <a:endParaRPr/>
          </a:p>
        </p:txBody>
      </p:sp>
      <p:sp>
        <p:nvSpPr>
          <p:cNvPr id="355" name="Google Shape;355;p2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p2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2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358" name="Google Shape;3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438" y="1098600"/>
            <a:ext cx="10127123" cy="5170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4" name="Google Shape;364;p2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5" name="Google Shape;365;p2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Important Edge Operators</a:t>
            </a:r>
            <a:endParaRPr/>
          </a:p>
        </p:txBody>
      </p:sp>
      <p:sp>
        <p:nvSpPr>
          <p:cNvPr id="366" name="Google Shape;366;p2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2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2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369" name="Google Shape;3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025" y="1054850"/>
            <a:ext cx="10035951" cy="510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5" name="Google Shape;375;p2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6" name="Google Shape;376;p2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Important Edge Operators</a:t>
            </a:r>
            <a:endParaRPr/>
          </a:p>
        </p:txBody>
      </p:sp>
      <p:sp>
        <p:nvSpPr>
          <p:cNvPr id="377" name="Google Shape;377;p2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" name="Google Shape;378;p2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2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380" name="Google Shape;3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113" y="1060775"/>
            <a:ext cx="9995776" cy="5213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6" name="Google Shape;386;p2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2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2945850" y="2874900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89" name="Google Shape;389;p2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5" name="Google Shape;395;p29"/>
          <p:cNvSpPr txBox="1"/>
          <p:nvPr>
            <p:ph idx="4294967295" type="body"/>
          </p:nvPr>
        </p:nvSpPr>
        <p:spPr>
          <a:xfrm>
            <a:off x="-2" y="1634725"/>
            <a:ext cx="12192000" cy="3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62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Edge Detection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rgbClr val="001F5F"/>
                </a:solidFill>
                <a:latin typeface="Georgia"/>
                <a:ea typeface="Georgia"/>
                <a:cs typeface="Georgia"/>
                <a:sym typeface="Georgia"/>
              </a:rPr>
              <a:t>Part - 2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6" name="Google Shape;396;p29"/>
          <p:cNvSpPr txBox="1"/>
          <p:nvPr/>
        </p:nvSpPr>
        <p:spPr>
          <a:xfrm>
            <a:off x="1" y="773225"/>
            <a:ext cx="121920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Extraction of High Level Features from Images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7" name="Google Shape;397;p2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" name="Google Shape;398;p2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9" name="Google Shape;399;p2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5" name="Google Shape;405;p3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6" name="Google Shape;406;p3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2D050"/>
                </a:solidFill>
                <a:latin typeface="Georgia"/>
                <a:ea typeface="Georgia"/>
                <a:cs typeface="Georgia"/>
                <a:sym typeface="Georgia"/>
              </a:rPr>
              <a:t>Quick recap: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What is an edge?</a:t>
            </a:r>
            <a:endParaRPr/>
          </a:p>
        </p:txBody>
      </p:sp>
      <p:sp>
        <p:nvSpPr>
          <p:cNvPr id="407" name="Google Shape;407;p30"/>
          <p:cNvSpPr txBox="1"/>
          <p:nvPr/>
        </p:nvSpPr>
        <p:spPr>
          <a:xfrm>
            <a:off x="688351" y="1117850"/>
            <a:ext cx="11199300" cy="3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b="1" lang="en-US" sz="2400">
                <a:latin typeface="Georgia"/>
                <a:ea typeface="Georgia"/>
                <a:cs typeface="Georgia"/>
                <a:sym typeface="Georgia"/>
              </a:rPr>
              <a:t>Edges </a:t>
            </a: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corresponds to </a:t>
            </a:r>
            <a:r>
              <a:rPr lang="en-US" sz="2400" u="sng">
                <a:latin typeface="Georgia"/>
                <a:ea typeface="Georgia"/>
                <a:cs typeface="Georgia"/>
                <a:sym typeface="Georgia"/>
              </a:rPr>
              <a:t>significant local changes of intensity</a:t>
            </a:r>
            <a:r>
              <a:rPr lang="en-US" sz="2400" u="none">
                <a:latin typeface="Georgia"/>
                <a:ea typeface="Georgia"/>
                <a:cs typeface="Georgia"/>
                <a:sym typeface="Georgia"/>
              </a:rPr>
              <a:t> in a digital image.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55600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An edge can be </a:t>
            </a:r>
            <a:r>
              <a:rPr lang="en-US" sz="2400" u="sng">
                <a:latin typeface="Georgia"/>
                <a:ea typeface="Georgia"/>
                <a:cs typeface="Georgia"/>
                <a:sym typeface="Georgia"/>
              </a:rPr>
              <a:t>defined as a set of	connected pixels </a:t>
            </a:r>
            <a:r>
              <a:rPr lang="en-US" sz="2400" u="none">
                <a:latin typeface="Georgia"/>
                <a:ea typeface="Georgia"/>
                <a:cs typeface="Georgia"/>
                <a:sym typeface="Georgia"/>
              </a:rPr>
              <a:t>that forms a boundary between two homogeneous regions.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Edge contains </a:t>
            </a:r>
            <a:r>
              <a:rPr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pixels of	high gradient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Edge detection is </a:t>
            </a:r>
            <a:r>
              <a:rPr lang="en-US" sz="2400" u="sng">
                <a:solidFill>
                  <a:srgbClr val="548ED4"/>
                </a:solidFill>
                <a:latin typeface="Georgia"/>
                <a:ea typeface="Georgia"/>
                <a:cs typeface="Georgia"/>
                <a:sym typeface="Georgia"/>
              </a:rPr>
              <a:t>computation of	high gradient points</a:t>
            </a:r>
            <a:r>
              <a:rPr lang="en-US" sz="2400" u="none">
                <a:solidFill>
                  <a:srgbClr val="548ED4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u="none">
                <a:latin typeface="Georgia"/>
                <a:ea typeface="Georgia"/>
                <a:cs typeface="Georgia"/>
                <a:sym typeface="Georgia"/>
              </a:rPr>
              <a:t>in the image.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408" name="Google Shape;408;p30"/>
          <p:cNvGrpSpPr/>
          <p:nvPr/>
        </p:nvGrpSpPr>
        <p:grpSpPr>
          <a:xfrm>
            <a:off x="693695" y="4565141"/>
            <a:ext cx="4595347" cy="1530583"/>
            <a:chOff x="693695" y="4565141"/>
            <a:chExt cx="4595347" cy="1530583"/>
          </a:xfrm>
        </p:grpSpPr>
        <p:pic>
          <p:nvPicPr>
            <p:cNvPr id="409" name="Google Shape;409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03041" y="4565141"/>
              <a:ext cx="2286001" cy="15247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3695" y="4579894"/>
              <a:ext cx="2274018" cy="15158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1" name="Google Shape;411;p30"/>
          <p:cNvGrpSpPr/>
          <p:nvPr/>
        </p:nvGrpSpPr>
        <p:grpSpPr>
          <a:xfrm>
            <a:off x="5556250" y="4591303"/>
            <a:ext cx="2451100" cy="1130045"/>
            <a:chOff x="5556250" y="4591303"/>
            <a:chExt cx="2451100" cy="1130045"/>
          </a:xfrm>
        </p:grpSpPr>
        <p:sp>
          <p:nvSpPr>
            <p:cNvPr id="412" name="Google Shape;412;p30"/>
            <p:cNvSpPr/>
            <p:nvPr/>
          </p:nvSpPr>
          <p:spPr>
            <a:xfrm>
              <a:off x="5562600" y="4597526"/>
              <a:ext cx="1066800" cy="365760"/>
            </a:xfrm>
            <a:custGeom>
              <a:rect b="b" l="l" r="r" t="t"/>
              <a:pathLst>
                <a:path extrusionOk="0" h="365760" w="1066800">
                  <a:moveTo>
                    <a:pt x="1066800" y="0"/>
                  </a:moveTo>
                  <a:lnTo>
                    <a:pt x="711200" y="0"/>
                  </a:lnTo>
                  <a:lnTo>
                    <a:pt x="3556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355600" y="365760"/>
                  </a:lnTo>
                  <a:lnTo>
                    <a:pt x="711200" y="365760"/>
                  </a:lnTo>
                  <a:lnTo>
                    <a:pt x="1066800" y="36576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EDEB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5562600" y="4963413"/>
              <a:ext cx="1066800" cy="365760"/>
            </a:xfrm>
            <a:custGeom>
              <a:rect b="b" l="l" r="r" t="t"/>
              <a:pathLst>
                <a:path extrusionOk="0" h="365760" w="1066800">
                  <a:moveTo>
                    <a:pt x="1066800" y="0"/>
                  </a:moveTo>
                  <a:lnTo>
                    <a:pt x="711200" y="0"/>
                  </a:lnTo>
                  <a:lnTo>
                    <a:pt x="3556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355600" y="365760"/>
                  </a:lnTo>
                  <a:lnTo>
                    <a:pt x="711200" y="365760"/>
                  </a:lnTo>
                  <a:lnTo>
                    <a:pt x="1066800" y="36576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E6B8B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5562600" y="5329122"/>
              <a:ext cx="1066800" cy="365760"/>
            </a:xfrm>
            <a:custGeom>
              <a:rect b="b" l="l" r="r" t="t"/>
              <a:pathLst>
                <a:path extrusionOk="0" h="365760" w="1066800">
                  <a:moveTo>
                    <a:pt x="1066800" y="0"/>
                  </a:moveTo>
                  <a:lnTo>
                    <a:pt x="711200" y="0"/>
                  </a:lnTo>
                  <a:lnTo>
                    <a:pt x="355600" y="0"/>
                  </a:lnTo>
                  <a:lnTo>
                    <a:pt x="0" y="0"/>
                  </a:lnTo>
                  <a:lnTo>
                    <a:pt x="0" y="365747"/>
                  </a:lnTo>
                  <a:lnTo>
                    <a:pt x="355600" y="365747"/>
                  </a:lnTo>
                  <a:lnTo>
                    <a:pt x="711200" y="365747"/>
                  </a:lnTo>
                  <a:lnTo>
                    <a:pt x="1066800" y="365747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EDEB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5918200" y="4591303"/>
              <a:ext cx="355600" cy="1109979"/>
            </a:xfrm>
            <a:custGeom>
              <a:rect b="b" l="l" r="r" t="t"/>
              <a:pathLst>
                <a:path extrusionOk="0" h="1109979" w="355600">
                  <a:moveTo>
                    <a:pt x="0" y="0"/>
                  </a:moveTo>
                  <a:lnTo>
                    <a:pt x="0" y="1109916"/>
                  </a:lnTo>
                </a:path>
                <a:path extrusionOk="0" h="1109979" w="355600">
                  <a:moveTo>
                    <a:pt x="355600" y="0"/>
                  </a:moveTo>
                  <a:lnTo>
                    <a:pt x="355600" y="1109916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5556250" y="4963286"/>
              <a:ext cx="1079500" cy="0"/>
            </a:xfrm>
            <a:custGeom>
              <a:rect b="b" l="l" r="r" t="t"/>
              <a:pathLst>
                <a:path extrusionOk="0" h="120000" w="1079500">
                  <a:moveTo>
                    <a:pt x="0" y="0"/>
                  </a:moveTo>
                  <a:lnTo>
                    <a:pt x="107950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5556250" y="4591303"/>
              <a:ext cx="1079500" cy="1109979"/>
            </a:xfrm>
            <a:custGeom>
              <a:rect b="b" l="l" r="r" t="t"/>
              <a:pathLst>
                <a:path extrusionOk="0" h="1109979" w="1079500">
                  <a:moveTo>
                    <a:pt x="0" y="737870"/>
                  </a:moveTo>
                  <a:lnTo>
                    <a:pt x="1079500" y="737870"/>
                  </a:lnTo>
                </a:path>
                <a:path extrusionOk="0" h="1109979" w="1079500">
                  <a:moveTo>
                    <a:pt x="6350" y="0"/>
                  </a:moveTo>
                  <a:lnTo>
                    <a:pt x="6350" y="1109916"/>
                  </a:lnTo>
                </a:path>
                <a:path extrusionOk="0" h="1109979" w="1079500">
                  <a:moveTo>
                    <a:pt x="1073150" y="0"/>
                  </a:moveTo>
                  <a:lnTo>
                    <a:pt x="1073150" y="1109916"/>
                  </a:lnTo>
                </a:path>
                <a:path extrusionOk="0" h="1109979" w="1079500">
                  <a:moveTo>
                    <a:pt x="0" y="6350"/>
                  </a:moveTo>
                  <a:lnTo>
                    <a:pt x="1079500" y="6350"/>
                  </a:lnTo>
                </a:path>
                <a:path extrusionOk="0" h="1109979" w="1079500">
                  <a:moveTo>
                    <a:pt x="0" y="1103566"/>
                  </a:moveTo>
                  <a:lnTo>
                    <a:pt x="1079500" y="1103566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6934200" y="4617719"/>
              <a:ext cx="355600" cy="365760"/>
            </a:xfrm>
            <a:custGeom>
              <a:rect b="b" l="l" r="r" t="t"/>
              <a:pathLst>
                <a:path extrusionOk="0" h="365760" w="355600">
                  <a:moveTo>
                    <a:pt x="355600" y="0"/>
                  </a:moveTo>
                  <a:lnTo>
                    <a:pt x="0" y="0"/>
                  </a:lnTo>
                  <a:lnTo>
                    <a:pt x="0" y="365759"/>
                  </a:lnTo>
                  <a:lnTo>
                    <a:pt x="355600" y="365759"/>
                  </a:lnTo>
                  <a:lnTo>
                    <a:pt x="355600" y="0"/>
                  </a:lnTo>
                  <a:close/>
                </a:path>
              </a:pathLst>
            </a:custGeom>
            <a:solidFill>
              <a:srgbClr val="EDEB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7289800" y="4617719"/>
              <a:ext cx="355600" cy="365760"/>
            </a:xfrm>
            <a:custGeom>
              <a:rect b="b" l="l" r="r" t="t"/>
              <a:pathLst>
                <a:path extrusionOk="0" h="365760" w="355600">
                  <a:moveTo>
                    <a:pt x="355600" y="0"/>
                  </a:moveTo>
                  <a:lnTo>
                    <a:pt x="0" y="0"/>
                  </a:lnTo>
                  <a:lnTo>
                    <a:pt x="0" y="365759"/>
                  </a:lnTo>
                  <a:lnTo>
                    <a:pt x="355600" y="365759"/>
                  </a:lnTo>
                  <a:lnTo>
                    <a:pt x="355600" y="0"/>
                  </a:lnTo>
                  <a:close/>
                </a:path>
              </a:pathLst>
            </a:custGeom>
            <a:solidFill>
              <a:srgbClr val="E6B8B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6934200" y="4617719"/>
              <a:ext cx="1066800" cy="731520"/>
            </a:xfrm>
            <a:custGeom>
              <a:rect b="b" l="l" r="r" t="t"/>
              <a:pathLst>
                <a:path extrusionOk="0" h="731520" w="1066800">
                  <a:moveTo>
                    <a:pt x="355600" y="365760"/>
                  </a:moveTo>
                  <a:lnTo>
                    <a:pt x="0" y="365760"/>
                  </a:lnTo>
                  <a:lnTo>
                    <a:pt x="0" y="731520"/>
                  </a:lnTo>
                  <a:lnTo>
                    <a:pt x="355600" y="731520"/>
                  </a:lnTo>
                  <a:lnTo>
                    <a:pt x="355600" y="365760"/>
                  </a:lnTo>
                  <a:close/>
                </a:path>
                <a:path extrusionOk="0" h="731520" w="1066800">
                  <a:moveTo>
                    <a:pt x="1066800" y="0"/>
                  </a:moveTo>
                  <a:lnTo>
                    <a:pt x="711200" y="0"/>
                  </a:lnTo>
                  <a:lnTo>
                    <a:pt x="711200" y="365760"/>
                  </a:lnTo>
                  <a:lnTo>
                    <a:pt x="1066800" y="36576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EDEB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7289800" y="4983479"/>
              <a:ext cx="355600" cy="365760"/>
            </a:xfrm>
            <a:custGeom>
              <a:rect b="b" l="l" r="r" t="t"/>
              <a:pathLst>
                <a:path extrusionOk="0" h="365760" w="355600">
                  <a:moveTo>
                    <a:pt x="35560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55600" y="365760"/>
                  </a:lnTo>
                  <a:lnTo>
                    <a:pt x="355600" y="0"/>
                  </a:lnTo>
                  <a:close/>
                </a:path>
              </a:pathLst>
            </a:custGeom>
            <a:solidFill>
              <a:srgbClr val="E6B8B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6934200" y="4983479"/>
              <a:ext cx="1066800" cy="731520"/>
            </a:xfrm>
            <a:custGeom>
              <a:rect b="b" l="l" r="r" t="t"/>
              <a:pathLst>
                <a:path extrusionOk="0" h="731520" w="1066800">
                  <a:moveTo>
                    <a:pt x="355600" y="365760"/>
                  </a:moveTo>
                  <a:lnTo>
                    <a:pt x="0" y="365760"/>
                  </a:lnTo>
                  <a:lnTo>
                    <a:pt x="0" y="731520"/>
                  </a:lnTo>
                  <a:lnTo>
                    <a:pt x="355600" y="731520"/>
                  </a:lnTo>
                  <a:lnTo>
                    <a:pt x="355600" y="365760"/>
                  </a:lnTo>
                  <a:close/>
                </a:path>
                <a:path extrusionOk="0" h="731520" w="1066800">
                  <a:moveTo>
                    <a:pt x="1066800" y="0"/>
                  </a:moveTo>
                  <a:lnTo>
                    <a:pt x="711200" y="0"/>
                  </a:lnTo>
                  <a:lnTo>
                    <a:pt x="711200" y="365760"/>
                  </a:lnTo>
                  <a:lnTo>
                    <a:pt x="1066800" y="36576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EDEB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7289800" y="5349239"/>
              <a:ext cx="355600" cy="365760"/>
            </a:xfrm>
            <a:custGeom>
              <a:rect b="b" l="l" r="r" t="t"/>
              <a:pathLst>
                <a:path extrusionOk="0" h="365760" w="355600">
                  <a:moveTo>
                    <a:pt x="35560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55600" y="365760"/>
                  </a:lnTo>
                  <a:lnTo>
                    <a:pt x="355600" y="0"/>
                  </a:lnTo>
                  <a:close/>
                </a:path>
              </a:pathLst>
            </a:custGeom>
            <a:solidFill>
              <a:srgbClr val="E6B8B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7645400" y="5349239"/>
              <a:ext cx="355600" cy="365760"/>
            </a:xfrm>
            <a:custGeom>
              <a:rect b="b" l="l" r="r" t="t"/>
              <a:pathLst>
                <a:path extrusionOk="0" h="365760" w="355600">
                  <a:moveTo>
                    <a:pt x="35560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55600" y="365760"/>
                  </a:lnTo>
                  <a:lnTo>
                    <a:pt x="355600" y="0"/>
                  </a:lnTo>
                  <a:close/>
                </a:path>
              </a:pathLst>
            </a:custGeom>
            <a:solidFill>
              <a:srgbClr val="EDEB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7289800" y="4611369"/>
              <a:ext cx="355600" cy="1109979"/>
            </a:xfrm>
            <a:custGeom>
              <a:rect b="b" l="l" r="r" t="t"/>
              <a:pathLst>
                <a:path extrusionOk="0" h="1109979" w="355600">
                  <a:moveTo>
                    <a:pt x="0" y="0"/>
                  </a:moveTo>
                  <a:lnTo>
                    <a:pt x="0" y="1109979"/>
                  </a:lnTo>
                </a:path>
                <a:path extrusionOk="0" h="1109979" w="355600">
                  <a:moveTo>
                    <a:pt x="355600" y="0"/>
                  </a:moveTo>
                  <a:lnTo>
                    <a:pt x="355600" y="1109979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6" name="Google Shape;426;p30"/>
            <p:cNvSpPr/>
            <p:nvPr/>
          </p:nvSpPr>
          <p:spPr>
            <a:xfrm>
              <a:off x="6927850" y="4983479"/>
              <a:ext cx="1079500" cy="0"/>
            </a:xfrm>
            <a:custGeom>
              <a:rect b="b" l="l" r="r" t="t"/>
              <a:pathLst>
                <a:path extrusionOk="0" h="120000" w="1079500">
                  <a:moveTo>
                    <a:pt x="0" y="0"/>
                  </a:moveTo>
                  <a:lnTo>
                    <a:pt x="107950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30"/>
            <p:cNvSpPr/>
            <p:nvPr/>
          </p:nvSpPr>
          <p:spPr>
            <a:xfrm>
              <a:off x="6927850" y="4611369"/>
              <a:ext cx="1079500" cy="1109979"/>
            </a:xfrm>
            <a:custGeom>
              <a:rect b="b" l="l" r="r" t="t"/>
              <a:pathLst>
                <a:path extrusionOk="0" h="1109979" w="1079500">
                  <a:moveTo>
                    <a:pt x="0" y="737869"/>
                  </a:moveTo>
                  <a:lnTo>
                    <a:pt x="1079500" y="737869"/>
                  </a:lnTo>
                </a:path>
                <a:path extrusionOk="0" h="1109979" w="1079500">
                  <a:moveTo>
                    <a:pt x="6350" y="0"/>
                  </a:moveTo>
                  <a:lnTo>
                    <a:pt x="6350" y="1109979"/>
                  </a:lnTo>
                </a:path>
                <a:path extrusionOk="0" h="1109979" w="1079500">
                  <a:moveTo>
                    <a:pt x="1073150" y="0"/>
                  </a:moveTo>
                  <a:lnTo>
                    <a:pt x="1073150" y="1109979"/>
                  </a:lnTo>
                </a:path>
                <a:path extrusionOk="0" h="1109979" w="1079500">
                  <a:moveTo>
                    <a:pt x="0" y="6349"/>
                  </a:moveTo>
                  <a:lnTo>
                    <a:pt x="1079500" y="6349"/>
                  </a:lnTo>
                </a:path>
                <a:path extrusionOk="0" h="1109979" w="1079500">
                  <a:moveTo>
                    <a:pt x="0" y="1103629"/>
                  </a:moveTo>
                  <a:lnTo>
                    <a:pt x="1079500" y="1103629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8" name="Google Shape;428;p30"/>
          <p:cNvSpPr txBox="1"/>
          <p:nvPr/>
        </p:nvSpPr>
        <p:spPr>
          <a:xfrm>
            <a:off x="5893815" y="5759196"/>
            <a:ext cx="3180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baseline="-25000" i="1" lang="en-US" sz="1800">
                <a:latin typeface="Georgia"/>
                <a:ea typeface="Georgia"/>
                <a:cs typeface="Georgia"/>
                <a:sym typeface="Georgia"/>
              </a:rPr>
              <a:t>x</a:t>
            </a:r>
            <a:endParaRPr baseline="-25000"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9" name="Google Shape;429;p30"/>
          <p:cNvSpPr txBox="1"/>
          <p:nvPr/>
        </p:nvSpPr>
        <p:spPr>
          <a:xfrm>
            <a:off x="7369047" y="5750559"/>
            <a:ext cx="300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baseline="-25000" i="1" lang="en-US" sz="1800">
                <a:latin typeface="Georgia"/>
                <a:ea typeface="Georgia"/>
                <a:cs typeface="Georgia"/>
                <a:sym typeface="Georgia"/>
              </a:rPr>
              <a:t>y</a:t>
            </a:r>
            <a:endParaRPr baseline="-25000" sz="18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430" name="Google Shape;430;p30"/>
          <p:cNvGrpSpPr/>
          <p:nvPr/>
        </p:nvGrpSpPr>
        <p:grpSpPr>
          <a:xfrm>
            <a:off x="8680450" y="4631690"/>
            <a:ext cx="1079500" cy="1110614"/>
            <a:chOff x="8680450" y="4631690"/>
            <a:chExt cx="1079500" cy="1110614"/>
          </a:xfrm>
        </p:grpSpPr>
        <p:sp>
          <p:nvSpPr>
            <p:cNvPr id="431" name="Google Shape;431;p30"/>
            <p:cNvSpPr/>
            <p:nvPr/>
          </p:nvSpPr>
          <p:spPr>
            <a:xfrm>
              <a:off x="8686800" y="4638040"/>
              <a:ext cx="1066800" cy="1097914"/>
            </a:xfrm>
            <a:custGeom>
              <a:rect b="b" l="l" r="r" t="t"/>
              <a:pathLst>
                <a:path extrusionOk="0" h="1097914" w="1066800">
                  <a:moveTo>
                    <a:pt x="1066800" y="731545"/>
                  </a:moveTo>
                  <a:lnTo>
                    <a:pt x="711200" y="731545"/>
                  </a:lnTo>
                  <a:lnTo>
                    <a:pt x="355600" y="731545"/>
                  </a:lnTo>
                  <a:lnTo>
                    <a:pt x="0" y="731545"/>
                  </a:lnTo>
                  <a:lnTo>
                    <a:pt x="0" y="1097305"/>
                  </a:lnTo>
                  <a:lnTo>
                    <a:pt x="355600" y="1097305"/>
                  </a:lnTo>
                  <a:lnTo>
                    <a:pt x="711200" y="1097305"/>
                  </a:lnTo>
                  <a:lnTo>
                    <a:pt x="1066800" y="1097305"/>
                  </a:lnTo>
                  <a:lnTo>
                    <a:pt x="1066800" y="731545"/>
                  </a:lnTo>
                  <a:close/>
                </a:path>
                <a:path extrusionOk="0" h="1097914" w="1066800">
                  <a:moveTo>
                    <a:pt x="1066800" y="0"/>
                  </a:moveTo>
                  <a:lnTo>
                    <a:pt x="711200" y="0"/>
                  </a:lnTo>
                  <a:lnTo>
                    <a:pt x="3556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0" y="731520"/>
                  </a:lnTo>
                  <a:lnTo>
                    <a:pt x="355600" y="731520"/>
                  </a:lnTo>
                  <a:lnTo>
                    <a:pt x="711200" y="731520"/>
                  </a:lnTo>
                  <a:lnTo>
                    <a:pt x="1066800" y="731520"/>
                  </a:lnTo>
                  <a:lnTo>
                    <a:pt x="1066800" y="36576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E6B8B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9042400" y="4631690"/>
              <a:ext cx="355600" cy="1110614"/>
            </a:xfrm>
            <a:custGeom>
              <a:rect b="b" l="l" r="r" t="t"/>
              <a:pathLst>
                <a:path extrusionOk="0" h="1110614" w="355600">
                  <a:moveTo>
                    <a:pt x="0" y="0"/>
                  </a:moveTo>
                  <a:lnTo>
                    <a:pt x="0" y="1110005"/>
                  </a:lnTo>
                </a:path>
                <a:path extrusionOk="0" h="1110614" w="355600">
                  <a:moveTo>
                    <a:pt x="355600" y="0"/>
                  </a:moveTo>
                  <a:lnTo>
                    <a:pt x="355600" y="1110005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30"/>
            <p:cNvSpPr/>
            <p:nvPr/>
          </p:nvSpPr>
          <p:spPr>
            <a:xfrm>
              <a:off x="8680450" y="5003800"/>
              <a:ext cx="1079500" cy="0"/>
            </a:xfrm>
            <a:custGeom>
              <a:rect b="b" l="l" r="r" t="t"/>
              <a:pathLst>
                <a:path extrusionOk="0" h="120000" w="1079500">
                  <a:moveTo>
                    <a:pt x="0" y="0"/>
                  </a:moveTo>
                  <a:lnTo>
                    <a:pt x="107950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30"/>
            <p:cNvSpPr/>
            <p:nvPr/>
          </p:nvSpPr>
          <p:spPr>
            <a:xfrm>
              <a:off x="8680450" y="4631690"/>
              <a:ext cx="1079500" cy="1110614"/>
            </a:xfrm>
            <a:custGeom>
              <a:rect b="b" l="l" r="r" t="t"/>
              <a:pathLst>
                <a:path extrusionOk="0" h="1110614" w="1079500">
                  <a:moveTo>
                    <a:pt x="0" y="737870"/>
                  </a:moveTo>
                  <a:lnTo>
                    <a:pt x="1079500" y="737870"/>
                  </a:lnTo>
                </a:path>
                <a:path extrusionOk="0" h="1110614" w="1079500">
                  <a:moveTo>
                    <a:pt x="6350" y="0"/>
                  </a:moveTo>
                  <a:lnTo>
                    <a:pt x="6350" y="1110005"/>
                  </a:lnTo>
                </a:path>
                <a:path extrusionOk="0" h="1110614" w="1079500">
                  <a:moveTo>
                    <a:pt x="1073150" y="0"/>
                  </a:moveTo>
                  <a:lnTo>
                    <a:pt x="1073150" y="1110005"/>
                  </a:lnTo>
                </a:path>
                <a:path extrusionOk="0" h="1110614" w="1079500">
                  <a:moveTo>
                    <a:pt x="0" y="6350"/>
                  </a:moveTo>
                  <a:lnTo>
                    <a:pt x="1079500" y="6350"/>
                  </a:lnTo>
                </a:path>
                <a:path extrusionOk="0" h="1110614" w="1079500">
                  <a:moveTo>
                    <a:pt x="0" y="1103655"/>
                  </a:moveTo>
                  <a:lnTo>
                    <a:pt x="1079500" y="1103655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30"/>
            <p:cNvSpPr/>
            <p:nvPr/>
          </p:nvSpPr>
          <p:spPr>
            <a:xfrm>
              <a:off x="8839581" y="4749292"/>
              <a:ext cx="762000" cy="789304"/>
            </a:xfrm>
            <a:custGeom>
              <a:rect b="b" l="l" r="r" t="t"/>
              <a:pathLst>
                <a:path extrusionOk="0" h="789304" w="762000">
                  <a:moveTo>
                    <a:pt x="762000" y="737489"/>
                  </a:moveTo>
                  <a:lnTo>
                    <a:pt x="751103" y="731139"/>
                  </a:lnTo>
                  <a:lnTo>
                    <a:pt x="673354" y="685800"/>
                  </a:lnTo>
                  <a:lnTo>
                    <a:pt x="669544" y="686816"/>
                  </a:lnTo>
                  <a:lnTo>
                    <a:pt x="665988" y="692912"/>
                  </a:lnTo>
                  <a:lnTo>
                    <a:pt x="667004" y="696722"/>
                  </a:lnTo>
                  <a:lnTo>
                    <a:pt x="725982" y="731139"/>
                  </a:lnTo>
                  <a:lnTo>
                    <a:pt x="0" y="731139"/>
                  </a:lnTo>
                  <a:lnTo>
                    <a:pt x="0" y="743839"/>
                  </a:lnTo>
                  <a:lnTo>
                    <a:pt x="725982" y="743839"/>
                  </a:lnTo>
                  <a:lnTo>
                    <a:pt x="667004" y="778256"/>
                  </a:lnTo>
                  <a:lnTo>
                    <a:pt x="665988" y="782066"/>
                  </a:lnTo>
                  <a:lnTo>
                    <a:pt x="669544" y="788162"/>
                  </a:lnTo>
                  <a:lnTo>
                    <a:pt x="673354" y="789178"/>
                  </a:lnTo>
                  <a:lnTo>
                    <a:pt x="751103" y="743839"/>
                  </a:lnTo>
                  <a:lnTo>
                    <a:pt x="762000" y="737489"/>
                  </a:lnTo>
                  <a:close/>
                </a:path>
                <a:path extrusionOk="0" h="789304" w="762000">
                  <a:moveTo>
                    <a:pt x="762000" y="444119"/>
                  </a:moveTo>
                  <a:lnTo>
                    <a:pt x="751103" y="437769"/>
                  </a:lnTo>
                  <a:lnTo>
                    <a:pt x="673354" y="392430"/>
                  </a:lnTo>
                  <a:lnTo>
                    <a:pt x="669544" y="393446"/>
                  </a:lnTo>
                  <a:lnTo>
                    <a:pt x="665988" y="399542"/>
                  </a:lnTo>
                  <a:lnTo>
                    <a:pt x="667004" y="403352"/>
                  </a:lnTo>
                  <a:lnTo>
                    <a:pt x="725982" y="437769"/>
                  </a:lnTo>
                  <a:lnTo>
                    <a:pt x="0" y="437769"/>
                  </a:lnTo>
                  <a:lnTo>
                    <a:pt x="0" y="450469"/>
                  </a:lnTo>
                  <a:lnTo>
                    <a:pt x="725982" y="450469"/>
                  </a:lnTo>
                  <a:lnTo>
                    <a:pt x="667004" y="484886"/>
                  </a:lnTo>
                  <a:lnTo>
                    <a:pt x="665988" y="488696"/>
                  </a:lnTo>
                  <a:lnTo>
                    <a:pt x="669544" y="494792"/>
                  </a:lnTo>
                  <a:lnTo>
                    <a:pt x="673354" y="495808"/>
                  </a:lnTo>
                  <a:lnTo>
                    <a:pt x="751103" y="450469"/>
                  </a:lnTo>
                  <a:lnTo>
                    <a:pt x="762000" y="444119"/>
                  </a:lnTo>
                  <a:close/>
                </a:path>
                <a:path extrusionOk="0" h="789304" w="762000">
                  <a:moveTo>
                    <a:pt x="762000" y="51689"/>
                  </a:moveTo>
                  <a:lnTo>
                    <a:pt x="751103" y="45339"/>
                  </a:lnTo>
                  <a:lnTo>
                    <a:pt x="673354" y="0"/>
                  </a:lnTo>
                  <a:lnTo>
                    <a:pt x="669544" y="1016"/>
                  </a:lnTo>
                  <a:lnTo>
                    <a:pt x="665988" y="7112"/>
                  </a:lnTo>
                  <a:lnTo>
                    <a:pt x="667004" y="10922"/>
                  </a:lnTo>
                  <a:lnTo>
                    <a:pt x="725982" y="45339"/>
                  </a:lnTo>
                  <a:lnTo>
                    <a:pt x="0" y="45339"/>
                  </a:lnTo>
                  <a:lnTo>
                    <a:pt x="0" y="58039"/>
                  </a:lnTo>
                  <a:lnTo>
                    <a:pt x="725982" y="58039"/>
                  </a:lnTo>
                  <a:lnTo>
                    <a:pt x="667004" y="92456"/>
                  </a:lnTo>
                  <a:lnTo>
                    <a:pt x="665988" y="96266"/>
                  </a:lnTo>
                  <a:lnTo>
                    <a:pt x="669544" y="102362"/>
                  </a:lnTo>
                  <a:lnTo>
                    <a:pt x="673354" y="103378"/>
                  </a:lnTo>
                  <a:lnTo>
                    <a:pt x="751103" y="58039"/>
                  </a:lnTo>
                  <a:lnTo>
                    <a:pt x="762000" y="51689"/>
                  </a:lnTo>
                  <a:close/>
                </a:path>
              </a:pathLst>
            </a:custGeom>
            <a:solidFill>
              <a:srgbClr val="497DB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436" name="Google Shape;436;p30"/>
          <p:cNvGrpSpPr/>
          <p:nvPr/>
        </p:nvGrpSpPr>
        <p:grpSpPr>
          <a:xfrm>
            <a:off x="10052050" y="4651883"/>
            <a:ext cx="1079500" cy="1109979"/>
            <a:chOff x="10052050" y="4651883"/>
            <a:chExt cx="1079500" cy="1109979"/>
          </a:xfrm>
        </p:grpSpPr>
        <p:sp>
          <p:nvSpPr>
            <p:cNvPr id="437" name="Google Shape;437;p30"/>
            <p:cNvSpPr/>
            <p:nvPr/>
          </p:nvSpPr>
          <p:spPr>
            <a:xfrm>
              <a:off x="10058400" y="4658233"/>
              <a:ext cx="1066800" cy="1097279"/>
            </a:xfrm>
            <a:custGeom>
              <a:rect b="b" l="l" r="r" t="t"/>
              <a:pathLst>
                <a:path extrusionOk="0" h="1097279" w="1066800">
                  <a:moveTo>
                    <a:pt x="1066800" y="0"/>
                  </a:moveTo>
                  <a:lnTo>
                    <a:pt x="711200" y="0"/>
                  </a:lnTo>
                  <a:lnTo>
                    <a:pt x="3556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0" y="731481"/>
                  </a:lnTo>
                  <a:lnTo>
                    <a:pt x="0" y="1097241"/>
                  </a:lnTo>
                  <a:lnTo>
                    <a:pt x="355600" y="1097241"/>
                  </a:lnTo>
                  <a:lnTo>
                    <a:pt x="711200" y="1097241"/>
                  </a:lnTo>
                  <a:lnTo>
                    <a:pt x="1066800" y="1097241"/>
                  </a:lnTo>
                  <a:lnTo>
                    <a:pt x="1066800" y="731520"/>
                  </a:lnTo>
                  <a:lnTo>
                    <a:pt x="1066800" y="36576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E6B8B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8" name="Google Shape;438;p30"/>
            <p:cNvSpPr/>
            <p:nvPr/>
          </p:nvSpPr>
          <p:spPr>
            <a:xfrm>
              <a:off x="10414000" y="4651883"/>
              <a:ext cx="355600" cy="1109979"/>
            </a:xfrm>
            <a:custGeom>
              <a:rect b="b" l="l" r="r" t="t"/>
              <a:pathLst>
                <a:path extrusionOk="0" h="1109979" w="355600">
                  <a:moveTo>
                    <a:pt x="0" y="0"/>
                  </a:moveTo>
                  <a:lnTo>
                    <a:pt x="0" y="1109941"/>
                  </a:lnTo>
                </a:path>
                <a:path extrusionOk="0" h="1109979" w="355600">
                  <a:moveTo>
                    <a:pt x="355600" y="0"/>
                  </a:moveTo>
                  <a:lnTo>
                    <a:pt x="355600" y="1109941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30"/>
            <p:cNvSpPr/>
            <p:nvPr/>
          </p:nvSpPr>
          <p:spPr>
            <a:xfrm>
              <a:off x="10052050" y="5023993"/>
              <a:ext cx="1079500" cy="0"/>
            </a:xfrm>
            <a:custGeom>
              <a:rect b="b" l="l" r="r" t="t"/>
              <a:pathLst>
                <a:path extrusionOk="0" h="120000" w="1079500">
                  <a:moveTo>
                    <a:pt x="0" y="0"/>
                  </a:moveTo>
                  <a:lnTo>
                    <a:pt x="107950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30"/>
            <p:cNvSpPr/>
            <p:nvPr/>
          </p:nvSpPr>
          <p:spPr>
            <a:xfrm>
              <a:off x="10052050" y="4651883"/>
              <a:ext cx="1079500" cy="1109979"/>
            </a:xfrm>
            <a:custGeom>
              <a:rect b="b" l="l" r="r" t="t"/>
              <a:pathLst>
                <a:path extrusionOk="0" h="1109979" w="1079500">
                  <a:moveTo>
                    <a:pt x="0" y="737870"/>
                  </a:moveTo>
                  <a:lnTo>
                    <a:pt x="1079500" y="737870"/>
                  </a:lnTo>
                </a:path>
                <a:path extrusionOk="0" h="1109979" w="1079500">
                  <a:moveTo>
                    <a:pt x="6350" y="0"/>
                  </a:moveTo>
                  <a:lnTo>
                    <a:pt x="6350" y="1109941"/>
                  </a:lnTo>
                </a:path>
                <a:path extrusionOk="0" h="1109979" w="1079500">
                  <a:moveTo>
                    <a:pt x="1073150" y="0"/>
                  </a:moveTo>
                  <a:lnTo>
                    <a:pt x="1073150" y="1109941"/>
                  </a:lnTo>
                </a:path>
                <a:path extrusionOk="0" h="1109979" w="1079500">
                  <a:moveTo>
                    <a:pt x="0" y="6350"/>
                  </a:moveTo>
                  <a:lnTo>
                    <a:pt x="1079500" y="6350"/>
                  </a:lnTo>
                </a:path>
                <a:path extrusionOk="0" h="1109979" w="1079500">
                  <a:moveTo>
                    <a:pt x="0" y="1103591"/>
                  </a:moveTo>
                  <a:lnTo>
                    <a:pt x="1079500" y="1103591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30"/>
            <p:cNvSpPr/>
            <p:nvPr/>
          </p:nvSpPr>
          <p:spPr>
            <a:xfrm>
              <a:off x="10187686" y="4858893"/>
              <a:ext cx="789304" cy="762000"/>
            </a:xfrm>
            <a:custGeom>
              <a:rect b="b" l="l" r="r" t="t"/>
              <a:pathLst>
                <a:path extrusionOk="0" h="762000" w="789304">
                  <a:moveTo>
                    <a:pt x="103378" y="88646"/>
                  </a:moveTo>
                  <a:lnTo>
                    <a:pt x="59016" y="12573"/>
                  </a:lnTo>
                  <a:lnTo>
                    <a:pt x="51689" y="0"/>
                  </a:lnTo>
                  <a:lnTo>
                    <a:pt x="0" y="88646"/>
                  </a:lnTo>
                  <a:lnTo>
                    <a:pt x="1016" y="92456"/>
                  </a:lnTo>
                  <a:lnTo>
                    <a:pt x="7112" y="96012"/>
                  </a:lnTo>
                  <a:lnTo>
                    <a:pt x="10922" y="94996"/>
                  </a:lnTo>
                  <a:lnTo>
                    <a:pt x="45339" y="36004"/>
                  </a:lnTo>
                  <a:lnTo>
                    <a:pt x="45339" y="762000"/>
                  </a:lnTo>
                  <a:lnTo>
                    <a:pt x="58039" y="762000"/>
                  </a:lnTo>
                  <a:lnTo>
                    <a:pt x="58039" y="36004"/>
                  </a:lnTo>
                  <a:lnTo>
                    <a:pt x="92456" y="94996"/>
                  </a:lnTo>
                  <a:lnTo>
                    <a:pt x="96266" y="96012"/>
                  </a:lnTo>
                  <a:lnTo>
                    <a:pt x="102362" y="92456"/>
                  </a:lnTo>
                  <a:lnTo>
                    <a:pt x="103378" y="88646"/>
                  </a:lnTo>
                  <a:close/>
                </a:path>
                <a:path extrusionOk="0" h="762000" w="789304">
                  <a:moveTo>
                    <a:pt x="478282" y="88646"/>
                  </a:moveTo>
                  <a:lnTo>
                    <a:pt x="433920" y="12573"/>
                  </a:lnTo>
                  <a:lnTo>
                    <a:pt x="426593" y="0"/>
                  </a:lnTo>
                  <a:lnTo>
                    <a:pt x="374904" y="88646"/>
                  </a:lnTo>
                  <a:lnTo>
                    <a:pt x="375920" y="92456"/>
                  </a:lnTo>
                  <a:lnTo>
                    <a:pt x="382016" y="96012"/>
                  </a:lnTo>
                  <a:lnTo>
                    <a:pt x="385826" y="94996"/>
                  </a:lnTo>
                  <a:lnTo>
                    <a:pt x="420243" y="36004"/>
                  </a:lnTo>
                  <a:lnTo>
                    <a:pt x="420243" y="762000"/>
                  </a:lnTo>
                  <a:lnTo>
                    <a:pt x="432943" y="762000"/>
                  </a:lnTo>
                  <a:lnTo>
                    <a:pt x="432943" y="36004"/>
                  </a:lnTo>
                  <a:lnTo>
                    <a:pt x="467360" y="94996"/>
                  </a:lnTo>
                  <a:lnTo>
                    <a:pt x="471170" y="96012"/>
                  </a:lnTo>
                  <a:lnTo>
                    <a:pt x="477266" y="92456"/>
                  </a:lnTo>
                  <a:lnTo>
                    <a:pt x="478282" y="88646"/>
                  </a:lnTo>
                  <a:close/>
                </a:path>
                <a:path extrusionOk="0" h="762000" w="789304">
                  <a:moveTo>
                    <a:pt x="789178" y="88646"/>
                  </a:moveTo>
                  <a:lnTo>
                    <a:pt x="744816" y="12573"/>
                  </a:lnTo>
                  <a:lnTo>
                    <a:pt x="737489" y="0"/>
                  </a:lnTo>
                  <a:lnTo>
                    <a:pt x="685800" y="88646"/>
                  </a:lnTo>
                  <a:lnTo>
                    <a:pt x="686816" y="92456"/>
                  </a:lnTo>
                  <a:lnTo>
                    <a:pt x="692912" y="96012"/>
                  </a:lnTo>
                  <a:lnTo>
                    <a:pt x="696722" y="94996"/>
                  </a:lnTo>
                  <a:lnTo>
                    <a:pt x="731139" y="36004"/>
                  </a:lnTo>
                  <a:lnTo>
                    <a:pt x="731139" y="762000"/>
                  </a:lnTo>
                  <a:lnTo>
                    <a:pt x="743839" y="762000"/>
                  </a:lnTo>
                  <a:lnTo>
                    <a:pt x="743839" y="36004"/>
                  </a:lnTo>
                  <a:lnTo>
                    <a:pt x="778256" y="94996"/>
                  </a:lnTo>
                  <a:lnTo>
                    <a:pt x="782066" y="96012"/>
                  </a:lnTo>
                  <a:lnTo>
                    <a:pt x="788162" y="92456"/>
                  </a:lnTo>
                  <a:lnTo>
                    <a:pt x="789178" y="88646"/>
                  </a:lnTo>
                  <a:close/>
                </a:path>
              </a:pathLst>
            </a:custGeom>
            <a:solidFill>
              <a:srgbClr val="497DB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42" name="Google Shape;442;p30"/>
          <p:cNvSpPr txBox="1"/>
          <p:nvPr/>
        </p:nvSpPr>
        <p:spPr>
          <a:xfrm>
            <a:off x="9018269" y="5799582"/>
            <a:ext cx="3180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baseline="-25000" i="1" lang="en-US" sz="1800">
                <a:latin typeface="Georgia"/>
                <a:ea typeface="Georgia"/>
                <a:cs typeface="Georgia"/>
                <a:sym typeface="Georgia"/>
              </a:rPr>
              <a:t>x</a:t>
            </a:r>
            <a:endParaRPr baseline="-25000"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3" name="Google Shape;443;p30"/>
          <p:cNvSpPr txBox="1"/>
          <p:nvPr/>
        </p:nvSpPr>
        <p:spPr>
          <a:xfrm>
            <a:off x="10518900" y="5791200"/>
            <a:ext cx="318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Georgia"/>
                <a:ea typeface="Georgia"/>
                <a:cs typeface="Georgia"/>
                <a:sym typeface="Georgia"/>
              </a:rPr>
              <a:t>Gy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444" name="Google Shape;444;p30"/>
          <p:cNvGrpSpPr/>
          <p:nvPr/>
        </p:nvGrpSpPr>
        <p:grpSpPr>
          <a:xfrm>
            <a:off x="5668898" y="4724780"/>
            <a:ext cx="2057400" cy="1783081"/>
            <a:chOff x="5668898" y="4724780"/>
            <a:chExt cx="2057400" cy="1783081"/>
          </a:xfrm>
        </p:grpSpPr>
        <p:sp>
          <p:nvSpPr>
            <p:cNvPr id="445" name="Google Shape;445;p30"/>
            <p:cNvSpPr/>
            <p:nvPr/>
          </p:nvSpPr>
          <p:spPr>
            <a:xfrm>
              <a:off x="5703951" y="4724780"/>
              <a:ext cx="1816100" cy="762000"/>
            </a:xfrm>
            <a:custGeom>
              <a:rect b="b" l="l" r="r" t="t"/>
              <a:pathLst>
                <a:path extrusionOk="0" h="762000" w="1816100">
                  <a:moveTo>
                    <a:pt x="762000" y="457200"/>
                  </a:moveTo>
                  <a:lnTo>
                    <a:pt x="751103" y="450850"/>
                  </a:lnTo>
                  <a:lnTo>
                    <a:pt x="673354" y="405511"/>
                  </a:lnTo>
                  <a:lnTo>
                    <a:pt x="669544" y="406527"/>
                  </a:lnTo>
                  <a:lnTo>
                    <a:pt x="665988" y="412623"/>
                  </a:lnTo>
                  <a:lnTo>
                    <a:pt x="667004" y="416433"/>
                  </a:lnTo>
                  <a:lnTo>
                    <a:pt x="725982" y="450850"/>
                  </a:lnTo>
                  <a:lnTo>
                    <a:pt x="0" y="450850"/>
                  </a:lnTo>
                  <a:lnTo>
                    <a:pt x="0" y="463550"/>
                  </a:lnTo>
                  <a:lnTo>
                    <a:pt x="725995" y="463550"/>
                  </a:lnTo>
                  <a:lnTo>
                    <a:pt x="667004" y="497979"/>
                  </a:lnTo>
                  <a:lnTo>
                    <a:pt x="665988" y="501777"/>
                  </a:lnTo>
                  <a:lnTo>
                    <a:pt x="669544" y="507873"/>
                  </a:lnTo>
                  <a:lnTo>
                    <a:pt x="673354" y="508889"/>
                  </a:lnTo>
                  <a:lnTo>
                    <a:pt x="751103" y="463550"/>
                  </a:lnTo>
                  <a:lnTo>
                    <a:pt x="762000" y="457200"/>
                  </a:lnTo>
                  <a:close/>
                </a:path>
                <a:path extrusionOk="0" h="762000" w="1816100">
                  <a:moveTo>
                    <a:pt x="1815719" y="88646"/>
                  </a:moveTo>
                  <a:lnTo>
                    <a:pt x="1771357" y="12573"/>
                  </a:lnTo>
                  <a:lnTo>
                    <a:pt x="1764030" y="0"/>
                  </a:lnTo>
                  <a:lnTo>
                    <a:pt x="1712341" y="88646"/>
                  </a:lnTo>
                  <a:lnTo>
                    <a:pt x="1713357" y="92456"/>
                  </a:lnTo>
                  <a:lnTo>
                    <a:pt x="1719453" y="96012"/>
                  </a:lnTo>
                  <a:lnTo>
                    <a:pt x="1723263" y="94996"/>
                  </a:lnTo>
                  <a:lnTo>
                    <a:pt x="1757680" y="36004"/>
                  </a:lnTo>
                  <a:lnTo>
                    <a:pt x="1757680" y="762000"/>
                  </a:lnTo>
                  <a:lnTo>
                    <a:pt x="1770380" y="762000"/>
                  </a:lnTo>
                  <a:lnTo>
                    <a:pt x="1770380" y="36004"/>
                  </a:lnTo>
                  <a:lnTo>
                    <a:pt x="1804797" y="94996"/>
                  </a:lnTo>
                  <a:lnTo>
                    <a:pt x="1808607" y="96012"/>
                  </a:lnTo>
                  <a:lnTo>
                    <a:pt x="1814703" y="92456"/>
                  </a:lnTo>
                  <a:lnTo>
                    <a:pt x="1815719" y="88646"/>
                  </a:lnTo>
                  <a:close/>
                </a:path>
              </a:pathLst>
            </a:custGeom>
            <a:solidFill>
              <a:srgbClr val="497DB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30"/>
            <p:cNvSpPr/>
            <p:nvPr/>
          </p:nvSpPr>
          <p:spPr>
            <a:xfrm>
              <a:off x="5668898" y="5745861"/>
              <a:ext cx="2057400" cy="762000"/>
            </a:xfrm>
            <a:custGeom>
              <a:rect b="b" l="l" r="r" t="t"/>
              <a:pathLst>
                <a:path extrusionOk="0" h="762000" w="2057400">
                  <a:moveTo>
                    <a:pt x="2057400" y="0"/>
                  </a:moveTo>
                  <a:lnTo>
                    <a:pt x="2054418" y="47792"/>
                  </a:lnTo>
                  <a:lnTo>
                    <a:pt x="2045713" y="93814"/>
                  </a:lnTo>
                  <a:lnTo>
                    <a:pt x="2031642" y="137706"/>
                  </a:lnTo>
                  <a:lnTo>
                    <a:pt x="2012565" y="179112"/>
                  </a:lnTo>
                  <a:lnTo>
                    <a:pt x="1988840" y="217676"/>
                  </a:lnTo>
                  <a:lnTo>
                    <a:pt x="1960826" y="253039"/>
                  </a:lnTo>
                  <a:lnTo>
                    <a:pt x="1928881" y="284846"/>
                  </a:lnTo>
                  <a:lnTo>
                    <a:pt x="1893363" y="312739"/>
                  </a:lnTo>
                  <a:lnTo>
                    <a:pt x="1854633" y="336361"/>
                  </a:lnTo>
                  <a:lnTo>
                    <a:pt x="1813047" y="355355"/>
                  </a:lnTo>
                  <a:lnTo>
                    <a:pt x="1768966" y="369364"/>
                  </a:lnTo>
                  <a:lnTo>
                    <a:pt x="1722747" y="378031"/>
                  </a:lnTo>
                  <a:lnTo>
                    <a:pt x="1674749" y="380999"/>
                  </a:lnTo>
                  <a:lnTo>
                    <a:pt x="1420241" y="380999"/>
                  </a:lnTo>
                  <a:lnTo>
                    <a:pt x="1372242" y="383968"/>
                  </a:lnTo>
                  <a:lnTo>
                    <a:pt x="1326023" y="392635"/>
                  </a:lnTo>
                  <a:lnTo>
                    <a:pt x="1281942" y="406644"/>
                  </a:lnTo>
                  <a:lnTo>
                    <a:pt x="1240356" y="425638"/>
                  </a:lnTo>
                  <a:lnTo>
                    <a:pt x="1201626" y="449260"/>
                  </a:lnTo>
                  <a:lnTo>
                    <a:pt x="1166108" y="477153"/>
                  </a:lnTo>
                  <a:lnTo>
                    <a:pt x="1134163" y="508960"/>
                  </a:lnTo>
                  <a:lnTo>
                    <a:pt x="1106149" y="544323"/>
                  </a:lnTo>
                  <a:lnTo>
                    <a:pt x="1082424" y="582887"/>
                  </a:lnTo>
                  <a:lnTo>
                    <a:pt x="1063347" y="624293"/>
                  </a:lnTo>
                  <a:lnTo>
                    <a:pt x="1049276" y="668185"/>
                  </a:lnTo>
                  <a:lnTo>
                    <a:pt x="1040571" y="714207"/>
                  </a:lnTo>
                  <a:lnTo>
                    <a:pt x="1037590" y="761999"/>
                  </a:lnTo>
                  <a:lnTo>
                    <a:pt x="1034608" y="714207"/>
                  </a:lnTo>
                  <a:lnTo>
                    <a:pt x="1025903" y="668185"/>
                  </a:lnTo>
                  <a:lnTo>
                    <a:pt x="1011832" y="624293"/>
                  </a:lnTo>
                  <a:lnTo>
                    <a:pt x="992755" y="582887"/>
                  </a:lnTo>
                  <a:lnTo>
                    <a:pt x="969030" y="544323"/>
                  </a:lnTo>
                  <a:lnTo>
                    <a:pt x="941016" y="508960"/>
                  </a:lnTo>
                  <a:lnTo>
                    <a:pt x="909071" y="477153"/>
                  </a:lnTo>
                  <a:lnTo>
                    <a:pt x="873553" y="449260"/>
                  </a:lnTo>
                  <a:lnTo>
                    <a:pt x="834823" y="425638"/>
                  </a:lnTo>
                  <a:lnTo>
                    <a:pt x="793237" y="406644"/>
                  </a:lnTo>
                  <a:lnTo>
                    <a:pt x="749156" y="392635"/>
                  </a:lnTo>
                  <a:lnTo>
                    <a:pt x="702937" y="383968"/>
                  </a:lnTo>
                  <a:lnTo>
                    <a:pt x="654938" y="380999"/>
                  </a:lnTo>
                  <a:lnTo>
                    <a:pt x="382650" y="380999"/>
                  </a:lnTo>
                  <a:lnTo>
                    <a:pt x="334652" y="378031"/>
                  </a:lnTo>
                  <a:lnTo>
                    <a:pt x="288433" y="369364"/>
                  </a:lnTo>
                  <a:lnTo>
                    <a:pt x="244352" y="355355"/>
                  </a:lnTo>
                  <a:lnTo>
                    <a:pt x="202766" y="336361"/>
                  </a:lnTo>
                  <a:lnTo>
                    <a:pt x="164036" y="312739"/>
                  </a:lnTo>
                  <a:lnTo>
                    <a:pt x="128518" y="284846"/>
                  </a:lnTo>
                  <a:lnTo>
                    <a:pt x="96573" y="253039"/>
                  </a:lnTo>
                  <a:lnTo>
                    <a:pt x="68559" y="217676"/>
                  </a:lnTo>
                  <a:lnTo>
                    <a:pt x="44834" y="179112"/>
                  </a:lnTo>
                  <a:lnTo>
                    <a:pt x="25757" y="137706"/>
                  </a:lnTo>
                  <a:lnTo>
                    <a:pt x="11686" y="93814"/>
                  </a:lnTo>
                  <a:lnTo>
                    <a:pt x="2981" y="47792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47" name="Google Shape;447;p30"/>
          <p:cNvSpPr/>
          <p:nvPr/>
        </p:nvSpPr>
        <p:spPr>
          <a:xfrm>
            <a:off x="8822055" y="5898260"/>
            <a:ext cx="2057400" cy="762000"/>
          </a:xfrm>
          <a:custGeom>
            <a:rect b="b" l="l" r="r" t="t"/>
            <a:pathLst>
              <a:path extrusionOk="0" h="762000" w="2057400">
                <a:moveTo>
                  <a:pt x="2057400" y="0"/>
                </a:moveTo>
                <a:lnTo>
                  <a:pt x="2054418" y="47792"/>
                </a:lnTo>
                <a:lnTo>
                  <a:pt x="2045713" y="93814"/>
                </a:lnTo>
                <a:lnTo>
                  <a:pt x="2031642" y="137706"/>
                </a:lnTo>
                <a:lnTo>
                  <a:pt x="2012565" y="179112"/>
                </a:lnTo>
                <a:lnTo>
                  <a:pt x="1988840" y="217676"/>
                </a:lnTo>
                <a:lnTo>
                  <a:pt x="1960826" y="253039"/>
                </a:lnTo>
                <a:lnTo>
                  <a:pt x="1928881" y="284846"/>
                </a:lnTo>
                <a:lnTo>
                  <a:pt x="1893363" y="312739"/>
                </a:lnTo>
                <a:lnTo>
                  <a:pt x="1854633" y="336361"/>
                </a:lnTo>
                <a:lnTo>
                  <a:pt x="1813047" y="355355"/>
                </a:lnTo>
                <a:lnTo>
                  <a:pt x="1768966" y="369364"/>
                </a:lnTo>
                <a:lnTo>
                  <a:pt x="1722747" y="378031"/>
                </a:lnTo>
                <a:lnTo>
                  <a:pt x="1674749" y="380999"/>
                </a:lnTo>
                <a:lnTo>
                  <a:pt x="1402461" y="380999"/>
                </a:lnTo>
                <a:lnTo>
                  <a:pt x="1354462" y="383968"/>
                </a:lnTo>
                <a:lnTo>
                  <a:pt x="1308243" y="392635"/>
                </a:lnTo>
                <a:lnTo>
                  <a:pt x="1264162" y="406644"/>
                </a:lnTo>
                <a:lnTo>
                  <a:pt x="1222576" y="425638"/>
                </a:lnTo>
                <a:lnTo>
                  <a:pt x="1183846" y="449260"/>
                </a:lnTo>
                <a:lnTo>
                  <a:pt x="1148328" y="477153"/>
                </a:lnTo>
                <a:lnTo>
                  <a:pt x="1116383" y="508960"/>
                </a:lnTo>
                <a:lnTo>
                  <a:pt x="1088369" y="544323"/>
                </a:lnTo>
                <a:lnTo>
                  <a:pt x="1064644" y="582887"/>
                </a:lnTo>
                <a:lnTo>
                  <a:pt x="1045567" y="624293"/>
                </a:lnTo>
                <a:lnTo>
                  <a:pt x="1031496" y="668185"/>
                </a:lnTo>
                <a:lnTo>
                  <a:pt x="1022791" y="714207"/>
                </a:lnTo>
                <a:lnTo>
                  <a:pt x="1019810" y="761999"/>
                </a:lnTo>
                <a:lnTo>
                  <a:pt x="1016828" y="714207"/>
                </a:lnTo>
                <a:lnTo>
                  <a:pt x="1008123" y="668185"/>
                </a:lnTo>
                <a:lnTo>
                  <a:pt x="994052" y="624293"/>
                </a:lnTo>
                <a:lnTo>
                  <a:pt x="974975" y="582887"/>
                </a:lnTo>
                <a:lnTo>
                  <a:pt x="951250" y="544323"/>
                </a:lnTo>
                <a:lnTo>
                  <a:pt x="923236" y="508960"/>
                </a:lnTo>
                <a:lnTo>
                  <a:pt x="891291" y="477153"/>
                </a:lnTo>
                <a:lnTo>
                  <a:pt x="855773" y="449260"/>
                </a:lnTo>
                <a:lnTo>
                  <a:pt x="817043" y="425638"/>
                </a:lnTo>
                <a:lnTo>
                  <a:pt x="775457" y="406644"/>
                </a:lnTo>
                <a:lnTo>
                  <a:pt x="731376" y="392635"/>
                </a:lnTo>
                <a:lnTo>
                  <a:pt x="685157" y="383968"/>
                </a:lnTo>
                <a:lnTo>
                  <a:pt x="637159" y="380999"/>
                </a:lnTo>
                <a:lnTo>
                  <a:pt x="382650" y="380999"/>
                </a:lnTo>
                <a:lnTo>
                  <a:pt x="334652" y="378031"/>
                </a:lnTo>
                <a:lnTo>
                  <a:pt x="288433" y="369364"/>
                </a:lnTo>
                <a:lnTo>
                  <a:pt x="244352" y="355355"/>
                </a:lnTo>
                <a:lnTo>
                  <a:pt x="202766" y="336361"/>
                </a:lnTo>
                <a:lnTo>
                  <a:pt x="164036" y="312739"/>
                </a:lnTo>
                <a:lnTo>
                  <a:pt x="128518" y="284846"/>
                </a:lnTo>
                <a:lnTo>
                  <a:pt x="96573" y="253039"/>
                </a:lnTo>
                <a:lnTo>
                  <a:pt x="68559" y="217676"/>
                </a:lnTo>
                <a:lnTo>
                  <a:pt x="44834" y="179112"/>
                </a:lnTo>
                <a:lnTo>
                  <a:pt x="25757" y="137706"/>
                </a:lnTo>
                <a:lnTo>
                  <a:pt x="11686" y="93814"/>
                </a:lnTo>
                <a:lnTo>
                  <a:pt x="2981" y="47792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8" name="Google Shape;448;p3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9" name="Google Shape;449;p3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0" name="Google Shape;450;p3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6" name="Google Shape;456;p3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7" name="Google Shape;457;p3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2D050"/>
                </a:solidFill>
                <a:latin typeface="Georgia"/>
                <a:ea typeface="Georgia"/>
                <a:cs typeface="Georgia"/>
                <a:sym typeface="Georgia"/>
              </a:rPr>
              <a:t>Quick recap: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Important Edge Operators</a:t>
            </a:r>
            <a:endParaRPr/>
          </a:p>
        </p:txBody>
      </p:sp>
      <p:sp>
        <p:nvSpPr>
          <p:cNvPr id="458" name="Google Shape;458;p3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9" name="Google Shape;459;p3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0" name="Google Shape;460;p3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461" name="Google Shape;46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10250"/>
            <a:ext cx="11316839" cy="5347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7" name="Google Shape;467;p3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8" name="Google Shape;468;p3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Agenda for Today’s Class</a:t>
            </a:r>
            <a:endParaRPr/>
          </a:p>
        </p:txBody>
      </p:sp>
      <p:sp>
        <p:nvSpPr>
          <p:cNvPr id="469" name="Google Shape;469;p32"/>
          <p:cNvSpPr txBox="1"/>
          <p:nvPr/>
        </p:nvSpPr>
        <p:spPr>
          <a:xfrm>
            <a:off x="662940" y="962158"/>
            <a:ext cx="8114700" cy="3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Examples of	edge detection based on gradient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797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1</a:t>
            </a:r>
            <a:r>
              <a:rPr baseline="30000" lang="en-US" sz="2775">
                <a:latin typeface="Georgia"/>
                <a:ea typeface="Georgia"/>
                <a:cs typeface="Georgia"/>
                <a:sym typeface="Georgia"/>
              </a:rPr>
              <a:t>st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order derivative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Edge detection using 2</a:t>
            </a:r>
            <a:r>
              <a:rPr baseline="30000" lang="en-US" sz="315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nd </a:t>
            </a:r>
            <a:r>
              <a:rPr lang="en-US" sz="32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order derivative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7978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6FC0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Laplacian operator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Edge detection in noisy images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7978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6FC0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LoG Operator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797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6FC0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DoG Operator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0" name="Google Shape;470;p3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1" name="Google Shape;471;p3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2" name="Google Shape;472;p3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8" name="Google Shape;478;p3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9" name="Google Shape;479;p3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An example of edge detection: </a:t>
            </a:r>
            <a:r>
              <a:rPr b="1" i="1" lang="en-US" sz="3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Prewitt Operator</a:t>
            </a:r>
            <a:endParaRPr sz="38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480" name="Google Shape;480;p33"/>
          <p:cNvGraphicFramePr/>
          <p:nvPr/>
        </p:nvGraphicFramePr>
        <p:xfrm>
          <a:off x="501650" y="1670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{C631AD5B-B408-4F61-B6F0-10DCD702AF72}</a:tableStyleId>
              </a:tblPr>
              <a:tblGrid>
                <a:gridCol w="690250"/>
                <a:gridCol w="690250"/>
                <a:gridCol w="690250"/>
                <a:gridCol w="690250"/>
                <a:gridCol w="690250"/>
                <a:gridCol w="690250"/>
              </a:tblGrid>
              <a:tr h="63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3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3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1" name="Google Shape;481;p33"/>
          <p:cNvGraphicFramePr/>
          <p:nvPr/>
        </p:nvGraphicFramePr>
        <p:xfrm>
          <a:off x="7537450" y="17550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{C631AD5B-B408-4F61-B6F0-10DCD702AF72}</a:tableStyleId>
              </a:tblPr>
              <a:tblGrid>
                <a:gridCol w="690250"/>
                <a:gridCol w="690250"/>
                <a:gridCol w="690250"/>
                <a:gridCol w="690250"/>
                <a:gridCol w="690250"/>
                <a:gridCol w="690250"/>
              </a:tblGrid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3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82" name="Google Shape;482;p3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3" name="Google Shape;483;p3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4" name="Google Shape;484;p3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485" name="Google Shape;48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550" y="2456563"/>
            <a:ext cx="2589500" cy="2245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5875" y="5623500"/>
            <a:ext cx="3394499" cy="6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2" name="Google Shape;492;p3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3" name="Google Shape;493;p3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An example of edge detection: </a:t>
            </a:r>
            <a:r>
              <a:rPr b="1" i="1" lang="en-US" sz="3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Prewitt Operator</a:t>
            </a:r>
            <a:endParaRPr sz="38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494" name="Google Shape;494;p34"/>
          <p:cNvGraphicFramePr/>
          <p:nvPr/>
        </p:nvGraphicFramePr>
        <p:xfrm>
          <a:off x="501650" y="1670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{C631AD5B-B408-4F61-B6F0-10DCD702AF72}</a:tableStyleId>
              </a:tblPr>
              <a:tblGrid>
                <a:gridCol w="690250"/>
                <a:gridCol w="690250"/>
                <a:gridCol w="690250"/>
                <a:gridCol w="690250"/>
                <a:gridCol w="690250"/>
                <a:gridCol w="690250"/>
              </a:tblGrid>
              <a:tr h="63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3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3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AF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5" name="Google Shape;495;p34"/>
          <p:cNvGraphicFramePr/>
          <p:nvPr/>
        </p:nvGraphicFramePr>
        <p:xfrm>
          <a:off x="7537450" y="17550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{C631AD5B-B408-4F61-B6F0-10DCD702AF72}</a:tableStyleId>
              </a:tblPr>
              <a:tblGrid>
                <a:gridCol w="690250"/>
                <a:gridCol w="690250"/>
                <a:gridCol w="690250"/>
                <a:gridCol w="690250"/>
                <a:gridCol w="690250"/>
                <a:gridCol w="690250"/>
              </a:tblGrid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6" name="Google Shape;496;p3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7" name="Google Shape;497;p3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8" name="Google Shape;498;p3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499" name="Google Shape;49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550" y="2381850"/>
            <a:ext cx="2589500" cy="222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3100" y="5639496"/>
            <a:ext cx="2570198" cy="6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6" name="Google Shape;506;p3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7" name="Google Shape;507;p3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An example of edge detection: </a:t>
            </a:r>
            <a:r>
              <a:rPr b="1" i="1" lang="en-US" sz="3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Prewitt Operator</a:t>
            </a:r>
            <a:endParaRPr sz="38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508" name="Google Shape;508;p35"/>
          <p:cNvGraphicFramePr/>
          <p:nvPr/>
        </p:nvGraphicFramePr>
        <p:xfrm>
          <a:off x="3879850" y="19577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{C631AD5B-B408-4F61-B6F0-10DCD702AF72}</a:tableStyleId>
              </a:tblPr>
              <a:tblGrid>
                <a:gridCol w="584200"/>
                <a:gridCol w="584200"/>
                <a:gridCol w="584200"/>
                <a:gridCol w="584200"/>
                <a:gridCol w="584200"/>
                <a:gridCol w="584200"/>
              </a:tblGrid>
              <a:tr h="5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5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5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5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509" name="Google Shape;509;p35"/>
          <p:cNvSpPr txBox="1"/>
          <p:nvPr/>
        </p:nvSpPr>
        <p:spPr>
          <a:xfrm>
            <a:off x="4083851" y="5250950"/>
            <a:ext cx="3048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721360" lvl="0" marL="758825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Vertical Gradient Image (using G</a:t>
            </a:r>
            <a:r>
              <a:rPr b="1" baseline="-25000" lang="en-US" sz="1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y</a:t>
            </a:r>
            <a:r>
              <a:rPr b="1" lang="en-US" sz="1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510" name="Google Shape;510;p35"/>
          <p:cNvGraphicFramePr/>
          <p:nvPr/>
        </p:nvGraphicFramePr>
        <p:xfrm>
          <a:off x="69850" y="1136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{C631AD5B-B408-4F61-B6F0-10DCD702AF72}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56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885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3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6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66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66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6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66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6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511" name="Google Shape;511;p35"/>
          <p:cNvSpPr txBox="1"/>
          <p:nvPr/>
        </p:nvSpPr>
        <p:spPr>
          <a:xfrm>
            <a:off x="281950" y="4731250"/>
            <a:ext cx="3394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55980" lvl="0" marL="893443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Horizontal Gradient Image (using G</a:t>
            </a:r>
            <a:r>
              <a:rPr b="1" baseline="-25000" lang="en-US" sz="1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b="1" lang="en-US" sz="1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512" name="Google Shape;512;p35"/>
          <p:cNvGraphicFramePr/>
          <p:nvPr/>
        </p:nvGraphicFramePr>
        <p:xfrm>
          <a:off x="8299450" y="24164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{C631AD5B-B408-4F61-B6F0-10DCD702AF72}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56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16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6F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6F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6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6F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6F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6F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6F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6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6F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6F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6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513" name="Google Shape;513;p35"/>
          <p:cNvSpPr txBox="1"/>
          <p:nvPr/>
        </p:nvSpPr>
        <p:spPr>
          <a:xfrm>
            <a:off x="8715575" y="5886700"/>
            <a:ext cx="317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38200" lvl="0" marL="8509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Resultant Gradient Image (using G)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4" name="Google Shape;514;p3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5" name="Google Shape;515;p3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6" name="Google Shape;516;p3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grpSp>
        <p:nvGrpSpPr>
          <p:cNvPr id="517" name="Google Shape;517;p35"/>
          <p:cNvGrpSpPr/>
          <p:nvPr/>
        </p:nvGrpSpPr>
        <p:grpSpPr>
          <a:xfrm>
            <a:off x="305181" y="5498210"/>
            <a:ext cx="8517254" cy="861060"/>
            <a:chOff x="305181" y="5498210"/>
            <a:chExt cx="8517254" cy="861060"/>
          </a:xfrm>
        </p:grpSpPr>
        <p:sp>
          <p:nvSpPr>
            <p:cNvPr id="518" name="Google Shape;518;p35"/>
            <p:cNvSpPr/>
            <p:nvPr/>
          </p:nvSpPr>
          <p:spPr>
            <a:xfrm>
              <a:off x="305181" y="5498210"/>
              <a:ext cx="7162800" cy="861060"/>
            </a:xfrm>
            <a:custGeom>
              <a:rect b="b" l="l" r="r" t="t"/>
              <a:pathLst>
                <a:path extrusionOk="0" h="861060" w="7162800">
                  <a:moveTo>
                    <a:pt x="7162800" y="0"/>
                  </a:moveTo>
                  <a:lnTo>
                    <a:pt x="7161643" y="77386"/>
                  </a:lnTo>
                  <a:lnTo>
                    <a:pt x="7158310" y="150223"/>
                  </a:lnTo>
                  <a:lnTo>
                    <a:pt x="7153002" y="217294"/>
                  </a:lnTo>
                  <a:lnTo>
                    <a:pt x="7145922" y="277382"/>
                  </a:lnTo>
                  <a:lnTo>
                    <a:pt x="7137273" y="329272"/>
                  </a:lnTo>
                  <a:lnTo>
                    <a:pt x="7127258" y="371748"/>
                  </a:lnTo>
                  <a:lnTo>
                    <a:pt x="7103941" y="423593"/>
                  </a:lnTo>
                  <a:lnTo>
                    <a:pt x="7091045" y="430529"/>
                  </a:lnTo>
                  <a:lnTo>
                    <a:pt x="3554349" y="430529"/>
                  </a:lnTo>
                  <a:lnTo>
                    <a:pt x="3541452" y="437466"/>
                  </a:lnTo>
                  <a:lnTo>
                    <a:pt x="3518135" y="489311"/>
                  </a:lnTo>
                  <a:lnTo>
                    <a:pt x="3508120" y="531787"/>
                  </a:lnTo>
                  <a:lnTo>
                    <a:pt x="3499471" y="583677"/>
                  </a:lnTo>
                  <a:lnTo>
                    <a:pt x="3492391" y="643765"/>
                  </a:lnTo>
                  <a:lnTo>
                    <a:pt x="3487083" y="710836"/>
                  </a:lnTo>
                  <a:lnTo>
                    <a:pt x="3483750" y="783673"/>
                  </a:lnTo>
                  <a:lnTo>
                    <a:pt x="3482594" y="861059"/>
                  </a:lnTo>
                  <a:lnTo>
                    <a:pt x="3481437" y="783673"/>
                  </a:lnTo>
                  <a:lnTo>
                    <a:pt x="3478104" y="710836"/>
                  </a:lnTo>
                  <a:lnTo>
                    <a:pt x="3472796" y="643765"/>
                  </a:lnTo>
                  <a:lnTo>
                    <a:pt x="3465716" y="583677"/>
                  </a:lnTo>
                  <a:lnTo>
                    <a:pt x="3457067" y="531787"/>
                  </a:lnTo>
                  <a:lnTo>
                    <a:pt x="3447052" y="489311"/>
                  </a:lnTo>
                  <a:lnTo>
                    <a:pt x="3423735" y="437466"/>
                  </a:lnTo>
                  <a:lnTo>
                    <a:pt x="3410839" y="430529"/>
                  </a:lnTo>
                  <a:lnTo>
                    <a:pt x="71754" y="430529"/>
                  </a:lnTo>
                  <a:lnTo>
                    <a:pt x="58858" y="423593"/>
                  </a:lnTo>
                  <a:lnTo>
                    <a:pt x="35541" y="371748"/>
                  </a:lnTo>
                  <a:lnTo>
                    <a:pt x="25526" y="329272"/>
                  </a:lnTo>
                  <a:lnTo>
                    <a:pt x="16877" y="277382"/>
                  </a:lnTo>
                  <a:lnTo>
                    <a:pt x="9797" y="217294"/>
                  </a:lnTo>
                  <a:lnTo>
                    <a:pt x="4489" y="150223"/>
                  </a:lnTo>
                  <a:lnTo>
                    <a:pt x="1156" y="77386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19" name="Google Shape;519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47509" y="5706617"/>
              <a:ext cx="2074926" cy="587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5"/>
            <p:cNvSpPr/>
            <p:nvPr/>
          </p:nvSpPr>
          <p:spPr>
            <a:xfrm>
              <a:off x="6788784" y="5839777"/>
              <a:ext cx="1886584" cy="397510"/>
            </a:xfrm>
            <a:custGeom>
              <a:rect b="b" l="l" r="r" t="t"/>
              <a:pathLst>
                <a:path extrusionOk="0" h="397510" w="1886584">
                  <a:moveTo>
                    <a:pt x="22606" y="110921"/>
                  </a:moveTo>
                  <a:lnTo>
                    <a:pt x="0" y="141681"/>
                  </a:lnTo>
                  <a:lnTo>
                    <a:pt x="59436" y="182880"/>
                  </a:lnTo>
                  <a:lnTo>
                    <a:pt x="126416" y="221246"/>
                  </a:lnTo>
                  <a:lnTo>
                    <a:pt x="162306" y="239001"/>
                  </a:lnTo>
                  <a:lnTo>
                    <a:pt x="199644" y="255955"/>
                  </a:lnTo>
                  <a:lnTo>
                    <a:pt x="238506" y="271932"/>
                  </a:lnTo>
                  <a:lnTo>
                    <a:pt x="278511" y="287007"/>
                  </a:lnTo>
                  <a:lnTo>
                    <a:pt x="319699" y="301205"/>
                  </a:lnTo>
                  <a:lnTo>
                    <a:pt x="362204" y="314413"/>
                  </a:lnTo>
                  <a:lnTo>
                    <a:pt x="405638" y="326745"/>
                  </a:lnTo>
                  <a:lnTo>
                    <a:pt x="450088" y="338112"/>
                  </a:lnTo>
                  <a:lnTo>
                    <a:pt x="495300" y="348513"/>
                  </a:lnTo>
                  <a:lnTo>
                    <a:pt x="541528" y="357949"/>
                  </a:lnTo>
                  <a:lnTo>
                    <a:pt x="588137" y="366407"/>
                  </a:lnTo>
                  <a:lnTo>
                    <a:pt x="635508" y="373913"/>
                  </a:lnTo>
                  <a:lnTo>
                    <a:pt x="683514" y="380352"/>
                  </a:lnTo>
                  <a:lnTo>
                    <a:pt x="731901" y="385737"/>
                  </a:lnTo>
                  <a:lnTo>
                    <a:pt x="780669" y="390156"/>
                  </a:lnTo>
                  <a:lnTo>
                    <a:pt x="829691" y="393522"/>
                  </a:lnTo>
                  <a:lnTo>
                    <a:pt x="878967" y="395833"/>
                  </a:lnTo>
                  <a:lnTo>
                    <a:pt x="928243" y="397090"/>
                  </a:lnTo>
                  <a:lnTo>
                    <a:pt x="977646" y="397281"/>
                  </a:lnTo>
                  <a:lnTo>
                    <a:pt x="1026922" y="396430"/>
                  </a:lnTo>
                  <a:lnTo>
                    <a:pt x="1076071" y="394411"/>
                  </a:lnTo>
                  <a:lnTo>
                    <a:pt x="1124966" y="391248"/>
                  </a:lnTo>
                  <a:lnTo>
                    <a:pt x="1173480" y="386930"/>
                  </a:lnTo>
                  <a:lnTo>
                    <a:pt x="1221613" y="381546"/>
                  </a:lnTo>
                  <a:lnTo>
                    <a:pt x="1269365" y="374916"/>
                  </a:lnTo>
                  <a:lnTo>
                    <a:pt x="1316482" y="367220"/>
                  </a:lnTo>
                  <a:lnTo>
                    <a:pt x="1358102" y="359181"/>
                  </a:lnTo>
                  <a:lnTo>
                    <a:pt x="977773" y="359181"/>
                  </a:lnTo>
                  <a:lnTo>
                    <a:pt x="929259" y="359003"/>
                  </a:lnTo>
                  <a:lnTo>
                    <a:pt x="880745" y="357784"/>
                  </a:lnTo>
                  <a:lnTo>
                    <a:pt x="832358" y="355511"/>
                  </a:lnTo>
                  <a:lnTo>
                    <a:pt x="784225" y="352221"/>
                  </a:lnTo>
                  <a:lnTo>
                    <a:pt x="736219" y="347878"/>
                  </a:lnTo>
                  <a:lnTo>
                    <a:pt x="688594" y="342595"/>
                  </a:lnTo>
                  <a:lnTo>
                    <a:pt x="641476" y="336270"/>
                  </a:lnTo>
                  <a:lnTo>
                    <a:pt x="594995" y="328917"/>
                  </a:lnTo>
                  <a:lnTo>
                    <a:pt x="549148" y="320611"/>
                  </a:lnTo>
                  <a:lnTo>
                    <a:pt x="503809" y="311378"/>
                  </a:lnTo>
                  <a:lnTo>
                    <a:pt x="459486" y="301205"/>
                  </a:lnTo>
                  <a:lnTo>
                    <a:pt x="415925" y="290093"/>
                  </a:lnTo>
                  <a:lnTo>
                    <a:pt x="373507" y="278041"/>
                  </a:lnTo>
                  <a:lnTo>
                    <a:pt x="332105" y="265163"/>
                  </a:lnTo>
                  <a:lnTo>
                    <a:pt x="291973" y="251345"/>
                  </a:lnTo>
                  <a:lnTo>
                    <a:pt x="252984" y="236702"/>
                  </a:lnTo>
                  <a:lnTo>
                    <a:pt x="215392" y="221246"/>
                  </a:lnTo>
                  <a:lnTo>
                    <a:pt x="179197" y="204851"/>
                  </a:lnTo>
                  <a:lnTo>
                    <a:pt x="144653" y="187782"/>
                  </a:lnTo>
                  <a:lnTo>
                    <a:pt x="80391" y="151066"/>
                  </a:lnTo>
                  <a:lnTo>
                    <a:pt x="50926" y="131686"/>
                  </a:lnTo>
                  <a:lnTo>
                    <a:pt x="22606" y="110921"/>
                  </a:lnTo>
                  <a:close/>
                </a:path>
                <a:path extrusionOk="0" h="397510" w="1886584">
                  <a:moveTo>
                    <a:pt x="1810400" y="103102"/>
                  </a:moveTo>
                  <a:lnTo>
                    <a:pt x="1779143" y="135445"/>
                  </a:lnTo>
                  <a:lnTo>
                    <a:pt x="1739900" y="167576"/>
                  </a:lnTo>
                  <a:lnTo>
                    <a:pt x="1694180" y="198018"/>
                  </a:lnTo>
                  <a:lnTo>
                    <a:pt x="1660017" y="217322"/>
                  </a:lnTo>
                  <a:lnTo>
                    <a:pt x="1623060" y="235635"/>
                  </a:lnTo>
                  <a:lnTo>
                    <a:pt x="1583563" y="252996"/>
                  </a:lnTo>
                  <a:lnTo>
                    <a:pt x="1541399" y="269290"/>
                  </a:lnTo>
                  <a:lnTo>
                    <a:pt x="1496695" y="284403"/>
                  </a:lnTo>
                  <a:lnTo>
                    <a:pt x="1449705" y="298297"/>
                  </a:lnTo>
                  <a:lnTo>
                    <a:pt x="1400302" y="310959"/>
                  </a:lnTo>
                  <a:lnTo>
                    <a:pt x="1355725" y="320865"/>
                  </a:lnTo>
                  <a:lnTo>
                    <a:pt x="1310259" y="329628"/>
                  </a:lnTo>
                  <a:lnTo>
                    <a:pt x="1264158" y="337172"/>
                  </a:lnTo>
                  <a:lnTo>
                    <a:pt x="1217422" y="343687"/>
                  </a:lnTo>
                  <a:lnTo>
                    <a:pt x="1170178" y="348970"/>
                  </a:lnTo>
                  <a:lnTo>
                    <a:pt x="1122553" y="353225"/>
                  </a:lnTo>
                  <a:lnTo>
                    <a:pt x="1074420" y="356349"/>
                  </a:lnTo>
                  <a:lnTo>
                    <a:pt x="1026287" y="358330"/>
                  </a:lnTo>
                  <a:lnTo>
                    <a:pt x="977773" y="359181"/>
                  </a:lnTo>
                  <a:lnTo>
                    <a:pt x="1358102" y="359181"/>
                  </a:lnTo>
                  <a:lnTo>
                    <a:pt x="1408557" y="348157"/>
                  </a:lnTo>
                  <a:lnTo>
                    <a:pt x="1459357" y="335114"/>
                  </a:lnTo>
                  <a:lnTo>
                    <a:pt x="1507705" y="320865"/>
                  </a:lnTo>
                  <a:lnTo>
                    <a:pt x="1553972" y="305257"/>
                  </a:lnTo>
                  <a:lnTo>
                    <a:pt x="1597533" y="288404"/>
                  </a:lnTo>
                  <a:lnTo>
                    <a:pt x="1638808" y="270319"/>
                  </a:lnTo>
                  <a:lnTo>
                    <a:pt x="1677188" y="251345"/>
                  </a:lnTo>
                  <a:lnTo>
                    <a:pt x="1713230" y="230974"/>
                  </a:lnTo>
                  <a:lnTo>
                    <a:pt x="1746504" y="209689"/>
                  </a:lnTo>
                  <a:lnTo>
                    <a:pt x="1790954" y="175768"/>
                  </a:lnTo>
                  <a:lnTo>
                    <a:pt x="1828927" y="139585"/>
                  </a:lnTo>
                  <a:lnTo>
                    <a:pt x="1850381" y="110536"/>
                  </a:lnTo>
                  <a:lnTo>
                    <a:pt x="1837952" y="104597"/>
                  </a:lnTo>
                  <a:lnTo>
                    <a:pt x="1809496" y="104597"/>
                  </a:lnTo>
                  <a:lnTo>
                    <a:pt x="1810400" y="103102"/>
                  </a:lnTo>
                  <a:close/>
                </a:path>
                <a:path extrusionOk="0" h="397510" w="1886584">
                  <a:moveTo>
                    <a:pt x="1885532" y="76060"/>
                  </a:moveTo>
                  <a:lnTo>
                    <a:pt x="1826768" y="76060"/>
                  </a:lnTo>
                  <a:lnTo>
                    <a:pt x="1859280" y="95834"/>
                  </a:lnTo>
                  <a:lnTo>
                    <a:pt x="1850381" y="110536"/>
                  </a:lnTo>
                  <a:lnTo>
                    <a:pt x="1886458" y="127774"/>
                  </a:lnTo>
                  <a:lnTo>
                    <a:pt x="1885576" y="78498"/>
                  </a:lnTo>
                  <a:lnTo>
                    <a:pt x="1885532" y="76060"/>
                  </a:lnTo>
                  <a:close/>
                </a:path>
                <a:path extrusionOk="0" h="397510" w="1886584">
                  <a:moveTo>
                    <a:pt x="1826768" y="76060"/>
                  </a:moveTo>
                  <a:lnTo>
                    <a:pt x="1815879" y="94050"/>
                  </a:lnTo>
                  <a:lnTo>
                    <a:pt x="1850381" y="110536"/>
                  </a:lnTo>
                  <a:lnTo>
                    <a:pt x="1859280" y="95834"/>
                  </a:lnTo>
                  <a:lnTo>
                    <a:pt x="1826768" y="76060"/>
                  </a:lnTo>
                  <a:close/>
                </a:path>
                <a:path extrusionOk="0" h="397510" w="1886584">
                  <a:moveTo>
                    <a:pt x="1811528" y="101841"/>
                  </a:moveTo>
                  <a:lnTo>
                    <a:pt x="1810400" y="103102"/>
                  </a:lnTo>
                  <a:lnTo>
                    <a:pt x="1809496" y="104597"/>
                  </a:lnTo>
                  <a:lnTo>
                    <a:pt x="1811528" y="101841"/>
                  </a:lnTo>
                  <a:close/>
                </a:path>
                <a:path extrusionOk="0" h="397510" w="1886584">
                  <a:moveTo>
                    <a:pt x="1832185" y="101841"/>
                  </a:moveTo>
                  <a:lnTo>
                    <a:pt x="1811528" y="101841"/>
                  </a:lnTo>
                  <a:lnTo>
                    <a:pt x="1809496" y="104597"/>
                  </a:lnTo>
                  <a:lnTo>
                    <a:pt x="1837952" y="104597"/>
                  </a:lnTo>
                  <a:lnTo>
                    <a:pt x="1832185" y="101841"/>
                  </a:lnTo>
                  <a:close/>
                </a:path>
                <a:path extrusionOk="0" h="397510" w="1886584">
                  <a:moveTo>
                    <a:pt x="1815879" y="94050"/>
                  </a:moveTo>
                  <a:lnTo>
                    <a:pt x="1810400" y="103102"/>
                  </a:lnTo>
                  <a:lnTo>
                    <a:pt x="1811528" y="101841"/>
                  </a:lnTo>
                  <a:lnTo>
                    <a:pt x="1832185" y="101841"/>
                  </a:lnTo>
                  <a:lnTo>
                    <a:pt x="1815879" y="94050"/>
                  </a:lnTo>
                  <a:close/>
                </a:path>
                <a:path extrusionOk="0" h="397510" w="1886584">
                  <a:moveTo>
                    <a:pt x="1884172" y="0"/>
                  </a:moveTo>
                  <a:lnTo>
                    <a:pt x="1783334" y="78498"/>
                  </a:lnTo>
                  <a:lnTo>
                    <a:pt x="1815879" y="94050"/>
                  </a:lnTo>
                  <a:lnTo>
                    <a:pt x="1826768" y="76060"/>
                  </a:lnTo>
                  <a:lnTo>
                    <a:pt x="1885532" y="76060"/>
                  </a:lnTo>
                  <a:lnTo>
                    <a:pt x="1884172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521" name="Google Shape;52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3625" y="1127375"/>
            <a:ext cx="4355293" cy="86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27" name="Google Shape;527;p36"/>
          <p:cNvSpPr txBox="1"/>
          <p:nvPr>
            <p:ph idx="4294967295" type="title"/>
          </p:nvPr>
        </p:nvSpPr>
        <p:spPr>
          <a:xfrm>
            <a:off x="0" y="153150"/>
            <a:ext cx="121920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latin typeface="Georgia"/>
                <a:ea typeface="Georgia"/>
                <a:cs typeface="Georgia"/>
                <a:sym typeface="Georgia"/>
              </a:rPr>
              <a:t>An example of edge detection: </a:t>
            </a:r>
            <a:r>
              <a:rPr b="1" i="1" lang="en-US" sz="325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Robert Cross Operator</a:t>
            </a:r>
            <a:endParaRPr sz="325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8" name="Google Shape;528;p3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9" name="Google Shape;529;p3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0" name="Google Shape;530;p3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531" name="Google Shape;5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4050"/>
            <a:ext cx="11516864" cy="5347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7" name="Google Shape;537;p3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8" name="Google Shape;538;p3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Examples: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Edge Detection</a:t>
            </a:r>
            <a:endParaRPr/>
          </a:p>
        </p:txBody>
      </p:sp>
      <p:sp>
        <p:nvSpPr>
          <p:cNvPr id="539" name="Google Shape;539;p37"/>
          <p:cNvSpPr txBox="1"/>
          <p:nvPr/>
        </p:nvSpPr>
        <p:spPr>
          <a:xfrm>
            <a:off x="688353" y="1140450"/>
            <a:ext cx="77757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Horizontal and vertical derivatives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40" name="Google Shape;54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855" y="2097785"/>
            <a:ext cx="2868168" cy="2880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0" y="2097785"/>
            <a:ext cx="2891028" cy="2880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1990" y="2097785"/>
            <a:ext cx="2823972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37"/>
          <p:cNvSpPr txBox="1"/>
          <p:nvPr/>
        </p:nvSpPr>
        <p:spPr>
          <a:xfrm>
            <a:off x="1526020" y="5120900"/>
            <a:ext cx="19029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12700" marR="508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Georgia"/>
                <a:ea typeface="Georgia"/>
                <a:cs typeface="Georgia"/>
                <a:sym typeface="Georgia"/>
              </a:rPr>
              <a:t>Original Image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4" name="Google Shape;544;p37"/>
          <p:cNvSpPr txBox="1"/>
          <p:nvPr/>
        </p:nvSpPr>
        <p:spPr>
          <a:xfrm>
            <a:off x="5182346" y="5044700"/>
            <a:ext cx="20133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Georgia"/>
                <a:ea typeface="Georgia"/>
                <a:cs typeface="Georgia"/>
                <a:sym typeface="Georgia"/>
              </a:rPr>
              <a:t>Horizontal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Gradient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5" name="Google Shape;545;p37"/>
          <p:cNvSpPr txBox="1"/>
          <p:nvPr/>
        </p:nvSpPr>
        <p:spPr>
          <a:xfrm>
            <a:off x="8916926" y="5044700"/>
            <a:ext cx="19029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Georgia"/>
                <a:ea typeface="Georgia"/>
                <a:cs typeface="Georgia"/>
                <a:sym typeface="Georgia"/>
              </a:rPr>
              <a:t>Vertical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rtl="0" algn="l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Gradient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6" name="Google Shape;546;p3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7" name="Google Shape;547;p3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8" name="Google Shape;548;p3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4" name="Google Shape;554;p3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5" name="Google Shape;555;p38"/>
          <p:cNvSpPr txBox="1"/>
          <p:nvPr>
            <p:ph idx="4294967295" type="title"/>
          </p:nvPr>
        </p:nvSpPr>
        <p:spPr>
          <a:xfrm>
            <a:off x="0" y="153150"/>
            <a:ext cx="121920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Georgia"/>
                <a:ea typeface="Georgia"/>
                <a:cs typeface="Georgia"/>
                <a:sym typeface="Georgia"/>
              </a:rPr>
              <a:t>Edge Detection – </a:t>
            </a:r>
            <a:r>
              <a:rPr lang="en-US" sz="4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Thresholding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6" name="Google Shape;556;p38"/>
          <p:cNvSpPr txBox="1"/>
          <p:nvPr/>
        </p:nvSpPr>
        <p:spPr>
          <a:xfrm>
            <a:off x="359840" y="1222976"/>
            <a:ext cx="10905600" cy="4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After computing the gradient, </a:t>
            </a:r>
            <a:r>
              <a:rPr lang="en-US" sz="3600" u="sng">
                <a:solidFill>
                  <a:srgbClr val="375F92"/>
                </a:solidFill>
                <a:latin typeface="Georgia"/>
                <a:ea typeface="Georgia"/>
                <a:cs typeface="Georgia"/>
                <a:sym typeface="Georgia"/>
              </a:rPr>
              <a:t>thresholding</a:t>
            </a:r>
            <a:r>
              <a:rPr lang="en-US" sz="3600" u="none">
                <a:solidFill>
                  <a:srgbClr val="375F92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600" u="none">
                <a:latin typeface="Georgia"/>
                <a:ea typeface="Georgia"/>
                <a:cs typeface="Georgia"/>
                <a:sym typeface="Georgia"/>
              </a:rPr>
              <a:t>is need to be performed to get the </a:t>
            </a:r>
            <a:r>
              <a:rPr lang="en-US" sz="3600" u="sng">
                <a:solidFill>
                  <a:srgbClr val="548ED4"/>
                </a:solidFill>
                <a:latin typeface="Georgia"/>
                <a:ea typeface="Georgia"/>
                <a:cs typeface="Georgia"/>
                <a:sym typeface="Georgia"/>
              </a:rPr>
              <a:t>edge location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955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Noto Sans Symbols"/>
              <a:buNone/>
            </a:pPr>
            <a:r>
              <a:t/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375F92"/>
                </a:solidFill>
                <a:latin typeface="Georgia"/>
                <a:ea typeface="Georgia"/>
                <a:cs typeface="Georgia"/>
                <a:sym typeface="Georgia"/>
              </a:rPr>
              <a:t>Steps of thresholding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rgbClr val="92D050"/>
              </a:buClr>
              <a:buSzPts val="3200"/>
              <a:buFont typeface="Arial"/>
              <a:buChar char="–"/>
            </a:pPr>
            <a:r>
              <a:rPr lang="en-US" sz="3200" u="sng">
                <a:solidFill>
                  <a:srgbClr val="92D050"/>
                </a:solidFill>
                <a:latin typeface="Georgia"/>
                <a:ea typeface="Georgia"/>
                <a:cs typeface="Georgia"/>
                <a:sym typeface="Georgia"/>
              </a:rPr>
              <a:t>Choose a threshold </a:t>
            </a:r>
            <a:r>
              <a:rPr lang="en-US" sz="3200" u="none">
                <a:latin typeface="Georgia"/>
                <a:ea typeface="Georgia"/>
                <a:cs typeface="Georgia"/>
                <a:sym typeface="Georgia"/>
              </a:rPr>
              <a:t>value </a:t>
            </a:r>
            <a:r>
              <a:rPr i="1" lang="en-US" sz="3200" u="none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Set any pixels less than </a:t>
            </a:r>
            <a:r>
              <a:rPr i="1" lang="en-US" sz="320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t 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to </a:t>
            </a:r>
            <a:r>
              <a:rPr lang="en-US" sz="3200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zero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Set any pixels greater than or equal to </a:t>
            </a:r>
            <a:r>
              <a:rPr i="1" lang="en-US" sz="320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t 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to </a:t>
            </a:r>
            <a:r>
              <a:rPr lang="en-US" sz="3200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one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7" name="Google Shape;557;p3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8" name="Google Shape;558;p3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9" name="Google Shape;559;p3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0404" y="1000505"/>
            <a:ext cx="6749796" cy="5400294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9"/>
          <p:cNvSpPr txBox="1"/>
          <p:nvPr>
            <p:ph idx="4294967295" type="title"/>
          </p:nvPr>
        </p:nvSpPr>
        <p:spPr>
          <a:xfrm>
            <a:off x="75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Original Image</a:t>
            </a:r>
            <a:endParaRPr/>
          </a:p>
        </p:txBody>
      </p:sp>
      <p:sp>
        <p:nvSpPr>
          <p:cNvPr id="566" name="Google Shape;566;p3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7" name="Google Shape;567;p39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6613" y="1000505"/>
            <a:ext cx="6897625" cy="5400294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0"/>
          <p:cNvSpPr txBox="1"/>
          <p:nvPr>
            <p:ph idx="4294967295" type="title"/>
          </p:nvPr>
        </p:nvSpPr>
        <p:spPr>
          <a:xfrm>
            <a:off x="75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Gradient Magnitude Image</a:t>
            </a:r>
            <a:endParaRPr/>
          </a:p>
        </p:txBody>
      </p:sp>
      <p:sp>
        <p:nvSpPr>
          <p:cNvPr id="574" name="Google Shape;574;p4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5" name="Google Shape;575;p40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2351" y="1011756"/>
            <a:ext cx="6727297" cy="5377792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41"/>
          <p:cNvSpPr txBox="1"/>
          <p:nvPr>
            <p:ph idx="4294967295" type="title"/>
          </p:nvPr>
        </p:nvSpPr>
        <p:spPr>
          <a:xfrm>
            <a:off x="75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Thresholding gradient with a </a:t>
            </a:r>
            <a:r>
              <a:rPr lang="en-US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lower threshold</a:t>
            </a:r>
            <a:endParaRPr/>
          </a:p>
        </p:txBody>
      </p:sp>
      <p:sp>
        <p:nvSpPr>
          <p:cNvPr id="582" name="Google Shape;582;p4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3" name="Google Shape;583;p41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2351" y="1011756"/>
            <a:ext cx="6727297" cy="5377792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2"/>
          <p:cNvSpPr txBox="1"/>
          <p:nvPr>
            <p:ph idx="4294967295" type="title"/>
          </p:nvPr>
        </p:nvSpPr>
        <p:spPr>
          <a:xfrm>
            <a:off x="75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Thresholding gradient with a </a:t>
            </a:r>
            <a:r>
              <a:rPr lang="en-US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higher threshold</a:t>
            </a:r>
            <a:endParaRPr/>
          </a:p>
        </p:txBody>
      </p:sp>
      <p:sp>
        <p:nvSpPr>
          <p:cNvPr id="590" name="Google Shape;590;p4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1" name="Google Shape;591;p42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7" name="Google Shape;597;p4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8" name="Google Shape;598;p4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More results on Edge Detection</a:t>
            </a:r>
            <a:endParaRPr/>
          </a:p>
        </p:txBody>
      </p:sp>
      <p:pic>
        <p:nvPicPr>
          <p:cNvPr id="599" name="Google Shape;59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4076700"/>
            <a:ext cx="308610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3"/>
          <p:cNvSpPr txBox="1"/>
          <p:nvPr/>
        </p:nvSpPr>
        <p:spPr>
          <a:xfrm>
            <a:off x="9528047" y="5309616"/>
            <a:ext cx="1550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1F5F"/>
                </a:solidFill>
                <a:latin typeface="Georgia"/>
                <a:ea typeface="Georgia"/>
                <a:cs typeface="Georgia"/>
                <a:sym typeface="Georgia"/>
              </a:rPr>
              <a:t>Sobel Operator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601" name="Google Shape;60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4038600"/>
            <a:ext cx="3124200" cy="2334006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3"/>
          <p:cNvSpPr txBox="1"/>
          <p:nvPr/>
        </p:nvSpPr>
        <p:spPr>
          <a:xfrm>
            <a:off x="1297953" y="5196075"/>
            <a:ext cx="1035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48ED4"/>
                </a:solidFill>
                <a:latin typeface="Georgia"/>
                <a:ea typeface="Georgia"/>
                <a:cs typeface="Georgia"/>
                <a:sym typeface="Georgia"/>
              </a:rPr>
              <a:t>Original Image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603" name="Google Shape;60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28544" y="1123950"/>
            <a:ext cx="2810256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67855" y="1066800"/>
            <a:ext cx="2828544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3"/>
          <p:cNvSpPr txBox="1"/>
          <p:nvPr/>
        </p:nvSpPr>
        <p:spPr>
          <a:xfrm>
            <a:off x="1354452" y="2528825"/>
            <a:ext cx="1035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48ED4"/>
                </a:solidFill>
                <a:latin typeface="Georgia"/>
                <a:ea typeface="Georgia"/>
                <a:cs typeface="Georgia"/>
                <a:sym typeface="Georgia"/>
              </a:rPr>
              <a:t>Original Image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6" name="Google Shape;606;p43"/>
          <p:cNvSpPr txBox="1"/>
          <p:nvPr/>
        </p:nvSpPr>
        <p:spPr>
          <a:xfrm>
            <a:off x="9375647" y="2680461"/>
            <a:ext cx="1550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1F5F"/>
                </a:solidFill>
                <a:latin typeface="Georgia"/>
                <a:ea typeface="Georgia"/>
                <a:cs typeface="Georgia"/>
                <a:sym typeface="Georgia"/>
              </a:rPr>
              <a:t>Sobel Operator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7" name="Google Shape;607;p4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8" name="Google Shape;608;p4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9" name="Google Shape;609;p4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5" name="Google Shape;615;p4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6" name="Google Shape;616;p4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Edge Operator using 2</a:t>
            </a:r>
            <a:r>
              <a:rPr baseline="30000" lang="en-US" sz="3975">
                <a:latin typeface="Georgia"/>
                <a:ea typeface="Georgia"/>
                <a:cs typeface="Georgia"/>
                <a:sym typeface="Georgia"/>
              </a:rPr>
              <a:t>nd </a:t>
            </a:r>
            <a:r>
              <a:rPr lang="en-US" sz="4000">
                <a:latin typeface="Georgia"/>
                <a:ea typeface="Georgia"/>
                <a:cs typeface="Georgia"/>
                <a:sym typeface="Georgia"/>
              </a:rPr>
              <a:t>Order Difference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7" name="Google Shape;617;p44"/>
          <p:cNvSpPr txBox="1"/>
          <p:nvPr/>
        </p:nvSpPr>
        <p:spPr>
          <a:xfrm>
            <a:off x="662940" y="1054354"/>
            <a:ext cx="10351800" cy="12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810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Georgia"/>
                <a:ea typeface="Georgia"/>
                <a:cs typeface="Georgia"/>
                <a:sym typeface="Georgia"/>
              </a:rPr>
              <a:t>When 2</a:t>
            </a:r>
            <a:r>
              <a:rPr baseline="30000" lang="en-US" sz="3975">
                <a:latin typeface="Georgia"/>
                <a:ea typeface="Georgia"/>
                <a:cs typeface="Georgia"/>
                <a:sym typeface="Georgia"/>
              </a:rPr>
              <a:t>nd </a:t>
            </a:r>
            <a:r>
              <a:rPr lang="en-US" sz="4000">
                <a:latin typeface="Georgia"/>
                <a:ea typeface="Georgia"/>
                <a:cs typeface="Georgia"/>
                <a:sym typeface="Georgia"/>
              </a:rPr>
              <a:t>order difference is used in computing edges, edge location is computed by locating the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8" name="Google Shape;618;p44"/>
          <p:cNvSpPr txBox="1"/>
          <p:nvPr/>
        </p:nvSpPr>
        <p:spPr>
          <a:xfrm>
            <a:off x="1031239" y="3445167"/>
            <a:ext cx="30390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zero-crossings</a:t>
            </a:r>
            <a:endParaRPr sz="37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619" name="Google Shape;619;p44"/>
          <p:cNvGrpSpPr/>
          <p:nvPr/>
        </p:nvGrpSpPr>
        <p:grpSpPr>
          <a:xfrm>
            <a:off x="3733673" y="2499360"/>
            <a:ext cx="4453636" cy="3794760"/>
            <a:chOff x="3733673" y="2499360"/>
            <a:chExt cx="4453636" cy="3794760"/>
          </a:xfrm>
        </p:grpSpPr>
        <p:sp>
          <p:nvSpPr>
            <p:cNvPr id="620" name="Google Shape;620;p44"/>
            <p:cNvSpPr/>
            <p:nvPr/>
          </p:nvSpPr>
          <p:spPr>
            <a:xfrm>
              <a:off x="3774186" y="2850667"/>
              <a:ext cx="3080384" cy="701039"/>
            </a:xfrm>
            <a:custGeom>
              <a:rect b="b" l="l" r="r" t="t"/>
              <a:pathLst>
                <a:path extrusionOk="0" h="701039" w="3080384">
                  <a:moveTo>
                    <a:pt x="0" y="664819"/>
                  </a:moveTo>
                  <a:lnTo>
                    <a:pt x="57993" y="667437"/>
                  </a:lnTo>
                  <a:lnTo>
                    <a:pt x="115957" y="670042"/>
                  </a:lnTo>
                  <a:lnTo>
                    <a:pt x="173863" y="672623"/>
                  </a:lnTo>
                  <a:lnTo>
                    <a:pt x="231683" y="675167"/>
                  </a:lnTo>
                  <a:lnTo>
                    <a:pt x="289386" y="677662"/>
                  </a:lnTo>
                  <a:lnTo>
                    <a:pt x="346943" y="680096"/>
                  </a:lnTo>
                  <a:lnTo>
                    <a:pt x="404326" y="682457"/>
                  </a:lnTo>
                  <a:lnTo>
                    <a:pt x="461504" y="684733"/>
                  </a:lnTo>
                  <a:lnTo>
                    <a:pt x="518450" y="686911"/>
                  </a:lnTo>
                  <a:lnTo>
                    <a:pt x="575133" y="688979"/>
                  </a:lnTo>
                  <a:lnTo>
                    <a:pt x="631524" y="690925"/>
                  </a:lnTo>
                  <a:lnTo>
                    <a:pt x="687595" y="692737"/>
                  </a:lnTo>
                  <a:lnTo>
                    <a:pt x="743316" y="694403"/>
                  </a:lnTo>
                  <a:lnTo>
                    <a:pt x="798657" y="695909"/>
                  </a:lnTo>
                  <a:lnTo>
                    <a:pt x="853591" y="697245"/>
                  </a:lnTo>
                  <a:lnTo>
                    <a:pt x="908086" y="698398"/>
                  </a:lnTo>
                  <a:lnTo>
                    <a:pt x="962115" y="699356"/>
                  </a:lnTo>
                  <a:lnTo>
                    <a:pt x="1015647" y="700106"/>
                  </a:lnTo>
                  <a:lnTo>
                    <a:pt x="1068655" y="700636"/>
                  </a:lnTo>
                  <a:lnTo>
                    <a:pt x="1121108" y="700935"/>
                  </a:lnTo>
                  <a:lnTo>
                    <a:pt x="1172977" y="700989"/>
                  </a:lnTo>
                  <a:lnTo>
                    <a:pt x="1224234" y="700788"/>
                  </a:lnTo>
                  <a:lnTo>
                    <a:pt x="1274848" y="700317"/>
                  </a:lnTo>
                  <a:lnTo>
                    <a:pt x="1324791" y="699567"/>
                  </a:lnTo>
                  <a:lnTo>
                    <a:pt x="1374034" y="698523"/>
                  </a:lnTo>
                  <a:lnTo>
                    <a:pt x="1422547" y="697174"/>
                  </a:lnTo>
                  <a:lnTo>
                    <a:pt x="1470301" y="695508"/>
                  </a:lnTo>
                  <a:lnTo>
                    <a:pt x="1517267" y="693512"/>
                  </a:lnTo>
                  <a:lnTo>
                    <a:pt x="1563416" y="691174"/>
                  </a:lnTo>
                  <a:lnTo>
                    <a:pt x="1608718" y="688483"/>
                  </a:lnTo>
                  <a:lnTo>
                    <a:pt x="1653145" y="685426"/>
                  </a:lnTo>
                  <a:lnTo>
                    <a:pt x="1696667" y="681990"/>
                  </a:lnTo>
                  <a:lnTo>
                    <a:pt x="1739254" y="678163"/>
                  </a:lnTo>
                  <a:lnTo>
                    <a:pt x="1780878" y="673934"/>
                  </a:lnTo>
                  <a:lnTo>
                    <a:pt x="1821510" y="669290"/>
                  </a:lnTo>
                  <a:lnTo>
                    <a:pt x="1861120" y="664219"/>
                  </a:lnTo>
                  <a:lnTo>
                    <a:pt x="1899679" y="658709"/>
                  </a:lnTo>
                  <a:lnTo>
                    <a:pt x="1973528" y="646321"/>
                  </a:lnTo>
                  <a:lnTo>
                    <a:pt x="2072480" y="624166"/>
                  </a:lnTo>
                  <a:lnTo>
                    <a:pt x="2131844" y="605833"/>
                  </a:lnTo>
                  <a:lnTo>
                    <a:pt x="2187106" y="584736"/>
                  </a:lnTo>
                  <a:lnTo>
                    <a:pt x="2238522" y="561193"/>
                  </a:lnTo>
                  <a:lnTo>
                    <a:pt x="2286347" y="535519"/>
                  </a:lnTo>
                  <a:lnTo>
                    <a:pt x="2330839" y="508031"/>
                  </a:lnTo>
                  <a:lnTo>
                    <a:pt x="2372251" y="479047"/>
                  </a:lnTo>
                  <a:lnTo>
                    <a:pt x="2410841" y="448882"/>
                  </a:lnTo>
                  <a:lnTo>
                    <a:pt x="2446864" y="417854"/>
                  </a:lnTo>
                  <a:lnTo>
                    <a:pt x="2480576" y="386279"/>
                  </a:lnTo>
                  <a:lnTo>
                    <a:pt x="2512232" y="354474"/>
                  </a:lnTo>
                  <a:lnTo>
                    <a:pt x="2542089" y="322756"/>
                  </a:lnTo>
                  <a:lnTo>
                    <a:pt x="2570402" y="291441"/>
                  </a:lnTo>
                  <a:lnTo>
                    <a:pt x="2597427" y="260846"/>
                  </a:lnTo>
                  <a:lnTo>
                    <a:pt x="2623420" y="231288"/>
                  </a:lnTo>
                  <a:lnTo>
                    <a:pt x="2648637" y="203084"/>
                  </a:lnTo>
                  <a:lnTo>
                    <a:pt x="2697764" y="152001"/>
                  </a:lnTo>
                  <a:lnTo>
                    <a:pt x="2746856" y="110133"/>
                  </a:lnTo>
                  <a:lnTo>
                    <a:pt x="2841913" y="54772"/>
                  </a:lnTo>
                  <a:lnTo>
                    <a:pt x="2899843" y="28091"/>
                  </a:lnTo>
                  <a:lnTo>
                    <a:pt x="2947814" y="11404"/>
                  </a:lnTo>
                  <a:lnTo>
                    <a:pt x="2987820" y="2707"/>
                  </a:lnTo>
                  <a:lnTo>
                    <a:pt x="3021857" y="0"/>
                  </a:lnTo>
                  <a:lnTo>
                    <a:pt x="3051920" y="1280"/>
                  </a:lnTo>
                  <a:lnTo>
                    <a:pt x="3080004" y="4546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1" name="Google Shape;621;p44"/>
            <p:cNvSpPr/>
            <p:nvPr/>
          </p:nvSpPr>
          <p:spPr>
            <a:xfrm>
              <a:off x="3733673" y="3449955"/>
              <a:ext cx="645160" cy="262889"/>
            </a:xfrm>
            <a:custGeom>
              <a:rect b="b" l="l" r="r" t="t"/>
              <a:pathLst>
                <a:path extrusionOk="0" h="262889" w="645160">
                  <a:moveTo>
                    <a:pt x="39624" y="62230"/>
                  </a:moveTo>
                  <a:lnTo>
                    <a:pt x="42163" y="60833"/>
                  </a:lnTo>
                  <a:lnTo>
                    <a:pt x="44323" y="59055"/>
                  </a:lnTo>
                  <a:lnTo>
                    <a:pt x="46862" y="57912"/>
                  </a:lnTo>
                  <a:lnTo>
                    <a:pt x="49656" y="56896"/>
                  </a:lnTo>
                  <a:lnTo>
                    <a:pt x="52577" y="55372"/>
                  </a:lnTo>
                  <a:lnTo>
                    <a:pt x="55117" y="54356"/>
                  </a:lnTo>
                  <a:lnTo>
                    <a:pt x="57912" y="53212"/>
                  </a:lnTo>
                  <a:lnTo>
                    <a:pt x="60832" y="52832"/>
                  </a:lnTo>
                  <a:lnTo>
                    <a:pt x="63753" y="51816"/>
                  </a:lnTo>
                  <a:lnTo>
                    <a:pt x="66675" y="51435"/>
                  </a:lnTo>
                  <a:lnTo>
                    <a:pt x="69468" y="50673"/>
                  </a:lnTo>
                  <a:lnTo>
                    <a:pt x="76326" y="50419"/>
                  </a:lnTo>
                  <a:lnTo>
                    <a:pt x="91821" y="47498"/>
                  </a:lnTo>
                  <a:lnTo>
                    <a:pt x="107314" y="44196"/>
                  </a:lnTo>
                  <a:lnTo>
                    <a:pt x="123443" y="41021"/>
                  </a:lnTo>
                  <a:lnTo>
                    <a:pt x="139700" y="38862"/>
                  </a:lnTo>
                  <a:lnTo>
                    <a:pt x="182499" y="36322"/>
                  </a:lnTo>
                  <a:lnTo>
                    <a:pt x="150875" y="35941"/>
                  </a:lnTo>
                  <a:lnTo>
                    <a:pt x="52577" y="37084"/>
                  </a:lnTo>
                  <a:lnTo>
                    <a:pt x="48260" y="37465"/>
                  </a:lnTo>
                  <a:lnTo>
                    <a:pt x="44323" y="38100"/>
                  </a:lnTo>
                  <a:lnTo>
                    <a:pt x="40639" y="38862"/>
                  </a:lnTo>
                  <a:lnTo>
                    <a:pt x="36702" y="39243"/>
                  </a:lnTo>
                  <a:lnTo>
                    <a:pt x="25526" y="42799"/>
                  </a:lnTo>
                  <a:lnTo>
                    <a:pt x="25273" y="42799"/>
                  </a:lnTo>
                  <a:lnTo>
                    <a:pt x="24129" y="43180"/>
                  </a:lnTo>
                  <a:lnTo>
                    <a:pt x="23367" y="43561"/>
                  </a:lnTo>
                  <a:lnTo>
                    <a:pt x="22732" y="43942"/>
                  </a:lnTo>
                  <a:lnTo>
                    <a:pt x="21971" y="44577"/>
                  </a:lnTo>
                  <a:lnTo>
                    <a:pt x="21209" y="44958"/>
                  </a:lnTo>
                  <a:lnTo>
                    <a:pt x="20574" y="45339"/>
                  </a:lnTo>
                  <a:lnTo>
                    <a:pt x="19430" y="45720"/>
                  </a:lnTo>
                  <a:lnTo>
                    <a:pt x="19050" y="46355"/>
                  </a:lnTo>
                  <a:lnTo>
                    <a:pt x="18414" y="46736"/>
                  </a:lnTo>
                  <a:lnTo>
                    <a:pt x="17652" y="47498"/>
                  </a:lnTo>
                  <a:lnTo>
                    <a:pt x="17272" y="48260"/>
                  </a:lnTo>
                  <a:lnTo>
                    <a:pt x="16255" y="49275"/>
                  </a:lnTo>
                  <a:lnTo>
                    <a:pt x="15875" y="50037"/>
                  </a:lnTo>
                  <a:lnTo>
                    <a:pt x="15875" y="50419"/>
                  </a:lnTo>
                  <a:lnTo>
                    <a:pt x="15493" y="50673"/>
                  </a:lnTo>
                  <a:lnTo>
                    <a:pt x="15493" y="51054"/>
                  </a:lnTo>
                  <a:lnTo>
                    <a:pt x="15112" y="51816"/>
                  </a:lnTo>
                  <a:lnTo>
                    <a:pt x="15112" y="54737"/>
                  </a:lnTo>
                  <a:lnTo>
                    <a:pt x="15112" y="55372"/>
                  </a:lnTo>
                  <a:lnTo>
                    <a:pt x="15493" y="56134"/>
                  </a:lnTo>
                  <a:lnTo>
                    <a:pt x="15493" y="56515"/>
                  </a:lnTo>
                  <a:lnTo>
                    <a:pt x="15493" y="56896"/>
                  </a:lnTo>
                  <a:lnTo>
                    <a:pt x="15875" y="56896"/>
                  </a:lnTo>
                  <a:lnTo>
                    <a:pt x="15875" y="57150"/>
                  </a:lnTo>
                  <a:lnTo>
                    <a:pt x="16255" y="57912"/>
                  </a:lnTo>
                  <a:lnTo>
                    <a:pt x="16510" y="58293"/>
                  </a:lnTo>
                  <a:lnTo>
                    <a:pt x="16510" y="58674"/>
                  </a:lnTo>
                  <a:lnTo>
                    <a:pt x="16890" y="59055"/>
                  </a:lnTo>
                  <a:lnTo>
                    <a:pt x="17652" y="60071"/>
                  </a:lnTo>
                  <a:lnTo>
                    <a:pt x="19812" y="62230"/>
                  </a:lnTo>
                  <a:lnTo>
                    <a:pt x="22732" y="64770"/>
                  </a:lnTo>
                  <a:lnTo>
                    <a:pt x="24891" y="66548"/>
                  </a:lnTo>
                  <a:lnTo>
                    <a:pt x="27431" y="68707"/>
                  </a:lnTo>
                  <a:lnTo>
                    <a:pt x="30225" y="70485"/>
                  </a:lnTo>
                  <a:lnTo>
                    <a:pt x="32765" y="72644"/>
                  </a:lnTo>
                  <a:lnTo>
                    <a:pt x="35687" y="74549"/>
                  </a:lnTo>
                  <a:lnTo>
                    <a:pt x="50800" y="81025"/>
                  </a:lnTo>
                  <a:lnTo>
                    <a:pt x="53975" y="82042"/>
                  </a:lnTo>
                  <a:lnTo>
                    <a:pt x="57657" y="82804"/>
                  </a:lnTo>
                  <a:lnTo>
                    <a:pt x="64388" y="84582"/>
                  </a:lnTo>
                  <a:lnTo>
                    <a:pt x="75564" y="86360"/>
                  </a:lnTo>
                  <a:lnTo>
                    <a:pt x="87122" y="87757"/>
                  </a:lnTo>
                  <a:lnTo>
                    <a:pt x="119506" y="89281"/>
                  </a:lnTo>
                  <a:lnTo>
                    <a:pt x="280415" y="87503"/>
                  </a:lnTo>
                  <a:lnTo>
                    <a:pt x="284352" y="87122"/>
                  </a:lnTo>
                  <a:lnTo>
                    <a:pt x="285114" y="85979"/>
                  </a:lnTo>
                  <a:lnTo>
                    <a:pt x="279018" y="82042"/>
                  </a:lnTo>
                  <a:lnTo>
                    <a:pt x="240791" y="70231"/>
                  </a:lnTo>
                  <a:lnTo>
                    <a:pt x="189737" y="61214"/>
                  </a:lnTo>
                  <a:lnTo>
                    <a:pt x="133985" y="53594"/>
                  </a:lnTo>
                  <a:lnTo>
                    <a:pt x="54737" y="50419"/>
                  </a:lnTo>
                  <a:lnTo>
                    <a:pt x="11175" y="49275"/>
                  </a:lnTo>
                  <a:lnTo>
                    <a:pt x="241935" y="50673"/>
                  </a:lnTo>
                  <a:lnTo>
                    <a:pt x="350647" y="49657"/>
                  </a:lnTo>
                  <a:lnTo>
                    <a:pt x="384810" y="49657"/>
                  </a:lnTo>
                  <a:lnTo>
                    <a:pt x="0" y="49657"/>
                  </a:lnTo>
                  <a:lnTo>
                    <a:pt x="11556" y="50419"/>
                  </a:lnTo>
                  <a:lnTo>
                    <a:pt x="23113" y="51435"/>
                  </a:lnTo>
                  <a:lnTo>
                    <a:pt x="47498" y="55372"/>
                  </a:lnTo>
                  <a:lnTo>
                    <a:pt x="74549" y="59690"/>
                  </a:lnTo>
                  <a:lnTo>
                    <a:pt x="298068" y="76327"/>
                  </a:lnTo>
                  <a:lnTo>
                    <a:pt x="58292" y="75184"/>
                  </a:lnTo>
                  <a:lnTo>
                    <a:pt x="106172" y="75565"/>
                  </a:lnTo>
                  <a:lnTo>
                    <a:pt x="195834" y="75946"/>
                  </a:lnTo>
                  <a:lnTo>
                    <a:pt x="219201" y="74803"/>
                  </a:lnTo>
                  <a:lnTo>
                    <a:pt x="283337" y="67310"/>
                  </a:lnTo>
                  <a:lnTo>
                    <a:pt x="290194" y="65150"/>
                  </a:lnTo>
                  <a:lnTo>
                    <a:pt x="286512" y="63754"/>
                  </a:lnTo>
                  <a:lnTo>
                    <a:pt x="270001" y="62611"/>
                  </a:lnTo>
                  <a:lnTo>
                    <a:pt x="132079" y="61849"/>
                  </a:lnTo>
                  <a:lnTo>
                    <a:pt x="99694" y="61849"/>
                  </a:lnTo>
                  <a:lnTo>
                    <a:pt x="97536" y="61849"/>
                  </a:lnTo>
                  <a:lnTo>
                    <a:pt x="88900" y="62611"/>
                  </a:lnTo>
                  <a:lnTo>
                    <a:pt x="89280" y="62992"/>
                  </a:lnTo>
                  <a:lnTo>
                    <a:pt x="96138" y="64770"/>
                  </a:lnTo>
                  <a:lnTo>
                    <a:pt x="210947" y="79121"/>
                  </a:lnTo>
                  <a:lnTo>
                    <a:pt x="330453" y="85344"/>
                  </a:lnTo>
                  <a:lnTo>
                    <a:pt x="353949" y="86360"/>
                  </a:lnTo>
                  <a:lnTo>
                    <a:pt x="496442" y="88137"/>
                  </a:lnTo>
                  <a:lnTo>
                    <a:pt x="354964" y="87503"/>
                  </a:lnTo>
                  <a:lnTo>
                    <a:pt x="294131" y="87757"/>
                  </a:lnTo>
                  <a:lnTo>
                    <a:pt x="289813" y="87503"/>
                  </a:lnTo>
                  <a:lnTo>
                    <a:pt x="285496" y="87503"/>
                  </a:lnTo>
                  <a:lnTo>
                    <a:pt x="281559" y="87503"/>
                  </a:lnTo>
                  <a:lnTo>
                    <a:pt x="277240" y="87503"/>
                  </a:lnTo>
                  <a:lnTo>
                    <a:pt x="273303" y="87757"/>
                  </a:lnTo>
                  <a:lnTo>
                    <a:pt x="269239" y="88519"/>
                  </a:lnTo>
                  <a:lnTo>
                    <a:pt x="259206" y="90297"/>
                  </a:lnTo>
                  <a:lnTo>
                    <a:pt x="258825" y="90678"/>
                  </a:lnTo>
                  <a:lnTo>
                    <a:pt x="258444" y="90678"/>
                  </a:lnTo>
                  <a:lnTo>
                    <a:pt x="258444" y="90678"/>
                  </a:lnTo>
                  <a:lnTo>
                    <a:pt x="257428" y="90678"/>
                  </a:lnTo>
                  <a:lnTo>
                    <a:pt x="257428" y="91059"/>
                  </a:lnTo>
                  <a:lnTo>
                    <a:pt x="257048" y="91059"/>
                  </a:lnTo>
                  <a:lnTo>
                    <a:pt x="257048" y="91059"/>
                  </a:lnTo>
                  <a:lnTo>
                    <a:pt x="255269" y="92837"/>
                  </a:lnTo>
                  <a:lnTo>
                    <a:pt x="255269" y="93218"/>
                  </a:lnTo>
                  <a:lnTo>
                    <a:pt x="254888" y="93599"/>
                  </a:lnTo>
                  <a:lnTo>
                    <a:pt x="254888" y="93980"/>
                  </a:lnTo>
                  <a:lnTo>
                    <a:pt x="254888" y="94234"/>
                  </a:lnTo>
                  <a:lnTo>
                    <a:pt x="254888" y="94615"/>
                  </a:lnTo>
                  <a:lnTo>
                    <a:pt x="254888" y="96139"/>
                  </a:lnTo>
                  <a:lnTo>
                    <a:pt x="255269" y="96393"/>
                  </a:lnTo>
                  <a:lnTo>
                    <a:pt x="255650" y="96393"/>
                  </a:lnTo>
                  <a:lnTo>
                    <a:pt x="255650" y="96774"/>
                  </a:lnTo>
                  <a:lnTo>
                    <a:pt x="256031" y="97155"/>
                  </a:lnTo>
                  <a:lnTo>
                    <a:pt x="256286" y="97536"/>
                  </a:lnTo>
                  <a:lnTo>
                    <a:pt x="256666" y="97917"/>
                  </a:lnTo>
                  <a:lnTo>
                    <a:pt x="256666" y="98298"/>
                  </a:lnTo>
                  <a:lnTo>
                    <a:pt x="257048" y="98552"/>
                  </a:lnTo>
                  <a:lnTo>
                    <a:pt x="257428" y="98552"/>
                  </a:lnTo>
                  <a:lnTo>
                    <a:pt x="257810" y="98933"/>
                  </a:lnTo>
                  <a:lnTo>
                    <a:pt x="258190" y="99314"/>
                  </a:lnTo>
                  <a:lnTo>
                    <a:pt x="258190" y="99695"/>
                  </a:lnTo>
                  <a:lnTo>
                    <a:pt x="258444" y="99695"/>
                  </a:lnTo>
                  <a:lnTo>
                    <a:pt x="258825" y="100075"/>
                  </a:lnTo>
                  <a:lnTo>
                    <a:pt x="260350" y="100457"/>
                  </a:lnTo>
                  <a:lnTo>
                    <a:pt x="266064" y="102616"/>
                  </a:lnTo>
                  <a:lnTo>
                    <a:pt x="271779" y="104775"/>
                  </a:lnTo>
                  <a:lnTo>
                    <a:pt x="277875" y="106553"/>
                  </a:lnTo>
                  <a:lnTo>
                    <a:pt x="283717" y="107569"/>
                  </a:lnTo>
                  <a:lnTo>
                    <a:pt x="289813" y="108712"/>
                  </a:lnTo>
                  <a:lnTo>
                    <a:pt x="329056" y="111633"/>
                  </a:lnTo>
                  <a:lnTo>
                    <a:pt x="469138" y="114046"/>
                  </a:lnTo>
                  <a:lnTo>
                    <a:pt x="477392" y="114046"/>
                  </a:lnTo>
                  <a:lnTo>
                    <a:pt x="473710" y="113792"/>
                  </a:lnTo>
                  <a:lnTo>
                    <a:pt x="455802" y="113411"/>
                  </a:lnTo>
                  <a:lnTo>
                    <a:pt x="289432" y="113030"/>
                  </a:lnTo>
                  <a:lnTo>
                    <a:pt x="486028" y="113030"/>
                  </a:lnTo>
                  <a:lnTo>
                    <a:pt x="472313" y="113411"/>
                  </a:lnTo>
                  <a:lnTo>
                    <a:pt x="466598" y="114046"/>
                  </a:lnTo>
                  <a:lnTo>
                    <a:pt x="461517" y="114046"/>
                  </a:lnTo>
                  <a:lnTo>
                    <a:pt x="456184" y="114427"/>
                  </a:lnTo>
                  <a:lnTo>
                    <a:pt x="451103" y="114046"/>
                  </a:lnTo>
                  <a:lnTo>
                    <a:pt x="445642" y="113792"/>
                  </a:lnTo>
                  <a:lnTo>
                    <a:pt x="440309" y="113030"/>
                  </a:lnTo>
                  <a:lnTo>
                    <a:pt x="435228" y="112268"/>
                  </a:lnTo>
                  <a:lnTo>
                    <a:pt x="429894" y="111252"/>
                  </a:lnTo>
                  <a:lnTo>
                    <a:pt x="419100" y="108331"/>
                  </a:lnTo>
                  <a:lnTo>
                    <a:pt x="418718" y="108331"/>
                  </a:lnTo>
                  <a:lnTo>
                    <a:pt x="418338" y="107950"/>
                  </a:lnTo>
                  <a:lnTo>
                    <a:pt x="417956" y="107950"/>
                  </a:lnTo>
                  <a:lnTo>
                    <a:pt x="417575" y="107569"/>
                  </a:lnTo>
                  <a:lnTo>
                    <a:pt x="417194" y="107569"/>
                  </a:lnTo>
                  <a:lnTo>
                    <a:pt x="416940" y="107315"/>
                  </a:lnTo>
                  <a:lnTo>
                    <a:pt x="416560" y="107315"/>
                  </a:lnTo>
                  <a:lnTo>
                    <a:pt x="416178" y="106934"/>
                  </a:lnTo>
                  <a:lnTo>
                    <a:pt x="415798" y="106553"/>
                  </a:lnTo>
                  <a:lnTo>
                    <a:pt x="415416" y="106553"/>
                  </a:lnTo>
                  <a:lnTo>
                    <a:pt x="415036" y="106553"/>
                  </a:lnTo>
                  <a:lnTo>
                    <a:pt x="415036" y="106172"/>
                  </a:lnTo>
                  <a:lnTo>
                    <a:pt x="414781" y="105791"/>
                  </a:lnTo>
                  <a:lnTo>
                    <a:pt x="414781" y="105410"/>
                  </a:lnTo>
                  <a:lnTo>
                    <a:pt x="414400" y="105410"/>
                  </a:lnTo>
                  <a:lnTo>
                    <a:pt x="414019" y="105029"/>
                  </a:lnTo>
                  <a:lnTo>
                    <a:pt x="414019" y="104775"/>
                  </a:lnTo>
                  <a:lnTo>
                    <a:pt x="413638" y="104775"/>
                  </a:lnTo>
                  <a:lnTo>
                    <a:pt x="413638" y="104394"/>
                  </a:lnTo>
                  <a:lnTo>
                    <a:pt x="413257" y="104012"/>
                  </a:lnTo>
                  <a:lnTo>
                    <a:pt x="413257" y="103250"/>
                  </a:lnTo>
                  <a:lnTo>
                    <a:pt x="412876" y="102870"/>
                  </a:lnTo>
                  <a:lnTo>
                    <a:pt x="412876" y="102616"/>
                  </a:lnTo>
                  <a:lnTo>
                    <a:pt x="412623" y="102616"/>
                  </a:lnTo>
                  <a:lnTo>
                    <a:pt x="412623" y="102235"/>
                  </a:lnTo>
                  <a:lnTo>
                    <a:pt x="412623" y="101854"/>
                  </a:lnTo>
                  <a:lnTo>
                    <a:pt x="412623" y="101473"/>
                  </a:lnTo>
                  <a:lnTo>
                    <a:pt x="412241" y="100711"/>
                  </a:lnTo>
                  <a:lnTo>
                    <a:pt x="412241" y="100457"/>
                  </a:lnTo>
                  <a:lnTo>
                    <a:pt x="412241" y="99314"/>
                  </a:lnTo>
                  <a:lnTo>
                    <a:pt x="412623" y="98552"/>
                  </a:lnTo>
                  <a:lnTo>
                    <a:pt x="412876" y="97917"/>
                  </a:lnTo>
                  <a:lnTo>
                    <a:pt x="413257" y="97155"/>
                  </a:lnTo>
                  <a:lnTo>
                    <a:pt x="414019" y="96393"/>
                  </a:lnTo>
                  <a:lnTo>
                    <a:pt x="414400" y="95758"/>
                  </a:lnTo>
                  <a:lnTo>
                    <a:pt x="414781" y="94996"/>
                  </a:lnTo>
                  <a:lnTo>
                    <a:pt x="415036" y="94615"/>
                  </a:lnTo>
                  <a:lnTo>
                    <a:pt x="415798" y="93980"/>
                  </a:lnTo>
                  <a:lnTo>
                    <a:pt x="416560" y="93218"/>
                  </a:lnTo>
                  <a:lnTo>
                    <a:pt x="416940" y="92456"/>
                  </a:lnTo>
                  <a:lnTo>
                    <a:pt x="417575" y="92075"/>
                  </a:lnTo>
                  <a:lnTo>
                    <a:pt x="417956" y="91440"/>
                  </a:lnTo>
                  <a:lnTo>
                    <a:pt x="418718" y="90678"/>
                  </a:lnTo>
                  <a:lnTo>
                    <a:pt x="420497" y="89916"/>
                  </a:lnTo>
                  <a:lnTo>
                    <a:pt x="425830" y="86741"/>
                  </a:lnTo>
                  <a:lnTo>
                    <a:pt x="431291" y="83185"/>
                  </a:lnTo>
                  <a:lnTo>
                    <a:pt x="447166" y="75565"/>
                  </a:lnTo>
                  <a:lnTo>
                    <a:pt x="448563" y="74803"/>
                  </a:lnTo>
                  <a:lnTo>
                    <a:pt x="456184" y="72009"/>
                  </a:lnTo>
                  <a:lnTo>
                    <a:pt x="461137" y="69850"/>
                  </a:lnTo>
                  <a:lnTo>
                    <a:pt x="466598" y="67310"/>
                  </a:lnTo>
                  <a:lnTo>
                    <a:pt x="479932" y="59690"/>
                  </a:lnTo>
                  <a:lnTo>
                    <a:pt x="480313" y="59690"/>
                  </a:lnTo>
                  <a:lnTo>
                    <a:pt x="480567" y="59690"/>
                  </a:lnTo>
                  <a:lnTo>
                    <a:pt x="480949" y="59690"/>
                  </a:lnTo>
                  <a:lnTo>
                    <a:pt x="480949" y="59309"/>
                  </a:lnTo>
                  <a:lnTo>
                    <a:pt x="481329" y="59309"/>
                  </a:lnTo>
                  <a:lnTo>
                    <a:pt x="481329" y="59055"/>
                  </a:lnTo>
                  <a:lnTo>
                    <a:pt x="481329" y="58674"/>
                  </a:lnTo>
                  <a:lnTo>
                    <a:pt x="481711" y="58674"/>
                  </a:lnTo>
                  <a:lnTo>
                    <a:pt x="481711" y="58293"/>
                  </a:lnTo>
                  <a:lnTo>
                    <a:pt x="482091" y="58293"/>
                  </a:lnTo>
                  <a:lnTo>
                    <a:pt x="482091" y="57912"/>
                  </a:lnTo>
                  <a:lnTo>
                    <a:pt x="482091" y="57531"/>
                  </a:lnTo>
                  <a:lnTo>
                    <a:pt x="482473" y="57150"/>
                  </a:lnTo>
                  <a:lnTo>
                    <a:pt x="482473" y="56896"/>
                  </a:lnTo>
                  <a:lnTo>
                    <a:pt x="482473" y="56515"/>
                  </a:lnTo>
                  <a:lnTo>
                    <a:pt x="482091" y="56515"/>
                  </a:lnTo>
                  <a:lnTo>
                    <a:pt x="482091" y="56134"/>
                  </a:lnTo>
                  <a:lnTo>
                    <a:pt x="482091" y="55753"/>
                  </a:lnTo>
                  <a:lnTo>
                    <a:pt x="482091" y="55372"/>
                  </a:lnTo>
                  <a:lnTo>
                    <a:pt x="481711" y="55372"/>
                  </a:lnTo>
                  <a:lnTo>
                    <a:pt x="481711" y="54991"/>
                  </a:lnTo>
                  <a:lnTo>
                    <a:pt x="481329" y="54737"/>
                  </a:lnTo>
                  <a:lnTo>
                    <a:pt x="473710" y="51816"/>
                  </a:lnTo>
                  <a:lnTo>
                    <a:pt x="455802" y="49275"/>
                  </a:lnTo>
                  <a:lnTo>
                    <a:pt x="402081" y="48514"/>
                  </a:lnTo>
                  <a:lnTo>
                    <a:pt x="446786" y="48895"/>
                  </a:lnTo>
                  <a:lnTo>
                    <a:pt x="457200" y="49657"/>
                  </a:lnTo>
                  <a:lnTo>
                    <a:pt x="426974" y="50037"/>
                  </a:lnTo>
                  <a:lnTo>
                    <a:pt x="198374" y="49657"/>
                  </a:lnTo>
                  <a:lnTo>
                    <a:pt x="442467" y="49657"/>
                  </a:lnTo>
                  <a:lnTo>
                    <a:pt x="412241" y="49275"/>
                  </a:lnTo>
                  <a:lnTo>
                    <a:pt x="342011" y="50037"/>
                  </a:lnTo>
                  <a:lnTo>
                    <a:pt x="340994" y="50037"/>
                  </a:lnTo>
                  <a:lnTo>
                    <a:pt x="339851" y="50037"/>
                  </a:lnTo>
                  <a:lnTo>
                    <a:pt x="339089" y="50419"/>
                  </a:lnTo>
                  <a:lnTo>
                    <a:pt x="338074" y="50419"/>
                  </a:lnTo>
                  <a:lnTo>
                    <a:pt x="336930" y="50419"/>
                  </a:lnTo>
                  <a:lnTo>
                    <a:pt x="336296" y="50673"/>
                  </a:lnTo>
                  <a:lnTo>
                    <a:pt x="335152" y="50673"/>
                  </a:lnTo>
                  <a:lnTo>
                    <a:pt x="334137" y="50673"/>
                  </a:lnTo>
                  <a:lnTo>
                    <a:pt x="333375" y="51054"/>
                  </a:lnTo>
                  <a:lnTo>
                    <a:pt x="332613" y="51435"/>
                  </a:lnTo>
                  <a:lnTo>
                    <a:pt x="331597" y="51816"/>
                  </a:lnTo>
                  <a:lnTo>
                    <a:pt x="330453" y="52578"/>
                  </a:lnTo>
                  <a:lnTo>
                    <a:pt x="330073" y="52832"/>
                  </a:lnTo>
                  <a:lnTo>
                    <a:pt x="329056" y="52832"/>
                  </a:lnTo>
                  <a:lnTo>
                    <a:pt x="328294" y="53594"/>
                  </a:lnTo>
                  <a:lnTo>
                    <a:pt x="327278" y="54356"/>
                  </a:lnTo>
                  <a:lnTo>
                    <a:pt x="325754" y="55372"/>
                  </a:lnTo>
                  <a:lnTo>
                    <a:pt x="325754" y="55753"/>
                  </a:lnTo>
                  <a:lnTo>
                    <a:pt x="325754" y="56134"/>
                  </a:lnTo>
                  <a:lnTo>
                    <a:pt x="325500" y="56515"/>
                  </a:lnTo>
                  <a:lnTo>
                    <a:pt x="325500" y="56896"/>
                  </a:lnTo>
                  <a:lnTo>
                    <a:pt x="325500" y="57150"/>
                  </a:lnTo>
                  <a:lnTo>
                    <a:pt x="325119" y="57531"/>
                  </a:lnTo>
                  <a:lnTo>
                    <a:pt x="325119" y="57912"/>
                  </a:lnTo>
                  <a:lnTo>
                    <a:pt x="325119" y="58674"/>
                  </a:lnTo>
                  <a:lnTo>
                    <a:pt x="325119" y="60452"/>
                  </a:lnTo>
                  <a:lnTo>
                    <a:pt x="325500" y="60833"/>
                  </a:lnTo>
                  <a:lnTo>
                    <a:pt x="325500" y="61214"/>
                  </a:lnTo>
                  <a:lnTo>
                    <a:pt x="325500" y="61595"/>
                  </a:lnTo>
                  <a:lnTo>
                    <a:pt x="325754" y="61849"/>
                  </a:lnTo>
                  <a:lnTo>
                    <a:pt x="325754" y="62230"/>
                  </a:lnTo>
                  <a:lnTo>
                    <a:pt x="326136" y="62611"/>
                  </a:lnTo>
                  <a:lnTo>
                    <a:pt x="326136" y="62992"/>
                  </a:lnTo>
                  <a:lnTo>
                    <a:pt x="326516" y="63373"/>
                  </a:lnTo>
                  <a:lnTo>
                    <a:pt x="326516" y="63754"/>
                  </a:lnTo>
                  <a:lnTo>
                    <a:pt x="326898" y="64008"/>
                  </a:lnTo>
                  <a:lnTo>
                    <a:pt x="327278" y="64389"/>
                  </a:lnTo>
                  <a:lnTo>
                    <a:pt x="327278" y="64770"/>
                  </a:lnTo>
                  <a:lnTo>
                    <a:pt x="327660" y="64770"/>
                  </a:lnTo>
                  <a:lnTo>
                    <a:pt x="327660" y="65150"/>
                  </a:lnTo>
                  <a:lnTo>
                    <a:pt x="327913" y="65532"/>
                  </a:lnTo>
                  <a:lnTo>
                    <a:pt x="328294" y="65912"/>
                  </a:lnTo>
                  <a:lnTo>
                    <a:pt x="328675" y="66167"/>
                  </a:lnTo>
                  <a:lnTo>
                    <a:pt x="329056" y="66167"/>
                  </a:lnTo>
                  <a:lnTo>
                    <a:pt x="329438" y="66548"/>
                  </a:lnTo>
                  <a:lnTo>
                    <a:pt x="329818" y="66548"/>
                  </a:lnTo>
                  <a:lnTo>
                    <a:pt x="330453" y="66548"/>
                  </a:lnTo>
                  <a:lnTo>
                    <a:pt x="331215" y="67310"/>
                  </a:lnTo>
                  <a:lnTo>
                    <a:pt x="355726" y="79121"/>
                  </a:lnTo>
                  <a:lnTo>
                    <a:pt x="374014" y="87503"/>
                  </a:lnTo>
                  <a:lnTo>
                    <a:pt x="374776" y="87757"/>
                  </a:lnTo>
                  <a:lnTo>
                    <a:pt x="375538" y="88137"/>
                  </a:lnTo>
                  <a:lnTo>
                    <a:pt x="375538" y="88519"/>
                  </a:lnTo>
                  <a:lnTo>
                    <a:pt x="376174" y="88519"/>
                  </a:lnTo>
                  <a:lnTo>
                    <a:pt x="376554" y="88900"/>
                  </a:lnTo>
                  <a:lnTo>
                    <a:pt x="376936" y="89281"/>
                  </a:lnTo>
                  <a:lnTo>
                    <a:pt x="377698" y="89662"/>
                  </a:lnTo>
                  <a:lnTo>
                    <a:pt x="377951" y="90297"/>
                  </a:lnTo>
                  <a:lnTo>
                    <a:pt x="378332" y="90678"/>
                  </a:lnTo>
                  <a:lnTo>
                    <a:pt x="378713" y="90678"/>
                  </a:lnTo>
                  <a:lnTo>
                    <a:pt x="379094" y="91440"/>
                  </a:lnTo>
                  <a:lnTo>
                    <a:pt x="379475" y="91821"/>
                  </a:lnTo>
                  <a:lnTo>
                    <a:pt x="379856" y="92456"/>
                  </a:lnTo>
                  <a:lnTo>
                    <a:pt x="380111" y="92456"/>
                  </a:lnTo>
                  <a:lnTo>
                    <a:pt x="380111" y="93218"/>
                  </a:lnTo>
                  <a:lnTo>
                    <a:pt x="380491" y="93599"/>
                  </a:lnTo>
                  <a:lnTo>
                    <a:pt x="380873" y="94234"/>
                  </a:lnTo>
                  <a:lnTo>
                    <a:pt x="381253" y="95758"/>
                  </a:lnTo>
                  <a:lnTo>
                    <a:pt x="381253" y="96139"/>
                  </a:lnTo>
                  <a:lnTo>
                    <a:pt x="381253" y="96393"/>
                  </a:lnTo>
                  <a:lnTo>
                    <a:pt x="381253" y="96774"/>
                  </a:lnTo>
                  <a:lnTo>
                    <a:pt x="381253" y="97155"/>
                  </a:lnTo>
                  <a:lnTo>
                    <a:pt x="381253" y="97536"/>
                  </a:lnTo>
                  <a:lnTo>
                    <a:pt x="381253" y="97917"/>
                  </a:lnTo>
                  <a:lnTo>
                    <a:pt x="380873" y="98298"/>
                  </a:lnTo>
                  <a:lnTo>
                    <a:pt x="380873" y="98552"/>
                  </a:lnTo>
                  <a:lnTo>
                    <a:pt x="380873" y="98933"/>
                  </a:lnTo>
                  <a:lnTo>
                    <a:pt x="380491" y="99314"/>
                  </a:lnTo>
                  <a:lnTo>
                    <a:pt x="380491" y="99695"/>
                  </a:lnTo>
                  <a:lnTo>
                    <a:pt x="380111" y="100075"/>
                  </a:lnTo>
                  <a:lnTo>
                    <a:pt x="379856" y="100457"/>
                  </a:lnTo>
                  <a:lnTo>
                    <a:pt x="379475" y="100457"/>
                  </a:lnTo>
                  <a:lnTo>
                    <a:pt x="379094" y="100711"/>
                  </a:lnTo>
                  <a:lnTo>
                    <a:pt x="379094" y="101092"/>
                  </a:lnTo>
                  <a:lnTo>
                    <a:pt x="378713" y="101473"/>
                  </a:lnTo>
                  <a:lnTo>
                    <a:pt x="378713" y="101854"/>
                  </a:lnTo>
                  <a:lnTo>
                    <a:pt x="377951" y="102616"/>
                  </a:lnTo>
                  <a:lnTo>
                    <a:pt x="375792" y="103632"/>
                  </a:lnTo>
                  <a:lnTo>
                    <a:pt x="374396" y="104775"/>
                  </a:lnTo>
                  <a:lnTo>
                    <a:pt x="372617" y="105410"/>
                  </a:lnTo>
                  <a:lnTo>
                    <a:pt x="370839" y="106553"/>
                  </a:lnTo>
                  <a:lnTo>
                    <a:pt x="369062" y="107315"/>
                  </a:lnTo>
                  <a:lnTo>
                    <a:pt x="366902" y="108331"/>
                  </a:lnTo>
                  <a:lnTo>
                    <a:pt x="364998" y="108712"/>
                  </a:lnTo>
                  <a:lnTo>
                    <a:pt x="363219" y="109474"/>
                  </a:lnTo>
                  <a:lnTo>
                    <a:pt x="357886" y="110490"/>
                  </a:lnTo>
                  <a:lnTo>
                    <a:pt x="352043" y="111887"/>
                  </a:lnTo>
                  <a:lnTo>
                    <a:pt x="346328" y="112649"/>
                  </a:lnTo>
                  <a:lnTo>
                    <a:pt x="340613" y="113792"/>
                  </a:lnTo>
                  <a:lnTo>
                    <a:pt x="334390" y="114427"/>
                  </a:lnTo>
                  <a:lnTo>
                    <a:pt x="328675" y="114427"/>
                  </a:lnTo>
                  <a:lnTo>
                    <a:pt x="322961" y="114427"/>
                  </a:lnTo>
                  <a:lnTo>
                    <a:pt x="308228" y="113792"/>
                  </a:lnTo>
                  <a:lnTo>
                    <a:pt x="308228" y="113411"/>
                  </a:lnTo>
                  <a:lnTo>
                    <a:pt x="307848" y="113411"/>
                  </a:lnTo>
                  <a:lnTo>
                    <a:pt x="307466" y="113411"/>
                  </a:lnTo>
                  <a:lnTo>
                    <a:pt x="307466" y="113030"/>
                  </a:lnTo>
                  <a:lnTo>
                    <a:pt x="307086" y="113030"/>
                  </a:lnTo>
                  <a:lnTo>
                    <a:pt x="307086" y="112649"/>
                  </a:lnTo>
                  <a:lnTo>
                    <a:pt x="306704" y="112649"/>
                  </a:lnTo>
                  <a:lnTo>
                    <a:pt x="306704" y="112268"/>
                  </a:lnTo>
                  <a:lnTo>
                    <a:pt x="306324" y="112268"/>
                  </a:lnTo>
                  <a:lnTo>
                    <a:pt x="306324" y="111887"/>
                  </a:lnTo>
                  <a:lnTo>
                    <a:pt x="306324" y="111887"/>
                  </a:lnTo>
                  <a:lnTo>
                    <a:pt x="306324" y="110109"/>
                  </a:lnTo>
                  <a:lnTo>
                    <a:pt x="306704" y="110109"/>
                  </a:lnTo>
                  <a:lnTo>
                    <a:pt x="306704" y="109728"/>
                  </a:lnTo>
                  <a:lnTo>
                    <a:pt x="307086" y="109474"/>
                  </a:lnTo>
                  <a:lnTo>
                    <a:pt x="307086" y="109093"/>
                  </a:lnTo>
                  <a:lnTo>
                    <a:pt x="307466" y="109093"/>
                  </a:lnTo>
                  <a:lnTo>
                    <a:pt x="307848" y="108712"/>
                  </a:lnTo>
                  <a:lnTo>
                    <a:pt x="314325" y="104012"/>
                  </a:lnTo>
                  <a:lnTo>
                    <a:pt x="323341" y="98933"/>
                  </a:lnTo>
                  <a:lnTo>
                    <a:pt x="332613" y="94615"/>
                  </a:lnTo>
                  <a:lnTo>
                    <a:pt x="342011" y="90678"/>
                  </a:lnTo>
                  <a:lnTo>
                    <a:pt x="351409" y="86741"/>
                  </a:lnTo>
                  <a:lnTo>
                    <a:pt x="380111" y="78867"/>
                  </a:lnTo>
                  <a:lnTo>
                    <a:pt x="387350" y="76327"/>
                  </a:lnTo>
                  <a:lnTo>
                    <a:pt x="387730" y="76327"/>
                  </a:lnTo>
                  <a:lnTo>
                    <a:pt x="387730" y="75946"/>
                  </a:lnTo>
                  <a:lnTo>
                    <a:pt x="387730" y="75565"/>
                  </a:lnTo>
                  <a:lnTo>
                    <a:pt x="387730" y="75184"/>
                  </a:lnTo>
                  <a:lnTo>
                    <a:pt x="387730" y="74803"/>
                  </a:lnTo>
                  <a:lnTo>
                    <a:pt x="387730" y="74803"/>
                  </a:lnTo>
                  <a:lnTo>
                    <a:pt x="372237" y="73787"/>
                  </a:lnTo>
                  <a:lnTo>
                    <a:pt x="269239" y="74803"/>
                  </a:lnTo>
                  <a:lnTo>
                    <a:pt x="312800" y="74803"/>
                  </a:lnTo>
                  <a:lnTo>
                    <a:pt x="307086" y="74549"/>
                  </a:lnTo>
                  <a:lnTo>
                    <a:pt x="247650" y="65150"/>
                  </a:lnTo>
                  <a:lnTo>
                    <a:pt x="238378" y="61595"/>
                  </a:lnTo>
                  <a:lnTo>
                    <a:pt x="238378" y="61214"/>
                  </a:lnTo>
                  <a:lnTo>
                    <a:pt x="238378" y="60833"/>
                  </a:lnTo>
                  <a:lnTo>
                    <a:pt x="238378" y="60452"/>
                  </a:lnTo>
                  <a:lnTo>
                    <a:pt x="238378" y="60071"/>
                  </a:lnTo>
                  <a:lnTo>
                    <a:pt x="238378" y="60071"/>
                  </a:lnTo>
                  <a:lnTo>
                    <a:pt x="238632" y="60071"/>
                  </a:lnTo>
                  <a:lnTo>
                    <a:pt x="238632" y="59690"/>
                  </a:lnTo>
                  <a:lnTo>
                    <a:pt x="239013" y="59690"/>
                  </a:lnTo>
                  <a:lnTo>
                    <a:pt x="239013" y="59309"/>
                  </a:lnTo>
                  <a:lnTo>
                    <a:pt x="239394" y="59309"/>
                  </a:lnTo>
                  <a:lnTo>
                    <a:pt x="257428" y="56134"/>
                  </a:lnTo>
                  <a:lnTo>
                    <a:pt x="425830" y="49275"/>
                  </a:lnTo>
                  <a:lnTo>
                    <a:pt x="474090" y="48895"/>
                  </a:lnTo>
                  <a:lnTo>
                    <a:pt x="255650" y="49657"/>
                  </a:lnTo>
                  <a:lnTo>
                    <a:pt x="336296" y="54737"/>
                  </a:lnTo>
                  <a:lnTo>
                    <a:pt x="644778" y="62611"/>
                  </a:lnTo>
                  <a:lnTo>
                    <a:pt x="639063" y="62611"/>
                  </a:lnTo>
                  <a:lnTo>
                    <a:pt x="600075" y="70231"/>
                  </a:lnTo>
                  <a:lnTo>
                    <a:pt x="558038" y="86741"/>
                  </a:lnTo>
                  <a:lnTo>
                    <a:pt x="555116" y="88519"/>
                  </a:lnTo>
                  <a:lnTo>
                    <a:pt x="545464" y="91059"/>
                  </a:lnTo>
                  <a:lnTo>
                    <a:pt x="545084" y="91059"/>
                  </a:lnTo>
                  <a:lnTo>
                    <a:pt x="544702" y="90678"/>
                  </a:lnTo>
                  <a:lnTo>
                    <a:pt x="544322" y="90678"/>
                  </a:lnTo>
                  <a:lnTo>
                    <a:pt x="543940" y="90678"/>
                  </a:lnTo>
                  <a:lnTo>
                    <a:pt x="543560" y="90297"/>
                  </a:lnTo>
                  <a:lnTo>
                    <a:pt x="543305" y="90297"/>
                  </a:lnTo>
                  <a:lnTo>
                    <a:pt x="542925" y="89916"/>
                  </a:lnTo>
                  <a:lnTo>
                    <a:pt x="542543" y="89916"/>
                  </a:lnTo>
                  <a:lnTo>
                    <a:pt x="542543" y="89662"/>
                  </a:lnTo>
                  <a:lnTo>
                    <a:pt x="542163" y="89281"/>
                  </a:lnTo>
                  <a:lnTo>
                    <a:pt x="541781" y="89281"/>
                  </a:lnTo>
                  <a:lnTo>
                    <a:pt x="541401" y="88900"/>
                  </a:lnTo>
                  <a:lnTo>
                    <a:pt x="541401" y="88519"/>
                  </a:lnTo>
                  <a:lnTo>
                    <a:pt x="541147" y="88519"/>
                  </a:lnTo>
                  <a:lnTo>
                    <a:pt x="541147" y="88137"/>
                  </a:lnTo>
                  <a:lnTo>
                    <a:pt x="540765" y="87757"/>
                  </a:lnTo>
                  <a:lnTo>
                    <a:pt x="540765" y="87503"/>
                  </a:lnTo>
                  <a:lnTo>
                    <a:pt x="540385" y="87122"/>
                  </a:lnTo>
                  <a:lnTo>
                    <a:pt x="540385" y="86741"/>
                  </a:lnTo>
                  <a:lnTo>
                    <a:pt x="540003" y="86741"/>
                  </a:lnTo>
                  <a:lnTo>
                    <a:pt x="540003" y="86360"/>
                  </a:lnTo>
                  <a:lnTo>
                    <a:pt x="540003" y="85979"/>
                  </a:lnTo>
                  <a:lnTo>
                    <a:pt x="539623" y="84962"/>
                  </a:lnTo>
                  <a:lnTo>
                    <a:pt x="539241" y="84200"/>
                  </a:lnTo>
                  <a:lnTo>
                    <a:pt x="538988" y="83439"/>
                  </a:lnTo>
                  <a:lnTo>
                    <a:pt x="538606" y="82804"/>
                  </a:lnTo>
                  <a:lnTo>
                    <a:pt x="538226" y="81661"/>
                  </a:lnTo>
                  <a:lnTo>
                    <a:pt x="537463" y="81025"/>
                  </a:lnTo>
                  <a:lnTo>
                    <a:pt x="536828" y="80645"/>
                  </a:lnTo>
                  <a:lnTo>
                    <a:pt x="536066" y="79502"/>
                  </a:lnTo>
                  <a:lnTo>
                    <a:pt x="535686" y="78867"/>
                  </a:lnTo>
                  <a:lnTo>
                    <a:pt x="534924" y="78486"/>
                  </a:lnTo>
                  <a:lnTo>
                    <a:pt x="534288" y="77724"/>
                  </a:lnTo>
                  <a:lnTo>
                    <a:pt x="533526" y="76962"/>
                  </a:lnTo>
                  <a:lnTo>
                    <a:pt x="532764" y="76708"/>
                  </a:lnTo>
                  <a:lnTo>
                    <a:pt x="532129" y="75946"/>
                  </a:lnTo>
                  <a:lnTo>
                    <a:pt x="531367" y="75565"/>
                  </a:lnTo>
                  <a:lnTo>
                    <a:pt x="530351" y="74803"/>
                  </a:lnTo>
                  <a:lnTo>
                    <a:pt x="529589" y="74803"/>
                  </a:lnTo>
                  <a:lnTo>
                    <a:pt x="501523" y="68072"/>
                  </a:lnTo>
                  <a:lnTo>
                    <a:pt x="467232" y="62611"/>
                  </a:lnTo>
                  <a:lnTo>
                    <a:pt x="467232" y="62611"/>
                  </a:lnTo>
                  <a:lnTo>
                    <a:pt x="465074" y="62611"/>
                  </a:lnTo>
                  <a:lnTo>
                    <a:pt x="465074" y="62992"/>
                  </a:lnTo>
                  <a:lnTo>
                    <a:pt x="465074" y="63373"/>
                  </a:lnTo>
                  <a:lnTo>
                    <a:pt x="464819" y="63373"/>
                  </a:lnTo>
                  <a:lnTo>
                    <a:pt x="464819" y="63754"/>
                  </a:lnTo>
                  <a:lnTo>
                    <a:pt x="464819" y="64008"/>
                  </a:lnTo>
                  <a:lnTo>
                    <a:pt x="469138" y="67691"/>
                  </a:lnTo>
                  <a:lnTo>
                    <a:pt x="481329" y="73787"/>
                  </a:lnTo>
                  <a:lnTo>
                    <a:pt x="495426" y="78105"/>
                  </a:lnTo>
                  <a:lnTo>
                    <a:pt x="510159" y="81280"/>
                  </a:lnTo>
                  <a:lnTo>
                    <a:pt x="524510" y="84582"/>
                  </a:lnTo>
                  <a:lnTo>
                    <a:pt x="559053" y="88900"/>
                  </a:lnTo>
                  <a:lnTo>
                    <a:pt x="608456" y="96393"/>
                  </a:lnTo>
                  <a:lnTo>
                    <a:pt x="612775" y="98298"/>
                  </a:lnTo>
                  <a:lnTo>
                    <a:pt x="611631" y="98933"/>
                  </a:lnTo>
                  <a:lnTo>
                    <a:pt x="603376" y="100457"/>
                  </a:lnTo>
                  <a:lnTo>
                    <a:pt x="580643" y="101473"/>
                  </a:lnTo>
                  <a:lnTo>
                    <a:pt x="554354" y="102870"/>
                  </a:lnTo>
                  <a:lnTo>
                    <a:pt x="493522" y="110490"/>
                  </a:lnTo>
                  <a:lnTo>
                    <a:pt x="492125" y="111252"/>
                  </a:lnTo>
                  <a:lnTo>
                    <a:pt x="492887" y="111887"/>
                  </a:lnTo>
                  <a:lnTo>
                    <a:pt x="498982" y="112649"/>
                  </a:lnTo>
                  <a:lnTo>
                    <a:pt x="515112" y="113792"/>
                  </a:lnTo>
                  <a:lnTo>
                    <a:pt x="528447" y="113411"/>
                  </a:lnTo>
                  <a:lnTo>
                    <a:pt x="533146" y="112649"/>
                  </a:lnTo>
                  <a:lnTo>
                    <a:pt x="538226" y="112649"/>
                  </a:lnTo>
                  <a:lnTo>
                    <a:pt x="542925" y="112649"/>
                  </a:lnTo>
                  <a:lnTo>
                    <a:pt x="547624" y="113030"/>
                  </a:lnTo>
                  <a:lnTo>
                    <a:pt x="552957" y="113411"/>
                  </a:lnTo>
                  <a:lnTo>
                    <a:pt x="570611" y="117729"/>
                  </a:lnTo>
                  <a:lnTo>
                    <a:pt x="571753" y="118364"/>
                  </a:lnTo>
                  <a:lnTo>
                    <a:pt x="572388" y="118745"/>
                  </a:lnTo>
                  <a:lnTo>
                    <a:pt x="573151" y="119507"/>
                  </a:lnTo>
                  <a:lnTo>
                    <a:pt x="574166" y="120269"/>
                  </a:lnTo>
                  <a:lnTo>
                    <a:pt x="574928" y="120904"/>
                  </a:lnTo>
                  <a:lnTo>
                    <a:pt x="575690" y="121666"/>
                  </a:lnTo>
                  <a:lnTo>
                    <a:pt x="576326" y="122428"/>
                  </a:lnTo>
                  <a:lnTo>
                    <a:pt x="577088" y="123444"/>
                  </a:lnTo>
                  <a:lnTo>
                    <a:pt x="577850" y="124206"/>
                  </a:lnTo>
                  <a:lnTo>
                    <a:pt x="578230" y="124841"/>
                  </a:lnTo>
                  <a:lnTo>
                    <a:pt x="578865" y="125984"/>
                  </a:lnTo>
                  <a:lnTo>
                    <a:pt x="579627" y="126746"/>
                  </a:lnTo>
                  <a:lnTo>
                    <a:pt x="580389" y="127762"/>
                  </a:lnTo>
                  <a:lnTo>
                    <a:pt x="580643" y="128905"/>
                  </a:lnTo>
                  <a:lnTo>
                    <a:pt x="580643" y="129921"/>
                  </a:lnTo>
                  <a:lnTo>
                    <a:pt x="581025" y="130683"/>
                  </a:lnTo>
                  <a:lnTo>
                    <a:pt x="581405" y="131699"/>
                  </a:lnTo>
                  <a:lnTo>
                    <a:pt x="581787" y="132842"/>
                  </a:lnTo>
                  <a:lnTo>
                    <a:pt x="582167" y="133858"/>
                  </a:lnTo>
                  <a:lnTo>
                    <a:pt x="582167" y="135000"/>
                  </a:lnTo>
                  <a:lnTo>
                    <a:pt x="582549" y="136017"/>
                  </a:lnTo>
                  <a:lnTo>
                    <a:pt x="582549" y="137160"/>
                  </a:lnTo>
                  <a:lnTo>
                    <a:pt x="582549" y="138175"/>
                  </a:lnTo>
                  <a:lnTo>
                    <a:pt x="582167" y="141097"/>
                  </a:lnTo>
                  <a:lnTo>
                    <a:pt x="582167" y="145415"/>
                  </a:lnTo>
                  <a:lnTo>
                    <a:pt x="576706" y="173863"/>
                  </a:lnTo>
                  <a:lnTo>
                    <a:pt x="576326" y="174879"/>
                  </a:lnTo>
                  <a:lnTo>
                    <a:pt x="575690" y="176403"/>
                  </a:lnTo>
                  <a:lnTo>
                    <a:pt x="574928" y="177419"/>
                  </a:lnTo>
                  <a:lnTo>
                    <a:pt x="574548" y="178562"/>
                  </a:lnTo>
                  <a:lnTo>
                    <a:pt x="573913" y="179959"/>
                  </a:lnTo>
                  <a:lnTo>
                    <a:pt x="572769" y="181102"/>
                  </a:lnTo>
                  <a:lnTo>
                    <a:pt x="570991" y="183515"/>
                  </a:lnTo>
                  <a:lnTo>
                    <a:pt x="570611" y="183515"/>
                  </a:lnTo>
                  <a:lnTo>
                    <a:pt x="570611" y="183896"/>
                  </a:lnTo>
                  <a:lnTo>
                    <a:pt x="570611" y="183896"/>
                  </a:lnTo>
                  <a:lnTo>
                    <a:pt x="568832" y="184277"/>
                  </a:lnTo>
                  <a:lnTo>
                    <a:pt x="568832" y="184658"/>
                  </a:lnTo>
                  <a:lnTo>
                    <a:pt x="568451" y="184658"/>
                  </a:lnTo>
                  <a:lnTo>
                    <a:pt x="568071" y="184277"/>
                  </a:lnTo>
                  <a:lnTo>
                    <a:pt x="563752" y="177800"/>
                  </a:lnTo>
                  <a:lnTo>
                    <a:pt x="561975" y="166243"/>
                  </a:lnTo>
                  <a:lnTo>
                    <a:pt x="560577" y="154432"/>
                  </a:lnTo>
                  <a:lnTo>
                    <a:pt x="559815" y="142875"/>
                  </a:lnTo>
                  <a:lnTo>
                    <a:pt x="560831" y="112649"/>
                  </a:lnTo>
                  <a:lnTo>
                    <a:pt x="561593" y="91440"/>
                  </a:lnTo>
                  <a:lnTo>
                    <a:pt x="561213" y="86741"/>
                  </a:lnTo>
                  <a:lnTo>
                    <a:pt x="561213" y="82042"/>
                  </a:lnTo>
                  <a:lnTo>
                    <a:pt x="561593" y="76962"/>
                  </a:lnTo>
                  <a:lnTo>
                    <a:pt x="562355" y="72644"/>
                  </a:lnTo>
                  <a:lnTo>
                    <a:pt x="562737" y="68072"/>
                  </a:lnTo>
                  <a:lnTo>
                    <a:pt x="563752" y="63373"/>
                  </a:lnTo>
                  <a:lnTo>
                    <a:pt x="564896" y="58674"/>
                  </a:lnTo>
                  <a:lnTo>
                    <a:pt x="565912" y="54356"/>
                  </a:lnTo>
                  <a:lnTo>
                    <a:pt x="567689" y="49657"/>
                  </a:lnTo>
                  <a:lnTo>
                    <a:pt x="572388" y="38481"/>
                  </a:lnTo>
                  <a:lnTo>
                    <a:pt x="572769" y="38100"/>
                  </a:lnTo>
                  <a:lnTo>
                    <a:pt x="572769" y="37719"/>
                  </a:lnTo>
                  <a:lnTo>
                    <a:pt x="572769" y="37465"/>
                  </a:lnTo>
                  <a:lnTo>
                    <a:pt x="573151" y="37465"/>
                  </a:lnTo>
                  <a:lnTo>
                    <a:pt x="573151" y="37084"/>
                  </a:lnTo>
                  <a:lnTo>
                    <a:pt x="573531" y="36703"/>
                  </a:lnTo>
                  <a:lnTo>
                    <a:pt x="573913" y="36322"/>
                  </a:lnTo>
                  <a:lnTo>
                    <a:pt x="573913" y="35941"/>
                  </a:lnTo>
                  <a:lnTo>
                    <a:pt x="574166" y="35560"/>
                  </a:lnTo>
                  <a:lnTo>
                    <a:pt x="574548" y="35560"/>
                  </a:lnTo>
                  <a:lnTo>
                    <a:pt x="574548" y="35306"/>
                  </a:lnTo>
                  <a:lnTo>
                    <a:pt x="574928" y="34925"/>
                  </a:lnTo>
                  <a:lnTo>
                    <a:pt x="575310" y="34925"/>
                  </a:lnTo>
                  <a:lnTo>
                    <a:pt x="575690" y="34544"/>
                  </a:lnTo>
                  <a:lnTo>
                    <a:pt x="576072" y="34162"/>
                  </a:lnTo>
                  <a:lnTo>
                    <a:pt x="576326" y="34162"/>
                  </a:lnTo>
                  <a:lnTo>
                    <a:pt x="576706" y="33782"/>
                  </a:lnTo>
                  <a:lnTo>
                    <a:pt x="577088" y="33782"/>
                  </a:lnTo>
                  <a:lnTo>
                    <a:pt x="577468" y="33400"/>
                  </a:lnTo>
                  <a:lnTo>
                    <a:pt x="577850" y="33400"/>
                  </a:lnTo>
                  <a:lnTo>
                    <a:pt x="578230" y="33400"/>
                  </a:lnTo>
                  <a:lnTo>
                    <a:pt x="578485" y="33147"/>
                  </a:lnTo>
                  <a:lnTo>
                    <a:pt x="580643" y="33147"/>
                  </a:lnTo>
                  <a:lnTo>
                    <a:pt x="581025" y="33147"/>
                  </a:lnTo>
                  <a:lnTo>
                    <a:pt x="581405" y="33400"/>
                  </a:lnTo>
                  <a:lnTo>
                    <a:pt x="581787" y="33400"/>
                  </a:lnTo>
                  <a:lnTo>
                    <a:pt x="582167" y="33400"/>
                  </a:lnTo>
                  <a:lnTo>
                    <a:pt x="582549" y="33400"/>
                  </a:lnTo>
                  <a:lnTo>
                    <a:pt x="582802" y="33782"/>
                  </a:lnTo>
                  <a:lnTo>
                    <a:pt x="583184" y="33782"/>
                  </a:lnTo>
                  <a:lnTo>
                    <a:pt x="583564" y="34162"/>
                  </a:lnTo>
                  <a:lnTo>
                    <a:pt x="583946" y="34162"/>
                  </a:lnTo>
                  <a:lnTo>
                    <a:pt x="583946" y="34544"/>
                  </a:lnTo>
                  <a:lnTo>
                    <a:pt x="584326" y="34544"/>
                  </a:lnTo>
                  <a:lnTo>
                    <a:pt x="584326" y="34925"/>
                  </a:lnTo>
                  <a:lnTo>
                    <a:pt x="584707" y="34925"/>
                  </a:lnTo>
                  <a:lnTo>
                    <a:pt x="584962" y="34925"/>
                  </a:lnTo>
                  <a:lnTo>
                    <a:pt x="585342" y="35306"/>
                  </a:lnTo>
                  <a:lnTo>
                    <a:pt x="585342" y="35560"/>
                  </a:lnTo>
                  <a:lnTo>
                    <a:pt x="585724" y="35941"/>
                  </a:lnTo>
                  <a:lnTo>
                    <a:pt x="586104" y="35941"/>
                  </a:lnTo>
                  <a:lnTo>
                    <a:pt x="586104" y="36322"/>
                  </a:lnTo>
                  <a:lnTo>
                    <a:pt x="586486" y="36703"/>
                  </a:lnTo>
                  <a:lnTo>
                    <a:pt x="586866" y="37084"/>
                  </a:lnTo>
                  <a:lnTo>
                    <a:pt x="586866" y="37465"/>
                  </a:lnTo>
                  <a:lnTo>
                    <a:pt x="586866" y="38100"/>
                  </a:lnTo>
                  <a:lnTo>
                    <a:pt x="589026" y="41021"/>
                  </a:lnTo>
                  <a:lnTo>
                    <a:pt x="590803" y="44196"/>
                  </a:lnTo>
                  <a:lnTo>
                    <a:pt x="592581" y="47117"/>
                  </a:lnTo>
                  <a:lnTo>
                    <a:pt x="595756" y="56134"/>
                  </a:lnTo>
                  <a:lnTo>
                    <a:pt x="596138" y="56896"/>
                  </a:lnTo>
                  <a:lnTo>
                    <a:pt x="610869" y="103632"/>
                  </a:lnTo>
                  <a:lnTo>
                    <a:pt x="616712" y="147193"/>
                  </a:lnTo>
                  <a:lnTo>
                    <a:pt x="615568" y="48514"/>
                  </a:lnTo>
                  <a:lnTo>
                    <a:pt x="615568" y="65532"/>
                  </a:lnTo>
                  <a:lnTo>
                    <a:pt x="616712" y="82804"/>
                  </a:lnTo>
                  <a:lnTo>
                    <a:pt x="623569" y="132461"/>
                  </a:lnTo>
                  <a:lnTo>
                    <a:pt x="626363" y="142112"/>
                  </a:lnTo>
                  <a:lnTo>
                    <a:pt x="626363" y="141859"/>
                  </a:lnTo>
                  <a:lnTo>
                    <a:pt x="626363" y="141478"/>
                  </a:lnTo>
                  <a:lnTo>
                    <a:pt x="626363" y="141097"/>
                  </a:lnTo>
                  <a:lnTo>
                    <a:pt x="626363" y="141097"/>
                  </a:lnTo>
                  <a:lnTo>
                    <a:pt x="626744" y="141097"/>
                  </a:lnTo>
                  <a:lnTo>
                    <a:pt x="626744" y="140716"/>
                  </a:lnTo>
                  <a:lnTo>
                    <a:pt x="627126" y="140716"/>
                  </a:lnTo>
                  <a:lnTo>
                    <a:pt x="627506" y="140716"/>
                  </a:lnTo>
                  <a:lnTo>
                    <a:pt x="627888" y="140716"/>
                  </a:lnTo>
                  <a:lnTo>
                    <a:pt x="627888" y="141097"/>
                  </a:lnTo>
                  <a:lnTo>
                    <a:pt x="628268" y="141097"/>
                  </a:lnTo>
                  <a:lnTo>
                    <a:pt x="629285" y="124206"/>
                  </a:lnTo>
                  <a:lnTo>
                    <a:pt x="628523" y="88519"/>
                  </a:lnTo>
                  <a:lnTo>
                    <a:pt x="627506" y="74168"/>
                  </a:lnTo>
                  <a:lnTo>
                    <a:pt x="627126" y="59309"/>
                  </a:lnTo>
                  <a:lnTo>
                    <a:pt x="627506" y="44958"/>
                  </a:lnTo>
                  <a:lnTo>
                    <a:pt x="631443" y="9017"/>
                  </a:lnTo>
                  <a:lnTo>
                    <a:pt x="634746" y="381"/>
                  </a:lnTo>
                  <a:lnTo>
                    <a:pt x="635000" y="381"/>
                  </a:lnTo>
                  <a:lnTo>
                    <a:pt x="635000" y="0"/>
                  </a:lnTo>
                  <a:lnTo>
                    <a:pt x="635380" y="0"/>
                  </a:lnTo>
                  <a:lnTo>
                    <a:pt x="635762" y="0"/>
                  </a:lnTo>
                  <a:lnTo>
                    <a:pt x="636142" y="0"/>
                  </a:lnTo>
                  <a:lnTo>
                    <a:pt x="636524" y="0"/>
                  </a:lnTo>
                  <a:lnTo>
                    <a:pt x="636524" y="381"/>
                  </a:lnTo>
                  <a:lnTo>
                    <a:pt x="636904" y="381"/>
                  </a:lnTo>
                  <a:lnTo>
                    <a:pt x="636904" y="635"/>
                  </a:lnTo>
                  <a:lnTo>
                    <a:pt x="637159" y="635"/>
                  </a:lnTo>
                  <a:lnTo>
                    <a:pt x="637159" y="1016"/>
                  </a:lnTo>
                  <a:lnTo>
                    <a:pt x="637539" y="1016"/>
                  </a:lnTo>
                  <a:lnTo>
                    <a:pt x="637539" y="1397"/>
                  </a:lnTo>
                  <a:lnTo>
                    <a:pt x="637539" y="1778"/>
                  </a:lnTo>
                  <a:lnTo>
                    <a:pt x="641223" y="19050"/>
                  </a:lnTo>
                  <a:lnTo>
                    <a:pt x="643001" y="122047"/>
                  </a:lnTo>
                  <a:lnTo>
                    <a:pt x="642619" y="157988"/>
                  </a:lnTo>
                  <a:lnTo>
                    <a:pt x="642619" y="163449"/>
                  </a:lnTo>
                  <a:lnTo>
                    <a:pt x="642619" y="169164"/>
                  </a:lnTo>
                  <a:lnTo>
                    <a:pt x="641857" y="174879"/>
                  </a:lnTo>
                  <a:lnTo>
                    <a:pt x="641223" y="180340"/>
                  </a:lnTo>
                  <a:lnTo>
                    <a:pt x="640461" y="186055"/>
                  </a:lnTo>
                  <a:lnTo>
                    <a:pt x="636142" y="202311"/>
                  </a:lnTo>
                  <a:lnTo>
                    <a:pt x="635380" y="203708"/>
                  </a:lnTo>
                  <a:lnTo>
                    <a:pt x="635000" y="205232"/>
                  </a:lnTo>
                  <a:lnTo>
                    <a:pt x="634364" y="206629"/>
                  </a:lnTo>
                  <a:lnTo>
                    <a:pt x="633602" y="208026"/>
                  </a:lnTo>
                  <a:lnTo>
                    <a:pt x="632587" y="209804"/>
                  </a:lnTo>
                  <a:lnTo>
                    <a:pt x="631825" y="211328"/>
                  </a:lnTo>
                  <a:lnTo>
                    <a:pt x="630681" y="212725"/>
                  </a:lnTo>
                  <a:lnTo>
                    <a:pt x="629665" y="214122"/>
                  </a:lnTo>
                  <a:lnTo>
                    <a:pt x="628523" y="215265"/>
                  </a:lnTo>
                  <a:lnTo>
                    <a:pt x="627126" y="216662"/>
                  </a:lnTo>
                  <a:lnTo>
                    <a:pt x="626110" y="218186"/>
                  </a:lnTo>
                  <a:lnTo>
                    <a:pt x="624586" y="218821"/>
                  </a:lnTo>
                  <a:lnTo>
                    <a:pt x="623188" y="219964"/>
                  </a:lnTo>
                  <a:lnTo>
                    <a:pt x="622046" y="221361"/>
                  </a:lnTo>
                  <a:lnTo>
                    <a:pt x="620267" y="222123"/>
                  </a:lnTo>
                  <a:lnTo>
                    <a:pt x="619251" y="223139"/>
                  </a:lnTo>
                  <a:lnTo>
                    <a:pt x="617474" y="224282"/>
                  </a:lnTo>
                  <a:lnTo>
                    <a:pt x="615950" y="224663"/>
                  </a:lnTo>
                  <a:lnTo>
                    <a:pt x="614172" y="225679"/>
                  </a:lnTo>
                  <a:lnTo>
                    <a:pt x="612775" y="226060"/>
                  </a:lnTo>
                  <a:lnTo>
                    <a:pt x="610869" y="226822"/>
                  </a:lnTo>
                  <a:lnTo>
                    <a:pt x="609091" y="227457"/>
                  </a:lnTo>
                  <a:lnTo>
                    <a:pt x="607694" y="227838"/>
                  </a:lnTo>
                  <a:lnTo>
                    <a:pt x="602614" y="228600"/>
                  </a:lnTo>
                  <a:lnTo>
                    <a:pt x="600455" y="229235"/>
                  </a:lnTo>
                  <a:lnTo>
                    <a:pt x="598677" y="229616"/>
                  </a:lnTo>
                  <a:lnTo>
                    <a:pt x="596518" y="229616"/>
                  </a:lnTo>
                  <a:lnTo>
                    <a:pt x="594740" y="229997"/>
                  </a:lnTo>
                  <a:lnTo>
                    <a:pt x="592581" y="229997"/>
                  </a:lnTo>
                  <a:lnTo>
                    <a:pt x="590423" y="229616"/>
                  </a:lnTo>
                  <a:lnTo>
                    <a:pt x="588644" y="229616"/>
                  </a:lnTo>
                  <a:lnTo>
                    <a:pt x="586866" y="229235"/>
                  </a:lnTo>
                  <a:lnTo>
                    <a:pt x="584326" y="228981"/>
                  </a:lnTo>
                  <a:lnTo>
                    <a:pt x="582549" y="228600"/>
                  </a:lnTo>
                  <a:lnTo>
                    <a:pt x="580643" y="228219"/>
                  </a:lnTo>
                  <a:lnTo>
                    <a:pt x="578485" y="227838"/>
                  </a:lnTo>
                  <a:lnTo>
                    <a:pt x="576706" y="227076"/>
                  </a:lnTo>
                  <a:lnTo>
                    <a:pt x="574928" y="226060"/>
                  </a:lnTo>
                  <a:lnTo>
                    <a:pt x="572769" y="225679"/>
                  </a:lnTo>
                  <a:lnTo>
                    <a:pt x="571373" y="224663"/>
                  </a:lnTo>
                  <a:lnTo>
                    <a:pt x="569213" y="223901"/>
                  </a:lnTo>
                  <a:lnTo>
                    <a:pt x="565530" y="221361"/>
                  </a:lnTo>
                  <a:lnTo>
                    <a:pt x="563372" y="219583"/>
                  </a:lnTo>
                  <a:lnTo>
                    <a:pt x="561213" y="217805"/>
                  </a:lnTo>
                  <a:lnTo>
                    <a:pt x="559435" y="216027"/>
                  </a:lnTo>
                  <a:lnTo>
                    <a:pt x="557276" y="213868"/>
                  </a:lnTo>
                  <a:lnTo>
                    <a:pt x="555878" y="211709"/>
                  </a:lnTo>
                  <a:lnTo>
                    <a:pt x="553719" y="209550"/>
                  </a:lnTo>
                  <a:lnTo>
                    <a:pt x="552196" y="207391"/>
                  </a:lnTo>
                  <a:lnTo>
                    <a:pt x="550799" y="204851"/>
                  </a:lnTo>
                  <a:lnTo>
                    <a:pt x="549401" y="202311"/>
                  </a:lnTo>
                  <a:lnTo>
                    <a:pt x="537463" y="163449"/>
                  </a:lnTo>
                  <a:lnTo>
                    <a:pt x="533526" y="118364"/>
                  </a:lnTo>
                  <a:lnTo>
                    <a:pt x="533526" y="108712"/>
                  </a:lnTo>
                  <a:lnTo>
                    <a:pt x="533526" y="88900"/>
                  </a:lnTo>
                  <a:lnTo>
                    <a:pt x="533146" y="84200"/>
                  </a:lnTo>
                  <a:lnTo>
                    <a:pt x="531749" y="85979"/>
                  </a:lnTo>
                  <a:lnTo>
                    <a:pt x="499363" y="222123"/>
                  </a:lnTo>
                  <a:lnTo>
                    <a:pt x="498601" y="226822"/>
                  </a:lnTo>
                  <a:lnTo>
                    <a:pt x="497839" y="231394"/>
                  </a:lnTo>
                  <a:lnTo>
                    <a:pt x="496442" y="235712"/>
                  </a:lnTo>
                  <a:lnTo>
                    <a:pt x="495426" y="240030"/>
                  </a:lnTo>
                  <a:lnTo>
                    <a:pt x="493522" y="244475"/>
                  </a:lnTo>
                  <a:lnTo>
                    <a:pt x="492125" y="248793"/>
                  </a:lnTo>
                  <a:lnTo>
                    <a:pt x="487044" y="259588"/>
                  </a:lnTo>
                  <a:lnTo>
                    <a:pt x="487044" y="259842"/>
                  </a:lnTo>
                  <a:lnTo>
                    <a:pt x="486790" y="259842"/>
                  </a:lnTo>
                  <a:lnTo>
                    <a:pt x="486790" y="260223"/>
                  </a:lnTo>
                  <a:lnTo>
                    <a:pt x="486410" y="260604"/>
                  </a:lnTo>
                  <a:lnTo>
                    <a:pt x="486410" y="260985"/>
                  </a:lnTo>
                  <a:lnTo>
                    <a:pt x="486028" y="260985"/>
                  </a:lnTo>
                  <a:lnTo>
                    <a:pt x="486028" y="261366"/>
                  </a:lnTo>
                  <a:lnTo>
                    <a:pt x="486028" y="261366"/>
                  </a:lnTo>
                  <a:lnTo>
                    <a:pt x="484250" y="262382"/>
                  </a:lnTo>
                  <a:lnTo>
                    <a:pt x="484250" y="262763"/>
                  </a:lnTo>
                  <a:lnTo>
                    <a:pt x="483869" y="262763"/>
                  </a:lnTo>
                  <a:lnTo>
                    <a:pt x="483488" y="262763"/>
                  </a:lnTo>
                  <a:lnTo>
                    <a:pt x="483107" y="262763"/>
                  </a:lnTo>
                  <a:lnTo>
                    <a:pt x="482726" y="262763"/>
                  </a:lnTo>
                  <a:lnTo>
                    <a:pt x="482473" y="262763"/>
                  </a:lnTo>
                  <a:lnTo>
                    <a:pt x="482091" y="262763"/>
                  </a:lnTo>
                  <a:lnTo>
                    <a:pt x="481711" y="262763"/>
                  </a:lnTo>
                  <a:lnTo>
                    <a:pt x="481329" y="262763"/>
                  </a:lnTo>
                  <a:lnTo>
                    <a:pt x="480949" y="262763"/>
                  </a:lnTo>
                  <a:lnTo>
                    <a:pt x="480567" y="262382"/>
                  </a:lnTo>
                  <a:lnTo>
                    <a:pt x="480313" y="262382"/>
                  </a:lnTo>
                  <a:lnTo>
                    <a:pt x="479932" y="262001"/>
                  </a:lnTo>
                  <a:lnTo>
                    <a:pt x="479171" y="262001"/>
                  </a:lnTo>
                  <a:lnTo>
                    <a:pt x="475234" y="252349"/>
                  </a:lnTo>
                  <a:lnTo>
                    <a:pt x="471550" y="234315"/>
                  </a:lnTo>
                  <a:lnTo>
                    <a:pt x="469138" y="216281"/>
                  </a:lnTo>
                  <a:lnTo>
                    <a:pt x="467232" y="198374"/>
                  </a:lnTo>
                  <a:lnTo>
                    <a:pt x="466978" y="145034"/>
                  </a:lnTo>
                  <a:lnTo>
                    <a:pt x="466978" y="129921"/>
                  </a:lnTo>
                  <a:lnTo>
                    <a:pt x="467232" y="120269"/>
                  </a:lnTo>
                  <a:lnTo>
                    <a:pt x="467232" y="119125"/>
                  </a:lnTo>
                  <a:lnTo>
                    <a:pt x="467232" y="120523"/>
                  </a:lnTo>
                  <a:lnTo>
                    <a:pt x="467613" y="136398"/>
                  </a:lnTo>
                  <a:lnTo>
                    <a:pt x="468756" y="158369"/>
                  </a:lnTo>
                  <a:lnTo>
                    <a:pt x="469391" y="169164"/>
                  </a:lnTo>
                  <a:lnTo>
                    <a:pt x="469773" y="179959"/>
                  </a:lnTo>
                  <a:lnTo>
                    <a:pt x="469391" y="190754"/>
                  </a:lnTo>
                  <a:lnTo>
                    <a:pt x="469138" y="201549"/>
                  </a:lnTo>
                  <a:lnTo>
                    <a:pt x="466216" y="224282"/>
                  </a:lnTo>
                  <a:lnTo>
                    <a:pt x="465836" y="224282"/>
                  </a:lnTo>
                  <a:lnTo>
                    <a:pt x="465836" y="223901"/>
                  </a:lnTo>
                  <a:lnTo>
                    <a:pt x="465454" y="223520"/>
                  </a:lnTo>
                  <a:lnTo>
                    <a:pt x="465074" y="223520"/>
                  </a:lnTo>
                  <a:lnTo>
                    <a:pt x="465074" y="223139"/>
                  </a:lnTo>
                  <a:lnTo>
                    <a:pt x="464819" y="223139"/>
                  </a:lnTo>
                  <a:lnTo>
                    <a:pt x="464438" y="223139"/>
                  </a:lnTo>
                  <a:lnTo>
                    <a:pt x="463296" y="223139"/>
                  </a:lnTo>
                  <a:lnTo>
                    <a:pt x="463296" y="223520"/>
                  </a:lnTo>
                  <a:lnTo>
                    <a:pt x="462914" y="223520"/>
                  </a:lnTo>
                  <a:lnTo>
                    <a:pt x="462914" y="223901"/>
                  </a:lnTo>
                  <a:lnTo>
                    <a:pt x="462914" y="224282"/>
                  </a:lnTo>
                  <a:lnTo>
                    <a:pt x="462661" y="224282"/>
                  </a:lnTo>
                  <a:lnTo>
                    <a:pt x="460121" y="215265"/>
                  </a:lnTo>
                  <a:lnTo>
                    <a:pt x="456818" y="152273"/>
                  </a:lnTo>
                  <a:lnTo>
                    <a:pt x="454025" y="92456"/>
                  </a:lnTo>
                  <a:lnTo>
                    <a:pt x="452881" y="90678"/>
                  </a:lnTo>
                  <a:lnTo>
                    <a:pt x="451103" y="92456"/>
                  </a:lnTo>
                  <a:lnTo>
                    <a:pt x="442467" y="109728"/>
                  </a:lnTo>
                  <a:lnTo>
                    <a:pt x="434848" y="127381"/>
                  </a:lnTo>
                  <a:lnTo>
                    <a:pt x="421513" y="165608"/>
                  </a:lnTo>
                  <a:lnTo>
                    <a:pt x="414019" y="188595"/>
                  </a:lnTo>
                  <a:lnTo>
                    <a:pt x="407162" y="204089"/>
                  </a:lnTo>
                  <a:lnTo>
                    <a:pt x="407162" y="204089"/>
                  </a:lnTo>
                  <a:lnTo>
                    <a:pt x="407162" y="203327"/>
                  </a:lnTo>
                  <a:lnTo>
                    <a:pt x="406780" y="203327"/>
                  </a:lnTo>
                  <a:lnTo>
                    <a:pt x="406780" y="203073"/>
                  </a:lnTo>
                  <a:lnTo>
                    <a:pt x="406400" y="203073"/>
                  </a:lnTo>
                  <a:lnTo>
                    <a:pt x="406400" y="202692"/>
                  </a:lnTo>
                  <a:lnTo>
                    <a:pt x="406146" y="202692"/>
                  </a:lnTo>
                  <a:lnTo>
                    <a:pt x="405764" y="202692"/>
                  </a:lnTo>
                  <a:lnTo>
                    <a:pt x="405384" y="202692"/>
                  </a:lnTo>
                  <a:lnTo>
                    <a:pt x="405002" y="202692"/>
                  </a:lnTo>
                  <a:lnTo>
                    <a:pt x="404622" y="202692"/>
                  </a:lnTo>
                  <a:lnTo>
                    <a:pt x="404622" y="203073"/>
                  </a:lnTo>
                  <a:lnTo>
                    <a:pt x="404240" y="203073"/>
                  </a:lnTo>
                  <a:lnTo>
                    <a:pt x="404240" y="203327"/>
                  </a:lnTo>
                  <a:lnTo>
                    <a:pt x="403987" y="203327"/>
                  </a:lnTo>
                  <a:lnTo>
                    <a:pt x="403987" y="203708"/>
                  </a:lnTo>
                  <a:lnTo>
                    <a:pt x="403605" y="203708"/>
                  </a:lnTo>
                  <a:lnTo>
                    <a:pt x="404240" y="193294"/>
                  </a:lnTo>
                  <a:lnTo>
                    <a:pt x="415798" y="132461"/>
                  </a:lnTo>
                  <a:lnTo>
                    <a:pt x="418338" y="123444"/>
                  </a:lnTo>
                  <a:lnTo>
                    <a:pt x="420497" y="114808"/>
                  </a:lnTo>
                  <a:lnTo>
                    <a:pt x="423037" y="106553"/>
                  </a:lnTo>
                  <a:lnTo>
                    <a:pt x="425576" y="98552"/>
                  </a:lnTo>
                  <a:lnTo>
                    <a:pt x="428751" y="90297"/>
                  </a:lnTo>
                  <a:lnTo>
                    <a:pt x="437388" y="72644"/>
                  </a:lnTo>
                  <a:lnTo>
                    <a:pt x="437388" y="72390"/>
                  </a:lnTo>
                  <a:lnTo>
                    <a:pt x="437768" y="71628"/>
                  </a:lnTo>
                  <a:lnTo>
                    <a:pt x="437768" y="71247"/>
                  </a:lnTo>
                  <a:lnTo>
                    <a:pt x="438150" y="70866"/>
                  </a:lnTo>
                  <a:lnTo>
                    <a:pt x="438150" y="70485"/>
                  </a:lnTo>
                  <a:lnTo>
                    <a:pt x="438530" y="70485"/>
                  </a:lnTo>
                  <a:lnTo>
                    <a:pt x="438912" y="70231"/>
                  </a:lnTo>
                  <a:lnTo>
                    <a:pt x="438912" y="69850"/>
                  </a:lnTo>
                  <a:lnTo>
                    <a:pt x="439165" y="69469"/>
                  </a:lnTo>
                  <a:lnTo>
                    <a:pt x="439547" y="69087"/>
                  </a:lnTo>
                  <a:lnTo>
                    <a:pt x="439927" y="68707"/>
                  </a:lnTo>
                  <a:lnTo>
                    <a:pt x="440309" y="68707"/>
                  </a:lnTo>
                  <a:lnTo>
                    <a:pt x="440309" y="68325"/>
                  </a:lnTo>
                  <a:lnTo>
                    <a:pt x="440689" y="68325"/>
                  </a:lnTo>
                  <a:lnTo>
                    <a:pt x="441071" y="68072"/>
                  </a:lnTo>
                  <a:lnTo>
                    <a:pt x="441325" y="68072"/>
                  </a:lnTo>
                  <a:lnTo>
                    <a:pt x="441705" y="67691"/>
                  </a:lnTo>
                  <a:lnTo>
                    <a:pt x="442087" y="67310"/>
                  </a:lnTo>
                  <a:lnTo>
                    <a:pt x="442467" y="67310"/>
                  </a:lnTo>
                  <a:lnTo>
                    <a:pt x="442849" y="67310"/>
                  </a:lnTo>
                  <a:lnTo>
                    <a:pt x="443229" y="66929"/>
                  </a:lnTo>
                  <a:lnTo>
                    <a:pt x="443484" y="66929"/>
                  </a:lnTo>
                  <a:lnTo>
                    <a:pt x="443864" y="66929"/>
                  </a:lnTo>
                  <a:lnTo>
                    <a:pt x="444246" y="66548"/>
                  </a:lnTo>
                  <a:lnTo>
                    <a:pt x="445007" y="66548"/>
                  </a:lnTo>
                  <a:lnTo>
                    <a:pt x="445388" y="66929"/>
                  </a:lnTo>
                  <a:lnTo>
                    <a:pt x="445642" y="67310"/>
                  </a:lnTo>
                  <a:lnTo>
                    <a:pt x="446404" y="67310"/>
                  </a:lnTo>
                  <a:lnTo>
                    <a:pt x="446786" y="67691"/>
                  </a:lnTo>
                  <a:lnTo>
                    <a:pt x="447166" y="68072"/>
                  </a:lnTo>
                  <a:lnTo>
                    <a:pt x="447548" y="68325"/>
                  </a:lnTo>
                  <a:lnTo>
                    <a:pt x="447801" y="68707"/>
                  </a:lnTo>
                  <a:lnTo>
                    <a:pt x="448182" y="68707"/>
                  </a:lnTo>
                  <a:lnTo>
                    <a:pt x="448182" y="69469"/>
                  </a:lnTo>
                  <a:lnTo>
                    <a:pt x="448563" y="69850"/>
                  </a:lnTo>
                  <a:lnTo>
                    <a:pt x="448944" y="70231"/>
                  </a:lnTo>
                  <a:lnTo>
                    <a:pt x="448944" y="70485"/>
                  </a:lnTo>
                  <a:lnTo>
                    <a:pt x="449325" y="70485"/>
                  </a:lnTo>
                  <a:lnTo>
                    <a:pt x="449706" y="71247"/>
                  </a:lnTo>
                  <a:lnTo>
                    <a:pt x="449706" y="71628"/>
                  </a:lnTo>
                  <a:lnTo>
                    <a:pt x="449961" y="72009"/>
                  </a:lnTo>
                  <a:lnTo>
                    <a:pt x="449961" y="72644"/>
                  </a:lnTo>
                  <a:lnTo>
                    <a:pt x="450341" y="72644"/>
                  </a:lnTo>
                  <a:lnTo>
                    <a:pt x="450341" y="73406"/>
                  </a:lnTo>
                  <a:lnTo>
                    <a:pt x="450723" y="74549"/>
                  </a:lnTo>
                  <a:lnTo>
                    <a:pt x="452119" y="81661"/>
                  </a:lnTo>
                  <a:lnTo>
                    <a:pt x="453643" y="88900"/>
                  </a:lnTo>
                  <a:lnTo>
                    <a:pt x="455802" y="108712"/>
                  </a:lnTo>
                  <a:lnTo>
                    <a:pt x="459359" y="136779"/>
                  </a:lnTo>
                  <a:lnTo>
                    <a:pt x="459359" y="137795"/>
                  </a:lnTo>
                  <a:lnTo>
                    <a:pt x="459739" y="138557"/>
                  </a:lnTo>
                  <a:lnTo>
                    <a:pt x="460121" y="139319"/>
                  </a:lnTo>
                  <a:lnTo>
                    <a:pt x="460121" y="140335"/>
                  </a:lnTo>
                  <a:lnTo>
                    <a:pt x="460121" y="140716"/>
                  </a:lnTo>
                  <a:lnTo>
                    <a:pt x="460501" y="141859"/>
                  </a:lnTo>
                  <a:lnTo>
                    <a:pt x="460755" y="142494"/>
                  </a:lnTo>
                  <a:lnTo>
                    <a:pt x="461137" y="143256"/>
                  </a:lnTo>
                  <a:lnTo>
                    <a:pt x="461899" y="144018"/>
                  </a:lnTo>
                  <a:lnTo>
                    <a:pt x="462279" y="144272"/>
                  </a:lnTo>
                  <a:lnTo>
                    <a:pt x="462661" y="145415"/>
                  </a:lnTo>
                  <a:lnTo>
                    <a:pt x="464057" y="147193"/>
                  </a:lnTo>
                  <a:lnTo>
                    <a:pt x="464438" y="147193"/>
                  </a:lnTo>
                  <a:lnTo>
                    <a:pt x="464438" y="147574"/>
                  </a:lnTo>
                  <a:lnTo>
                    <a:pt x="464819" y="147574"/>
                  </a:lnTo>
                  <a:lnTo>
                    <a:pt x="465074" y="147955"/>
                  </a:lnTo>
                  <a:lnTo>
                    <a:pt x="465454" y="147955"/>
                  </a:lnTo>
                  <a:lnTo>
                    <a:pt x="465836" y="147955"/>
                  </a:lnTo>
                  <a:lnTo>
                    <a:pt x="466216" y="148336"/>
                  </a:lnTo>
                  <a:lnTo>
                    <a:pt x="466598" y="148336"/>
                  </a:lnTo>
                  <a:lnTo>
                    <a:pt x="466978" y="148336"/>
                  </a:lnTo>
                  <a:lnTo>
                    <a:pt x="467232" y="148336"/>
                  </a:lnTo>
                  <a:lnTo>
                    <a:pt x="467613" y="148336"/>
                  </a:lnTo>
                  <a:lnTo>
                    <a:pt x="467994" y="148336"/>
                  </a:lnTo>
                  <a:lnTo>
                    <a:pt x="468375" y="147955"/>
                  </a:lnTo>
                  <a:lnTo>
                    <a:pt x="468756" y="147955"/>
                  </a:lnTo>
                  <a:lnTo>
                    <a:pt x="469138" y="147955"/>
                  </a:lnTo>
                  <a:lnTo>
                    <a:pt x="469138" y="147574"/>
                  </a:lnTo>
                  <a:lnTo>
                    <a:pt x="469391" y="147574"/>
                  </a:lnTo>
                  <a:lnTo>
                    <a:pt x="469391" y="147193"/>
                  </a:lnTo>
                  <a:lnTo>
                    <a:pt x="469773" y="147193"/>
                  </a:lnTo>
                  <a:lnTo>
                    <a:pt x="470153" y="146812"/>
                  </a:lnTo>
                  <a:lnTo>
                    <a:pt x="471931" y="145415"/>
                  </a:lnTo>
                  <a:lnTo>
                    <a:pt x="473075" y="144018"/>
                  </a:lnTo>
                  <a:lnTo>
                    <a:pt x="474852" y="142494"/>
                  </a:lnTo>
                  <a:lnTo>
                    <a:pt x="475868" y="140335"/>
                  </a:lnTo>
                  <a:lnTo>
                    <a:pt x="477392" y="138557"/>
                  </a:lnTo>
                  <a:lnTo>
                    <a:pt x="478154" y="137160"/>
                  </a:lnTo>
                  <a:lnTo>
                    <a:pt x="479551" y="135382"/>
                  </a:lnTo>
                  <a:lnTo>
                    <a:pt x="482091" y="129540"/>
                  </a:lnTo>
                  <a:lnTo>
                    <a:pt x="489585" y="109093"/>
                  </a:lnTo>
                  <a:lnTo>
                    <a:pt x="491109" y="104775"/>
                  </a:lnTo>
                  <a:lnTo>
                    <a:pt x="492505" y="99695"/>
                  </a:lnTo>
                  <a:lnTo>
                    <a:pt x="494284" y="94996"/>
                  </a:lnTo>
                  <a:lnTo>
                    <a:pt x="496442" y="90678"/>
                  </a:lnTo>
                  <a:lnTo>
                    <a:pt x="498601" y="86360"/>
                  </a:lnTo>
                  <a:lnTo>
                    <a:pt x="504316" y="75946"/>
                  </a:lnTo>
                  <a:lnTo>
                    <a:pt x="504316" y="75565"/>
                  </a:lnTo>
                  <a:lnTo>
                    <a:pt x="504698" y="75565"/>
                  </a:lnTo>
                  <a:lnTo>
                    <a:pt x="504698" y="75184"/>
                  </a:lnTo>
                  <a:lnTo>
                    <a:pt x="505078" y="75184"/>
                  </a:lnTo>
                  <a:lnTo>
                    <a:pt x="505078" y="74803"/>
                  </a:lnTo>
                  <a:lnTo>
                    <a:pt x="505460" y="74803"/>
                  </a:lnTo>
                  <a:lnTo>
                    <a:pt x="505840" y="74803"/>
                  </a:lnTo>
                  <a:lnTo>
                    <a:pt x="506222" y="74803"/>
                  </a:lnTo>
                  <a:lnTo>
                    <a:pt x="506475" y="74803"/>
                  </a:lnTo>
                  <a:lnTo>
                    <a:pt x="506856" y="74803"/>
                  </a:lnTo>
                  <a:lnTo>
                    <a:pt x="506856" y="75184"/>
                  </a:lnTo>
                  <a:lnTo>
                    <a:pt x="507238" y="75184"/>
                  </a:lnTo>
                  <a:lnTo>
                    <a:pt x="507238" y="75565"/>
                  </a:lnTo>
                  <a:lnTo>
                    <a:pt x="509015" y="81025"/>
                  </a:lnTo>
                  <a:lnTo>
                    <a:pt x="498221" y="137541"/>
                  </a:lnTo>
                  <a:lnTo>
                    <a:pt x="493267" y="145796"/>
                  </a:lnTo>
                  <a:lnTo>
                    <a:pt x="492887" y="145796"/>
                  </a:lnTo>
                  <a:lnTo>
                    <a:pt x="492887" y="146177"/>
                  </a:lnTo>
                  <a:lnTo>
                    <a:pt x="492505" y="146177"/>
                  </a:lnTo>
                  <a:lnTo>
                    <a:pt x="492125" y="146431"/>
                  </a:lnTo>
                  <a:lnTo>
                    <a:pt x="491743" y="146431"/>
                  </a:lnTo>
                  <a:lnTo>
                    <a:pt x="491363" y="146431"/>
                  </a:lnTo>
                  <a:lnTo>
                    <a:pt x="491109" y="146431"/>
                  </a:lnTo>
                  <a:lnTo>
                    <a:pt x="490727" y="146431"/>
                  </a:lnTo>
                  <a:lnTo>
                    <a:pt x="490347" y="146431"/>
                  </a:lnTo>
                  <a:lnTo>
                    <a:pt x="490347" y="146177"/>
                  </a:lnTo>
                  <a:lnTo>
                    <a:pt x="489965" y="146177"/>
                  </a:lnTo>
                  <a:lnTo>
                    <a:pt x="489585" y="146177"/>
                  </a:lnTo>
                  <a:lnTo>
                    <a:pt x="489585" y="145796"/>
                  </a:lnTo>
                  <a:lnTo>
                    <a:pt x="489203" y="145796"/>
                  </a:lnTo>
                  <a:lnTo>
                    <a:pt x="489203" y="145415"/>
                  </a:lnTo>
                  <a:lnTo>
                    <a:pt x="487806" y="144018"/>
                  </a:lnTo>
                  <a:lnTo>
                    <a:pt x="487044" y="142494"/>
                  </a:lnTo>
                  <a:lnTo>
                    <a:pt x="486410" y="140716"/>
                  </a:lnTo>
                  <a:lnTo>
                    <a:pt x="485266" y="139319"/>
                  </a:lnTo>
                  <a:lnTo>
                    <a:pt x="484631" y="137795"/>
                  </a:lnTo>
                  <a:lnTo>
                    <a:pt x="484250" y="136398"/>
                  </a:lnTo>
                  <a:lnTo>
                    <a:pt x="482726" y="132080"/>
                  </a:lnTo>
                  <a:lnTo>
                    <a:pt x="479932" y="124587"/>
                  </a:lnTo>
                  <a:lnTo>
                    <a:pt x="479551" y="123825"/>
                  </a:lnTo>
                  <a:lnTo>
                    <a:pt x="479171" y="122682"/>
                  </a:lnTo>
                  <a:lnTo>
                    <a:pt x="478789" y="122428"/>
                  </a:lnTo>
                  <a:lnTo>
                    <a:pt x="478409" y="121666"/>
                  </a:lnTo>
                  <a:lnTo>
                    <a:pt x="478154" y="120904"/>
                  </a:lnTo>
                  <a:lnTo>
                    <a:pt x="478154" y="120523"/>
                  </a:lnTo>
                  <a:lnTo>
                    <a:pt x="477774" y="119887"/>
                  </a:lnTo>
                  <a:lnTo>
                    <a:pt x="477012" y="119125"/>
                  </a:lnTo>
                  <a:lnTo>
                    <a:pt x="476630" y="118364"/>
                  </a:lnTo>
                  <a:lnTo>
                    <a:pt x="475868" y="118110"/>
                  </a:lnTo>
                  <a:lnTo>
                    <a:pt x="475614" y="117348"/>
                  </a:lnTo>
                  <a:lnTo>
                    <a:pt x="475234" y="116967"/>
                  </a:lnTo>
                  <a:lnTo>
                    <a:pt x="474472" y="116586"/>
                  </a:lnTo>
                  <a:lnTo>
                    <a:pt x="473710" y="115950"/>
                  </a:lnTo>
                  <a:lnTo>
                    <a:pt x="473455" y="115570"/>
                  </a:lnTo>
                  <a:lnTo>
                    <a:pt x="472693" y="115189"/>
                  </a:lnTo>
                  <a:lnTo>
                    <a:pt x="472313" y="114427"/>
                  </a:lnTo>
                  <a:lnTo>
                    <a:pt x="471550" y="114427"/>
                  </a:lnTo>
                  <a:lnTo>
                    <a:pt x="470535" y="114046"/>
                  </a:lnTo>
                  <a:lnTo>
                    <a:pt x="469773" y="113792"/>
                  </a:lnTo>
                  <a:lnTo>
                    <a:pt x="469138" y="113411"/>
                  </a:lnTo>
                  <a:lnTo>
                    <a:pt x="468756" y="113030"/>
                  </a:lnTo>
                  <a:lnTo>
                    <a:pt x="467994" y="112649"/>
                  </a:lnTo>
                  <a:lnTo>
                    <a:pt x="466978" y="112649"/>
                  </a:lnTo>
                  <a:lnTo>
                    <a:pt x="466216" y="112649"/>
                  </a:lnTo>
                  <a:lnTo>
                    <a:pt x="465836" y="112649"/>
                  </a:lnTo>
                  <a:lnTo>
                    <a:pt x="464819" y="112268"/>
                  </a:lnTo>
                  <a:lnTo>
                    <a:pt x="460755" y="112268"/>
                  </a:lnTo>
                  <a:lnTo>
                    <a:pt x="460121" y="112649"/>
                  </a:lnTo>
                  <a:lnTo>
                    <a:pt x="459739" y="112649"/>
                  </a:lnTo>
                  <a:lnTo>
                    <a:pt x="458597" y="112649"/>
                  </a:lnTo>
                  <a:lnTo>
                    <a:pt x="457962" y="112649"/>
                  </a:lnTo>
                  <a:lnTo>
                    <a:pt x="457200" y="113030"/>
                  </a:lnTo>
                  <a:lnTo>
                    <a:pt x="455422" y="113792"/>
                  </a:lnTo>
                  <a:lnTo>
                    <a:pt x="445007" y="115189"/>
                  </a:lnTo>
                  <a:lnTo>
                    <a:pt x="444246" y="115189"/>
                  </a:lnTo>
                  <a:lnTo>
                    <a:pt x="443484" y="114808"/>
                  </a:lnTo>
                  <a:lnTo>
                    <a:pt x="443229" y="114808"/>
                  </a:lnTo>
                  <a:lnTo>
                    <a:pt x="442467" y="114808"/>
                  </a:lnTo>
                  <a:lnTo>
                    <a:pt x="442087" y="114427"/>
                  </a:lnTo>
                  <a:lnTo>
                    <a:pt x="441325" y="114427"/>
                  </a:lnTo>
                  <a:lnTo>
                    <a:pt x="440689" y="114427"/>
                  </a:lnTo>
                  <a:lnTo>
                    <a:pt x="439927" y="114046"/>
                  </a:lnTo>
                  <a:lnTo>
                    <a:pt x="439165" y="113792"/>
                  </a:lnTo>
                  <a:lnTo>
                    <a:pt x="438912" y="113792"/>
                  </a:lnTo>
                  <a:lnTo>
                    <a:pt x="438530" y="113411"/>
                  </a:lnTo>
                  <a:lnTo>
                    <a:pt x="437768" y="113030"/>
                  </a:lnTo>
                  <a:lnTo>
                    <a:pt x="437388" y="112649"/>
                  </a:lnTo>
                  <a:lnTo>
                    <a:pt x="436752" y="112268"/>
                  </a:lnTo>
                  <a:lnTo>
                    <a:pt x="436372" y="111887"/>
                  </a:lnTo>
                  <a:lnTo>
                    <a:pt x="435990" y="111633"/>
                  </a:lnTo>
                  <a:lnTo>
                    <a:pt x="435610" y="110871"/>
                  </a:lnTo>
                  <a:lnTo>
                    <a:pt x="434848" y="110490"/>
                  </a:lnTo>
                  <a:lnTo>
                    <a:pt x="434593" y="110490"/>
                  </a:lnTo>
                  <a:lnTo>
                    <a:pt x="434213" y="109728"/>
                  </a:lnTo>
                  <a:lnTo>
                    <a:pt x="433831" y="109093"/>
                  </a:lnTo>
                  <a:lnTo>
                    <a:pt x="433450" y="108712"/>
                  </a:lnTo>
                  <a:lnTo>
                    <a:pt x="433069" y="108331"/>
                  </a:lnTo>
                  <a:lnTo>
                    <a:pt x="433069" y="107569"/>
                  </a:lnTo>
                  <a:lnTo>
                    <a:pt x="432688" y="107315"/>
                  </a:lnTo>
                  <a:lnTo>
                    <a:pt x="432435" y="106553"/>
                  </a:lnTo>
                  <a:lnTo>
                    <a:pt x="432435" y="106172"/>
                  </a:lnTo>
                  <a:lnTo>
                    <a:pt x="431673" y="104775"/>
                  </a:lnTo>
                  <a:lnTo>
                    <a:pt x="427354" y="84962"/>
                  </a:lnTo>
                  <a:lnTo>
                    <a:pt x="426974" y="80645"/>
                  </a:lnTo>
                  <a:lnTo>
                    <a:pt x="422655" y="64389"/>
                  </a:lnTo>
                  <a:lnTo>
                    <a:pt x="421513" y="61214"/>
                  </a:lnTo>
                  <a:lnTo>
                    <a:pt x="420877" y="58293"/>
                  </a:lnTo>
                  <a:lnTo>
                    <a:pt x="420115" y="54991"/>
                  </a:lnTo>
                  <a:lnTo>
                    <a:pt x="419353" y="52197"/>
                  </a:lnTo>
                  <a:lnTo>
                    <a:pt x="419100" y="48895"/>
                  </a:lnTo>
                  <a:lnTo>
                    <a:pt x="418338" y="42799"/>
                  </a:lnTo>
                  <a:lnTo>
                    <a:pt x="418718" y="41402"/>
                  </a:lnTo>
                  <a:lnTo>
                    <a:pt x="418718" y="40259"/>
                  </a:lnTo>
                  <a:lnTo>
                    <a:pt x="419100" y="38862"/>
                  </a:lnTo>
                  <a:lnTo>
                    <a:pt x="419353" y="37465"/>
                  </a:lnTo>
                  <a:lnTo>
                    <a:pt x="419735" y="36322"/>
                  </a:lnTo>
                  <a:lnTo>
                    <a:pt x="420115" y="34925"/>
                  </a:lnTo>
                  <a:lnTo>
                    <a:pt x="420877" y="33782"/>
                  </a:lnTo>
                  <a:lnTo>
                    <a:pt x="420877" y="32766"/>
                  </a:lnTo>
                  <a:lnTo>
                    <a:pt x="421513" y="31242"/>
                  </a:lnTo>
                  <a:lnTo>
                    <a:pt x="422275" y="30225"/>
                  </a:lnTo>
                  <a:lnTo>
                    <a:pt x="423037" y="29083"/>
                  </a:lnTo>
                  <a:lnTo>
                    <a:pt x="423672" y="28067"/>
                  </a:lnTo>
                  <a:lnTo>
                    <a:pt x="424434" y="26924"/>
                  </a:lnTo>
                  <a:lnTo>
                    <a:pt x="425196" y="25908"/>
                  </a:lnTo>
                  <a:lnTo>
                    <a:pt x="426212" y="24765"/>
                  </a:lnTo>
                  <a:lnTo>
                    <a:pt x="428751" y="22352"/>
                  </a:lnTo>
                  <a:lnTo>
                    <a:pt x="429132" y="21971"/>
                  </a:lnTo>
                  <a:lnTo>
                    <a:pt x="429513" y="21590"/>
                  </a:lnTo>
                  <a:lnTo>
                    <a:pt x="429894" y="21209"/>
                  </a:lnTo>
                  <a:lnTo>
                    <a:pt x="429894" y="20828"/>
                  </a:lnTo>
                  <a:lnTo>
                    <a:pt x="430149" y="20828"/>
                  </a:lnTo>
                  <a:lnTo>
                    <a:pt x="430529" y="20447"/>
                  </a:lnTo>
                  <a:lnTo>
                    <a:pt x="430911" y="20193"/>
                  </a:lnTo>
                  <a:lnTo>
                    <a:pt x="431291" y="19812"/>
                  </a:lnTo>
                  <a:lnTo>
                    <a:pt x="431673" y="19431"/>
                  </a:lnTo>
                  <a:lnTo>
                    <a:pt x="432053" y="19050"/>
                  </a:lnTo>
                  <a:lnTo>
                    <a:pt x="432688" y="19050"/>
                  </a:lnTo>
                  <a:lnTo>
                    <a:pt x="433069" y="19050"/>
                  </a:lnTo>
                  <a:lnTo>
                    <a:pt x="433069" y="18669"/>
                  </a:lnTo>
                  <a:lnTo>
                    <a:pt x="433450" y="18669"/>
                  </a:lnTo>
                  <a:lnTo>
                    <a:pt x="434213" y="18287"/>
                  </a:lnTo>
                  <a:lnTo>
                    <a:pt x="434593" y="18287"/>
                  </a:lnTo>
                  <a:lnTo>
                    <a:pt x="434848" y="18034"/>
                  </a:lnTo>
                  <a:lnTo>
                    <a:pt x="435610" y="18034"/>
                  </a:lnTo>
                  <a:lnTo>
                    <a:pt x="435990" y="18034"/>
                  </a:lnTo>
                  <a:lnTo>
                    <a:pt x="436372" y="17653"/>
                  </a:lnTo>
                  <a:lnTo>
                    <a:pt x="438912" y="17653"/>
                  </a:lnTo>
                  <a:lnTo>
                    <a:pt x="438912" y="18034"/>
                  </a:lnTo>
                  <a:lnTo>
                    <a:pt x="440309" y="18034"/>
                  </a:lnTo>
                  <a:lnTo>
                    <a:pt x="441071" y="18287"/>
                  </a:lnTo>
                  <a:lnTo>
                    <a:pt x="441325" y="19050"/>
                  </a:lnTo>
                  <a:lnTo>
                    <a:pt x="442087" y="19050"/>
                  </a:lnTo>
                  <a:lnTo>
                    <a:pt x="442467" y="19812"/>
                  </a:lnTo>
                  <a:lnTo>
                    <a:pt x="442849" y="20193"/>
                  </a:lnTo>
                  <a:lnTo>
                    <a:pt x="443484" y="20828"/>
                  </a:lnTo>
                  <a:lnTo>
                    <a:pt x="443864" y="20828"/>
                  </a:lnTo>
                  <a:lnTo>
                    <a:pt x="444626" y="21590"/>
                  </a:lnTo>
                  <a:lnTo>
                    <a:pt x="445007" y="22352"/>
                  </a:lnTo>
                  <a:lnTo>
                    <a:pt x="445007" y="22606"/>
                  </a:lnTo>
                  <a:lnTo>
                    <a:pt x="445642" y="22987"/>
                  </a:lnTo>
                  <a:lnTo>
                    <a:pt x="446024" y="23749"/>
                  </a:lnTo>
                  <a:lnTo>
                    <a:pt x="446404" y="24511"/>
                  </a:lnTo>
                  <a:lnTo>
                    <a:pt x="446786" y="24765"/>
                  </a:lnTo>
                  <a:lnTo>
                    <a:pt x="446786" y="25527"/>
                  </a:lnTo>
                  <a:lnTo>
                    <a:pt x="447548" y="26924"/>
                  </a:lnTo>
                  <a:lnTo>
                    <a:pt x="448944" y="32004"/>
                  </a:lnTo>
                  <a:lnTo>
                    <a:pt x="450341" y="37084"/>
                  </a:lnTo>
                  <a:lnTo>
                    <a:pt x="451103" y="42418"/>
                  </a:lnTo>
                  <a:lnTo>
                    <a:pt x="452881" y="54737"/>
                  </a:lnTo>
                  <a:lnTo>
                    <a:pt x="453263" y="55372"/>
                  </a:lnTo>
                  <a:lnTo>
                    <a:pt x="456438" y="126746"/>
                  </a:lnTo>
                  <a:lnTo>
                    <a:pt x="456184" y="145034"/>
                  </a:lnTo>
                </a:path>
              </a:pathLst>
            </a:custGeom>
            <a:noFill/>
            <a:ln cap="flat" cmpd="sng" w="35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2" name="Google Shape;622;p44"/>
            <p:cNvSpPr/>
            <p:nvPr/>
          </p:nvSpPr>
          <p:spPr>
            <a:xfrm>
              <a:off x="4238244" y="2849118"/>
              <a:ext cx="3949065" cy="2012950"/>
            </a:xfrm>
            <a:custGeom>
              <a:rect b="b" l="l" r="r" t="t"/>
              <a:pathLst>
                <a:path extrusionOk="0" h="2012950" w="3949065">
                  <a:moveTo>
                    <a:pt x="1316735" y="2012442"/>
                  </a:moveTo>
                  <a:lnTo>
                    <a:pt x="1379723" y="2006797"/>
                  </a:lnTo>
                  <a:lnTo>
                    <a:pt x="1452419" y="1967286"/>
                  </a:lnTo>
                  <a:lnTo>
                    <a:pt x="1495415" y="1924247"/>
                  </a:lnTo>
                  <a:lnTo>
                    <a:pt x="1544446" y="1860042"/>
                  </a:lnTo>
                  <a:lnTo>
                    <a:pt x="1579401" y="1797773"/>
                  </a:lnTo>
                  <a:lnTo>
                    <a:pt x="1598135" y="1757456"/>
                  </a:lnTo>
                  <a:lnTo>
                    <a:pt x="1617605" y="1712285"/>
                  </a:lnTo>
                  <a:lnTo>
                    <a:pt x="1637734" y="1663209"/>
                  </a:lnTo>
                  <a:lnTo>
                    <a:pt x="1658447" y="1611178"/>
                  </a:lnTo>
                  <a:lnTo>
                    <a:pt x="1679668" y="1557141"/>
                  </a:lnTo>
                  <a:lnTo>
                    <a:pt x="1701319" y="1502049"/>
                  </a:lnTo>
                  <a:lnTo>
                    <a:pt x="1723326" y="1446852"/>
                  </a:lnTo>
                  <a:lnTo>
                    <a:pt x="1745611" y="1392499"/>
                  </a:lnTo>
                  <a:lnTo>
                    <a:pt x="1768099" y="1339940"/>
                  </a:lnTo>
                  <a:lnTo>
                    <a:pt x="1790713" y="1290125"/>
                  </a:lnTo>
                  <a:lnTo>
                    <a:pt x="1813378" y="1244004"/>
                  </a:lnTo>
                  <a:lnTo>
                    <a:pt x="1836016" y="1202526"/>
                  </a:lnTo>
                  <a:lnTo>
                    <a:pt x="1858552" y="1166643"/>
                  </a:lnTo>
                  <a:lnTo>
                    <a:pt x="1903011" y="1115456"/>
                  </a:lnTo>
                  <a:lnTo>
                    <a:pt x="1946147" y="1098042"/>
                  </a:lnTo>
                  <a:lnTo>
                    <a:pt x="1967654" y="1104174"/>
                  </a:lnTo>
                  <a:lnTo>
                    <a:pt x="2012421" y="1144254"/>
                  </a:lnTo>
                  <a:lnTo>
                    <a:pt x="2035448" y="1176223"/>
                  </a:lnTo>
                  <a:lnTo>
                    <a:pt x="2058747" y="1214827"/>
                  </a:lnTo>
                  <a:lnTo>
                    <a:pt x="2082201" y="1259077"/>
                  </a:lnTo>
                  <a:lnTo>
                    <a:pt x="2105694" y="1307983"/>
                  </a:lnTo>
                  <a:lnTo>
                    <a:pt x="2129108" y="1360557"/>
                  </a:lnTo>
                  <a:lnTo>
                    <a:pt x="2152326" y="1415810"/>
                  </a:lnTo>
                  <a:lnTo>
                    <a:pt x="2175232" y="1472754"/>
                  </a:lnTo>
                  <a:lnTo>
                    <a:pt x="2197707" y="1530398"/>
                  </a:lnTo>
                  <a:lnTo>
                    <a:pt x="2219635" y="1587755"/>
                  </a:lnTo>
                  <a:lnTo>
                    <a:pt x="2240899" y="1643836"/>
                  </a:lnTo>
                  <a:lnTo>
                    <a:pt x="2261381" y="1697652"/>
                  </a:lnTo>
                  <a:lnTo>
                    <a:pt x="2280965" y="1748213"/>
                  </a:lnTo>
                  <a:lnTo>
                    <a:pt x="2299534" y="1794532"/>
                  </a:lnTo>
                  <a:lnTo>
                    <a:pt x="2316970" y="1835619"/>
                  </a:lnTo>
                  <a:lnTo>
                    <a:pt x="2333156" y="1870485"/>
                  </a:lnTo>
                  <a:lnTo>
                    <a:pt x="2393829" y="1964974"/>
                  </a:lnTo>
                  <a:lnTo>
                    <a:pt x="2426612" y="1994529"/>
                  </a:lnTo>
                  <a:lnTo>
                    <a:pt x="2449867" y="2000829"/>
                  </a:lnTo>
                  <a:lnTo>
                    <a:pt x="2467136" y="1997892"/>
                  </a:lnTo>
                  <a:lnTo>
                    <a:pt x="2481960" y="1999742"/>
                  </a:lnTo>
                  <a:lnTo>
                    <a:pt x="2495170" y="2005955"/>
                  </a:lnTo>
                  <a:lnTo>
                    <a:pt x="2499915" y="2004107"/>
                  </a:lnTo>
                  <a:lnTo>
                    <a:pt x="2499016" y="1996902"/>
                  </a:lnTo>
                  <a:lnTo>
                    <a:pt x="2495296" y="1987042"/>
                  </a:lnTo>
                </a:path>
                <a:path extrusionOk="0" h="2012950" w="3949065">
                  <a:moveTo>
                    <a:pt x="1316863" y="2009394"/>
                  </a:moveTo>
                  <a:lnTo>
                    <a:pt x="0" y="2009394"/>
                  </a:lnTo>
                </a:path>
                <a:path extrusionOk="0" h="2012950" w="3949065">
                  <a:moveTo>
                    <a:pt x="2497835" y="1999488"/>
                  </a:moveTo>
                  <a:lnTo>
                    <a:pt x="3948683" y="2009013"/>
                  </a:lnTo>
                </a:path>
                <a:path extrusionOk="0" h="2012950" w="3949065">
                  <a:moveTo>
                    <a:pt x="2610611" y="4572"/>
                  </a:moveTo>
                  <a:lnTo>
                    <a:pt x="3943096" y="0"/>
                  </a:lnTo>
                </a:path>
                <a:path extrusionOk="0" h="2012950" w="3949065">
                  <a:moveTo>
                    <a:pt x="67817" y="680466"/>
                  </a:moveTo>
                  <a:lnTo>
                    <a:pt x="1400302" y="675894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3" name="Google Shape;623;p44"/>
            <p:cNvSpPr/>
            <p:nvPr/>
          </p:nvSpPr>
          <p:spPr>
            <a:xfrm>
              <a:off x="4339590" y="3553206"/>
              <a:ext cx="1299210" cy="0"/>
            </a:xfrm>
            <a:custGeom>
              <a:rect b="b" l="l" r="r" t="t"/>
              <a:pathLst>
                <a:path extrusionOk="0" h="120000" w="1299210">
                  <a:moveTo>
                    <a:pt x="0" y="0"/>
                  </a:moveTo>
                  <a:lnTo>
                    <a:pt x="1298956" y="0"/>
                  </a:lnTo>
                </a:path>
              </a:pathLst>
            </a:cu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4" name="Google Shape;624;p44"/>
            <p:cNvSpPr/>
            <p:nvPr/>
          </p:nvSpPr>
          <p:spPr>
            <a:xfrm>
              <a:off x="4238244" y="5496424"/>
              <a:ext cx="3943350" cy="759460"/>
            </a:xfrm>
            <a:custGeom>
              <a:rect b="b" l="l" r="r" t="t"/>
              <a:pathLst>
                <a:path extrusionOk="0" h="759460" w="3943350">
                  <a:moveTo>
                    <a:pt x="1210055" y="429776"/>
                  </a:moveTo>
                  <a:lnTo>
                    <a:pt x="1249065" y="416060"/>
                  </a:lnTo>
                  <a:lnTo>
                    <a:pt x="1289019" y="400059"/>
                  </a:lnTo>
                  <a:lnTo>
                    <a:pt x="1330893" y="379487"/>
                  </a:lnTo>
                  <a:lnTo>
                    <a:pt x="1375663" y="352059"/>
                  </a:lnTo>
                  <a:lnTo>
                    <a:pt x="1424304" y="315489"/>
                  </a:lnTo>
                  <a:lnTo>
                    <a:pt x="1469728" y="257591"/>
                  </a:lnTo>
                  <a:lnTo>
                    <a:pt x="1492345" y="217951"/>
                  </a:lnTo>
                  <a:lnTo>
                    <a:pt x="1515384" y="174886"/>
                  </a:lnTo>
                  <a:lnTo>
                    <a:pt x="1539208" y="131171"/>
                  </a:lnTo>
                  <a:lnTo>
                    <a:pt x="1564178" y="89582"/>
                  </a:lnTo>
                  <a:lnTo>
                    <a:pt x="1590659" y="52895"/>
                  </a:lnTo>
                  <a:lnTo>
                    <a:pt x="1619013" y="23885"/>
                  </a:lnTo>
                  <a:lnTo>
                    <a:pt x="1682793" y="0"/>
                  </a:lnTo>
                  <a:lnTo>
                    <a:pt x="1718944" y="10676"/>
                  </a:lnTo>
                  <a:lnTo>
                    <a:pt x="1766613" y="49380"/>
                  </a:lnTo>
                  <a:lnTo>
                    <a:pt x="1793091" y="79355"/>
                  </a:lnTo>
                  <a:lnTo>
                    <a:pt x="1821019" y="115214"/>
                  </a:lnTo>
                  <a:lnTo>
                    <a:pt x="1850163" y="156055"/>
                  </a:lnTo>
                  <a:lnTo>
                    <a:pt x="1880288" y="200980"/>
                  </a:lnTo>
                  <a:lnTo>
                    <a:pt x="1911161" y="249088"/>
                  </a:lnTo>
                  <a:lnTo>
                    <a:pt x="1942546" y="299481"/>
                  </a:lnTo>
                  <a:lnTo>
                    <a:pt x="1974210" y="351258"/>
                  </a:lnTo>
                  <a:lnTo>
                    <a:pt x="2005919" y="403519"/>
                  </a:lnTo>
                  <a:lnTo>
                    <a:pt x="2037437" y="455365"/>
                  </a:lnTo>
                  <a:lnTo>
                    <a:pt x="2068532" y="505896"/>
                  </a:lnTo>
                  <a:lnTo>
                    <a:pt x="2098967" y="554213"/>
                  </a:lnTo>
                  <a:lnTo>
                    <a:pt x="2128510" y="599416"/>
                  </a:lnTo>
                  <a:lnTo>
                    <a:pt x="2156926" y="640604"/>
                  </a:lnTo>
                  <a:lnTo>
                    <a:pt x="2183980" y="676879"/>
                  </a:lnTo>
                  <a:lnTo>
                    <a:pt x="2209438" y="707341"/>
                  </a:lnTo>
                  <a:lnTo>
                    <a:pt x="2254630" y="747225"/>
                  </a:lnTo>
                  <a:lnTo>
                    <a:pt x="2287902" y="759179"/>
                  </a:lnTo>
                  <a:lnTo>
                    <a:pt x="2317451" y="755334"/>
                  </a:lnTo>
                  <a:lnTo>
                    <a:pt x="2367315" y="711354"/>
                  </a:lnTo>
                  <a:lnTo>
                    <a:pt x="2388597" y="676771"/>
                  </a:lnTo>
                  <a:lnTo>
                    <a:pt x="2408091" y="637494"/>
                  </a:lnTo>
                  <a:lnTo>
                    <a:pt x="2426282" y="596299"/>
                  </a:lnTo>
                  <a:lnTo>
                    <a:pt x="2443652" y="555962"/>
                  </a:lnTo>
                  <a:lnTo>
                    <a:pt x="2460685" y="519260"/>
                  </a:lnTo>
                  <a:lnTo>
                    <a:pt x="2495677" y="467863"/>
                  </a:lnTo>
                  <a:lnTo>
                    <a:pt x="2542424" y="434285"/>
                  </a:lnTo>
                  <a:lnTo>
                    <a:pt x="2583529" y="415884"/>
                  </a:lnTo>
                  <a:lnTo>
                    <a:pt x="2620871" y="407600"/>
                  </a:lnTo>
                  <a:lnTo>
                    <a:pt x="2656331" y="404376"/>
                  </a:lnTo>
                </a:path>
                <a:path extrusionOk="0" h="759460" w="3943350">
                  <a:moveTo>
                    <a:pt x="2656331" y="403995"/>
                  </a:moveTo>
                  <a:lnTo>
                    <a:pt x="3943223" y="379357"/>
                  </a:lnTo>
                </a:path>
                <a:path extrusionOk="0" h="759460" w="3943350">
                  <a:moveTo>
                    <a:pt x="0" y="417457"/>
                  </a:moveTo>
                  <a:lnTo>
                    <a:pt x="1225677" y="417457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5" name="Google Shape;625;p44"/>
            <p:cNvSpPr/>
            <p:nvPr/>
          </p:nvSpPr>
          <p:spPr>
            <a:xfrm>
              <a:off x="5461254" y="5950877"/>
              <a:ext cx="635" cy="0"/>
            </a:xfrm>
            <a:custGeom>
              <a:rect b="b" l="l" r="r" t="t"/>
              <a:pathLst>
                <a:path extrusionOk="0" h="120000" w="635">
                  <a:moveTo>
                    <a:pt x="0" y="0"/>
                  </a:moveTo>
                  <a:lnTo>
                    <a:pt x="0" y="0"/>
                  </a:lnTo>
                  <a:lnTo>
                    <a:pt x="381" y="0"/>
                  </a:lnTo>
                </a:path>
              </a:pathLst>
            </a:custGeom>
            <a:noFill/>
            <a:ln cap="flat" cmpd="sng" w="35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6" name="Google Shape;626;p44"/>
            <p:cNvSpPr/>
            <p:nvPr/>
          </p:nvSpPr>
          <p:spPr>
            <a:xfrm>
              <a:off x="6188202" y="2499360"/>
              <a:ext cx="24764" cy="3794760"/>
            </a:xfrm>
            <a:custGeom>
              <a:rect b="b" l="l" r="r" t="t"/>
              <a:pathLst>
                <a:path extrusionOk="0" h="3794760" w="24764">
                  <a:moveTo>
                    <a:pt x="0" y="0"/>
                  </a:moveTo>
                  <a:lnTo>
                    <a:pt x="24384" y="3794760"/>
                  </a:lnTo>
                </a:path>
              </a:pathLst>
            </a:custGeom>
            <a:noFill/>
            <a:ln cap="flat" cmpd="sng" w="28550">
              <a:solidFill>
                <a:srgbClr val="497DBA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27" name="Google Shape;627;p44"/>
          <p:cNvSpPr txBox="1"/>
          <p:nvPr/>
        </p:nvSpPr>
        <p:spPr>
          <a:xfrm>
            <a:off x="4675123" y="2522728"/>
            <a:ext cx="1579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𝑭𝒖𝒏𝒄𝒕𝒊𝒐𝒏 𝑭(𝑰)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28" name="Google Shape;628;p44"/>
          <p:cNvSpPr txBox="1"/>
          <p:nvPr/>
        </p:nvSpPr>
        <p:spPr>
          <a:xfrm>
            <a:off x="4557267" y="3672332"/>
            <a:ext cx="1645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𝟏𝒔𝒕 𝑫𝒆𝒓𝒊𝒗𝒂𝒕𝒊𝒗𝒆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29" name="Google Shape;629;p44"/>
          <p:cNvSpPr txBox="1"/>
          <p:nvPr/>
        </p:nvSpPr>
        <p:spPr>
          <a:xfrm>
            <a:off x="4487671" y="5161788"/>
            <a:ext cx="17316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𝟐𝒏𝒅 𝑫𝒆𝒓𝒊𝒗𝒂𝒕𝒊𝒗𝒆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30" name="Google Shape;630;p44"/>
          <p:cNvSpPr txBox="1"/>
          <p:nvPr/>
        </p:nvSpPr>
        <p:spPr>
          <a:xfrm>
            <a:off x="6738366" y="5167121"/>
            <a:ext cx="1587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𝒁𝒆𝒓𝒐 𝒄𝒓𝒐𝒔𝒔𝒊𝒏𝒈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31" name="Google Shape;631;p44"/>
          <p:cNvSpPr/>
          <p:nvPr/>
        </p:nvSpPr>
        <p:spPr>
          <a:xfrm>
            <a:off x="6263640" y="5296408"/>
            <a:ext cx="499745" cy="463550"/>
          </a:xfrm>
          <a:custGeom>
            <a:rect b="b" l="l" r="r" t="t"/>
            <a:pathLst>
              <a:path extrusionOk="0" h="463550" w="499745">
                <a:moveTo>
                  <a:pt x="473837" y="0"/>
                </a:moveTo>
                <a:lnTo>
                  <a:pt x="445896" y="25780"/>
                </a:lnTo>
                <a:lnTo>
                  <a:pt x="471678" y="53847"/>
                </a:lnTo>
                <a:lnTo>
                  <a:pt x="499617" y="27939"/>
                </a:lnTo>
                <a:lnTo>
                  <a:pt x="473837" y="0"/>
                </a:lnTo>
                <a:close/>
              </a:path>
              <a:path extrusionOk="0" h="463550" w="499745">
                <a:moveTo>
                  <a:pt x="417830" y="51688"/>
                </a:moveTo>
                <a:lnTo>
                  <a:pt x="389889" y="77469"/>
                </a:lnTo>
                <a:lnTo>
                  <a:pt x="415670" y="105536"/>
                </a:lnTo>
                <a:lnTo>
                  <a:pt x="443611" y="79628"/>
                </a:lnTo>
                <a:lnTo>
                  <a:pt x="417830" y="51688"/>
                </a:lnTo>
                <a:close/>
              </a:path>
              <a:path extrusionOk="0" h="463550" w="499745">
                <a:moveTo>
                  <a:pt x="361823" y="103377"/>
                </a:moveTo>
                <a:lnTo>
                  <a:pt x="333883" y="129158"/>
                </a:lnTo>
                <a:lnTo>
                  <a:pt x="359663" y="157098"/>
                </a:lnTo>
                <a:lnTo>
                  <a:pt x="387731" y="131317"/>
                </a:lnTo>
                <a:lnTo>
                  <a:pt x="361823" y="103377"/>
                </a:lnTo>
                <a:close/>
              </a:path>
              <a:path extrusionOk="0" h="463550" w="499745">
                <a:moveTo>
                  <a:pt x="305815" y="154939"/>
                </a:moveTo>
                <a:lnTo>
                  <a:pt x="277876" y="180847"/>
                </a:lnTo>
                <a:lnTo>
                  <a:pt x="303657" y="208787"/>
                </a:lnTo>
                <a:lnTo>
                  <a:pt x="331724" y="183006"/>
                </a:lnTo>
                <a:lnTo>
                  <a:pt x="305815" y="154939"/>
                </a:lnTo>
                <a:close/>
              </a:path>
              <a:path extrusionOk="0" h="463550" w="499745">
                <a:moveTo>
                  <a:pt x="249809" y="206628"/>
                </a:moveTo>
                <a:lnTo>
                  <a:pt x="221869" y="232536"/>
                </a:lnTo>
                <a:lnTo>
                  <a:pt x="247650" y="260476"/>
                </a:lnTo>
                <a:lnTo>
                  <a:pt x="275716" y="234695"/>
                </a:lnTo>
                <a:lnTo>
                  <a:pt x="249809" y="206628"/>
                </a:lnTo>
                <a:close/>
              </a:path>
              <a:path extrusionOk="0" h="463550" w="499745">
                <a:moveTo>
                  <a:pt x="193801" y="258317"/>
                </a:moveTo>
                <a:lnTo>
                  <a:pt x="165862" y="284225"/>
                </a:lnTo>
                <a:lnTo>
                  <a:pt x="191643" y="312191"/>
                </a:lnTo>
                <a:lnTo>
                  <a:pt x="219710" y="286384"/>
                </a:lnTo>
                <a:lnTo>
                  <a:pt x="193801" y="258317"/>
                </a:lnTo>
                <a:close/>
              </a:path>
              <a:path extrusionOk="0" h="463550" w="499745">
                <a:moveTo>
                  <a:pt x="45212" y="343636"/>
                </a:moveTo>
                <a:lnTo>
                  <a:pt x="0" y="463143"/>
                </a:lnTo>
                <a:lnTo>
                  <a:pt x="122809" y="427634"/>
                </a:lnTo>
                <a:lnTo>
                  <a:pt x="108871" y="412546"/>
                </a:lnTo>
                <a:lnTo>
                  <a:pt x="82931" y="412546"/>
                </a:lnTo>
                <a:lnTo>
                  <a:pt x="57023" y="384543"/>
                </a:lnTo>
                <a:lnTo>
                  <a:pt x="71051" y="371607"/>
                </a:lnTo>
                <a:lnTo>
                  <a:pt x="45212" y="343636"/>
                </a:lnTo>
                <a:close/>
              </a:path>
              <a:path extrusionOk="0" h="463550" w="499745">
                <a:moveTo>
                  <a:pt x="71051" y="371607"/>
                </a:moveTo>
                <a:lnTo>
                  <a:pt x="57023" y="384543"/>
                </a:lnTo>
                <a:lnTo>
                  <a:pt x="82931" y="412546"/>
                </a:lnTo>
                <a:lnTo>
                  <a:pt x="96935" y="399626"/>
                </a:lnTo>
                <a:lnTo>
                  <a:pt x="71051" y="371607"/>
                </a:lnTo>
                <a:close/>
              </a:path>
              <a:path extrusionOk="0" h="463550" w="499745">
                <a:moveTo>
                  <a:pt x="96935" y="399626"/>
                </a:moveTo>
                <a:lnTo>
                  <a:pt x="82931" y="412546"/>
                </a:lnTo>
                <a:lnTo>
                  <a:pt x="108871" y="412546"/>
                </a:lnTo>
                <a:lnTo>
                  <a:pt x="96935" y="399626"/>
                </a:lnTo>
                <a:close/>
              </a:path>
              <a:path extrusionOk="0" h="463550" w="499745">
                <a:moveTo>
                  <a:pt x="81787" y="361708"/>
                </a:moveTo>
                <a:lnTo>
                  <a:pt x="71051" y="371607"/>
                </a:lnTo>
                <a:lnTo>
                  <a:pt x="96935" y="399626"/>
                </a:lnTo>
                <a:lnTo>
                  <a:pt x="107696" y="389699"/>
                </a:lnTo>
                <a:lnTo>
                  <a:pt x="81787" y="361708"/>
                </a:lnTo>
                <a:close/>
              </a:path>
              <a:path extrusionOk="0" h="463550" w="499745">
                <a:moveTo>
                  <a:pt x="137795" y="310032"/>
                </a:moveTo>
                <a:lnTo>
                  <a:pt x="109855" y="335864"/>
                </a:lnTo>
                <a:lnTo>
                  <a:pt x="135636" y="363867"/>
                </a:lnTo>
                <a:lnTo>
                  <a:pt x="163702" y="338023"/>
                </a:lnTo>
                <a:lnTo>
                  <a:pt x="137795" y="310032"/>
                </a:lnTo>
                <a:close/>
              </a:path>
            </a:pathLst>
          </a:custGeom>
          <a:solidFill>
            <a:srgbClr val="497D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2" name="Google Shape;632;p4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3" name="Google Shape;633;p4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4" name="Google Shape;634;p4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0" name="Google Shape;640;p4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1" name="Google Shape;641;p4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Edge Operator using 2</a:t>
            </a:r>
            <a:r>
              <a:rPr baseline="30000" lang="en-US" sz="3975">
                <a:latin typeface="Georgia"/>
                <a:ea typeface="Georgia"/>
                <a:cs typeface="Georgia"/>
                <a:sym typeface="Georgia"/>
              </a:rPr>
              <a:t>nd </a:t>
            </a:r>
            <a:r>
              <a:rPr lang="en-US" sz="4000">
                <a:latin typeface="Georgia"/>
                <a:ea typeface="Georgia"/>
                <a:cs typeface="Georgia"/>
                <a:sym typeface="Georgia"/>
              </a:rPr>
              <a:t>Order Difference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2" name="Google Shape;642;p45"/>
          <p:cNvSpPr/>
          <p:nvPr/>
        </p:nvSpPr>
        <p:spPr>
          <a:xfrm>
            <a:off x="1043939" y="1523238"/>
            <a:ext cx="3030854" cy="20955"/>
          </a:xfrm>
          <a:custGeom>
            <a:rect b="b" l="l" r="r" t="t"/>
            <a:pathLst>
              <a:path extrusionOk="0" h="20955" w="3030854">
                <a:moveTo>
                  <a:pt x="3030474" y="0"/>
                </a:moveTo>
                <a:lnTo>
                  <a:pt x="0" y="0"/>
                </a:lnTo>
                <a:lnTo>
                  <a:pt x="0" y="20574"/>
                </a:lnTo>
                <a:lnTo>
                  <a:pt x="3030474" y="20574"/>
                </a:lnTo>
                <a:lnTo>
                  <a:pt x="303047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3" name="Google Shape;643;p45"/>
          <p:cNvSpPr txBox="1"/>
          <p:nvPr/>
        </p:nvSpPr>
        <p:spPr>
          <a:xfrm>
            <a:off x="688352" y="1064250"/>
            <a:ext cx="89694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Second derivative in x- and in y-direction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4" name="Google Shape;644;p45"/>
          <p:cNvSpPr txBox="1"/>
          <p:nvPr/>
        </p:nvSpPr>
        <p:spPr>
          <a:xfrm>
            <a:off x="662952" y="2241550"/>
            <a:ext cx="60057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AF5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∇</a:t>
            </a:r>
            <a:r>
              <a:rPr baseline="30000" lang="en-US" sz="315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2 </a:t>
            </a:r>
            <a:r>
              <a:rPr lang="en-US" sz="32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is the </a:t>
            </a:r>
            <a:r>
              <a:rPr lang="en-US" sz="32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Laplacian operator</a:t>
            </a:r>
            <a:r>
              <a:rPr lang="en-US" sz="3200" u="none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5" name="Google Shape;645;p45"/>
          <p:cNvSpPr txBox="1"/>
          <p:nvPr/>
        </p:nvSpPr>
        <p:spPr>
          <a:xfrm>
            <a:off x="688353" y="3405125"/>
            <a:ext cx="48552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For an image, </a:t>
            </a:r>
            <a:r>
              <a:rPr i="1" lang="en-US" sz="3200"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(</a:t>
            </a:r>
            <a:r>
              <a:rPr i="1" lang="en-US" sz="3200"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i="1" lang="en-US" sz="3200">
                <a:latin typeface="Georgia"/>
                <a:ea typeface="Georgia"/>
                <a:cs typeface="Georgia"/>
                <a:sym typeface="Georgia"/>
              </a:rPr>
              <a:t>y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)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6" name="Google Shape;646;p45"/>
          <p:cNvSpPr txBox="1"/>
          <p:nvPr/>
        </p:nvSpPr>
        <p:spPr>
          <a:xfrm>
            <a:off x="6046978" y="2801620"/>
            <a:ext cx="9099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𝛻</a:t>
            </a:r>
            <a:r>
              <a:rPr baseline="30000" lang="en-US" sz="2625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𝑓 =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47" name="Google Shape;647;p45"/>
          <p:cNvSpPr/>
          <p:nvPr/>
        </p:nvSpPr>
        <p:spPr>
          <a:xfrm>
            <a:off x="7002018" y="3022092"/>
            <a:ext cx="502284" cy="20319"/>
          </a:xfrm>
          <a:custGeom>
            <a:rect b="b" l="l" r="r" t="t"/>
            <a:pathLst>
              <a:path extrusionOk="0" h="20319" w="502284">
                <a:moveTo>
                  <a:pt x="502157" y="0"/>
                </a:moveTo>
                <a:lnTo>
                  <a:pt x="0" y="0"/>
                </a:lnTo>
                <a:lnTo>
                  <a:pt x="0" y="19812"/>
                </a:lnTo>
                <a:lnTo>
                  <a:pt x="502157" y="19812"/>
                </a:lnTo>
                <a:lnTo>
                  <a:pt x="50215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8" name="Google Shape;648;p45"/>
          <p:cNvSpPr txBox="1"/>
          <p:nvPr/>
        </p:nvSpPr>
        <p:spPr>
          <a:xfrm>
            <a:off x="6964426" y="2570734"/>
            <a:ext cx="5691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𝜕</a:t>
            </a:r>
            <a:r>
              <a:rPr baseline="30000" lang="en-US" sz="2625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𝑓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49" name="Google Shape;649;p45"/>
          <p:cNvSpPr txBox="1"/>
          <p:nvPr/>
        </p:nvSpPr>
        <p:spPr>
          <a:xfrm>
            <a:off x="6966711" y="3005835"/>
            <a:ext cx="5619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𝜕𝑥</a:t>
            </a:r>
            <a:r>
              <a:rPr baseline="30000" lang="en-US" sz="2625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aseline="30000" sz="262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50" name="Google Shape;650;p45"/>
          <p:cNvSpPr txBox="1"/>
          <p:nvPr/>
        </p:nvSpPr>
        <p:spPr>
          <a:xfrm>
            <a:off x="7559040" y="2801620"/>
            <a:ext cx="2535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51" name="Google Shape;651;p45"/>
          <p:cNvSpPr/>
          <p:nvPr/>
        </p:nvSpPr>
        <p:spPr>
          <a:xfrm>
            <a:off x="7866126" y="3022092"/>
            <a:ext cx="504190" cy="20319"/>
          </a:xfrm>
          <a:custGeom>
            <a:rect b="b" l="l" r="r" t="t"/>
            <a:pathLst>
              <a:path extrusionOk="0" h="20319" w="504190">
                <a:moveTo>
                  <a:pt x="503681" y="0"/>
                </a:moveTo>
                <a:lnTo>
                  <a:pt x="0" y="0"/>
                </a:lnTo>
                <a:lnTo>
                  <a:pt x="0" y="19812"/>
                </a:lnTo>
                <a:lnTo>
                  <a:pt x="503681" y="19812"/>
                </a:lnTo>
                <a:lnTo>
                  <a:pt x="50368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2" name="Google Shape;652;p45"/>
          <p:cNvSpPr txBox="1"/>
          <p:nvPr/>
        </p:nvSpPr>
        <p:spPr>
          <a:xfrm>
            <a:off x="7829295" y="2570734"/>
            <a:ext cx="5691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𝜕</a:t>
            </a:r>
            <a:r>
              <a:rPr baseline="30000" lang="en-US" sz="2625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𝑓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53" name="Google Shape;653;p45"/>
          <p:cNvSpPr txBox="1"/>
          <p:nvPr/>
        </p:nvSpPr>
        <p:spPr>
          <a:xfrm>
            <a:off x="7828533" y="3005835"/>
            <a:ext cx="5691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𝜕𝑦</a:t>
            </a:r>
            <a:r>
              <a:rPr baseline="30000" lang="en-US" sz="2625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aseline="30000" sz="262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54" name="Google Shape;654;p45"/>
          <p:cNvSpPr/>
          <p:nvPr/>
        </p:nvSpPr>
        <p:spPr>
          <a:xfrm>
            <a:off x="3183001" y="4593209"/>
            <a:ext cx="659764" cy="282575"/>
          </a:xfrm>
          <a:custGeom>
            <a:rect b="b" l="l" r="r" t="t"/>
            <a:pathLst>
              <a:path extrusionOk="0" h="282575" w="659764">
                <a:moveTo>
                  <a:pt x="569595" y="0"/>
                </a:moveTo>
                <a:lnTo>
                  <a:pt x="565658" y="11430"/>
                </a:lnTo>
                <a:lnTo>
                  <a:pt x="581965" y="18504"/>
                </a:lnTo>
                <a:lnTo>
                  <a:pt x="596011" y="28305"/>
                </a:lnTo>
                <a:lnTo>
                  <a:pt x="624534" y="73852"/>
                </a:lnTo>
                <a:lnTo>
                  <a:pt x="632789" y="115339"/>
                </a:lnTo>
                <a:lnTo>
                  <a:pt x="632829" y="115623"/>
                </a:lnTo>
                <a:lnTo>
                  <a:pt x="632811" y="164580"/>
                </a:lnTo>
                <a:lnTo>
                  <a:pt x="624480" y="207529"/>
                </a:lnTo>
                <a:lnTo>
                  <a:pt x="596058" y="253777"/>
                </a:lnTo>
                <a:lnTo>
                  <a:pt x="566038" y="270764"/>
                </a:lnTo>
                <a:lnTo>
                  <a:pt x="569595" y="282321"/>
                </a:lnTo>
                <a:lnTo>
                  <a:pt x="608091" y="264239"/>
                </a:lnTo>
                <a:lnTo>
                  <a:pt x="636397" y="232918"/>
                </a:lnTo>
                <a:lnTo>
                  <a:pt x="653827" y="191071"/>
                </a:lnTo>
                <a:lnTo>
                  <a:pt x="659638" y="141224"/>
                </a:lnTo>
                <a:lnTo>
                  <a:pt x="658201" y="115623"/>
                </a:lnTo>
                <a:lnTo>
                  <a:pt x="646564" y="69429"/>
                </a:lnTo>
                <a:lnTo>
                  <a:pt x="623441" y="32093"/>
                </a:lnTo>
                <a:lnTo>
                  <a:pt x="590051" y="7379"/>
                </a:lnTo>
                <a:lnTo>
                  <a:pt x="569595" y="0"/>
                </a:lnTo>
                <a:close/>
              </a:path>
              <a:path extrusionOk="0" h="282575" w="659764">
                <a:moveTo>
                  <a:pt x="90043" y="0"/>
                </a:moveTo>
                <a:lnTo>
                  <a:pt x="51641" y="18081"/>
                </a:lnTo>
                <a:lnTo>
                  <a:pt x="23241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810" y="191071"/>
                </a:lnTo>
                <a:lnTo>
                  <a:pt x="23241" y="232918"/>
                </a:lnTo>
                <a:lnTo>
                  <a:pt x="51546" y="264239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845" y="141224"/>
                </a:lnTo>
                <a:lnTo>
                  <a:pt x="25781" y="139700"/>
                </a:lnTo>
                <a:lnTo>
                  <a:pt x="29972" y="93678"/>
                </a:lnTo>
                <a:lnTo>
                  <a:pt x="42544" y="56134"/>
                </a:lnTo>
                <a:lnTo>
                  <a:pt x="77799" y="18504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5" name="Google Shape;655;p45"/>
          <p:cNvSpPr/>
          <p:nvPr/>
        </p:nvSpPr>
        <p:spPr>
          <a:xfrm>
            <a:off x="4812157" y="4593209"/>
            <a:ext cx="659764" cy="282575"/>
          </a:xfrm>
          <a:custGeom>
            <a:rect b="b" l="l" r="r" t="t"/>
            <a:pathLst>
              <a:path extrusionOk="0" h="282575" w="659764">
                <a:moveTo>
                  <a:pt x="569594" y="0"/>
                </a:moveTo>
                <a:lnTo>
                  <a:pt x="565657" y="11430"/>
                </a:lnTo>
                <a:lnTo>
                  <a:pt x="581965" y="18504"/>
                </a:lnTo>
                <a:lnTo>
                  <a:pt x="596010" y="28305"/>
                </a:lnTo>
                <a:lnTo>
                  <a:pt x="624534" y="73852"/>
                </a:lnTo>
                <a:lnTo>
                  <a:pt x="632789" y="115339"/>
                </a:lnTo>
                <a:lnTo>
                  <a:pt x="632829" y="115623"/>
                </a:lnTo>
                <a:lnTo>
                  <a:pt x="632811" y="164580"/>
                </a:lnTo>
                <a:lnTo>
                  <a:pt x="624480" y="207529"/>
                </a:lnTo>
                <a:lnTo>
                  <a:pt x="596058" y="253777"/>
                </a:lnTo>
                <a:lnTo>
                  <a:pt x="566038" y="270764"/>
                </a:lnTo>
                <a:lnTo>
                  <a:pt x="569594" y="282321"/>
                </a:lnTo>
                <a:lnTo>
                  <a:pt x="608091" y="264239"/>
                </a:lnTo>
                <a:lnTo>
                  <a:pt x="636396" y="232918"/>
                </a:lnTo>
                <a:lnTo>
                  <a:pt x="653827" y="191071"/>
                </a:lnTo>
                <a:lnTo>
                  <a:pt x="659638" y="141224"/>
                </a:lnTo>
                <a:lnTo>
                  <a:pt x="658201" y="115623"/>
                </a:lnTo>
                <a:lnTo>
                  <a:pt x="646564" y="69429"/>
                </a:lnTo>
                <a:lnTo>
                  <a:pt x="623441" y="32093"/>
                </a:lnTo>
                <a:lnTo>
                  <a:pt x="590051" y="7379"/>
                </a:lnTo>
                <a:lnTo>
                  <a:pt x="569594" y="0"/>
                </a:lnTo>
                <a:close/>
              </a:path>
              <a:path extrusionOk="0" h="282575" w="659764">
                <a:moveTo>
                  <a:pt x="90042" y="0"/>
                </a:moveTo>
                <a:lnTo>
                  <a:pt x="51641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8" y="270764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845" y="141224"/>
                </a:lnTo>
                <a:lnTo>
                  <a:pt x="25780" y="139700"/>
                </a:lnTo>
                <a:lnTo>
                  <a:pt x="29971" y="93678"/>
                </a:lnTo>
                <a:lnTo>
                  <a:pt x="42544" y="56134"/>
                </a:lnTo>
                <a:lnTo>
                  <a:pt x="77799" y="18504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6" name="Google Shape;656;p45"/>
          <p:cNvSpPr txBox="1"/>
          <p:nvPr/>
        </p:nvSpPr>
        <p:spPr>
          <a:xfrm>
            <a:off x="2938017" y="4504182"/>
            <a:ext cx="29109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𝐿  𝑥, 𝑦	=    𝛻</a:t>
            </a:r>
            <a:r>
              <a:rPr baseline="30000" lang="en-US" sz="2625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𝑓  𝑥, 𝑦  =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57" name="Google Shape;657;p45"/>
          <p:cNvSpPr/>
          <p:nvPr/>
        </p:nvSpPr>
        <p:spPr>
          <a:xfrm>
            <a:off x="5894070" y="4724400"/>
            <a:ext cx="1214754" cy="20320"/>
          </a:xfrm>
          <a:custGeom>
            <a:rect b="b" l="l" r="r" t="t"/>
            <a:pathLst>
              <a:path extrusionOk="0" h="20320" w="1214754">
                <a:moveTo>
                  <a:pt x="1214627" y="0"/>
                </a:moveTo>
                <a:lnTo>
                  <a:pt x="0" y="0"/>
                </a:lnTo>
                <a:lnTo>
                  <a:pt x="0" y="19812"/>
                </a:lnTo>
                <a:lnTo>
                  <a:pt x="1214627" y="19812"/>
                </a:lnTo>
                <a:lnTo>
                  <a:pt x="121462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8" name="Google Shape;658;p45"/>
          <p:cNvSpPr txBox="1"/>
          <p:nvPr/>
        </p:nvSpPr>
        <p:spPr>
          <a:xfrm>
            <a:off x="5856478" y="4273295"/>
            <a:ext cx="1290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𝜕</a:t>
            </a:r>
            <a:r>
              <a:rPr baseline="30000" lang="en-US" sz="2625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𝑓(𝑥, 𝑦)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59" name="Google Shape;659;p45"/>
          <p:cNvSpPr txBox="1"/>
          <p:nvPr/>
        </p:nvSpPr>
        <p:spPr>
          <a:xfrm>
            <a:off x="6214617" y="4708397"/>
            <a:ext cx="5625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𝜕𝑥</a:t>
            </a:r>
            <a:r>
              <a:rPr baseline="30000" lang="en-US" sz="2625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aseline="30000" sz="262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60" name="Google Shape;660;p45"/>
          <p:cNvSpPr txBox="1"/>
          <p:nvPr/>
        </p:nvSpPr>
        <p:spPr>
          <a:xfrm>
            <a:off x="7164323" y="4504182"/>
            <a:ext cx="2535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61" name="Google Shape;661;p45"/>
          <p:cNvSpPr/>
          <p:nvPr/>
        </p:nvSpPr>
        <p:spPr>
          <a:xfrm>
            <a:off x="7471409" y="4724400"/>
            <a:ext cx="1214754" cy="20320"/>
          </a:xfrm>
          <a:custGeom>
            <a:rect b="b" l="l" r="r" t="t"/>
            <a:pathLst>
              <a:path extrusionOk="0" h="20320" w="1214754">
                <a:moveTo>
                  <a:pt x="1214627" y="0"/>
                </a:moveTo>
                <a:lnTo>
                  <a:pt x="0" y="0"/>
                </a:lnTo>
                <a:lnTo>
                  <a:pt x="0" y="19812"/>
                </a:lnTo>
                <a:lnTo>
                  <a:pt x="1214627" y="19812"/>
                </a:lnTo>
                <a:lnTo>
                  <a:pt x="121462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2" name="Google Shape;662;p45"/>
          <p:cNvSpPr txBox="1"/>
          <p:nvPr/>
        </p:nvSpPr>
        <p:spPr>
          <a:xfrm>
            <a:off x="7433818" y="4273295"/>
            <a:ext cx="12909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𝜕</a:t>
            </a:r>
            <a:r>
              <a:rPr baseline="30000" lang="en-US" sz="2625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𝑓(𝑥, 𝑦)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63" name="Google Shape;663;p45"/>
          <p:cNvSpPr txBox="1"/>
          <p:nvPr/>
        </p:nvSpPr>
        <p:spPr>
          <a:xfrm>
            <a:off x="7788909" y="4708397"/>
            <a:ext cx="5691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𝜕𝑦</a:t>
            </a:r>
            <a:r>
              <a:rPr baseline="30000" lang="en-US" sz="2625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aseline="30000" sz="262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64" name="Google Shape;664;p4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5" name="Google Shape;665;p4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6" name="Google Shape;666;p4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667" name="Google Shape;66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1398" y="1108988"/>
            <a:ext cx="1606038" cy="84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3" name="Google Shape;673;p4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4" name="Google Shape;674;p4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Edge Operator using 2</a:t>
            </a:r>
            <a:r>
              <a:rPr baseline="30000" lang="en-US" sz="3975">
                <a:latin typeface="Georgia"/>
                <a:ea typeface="Georgia"/>
                <a:cs typeface="Georgia"/>
                <a:sym typeface="Georgia"/>
              </a:rPr>
              <a:t>nd </a:t>
            </a:r>
            <a:r>
              <a:rPr lang="en-US" sz="4000">
                <a:latin typeface="Georgia"/>
                <a:ea typeface="Georgia"/>
                <a:cs typeface="Georgia"/>
                <a:sym typeface="Georgia"/>
              </a:rPr>
              <a:t>Order Difference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5" name="Google Shape;675;p4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6" name="Google Shape;676;p4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7" name="Google Shape;677;p4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678" name="Google Shape;67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88" y="1060263"/>
            <a:ext cx="11361023" cy="509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4" name="Google Shape;684;p4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5" name="Google Shape;685;p4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Edge Operator using 2</a:t>
            </a:r>
            <a:r>
              <a:rPr baseline="30000" lang="en-US" sz="3975">
                <a:latin typeface="Georgia"/>
                <a:ea typeface="Georgia"/>
                <a:cs typeface="Georgia"/>
                <a:sym typeface="Georgia"/>
              </a:rPr>
              <a:t>nd </a:t>
            </a:r>
            <a:r>
              <a:rPr lang="en-US" sz="4000">
                <a:latin typeface="Georgia"/>
                <a:ea typeface="Georgia"/>
                <a:cs typeface="Georgia"/>
                <a:sym typeface="Georgia"/>
              </a:rPr>
              <a:t>Order Difference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6" name="Google Shape;686;p47"/>
          <p:cNvSpPr txBox="1"/>
          <p:nvPr/>
        </p:nvSpPr>
        <p:spPr>
          <a:xfrm>
            <a:off x="688352" y="1232425"/>
            <a:ext cx="11122500" cy="26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700">
            <a:spAutoFit/>
          </a:bodyPr>
          <a:lstStyle/>
          <a:p>
            <a:pPr indent="-342265" lvl="0" marL="35496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Georgia"/>
                <a:ea typeface="Georgia"/>
                <a:cs typeface="Georgia"/>
                <a:sym typeface="Georgia"/>
              </a:rPr>
              <a:t>Edge Detection using Laplacian Operator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50000"/>
              </a:lnSpc>
              <a:spcBef>
                <a:spcPts val="894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Filter the image using </a:t>
            </a:r>
            <a:r>
              <a:rPr lang="en-US" sz="36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Laplacian filter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5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Look for </a:t>
            </a:r>
            <a:r>
              <a:rPr lang="en-US" sz="36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zero-crossings 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in the filtered image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7" name="Google Shape;687;p4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8" name="Google Shape;688;p4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9" name="Google Shape;689;p4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95" name="Google Shape;695;p4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96" name="Google Shape;696;p4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Problems</a:t>
            </a:r>
            <a:r>
              <a:rPr b="1" lang="en-US" u="none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 with these Edge Detection Methods</a:t>
            </a:r>
            <a:endParaRPr/>
          </a:p>
        </p:txBody>
      </p:sp>
      <p:sp>
        <p:nvSpPr>
          <p:cNvPr id="697" name="Google Shape;697;p48"/>
          <p:cNvSpPr txBox="1"/>
          <p:nvPr/>
        </p:nvSpPr>
        <p:spPr>
          <a:xfrm>
            <a:off x="688351" y="2435850"/>
            <a:ext cx="11275800" cy="3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31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Most of	these </a:t>
            </a:r>
            <a:r>
              <a:rPr lang="en-US" sz="3200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partial derivative operators 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are </a:t>
            </a:r>
            <a:r>
              <a:rPr lang="en-US" sz="3200" u="sng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sensitive to</a:t>
            </a:r>
            <a:r>
              <a:rPr lang="en-US" sz="3200" u="none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u="sng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noise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Use of these masks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result in </a:t>
            </a:r>
            <a:r>
              <a:rPr lang="en-US" sz="2800" u="sng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thick edges or boundaries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Give </a:t>
            </a:r>
            <a:r>
              <a:rPr lang="en-US" sz="2800" u="sng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spurious edge pixels</a:t>
            </a:r>
            <a:r>
              <a:rPr lang="en-US" sz="2800" u="none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u="none">
                <a:latin typeface="Georgia"/>
                <a:ea typeface="Georgia"/>
                <a:cs typeface="Georgia"/>
                <a:sym typeface="Georgia"/>
              </a:rPr>
              <a:t>due to </a:t>
            </a:r>
            <a:r>
              <a:rPr lang="en-US" sz="2800" u="none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noise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Particularly, </a:t>
            </a:r>
            <a:r>
              <a:rPr lang="en-US" sz="32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Laplacian mask is highly sensitive to spike noise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8" name="Google Shape;698;p48"/>
          <p:cNvSpPr txBox="1"/>
          <p:nvPr/>
        </p:nvSpPr>
        <p:spPr>
          <a:xfrm>
            <a:off x="4775453" y="1295400"/>
            <a:ext cx="1930500" cy="8319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306070" lvl="0" marL="360045" marR="351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Edge Detection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8"/>
          <p:cNvSpPr txBox="1"/>
          <p:nvPr/>
        </p:nvSpPr>
        <p:spPr>
          <a:xfrm>
            <a:off x="2844545" y="1295400"/>
            <a:ext cx="1422900" cy="8319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50164" lvl="0" marL="331470" marR="3232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Input Image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8"/>
          <p:cNvSpPr txBox="1"/>
          <p:nvPr/>
        </p:nvSpPr>
        <p:spPr>
          <a:xfrm>
            <a:off x="7213854" y="1502663"/>
            <a:ext cx="1524000" cy="4611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1454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Edge Map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8"/>
          <p:cNvSpPr/>
          <p:nvPr/>
        </p:nvSpPr>
        <p:spPr>
          <a:xfrm>
            <a:off x="4267580" y="1651254"/>
            <a:ext cx="508635" cy="171450"/>
          </a:xfrm>
          <a:custGeom>
            <a:rect b="b" l="l" r="r" t="t"/>
            <a:pathLst>
              <a:path extrusionOk="0" h="171450" w="508635">
                <a:moveTo>
                  <a:pt x="336804" y="0"/>
                </a:moveTo>
                <a:lnTo>
                  <a:pt x="336804" y="171450"/>
                </a:lnTo>
                <a:lnTo>
                  <a:pt x="451104" y="114300"/>
                </a:lnTo>
                <a:lnTo>
                  <a:pt x="365379" y="114300"/>
                </a:lnTo>
                <a:lnTo>
                  <a:pt x="365379" y="57150"/>
                </a:lnTo>
                <a:lnTo>
                  <a:pt x="451104" y="57150"/>
                </a:lnTo>
                <a:lnTo>
                  <a:pt x="336804" y="0"/>
                </a:lnTo>
                <a:close/>
              </a:path>
              <a:path extrusionOk="0" h="171450" w="508635">
                <a:moveTo>
                  <a:pt x="336804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336804" y="114300"/>
                </a:lnTo>
                <a:lnTo>
                  <a:pt x="336804" y="57150"/>
                </a:lnTo>
                <a:close/>
              </a:path>
              <a:path extrusionOk="0" h="171450" w="508635">
                <a:moveTo>
                  <a:pt x="451104" y="57150"/>
                </a:moveTo>
                <a:lnTo>
                  <a:pt x="365379" y="57150"/>
                </a:lnTo>
                <a:lnTo>
                  <a:pt x="365379" y="114300"/>
                </a:lnTo>
                <a:lnTo>
                  <a:pt x="451104" y="114300"/>
                </a:lnTo>
                <a:lnTo>
                  <a:pt x="508254" y="85725"/>
                </a:lnTo>
                <a:lnTo>
                  <a:pt x="451104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2" name="Google Shape;702;p48"/>
          <p:cNvSpPr/>
          <p:nvPr/>
        </p:nvSpPr>
        <p:spPr>
          <a:xfrm>
            <a:off x="6705981" y="1651254"/>
            <a:ext cx="508634" cy="171450"/>
          </a:xfrm>
          <a:custGeom>
            <a:rect b="b" l="l" r="r" t="t"/>
            <a:pathLst>
              <a:path extrusionOk="0" h="171450" w="508634">
                <a:moveTo>
                  <a:pt x="336803" y="0"/>
                </a:moveTo>
                <a:lnTo>
                  <a:pt x="336803" y="171450"/>
                </a:lnTo>
                <a:lnTo>
                  <a:pt x="451103" y="114300"/>
                </a:lnTo>
                <a:lnTo>
                  <a:pt x="365378" y="114300"/>
                </a:lnTo>
                <a:lnTo>
                  <a:pt x="365378" y="57150"/>
                </a:lnTo>
                <a:lnTo>
                  <a:pt x="451103" y="57150"/>
                </a:lnTo>
                <a:lnTo>
                  <a:pt x="336803" y="0"/>
                </a:lnTo>
                <a:close/>
              </a:path>
              <a:path extrusionOk="0" h="171450" w="508634">
                <a:moveTo>
                  <a:pt x="336803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336803" y="114300"/>
                </a:lnTo>
                <a:lnTo>
                  <a:pt x="336803" y="57150"/>
                </a:lnTo>
                <a:close/>
              </a:path>
              <a:path extrusionOk="0" h="171450" w="508634">
                <a:moveTo>
                  <a:pt x="451103" y="57150"/>
                </a:moveTo>
                <a:lnTo>
                  <a:pt x="365378" y="57150"/>
                </a:lnTo>
                <a:lnTo>
                  <a:pt x="365378" y="114300"/>
                </a:lnTo>
                <a:lnTo>
                  <a:pt x="451103" y="114300"/>
                </a:lnTo>
                <a:lnTo>
                  <a:pt x="508253" y="85725"/>
                </a:lnTo>
                <a:lnTo>
                  <a:pt x="451103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3" name="Google Shape;703;p4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4" name="Google Shape;704;p4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5" name="Google Shape;705;p4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1" name="Google Shape;711;p4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2" name="Google Shape;712;p4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Edge Detection in Noisy Images</a:t>
            </a:r>
            <a:endParaRPr/>
          </a:p>
        </p:txBody>
      </p:sp>
      <p:sp>
        <p:nvSpPr>
          <p:cNvPr id="713" name="Google Shape;713;p49"/>
          <p:cNvSpPr txBox="1"/>
          <p:nvPr/>
        </p:nvSpPr>
        <p:spPr>
          <a:xfrm>
            <a:off x="693740" y="3870139"/>
            <a:ext cx="10669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However, it should be noted that noise smoothing, typically by the </a:t>
            </a:r>
            <a:r>
              <a:rPr lang="en-US" sz="32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use of a Gaussian function</a:t>
            </a:r>
            <a:r>
              <a:rPr lang="en-US" sz="3200" u="none"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3200" u="sng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causes blurring or smearing </a:t>
            </a:r>
            <a:r>
              <a:rPr lang="en-US" sz="3200" u="none">
                <a:latin typeface="Georgia"/>
                <a:ea typeface="Georgia"/>
                <a:cs typeface="Georgia"/>
                <a:sym typeface="Georgia"/>
              </a:rPr>
              <a:t>of the edge information or </a:t>
            </a:r>
            <a:endParaRPr sz="3200" u="none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    </a:t>
            </a:r>
            <a:r>
              <a:rPr lang="en-US" sz="3200" u="none">
                <a:latin typeface="Georgia"/>
                <a:ea typeface="Georgia"/>
                <a:cs typeface="Georgia"/>
                <a:sym typeface="Georgia"/>
              </a:rPr>
              <a:t>gradient values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4" name="Google Shape;714;p49"/>
          <p:cNvSpPr txBox="1"/>
          <p:nvPr/>
        </p:nvSpPr>
        <p:spPr>
          <a:xfrm>
            <a:off x="6299453" y="2676905"/>
            <a:ext cx="1930500" cy="3696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0" lvl="0" marL="2609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Edge Detection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9"/>
          <p:cNvSpPr txBox="1"/>
          <p:nvPr/>
        </p:nvSpPr>
        <p:spPr>
          <a:xfrm>
            <a:off x="1828800" y="2676905"/>
            <a:ext cx="1422900" cy="3696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Input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9"/>
          <p:cNvSpPr/>
          <p:nvPr/>
        </p:nvSpPr>
        <p:spPr>
          <a:xfrm>
            <a:off x="3251834" y="2782061"/>
            <a:ext cx="508000" cy="171450"/>
          </a:xfrm>
          <a:custGeom>
            <a:rect b="b" l="l" r="r" t="t"/>
            <a:pathLst>
              <a:path extrusionOk="0" h="171450" w="508000">
                <a:moveTo>
                  <a:pt x="336041" y="0"/>
                </a:moveTo>
                <a:lnTo>
                  <a:pt x="336041" y="171450"/>
                </a:lnTo>
                <a:lnTo>
                  <a:pt x="450341" y="114300"/>
                </a:lnTo>
                <a:lnTo>
                  <a:pt x="364616" y="114300"/>
                </a:lnTo>
                <a:lnTo>
                  <a:pt x="364616" y="57150"/>
                </a:lnTo>
                <a:lnTo>
                  <a:pt x="450341" y="57150"/>
                </a:lnTo>
                <a:lnTo>
                  <a:pt x="336041" y="0"/>
                </a:lnTo>
                <a:close/>
              </a:path>
              <a:path extrusionOk="0" h="171450" w="508000">
                <a:moveTo>
                  <a:pt x="336041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336041" y="114300"/>
                </a:lnTo>
                <a:lnTo>
                  <a:pt x="336041" y="57150"/>
                </a:lnTo>
                <a:close/>
              </a:path>
              <a:path extrusionOk="0" h="171450" w="508000">
                <a:moveTo>
                  <a:pt x="450341" y="57150"/>
                </a:moveTo>
                <a:lnTo>
                  <a:pt x="364616" y="57150"/>
                </a:lnTo>
                <a:lnTo>
                  <a:pt x="364616" y="114300"/>
                </a:lnTo>
                <a:lnTo>
                  <a:pt x="450341" y="114300"/>
                </a:lnTo>
                <a:lnTo>
                  <a:pt x="507491" y="85725"/>
                </a:lnTo>
                <a:lnTo>
                  <a:pt x="450341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7" name="Google Shape;717;p49"/>
          <p:cNvSpPr/>
          <p:nvPr/>
        </p:nvSpPr>
        <p:spPr>
          <a:xfrm>
            <a:off x="8229981" y="2782061"/>
            <a:ext cx="508634" cy="171450"/>
          </a:xfrm>
          <a:custGeom>
            <a:rect b="b" l="l" r="r" t="t"/>
            <a:pathLst>
              <a:path extrusionOk="0" h="171450" w="508634">
                <a:moveTo>
                  <a:pt x="336803" y="0"/>
                </a:moveTo>
                <a:lnTo>
                  <a:pt x="336803" y="171450"/>
                </a:lnTo>
                <a:lnTo>
                  <a:pt x="451103" y="114300"/>
                </a:lnTo>
                <a:lnTo>
                  <a:pt x="365378" y="114300"/>
                </a:lnTo>
                <a:lnTo>
                  <a:pt x="365378" y="57150"/>
                </a:lnTo>
                <a:lnTo>
                  <a:pt x="451103" y="57150"/>
                </a:lnTo>
                <a:lnTo>
                  <a:pt x="336803" y="0"/>
                </a:lnTo>
                <a:close/>
              </a:path>
              <a:path extrusionOk="0" h="171450" w="508634">
                <a:moveTo>
                  <a:pt x="336803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336803" y="114300"/>
                </a:lnTo>
                <a:lnTo>
                  <a:pt x="336803" y="57150"/>
                </a:lnTo>
                <a:close/>
              </a:path>
              <a:path extrusionOk="0" h="171450" w="508634">
                <a:moveTo>
                  <a:pt x="451103" y="57150"/>
                </a:moveTo>
                <a:lnTo>
                  <a:pt x="365378" y="57150"/>
                </a:lnTo>
                <a:lnTo>
                  <a:pt x="365378" y="114300"/>
                </a:lnTo>
                <a:lnTo>
                  <a:pt x="451103" y="114300"/>
                </a:lnTo>
                <a:lnTo>
                  <a:pt x="508253" y="85725"/>
                </a:lnTo>
                <a:lnTo>
                  <a:pt x="451103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8" name="Google Shape;718;p49"/>
          <p:cNvSpPr txBox="1"/>
          <p:nvPr/>
        </p:nvSpPr>
        <p:spPr>
          <a:xfrm>
            <a:off x="3758946" y="2486405"/>
            <a:ext cx="2032500" cy="6699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-49529" lvl="0" marL="562610" marR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Smoothing operation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9" name="Google Shape;719;p49"/>
          <p:cNvGrpSpPr/>
          <p:nvPr/>
        </p:nvGrpSpPr>
        <p:grpSpPr>
          <a:xfrm>
            <a:off x="3556634" y="2210180"/>
            <a:ext cx="2743581" cy="1219200"/>
            <a:chOff x="3556634" y="2210180"/>
            <a:chExt cx="2743581" cy="1219200"/>
          </a:xfrm>
        </p:grpSpPr>
        <p:sp>
          <p:nvSpPr>
            <p:cNvPr id="720" name="Google Shape;720;p49"/>
            <p:cNvSpPr/>
            <p:nvPr/>
          </p:nvSpPr>
          <p:spPr>
            <a:xfrm>
              <a:off x="5791580" y="2782061"/>
              <a:ext cx="508635" cy="171450"/>
            </a:xfrm>
            <a:custGeom>
              <a:rect b="b" l="l" r="r" t="t"/>
              <a:pathLst>
                <a:path extrusionOk="0" h="171450" w="508635">
                  <a:moveTo>
                    <a:pt x="336804" y="0"/>
                  </a:moveTo>
                  <a:lnTo>
                    <a:pt x="336804" y="171450"/>
                  </a:lnTo>
                  <a:lnTo>
                    <a:pt x="451104" y="114300"/>
                  </a:lnTo>
                  <a:lnTo>
                    <a:pt x="365379" y="114300"/>
                  </a:lnTo>
                  <a:lnTo>
                    <a:pt x="365379" y="57150"/>
                  </a:lnTo>
                  <a:lnTo>
                    <a:pt x="451104" y="57150"/>
                  </a:lnTo>
                  <a:lnTo>
                    <a:pt x="336804" y="0"/>
                  </a:lnTo>
                  <a:close/>
                </a:path>
                <a:path extrusionOk="0" h="171450" w="508635">
                  <a:moveTo>
                    <a:pt x="336804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336804" y="114300"/>
                  </a:lnTo>
                  <a:lnTo>
                    <a:pt x="336804" y="57150"/>
                  </a:lnTo>
                  <a:close/>
                </a:path>
                <a:path extrusionOk="0" h="171450" w="508635">
                  <a:moveTo>
                    <a:pt x="451104" y="57150"/>
                  </a:moveTo>
                  <a:lnTo>
                    <a:pt x="365379" y="57150"/>
                  </a:lnTo>
                  <a:lnTo>
                    <a:pt x="365379" y="114300"/>
                  </a:lnTo>
                  <a:lnTo>
                    <a:pt x="451104" y="114300"/>
                  </a:lnTo>
                  <a:lnTo>
                    <a:pt x="508254" y="85725"/>
                  </a:lnTo>
                  <a:lnTo>
                    <a:pt x="451104" y="571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1" name="Google Shape;721;p49"/>
            <p:cNvSpPr/>
            <p:nvPr/>
          </p:nvSpPr>
          <p:spPr>
            <a:xfrm>
              <a:off x="3556634" y="2210180"/>
              <a:ext cx="2336800" cy="1219200"/>
            </a:xfrm>
            <a:custGeom>
              <a:rect b="b" l="l" r="r" t="t"/>
              <a:pathLst>
                <a:path extrusionOk="0" h="1219200" w="2336800">
                  <a:moveTo>
                    <a:pt x="0" y="609600"/>
                  </a:moveTo>
                  <a:lnTo>
                    <a:pt x="6422" y="545288"/>
                  </a:lnTo>
                  <a:lnTo>
                    <a:pt x="25261" y="482907"/>
                  </a:lnTo>
                  <a:lnTo>
                    <a:pt x="55868" y="422791"/>
                  </a:lnTo>
                  <a:lnTo>
                    <a:pt x="97599" y="365279"/>
                  </a:lnTo>
                  <a:lnTo>
                    <a:pt x="149808" y="310707"/>
                  </a:lnTo>
                  <a:lnTo>
                    <a:pt x="179640" y="284629"/>
                  </a:lnTo>
                  <a:lnTo>
                    <a:pt x="211850" y="259412"/>
                  </a:lnTo>
                  <a:lnTo>
                    <a:pt x="246355" y="235099"/>
                  </a:lnTo>
                  <a:lnTo>
                    <a:pt x="283077" y="211731"/>
                  </a:lnTo>
                  <a:lnTo>
                    <a:pt x="321934" y="189352"/>
                  </a:lnTo>
                  <a:lnTo>
                    <a:pt x="362845" y="168002"/>
                  </a:lnTo>
                  <a:lnTo>
                    <a:pt x="405730" y="147725"/>
                  </a:lnTo>
                  <a:lnTo>
                    <a:pt x="450507" y="128561"/>
                  </a:lnTo>
                  <a:lnTo>
                    <a:pt x="497097" y="110554"/>
                  </a:lnTo>
                  <a:lnTo>
                    <a:pt x="545419" y="93746"/>
                  </a:lnTo>
                  <a:lnTo>
                    <a:pt x="595391" y="78178"/>
                  </a:lnTo>
                  <a:lnTo>
                    <a:pt x="646933" y="63893"/>
                  </a:lnTo>
                  <a:lnTo>
                    <a:pt x="699965" y="50932"/>
                  </a:lnTo>
                  <a:lnTo>
                    <a:pt x="754405" y="39339"/>
                  </a:lnTo>
                  <a:lnTo>
                    <a:pt x="810173" y="29155"/>
                  </a:lnTo>
                  <a:lnTo>
                    <a:pt x="867188" y="20422"/>
                  </a:lnTo>
                  <a:lnTo>
                    <a:pt x="925370" y="13182"/>
                  </a:lnTo>
                  <a:lnTo>
                    <a:pt x="984637" y="7478"/>
                  </a:lnTo>
                  <a:lnTo>
                    <a:pt x="1044909" y="3351"/>
                  </a:lnTo>
                  <a:lnTo>
                    <a:pt x="1106106" y="844"/>
                  </a:lnTo>
                  <a:lnTo>
                    <a:pt x="1168145" y="0"/>
                  </a:lnTo>
                  <a:lnTo>
                    <a:pt x="1230185" y="844"/>
                  </a:lnTo>
                  <a:lnTo>
                    <a:pt x="1291382" y="3351"/>
                  </a:lnTo>
                  <a:lnTo>
                    <a:pt x="1351654" y="7478"/>
                  </a:lnTo>
                  <a:lnTo>
                    <a:pt x="1410921" y="13182"/>
                  </a:lnTo>
                  <a:lnTo>
                    <a:pt x="1469103" y="20422"/>
                  </a:lnTo>
                  <a:lnTo>
                    <a:pt x="1526118" y="29155"/>
                  </a:lnTo>
                  <a:lnTo>
                    <a:pt x="1581886" y="39339"/>
                  </a:lnTo>
                  <a:lnTo>
                    <a:pt x="1636326" y="50932"/>
                  </a:lnTo>
                  <a:lnTo>
                    <a:pt x="1689358" y="63893"/>
                  </a:lnTo>
                  <a:lnTo>
                    <a:pt x="1740900" y="78178"/>
                  </a:lnTo>
                  <a:lnTo>
                    <a:pt x="1790872" y="93746"/>
                  </a:lnTo>
                  <a:lnTo>
                    <a:pt x="1839194" y="110554"/>
                  </a:lnTo>
                  <a:lnTo>
                    <a:pt x="1885784" y="128561"/>
                  </a:lnTo>
                  <a:lnTo>
                    <a:pt x="1930561" y="147725"/>
                  </a:lnTo>
                  <a:lnTo>
                    <a:pt x="1973446" y="168002"/>
                  </a:lnTo>
                  <a:lnTo>
                    <a:pt x="2014357" y="189352"/>
                  </a:lnTo>
                  <a:lnTo>
                    <a:pt x="2053214" y="211731"/>
                  </a:lnTo>
                  <a:lnTo>
                    <a:pt x="2089936" y="235099"/>
                  </a:lnTo>
                  <a:lnTo>
                    <a:pt x="2124441" y="259412"/>
                  </a:lnTo>
                  <a:lnTo>
                    <a:pt x="2156651" y="284629"/>
                  </a:lnTo>
                  <a:lnTo>
                    <a:pt x="2186483" y="310707"/>
                  </a:lnTo>
                  <a:lnTo>
                    <a:pt x="2213856" y="337604"/>
                  </a:lnTo>
                  <a:lnTo>
                    <a:pt x="2260907" y="393688"/>
                  </a:lnTo>
                  <a:lnTo>
                    <a:pt x="2297158" y="452545"/>
                  </a:lnTo>
                  <a:lnTo>
                    <a:pt x="2321961" y="513835"/>
                  </a:lnTo>
                  <a:lnTo>
                    <a:pt x="2334672" y="577224"/>
                  </a:lnTo>
                  <a:lnTo>
                    <a:pt x="2336291" y="609600"/>
                  </a:lnTo>
                  <a:lnTo>
                    <a:pt x="2334672" y="641975"/>
                  </a:lnTo>
                  <a:lnTo>
                    <a:pt x="2321961" y="705364"/>
                  </a:lnTo>
                  <a:lnTo>
                    <a:pt x="2297158" y="766654"/>
                  </a:lnTo>
                  <a:lnTo>
                    <a:pt x="2260907" y="825511"/>
                  </a:lnTo>
                  <a:lnTo>
                    <a:pt x="2213856" y="881595"/>
                  </a:lnTo>
                  <a:lnTo>
                    <a:pt x="2186483" y="908492"/>
                  </a:lnTo>
                  <a:lnTo>
                    <a:pt x="2156651" y="934570"/>
                  </a:lnTo>
                  <a:lnTo>
                    <a:pt x="2124441" y="959787"/>
                  </a:lnTo>
                  <a:lnTo>
                    <a:pt x="2089936" y="984100"/>
                  </a:lnTo>
                  <a:lnTo>
                    <a:pt x="2053214" y="1007468"/>
                  </a:lnTo>
                  <a:lnTo>
                    <a:pt x="2014357" y="1029847"/>
                  </a:lnTo>
                  <a:lnTo>
                    <a:pt x="1973446" y="1051197"/>
                  </a:lnTo>
                  <a:lnTo>
                    <a:pt x="1930561" y="1071474"/>
                  </a:lnTo>
                  <a:lnTo>
                    <a:pt x="1885784" y="1090638"/>
                  </a:lnTo>
                  <a:lnTo>
                    <a:pt x="1839194" y="1108645"/>
                  </a:lnTo>
                  <a:lnTo>
                    <a:pt x="1790872" y="1125453"/>
                  </a:lnTo>
                  <a:lnTo>
                    <a:pt x="1740900" y="1141021"/>
                  </a:lnTo>
                  <a:lnTo>
                    <a:pt x="1689358" y="1155306"/>
                  </a:lnTo>
                  <a:lnTo>
                    <a:pt x="1636326" y="1168267"/>
                  </a:lnTo>
                  <a:lnTo>
                    <a:pt x="1581886" y="1179860"/>
                  </a:lnTo>
                  <a:lnTo>
                    <a:pt x="1526118" y="1190044"/>
                  </a:lnTo>
                  <a:lnTo>
                    <a:pt x="1469103" y="1198777"/>
                  </a:lnTo>
                  <a:lnTo>
                    <a:pt x="1410921" y="1206017"/>
                  </a:lnTo>
                  <a:lnTo>
                    <a:pt x="1351654" y="1211721"/>
                  </a:lnTo>
                  <a:lnTo>
                    <a:pt x="1291382" y="1215848"/>
                  </a:lnTo>
                  <a:lnTo>
                    <a:pt x="1230185" y="1218355"/>
                  </a:lnTo>
                  <a:lnTo>
                    <a:pt x="1168145" y="1219200"/>
                  </a:lnTo>
                  <a:lnTo>
                    <a:pt x="1106106" y="1218355"/>
                  </a:lnTo>
                  <a:lnTo>
                    <a:pt x="1044909" y="1215848"/>
                  </a:lnTo>
                  <a:lnTo>
                    <a:pt x="984637" y="1211721"/>
                  </a:lnTo>
                  <a:lnTo>
                    <a:pt x="925370" y="1206017"/>
                  </a:lnTo>
                  <a:lnTo>
                    <a:pt x="867188" y="1198777"/>
                  </a:lnTo>
                  <a:lnTo>
                    <a:pt x="810173" y="1190044"/>
                  </a:lnTo>
                  <a:lnTo>
                    <a:pt x="754405" y="1179860"/>
                  </a:lnTo>
                  <a:lnTo>
                    <a:pt x="699965" y="1168267"/>
                  </a:lnTo>
                  <a:lnTo>
                    <a:pt x="646933" y="1155306"/>
                  </a:lnTo>
                  <a:lnTo>
                    <a:pt x="595391" y="1141021"/>
                  </a:lnTo>
                  <a:lnTo>
                    <a:pt x="545419" y="1125453"/>
                  </a:lnTo>
                  <a:lnTo>
                    <a:pt x="497097" y="1108645"/>
                  </a:lnTo>
                  <a:lnTo>
                    <a:pt x="450507" y="1090638"/>
                  </a:lnTo>
                  <a:lnTo>
                    <a:pt x="405730" y="1071474"/>
                  </a:lnTo>
                  <a:lnTo>
                    <a:pt x="362845" y="1051197"/>
                  </a:lnTo>
                  <a:lnTo>
                    <a:pt x="321934" y="1029847"/>
                  </a:lnTo>
                  <a:lnTo>
                    <a:pt x="283077" y="1007468"/>
                  </a:lnTo>
                  <a:lnTo>
                    <a:pt x="246355" y="984100"/>
                  </a:lnTo>
                  <a:lnTo>
                    <a:pt x="211850" y="959787"/>
                  </a:lnTo>
                  <a:lnTo>
                    <a:pt x="179640" y="934570"/>
                  </a:lnTo>
                  <a:lnTo>
                    <a:pt x="149808" y="908492"/>
                  </a:lnTo>
                  <a:lnTo>
                    <a:pt x="122435" y="881595"/>
                  </a:lnTo>
                  <a:lnTo>
                    <a:pt x="75384" y="825511"/>
                  </a:lnTo>
                  <a:lnTo>
                    <a:pt x="39133" y="766654"/>
                  </a:lnTo>
                  <a:lnTo>
                    <a:pt x="14330" y="705364"/>
                  </a:lnTo>
                  <a:lnTo>
                    <a:pt x="1619" y="641975"/>
                  </a:lnTo>
                  <a:lnTo>
                    <a:pt x="0" y="6096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22" name="Google Shape;722;p49"/>
          <p:cNvSpPr txBox="1"/>
          <p:nvPr/>
        </p:nvSpPr>
        <p:spPr>
          <a:xfrm>
            <a:off x="688351" y="997975"/>
            <a:ext cx="111993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To overcome the effect of noise, we perform </a:t>
            </a:r>
            <a:r>
              <a:rPr b="1" lang="en-US" sz="3200" u="sng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smoothing</a:t>
            </a:r>
            <a:r>
              <a:rPr b="1" lang="en-US" sz="3200" u="non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3200" u="sng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operation </a:t>
            </a:r>
            <a:r>
              <a:rPr b="1" lang="en-US" sz="3200" u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before edge detection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9"/>
          <p:cNvSpPr txBox="1"/>
          <p:nvPr/>
        </p:nvSpPr>
        <p:spPr>
          <a:xfrm>
            <a:off x="8737854" y="2678429"/>
            <a:ext cx="1320900" cy="3696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1968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Edge Map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5" name="Google Shape;725;p4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6" name="Google Shape;726;p4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5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2" name="Google Shape;732;p5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3" name="Google Shape;733;p5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Edge Detection in Noisy Images</a:t>
            </a:r>
            <a:endParaRPr/>
          </a:p>
        </p:txBody>
      </p:sp>
      <p:sp>
        <p:nvSpPr>
          <p:cNvPr id="734" name="Google Shape;734;p5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5" name="Google Shape;735;p5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6" name="Google Shape;736;p5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737" name="Google Shape;7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010250"/>
            <a:ext cx="11687094" cy="5347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3" name="Google Shape;743;p5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4" name="Google Shape;744;p51"/>
          <p:cNvSpPr txBox="1"/>
          <p:nvPr/>
        </p:nvSpPr>
        <p:spPr>
          <a:xfrm>
            <a:off x="688353" y="1073400"/>
            <a:ext cx="6211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b="1" lang="en-US" sz="2400">
                <a:latin typeface="Georgia"/>
                <a:ea typeface="Georgia"/>
                <a:cs typeface="Georgia"/>
                <a:sym typeface="Georgia"/>
              </a:rPr>
              <a:t>Smoothing with </a:t>
            </a:r>
            <a:r>
              <a:rPr b="1" lang="en-US" sz="24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Gaussian Filter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45" name="Google Shape;74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4129" y="1879092"/>
            <a:ext cx="4673347" cy="3499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7853" y="1949195"/>
            <a:ext cx="4572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51"/>
          <p:cNvSpPr txBox="1"/>
          <p:nvPr/>
        </p:nvSpPr>
        <p:spPr>
          <a:xfrm>
            <a:off x="7699247" y="5517133"/>
            <a:ext cx="2346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Mask size = 9x9, sigma=5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5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Edge Detection in Noisy Images</a:t>
            </a:r>
            <a:endParaRPr/>
          </a:p>
        </p:txBody>
      </p:sp>
      <p:sp>
        <p:nvSpPr>
          <p:cNvPr id="749" name="Google Shape;749;p5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0" name="Google Shape;750;p5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1" name="Google Shape;751;p5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7" name="Google Shape;757;p5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8" name="Google Shape;758;p52"/>
          <p:cNvSpPr txBox="1"/>
          <p:nvPr>
            <p:ph idx="4294967295" type="title"/>
          </p:nvPr>
        </p:nvSpPr>
        <p:spPr>
          <a:xfrm>
            <a:off x="0" y="153150"/>
            <a:ext cx="121920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Georgia"/>
                <a:ea typeface="Georgia"/>
                <a:cs typeface="Georgia"/>
                <a:sym typeface="Georgia"/>
              </a:rPr>
              <a:t>Edge Detection in Noisy Images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9" name="Google Shape;759;p52"/>
          <p:cNvSpPr/>
          <p:nvPr/>
        </p:nvSpPr>
        <p:spPr>
          <a:xfrm>
            <a:off x="609600" y="1295400"/>
            <a:ext cx="11466576" cy="3352800"/>
          </a:xfrm>
          <a:custGeom>
            <a:rect b="b" l="l" r="r" t="t"/>
            <a:pathLst>
              <a:path extrusionOk="0" h="3352800" w="10972800">
                <a:moveTo>
                  <a:pt x="0" y="3352800"/>
                </a:moveTo>
                <a:lnTo>
                  <a:pt x="10972800" y="3352800"/>
                </a:lnTo>
                <a:lnTo>
                  <a:pt x="10972800" y="0"/>
                </a:lnTo>
                <a:lnTo>
                  <a:pt x="0" y="0"/>
                </a:lnTo>
                <a:lnTo>
                  <a:pt x="0" y="3352800"/>
                </a:lnTo>
                <a:close/>
              </a:path>
            </a:pathLst>
          </a:custGeom>
          <a:noFill/>
          <a:ln cap="flat" cmpd="sng" w="28575">
            <a:solidFill>
              <a:srgbClr val="006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0" name="Google Shape;760;p52"/>
          <p:cNvSpPr txBox="1"/>
          <p:nvPr/>
        </p:nvSpPr>
        <p:spPr>
          <a:xfrm>
            <a:off x="701053" y="1142300"/>
            <a:ext cx="11274000" cy="3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Edge Detection Steps (</a:t>
            </a:r>
            <a:r>
              <a:rPr lang="en-US" sz="2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to handle noise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):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513715" lvl="0" marL="513715" rtl="0" algn="l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Georgia"/>
              <a:buAutoNum type="arabicPeriod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Smoothing: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548639" lvl="1" marL="913764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Suppress noise using filters such as Gaussian filter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344170" lvl="0" marL="344170" rtl="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2800"/>
              <a:buFont typeface="Georgia"/>
              <a:buAutoNum type="arabicPeriod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Edge Localization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548639" lvl="1" marL="913764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Determine which local maxima from </a:t>
            </a:r>
            <a:r>
              <a:rPr i="1" lang="en-US" sz="24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filter output</a:t>
            </a:r>
            <a:r>
              <a:rPr i="1" lang="en-US" sz="2400" u="non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are</a:t>
            </a:r>
            <a:r>
              <a:rPr i="1"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i="1" lang="en-US" sz="2400" u="non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actually edges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548639" lvl="2" marL="1371600" rtl="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Threshold </a:t>
            </a:r>
            <a:r>
              <a:rPr i="1" lang="en-US" sz="2000">
                <a:latin typeface="Georgia"/>
                <a:ea typeface="Georgia"/>
                <a:cs typeface="Georgia"/>
                <a:sym typeface="Georgia"/>
              </a:rPr>
              <a:t>followed by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-548639" lvl="2" marL="13716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Thinning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61" name="Google Shape;76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1072" y="4765547"/>
            <a:ext cx="2478024" cy="1456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0711" y="4727819"/>
            <a:ext cx="2727980" cy="16345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3" name="Google Shape;763;p52"/>
          <p:cNvGrpSpPr/>
          <p:nvPr/>
        </p:nvGrpSpPr>
        <p:grpSpPr>
          <a:xfrm>
            <a:off x="5467730" y="5223128"/>
            <a:ext cx="1423034" cy="533400"/>
            <a:chOff x="5467730" y="5223128"/>
            <a:chExt cx="1423034" cy="533400"/>
          </a:xfrm>
        </p:grpSpPr>
        <p:sp>
          <p:nvSpPr>
            <p:cNvPr id="764" name="Google Shape;764;p52"/>
            <p:cNvSpPr/>
            <p:nvPr/>
          </p:nvSpPr>
          <p:spPr>
            <a:xfrm>
              <a:off x="5467730" y="5223128"/>
              <a:ext cx="1423034" cy="533400"/>
            </a:xfrm>
            <a:custGeom>
              <a:rect b="b" l="l" r="r" t="t"/>
              <a:pathLst>
                <a:path extrusionOk="0" h="533400" w="1423034">
                  <a:moveTo>
                    <a:pt x="1155953" y="0"/>
                  </a:moveTo>
                  <a:lnTo>
                    <a:pt x="1155953" y="133350"/>
                  </a:lnTo>
                  <a:lnTo>
                    <a:pt x="0" y="133350"/>
                  </a:lnTo>
                  <a:lnTo>
                    <a:pt x="0" y="400050"/>
                  </a:lnTo>
                  <a:lnTo>
                    <a:pt x="1155953" y="400050"/>
                  </a:lnTo>
                  <a:lnTo>
                    <a:pt x="1155953" y="533400"/>
                  </a:lnTo>
                  <a:lnTo>
                    <a:pt x="1422653" y="266700"/>
                  </a:lnTo>
                  <a:lnTo>
                    <a:pt x="115595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5" name="Google Shape;765;p52"/>
            <p:cNvSpPr/>
            <p:nvPr/>
          </p:nvSpPr>
          <p:spPr>
            <a:xfrm>
              <a:off x="5467730" y="5223128"/>
              <a:ext cx="1423034" cy="533400"/>
            </a:xfrm>
            <a:custGeom>
              <a:rect b="b" l="l" r="r" t="t"/>
              <a:pathLst>
                <a:path extrusionOk="0" h="533400" w="1423034">
                  <a:moveTo>
                    <a:pt x="0" y="133350"/>
                  </a:moveTo>
                  <a:lnTo>
                    <a:pt x="1155953" y="133350"/>
                  </a:lnTo>
                  <a:lnTo>
                    <a:pt x="1155953" y="0"/>
                  </a:lnTo>
                  <a:lnTo>
                    <a:pt x="1422653" y="266700"/>
                  </a:lnTo>
                  <a:lnTo>
                    <a:pt x="1155953" y="533400"/>
                  </a:lnTo>
                  <a:lnTo>
                    <a:pt x="1155953" y="400050"/>
                  </a:lnTo>
                  <a:lnTo>
                    <a:pt x="0" y="400050"/>
                  </a:lnTo>
                  <a:lnTo>
                    <a:pt x="0" y="133350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66" name="Google Shape;766;p52"/>
          <p:cNvSpPr txBox="1"/>
          <p:nvPr/>
        </p:nvSpPr>
        <p:spPr>
          <a:xfrm>
            <a:off x="974089" y="5939535"/>
            <a:ext cx="9462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Gradients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52"/>
          <p:cNvSpPr txBox="1"/>
          <p:nvPr/>
        </p:nvSpPr>
        <p:spPr>
          <a:xfrm>
            <a:off x="10626852" y="5863335"/>
            <a:ext cx="5682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Edges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5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9" name="Google Shape;769;p5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0" name="Google Shape;770;p5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6" name="Google Shape;776;p5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777" name="Google Shape;77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503" y="4611623"/>
            <a:ext cx="1813679" cy="97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8" name="Google Shape;778;p53"/>
          <p:cNvGrpSpPr/>
          <p:nvPr/>
        </p:nvGrpSpPr>
        <p:grpSpPr>
          <a:xfrm>
            <a:off x="4245864" y="2721101"/>
            <a:ext cx="3407664" cy="2898649"/>
            <a:chOff x="4245864" y="2721101"/>
            <a:chExt cx="3407664" cy="2898649"/>
          </a:xfrm>
        </p:grpSpPr>
        <p:pic>
          <p:nvPicPr>
            <p:cNvPr id="779" name="Google Shape;779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24628" y="4648200"/>
              <a:ext cx="1814394" cy="97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0" name="Google Shape;780;p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45864" y="2721101"/>
              <a:ext cx="3407664" cy="18989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1" name="Google Shape;781;p5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Effect of </a:t>
            </a:r>
            <a:r>
              <a:rPr i="1" lang="en-US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σ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on Gaussian smoothing</a:t>
            </a:r>
            <a:endParaRPr/>
          </a:p>
        </p:txBody>
      </p:sp>
      <p:sp>
        <p:nvSpPr>
          <p:cNvPr id="782" name="Google Shape;782;p53"/>
          <p:cNvSpPr txBox="1"/>
          <p:nvPr/>
        </p:nvSpPr>
        <p:spPr>
          <a:xfrm>
            <a:off x="351663" y="1067180"/>
            <a:ext cx="11521500" cy="1200300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90805" rtl="0" algn="l">
              <a:lnSpc>
                <a:spcPct val="119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Parameter </a:t>
            </a:r>
            <a:r>
              <a:rPr lang="en-US" sz="3600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σ 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is the “scale” / “width” / “spread” of	the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0" lvl="0" marL="90805" rtl="0" algn="l">
              <a:lnSpc>
                <a:spcPct val="119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Gaussian kernel, and controls the amount of	smoothing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783" name="Google Shape;783;p53"/>
          <p:cNvGrpSpPr/>
          <p:nvPr/>
        </p:nvGrpSpPr>
        <p:grpSpPr>
          <a:xfrm>
            <a:off x="8578595" y="2721101"/>
            <a:ext cx="3408426" cy="2862072"/>
            <a:chOff x="8578595" y="2721101"/>
            <a:chExt cx="3408426" cy="2862072"/>
          </a:xfrm>
        </p:grpSpPr>
        <p:pic>
          <p:nvPicPr>
            <p:cNvPr id="784" name="Google Shape;784;p5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421367" y="4611623"/>
              <a:ext cx="1813679" cy="97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5" name="Google Shape;785;p5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578595" y="2721101"/>
              <a:ext cx="3408426" cy="189890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86" name="Google Shape;786;p5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5071" y="2757677"/>
            <a:ext cx="3369564" cy="1862328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53"/>
          <p:cNvSpPr txBox="1"/>
          <p:nvPr/>
        </p:nvSpPr>
        <p:spPr>
          <a:xfrm>
            <a:off x="7635747" y="3378453"/>
            <a:ext cx="3765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5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9" name="Google Shape;789;p5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0" name="Google Shape;790;p5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6" name="Google Shape;796;p5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7" name="Google Shape;797;p5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Effect of </a:t>
            </a:r>
            <a:r>
              <a:rPr i="1" lang="en-US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σ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on Derivatives</a:t>
            </a:r>
            <a:endParaRPr/>
          </a:p>
        </p:txBody>
      </p:sp>
      <p:sp>
        <p:nvSpPr>
          <p:cNvPr id="798" name="Google Shape;798;p54"/>
          <p:cNvSpPr/>
          <p:nvPr/>
        </p:nvSpPr>
        <p:spPr>
          <a:xfrm>
            <a:off x="152775" y="4305675"/>
            <a:ext cx="11972282" cy="1816100"/>
          </a:xfrm>
          <a:custGeom>
            <a:rect b="b" l="l" r="r" t="t"/>
            <a:pathLst>
              <a:path extrusionOk="0" h="1816100" w="11008995">
                <a:moveTo>
                  <a:pt x="0" y="1815846"/>
                </a:moveTo>
                <a:lnTo>
                  <a:pt x="11008614" y="1815846"/>
                </a:lnTo>
                <a:lnTo>
                  <a:pt x="11008614" y="0"/>
                </a:lnTo>
                <a:lnTo>
                  <a:pt x="0" y="0"/>
                </a:lnTo>
                <a:lnTo>
                  <a:pt x="0" y="1815846"/>
                </a:lnTo>
                <a:close/>
              </a:path>
            </a:pathLst>
          </a:custGeom>
          <a:noFill/>
          <a:ln cap="flat" cmpd="sng" w="25375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9" name="Google Shape;799;p54"/>
          <p:cNvSpPr txBox="1"/>
          <p:nvPr/>
        </p:nvSpPr>
        <p:spPr>
          <a:xfrm>
            <a:off x="305175" y="4541525"/>
            <a:ext cx="11656500" cy="13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   </a:t>
            </a: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The apparent structures differ depending on Gaussian’s scale parameter.</a:t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Larger values: </a:t>
            </a: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larger scale edges detected</a:t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Smaller values: </a:t>
            </a: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finer features detected</a:t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00" name="Google Shape;800;p54"/>
          <p:cNvSpPr txBox="1"/>
          <p:nvPr/>
        </p:nvSpPr>
        <p:spPr>
          <a:xfrm>
            <a:off x="5133601" y="3787650"/>
            <a:ext cx="6429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700">
                <a:latin typeface="Calibri"/>
                <a:ea typeface="Calibri"/>
                <a:cs typeface="Calibri"/>
                <a:sym typeface="Calibri"/>
              </a:rPr>
              <a:t>σ = 1 pixel                                                                          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σ = 3 pixels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1" name="Google Shape;8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1104" y="1516380"/>
            <a:ext cx="4042409" cy="22410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2" name="Google Shape;802;p54"/>
          <p:cNvGrpSpPr/>
          <p:nvPr/>
        </p:nvGrpSpPr>
        <p:grpSpPr>
          <a:xfrm>
            <a:off x="42671" y="1530096"/>
            <a:ext cx="7977378" cy="2253234"/>
            <a:chOff x="42671" y="1530096"/>
            <a:chExt cx="7977378" cy="2253234"/>
          </a:xfrm>
        </p:grpSpPr>
        <p:pic>
          <p:nvPicPr>
            <p:cNvPr id="803" name="Google Shape;803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43171" y="1530096"/>
              <a:ext cx="3976878" cy="2209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4" name="Google Shape;804;p5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671" y="1530096"/>
              <a:ext cx="4076700" cy="2253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5" name="Google Shape;805;p5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6" name="Google Shape;806;p5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7" name="Google Shape;807;p5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3" name="Google Shape;813;p5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814" name="Google Shape;81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2224277"/>
            <a:ext cx="6202680" cy="3643122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55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So, what scale to choose?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16" name="Google Shape;816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133600"/>
            <a:ext cx="3886962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55"/>
          <p:cNvSpPr txBox="1"/>
          <p:nvPr/>
        </p:nvSpPr>
        <p:spPr>
          <a:xfrm>
            <a:off x="316801" y="1081044"/>
            <a:ext cx="114123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-419100" lvl="0" marL="49593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✔"/>
            </a:pPr>
            <a:r>
              <a:rPr b="1" lang="en-US" sz="2400">
                <a:latin typeface="Georgia"/>
                <a:ea typeface="Georgia"/>
                <a:cs typeface="Georgia"/>
                <a:sym typeface="Georgia"/>
              </a:rPr>
              <a:t>It depends on what we are looking for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19733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✔"/>
            </a:pPr>
            <a:r>
              <a:rPr i="1" lang="en-US" sz="24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Often, we may want to analyze at </a:t>
            </a:r>
            <a:r>
              <a:rPr i="1" lang="en-US" sz="2400" u="sng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multiple scales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8" name="Google Shape;818;p5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9" name="Google Shape;819;p5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0" name="Google Shape;820;p5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6" name="Google Shape;826;p5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7" name="Google Shape;827;p5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Edge Detection in Noisy Images</a:t>
            </a:r>
            <a:endParaRPr/>
          </a:p>
        </p:txBody>
      </p:sp>
      <p:sp>
        <p:nvSpPr>
          <p:cNvPr id="828" name="Google Shape;828;p56"/>
          <p:cNvSpPr txBox="1"/>
          <p:nvPr/>
        </p:nvSpPr>
        <p:spPr>
          <a:xfrm>
            <a:off x="688340" y="929153"/>
            <a:ext cx="10302900" cy="29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i="1" lang="en-US" sz="40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Two popular operators: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i="1" lang="en-US" sz="36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LoG Operator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i="1" lang="en-US" sz="36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DoG Operator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0" lvl="0" marL="3964940" rtl="0" algn="l">
              <a:lnSpc>
                <a:spcPct val="100000"/>
              </a:lnSpc>
              <a:spcBef>
                <a:spcPts val="1910"/>
              </a:spcBef>
              <a:spcAft>
                <a:spcPts val="0"/>
              </a:spcAft>
              <a:buNone/>
            </a:pPr>
            <a:r>
              <a:rPr i="1" lang="en-US" sz="4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….to continue in the next class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29" name="Google Shape;829;p5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0" name="Google Shape;830;p5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1" name="Google Shape;831;p5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7" name="Google Shape;837;p5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8" name="Google Shape;838;p5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9" name="Google Shape;839;p57"/>
          <p:cNvSpPr txBox="1"/>
          <p:nvPr/>
        </p:nvSpPr>
        <p:spPr>
          <a:xfrm>
            <a:off x="2945850" y="2874900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40" name="Google Shape;840;p5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6" name="Google Shape;846;p58"/>
          <p:cNvSpPr txBox="1"/>
          <p:nvPr>
            <p:ph idx="4294967295" type="body"/>
          </p:nvPr>
        </p:nvSpPr>
        <p:spPr>
          <a:xfrm>
            <a:off x="-2" y="1805700"/>
            <a:ext cx="12192000" cy="28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862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Edge Detection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rgbClr val="001F5F"/>
                </a:solidFill>
                <a:latin typeface="Georgia"/>
                <a:ea typeface="Georgia"/>
                <a:cs typeface="Georgia"/>
                <a:sym typeface="Georgia"/>
              </a:rPr>
              <a:t>Part - 3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7" name="Google Shape;847;p58"/>
          <p:cNvSpPr txBox="1"/>
          <p:nvPr/>
        </p:nvSpPr>
        <p:spPr>
          <a:xfrm>
            <a:off x="1" y="479425"/>
            <a:ext cx="121920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Extraction of High Level Features from Images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8" name="Google Shape;848;p5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9" name="Google Shape;849;p5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0" name="Google Shape;850;p5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6" name="Google Shape;856;p59"/>
          <p:cNvSpPr/>
          <p:nvPr/>
        </p:nvSpPr>
        <p:spPr>
          <a:xfrm>
            <a:off x="305181" y="974979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7" name="Google Shape;857;p59"/>
          <p:cNvSpPr txBox="1"/>
          <p:nvPr>
            <p:ph idx="4294967295" type="title"/>
          </p:nvPr>
        </p:nvSpPr>
        <p:spPr>
          <a:xfrm>
            <a:off x="0" y="17940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Quick Recap of the Last Class</a:t>
            </a:r>
            <a:endParaRPr/>
          </a:p>
        </p:txBody>
      </p:sp>
      <p:sp>
        <p:nvSpPr>
          <p:cNvPr id="858" name="Google Shape;858;p59"/>
          <p:cNvSpPr txBox="1"/>
          <p:nvPr/>
        </p:nvSpPr>
        <p:spPr>
          <a:xfrm>
            <a:off x="688351" y="4853750"/>
            <a:ext cx="11319600" cy="13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302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50"/>
              <a:buFont typeface="Noto Sans Symbols"/>
              <a:buChar char="▪"/>
            </a:pP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However, it should be noted that noise smoothing, typically by the </a:t>
            </a:r>
            <a:r>
              <a:rPr lang="en-US" sz="30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use of a Gaussian function</a:t>
            </a:r>
            <a:r>
              <a:rPr lang="en-US" sz="3000" u="none"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3000" u="sng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causes blurring or smearing </a:t>
            </a:r>
            <a:r>
              <a:rPr lang="en-US" sz="3000" u="none">
                <a:latin typeface="Georgia"/>
                <a:ea typeface="Georgia"/>
                <a:cs typeface="Georgia"/>
                <a:sym typeface="Georgia"/>
              </a:rPr>
              <a:t>of the edge information or gradient values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9" name="Google Shape;859;p59"/>
          <p:cNvSpPr txBox="1"/>
          <p:nvPr/>
        </p:nvSpPr>
        <p:spPr>
          <a:xfrm>
            <a:off x="688351" y="1040325"/>
            <a:ext cx="11199300" cy="15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3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Edge Detection in Noisy Images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355600" marR="5080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800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To overcome the effect of	noise, we perform </a:t>
            </a:r>
            <a:r>
              <a:rPr lang="en-US" sz="28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smoothing</a:t>
            </a:r>
            <a:r>
              <a:rPr lang="en-US" sz="2800" u="none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operation </a:t>
            </a:r>
            <a:r>
              <a:rPr lang="en-US" sz="2800" u="none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before edge detection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0" name="Google Shape;860;p59"/>
          <p:cNvSpPr txBox="1"/>
          <p:nvPr/>
        </p:nvSpPr>
        <p:spPr>
          <a:xfrm>
            <a:off x="6299453" y="3515105"/>
            <a:ext cx="1930500" cy="3696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0" lvl="0" marL="2609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Edge Detection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59"/>
          <p:cNvSpPr txBox="1"/>
          <p:nvPr/>
        </p:nvSpPr>
        <p:spPr>
          <a:xfrm>
            <a:off x="1828800" y="3515105"/>
            <a:ext cx="1422900" cy="3696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Input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59"/>
          <p:cNvSpPr/>
          <p:nvPr/>
        </p:nvSpPr>
        <p:spPr>
          <a:xfrm>
            <a:off x="3251834" y="3620261"/>
            <a:ext cx="508000" cy="171450"/>
          </a:xfrm>
          <a:custGeom>
            <a:rect b="b" l="l" r="r" t="t"/>
            <a:pathLst>
              <a:path extrusionOk="0" h="171450" w="508000">
                <a:moveTo>
                  <a:pt x="336041" y="0"/>
                </a:moveTo>
                <a:lnTo>
                  <a:pt x="336041" y="171450"/>
                </a:lnTo>
                <a:lnTo>
                  <a:pt x="450341" y="114300"/>
                </a:lnTo>
                <a:lnTo>
                  <a:pt x="364616" y="114300"/>
                </a:lnTo>
                <a:lnTo>
                  <a:pt x="364616" y="57150"/>
                </a:lnTo>
                <a:lnTo>
                  <a:pt x="450341" y="57150"/>
                </a:lnTo>
                <a:lnTo>
                  <a:pt x="336041" y="0"/>
                </a:lnTo>
                <a:close/>
              </a:path>
              <a:path extrusionOk="0" h="171450" w="508000">
                <a:moveTo>
                  <a:pt x="336041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336041" y="114300"/>
                </a:lnTo>
                <a:lnTo>
                  <a:pt x="336041" y="57150"/>
                </a:lnTo>
                <a:close/>
              </a:path>
              <a:path extrusionOk="0" h="171450" w="508000">
                <a:moveTo>
                  <a:pt x="450341" y="57150"/>
                </a:moveTo>
                <a:lnTo>
                  <a:pt x="364616" y="57150"/>
                </a:lnTo>
                <a:lnTo>
                  <a:pt x="364616" y="114300"/>
                </a:lnTo>
                <a:lnTo>
                  <a:pt x="450341" y="114300"/>
                </a:lnTo>
                <a:lnTo>
                  <a:pt x="507491" y="85725"/>
                </a:lnTo>
                <a:lnTo>
                  <a:pt x="450341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3" name="Google Shape;863;p59"/>
          <p:cNvSpPr/>
          <p:nvPr/>
        </p:nvSpPr>
        <p:spPr>
          <a:xfrm>
            <a:off x="8229981" y="3620261"/>
            <a:ext cx="508634" cy="171450"/>
          </a:xfrm>
          <a:custGeom>
            <a:rect b="b" l="l" r="r" t="t"/>
            <a:pathLst>
              <a:path extrusionOk="0" h="171450" w="508634">
                <a:moveTo>
                  <a:pt x="336803" y="0"/>
                </a:moveTo>
                <a:lnTo>
                  <a:pt x="336803" y="171450"/>
                </a:lnTo>
                <a:lnTo>
                  <a:pt x="451103" y="114300"/>
                </a:lnTo>
                <a:lnTo>
                  <a:pt x="365378" y="114300"/>
                </a:lnTo>
                <a:lnTo>
                  <a:pt x="365378" y="57150"/>
                </a:lnTo>
                <a:lnTo>
                  <a:pt x="451103" y="57150"/>
                </a:lnTo>
                <a:lnTo>
                  <a:pt x="336803" y="0"/>
                </a:lnTo>
                <a:close/>
              </a:path>
              <a:path extrusionOk="0" h="171450" w="508634">
                <a:moveTo>
                  <a:pt x="336803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336803" y="114300"/>
                </a:lnTo>
                <a:lnTo>
                  <a:pt x="336803" y="57150"/>
                </a:lnTo>
                <a:close/>
              </a:path>
              <a:path extrusionOk="0" h="171450" w="508634">
                <a:moveTo>
                  <a:pt x="451103" y="57150"/>
                </a:moveTo>
                <a:lnTo>
                  <a:pt x="365378" y="57150"/>
                </a:lnTo>
                <a:lnTo>
                  <a:pt x="365378" y="114300"/>
                </a:lnTo>
                <a:lnTo>
                  <a:pt x="451103" y="114300"/>
                </a:lnTo>
                <a:lnTo>
                  <a:pt x="508253" y="85725"/>
                </a:lnTo>
                <a:lnTo>
                  <a:pt x="451103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4" name="Google Shape;864;p59"/>
          <p:cNvSpPr txBox="1"/>
          <p:nvPr/>
        </p:nvSpPr>
        <p:spPr>
          <a:xfrm>
            <a:off x="3758946" y="3324605"/>
            <a:ext cx="2032500" cy="6699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-49529" lvl="0" marL="562610" marR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Smoothing operation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5" name="Google Shape;865;p59"/>
          <p:cNvGrpSpPr/>
          <p:nvPr/>
        </p:nvGrpSpPr>
        <p:grpSpPr>
          <a:xfrm>
            <a:off x="3556634" y="3048380"/>
            <a:ext cx="2743581" cy="1219200"/>
            <a:chOff x="3556634" y="3048380"/>
            <a:chExt cx="2743581" cy="1219200"/>
          </a:xfrm>
        </p:grpSpPr>
        <p:sp>
          <p:nvSpPr>
            <p:cNvPr id="866" name="Google Shape;866;p59"/>
            <p:cNvSpPr/>
            <p:nvPr/>
          </p:nvSpPr>
          <p:spPr>
            <a:xfrm>
              <a:off x="5791580" y="3620261"/>
              <a:ext cx="508635" cy="171450"/>
            </a:xfrm>
            <a:custGeom>
              <a:rect b="b" l="l" r="r" t="t"/>
              <a:pathLst>
                <a:path extrusionOk="0" h="171450" w="508635">
                  <a:moveTo>
                    <a:pt x="336804" y="0"/>
                  </a:moveTo>
                  <a:lnTo>
                    <a:pt x="336804" y="171450"/>
                  </a:lnTo>
                  <a:lnTo>
                    <a:pt x="451104" y="114300"/>
                  </a:lnTo>
                  <a:lnTo>
                    <a:pt x="365379" y="114300"/>
                  </a:lnTo>
                  <a:lnTo>
                    <a:pt x="365379" y="57150"/>
                  </a:lnTo>
                  <a:lnTo>
                    <a:pt x="451104" y="57150"/>
                  </a:lnTo>
                  <a:lnTo>
                    <a:pt x="336804" y="0"/>
                  </a:lnTo>
                  <a:close/>
                </a:path>
                <a:path extrusionOk="0" h="171450" w="508635">
                  <a:moveTo>
                    <a:pt x="336804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336804" y="114300"/>
                  </a:lnTo>
                  <a:lnTo>
                    <a:pt x="336804" y="57150"/>
                  </a:lnTo>
                  <a:close/>
                </a:path>
                <a:path extrusionOk="0" h="171450" w="508635">
                  <a:moveTo>
                    <a:pt x="451104" y="57150"/>
                  </a:moveTo>
                  <a:lnTo>
                    <a:pt x="365379" y="57150"/>
                  </a:lnTo>
                  <a:lnTo>
                    <a:pt x="365379" y="114300"/>
                  </a:lnTo>
                  <a:lnTo>
                    <a:pt x="451104" y="114300"/>
                  </a:lnTo>
                  <a:lnTo>
                    <a:pt x="508254" y="85725"/>
                  </a:lnTo>
                  <a:lnTo>
                    <a:pt x="451104" y="571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7" name="Google Shape;867;p59"/>
            <p:cNvSpPr/>
            <p:nvPr/>
          </p:nvSpPr>
          <p:spPr>
            <a:xfrm>
              <a:off x="3556634" y="3048380"/>
              <a:ext cx="2336800" cy="1219200"/>
            </a:xfrm>
            <a:custGeom>
              <a:rect b="b" l="l" r="r" t="t"/>
              <a:pathLst>
                <a:path extrusionOk="0" h="1219200" w="2336800">
                  <a:moveTo>
                    <a:pt x="0" y="609600"/>
                  </a:moveTo>
                  <a:lnTo>
                    <a:pt x="6422" y="545288"/>
                  </a:lnTo>
                  <a:lnTo>
                    <a:pt x="25261" y="482907"/>
                  </a:lnTo>
                  <a:lnTo>
                    <a:pt x="55868" y="422791"/>
                  </a:lnTo>
                  <a:lnTo>
                    <a:pt x="97599" y="365279"/>
                  </a:lnTo>
                  <a:lnTo>
                    <a:pt x="149808" y="310707"/>
                  </a:lnTo>
                  <a:lnTo>
                    <a:pt x="179640" y="284629"/>
                  </a:lnTo>
                  <a:lnTo>
                    <a:pt x="211850" y="259412"/>
                  </a:lnTo>
                  <a:lnTo>
                    <a:pt x="246355" y="235099"/>
                  </a:lnTo>
                  <a:lnTo>
                    <a:pt x="283077" y="211731"/>
                  </a:lnTo>
                  <a:lnTo>
                    <a:pt x="321934" y="189352"/>
                  </a:lnTo>
                  <a:lnTo>
                    <a:pt x="362845" y="168002"/>
                  </a:lnTo>
                  <a:lnTo>
                    <a:pt x="405730" y="147725"/>
                  </a:lnTo>
                  <a:lnTo>
                    <a:pt x="450507" y="128561"/>
                  </a:lnTo>
                  <a:lnTo>
                    <a:pt x="497097" y="110554"/>
                  </a:lnTo>
                  <a:lnTo>
                    <a:pt x="545419" y="93746"/>
                  </a:lnTo>
                  <a:lnTo>
                    <a:pt x="595391" y="78178"/>
                  </a:lnTo>
                  <a:lnTo>
                    <a:pt x="646933" y="63893"/>
                  </a:lnTo>
                  <a:lnTo>
                    <a:pt x="699965" y="50932"/>
                  </a:lnTo>
                  <a:lnTo>
                    <a:pt x="754405" y="39339"/>
                  </a:lnTo>
                  <a:lnTo>
                    <a:pt x="810173" y="29155"/>
                  </a:lnTo>
                  <a:lnTo>
                    <a:pt x="867188" y="20422"/>
                  </a:lnTo>
                  <a:lnTo>
                    <a:pt x="925370" y="13182"/>
                  </a:lnTo>
                  <a:lnTo>
                    <a:pt x="984637" y="7478"/>
                  </a:lnTo>
                  <a:lnTo>
                    <a:pt x="1044909" y="3351"/>
                  </a:lnTo>
                  <a:lnTo>
                    <a:pt x="1106106" y="844"/>
                  </a:lnTo>
                  <a:lnTo>
                    <a:pt x="1168145" y="0"/>
                  </a:lnTo>
                  <a:lnTo>
                    <a:pt x="1230185" y="844"/>
                  </a:lnTo>
                  <a:lnTo>
                    <a:pt x="1291382" y="3351"/>
                  </a:lnTo>
                  <a:lnTo>
                    <a:pt x="1351654" y="7478"/>
                  </a:lnTo>
                  <a:lnTo>
                    <a:pt x="1410921" y="13182"/>
                  </a:lnTo>
                  <a:lnTo>
                    <a:pt x="1469103" y="20422"/>
                  </a:lnTo>
                  <a:lnTo>
                    <a:pt x="1526118" y="29155"/>
                  </a:lnTo>
                  <a:lnTo>
                    <a:pt x="1581886" y="39339"/>
                  </a:lnTo>
                  <a:lnTo>
                    <a:pt x="1636326" y="50932"/>
                  </a:lnTo>
                  <a:lnTo>
                    <a:pt x="1689358" y="63893"/>
                  </a:lnTo>
                  <a:lnTo>
                    <a:pt x="1740900" y="78178"/>
                  </a:lnTo>
                  <a:lnTo>
                    <a:pt x="1790872" y="93746"/>
                  </a:lnTo>
                  <a:lnTo>
                    <a:pt x="1839194" y="110554"/>
                  </a:lnTo>
                  <a:lnTo>
                    <a:pt x="1885784" y="128561"/>
                  </a:lnTo>
                  <a:lnTo>
                    <a:pt x="1930561" y="147725"/>
                  </a:lnTo>
                  <a:lnTo>
                    <a:pt x="1973446" y="168002"/>
                  </a:lnTo>
                  <a:lnTo>
                    <a:pt x="2014357" y="189352"/>
                  </a:lnTo>
                  <a:lnTo>
                    <a:pt x="2053214" y="211731"/>
                  </a:lnTo>
                  <a:lnTo>
                    <a:pt x="2089936" y="235099"/>
                  </a:lnTo>
                  <a:lnTo>
                    <a:pt x="2124441" y="259412"/>
                  </a:lnTo>
                  <a:lnTo>
                    <a:pt x="2156651" y="284629"/>
                  </a:lnTo>
                  <a:lnTo>
                    <a:pt x="2186483" y="310707"/>
                  </a:lnTo>
                  <a:lnTo>
                    <a:pt x="2213856" y="337604"/>
                  </a:lnTo>
                  <a:lnTo>
                    <a:pt x="2260907" y="393688"/>
                  </a:lnTo>
                  <a:lnTo>
                    <a:pt x="2297158" y="452545"/>
                  </a:lnTo>
                  <a:lnTo>
                    <a:pt x="2321961" y="513835"/>
                  </a:lnTo>
                  <a:lnTo>
                    <a:pt x="2334672" y="577224"/>
                  </a:lnTo>
                  <a:lnTo>
                    <a:pt x="2336291" y="609600"/>
                  </a:lnTo>
                  <a:lnTo>
                    <a:pt x="2334672" y="641975"/>
                  </a:lnTo>
                  <a:lnTo>
                    <a:pt x="2321961" y="705364"/>
                  </a:lnTo>
                  <a:lnTo>
                    <a:pt x="2297158" y="766654"/>
                  </a:lnTo>
                  <a:lnTo>
                    <a:pt x="2260907" y="825511"/>
                  </a:lnTo>
                  <a:lnTo>
                    <a:pt x="2213856" y="881595"/>
                  </a:lnTo>
                  <a:lnTo>
                    <a:pt x="2186483" y="908492"/>
                  </a:lnTo>
                  <a:lnTo>
                    <a:pt x="2156651" y="934570"/>
                  </a:lnTo>
                  <a:lnTo>
                    <a:pt x="2124441" y="959787"/>
                  </a:lnTo>
                  <a:lnTo>
                    <a:pt x="2089936" y="984100"/>
                  </a:lnTo>
                  <a:lnTo>
                    <a:pt x="2053214" y="1007468"/>
                  </a:lnTo>
                  <a:lnTo>
                    <a:pt x="2014357" y="1029847"/>
                  </a:lnTo>
                  <a:lnTo>
                    <a:pt x="1973446" y="1051197"/>
                  </a:lnTo>
                  <a:lnTo>
                    <a:pt x="1930561" y="1071474"/>
                  </a:lnTo>
                  <a:lnTo>
                    <a:pt x="1885784" y="1090638"/>
                  </a:lnTo>
                  <a:lnTo>
                    <a:pt x="1839194" y="1108645"/>
                  </a:lnTo>
                  <a:lnTo>
                    <a:pt x="1790872" y="1125453"/>
                  </a:lnTo>
                  <a:lnTo>
                    <a:pt x="1740900" y="1141021"/>
                  </a:lnTo>
                  <a:lnTo>
                    <a:pt x="1689358" y="1155306"/>
                  </a:lnTo>
                  <a:lnTo>
                    <a:pt x="1636326" y="1168267"/>
                  </a:lnTo>
                  <a:lnTo>
                    <a:pt x="1581886" y="1179860"/>
                  </a:lnTo>
                  <a:lnTo>
                    <a:pt x="1526118" y="1190044"/>
                  </a:lnTo>
                  <a:lnTo>
                    <a:pt x="1469103" y="1198777"/>
                  </a:lnTo>
                  <a:lnTo>
                    <a:pt x="1410921" y="1206017"/>
                  </a:lnTo>
                  <a:lnTo>
                    <a:pt x="1351654" y="1211721"/>
                  </a:lnTo>
                  <a:lnTo>
                    <a:pt x="1291382" y="1215848"/>
                  </a:lnTo>
                  <a:lnTo>
                    <a:pt x="1230185" y="1218355"/>
                  </a:lnTo>
                  <a:lnTo>
                    <a:pt x="1168145" y="1219200"/>
                  </a:lnTo>
                  <a:lnTo>
                    <a:pt x="1106106" y="1218355"/>
                  </a:lnTo>
                  <a:lnTo>
                    <a:pt x="1044909" y="1215848"/>
                  </a:lnTo>
                  <a:lnTo>
                    <a:pt x="984637" y="1211721"/>
                  </a:lnTo>
                  <a:lnTo>
                    <a:pt x="925370" y="1206017"/>
                  </a:lnTo>
                  <a:lnTo>
                    <a:pt x="867188" y="1198777"/>
                  </a:lnTo>
                  <a:lnTo>
                    <a:pt x="810173" y="1190044"/>
                  </a:lnTo>
                  <a:lnTo>
                    <a:pt x="754405" y="1179860"/>
                  </a:lnTo>
                  <a:lnTo>
                    <a:pt x="699965" y="1168267"/>
                  </a:lnTo>
                  <a:lnTo>
                    <a:pt x="646933" y="1155306"/>
                  </a:lnTo>
                  <a:lnTo>
                    <a:pt x="595391" y="1141021"/>
                  </a:lnTo>
                  <a:lnTo>
                    <a:pt x="545419" y="1125453"/>
                  </a:lnTo>
                  <a:lnTo>
                    <a:pt x="497097" y="1108645"/>
                  </a:lnTo>
                  <a:lnTo>
                    <a:pt x="450507" y="1090638"/>
                  </a:lnTo>
                  <a:lnTo>
                    <a:pt x="405730" y="1071474"/>
                  </a:lnTo>
                  <a:lnTo>
                    <a:pt x="362845" y="1051197"/>
                  </a:lnTo>
                  <a:lnTo>
                    <a:pt x="321934" y="1029847"/>
                  </a:lnTo>
                  <a:lnTo>
                    <a:pt x="283077" y="1007468"/>
                  </a:lnTo>
                  <a:lnTo>
                    <a:pt x="246355" y="984100"/>
                  </a:lnTo>
                  <a:lnTo>
                    <a:pt x="211850" y="959787"/>
                  </a:lnTo>
                  <a:lnTo>
                    <a:pt x="179640" y="934570"/>
                  </a:lnTo>
                  <a:lnTo>
                    <a:pt x="149808" y="908492"/>
                  </a:lnTo>
                  <a:lnTo>
                    <a:pt x="122435" y="881595"/>
                  </a:lnTo>
                  <a:lnTo>
                    <a:pt x="75384" y="825511"/>
                  </a:lnTo>
                  <a:lnTo>
                    <a:pt x="39133" y="766654"/>
                  </a:lnTo>
                  <a:lnTo>
                    <a:pt x="14330" y="705364"/>
                  </a:lnTo>
                  <a:lnTo>
                    <a:pt x="1619" y="641975"/>
                  </a:lnTo>
                  <a:lnTo>
                    <a:pt x="0" y="6096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68" name="Google Shape;868;p59"/>
          <p:cNvSpPr txBox="1"/>
          <p:nvPr/>
        </p:nvSpPr>
        <p:spPr>
          <a:xfrm>
            <a:off x="8737854" y="3516629"/>
            <a:ext cx="1320900" cy="3696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1968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Edge Map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5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0" name="Google Shape;870;p5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1" name="Google Shape;871;p5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7" name="Google Shape;877;p6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8" name="Google Shape;878;p6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Agenda</a:t>
            </a:r>
            <a:endParaRPr/>
          </a:p>
        </p:txBody>
      </p:sp>
      <p:sp>
        <p:nvSpPr>
          <p:cNvPr id="879" name="Google Shape;879;p60"/>
          <p:cNvSpPr txBox="1"/>
          <p:nvPr/>
        </p:nvSpPr>
        <p:spPr>
          <a:xfrm>
            <a:off x="688352" y="1232650"/>
            <a:ext cx="11145600" cy="48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Edge detection in noisy images</a:t>
            </a:r>
            <a:endParaRPr sz="27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Noto Sans Symbols"/>
              <a:buNone/>
            </a:pPr>
            <a:r>
              <a:t/>
            </a:r>
            <a:endParaRPr sz="27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5560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How to </a:t>
            </a:r>
            <a:r>
              <a:rPr lang="en-US" sz="27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reduce blurring </a:t>
            </a:r>
            <a:r>
              <a:rPr lang="en-US" sz="27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introduced during noise removal in edge detection?</a:t>
            </a:r>
            <a:endParaRPr sz="27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6FC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Blurring is an </a:t>
            </a:r>
            <a:r>
              <a:rPr lang="en-US" sz="2400" u="sng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opposite</a:t>
            </a:r>
            <a:r>
              <a:rPr lang="en-US" sz="2400" u="none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 operation to </a:t>
            </a:r>
            <a:r>
              <a:rPr lang="en-US" sz="2400" u="sng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edge detection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Solution: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228600" lvl="2" marL="1155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6FC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Do not apply smoothing and edge detection separately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-228600" lvl="2" marL="1155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Combine smoothing and edge detection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0" lvl="2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6FC0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Operators which combine smoothing and edge detection</a:t>
            </a:r>
            <a:endParaRPr sz="27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6FC0"/>
              </a:buClr>
              <a:buSzPts val="2400"/>
              <a:buFont typeface="Arial"/>
              <a:buChar char="–"/>
            </a:pPr>
            <a:r>
              <a:rPr i="1" lang="en-US" sz="24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LoG Operator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2400"/>
              <a:buFont typeface="Arial"/>
              <a:buChar char="–"/>
            </a:pPr>
            <a:r>
              <a:rPr i="1" lang="en-US" sz="24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DoG Operator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Canny edge detector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0" name="Google Shape;880;p6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1" name="Google Shape;881;p6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2" name="Google Shape;882;p6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6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8" name="Google Shape;888;p6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9" name="Google Shape;889;p6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Edge Detection Operators</a:t>
            </a:r>
            <a:endParaRPr/>
          </a:p>
        </p:txBody>
      </p:sp>
      <p:sp>
        <p:nvSpPr>
          <p:cNvPr id="890" name="Google Shape;890;p61"/>
          <p:cNvSpPr txBox="1"/>
          <p:nvPr/>
        </p:nvSpPr>
        <p:spPr>
          <a:xfrm>
            <a:off x="9150975" y="1457900"/>
            <a:ext cx="2736600" cy="1241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eorgia"/>
                <a:ea typeface="Georgia"/>
                <a:cs typeface="Georgia"/>
                <a:sym typeface="Georgia"/>
              </a:rPr>
              <a:t>based on Smoothing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1" name="Google Shape;891;p61"/>
          <p:cNvSpPr txBox="1"/>
          <p:nvPr/>
        </p:nvSpPr>
        <p:spPr>
          <a:xfrm>
            <a:off x="688340" y="1122983"/>
            <a:ext cx="7679100" cy="49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Laplacian of	Gaussian function (LOG)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Also called </a:t>
            </a:r>
            <a:r>
              <a:rPr i="1" lang="en-US" sz="2800" u="sng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Marr-Hildreth operator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Involves two operations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Smoothing </a:t>
            </a:r>
            <a:r>
              <a:rPr i="1"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(for noise removal)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Filtering using Laplacian operator </a:t>
            </a:r>
            <a:r>
              <a:rPr i="1"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(for edge detection)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AF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LOG filter combines </a:t>
            </a:r>
            <a:r>
              <a:rPr lang="en-US" sz="28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these two operations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1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DOG operator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Canny edge detector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2" name="Google Shape;892;p6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3" name="Google Shape;893;p6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4" name="Google Shape;894;p6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6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0" name="Google Shape;900;p6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1" name="Google Shape;901;p62"/>
          <p:cNvSpPr txBox="1"/>
          <p:nvPr/>
        </p:nvSpPr>
        <p:spPr>
          <a:xfrm>
            <a:off x="2021575" y="1690500"/>
            <a:ext cx="2543100" cy="43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latin typeface="Georgia"/>
                <a:ea typeface="Georgia"/>
                <a:cs typeface="Georgia"/>
                <a:sym typeface="Georgia"/>
              </a:rPr>
              <a:t>Laplacian mask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02" name="Google Shape;902;p62"/>
          <p:cNvSpPr txBox="1"/>
          <p:nvPr/>
        </p:nvSpPr>
        <p:spPr>
          <a:xfrm>
            <a:off x="635715" y="1720344"/>
            <a:ext cx="10351200" cy="3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16865" lvl="0" marL="3549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Since	                                is highly sensitive to </a:t>
            </a:r>
            <a:r>
              <a:rPr lang="en-US" sz="28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spike noise</a:t>
            </a:r>
            <a:r>
              <a:rPr lang="en-US" sz="2800" u="none">
                <a:latin typeface="Georgia"/>
                <a:ea typeface="Georgia"/>
                <a:cs typeface="Georgia"/>
                <a:sym typeface="Georgia"/>
              </a:rPr>
              <a:t>, Marr 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and Hildreth (1980) suggested the </a:t>
            </a:r>
            <a:r>
              <a:rPr lang="en-US" sz="2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use of	 the “Laplacian of Gaussian” (LOG) 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operator to detect edges in presence of noise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739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739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6865" lvl="0" marL="3549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This produces edges as </a:t>
            </a:r>
            <a:r>
              <a:rPr lang="en-US" sz="28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Zero-Crossings</a:t>
            </a:r>
            <a:r>
              <a:rPr lang="en-US" sz="2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 the output function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03" name="Google Shape;903;p6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Laplacian of Gaussian (LOG) Operator</a:t>
            </a:r>
            <a:endParaRPr/>
          </a:p>
        </p:txBody>
      </p:sp>
      <p:sp>
        <p:nvSpPr>
          <p:cNvPr id="904" name="Google Shape;904;p6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5" name="Google Shape;905;p6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6" name="Google Shape;906;p6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6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2" name="Google Shape;912;p6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3" name="Google Shape;913;p6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Laplacian of Gaussian (LOG) Operator</a:t>
            </a:r>
            <a:endParaRPr/>
          </a:p>
        </p:txBody>
      </p:sp>
      <p:sp>
        <p:nvSpPr>
          <p:cNvPr id="914" name="Google Shape;914;p63"/>
          <p:cNvSpPr txBox="1"/>
          <p:nvPr/>
        </p:nvSpPr>
        <p:spPr>
          <a:xfrm>
            <a:off x="383557" y="1095525"/>
            <a:ext cx="107727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2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Limitations of LOG Operator: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 u="sng">
                <a:latin typeface="Georgia"/>
                <a:ea typeface="Georgia"/>
                <a:cs typeface="Georgia"/>
                <a:sym typeface="Georgia"/>
              </a:rPr>
              <a:t>LOG does not give any idea of the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AF50"/>
              </a:buClr>
              <a:buSzPts val="2800"/>
              <a:buFont typeface="Arial"/>
              <a:buChar char="•"/>
            </a:pPr>
            <a:r>
              <a:rPr i="1" lang="en-US" sz="28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gradient magnitude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and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00AF50"/>
              </a:buClr>
              <a:buSzPts val="2800"/>
              <a:buFont typeface="Arial"/>
              <a:buChar char="•"/>
            </a:pPr>
            <a:r>
              <a:rPr i="1" lang="en-US" sz="28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orientation of the edges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5" name="Google Shape;915;p63"/>
          <p:cNvSpPr txBox="1"/>
          <p:nvPr/>
        </p:nvSpPr>
        <p:spPr>
          <a:xfrm>
            <a:off x="383540" y="3827526"/>
            <a:ext cx="1929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▪</a:t>
            </a:r>
            <a:endParaRPr sz="28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16" name="Google Shape;916;p63"/>
          <p:cNvSpPr txBox="1"/>
          <p:nvPr/>
        </p:nvSpPr>
        <p:spPr>
          <a:xfrm>
            <a:off x="698681" y="3827525"/>
            <a:ext cx="10513200" cy="554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4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How was </a:t>
            </a:r>
            <a:r>
              <a:rPr i="1" lang="en-US" sz="36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gradient magnitude</a:t>
            </a:r>
            <a:r>
              <a:rPr i="1" lang="en-US" sz="3600" u="none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600" u="none">
                <a:latin typeface="Georgia"/>
                <a:ea typeface="Georgia"/>
                <a:cs typeface="Georgia"/>
                <a:sym typeface="Georgia"/>
              </a:rPr>
              <a:t>helping?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7" name="Google Shape;917;p63"/>
          <p:cNvSpPr txBox="1"/>
          <p:nvPr/>
        </p:nvSpPr>
        <p:spPr>
          <a:xfrm>
            <a:off x="916958" y="4691625"/>
            <a:ext cx="93309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Tells the strength of	the edge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8" name="Google Shape;918;p6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9" name="Google Shape;919;p6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0" name="Google Shape;920;p6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6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6" name="Google Shape;926;p6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7" name="Google Shape;927;p6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LOG Operator: </a:t>
            </a:r>
            <a:r>
              <a:rPr lang="en-US" sz="36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Use of	2</a:t>
            </a:r>
            <a:r>
              <a:rPr baseline="30000" lang="en-US" sz="36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nd </a:t>
            </a:r>
            <a:r>
              <a:rPr lang="en-US" sz="36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order derivative of	Gaussian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8" name="Google Shape;928;p6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9" name="Google Shape;929;p6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0" name="Google Shape;930;p6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931" name="Google Shape;93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6450"/>
            <a:ext cx="11887197" cy="5127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7" name="Google Shape;937;p6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8" name="Google Shape;938;p6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Derivatives of	Gaussian</a:t>
            </a:r>
            <a:endParaRPr/>
          </a:p>
        </p:txBody>
      </p:sp>
      <p:sp>
        <p:nvSpPr>
          <p:cNvPr id="939" name="Google Shape;939;p6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0" name="Google Shape;940;p6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1" name="Google Shape;941;p6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942" name="Google Shape;94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225" y="1086458"/>
            <a:ext cx="11381552" cy="5347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8" name="Google Shape;948;p6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9" name="Google Shape;949;p6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Derivatives of	Gaussian</a:t>
            </a:r>
            <a:endParaRPr/>
          </a:p>
        </p:txBody>
      </p:sp>
      <p:pic>
        <p:nvPicPr>
          <p:cNvPr id="950" name="Google Shape;95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2618" y="2396490"/>
            <a:ext cx="3666762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66"/>
          <p:cNvSpPr txBox="1"/>
          <p:nvPr/>
        </p:nvSpPr>
        <p:spPr>
          <a:xfrm>
            <a:off x="7211072" y="1762398"/>
            <a:ext cx="1491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Gaussian in 1-D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66"/>
          <p:cNvSpPr/>
          <p:nvPr/>
        </p:nvSpPr>
        <p:spPr>
          <a:xfrm>
            <a:off x="6477380" y="2052193"/>
            <a:ext cx="1146175" cy="615314"/>
          </a:xfrm>
          <a:custGeom>
            <a:rect b="b" l="l" r="r" t="t"/>
            <a:pathLst>
              <a:path extrusionOk="0" h="615314" w="1146175">
                <a:moveTo>
                  <a:pt x="49275" y="545719"/>
                </a:moveTo>
                <a:lnTo>
                  <a:pt x="0" y="615188"/>
                </a:lnTo>
                <a:lnTo>
                  <a:pt x="85217" y="612902"/>
                </a:lnTo>
                <a:lnTo>
                  <a:pt x="73463" y="590931"/>
                </a:lnTo>
                <a:lnTo>
                  <a:pt x="59054" y="590931"/>
                </a:lnTo>
                <a:lnTo>
                  <a:pt x="53086" y="579755"/>
                </a:lnTo>
                <a:lnTo>
                  <a:pt x="64287" y="573779"/>
                </a:lnTo>
                <a:lnTo>
                  <a:pt x="49275" y="545719"/>
                </a:lnTo>
                <a:close/>
              </a:path>
              <a:path extrusionOk="0" h="615314" w="1146175">
                <a:moveTo>
                  <a:pt x="64287" y="573779"/>
                </a:moveTo>
                <a:lnTo>
                  <a:pt x="53086" y="579755"/>
                </a:lnTo>
                <a:lnTo>
                  <a:pt x="59054" y="590931"/>
                </a:lnTo>
                <a:lnTo>
                  <a:pt x="70264" y="584952"/>
                </a:lnTo>
                <a:lnTo>
                  <a:pt x="64287" y="573779"/>
                </a:lnTo>
                <a:close/>
              </a:path>
              <a:path extrusionOk="0" h="615314" w="1146175">
                <a:moveTo>
                  <a:pt x="70264" y="584952"/>
                </a:moveTo>
                <a:lnTo>
                  <a:pt x="59054" y="590931"/>
                </a:lnTo>
                <a:lnTo>
                  <a:pt x="73463" y="590931"/>
                </a:lnTo>
                <a:lnTo>
                  <a:pt x="70264" y="584952"/>
                </a:lnTo>
                <a:close/>
              </a:path>
              <a:path extrusionOk="0" h="615314" w="1146175">
                <a:moveTo>
                  <a:pt x="1139952" y="0"/>
                </a:moveTo>
                <a:lnTo>
                  <a:pt x="64287" y="573779"/>
                </a:lnTo>
                <a:lnTo>
                  <a:pt x="70264" y="584952"/>
                </a:lnTo>
                <a:lnTo>
                  <a:pt x="1146048" y="11176"/>
                </a:lnTo>
                <a:lnTo>
                  <a:pt x="1139952" y="0"/>
                </a:lnTo>
                <a:close/>
              </a:path>
            </a:pathLst>
          </a:custGeom>
          <a:solidFill>
            <a:srgbClr val="497D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3" name="Google Shape;953;p66"/>
          <p:cNvSpPr txBox="1"/>
          <p:nvPr/>
        </p:nvSpPr>
        <p:spPr>
          <a:xfrm>
            <a:off x="2896194" y="1485208"/>
            <a:ext cx="1675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First derivative of Gaussian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66"/>
          <p:cNvSpPr txBox="1"/>
          <p:nvPr/>
        </p:nvSpPr>
        <p:spPr>
          <a:xfrm>
            <a:off x="7455493" y="5497570"/>
            <a:ext cx="2865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6400" lvl="0" marL="4184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Second derivative of Gaussian (LOG operator in 1-D)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66"/>
          <p:cNvSpPr/>
          <p:nvPr/>
        </p:nvSpPr>
        <p:spPr>
          <a:xfrm>
            <a:off x="6401180" y="4572380"/>
            <a:ext cx="1527809" cy="948054"/>
          </a:xfrm>
          <a:custGeom>
            <a:rect b="b" l="l" r="r" t="t"/>
            <a:pathLst>
              <a:path extrusionOk="0" h="948054" w="1527809">
                <a:moveTo>
                  <a:pt x="68121" y="34648"/>
                </a:moveTo>
                <a:lnTo>
                  <a:pt x="61409" y="45502"/>
                </a:lnTo>
                <a:lnTo>
                  <a:pt x="1520698" y="948055"/>
                </a:lnTo>
                <a:lnTo>
                  <a:pt x="1527302" y="937260"/>
                </a:lnTo>
                <a:lnTo>
                  <a:pt x="68121" y="34648"/>
                </a:lnTo>
                <a:close/>
              </a:path>
              <a:path extrusionOk="0" h="948054" w="1527809">
                <a:moveTo>
                  <a:pt x="0" y="0"/>
                </a:moveTo>
                <a:lnTo>
                  <a:pt x="44704" y="72517"/>
                </a:lnTo>
                <a:lnTo>
                  <a:pt x="61409" y="45502"/>
                </a:lnTo>
                <a:lnTo>
                  <a:pt x="50673" y="38862"/>
                </a:lnTo>
                <a:lnTo>
                  <a:pt x="57277" y="27940"/>
                </a:lnTo>
                <a:lnTo>
                  <a:pt x="72270" y="27940"/>
                </a:lnTo>
                <a:lnTo>
                  <a:pt x="84836" y="7620"/>
                </a:lnTo>
                <a:lnTo>
                  <a:pt x="0" y="0"/>
                </a:lnTo>
                <a:close/>
              </a:path>
              <a:path extrusionOk="0" h="948054" w="1527809">
                <a:moveTo>
                  <a:pt x="57277" y="27940"/>
                </a:moveTo>
                <a:lnTo>
                  <a:pt x="50673" y="38862"/>
                </a:lnTo>
                <a:lnTo>
                  <a:pt x="61409" y="45502"/>
                </a:lnTo>
                <a:lnTo>
                  <a:pt x="68121" y="34648"/>
                </a:lnTo>
                <a:lnTo>
                  <a:pt x="57277" y="27940"/>
                </a:lnTo>
                <a:close/>
              </a:path>
              <a:path extrusionOk="0" h="948054" w="1527809">
                <a:moveTo>
                  <a:pt x="72270" y="27940"/>
                </a:moveTo>
                <a:lnTo>
                  <a:pt x="57277" y="27940"/>
                </a:lnTo>
                <a:lnTo>
                  <a:pt x="68121" y="34648"/>
                </a:lnTo>
                <a:lnTo>
                  <a:pt x="72270" y="27940"/>
                </a:lnTo>
                <a:close/>
              </a:path>
            </a:pathLst>
          </a:custGeom>
          <a:solidFill>
            <a:srgbClr val="497D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6" name="Google Shape;956;p66"/>
          <p:cNvSpPr txBox="1"/>
          <p:nvPr/>
        </p:nvSpPr>
        <p:spPr>
          <a:xfrm flipH="1" rot="10800000">
            <a:off x="6024882" y="5336651"/>
            <a:ext cx="285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4F81BC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66"/>
          <p:cNvSpPr/>
          <p:nvPr/>
        </p:nvSpPr>
        <p:spPr>
          <a:xfrm>
            <a:off x="4049140" y="1862073"/>
            <a:ext cx="1666239" cy="1129030"/>
          </a:xfrm>
          <a:custGeom>
            <a:rect b="b" l="l" r="r" t="t"/>
            <a:pathLst>
              <a:path extrusionOk="0" h="1129030" w="1666239">
                <a:moveTo>
                  <a:pt x="1599564" y="1091047"/>
                </a:moveTo>
                <a:lnTo>
                  <a:pt x="1581785" y="1117346"/>
                </a:lnTo>
                <a:lnTo>
                  <a:pt x="1666239" y="1128522"/>
                </a:lnTo>
                <a:lnTo>
                  <a:pt x="1649169" y="1098168"/>
                </a:lnTo>
                <a:lnTo>
                  <a:pt x="1610106" y="1098168"/>
                </a:lnTo>
                <a:lnTo>
                  <a:pt x="1599564" y="1091047"/>
                </a:lnTo>
                <a:close/>
              </a:path>
              <a:path extrusionOk="0" h="1129030" w="1666239">
                <a:moveTo>
                  <a:pt x="1606685" y="1080513"/>
                </a:moveTo>
                <a:lnTo>
                  <a:pt x="1599564" y="1091047"/>
                </a:lnTo>
                <a:lnTo>
                  <a:pt x="1610106" y="1098168"/>
                </a:lnTo>
                <a:lnTo>
                  <a:pt x="1617218" y="1087627"/>
                </a:lnTo>
                <a:lnTo>
                  <a:pt x="1606685" y="1080513"/>
                </a:lnTo>
                <a:close/>
              </a:path>
              <a:path extrusionOk="0" h="1129030" w="1666239">
                <a:moveTo>
                  <a:pt x="1624457" y="1054227"/>
                </a:moveTo>
                <a:lnTo>
                  <a:pt x="1606685" y="1080513"/>
                </a:lnTo>
                <a:lnTo>
                  <a:pt x="1617218" y="1087627"/>
                </a:lnTo>
                <a:lnTo>
                  <a:pt x="1610106" y="1098168"/>
                </a:lnTo>
                <a:lnTo>
                  <a:pt x="1649169" y="1098168"/>
                </a:lnTo>
                <a:lnTo>
                  <a:pt x="1624457" y="1054227"/>
                </a:lnTo>
                <a:close/>
              </a:path>
              <a:path extrusionOk="0" h="1129030" w="1666239">
                <a:moveTo>
                  <a:pt x="7112" y="0"/>
                </a:moveTo>
                <a:lnTo>
                  <a:pt x="0" y="10413"/>
                </a:lnTo>
                <a:lnTo>
                  <a:pt x="1599564" y="1091047"/>
                </a:lnTo>
                <a:lnTo>
                  <a:pt x="1606685" y="1080513"/>
                </a:lnTo>
                <a:lnTo>
                  <a:pt x="7112" y="0"/>
                </a:lnTo>
                <a:close/>
              </a:path>
            </a:pathLst>
          </a:custGeom>
          <a:solidFill>
            <a:srgbClr val="497D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8" name="Google Shape;958;p66"/>
          <p:cNvSpPr txBox="1"/>
          <p:nvPr/>
        </p:nvSpPr>
        <p:spPr>
          <a:xfrm rot="-5400000">
            <a:off x="3847661" y="3481300"/>
            <a:ext cx="41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4F81BC"/>
                </a:solidFill>
                <a:latin typeface="Calibri"/>
                <a:ea typeface="Calibri"/>
                <a:cs typeface="Calibri"/>
                <a:sym typeface="Calibri"/>
              </a:rPr>
              <a:t>G(x)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6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0" name="Google Shape;960;p6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1" name="Google Shape;961;p6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7" name="Google Shape;967;p6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8" name="Google Shape;968;p67"/>
          <p:cNvSpPr txBox="1"/>
          <p:nvPr>
            <p:ph idx="4294967295" type="title"/>
          </p:nvPr>
        </p:nvSpPr>
        <p:spPr>
          <a:xfrm>
            <a:off x="0" y="153150"/>
            <a:ext cx="121920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5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LoG Operator in 2D</a:t>
            </a:r>
            <a:endParaRPr sz="4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9" name="Google Shape;969;p67"/>
          <p:cNvSpPr txBox="1"/>
          <p:nvPr/>
        </p:nvSpPr>
        <p:spPr>
          <a:xfrm>
            <a:off x="383555" y="1296675"/>
            <a:ext cx="38073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Gaussian in 2-D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970" name="Google Shape;970;p67"/>
          <p:cNvSpPr txBox="1"/>
          <p:nvPr/>
        </p:nvSpPr>
        <p:spPr>
          <a:xfrm>
            <a:off x="383552" y="3277875"/>
            <a:ext cx="5105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Laplacian of Gaussian in 2-D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71" name="Google Shape;97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1364" y="3048817"/>
            <a:ext cx="5381347" cy="2467188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6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3" name="Google Shape;973;p6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4" name="Google Shape;974;p6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975" name="Google Shape;975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8090" y="1959000"/>
            <a:ext cx="3326075" cy="93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50" y="4100950"/>
            <a:ext cx="5335651" cy="1093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2" name="Google Shape;982;p6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3" name="Google Shape;983;p6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Laplacian of Gaussian (LoG) in 2-D</a:t>
            </a:r>
            <a:endParaRPr/>
          </a:p>
        </p:txBody>
      </p:sp>
      <p:sp>
        <p:nvSpPr>
          <p:cNvPr id="984" name="Google Shape;984;p68"/>
          <p:cNvSpPr txBox="1"/>
          <p:nvPr/>
        </p:nvSpPr>
        <p:spPr>
          <a:xfrm>
            <a:off x="7805673" y="1072641"/>
            <a:ext cx="36543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This 2-D LoG can be approximated by a 5 by 5 convolution kernel such as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85" name="Google Shape;98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857" y="1089988"/>
            <a:ext cx="5832998" cy="2674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1925" y="2632200"/>
            <a:ext cx="2187150" cy="1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68"/>
          <p:cNvSpPr txBox="1"/>
          <p:nvPr/>
        </p:nvSpPr>
        <p:spPr>
          <a:xfrm>
            <a:off x="305165" y="4264144"/>
            <a:ext cx="11109300" cy="20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450">
            <a:spAutoFit/>
          </a:bodyPr>
          <a:lstStyle/>
          <a:p>
            <a:pPr indent="-381000" lvl="0" marL="457200" marR="7239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Palatino Linotype"/>
              <a:buChar char="●"/>
            </a:pPr>
            <a:r>
              <a:rPr b="1" i="1" lang="en-US" sz="2400">
                <a:solidFill>
                  <a:srgbClr val="C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The </a:t>
            </a:r>
            <a:r>
              <a:rPr b="1" i="1" lang="en-US" sz="2400" u="sng">
                <a:solidFill>
                  <a:srgbClr val="C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kernel of any other sizes</a:t>
            </a:r>
            <a:r>
              <a:rPr b="1" i="1" lang="en-US" sz="2400" u="none">
                <a:solidFill>
                  <a:srgbClr val="C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can be obtained by approximating the continuous expression of LoG given above.</a:t>
            </a:r>
            <a:endParaRPr sz="2400"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81000" lvl="0" marL="457200" marR="7239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Palatino Linotype"/>
              <a:buChar char="●"/>
            </a:pPr>
            <a:r>
              <a:rPr i="1" lang="en-US" sz="2400">
                <a:solidFill>
                  <a:srgbClr val="00AF50"/>
                </a:solidFill>
                <a:latin typeface="Cambria"/>
                <a:ea typeface="Cambria"/>
                <a:cs typeface="Cambria"/>
                <a:sym typeface="Cambria"/>
              </a:rPr>
              <a:t>However, make sure that the sum (or average) of all elements of the kernel has to be zero (similar to the Laplace kernel)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-US" sz="2400">
                <a:solidFill>
                  <a:srgbClr val="00AF50"/>
                </a:solidFill>
                <a:latin typeface="Cambria"/>
                <a:ea typeface="Cambria"/>
                <a:cs typeface="Cambria"/>
                <a:sym typeface="Cambria"/>
              </a:rPr>
              <a:t>so that the </a:t>
            </a:r>
            <a:r>
              <a:rPr i="1" lang="en-US" sz="2400" u="sng">
                <a:solidFill>
                  <a:srgbClr val="00AFEF"/>
                </a:solidFill>
                <a:latin typeface="Cambria"/>
                <a:ea typeface="Cambria"/>
                <a:cs typeface="Cambria"/>
                <a:sym typeface="Cambria"/>
              </a:rPr>
              <a:t>convolution result of a homogeneous regions is always zero</a:t>
            </a:r>
            <a:r>
              <a:rPr i="1" lang="en-US" sz="2400" u="none">
                <a:solidFill>
                  <a:srgbClr val="00AF5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88" name="Google Shape;988;p6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9" name="Google Shape;989;p6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0" name="Google Shape;990;p6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6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996" name="Google Shape;996;p69"/>
          <p:cNvGrpSpPr/>
          <p:nvPr/>
        </p:nvGrpSpPr>
        <p:grpSpPr>
          <a:xfrm>
            <a:off x="305181" y="974978"/>
            <a:ext cx="11582400" cy="5081050"/>
            <a:chOff x="305181" y="974978"/>
            <a:chExt cx="11582400" cy="5081050"/>
          </a:xfrm>
        </p:grpSpPr>
        <p:sp>
          <p:nvSpPr>
            <p:cNvPr id="997" name="Google Shape;997;p69"/>
            <p:cNvSpPr/>
            <p:nvPr/>
          </p:nvSpPr>
          <p:spPr>
            <a:xfrm>
              <a:off x="305181" y="974978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400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998" name="Google Shape;998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60936" y="1511174"/>
              <a:ext cx="7582153" cy="45448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9" name="Google Shape;999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48000" y="984503"/>
              <a:ext cx="1976627" cy="5394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0" name="Google Shape;1000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88007" y="2193093"/>
              <a:ext cx="215493" cy="2871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1" name="Google Shape;1001;p6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44113" y="3471671"/>
              <a:ext cx="885959" cy="5379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2" name="Google Shape;1002;p6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10137" y="5035295"/>
              <a:ext cx="1956197" cy="5364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03" name="Google Shape;1003;p6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Response of	 LoG on Step Edge</a:t>
            </a:r>
            <a:endParaRPr/>
          </a:p>
        </p:txBody>
      </p:sp>
      <p:sp>
        <p:nvSpPr>
          <p:cNvPr id="1004" name="Google Shape;1004;p69"/>
          <p:cNvSpPr txBox="1"/>
          <p:nvPr/>
        </p:nvSpPr>
        <p:spPr>
          <a:xfrm>
            <a:off x="688352" y="1064250"/>
            <a:ext cx="17928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Consider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05" name="Google Shape;1005;p69"/>
          <p:cNvSpPr txBox="1"/>
          <p:nvPr/>
        </p:nvSpPr>
        <p:spPr>
          <a:xfrm>
            <a:off x="6307328" y="3498595"/>
            <a:ext cx="20226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94360" lvl="0" marL="60642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Laplacian of Gaussian operator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6" name="Google Shape;1006;p6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82746" y="6067793"/>
            <a:ext cx="2226563" cy="50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69"/>
          <p:cNvSpPr txBox="1"/>
          <p:nvPr/>
        </p:nvSpPr>
        <p:spPr>
          <a:xfrm>
            <a:off x="3812794" y="6115050"/>
            <a:ext cx="18459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Where is the edge?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69"/>
          <p:cNvSpPr txBox="1"/>
          <p:nvPr/>
        </p:nvSpPr>
        <p:spPr>
          <a:xfrm>
            <a:off x="5933702" y="6115050"/>
            <a:ext cx="4805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Look for Zero-crossings in bottom graph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69"/>
          <p:cNvSpPr txBox="1"/>
          <p:nvPr/>
        </p:nvSpPr>
        <p:spPr>
          <a:xfrm>
            <a:off x="3148583" y="3651503"/>
            <a:ext cx="140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0" name="Google Shape;1010;p6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1" name="Google Shape;1011;p6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2" name="Google Shape;1012;p6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7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8" name="Google Shape;1018;p7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9" name="Google Shape;1019;p7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Response of	 LoG on Step Edge</a:t>
            </a:r>
            <a:endParaRPr/>
          </a:p>
        </p:txBody>
      </p:sp>
      <p:sp>
        <p:nvSpPr>
          <p:cNvPr id="1020" name="Google Shape;1020;p70"/>
          <p:cNvSpPr txBox="1"/>
          <p:nvPr/>
        </p:nvSpPr>
        <p:spPr>
          <a:xfrm>
            <a:off x="5882650" y="1034800"/>
            <a:ext cx="4253100" cy="461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sng">
                <a:latin typeface="Georgia"/>
                <a:ea typeface="Georgia"/>
                <a:cs typeface="Georgia"/>
                <a:sym typeface="Georgia"/>
              </a:rPr>
              <a:t>second spatial derivative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1" name="Google Shape;1021;p70"/>
          <p:cNvSpPr txBox="1"/>
          <p:nvPr/>
        </p:nvSpPr>
        <p:spPr>
          <a:xfrm>
            <a:off x="688340" y="950975"/>
            <a:ext cx="5415300" cy="1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-342900" lvl="0" marL="3556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The LoG operator calculates of the image.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2" name="Google Shape;1022;p70"/>
          <p:cNvSpPr txBox="1"/>
          <p:nvPr/>
        </p:nvSpPr>
        <p:spPr>
          <a:xfrm>
            <a:off x="688350" y="3735525"/>
            <a:ext cx="11199300" cy="26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2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This means that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  <a:p>
            <a:pPr indent="-285750" lvl="1" marL="755650" marR="5080" rtl="0" algn="l">
              <a:lnSpc>
                <a:spcPct val="108076"/>
              </a:lnSpc>
              <a:spcBef>
                <a:spcPts val="695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Arial"/>
              <a:buChar char="–"/>
            </a:pPr>
            <a:r>
              <a:rPr lang="en-US" sz="2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6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LoG response will be zero </a:t>
            </a:r>
            <a:r>
              <a:rPr lang="en-US" sz="2600">
                <a:latin typeface="Georgia"/>
                <a:ea typeface="Georgia"/>
                <a:cs typeface="Georgia"/>
                <a:sym typeface="Georgia"/>
              </a:rPr>
              <a:t>in areas where the </a:t>
            </a:r>
            <a:r>
              <a:rPr lang="en-US" sz="2600" u="sng">
                <a:latin typeface="Georgia"/>
                <a:ea typeface="Georgia"/>
                <a:cs typeface="Georgia"/>
                <a:sym typeface="Georgia"/>
              </a:rPr>
              <a:t>image has a constant</a:t>
            </a:r>
            <a:r>
              <a:rPr lang="en-US" sz="2600" u="none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u="sng">
                <a:latin typeface="Georgia"/>
                <a:ea typeface="Georgia"/>
                <a:cs typeface="Georgia"/>
                <a:sym typeface="Georgia"/>
              </a:rPr>
              <a:t>intensity</a:t>
            </a:r>
            <a:r>
              <a:rPr lang="en-US" sz="2600" u="none">
                <a:latin typeface="Georgia"/>
                <a:ea typeface="Georgia"/>
                <a:cs typeface="Georgia"/>
                <a:sym typeface="Georgia"/>
              </a:rPr>
              <a:t> (</a:t>
            </a:r>
            <a:r>
              <a:rPr i="1" lang="en-US" sz="2600" u="none">
                <a:latin typeface="Georgia"/>
                <a:ea typeface="Georgia"/>
                <a:cs typeface="Georgia"/>
                <a:sym typeface="Georgia"/>
              </a:rPr>
              <a:t>i.e. </a:t>
            </a:r>
            <a:r>
              <a:rPr lang="en-US" sz="2600" u="none">
                <a:latin typeface="Georgia"/>
                <a:ea typeface="Georgia"/>
                <a:cs typeface="Georgia"/>
                <a:sym typeface="Georgia"/>
              </a:rPr>
              <a:t>where the intensity gradient is zero),</a:t>
            </a:r>
            <a:endParaRPr sz="2600">
              <a:latin typeface="Georgia"/>
              <a:ea typeface="Georgia"/>
              <a:cs typeface="Georgia"/>
              <a:sym typeface="Georgia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Georgia"/>
                <a:ea typeface="Georgia"/>
                <a:cs typeface="Georgia"/>
                <a:sym typeface="Georgia"/>
              </a:rPr>
              <a:t>In the vicinity of	a change in intensity, the LoG response will be</a:t>
            </a:r>
            <a:endParaRPr sz="2600">
              <a:latin typeface="Georgia"/>
              <a:ea typeface="Georgia"/>
              <a:cs typeface="Georgia"/>
              <a:sym typeface="Georgia"/>
            </a:endParaRPr>
          </a:p>
          <a:p>
            <a:pPr indent="-228600" lvl="2" marL="115570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positive on the darker side</a:t>
            </a:r>
            <a:r>
              <a:rPr lang="en-US" sz="2200" u="none">
                <a:latin typeface="Georgia"/>
                <a:ea typeface="Georgia"/>
                <a:cs typeface="Georgia"/>
                <a:sym typeface="Georgia"/>
              </a:rPr>
              <a:t>, and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228600" lvl="2" marL="115570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00AF50"/>
              </a:buClr>
              <a:buSzPts val="2200"/>
              <a:buFont typeface="Arial"/>
              <a:buChar char="•"/>
            </a:pPr>
            <a:r>
              <a:rPr lang="en-US" sz="22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negative on the lighter side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23" name="Google Shape;102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0" y="1454658"/>
            <a:ext cx="4119371" cy="2507742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7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5" name="Google Shape;1025;p7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6" name="Google Shape;1026;p7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7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2" name="Google Shape;1032;p7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Response of	 LOG on Step Edge</a:t>
            </a:r>
            <a:endParaRPr/>
          </a:p>
        </p:txBody>
      </p:sp>
      <p:sp>
        <p:nvSpPr>
          <p:cNvPr id="1033" name="Google Shape;1033;p71"/>
          <p:cNvSpPr txBox="1"/>
          <p:nvPr/>
        </p:nvSpPr>
        <p:spPr>
          <a:xfrm>
            <a:off x="305176" y="1168300"/>
            <a:ext cx="7163400" cy="48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9564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50"/>
              <a:buFont typeface="Noto Sans Symbols"/>
              <a:buChar char="▪"/>
            </a:pPr>
            <a:r>
              <a:rPr lang="en-US" sz="3500">
                <a:latin typeface="Georgia"/>
                <a:ea typeface="Georgia"/>
                <a:cs typeface="Georgia"/>
                <a:sym typeface="Georgia"/>
              </a:rPr>
              <a:t>In summary</a:t>
            </a:r>
            <a:endParaRPr sz="3500">
              <a:latin typeface="Georgia"/>
              <a:ea typeface="Georgia"/>
              <a:cs typeface="Georgia"/>
              <a:sym typeface="Georgia"/>
            </a:endParaRPr>
          </a:p>
          <a:p>
            <a:pPr indent="-273050" lvl="1" marL="755650" marR="200025" rtl="0" algn="l">
              <a:lnSpc>
                <a:spcPct val="96000"/>
              </a:lnSpc>
              <a:spcBef>
                <a:spcPts val="725"/>
              </a:spcBef>
              <a:spcAft>
                <a:spcPts val="0"/>
              </a:spcAft>
              <a:buClr>
                <a:srgbClr val="00AFEF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at a </a:t>
            </a:r>
            <a:r>
              <a:rPr lang="en-US" sz="2800" u="sng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reasonably sharp edge between</a:t>
            </a:r>
            <a:r>
              <a:rPr lang="en-US" sz="2800" u="none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u="sng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two regions</a:t>
            </a:r>
            <a:r>
              <a:rPr lang="en-US" sz="2800" u="none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 of</a:t>
            </a:r>
            <a:r>
              <a:rPr lang="en-US" sz="2800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u="none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uniform but different intensities, the LoG response will be: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16535" lvl="2" marL="1155700" marR="628015" rtl="0" algn="l">
              <a:lnSpc>
                <a:spcPct val="80000"/>
              </a:lnSpc>
              <a:spcBef>
                <a:spcPts val="74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zero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at a long distance from the edge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15900" lvl="2" marL="1155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92D050"/>
                </a:solidFill>
                <a:latin typeface="Georgia"/>
                <a:ea typeface="Georgia"/>
                <a:cs typeface="Georgia"/>
                <a:sym typeface="Georgia"/>
              </a:rPr>
              <a:t>positive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just to one side of the edge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16535" lvl="2" marL="1155700" marR="537210" rtl="0" algn="l">
              <a:lnSpc>
                <a:spcPct val="96000"/>
              </a:lnSpc>
              <a:spcBef>
                <a:spcPts val="695"/>
              </a:spcBef>
              <a:spcAft>
                <a:spcPts val="0"/>
              </a:spcAft>
              <a:buClr>
                <a:srgbClr val="006FC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negative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just to the other side of the edge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16535" lvl="2" marL="1155700" marR="330835" rtl="0" algn="l">
              <a:lnSpc>
                <a:spcPct val="80000"/>
              </a:lnSpc>
              <a:spcBef>
                <a:spcPts val="74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zero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at some point in between, on the edge itself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34" name="Google Shape;103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2944" y="2094186"/>
            <a:ext cx="4400595" cy="2638097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7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6" name="Google Shape;1036;p7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7" name="Google Shape;1037;p7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8" name="Google Shape;1038;p7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7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4" name="Google Shape;1044;p7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5" name="Google Shape;1045;p7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Finding Zero crossings</a:t>
            </a:r>
            <a:endParaRPr/>
          </a:p>
        </p:txBody>
      </p:sp>
      <p:sp>
        <p:nvSpPr>
          <p:cNvPr id="1046" name="Google Shape;1046;p72"/>
          <p:cNvSpPr txBox="1"/>
          <p:nvPr/>
        </p:nvSpPr>
        <p:spPr>
          <a:xfrm>
            <a:off x="305176" y="1111500"/>
            <a:ext cx="4619700" cy="50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-330200" lvl="0" marL="355600" marR="23495" rtl="0" algn="l">
              <a:lnSpc>
                <a:spcPct val="10814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50"/>
              <a:buFont typeface="Noto Sans Symbols"/>
              <a:buChar char="▪"/>
            </a:pPr>
            <a:r>
              <a:rPr lang="en-US" sz="2500">
                <a:latin typeface="Georgia"/>
                <a:ea typeface="Georgia"/>
                <a:cs typeface="Georgia"/>
                <a:sym typeface="Georgia"/>
              </a:rPr>
              <a:t>Idea behind detection of zero-crossings was that we just need to detect </a:t>
            </a:r>
            <a:r>
              <a:rPr lang="en-US" sz="25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zeros (no threshold required) </a:t>
            </a:r>
            <a:r>
              <a:rPr lang="en-US" sz="2500">
                <a:latin typeface="Georgia"/>
                <a:ea typeface="Georgia"/>
                <a:cs typeface="Georgia"/>
                <a:sym typeface="Georgia"/>
              </a:rPr>
              <a:t>which is easy as compared to thresholding where we need to find a threshold</a:t>
            </a:r>
            <a:endParaRPr sz="25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marR="23495" rtl="0" algn="l">
              <a:lnSpc>
                <a:spcPct val="1081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355600" marR="5080" rtl="0" algn="l">
              <a:lnSpc>
                <a:spcPct val="10814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50"/>
              <a:buFont typeface="Noto Sans Symbols"/>
              <a:buChar char="▪"/>
            </a:pPr>
            <a:r>
              <a:rPr lang="en-US" sz="2500">
                <a:latin typeface="Georgia"/>
                <a:ea typeface="Georgia"/>
                <a:cs typeface="Georgia"/>
                <a:sym typeface="Georgia"/>
              </a:rPr>
              <a:t>However, it turns out that to avoid </a:t>
            </a:r>
            <a:r>
              <a:rPr lang="en-US" sz="2500" u="sng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weak edges</a:t>
            </a:r>
            <a:r>
              <a:rPr lang="en-US" sz="2500" u="none">
                <a:latin typeface="Georgia"/>
                <a:ea typeface="Georgia"/>
                <a:cs typeface="Georgia"/>
                <a:sym typeface="Georgia"/>
              </a:rPr>
              <a:t>, we need to put some threshold on </a:t>
            </a:r>
            <a:r>
              <a:rPr lang="en-US" sz="2500" u="non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slope of</a:t>
            </a:r>
            <a:r>
              <a:rPr lang="en-US" sz="25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500" u="non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the zero-crossings</a:t>
            </a:r>
            <a:endParaRPr sz="25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047" name="Google Shape;1047;p72"/>
          <p:cNvGrpSpPr/>
          <p:nvPr/>
        </p:nvGrpSpPr>
        <p:grpSpPr>
          <a:xfrm>
            <a:off x="5515036" y="1062209"/>
            <a:ext cx="88438" cy="5013253"/>
            <a:chOff x="5515036" y="1062209"/>
            <a:chExt cx="88438" cy="5013253"/>
          </a:xfrm>
        </p:grpSpPr>
        <p:pic>
          <p:nvPicPr>
            <p:cNvPr id="1048" name="Google Shape;1048;p7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15036" y="1062209"/>
              <a:ext cx="88438" cy="50132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" name="Google Shape;1049;p72"/>
            <p:cNvSpPr/>
            <p:nvPr/>
          </p:nvSpPr>
          <p:spPr>
            <a:xfrm>
              <a:off x="5562600" y="1066799"/>
              <a:ext cx="0" cy="4959350"/>
            </a:xfrm>
            <a:custGeom>
              <a:rect b="b" l="l" r="r" t="t"/>
              <a:pathLst>
                <a:path extrusionOk="0" h="4959350" w="120000">
                  <a:moveTo>
                    <a:pt x="0" y="0"/>
                  </a:moveTo>
                  <a:lnTo>
                    <a:pt x="0" y="4959350"/>
                  </a:lnTo>
                </a:path>
              </a:pathLst>
            </a:custGeom>
            <a:noFill/>
            <a:ln cap="flat" cmpd="sng" w="38100">
              <a:solidFill>
                <a:srgbClr val="F795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50" name="Google Shape;1050;p72"/>
          <p:cNvSpPr txBox="1"/>
          <p:nvPr/>
        </p:nvSpPr>
        <p:spPr>
          <a:xfrm>
            <a:off x="6099050" y="970575"/>
            <a:ext cx="6018300" cy="51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Four cases of	 Zero-crossing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{+,-}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{+,0,-}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{-,+}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{-,0,+}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14062"/>
              </a:lnSpc>
              <a:spcBef>
                <a:spcPts val="359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Slope of	zero-crossing {a,-b} is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355600" rtl="0" algn="l">
              <a:lnSpc>
                <a:spcPct val="114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|a + b|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To detect edge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Compute slope of	zero-crossings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00AF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Apply a threshold on the slope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1" name="Google Shape;1051;p7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2" name="Google Shape;1052;p72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7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8" name="Google Shape;1058;p7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059" name="Google Shape;105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5053" y="1371600"/>
            <a:ext cx="5892546" cy="3031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454" y="1600200"/>
            <a:ext cx="4368546" cy="2179321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73"/>
          <p:cNvSpPr txBox="1"/>
          <p:nvPr/>
        </p:nvSpPr>
        <p:spPr>
          <a:xfrm>
            <a:off x="1399539" y="4052316"/>
            <a:ext cx="13260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LoG in 1-D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73"/>
          <p:cNvSpPr txBox="1"/>
          <p:nvPr/>
        </p:nvSpPr>
        <p:spPr>
          <a:xfrm>
            <a:off x="243840" y="4225544"/>
            <a:ext cx="104586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0025">
            <a:spAutoFit/>
          </a:bodyPr>
          <a:lstStyle/>
          <a:p>
            <a:pPr indent="0" lvl="0" marL="0" marR="177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DoG in 1-D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Noto Sans Symbols"/>
              <a:buChar char="▪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Convolve the image with two Gaussian of	different sigma, and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Noto Sans Symbols"/>
              <a:buChar char="▪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Take the difference to get the edge map</a:t>
            </a:r>
            <a:endParaRPr sz="11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3" name="Google Shape;1063;p73"/>
          <p:cNvSpPr txBox="1"/>
          <p:nvPr>
            <p:ph idx="4294967295" type="title"/>
          </p:nvPr>
        </p:nvSpPr>
        <p:spPr>
          <a:xfrm>
            <a:off x="0" y="-75450"/>
            <a:ext cx="12192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35" rtl="0" algn="ctr">
              <a:lnSpc>
                <a:spcPct val="119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Georgia"/>
                <a:ea typeface="Georgia"/>
                <a:cs typeface="Georgia"/>
                <a:sym typeface="Georgia"/>
              </a:rPr>
              <a:t>DoG Operator: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9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Georgia"/>
                <a:ea typeface="Georgia"/>
                <a:cs typeface="Georgia"/>
                <a:sym typeface="Georgia"/>
              </a:rPr>
              <a:t>Fast approximation of	LoG by Difference of Gaussians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64" name="Google Shape;1064;p7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5" name="Google Shape;1065;p7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6" name="Google Shape;1066;p7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1067" name="Google Shape;1067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13" y="5724950"/>
            <a:ext cx="6548164" cy="6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7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3" name="Google Shape;1073;p7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4" name="Google Shape;1074;p7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5" name="Google Shape;1075;p74"/>
          <p:cNvSpPr txBox="1"/>
          <p:nvPr/>
        </p:nvSpPr>
        <p:spPr>
          <a:xfrm>
            <a:off x="2945850" y="2874900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76" name="Google Shape;1076;p7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7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2" name="Google Shape;1082;p75"/>
          <p:cNvSpPr txBox="1"/>
          <p:nvPr>
            <p:ph idx="4294967295" type="title"/>
          </p:nvPr>
        </p:nvSpPr>
        <p:spPr>
          <a:xfrm>
            <a:off x="0" y="1372350"/>
            <a:ext cx="12192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Georgia"/>
                <a:ea typeface="Georgia"/>
                <a:cs typeface="Georgia"/>
                <a:sym typeface="Georgia"/>
              </a:rPr>
              <a:t>Edge Detection</a:t>
            </a:r>
            <a:endParaRPr sz="6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3" name="Google Shape;1083;p75"/>
          <p:cNvSpPr txBox="1"/>
          <p:nvPr/>
        </p:nvSpPr>
        <p:spPr>
          <a:xfrm>
            <a:off x="3554999" y="3750589"/>
            <a:ext cx="50820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89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1F5F"/>
                </a:solidFill>
                <a:latin typeface="Georgia"/>
                <a:ea typeface="Georgia"/>
                <a:cs typeface="Georgia"/>
                <a:sym typeface="Georgia"/>
              </a:rPr>
              <a:t>Part - 4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None/>
            </a:pPr>
            <a:r>
              <a:rPr i="1" lang="en-US" sz="4400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Canny Edge Detection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4" name="Google Shape;1084;p75"/>
          <p:cNvSpPr txBox="1"/>
          <p:nvPr/>
        </p:nvSpPr>
        <p:spPr>
          <a:xfrm>
            <a:off x="1484102" y="3176700"/>
            <a:ext cx="92238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Extraction of High Level Features from Images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5" name="Google Shape;1085;p7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6" name="Google Shape;1086;p7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7" name="Google Shape;1087;p7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7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3" name="Google Shape;1093;p7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4" name="Google Shape;1094;p7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7375E"/>
                </a:solidFill>
                <a:latin typeface="Georgia"/>
                <a:ea typeface="Georgia"/>
                <a:cs typeface="Georgia"/>
                <a:sym typeface="Georgia"/>
              </a:rPr>
              <a:t>Recap of what we discussed on </a:t>
            </a:r>
            <a:r>
              <a:rPr lang="en-US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Edge Detection</a:t>
            </a:r>
            <a:endParaRPr/>
          </a:p>
        </p:txBody>
      </p:sp>
      <p:sp>
        <p:nvSpPr>
          <p:cNvPr id="1095" name="Google Shape;1095;p76"/>
          <p:cNvSpPr txBox="1"/>
          <p:nvPr/>
        </p:nvSpPr>
        <p:spPr>
          <a:xfrm>
            <a:off x="662954" y="1195025"/>
            <a:ext cx="10108800" cy="28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17375E"/>
                </a:solidFill>
                <a:latin typeface="Georgia"/>
                <a:ea typeface="Georgia"/>
                <a:cs typeface="Georgia"/>
                <a:sym typeface="Georgia"/>
              </a:rPr>
              <a:t>Operators based on 1</a:t>
            </a:r>
            <a:r>
              <a:rPr baseline="30000" lang="en-US" sz="3150">
                <a:solidFill>
                  <a:srgbClr val="17375E"/>
                </a:solidFill>
                <a:latin typeface="Georgia"/>
                <a:ea typeface="Georgia"/>
                <a:cs typeface="Georgia"/>
                <a:sym typeface="Georgia"/>
              </a:rPr>
              <a:t>st </a:t>
            </a:r>
            <a:r>
              <a:rPr lang="en-US" sz="3200">
                <a:solidFill>
                  <a:srgbClr val="17375E"/>
                </a:solidFill>
                <a:latin typeface="Georgia"/>
                <a:ea typeface="Georgia"/>
                <a:cs typeface="Georgia"/>
                <a:sym typeface="Georgia"/>
              </a:rPr>
              <a:t>order derivatives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17375E"/>
                </a:solidFill>
                <a:latin typeface="Georgia"/>
                <a:ea typeface="Georgia"/>
                <a:cs typeface="Georgia"/>
                <a:sym typeface="Georgia"/>
              </a:rPr>
              <a:t>Operators based on 2</a:t>
            </a:r>
            <a:r>
              <a:rPr baseline="30000" lang="en-US" sz="3150">
                <a:solidFill>
                  <a:srgbClr val="17375E"/>
                </a:solidFill>
                <a:latin typeface="Georgia"/>
                <a:ea typeface="Georgia"/>
                <a:cs typeface="Georgia"/>
                <a:sym typeface="Georgia"/>
              </a:rPr>
              <a:t>nd </a:t>
            </a:r>
            <a:r>
              <a:rPr lang="en-US" sz="3200">
                <a:solidFill>
                  <a:srgbClr val="17375E"/>
                </a:solidFill>
                <a:latin typeface="Georgia"/>
                <a:ea typeface="Georgia"/>
                <a:cs typeface="Georgia"/>
                <a:sym typeface="Georgia"/>
              </a:rPr>
              <a:t>order derivative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17375E"/>
                </a:solidFill>
                <a:latin typeface="Georgia"/>
                <a:ea typeface="Georgia"/>
                <a:cs typeface="Georgia"/>
                <a:sym typeface="Georgia"/>
              </a:rPr>
              <a:t>Edge detection in noisy images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797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17375E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17375E"/>
                </a:solidFill>
                <a:latin typeface="Georgia"/>
                <a:ea typeface="Georgia"/>
                <a:cs typeface="Georgia"/>
                <a:sym typeface="Georgia"/>
              </a:rPr>
              <a:t>LoG Operator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797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17375E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17375E"/>
                </a:solidFill>
                <a:latin typeface="Georgia"/>
                <a:ea typeface="Georgia"/>
                <a:cs typeface="Georgia"/>
                <a:sym typeface="Georgia"/>
              </a:rPr>
              <a:t>DoG Operator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6" name="Google Shape;1096;p7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7" name="Google Shape;1097;p7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8" name="Google Shape;1098;p7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7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4" name="Google Shape;1104;p7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5" name="Google Shape;1105;p7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Quick Recap: 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Operators based on 1</a:t>
            </a:r>
            <a:r>
              <a:rPr baseline="30000" lang="en-US" sz="3600">
                <a:latin typeface="Georgia"/>
                <a:ea typeface="Georgia"/>
                <a:cs typeface="Georgia"/>
                <a:sym typeface="Georgia"/>
              </a:rPr>
              <a:t>st 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Order Differences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06" name="Google Shape;1106;p77"/>
          <p:cNvSpPr txBox="1"/>
          <p:nvPr/>
        </p:nvSpPr>
        <p:spPr>
          <a:xfrm>
            <a:off x="328376" y="5846225"/>
            <a:ext cx="115824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We look for </a:t>
            </a:r>
            <a:r>
              <a:rPr lang="en-US" sz="30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high gradient points</a:t>
            </a:r>
            <a:r>
              <a:rPr lang="en-US" sz="3000" u="none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 to detect edge in these operators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07" name="Google Shape;1107;p7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8" name="Google Shape;1108;p7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9" name="Google Shape;1109;p7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1110" name="Google Shape;111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086450"/>
            <a:ext cx="8852916" cy="475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7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6" name="Google Shape;1116;p7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7" name="Google Shape;1117;p7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Quick Recap: 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Operators Based on 2</a:t>
            </a:r>
            <a:r>
              <a:rPr baseline="30000" lang="en-US" sz="3600">
                <a:latin typeface="Georgia"/>
                <a:ea typeface="Georgia"/>
                <a:cs typeface="Georgia"/>
                <a:sym typeface="Georgia"/>
              </a:rPr>
              <a:t>nd 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Order Differences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18" name="Google Shape;1118;p78"/>
          <p:cNvSpPr txBox="1"/>
          <p:nvPr/>
        </p:nvSpPr>
        <p:spPr>
          <a:xfrm>
            <a:off x="634751" y="4902300"/>
            <a:ext cx="11340300" cy="14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3606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Detection of </a:t>
            </a:r>
            <a:r>
              <a:rPr lang="en-US" sz="30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zero-crossings </a:t>
            </a:r>
            <a:r>
              <a:rPr lang="en-US" sz="3000" u="none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in the second order differences captures local maxima in the gradient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Edge detection is carried out by locating these </a:t>
            </a:r>
            <a:r>
              <a:rPr lang="en-US" sz="30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zero-crossings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19" name="Google Shape;1119;p78"/>
          <p:cNvSpPr txBox="1"/>
          <p:nvPr/>
        </p:nvSpPr>
        <p:spPr>
          <a:xfrm>
            <a:off x="662952" y="982725"/>
            <a:ext cx="4750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Laplacian operator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0" name="Google Shape;1120;p7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1" name="Google Shape;1121;p7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2" name="Google Shape;1122;p7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1123" name="Google Shape;112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1313" y="1750800"/>
            <a:ext cx="4189376" cy="25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7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9" name="Google Shape;1129;p7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0" name="Google Shape;1130;p7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Quick Recap: 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Edge Detection in Noisy Images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1" name="Google Shape;1131;p79"/>
          <p:cNvSpPr txBox="1"/>
          <p:nvPr/>
        </p:nvSpPr>
        <p:spPr>
          <a:xfrm>
            <a:off x="688340" y="4216514"/>
            <a:ext cx="10669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However, it should be noted that noise smoothing, typically by the </a:t>
            </a:r>
            <a:r>
              <a:rPr lang="en-US" sz="32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use of a Gaussian function</a:t>
            </a:r>
            <a:r>
              <a:rPr lang="en-US" sz="3200" u="none"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3200" u="sng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causes blurring or smearing </a:t>
            </a:r>
            <a:r>
              <a:rPr lang="en-US" sz="3200" u="none">
                <a:latin typeface="Georgia"/>
                <a:ea typeface="Georgia"/>
                <a:cs typeface="Georgia"/>
                <a:sym typeface="Georgia"/>
              </a:rPr>
              <a:t>of the edge information or gradient values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2" name="Google Shape;1132;p79"/>
          <p:cNvSpPr txBox="1"/>
          <p:nvPr/>
        </p:nvSpPr>
        <p:spPr>
          <a:xfrm>
            <a:off x="6299453" y="2827020"/>
            <a:ext cx="1930500" cy="3696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2609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Edge Detection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79"/>
          <p:cNvSpPr txBox="1"/>
          <p:nvPr/>
        </p:nvSpPr>
        <p:spPr>
          <a:xfrm>
            <a:off x="1828800" y="2827020"/>
            <a:ext cx="1422900" cy="3696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Input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79"/>
          <p:cNvSpPr/>
          <p:nvPr/>
        </p:nvSpPr>
        <p:spPr>
          <a:xfrm>
            <a:off x="3251834" y="2934461"/>
            <a:ext cx="508000" cy="171450"/>
          </a:xfrm>
          <a:custGeom>
            <a:rect b="b" l="l" r="r" t="t"/>
            <a:pathLst>
              <a:path extrusionOk="0" h="171450" w="508000">
                <a:moveTo>
                  <a:pt x="336041" y="0"/>
                </a:moveTo>
                <a:lnTo>
                  <a:pt x="336041" y="171450"/>
                </a:lnTo>
                <a:lnTo>
                  <a:pt x="450341" y="114300"/>
                </a:lnTo>
                <a:lnTo>
                  <a:pt x="364616" y="114300"/>
                </a:lnTo>
                <a:lnTo>
                  <a:pt x="364616" y="57150"/>
                </a:lnTo>
                <a:lnTo>
                  <a:pt x="450341" y="57150"/>
                </a:lnTo>
                <a:lnTo>
                  <a:pt x="336041" y="0"/>
                </a:lnTo>
                <a:close/>
              </a:path>
              <a:path extrusionOk="0" h="171450" w="508000">
                <a:moveTo>
                  <a:pt x="336041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336041" y="114300"/>
                </a:lnTo>
                <a:lnTo>
                  <a:pt x="336041" y="57150"/>
                </a:lnTo>
                <a:close/>
              </a:path>
              <a:path extrusionOk="0" h="171450" w="508000">
                <a:moveTo>
                  <a:pt x="450341" y="57150"/>
                </a:moveTo>
                <a:lnTo>
                  <a:pt x="364616" y="57150"/>
                </a:lnTo>
                <a:lnTo>
                  <a:pt x="364616" y="114300"/>
                </a:lnTo>
                <a:lnTo>
                  <a:pt x="450341" y="114300"/>
                </a:lnTo>
                <a:lnTo>
                  <a:pt x="507491" y="85725"/>
                </a:lnTo>
                <a:lnTo>
                  <a:pt x="450341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5" name="Google Shape;1135;p79"/>
          <p:cNvSpPr/>
          <p:nvPr/>
        </p:nvSpPr>
        <p:spPr>
          <a:xfrm>
            <a:off x="8229981" y="2934461"/>
            <a:ext cx="508634" cy="171450"/>
          </a:xfrm>
          <a:custGeom>
            <a:rect b="b" l="l" r="r" t="t"/>
            <a:pathLst>
              <a:path extrusionOk="0" h="171450" w="508634">
                <a:moveTo>
                  <a:pt x="336803" y="0"/>
                </a:moveTo>
                <a:lnTo>
                  <a:pt x="336803" y="171450"/>
                </a:lnTo>
                <a:lnTo>
                  <a:pt x="451103" y="114300"/>
                </a:lnTo>
                <a:lnTo>
                  <a:pt x="365378" y="114300"/>
                </a:lnTo>
                <a:lnTo>
                  <a:pt x="365378" y="57150"/>
                </a:lnTo>
                <a:lnTo>
                  <a:pt x="451103" y="57150"/>
                </a:lnTo>
                <a:lnTo>
                  <a:pt x="336803" y="0"/>
                </a:lnTo>
                <a:close/>
              </a:path>
              <a:path extrusionOk="0" h="171450" w="508634">
                <a:moveTo>
                  <a:pt x="336803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336803" y="114300"/>
                </a:lnTo>
                <a:lnTo>
                  <a:pt x="336803" y="57150"/>
                </a:lnTo>
                <a:close/>
              </a:path>
              <a:path extrusionOk="0" h="171450" w="508634">
                <a:moveTo>
                  <a:pt x="451103" y="57150"/>
                </a:moveTo>
                <a:lnTo>
                  <a:pt x="365378" y="57150"/>
                </a:lnTo>
                <a:lnTo>
                  <a:pt x="365378" y="114300"/>
                </a:lnTo>
                <a:lnTo>
                  <a:pt x="451103" y="114300"/>
                </a:lnTo>
                <a:lnTo>
                  <a:pt x="508253" y="85725"/>
                </a:lnTo>
                <a:lnTo>
                  <a:pt x="451103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6" name="Google Shape;1136;p79"/>
          <p:cNvSpPr txBox="1"/>
          <p:nvPr/>
        </p:nvSpPr>
        <p:spPr>
          <a:xfrm>
            <a:off x="3758946" y="2715005"/>
            <a:ext cx="2032500" cy="6699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-49529" lvl="0" marL="562610" marR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Smoothing operation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7" name="Google Shape;1137;p79"/>
          <p:cNvGrpSpPr/>
          <p:nvPr/>
        </p:nvGrpSpPr>
        <p:grpSpPr>
          <a:xfrm>
            <a:off x="3556634" y="2438780"/>
            <a:ext cx="2743581" cy="1219200"/>
            <a:chOff x="3556634" y="2438780"/>
            <a:chExt cx="2743581" cy="1219200"/>
          </a:xfrm>
        </p:grpSpPr>
        <p:sp>
          <p:nvSpPr>
            <p:cNvPr id="1138" name="Google Shape;1138;p79"/>
            <p:cNvSpPr/>
            <p:nvPr/>
          </p:nvSpPr>
          <p:spPr>
            <a:xfrm>
              <a:off x="5791580" y="2934461"/>
              <a:ext cx="508635" cy="171450"/>
            </a:xfrm>
            <a:custGeom>
              <a:rect b="b" l="l" r="r" t="t"/>
              <a:pathLst>
                <a:path extrusionOk="0" h="171450" w="508635">
                  <a:moveTo>
                    <a:pt x="336804" y="0"/>
                  </a:moveTo>
                  <a:lnTo>
                    <a:pt x="336804" y="171450"/>
                  </a:lnTo>
                  <a:lnTo>
                    <a:pt x="451104" y="114300"/>
                  </a:lnTo>
                  <a:lnTo>
                    <a:pt x="365379" y="114300"/>
                  </a:lnTo>
                  <a:lnTo>
                    <a:pt x="365379" y="57150"/>
                  </a:lnTo>
                  <a:lnTo>
                    <a:pt x="451104" y="57150"/>
                  </a:lnTo>
                  <a:lnTo>
                    <a:pt x="336804" y="0"/>
                  </a:lnTo>
                  <a:close/>
                </a:path>
                <a:path extrusionOk="0" h="171450" w="508635">
                  <a:moveTo>
                    <a:pt x="336804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336804" y="114300"/>
                  </a:lnTo>
                  <a:lnTo>
                    <a:pt x="336804" y="57150"/>
                  </a:lnTo>
                  <a:close/>
                </a:path>
                <a:path extrusionOk="0" h="171450" w="508635">
                  <a:moveTo>
                    <a:pt x="451104" y="57150"/>
                  </a:moveTo>
                  <a:lnTo>
                    <a:pt x="365379" y="57150"/>
                  </a:lnTo>
                  <a:lnTo>
                    <a:pt x="365379" y="114300"/>
                  </a:lnTo>
                  <a:lnTo>
                    <a:pt x="451104" y="114300"/>
                  </a:lnTo>
                  <a:lnTo>
                    <a:pt x="508254" y="85725"/>
                  </a:lnTo>
                  <a:lnTo>
                    <a:pt x="451104" y="571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9" name="Google Shape;1139;p79"/>
            <p:cNvSpPr/>
            <p:nvPr/>
          </p:nvSpPr>
          <p:spPr>
            <a:xfrm>
              <a:off x="3556634" y="2438780"/>
              <a:ext cx="2336800" cy="1219200"/>
            </a:xfrm>
            <a:custGeom>
              <a:rect b="b" l="l" r="r" t="t"/>
              <a:pathLst>
                <a:path extrusionOk="0" h="1219200" w="2336800">
                  <a:moveTo>
                    <a:pt x="0" y="609600"/>
                  </a:moveTo>
                  <a:lnTo>
                    <a:pt x="6422" y="545288"/>
                  </a:lnTo>
                  <a:lnTo>
                    <a:pt x="25261" y="482907"/>
                  </a:lnTo>
                  <a:lnTo>
                    <a:pt x="55868" y="422791"/>
                  </a:lnTo>
                  <a:lnTo>
                    <a:pt x="97599" y="365279"/>
                  </a:lnTo>
                  <a:lnTo>
                    <a:pt x="149808" y="310707"/>
                  </a:lnTo>
                  <a:lnTo>
                    <a:pt x="179640" y="284629"/>
                  </a:lnTo>
                  <a:lnTo>
                    <a:pt x="211850" y="259412"/>
                  </a:lnTo>
                  <a:lnTo>
                    <a:pt x="246355" y="235099"/>
                  </a:lnTo>
                  <a:lnTo>
                    <a:pt x="283077" y="211731"/>
                  </a:lnTo>
                  <a:lnTo>
                    <a:pt x="321934" y="189352"/>
                  </a:lnTo>
                  <a:lnTo>
                    <a:pt x="362845" y="168002"/>
                  </a:lnTo>
                  <a:lnTo>
                    <a:pt x="405730" y="147725"/>
                  </a:lnTo>
                  <a:lnTo>
                    <a:pt x="450507" y="128561"/>
                  </a:lnTo>
                  <a:lnTo>
                    <a:pt x="497097" y="110554"/>
                  </a:lnTo>
                  <a:lnTo>
                    <a:pt x="545419" y="93746"/>
                  </a:lnTo>
                  <a:lnTo>
                    <a:pt x="595391" y="78178"/>
                  </a:lnTo>
                  <a:lnTo>
                    <a:pt x="646933" y="63893"/>
                  </a:lnTo>
                  <a:lnTo>
                    <a:pt x="699965" y="50932"/>
                  </a:lnTo>
                  <a:lnTo>
                    <a:pt x="754405" y="39339"/>
                  </a:lnTo>
                  <a:lnTo>
                    <a:pt x="810173" y="29155"/>
                  </a:lnTo>
                  <a:lnTo>
                    <a:pt x="867188" y="20422"/>
                  </a:lnTo>
                  <a:lnTo>
                    <a:pt x="925370" y="13182"/>
                  </a:lnTo>
                  <a:lnTo>
                    <a:pt x="984637" y="7478"/>
                  </a:lnTo>
                  <a:lnTo>
                    <a:pt x="1044909" y="3351"/>
                  </a:lnTo>
                  <a:lnTo>
                    <a:pt x="1106106" y="844"/>
                  </a:lnTo>
                  <a:lnTo>
                    <a:pt x="1168145" y="0"/>
                  </a:lnTo>
                  <a:lnTo>
                    <a:pt x="1230185" y="844"/>
                  </a:lnTo>
                  <a:lnTo>
                    <a:pt x="1291382" y="3351"/>
                  </a:lnTo>
                  <a:lnTo>
                    <a:pt x="1351654" y="7478"/>
                  </a:lnTo>
                  <a:lnTo>
                    <a:pt x="1410921" y="13182"/>
                  </a:lnTo>
                  <a:lnTo>
                    <a:pt x="1469103" y="20422"/>
                  </a:lnTo>
                  <a:lnTo>
                    <a:pt x="1526118" y="29155"/>
                  </a:lnTo>
                  <a:lnTo>
                    <a:pt x="1581886" y="39339"/>
                  </a:lnTo>
                  <a:lnTo>
                    <a:pt x="1636326" y="50932"/>
                  </a:lnTo>
                  <a:lnTo>
                    <a:pt x="1689358" y="63893"/>
                  </a:lnTo>
                  <a:lnTo>
                    <a:pt x="1740900" y="78178"/>
                  </a:lnTo>
                  <a:lnTo>
                    <a:pt x="1790872" y="93746"/>
                  </a:lnTo>
                  <a:lnTo>
                    <a:pt x="1839194" y="110554"/>
                  </a:lnTo>
                  <a:lnTo>
                    <a:pt x="1885784" y="128561"/>
                  </a:lnTo>
                  <a:lnTo>
                    <a:pt x="1930561" y="147725"/>
                  </a:lnTo>
                  <a:lnTo>
                    <a:pt x="1973446" y="168002"/>
                  </a:lnTo>
                  <a:lnTo>
                    <a:pt x="2014357" y="189352"/>
                  </a:lnTo>
                  <a:lnTo>
                    <a:pt x="2053214" y="211731"/>
                  </a:lnTo>
                  <a:lnTo>
                    <a:pt x="2089936" y="235099"/>
                  </a:lnTo>
                  <a:lnTo>
                    <a:pt x="2124441" y="259412"/>
                  </a:lnTo>
                  <a:lnTo>
                    <a:pt x="2156651" y="284629"/>
                  </a:lnTo>
                  <a:lnTo>
                    <a:pt x="2186483" y="310707"/>
                  </a:lnTo>
                  <a:lnTo>
                    <a:pt x="2213856" y="337604"/>
                  </a:lnTo>
                  <a:lnTo>
                    <a:pt x="2260907" y="393688"/>
                  </a:lnTo>
                  <a:lnTo>
                    <a:pt x="2297158" y="452545"/>
                  </a:lnTo>
                  <a:lnTo>
                    <a:pt x="2321961" y="513835"/>
                  </a:lnTo>
                  <a:lnTo>
                    <a:pt x="2334672" y="577224"/>
                  </a:lnTo>
                  <a:lnTo>
                    <a:pt x="2336291" y="609600"/>
                  </a:lnTo>
                  <a:lnTo>
                    <a:pt x="2334672" y="641975"/>
                  </a:lnTo>
                  <a:lnTo>
                    <a:pt x="2321961" y="705364"/>
                  </a:lnTo>
                  <a:lnTo>
                    <a:pt x="2297158" y="766654"/>
                  </a:lnTo>
                  <a:lnTo>
                    <a:pt x="2260907" y="825511"/>
                  </a:lnTo>
                  <a:lnTo>
                    <a:pt x="2213856" y="881595"/>
                  </a:lnTo>
                  <a:lnTo>
                    <a:pt x="2186483" y="908492"/>
                  </a:lnTo>
                  <a:lnTo>
                    <a:pt x="2156651" y="934570"/>
                  </a:lnTo>
                  <a:lnTo>
                    <a:pt x="2124441" y="959787"/>
                  </a:lnTo>
                  <a:lnTo>
                    <a:pt x="2089936" y="984100"/>
                  </a:lnTo>
                  <a:lnTo>
                    <a:pt x="2053214" y="1007468"/>
                  </a:lnTo>
                  <a:lnTo>
                    <a:pt x="2014357" y="1029847"/>
                  </a:lnTo>
                  <a:lnTo>
                    <a:pt x="1973446" y="1051197"/>
                  </a:lnTo>
                  <a:lnTo>
                    <a:pt x="1930561" y="1071474"/>
                  </a:lnTo>
                  <a:lnTo>
                    <a:pt x="1885784" y="1090638"/>
                  </a:lnTo>
                  <a:lnTo>
                    <a:pt x="1839194" y="1108645"/>
                  </a:lnTo>
                  <a:lnTo>
                    <a:pt x="1790872" y="1125453"/>
                  </a:lnTo>
                  <a:lnTo>
                    <a:pt x="1740900" y="1141021"/>
                  </a:lnTo>
                  <a:lnTo>
                    <a:pt x="1689358" y="1155306"/>
                  </a:lnTo>
                  <a:lnTo>
                    <a:pt x="1636326" y="1168267"/>
                  </a:lnTo>
                  <a:lnTo>
                    <a:pt x="1581886" y="1179860"/>
                  </a:lnTo>
                  <a:lnTo>
                    <a:pt x="1526118" y="1190044"/>
                  </a:lnTo>
                  <a:lnTo>
                    <a:pt x="1469103" y="1198777"/>
                  </a:lnTo>
                  <a:lnTo>
                    <a:pt x="1410921" y="1206017"/>
                  </a:lnTo>
                  <a:lnTo>
                    <a:pt x="1351654" y="1211721"/>
                  </a:lnTo>
                  <a:lnTo>
                    <a:pt x="1291382" y="1215848"/>
                  </a:lnTo>
                  <a:lnTo>
                    <a:pt x="1230185" y="1218355"/>
                  </a:lnTo>
                  <a:lnTo>
                    <a:pt x="1168145" y="1219200"/>
                  </a:lnTo>
                  <a:lnTo>
                    <a:pt x="1106106" y="1218355"/>
                  </a:lnTo>
                  <a:lnTo>
                    <a:pt x="1044909" y="1215848"/>
                  </a:lnTo>
                  <a:lnTo>
                    <a:pt x="984637" y="1211721"/>
                  </a:lnTo>
                  <a:lnTo>
                    <a:pt x="925370" y="1206017"/>
                  </a:lnTo>
                  <a:lnTo>
                    <a:pt x="867188" y="1198777"/>
                  </a:lnTo>
                  <a:lnTo>
                    <a:pt x="810173" y="1190044"/>
                  </a:lnTo>
                  <a:lnTo>
                    <a:pt x="754405" y="1179860"/>
                  </a:lnTo>
                  <a:lnTo>
                    <a:pt x="699965" y="1168267"/>
                  </a:lnTo>
                  <a:lnTo>
                    <a:pt x="646933" y="1155306"/>
                  </a:lnTo>
                  <a:lnTo>
                    <a:pt x="595391" y="1141021"/>
                  </a:lnTo>
                  <a:lnTo>
                    <a:pt x="545419" y="1125453"/>
                  </a:lnTo>
                  <a:lnTo>
                    <a:pt x="497097" y="1108645"/>
                  </a:lnTo>
                  <a:lnTo>
                    <a:pt x="450507" y="1090638"/>
                  </a:lnTo>
                  <a:lnTo>
                    <a:pt x="405730" y="1071474"/>
                  </a:lnTo>
                  <a:lnTo>
                    <a:pt x="362845" y="1051197"/>
                  </a:lnTo>
                  <a:lnTo>
                    <a:pt x="321934" y="1029847"/>
                  </a:lnTo>
                  <a:lnTo>
                    <a:pt x="283077" y="1007468"/>
                  </a:lnTo>
                  <a:lnTo>
                    <a:pt x="246355" y="984100"/>
                  </a:lnTo>
                  <a:lnTo>
                    <a:pt x="211850" y="959787"/>
                  </a:lnTo>
                  <a:lnTo>
                    <a:pt x="179640" y="934570"/>
                  </a:lnTo>
                  <a:lnTo>
                    <a:pt x="149808" y="908492"/>
                  </a:lnTo>
                  <a:lnTo>
                    <a:pt x="122435" y="881595"/>
                  </a:lnTo>
                  <a:lnTo>
                    <a:pt x="75384" y="825511"/>
                  </a:lnTo>
                  <a:lnTo>
                    <a:pt x="39133" y="766654"/>
                  </a:lnTo>
                  <a:lnTo>
                    <a:pt x="14330" y="705364"/>
                  </a:lnTo>
                  <a:lnTo>
                    <a:pt x="1619" y="641975"/>
                  </a:lnTo>
                  <a:lnTo>
                    <a:pt x="0" y="6096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40" name="Google Shape;1140;p79"/>
          <p:cNvSpPr txBox="1"/>
          <p:nvPr/>
        </p:nvSpPr>
        <p:spPr>
          <a:xfrm>
            <a:off x="688340" y="988059"/>
            <a:ext cx="95319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To overcome the effect of	noise, we perform smoothing operation before edge detection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41" name="Google Shape;1141;p79"/>
          <p:cNvSpPr txBox="1"/>
          <p:nvPr/>
        </p:nvSpPr>
        <p:spPr>
          <a:xfrm>
            <a:off x="8737854" y="2829305"/>
            <a:ext cx="1320900" cy="369000"/>
          </a:xfrm>
          <a:prstGeom prst="rect">
            <a:avLst/>
          </a:prstGeom>
          <a:noFill/>
          <a:ln cap="flat" cmpd="sng" w="28575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0" lvl="0" marL="1968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Edge Map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7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3" name="Google Shape;1143;p7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4" name="Google Shape;1144;p7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0" name="Google Shape;1150;p8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1" name="Google Shape;1151;p8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Quick Recap: 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Edge Detection in Noisy Images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52" name="Google Shape;1152;p80"/>
          <p:cNvSpPr txBox="1"/>
          <p:nvPr/>
        </p:nvSpPr>
        <p:spPr>
          <a:xfrm>
            <a:off x="688340" y="962158"/>
            <a:ext cx="7006500" cy="36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Laplacian of	Gaussian function (LoG)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Also called </a:t>
            </a:r>
            <a:r>
              <a:rPr i="1" lang="en-US" sz="2800" u="sng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Marr-Hildreth operator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Two Operations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Smoothing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Applying Laplacian operator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Or generate the combined mask of	LoG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DoG Operator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153" name="Google Shape;1153;p80"/>
          <p:cNvGrpSpPr/>
          <p:nvPr/>
        </p:nvGrpSpPr>
        <p:grpSpPr>
          <a:xfrm>
            <a:off x="7409688" y="1072050"/>
            <a:ext cx="3662170" cy="2280750"/>
            <a:chOff x="7409688" y="1072050"/>
            <a:chExt cx="3662170" cy="2280750"/>
          </a:xfrm>
        </p:grpSpPr>
        <p:pic>
          <p:nvPicPr>
            <p:cNvPr id="1154" name="Google Shape;1154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09688" y="1072050"/>
              <a:ext cx="1957205" cy="120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5" name="Google Shape;1155;p8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853677" y="2133600"/>
              <a:ext cx="2218181" cy="1219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56" name="Google Shape;1156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51263" y="3653034"/>
            <a:ext cx="2176879" cy="1195567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8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8" name="Google Shape;1158;p8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9" name="Google Shape;1159;p8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8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5" name="Google Shape;1165;p8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6" name="Google Shape;1166;p8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Agenda for Today’s Class</a:t>
            </a:r>
            <a:endParaRPr/>
          </a:p>
        </p:txBody>
      </p:sp>
      <p:sp>
        <p:nvSpPr>
          <p:cNvPr id="1167" name="Google Shape;1167;p81"/>
          <p:cNvSpPr txBox="1"/>
          <p:nvPr/>
        </p:nvSpPr>
        <p:spPr>
          <a:xfrm>
            <a:off x="305177" y="1397075"/>
            <a:ext cx="6846000" cy="11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8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Edge detection in noisy images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1" lang="en-US" sz="2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Canny edge detection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68" name="Google Shape;1168;p8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9" name="Google Shape;1169;p8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0" name="Google Shape;1170;p8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8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176" name="Google Shape;1176;p82"/>
          <p:cNvGrpSpPr/>
          <p:nvPr/>
        </p:nvGrpSpPr>
        <p:grpSpPr>
          <a:xfrm>
            <a:off x="305181" y="966216"/>
            <a:ext cx="11582400" cy="5463540"/>
            <a:chOff x="305181" y="966216"/>
            <a:chExt cx="11582400" cy="5463540"/>
          </a:xfrm>
        </p:grpSpPr>
        <p:sp>
          <p:nvSpPr>
            <p:cNvPr id="1177" name="Google Shape;1177;p82"/>
            <p:cNvSpPr/>
            <p:nvPr/>
          </p:nvSpPr>
          <p:spPr>
            <a:xfrm>
              <a:off x="305181" y="974979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400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178" name="Google Shape;1178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87602" y="966216"/>
              <a:ext cx="3870198" cy="2902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9" name="Google Shape;1179;p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43144" y="966216"/>
              <a:ext cx="3867910" cy="2900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0" name="Google Shape;1180;p8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71600" y="3878580"/>
              <a:ext cx="3886200" cy="25496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1" name="Google Shape;1181;p8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343144" y="3878580"/>
              <a:ext cx="3886200" cy="25511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2" name="Google Shape;1182;p82"/>
          <p:cNvSpPr txBox="1"/>
          <p:nvPr/>
        </p:nvSpPr>
        <p:spPr>
          <a:xfrm>
            <a:off x="9361423" y="5157215"/>
            <a:ext cx="2023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Sobel output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3" name="Google Shape;1183;p82"/>
          <p:cNvSpPr txBox="1"/>
          <p:nvPr/>
        </p:nvSpPr>
        <p:spPr>
          <a:xfrm>
            <a:off x="9342628" y="2060955"/>
            <a:ext cx="2025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Sobel output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4" name="Google Shape;1184;p8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Normally, edge operators use </a:t>
            </a:r>
            <a:r>
              <a:rPr b="1" lang="en-US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one threshold </a:t>
            </a:r>
            <a:r>
              <a:rPr b="1" lang="en-US" sz="2800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for whole image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5" name="Google Shape;1185;p8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6" name="Google Shape;1186;p8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7" name="Google Shape;1187;p8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8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3" name="Google Shape;1193;p8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4" name="Google Shape;1194;p8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Canny Edge Detection</a:t>
            </a:r>
            <a:endParaRPr/>
          </a:p>
        </p:txBody>
      </p:sp>
      <p:sp>
        <p:nvSpPr>
          <p:cNvPr id="1195" name="Google Shape;1195;p83"/>
          <p:cNvSpPr/>
          <p:nvPr/>
        </p:nvSpPr>
        <p:spPr>
          <a:xfrm>
            <a:off x="4343400" y="5634990"/>
            <a:ext cx="95250" cy="19050"/>
          </a:xfrm>
          <a:custGeom>
            <a:rect b="b" l="l" r="r" t="t"/>
            <a:pathLst>
              <a:path extrusionOk="0" h="19050" w="95250">
                <a:moveTo>
                  <a:pt x="95250" y="0"/>
                </a:moveTo>
                <a:lnTo>
                  <a:pt x="0" y="0"/>
                </a:lnTo>
                <a:lnTo>
                  <a:pt x="0" y="19050"/>
                </a:lnTo>
                <a:lnTo>
                  <a:pt x="95250" y="19050"/>
                </a:lnTo>
                <a:lnTo>
                  <a:pt x="952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6" name="Google Shape;1196;p83"/>
          <p:cNvSpPr txBox="1"/>
          <p:nvPr/>
        </p:nvSpPr>
        <p:spPr>
          <a:xfrm>
            <a:off x="349651" y="1074775"/>
            <a:ext cx="11582400" cy="4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-336550" lvl="0" marL="355600" marR="812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Noto Sans Symbols"/>
              <a:buChar char="▪"/>
            </a:pPr>
            <a:r>
              <a:rPr lang="en-US" sz="2900">
                <a:latin typeface="Georgia"/>
                <a:ea typeface="Georgia"/>
                <a:cs typeface="Georgia"/>
                <a:sym typeface="Georgia"/>
              </a:rPr>
              <a:t>Canny in 1986 suggested an optimal operator, which uses the </a:t>
            </a:r>
            <a:r>
              <a:rPr lang="en-US" sz="29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Gaussian smoothing and the derivative function together</a:t>
            </a:r>
            <a:endParaRPr sz="2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Noto Sans Symbols"/>
              <a:buNone/>
            </a:pPr>
            <a:r>
              <a:t/>
            </a:r>
            <a:endParaRPr sz="2900"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355600" marR="3848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Noto Sans Symbols"/>
              <a:buChar char="▪"/>
            </a:pPr>
            <a:r>
              <a:rPr lang="en-US" sz="2900">
                <a:latin typeface="Georgia"/>
                <a:ea typeface="Georgia"/>
                <a:cs typeface="Georgia"/>
                <a:sym typeface="Georgia"/>
              </a:rPr>
              <a:t>He proved that the </a:t>
            </a:r>
            <a:r>
              <a:rPr lang="en-US" sz="29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first derivative of the Gaussian </a:t>
            </a:r>
            <a:r>
              <a:rPr lang="en-US" sz="2900" u="non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function</a:t>
            </a:r>
            <a:r>
              <a:rPr lang="en-US" sz="2900" u="none">
                <a:latin typeface="Georgia"/>
                <a:ea typeface="Georgia"/>
                <a:cs typeface="Georgia"/>
                <a:sym typeface="Georgia"/>
              </a:rPr>
              <a:t>, is a good approximation to his optimal operator</a:t>
            </a:r>
            <a:endParaRPr sz="2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Noto Sans Symbols"/>
              <a:buNone/>
            </a:pPr>
            <a:r>
              <a:t/>
            </a:r>
            <a:endParaRPr sz="2900"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Noto Sans Symbols"/>
              <a:buChar char="▪"/>
            </a:pPr>
            <a:r>
              <a:rPr lang="en-US" sz="2900">
                <a:latin typeface="Georgia"/>
                <a:ea typeface="Georgia"/>
                <a:cs typeface="Georgia"/>
                <a:sym typeface="Georgia"/>
              </a:rPr>
              <a:t>It </a:t>
            </a:r>
            <a:r>
              <a:rPr lang="en-US" sz="29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combines both the derivative and smoothing properties </a:t>
            </a:r>
            <a:r>
              <a:rPr lang="en-US" sz="2900" u="none">
                <a:latin typeface="Georgia"/>
                <a:ea typeface="Georgia"/>
                <a:cs typeface="Georgia"/>
                <a:sym typeface="Georgia"/>
              </a:rPr>
              <a:t>in a nice way to obtain good edges</a:t>
            </a:r>
            <a:endParaRPr sz="2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Noto Sans Symbols"/>
              <a:buNone/>
            </a:pPr>
            <a:r>
              <a:t/>
            </a:r>
            <a:endParaRPr sz="2900"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355600" marR="1600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Noto Sans Symbols"/>
              <a:buChar char="▪"/>
            </a:pPr>
            <a:r>
              <a:rPr lang="en-US" sz="2900">
                <a:latin typeface="Georgia"/>
                <a:ea typeface="Georgia"/>
                <a:cs typeface="Georgia"/>
                <a:sym typeface="Georgia"/>
              </a:rPr>
              <a:t>Canny also talks of	a </a:t>
            </a:r>
            <a:r>
              <a:rPr lang="en-US" sz="29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hysteresis based thresholding strategy</a:t>
            </a:r>
            <a:r>
              <a:rPr lang="en-US" sz="2900" u="non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900" u="none">
                <a:latin typeface="Georgia"/>
                <a:ea typeface="Georgia"/>
                <a:cs typeface="Georgia"/>
                <a:sym typeface="Georgia"/>
              </a:rPr>
              <a:t>for marking the edges from the gradient values (</a:t>
            </a:r>
            <a:r>
              <a:rPr i="1" lang="en-US" sz="2900" u="none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use of	two thresholds</a:t>
            </a:r>
            <a:r>
              <a:rPr lang="en-US" sz="2900" u="none">
                <a:latin typeface="Georgia"/>
                <a:ea typeface="Georgia"/>
                <a:cs typeface="Georgia"/>
                <a:sym typeface="Georgia"/>
              </a:rPr>
              <a:t>)</a:t>
            </a:r>
            <a:endParaRPr sz="2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7" name="Google Shape;1197;p8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8" name="Google Shape;1198;p8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9" name="Google Shape;1199;p8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8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05" name="Google Shape;1205;p8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06" name="Google Shape;1206;p8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Canny Edge Detector</a:t>
            </a:r>
            <a:endParaRPr/>
          </a:p>
        </p:txBody>
      </p:sp>
      <p:sp>
        <p:nvSpPr>
          <p:cNvPr id="1207" name="Google Shape;1207;p84"/>
          <p:cNvSpPr txBox="1"/>
          <p:nvPr/>
        </p:nvSpPr>
        <p:spPr>
          <a:xfrm>
            <a:off x="688340" y="1133602"/>
            <a:ext cx="10076100" cy="45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b="1" lang="en-US" sz="4000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It is an optimal edge detector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b="1" lang="en-US" sz="4000">
                <a:latin typeface="Georgia"/>
                <a:ea typeface="Georgia"/>
                <a:cs typeface="Georgia"/>
                <a:sym typeface="Georgia"/>
              </a:rPr>
              <a:t>An "optimal" edge detector means: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  <a:p>
            <a:pPr indent="-285750" lvl="1" marL="755650" marR="508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CC3300"/>
              </a:buClr>
              <a:buSzPts val="3200"/>
              <a:buFont typeface="Arial"/>
              <a:buChar char="–"/>
            </a:pPr>
            <a:r>
              <a:rPr i="1" lang="en-US" sz="3200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Good detection 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- the algorithm should mark </a:t>
            </a:r>
            <a:r>
              <a:rPr b="1" lang="en-US" sz="3200" u="sng">
                <a:latin typeface="Georgia"/>
                <a:ea typeface="Georgia"/>
                <a:cs typeface="Georgia"/>
                <a:sym typeface="Georgia"/>
              </a:rPr>
              <a:t>as many real</a:t>
            </a:r>
            <a:r>
              <a:rPr b="1" lang="en-US" sz="3200" u="none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3200" u="sng">
                <a:latin typeface="Georgia"/>
                <a:ea typeface="Georgia"/>
                <a:cs typeface="Georgia"/>
                <a:sym typeface="Georgia"/>
              </a:rPr>
              <a:t>edges</a:t>
            </a:r>
            <a:r>
              <a:rPr b="1" lang="en-US" sz="3200" u="none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u="none">
                <a:latin typeface="Georgia"/>
                <a:ea typeface="Georgia"/>
                <a:cs typeface="Georgia"/>
                <a:sym typeface="Georgia"/>
              </a:rPr>
              <a:t>in the image as possible.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1" marL="0" rtl="0" algn="l">
              <a:lnSpc>
                <a:spcPct val="100000"/>
              </a:lnSpc>
              <a:spcBef>
                <a:spcPts val="1739"/>
              </a:spcBef>
              <a:spcAft>
                <a:spcPts val="0"/>
              </a:spcAft>
              <a:buClr>
                <a:srgbClr val="CC3300"/>
              </a:buClr>
              <a:buSzPts val="3200"/>
              <a:buFont typeface="Arial"/>
              <a:buNone/>
            </a:pPr>
            <a:r>
              <a:t/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85750" lvl="1" marL="755650" marR="3613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3200"/>
              <a:buFont typeface="Arial"/>
              <a:buChar char="–"/>
            </a:pPr>
            <a:r>
              <a:rPr i="1" lang="en-US" sz="3200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Good localization 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- edges marked should be </a:t>
            </a:r>
            <a:r>
              <a:rPr b="1" lang="en-US" sz="3200" u="sng">
                <a:latin typeface="Georgia"/>
                <a:ea typeface="Georgia"/>
                <a:cs typeface="Georgia"/>
                <a:sym typeface="Georgia"/>
              </a:rPr>
              <a:t>as close as</a:t>
            </a:r>
            <a:r>
              <a:rPr b="1" lang="en-US" sz="3200" u="none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3200" u="sng">
                <a:latin typeface="Georgia"/>
                <a:ea typeface="Georgia"/>
                <a:cs typeface="Georgia"/>
                <a:sym typeface="Georgia"/>
              </a:rPr>
              <a:t>possible</a:t>
            </a:r>
            <a:r>
              <a:rPr b="1" lang="en-US" sz="3200" u="none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u="none">
                <a:latin typeface="Georgia"/>
                <a:ea typeface="Georgia"/>
                <a:cs typeface="Georgia"/>
                <a:sym typeface="Georgia"/>
              </a:rPr>
              <a:t>to the edge in the real image.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08" name="Google Shape;1208;p8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9" name="Google Shape;1209;p8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0" name="Google Shape;1210;p8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8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6" name="Google Shape;1216;p8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7" name="Google Shape;1217;p8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Canny Edge Detection</a:t>
            </a:r>
            <a:endParaRPr/>
          </a:p>
        </p:txBody>
      </p:sp>
      <p:sp>
        <p:nvSpPr>
          <p:cNvPr id="1218" name="Google Shape;1218;p85"/>
          <p:cNvSpPr txBox="1"/>
          <p:nvPr/>
        </p:nvSpPr>
        <p:spPr>
          <a:xfrm>
            <a:off x="295652" y="1012275"/>
            <a:ext cx="11582400" cy="20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latin typeface="Georgia"/>
                <a:ea typeface="Georgia"/>
                <a:cs typeface="Georgia"/>
                <a:sym typeface="Georgia"/>
              </a:rPr>
              <a:t>Canny’s algorithm for edge detection:</a:t>
            </a:r>
            <a:endParaRPr sz="27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81000" marR="30480" rtl="0" algn="l">
              <a:lnSpc>
                <a:spcPct val="95925"/>
              </a:lnSpc>
              <a:spcBef>
                <a:spcPts val="63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Detect an edge, where simultaneously the following conditions are satisfied:</a:t>
            </a:r>
            <a:endParaRPr sz="27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7978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∇</a:t>
            </a:r>
            <a:r>
              <a:rPr baseline="30000"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G*f = 0 and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79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∇</a:t>
            </a:r>
            <a:r>
              <a:rPr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G*f reaches a maximum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9" name="Google Shape;1219;p8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0" name="Google Shape;1220;p8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1" name="Google Shape;1221;p8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1222" name="Google Shape;122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5" y="3062175"/>
            <a:ext cx="11735148" cy="324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8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8" name="Google Shape;1228;p8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9" name="Google Shape;1229;p8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Canny Edge Detector</a:t>
            </a:r>
            <a:endParaRPr/>
          </a:p>
        </p:txBody>
      </p:sp>
      <p:sp>
        <p:nvSpPr>
          <p:cNvPr id="1230" name="Google Shape;1230;p86"/>
          <p:cNvSpPr txBox="1"/>
          <p:nvPr/>
        </p:nvSpPr>
        <p:spPr>
          <a:xfrm>
            <a:off x="688351" y="1079175"/>
            <a:ext cx="11145600" cy="4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0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Canny edge detector detects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weak edges, </a:t>
            </a:r>
            <a:r>
              <a:rPr i="1" lang="en-US" sz="36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as well as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strong edges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Uses </a:t>
            </a:r>
            <a:r>
              <a:rPr lang="en-US" sz="40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two threshold values </a:t>
            </a:r>
            <a:r>
              <a:rPr lang="en-US" sz="4000" u="none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to detect weak and strong edges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31" name="Google Shape;1231;p8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2" name="Google Shape;1232;p8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3" name="Google Shape;1233;p8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8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39" name="Google Shape;1239;p8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0" name="Google Shape;1240;p8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Steps in Canny Edge Detector</a:t>
            </a:r>
            <a:endParaRPr/>
          </a:p>
        </p:txBody>
      </p:sp>
      <p:sp>
        <p:nvSpPr>
          <p:cNvPr id="1241" name="Google Shape;1241;p87"/>
          <p:cNvSpPr txBox="1"/>
          <p:nvPr/>
        </p:nvSpPr>
        <p:spPr>
          <a:xfrm>
            <a:off x="688351" y="1155375"/>
            <a:ext cx="112758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0325">
            <a:spAutoFit/>
          </a:bodyPr>
          <a:lstStyle/>
          <a:p>
            <a:pPr indent="-3295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Noto Sans Symbols"/>
              <a:buChar char="▪"/>
            </a:pPr>
            <a:r>
              <a:rPr lang="en-US" sz="3800">
                <a:latin typeface="Georgia"/>
                <a:ea typeface="Georgia"/>
                <a:cs typeface="Georgia"/>
                <a:sym typeface="Georgia"/>
              </a:rPr>
              <a:t>Stages of the Canny algorithm</a:t>
            </a:r>
            <a:endParaRPr sz="3800"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755650" marR="101600" rtl="0" algn="l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1" lang="en-US" sz="3400" u="sng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Noise reduction</a:t>
            </a:r>
            <a:r>
              <a:rPr b="1" lang="en-US" sz="3400" u="none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n-US" sz="3400" u="none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raw image is convolved with a Gaussian filter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400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Finding the intensity </a:t>
            </a:r>
            <a:r>
              <a:rPr b="1" lang="en-US" sz="3400" u="sng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gradient of	the image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1" lang="en-US" sz="3400" u="sng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Non-maximum suppression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19861"/>
              </a:lnSpc>
              <a:spcBef>
                <a:spcPts val="85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400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Tracing edges through the image and </a:t>
            </a:r>
            <a:r>
              <a:rPr b="1" lang="en-US" sz="3400" u="sng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hysteresis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  <a:p>
            <a:pPr indent="0" lvl="0" marL="755650" rtl="0" algn="l">
              <a:lnSpc>
                <a:spcPct val="1198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u="sng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thresholding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42" name="Google Shape;1242;p8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3" name="Google Shape;1243;p8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4" name="Google Shape;1244;p8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8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0" name="Google Shape;1250;p8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1" name="Google Shape;1251;p8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Stages of	the Canny algorithm</a:t>
            </a:r>
            <a:endParaRPr/>
          </a:p>
        </p:txBody>
      </p:sp>
      <p:sp>
        <p:nvSpPr>
          <p:cNvPr id="1252" name="Google Shape;1252;p88"/>
          <p:cNvSpPr txBox="1"/>
          <p:nvPr/>
        </p:nvSpPr>
        <p:spPr>
          <a:xfrm>
            <a:off x="383550" y="1055525"/>
            <a:ext cx="11504100" cy="53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-342265" lvl="0" marL="354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1" lang="en-US" sz="2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Step 1: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Noise reduction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raw image is </a:t>
            </a:r>
            <a:r>
              <a:rPr lang="en-US" sz="2400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convolved with a Gaussian filter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1" lang="en-US" sz="2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Step 2: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Finding the </a:t>
            </a:r>
            <a:r>
              <a:rPr lang="en-US" sz="2800" u="sng">
                <a:latin typeface="Georgia"/>
                <a:ea typeface="Georgia"/>
                <a:cs typeface="Georgia"/>
                <a:sym typeface="Georgia"/>
              </a:rPr>
              <a:t>intensity gradient</a:t>
            </a:r>
            <a:r>
              <a:rPr lang="en-US" sz="2800" u="none">
                <a:latin typeface="Georgia"/>
                <a:ea typeface="Georgia"/>
                <a:cs typeface="Georgia"/>
                <a:sym typeface="Georgia"/>
              </a:rPr>
              <a:t> of	the image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Intensity gradient is estimated from the smoothed image using simple horizontal 	and vertical difference operators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305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3366FF"/>
              </a:buClr>
              <a:buSzPts val="2400"/>
              <a:buFont typeface="Arial"/>
              <a:buChar char="–"/>
            </a:pPr>
            <a:r>
              <a:rPr lang="en-US" sz="2400" u="sng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Gradient direction </a:t>
            </a:r>
            <a:r>
              <a:rPr lang="en-US" sz="2400" u="none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together with the </a:t>
            </a:r>
            <a:r>
              <a:rPr lang="en-US" sz="2400" u="sng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gradient magnitude</a:t>
            </a:r>
            <a:r>
              <a:rPr lang="en-US" sz="2400" u="none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u="none">
                <a:latin typeface="Georgia"/>
                <a:ea typeface="Georgia"/>
                <a:cs typeface="Georgia"/>
                <a:sym typeface="Georgia"/>
              </a:rPr>
              <a:t>then gives an estimated 	intensity gradient at each point in the image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Canny algorithm uses </a:t>
            </a:r>
            <a:r>
              <a:rPr lang="en-US" sz="2400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both gradient magnitude and direction </a:t>
            </a: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in the edge detection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3" name="Google Shape;1253;p8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4" name="Google Shape;1254;p8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5" name="Google Shape;1255;p8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8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61" name="Google Shape;1261;p8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62" name="Google Shape;1262;p8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Stages of	the Canny algorithm</a:t>
            </a:r>
            <a:endParaRPr/>
          </a:p>
        </p:txBody>
      </p:sp>
      <p:sp>
        <p:nvSpPr>
          <p:cNvPr id="1263" name="Google Shape;1263;p89"/>
          <p:cNvSpPr txBox="1"/>
          <p:nvPr/>
        </p:nvSpPr>
        <p:spPr>
          <a:xfrm>
            <a:off x="383551" y="1147025"/>
            <a:ext cx="11504100" cy="48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7300">
            <a:spAutoFit/>
          </a:bodyPr>
          <a:lstStyle/>
          <a:p>
            <a:pPr indent="-3295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Noto Sans Symbols"/>
              <a:buChar char="▪"/>
            </a:pPr>
            <a:r>
              <a:rPr b="1" lang="en-US" sz="4200">
                <a:latin typeface="Georgia"/>
                <a:ea typeface="Georgia"/>
                <a:cs typeface="Georgia"/>
                <a:sym typeface="Georgia"/>
              </a:rPr>
              <a:t>Notes:</a:t>
            </a:r>
            <a:endParaRPr sz="42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Smoothing and derivative applied separately</a:t>
            </a:r>
            <a:r>
              <a:rPr lang="en-US" sz="3800">
                <a:latin typeface="Georgia"/>
                <a:ea typeface="Georgia"/>
                <a:cs typeface="Georgia"/>
                <a:sym typeface="Georgia"/>
              </a:rPr>
              <a:t>:</a:t>
            </a:r>
            <a:endParaRPr sz="3800">
              <a:latin typeface="Georgia"/>
              <a:ea typeface="Georgia"/>
              <a:cs typeface="Georgia"/>
              <a:sym typeface="Georgia"/>
            </a:endParaRPr>
          </a:p>
          <a:p>
            <a:pPr indent="-215265" lvl="1" marL="1154430" marR="5080" rtl="0" algn="l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US" sz="3000" u="sng">
                <a:latin typeface="Georgia"/>
                <a:ea typeface="Georgia"/>
                <a:cs typeface="Georgia"/>
                <a:sym typeface="Georgia"/>
              </a:rPr>
              <a:t>when applied separately</a:t>
            </a:r>
            <a:r>
              <a:rPr lang="en-US" sz="3000" u="none">
                <a:latin typeface="Georgia"/>
                <a:ea typeface="Georgia"/>
                <a:cs typeface="Georgia"/>
                <a:sym typeface="Georgia"/>
              </a:rPr>
              <a:t>, it does not produce good results 	under noisy conditions. This is because, </a:t>
            </a:r>
            <a:r>
              <a:rPr lang="en-US" sz="3000" u="sng">
                <a:latin typeface="Georgia"/>
                <a:ea typeface="Georgia"/>
                <a:cs typeface="Georgia"/>
                <a:sym typeface="Georgia"/>
              </a:rPr>
              <a:t>one opposes the</a:t>
            </a: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000" u="sng">
                <a:latin typeface="Georgia"/>
                <a:ea typeface="Georgia"/>
                <a:cs typeface="Georgia"/>
                <a:sym typeface="Georgia"/>
              </a:rPr>
              <a:t>other</a:t>
            </a:r>
            <a:r>
              <a:rPr lang="en-US" sz="3000" u="none">
                <a:latin typeface="Georgia"/>
                <a:ea typeface="Georgia"/>
                <a:cs typeface="Georgia"/>
                <a:sym typeface="Georgia"/>
              </a:rPr>
              <a:t>.</a:t>
            </a:r>
            <a:endParaRPr sz="3000" u="none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Smoothing and derivative applied together</a:t>
            </a:r>
            <a:r>
              <a:rPr lang="en-US" sz="3800">
                <a:latin typeface="Georgia"/>
                <a:ea typeface="Georgia"/>
                <a:cs typeface="Georgia"/>
                <a:sym typeface="Georgia"/>
              </a:rPr>
              <a:t>:</a:t>
            </a:r>
            <a:endParaRPr sz="3800">
              <a:latin typeface="Georgia"/>
              <a:ea typeface="Georgia"/>
              <a:cs typeface="Georgia"/>
              <a:sym typeface="Georgia"/>
            </a:endParaRPr>
          </a:p>
          <a:p>
            <a:pPr indent="-215264" lvl="1" marL="1155065" rtl="0" algn="l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when combined together, it produces the desired output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4" name="Google Shape;1264;p8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5" name="Google Shape;1265;p8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6" name="Google Shape;1266;p8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9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2" name="Google Shape;1272;p9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3" name="Google Shape;1273;p9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Stages of	the Canny algorithm</a:t>
            </a:r>
            <a:endParaRPr/>
          </a:p>
        </p:txBody>
      </p:sp>
      <p:sp>
        <p:nvSpPr>
          <p:cNvPr id="1274" name="Google Shape;1274;p90"/>
          <p:cNvSpPr txBox="1"/>
          <p:nvPr/>
        </p:nvSpPr>
        <p:spPr>
          <a:xfrm>
            <a:off x="383551" y="1216650"/>
            <a:ext cx="11504100" cy="4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Step 3: </a:t>
            </a:r>
            <a:r>
              <a:rPr b="1" lang="en-US" sz="3200">
                <a:latin typeface="Georgia"/>
                <a:ea typeface="Georgia"/>
                <a:cs typeface="Georgia"/>
                <a:sym typeface="Georgia"/>
              </a:rPr>
              <a:t>Non-maximum suppression: 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After the estimation of the image gradients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marR="767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A search is carried out to determine if	the gradient magnitude 	assumes a </a:t>
            </a:r>
            <a:r>
              <a:rPr lang="en-US" sz="2800" u="sng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local maximum in the gradient direction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marR="236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From this stage, referred to as non-maximum suppression, a set of 	</a:t>
            </a:r>
            <a:r>
              <a:rPr lang="en-US" sz="2800" u="sng">
                <a:latin typeface="Georgia"/>
                <a:ea typeface="Georgia"/>
                <a:cs typeface="Georgia"/>
                <a:sym typeface="Georgia"/>
              </a:rPr>
              <a:t>edge points in the form of	a binary image</a:t>
            </a:r>
            <a:r>
              <a:rPr lang="en-US" sz="2800" u="none">
                <a:latin typeface="Georgia"/>
                <a:ea typeface="Georgia"/>
                <a:cs typeface="Georgia"/>
                <a:sym typeface="Georgia"/>
              </a:rPr>
              <a:t> are obtained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Output of	this stage is sometimes referred to as </a:t>
            </a:r>
            <a:r>
              <a:rPr lang="en-US" sz="2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thin edges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5" name="Google Shape;1275;p9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6" name="Google Shape;1276;p9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7" name="Google Shape;1277;p9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9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3" name="Google Shape;1283;p9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4" name="Google Shape;1284;p9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Stages of	the Canny algorithm</a:t>
            </a:r>
            <a:endParaRPr/>
          </a:p>
        </p:txBody>
      </p:sp>
      <p:sp>
        <p:nvSpPr>
          <p:cNvPr id="1285" name="Google Shape;1285;p91"/>
          <p:cNvSpPr txBox="1"/>
          <p:nvPr/>
        </p:nvSpPr>
        <p:spPr>
          <a:xfrm>
            <a:off x="307352" y="1118475"/>
            <a:ext cx="11582400" cy="49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50"/>
              <a:buFont typeface="Noto Sans Symbols"/>
              <a:buChar char="▪"/>
            </a:pPr>
            <a:r>
              <a:rPr b="1" lang="en-US" sz="33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Step 4: Hysteresis</a:t>
            </a:r>
            <a:endParaRPr sz="33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Tracing edges through the hysteresis thresholding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1" marL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Arial"/>
              <a:buChar char="–"/>
            </a:pPr>
            <a:r>
              <a:rPr lang="en-US" sz="3100">
                <a:latin typeface="Georgia"/>
                <a:ea typeface="Georgia"/>
                <a:cs typeface="Georgia"/>
                <a:sym typeface="Georgia"/>
              </a:rPr>
              <a:t>If only one threshold is used</a:t>
            </a:r>
            <a:endParaRPr sz="3100">
              <a:latin typeface="Georgia"/>
              <a:ea typeface="Georgia"/>
              <a:cs typeface="Georgia"/>
              <a:sym typeface="Georgia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Large threshold: gives </a:t>
            </a:r>
            <a:r>
              <a:rPr lang="en-US" sz="2800">
                <a:solidFill>
                  <a:srgbClr val="943735"/>
                </a:solidFill>
                <a:latin typeface="Georgia"/>
                <a:ea typeface="Georgia"/>
                <a:cs typeface="Georgia"/>
                <a:sym typeface="Georgia"/>
              </a:rPr>
              <a:t>true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edges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Small threshold: gives </a:t>
            </a:r>
            <a:r>
              <a:rPr lang="en-US" sz="2800">
                <a:solidFill>
                  <a:srgbClr val="943735"/>
                </a:solidFill>
                <a:latin typeface="Georgia"/>
                <a:ea typeface="Georgia"/>
                <a:cs typeface="Georgia"/>
                <a:sym typeface="Georgia"/>
              </a:rPr>
              <a:t>false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edges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2" marL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Canny algorithm </a:t>
            </a:r>
            <a:r>
              <a:rPr lang="en-US" sz="2800" u="sng">
                <a:solidFill>
                  <a:srgbClr val="943735"/>
                </a:solidFill>
                <a:latin typeface="Georgia"/>
                <a:ea typeface="Georgia"/>
                <a:cs typeface="Georgia"/>
                <a:sym typeface="Georgia"/>
              </a:rPr>
              <a:t>does not use same threshold</a:t>
            </a:r>
            <a:r>
              <a:rPr lang="en-US" sz="2800" u="none">
                <a:solidFill>
                  <a:srgbClr val="94373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u="none">
                <a:latin typeface="Georgia"/>
                <a:ea typeface="Georgia"/>
                <a:cs typeface="Georgia"/>
                <a:sym typeface="Georgia"/>
              </a:rPr>
              <a:t>for whole image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1" marL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3000"/>
              <a:buFont typeface="Arial"/>
              <a:buChar char="–"/>
            </a:pPr>
            <a:r>
              <a:rPr lang="en-US" sz="3000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It does thresholding with </a:t>
            </a:r>
            <a:r>
              <a:rPr b="1" lang="en-US" sz="3000" u="sng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hysteresis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6" name="Google Shape;1286;p9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7" name="Google Shape;1287;p9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8" name="Google Shape;1288;p9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9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4" name="Google Shape;1294;p9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5" name="Google Shape;1295;p9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Stages of the Canny algorithm</a:t>
            </a:r>
            <a:endParaRPr/>
          </a:p>
        </p:txBody>
      </p:sp>
      <p:sp>
        <p:nvSpPr>
          <p:cNvPr id="1296" name="Google Shape;1296;p92"/>
          <p:cNvSpPr txBox="1"/>
          <p:nvPr/>
        </p:nvSpPr>
        <p:spPr>
          <a:xfrm>
            <a:off x="307351" y="1137075"/>
            <a:ext cx="1158240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Thresholding with </a:t>
            </a:r>
            <a:r>
              <a:rPr lang="en-US" sz="2800">
                <a:solidFill>
                  <a:srgbClr val="3366FF"/>
                </a:solidFill>
                <a:latin typeface="Georgia"/>
                <a:ea typeface="Georgia"/>
                <a:cs typeface="Georgia"/>
                <a:sym typeface="Georgia"/>
              </a:rPr>
              <a:t>hysteresis requires two thresholds - high and low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342900" lvl="1" marL="75565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Use the high threshold </a:t>
            </a:r>
            <a:r>
              <a:rPr lang="en-US" sz="2400" u="sng">
                <a:latin typeface="Georgia"/>
                <a:ea typeface="Georgia"/>
                <a:cs typeface="Georgia"/>
                <a:sym typeface="Georgia"/>
              </a:rPr>
              <a:t>to start edge curves</a:t>
            </a:r>
            <a:r>
              <a:rPr lang="en-US" sz="2400" u="none">
                <a:latin typeface="Georgia"/>
                <a:ea typeface="Georgia"/>
                <a:cs typeface="Georgia"/>
                <a:sym typeface="Georgia"/>
              </a:rPr>
              <a:t> and the </a:t>
            </a:r>
            <a:r>
              <a:rPr lang="en-US" sz="2400" u="sng">
                <a:latin typeface="Georgia"/>
                <a:ea typeface="Georgia"/>
                <a:cs typeface="Georgia"/>
                <a:sym typeface="Georgia"/>
              </a:rPr>
              <a:t>low threshold to continue</a:t>
            </a:r>
            <a:r>
              <a:rPr lang="en-US" sz="2400" u="none">
                <a:latin typeface="Georgia"/>
                <a:ea typeface="Georgia"/>
                <a:cs typeface="Georgia"/>
                <a:sym typeface="Georgia"/>
              </a:rPr>
              <a:t> them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We begin by applying a high threshold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This marks out the edges we can be </a:t>
            </a:r>
            <a:r>
              <a:rPr lang="en-US" sz="2400" u="sng">
                <a:solidFill>
                  <a:srgbClr val="00AFEF"/>
                </a:solidFill>
                <a:latin typeface="Georgia"/>
                <a:ea typeface="Georgia"/>
                <a:cs typeface="Georgia"/>
                <a:sym typeface="Georgia"/>
              </a:rPr>
              <a:t>fairly sure </a:t>
            </a:r>
            <a:r>
              <a:rPr lang="en-US" sz="2400" u="none">
                <a:latin typeface="Georgia"/>
                <a:ea typeface="Georgia"/>
                <a:cs typeface="Georgia"/>
                <a:sym typeface="Georgia"/>
              </a:rPr>
              <a:t>are </a:t>
            </a:r>
            <a:r>
              <a:rPr b="1" lang="en-US" sz="2400" u="sng">
                <a:latin typeface="Georgia"/>
                <a:ea typeface="Georgia"/>
                <a:cs typeface="Georgia"/>
                <a:sym typeface="Georgia"/>
              </a:rPr>
              <a:t>genuine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55600" marR="438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Starting </a:t>
            </a:r>
            <a:r>
              <a:rPr lang="en-US" sz="2800" u="sng">
                <a:solidFill>
                  <a:srgbClr val="548ED4"/>
                </a:solidFill>
                <a:latin typeface="Georgia"/>
                <a:ea typeface="Georgia"/>
                <a:cs typeface="Georgia"/>
                <a:sym typeface="Georgia"/>
              </a:rPr>
              <a:t>from these strong edge points</a:t>
            </a:r>
            <a:r>
              <a:rPr lang="en-US" sz="2800" u="none">
                <a:latin typeface="Georgia"/>
                <a:ea typeface="Georgia"/>
                <a:cs typeface="Georgia"/>
                <a:sym typeface="Georgia"/>
              </a:rPr>
              <a:t>, using the directional information derived earlier, </a:t>
            </a:r>
            <a:r>
              <a:rPr lang="en-US" sz="2800" u="sng">
                <a:solidFill>
                  <a:srgbClr val="CC3300"/>
                </a:solidFill>
                <a:latin typeface="Georgia"/>
                <a:ea typeface="Georgia"/>
                <a:cs typeface="Georgia"/>
                <a:sym typeface="Georgia"/>
              </a:rPr>
              <a:t>edges can be traced through the image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55600" marR="2393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While tracing an edge, we apply the lower threshold, allowing us to </a:t>
            </a:r>
            <a:r>
              <a:rPr lang="en-US" sz="28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trace faint sections</a:t>
            </a:r>
            <a:r>
              <a:rPr lang="en-US" sz="2800" u="none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u="none">
                <a:latin typeface="Georgia"/>
                <a:ea typeface="Georgia"/>
                <a:cs typeface="Georgia"/>
                <a:sym typeface="Georgia"/>
              </a:rPr>
              <a:t>of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u="none">
                <a:latin typeface="Georgia"/>
                <a:ea typeface="Georgia"/>
                <a:cs typeface="Georgia"/>
                <a:sym typeface="Georgia"/>
              </a:rPr>
              <a:t>edges as long as we find a starting point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7" name="Google Shape;1297;p9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8" name="Google Shape;1298;p9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9" name="Google Shape;1299;p9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9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5" name="Google Shape;1305;p9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306" name="Google Shape;1306;p93"/>
          <p:cNvGrpSpPr/>
          <p:nvPr/>
        </p:nvGrpSpPr>
        <p:grpSpPr>
          <a:xfrm>
            <a:off x="3588639" y="1295780"/>
            <a:ext cx="4740909" cy="767080"/>
            <a:chOff x="3588639" y="1295780"/>
            <a:chExt cx="4740909" cy="767080"/>
          </a:xfrm>
        </p:grpSpPr>
        <p:sp>
          <p:nvSpPr>
            <p:cNvPr id="1307" name="Google Shape;1307;p93"/>
            <p:cNvSpPr/>
            <p:nvPr/>
          </p:nvSpPr>
          <p:spPr>
            <a:xfrm>
              <a:off x="5921121" y="1295780"/>
              <a:ext cx="76200" cy="304800"/>
            </a:xfrm>
            <a:custGeom>
              <a:rect b="b" l="l" r="r" t="t"/>
              <a:pathLst>
                <a:path extrusionOk="0" h="304800" w="76200">
                  <a:moveTo>
                    <a:pt x="31750" y="228600"/>
                  </a:moveTo>
                  <a:lnTo>
                    <a:pt x="0" y="228600"/>
                  </a:lnTo>
                  <a:lnTo>
                    <a:pt x="38100" y="304800"/>
                  </a:lnTo>
                  <a:lnTo>
                    <a:pt x="69850" y="241300"/>
                  </a:lnTo>
                  <a:lnTo>
                    <a:pt x="31750" y="241300"/>
                  </a:lnTo>
                  <a:lnTo>
                    <a:pt x="31750" y="228600"/>
                  </a:lnTo>
                  <a:close/>
                </a:path>
                <a:path extrusionOk="0" h="304800" w="76200">
                  <a:moveTo>
                    <a:pt x="44450" y="0"/>
                  </a:moveTo>
                  <a:lnTo>
                    <a:pt x="31750" y="0"/>
                  </a:lnTo>
                  <a:lnTo>
                    <a:pt x="31750" y="241300"/>
                  </a:lnTo>
                  <a:lnTo>
                    <a:pt x="44450" y="241300"/>
                  </a:lnTo>
                  <a:lnTo>
                    <a:pt x="44450" y="0"/>
                  </a:lnTo>
                  <a:close/>
                </a:path>
                <a:path extrusionOk="0" h="304800" w="76200">
                  <a:moveTo>
                    <a:pt x="76200" y="228600"/>
                  </a:moveTo>
                  <a:lnTo>
                    <a:pt x="44450" y="228600"/>
                  </a:lnTo>
                  <a:lnTo>
                    <a:pt x="44450" y="241300"/>
                  </a:lnTo>
                  <a:lnTo>
                    <a:pt x="69850" y="241300"/>
                  </a:lnTo>
                  <a:lnTo>
                    <a:pt x="76200" y="228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8" name="Google Shape;1308;p93"/>
            <p:cNvSpPr/>
            <p:nvPr/>
          </p:nvSpPr>
          <p:spPr>
            <a:xfrm>
              <a:off x="3588639" y="1600580"/>
              <a:ext cx="4740909" cy="462280"/>
            </a:xfrm>
            <a:custGeom>
              <a:rect b="b" l="l" r="r" t="t"/>
              <a:pathLst>
                <a:path extrusionOk="0" h="462280" w="4740909">
                  <a:moveTo>
                    <a:pt x="0" y="461772"/>
                  </a:moveTo>
                  <a:lnTo>
                    <a:pt x="4740401" y="461772"/>
                  </a:lnTo>
                  <a:lnTo>
                    <a:pt x="4740401" y="0"/>
                  </a:lnTo>
                  <a:lnTo>
                    <a:pt x="0" y="0"/>
                  </a:lnTo>
                  <a:lnTo>
                    <a:pt x="0" y="461772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09" name="Google Shape;1309;p93"/>
          <p:cNvSpPr txBox="1"/>
          <p:nvPr/>
        </p:nvSpPr>
        <p:spPr>
          <a:xfrm>
            <a:off x="3667505" y="1012698"/>
            <a:ext cx="4540200" cy="10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310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Original image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Smoothing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by Gaussian convolution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0" name="Google Shape;1310;p93"/>
          <p:cNvSpPr txBox="1"/>
          <p:nvPr/>
        </p:nvSpPr>
        <p:spPr>
          <a:xfrm>
            <a:off x="3281553" y="2286380"/>
            <a:ext cx="5355600" cy="46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4925">
            <a:spAutoFit/>
          </a:bodyPr>
          <a:lstStyle/>
          <a:p>
            <a:pPr indent="0" lvl="0" marL="908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Differential operators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along x and y axis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1" name="Google Shape;1311;p93"/>
          <p:cNvSpPr/>
          <p:nvPr/>
        </p:nvSpPr>
        <p:spPr>
          <a:xfrm>
            <a:off x="5921121" y="1981580"/>
            <a:ext cx="76200" cy="304800"/>
          </a:xfrm>
          <a:custGeom>
            <a:rect b="b" l="l" r="r" t="t"/>
            <a:pathLst>
              <a:path extrusionOk="0" h="304800" w="76200">
                <a:moveTo>
                  <a:pt x="31750" y="228600"/>
                </a:moveTo>
                <a:lnTo>
                  <a:pt x="0" y="228600"/>
                </a:lnTo>
                <a:lnTo>
                  <a:pt x="38100" y="304800"/>
                </a:lnTo>
                <a:lnTo>
                  <a:pt x="69850" y="241300"/>
                </a:lnTo>
                <a:lnTo>
                  <a:pt x="31750" y="241300"/>
                </a:lnTo>
                <a:lnTo>
                  <a:pt x="31750" y="228600"/>
                </a:lnTo>
                <a:close/>
              </a:path>
              <a:path extrusionOk="0" h="304800" w="76200">
                <a:moveTo>
                  <a:pt x="44450" y="0"/>
                </a:moveTo>
                <a:lnTo>
                  <a:pt x="31750" y="0"/>
                </a:lnTo>
                <a:lnTo>
                  <a:pt x="31750" y="241300"/>
                </a:lnTo>
                <a:lnTo>
                  <a:pt x="44450" y="241300"/>
                </a:lnTo>
                <a:lnTo>
                  <a:pt x="44450" y="0"/>
                </a:lnTo>
                <a:close/>
              </a:path>
              <a:path extrusionOk="0" h="304800" w="76200">
                <a:moveTo>
                  <a:pt x="76200" y="228600"/>
                </a:moveTo>
                <a:lnTo>
                  <a:pt x="44450" y="228600"/>
                </a:lnTo>
                <a:lnTo>
                  <a:pt x="44450" y="241300"/>
                </a:lnTo>
                <a:lnTo>
                  <a:pt x="69850" y="241300"/>
                </a:lnTo>
                <a:lnTo>
                  <a:pt x="76200" y="228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312" name="Google Shape;1312;p93"/>
          <p:cNvGrpSpPr/>
          <p:nvPr/>
        </p:nvGrpSpPr>
        <p:grpSpPr>
          <a:xfrm>
            <a:off x="3087242" y="2743580"/>
            <a:ext cx="5744209" cy="1828800"/>
            <a:chOff x="3087242" y="2743580"/>
            <a:chExt cx="5744209" cy="1828800"/>
          </a:xfrm>
        </p:grpSpPr>
        <p:sp>
          <p:nvSpPr>
            <p:cNvPr id="1313" name="Google Shape;1313;p93"/>
            <p:cNvSpPr/>
            <p:nvPr/>
          </p:nvSpPr>
          <p:spPr>
            <a:xfrm>
              <a:off x="3087242" y="3023234"/>
              <a:ext cx="5744209" cy="1315720"/>
            </a:xfrm>
            <a:custGeom>
              <a:rect b="b" l="l" r="r" t="t"/>
              <a:pathLst>
                <a:path extrusionOk="0" h="1315720" w="5744209">
                  <a:moveTo>
                    <a:pt x="1084326" y="707897"/>
                  </a:moveTo>
                  <a:lnTo>
                    <a:pt x="4659630" y="707897"/>
                  </a:lnTo>
                  <a:lnTo>
                    <a:pt x="4659630" y="0"/>
                  </a:lnTo>
                  <a:lnTo>
                    <a:pt x="1084326" y="0"/>
                  </a:lnTo>
                  <a:lnTo>
                    <a:pt x="1084326" y="707897"/>
                  </a:lnTo>
                  <a:close/>
                </a:path>
                <a:path extrusionOk="0" h="1315720" w="5744209">
                  <a:moveTo>
                    <a:pt x="0" y="1315212"/>
                  </a:moveTo>
                  <a:lnTo>
                    <a:pt x="5743956" y="1315212"/>
                  </a:lnTo>
                  <a:lnTo>
                    <a:pt x="5743956" y="854201"/>
                  </a:lnTo>
                  <a:lnTo>
                    <a:pt x="0" y="854201"/>
                  </a:lnTo>
                  <a:lnTo>
                    <a:pt x="0" y="1315212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4" name="Google Shape;1314;p93"/>
            <p:cNvSpPr/>
            <p:nvPr/>
          </p:nvSpPr>
          <p:spPr>
            <a:xfrm>
              <a:off x="5921121" y="2743580"/>
              <a:ext cx="76200" cy="1828800"/>
            </a:xfrm>
            <a:custGeom>
              <a:rect b="b" l="l" r="r" t="t"/>
              <a:pathLst>
                <a:path extrusionOk="0" h="1828800" w="76200">
                  <a:moveTo>
                    <a:pt x="76200" y="1752600"/>
                  </a:moveTo>
                  <a:lnTo>
                    <a:pt x="44450" y="1752600"/>
                  </a:lnTo>
                  <a:lnTo>
                    <a:pt x="44450" y="1524000"/>
                  </a:lnTo>
                  <a:lnTo>
                    <a:pt x="31750" y="1524000"/>
                  </a:lnTo>
                  <a:lnTo>
                    <a:pt x="31750" y="1752600"/>
                  </a:lnTo>
                  <a:lnTo>
                    <a:pt x="0" y="1752600"/>
                  </a:lnTo>
                  <a:lnTo>
                    <a:pt x="38100" y="1828800"/>
                  </a:lnTo>
                  <a:lnTo>
                    <a:pt x="69850" y="1765300"/>
                  </a:lnTo>
                  <a:lnTo>
                    <a:pt x="76200" y="1752600"/>
                  </a:lnTo>
                  <a:close/>
                </a:path>
                <a:path extrusionOk="0" h="1828800" w="76200">
                  <a:moveTo>
                    <a:pt x="76200" y="1143000"/>
                  </a:moveTo>
                  <a:lnTo>
                    <a:pt x="44450" y="1143000"/>
                  </a:lnTo>
                  <a:lnTo>
                    <a:pt x="44450" y="914400"/>
                  </a:lnTo>
                  <a:lnTo>
                    <a:pt x="31750" y="914400"/>
                  </a:lnTo>
                  <a:lnTo>
                    <a:pt x="31750" y="1143000"/>
                  </a:lnTo>
                  <a:lnTo>
                    <a:pt x="0" y="1143000"/>
                  </a:lnTo>
                  <a:lnTo>
                    <a:pt x="38100" y="1219200"/>
                  </a:lnTo>
                  <a:lnTo>
                    <a:pt x="69850" y="1155700"/>
                  </a:lnTo>
                  <a:lnTo>
                    <a:pt x="76200" y="1143000"/>
                  </a:lnTo>
                  <a:close/>
                </a:path>
                <a:path extrusionOk="0" h="1828800" w="76200">
                  <a:moveTo>
                    <a:pt x="76200" y="228600"/>
                  </a:moveTo>
                  <a:lnTo>
                    <a:pt x="44450" y="228600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228600"/>
                  </a:lnTo>
                  <a:lnTo>
                    <a:pt x="0" y="228600"/>
                  </a:lnTo>
                  <a:lnTo>
                    <a:pt x="38100" y="304800"/>
                  </a:lnTo>
                  <a:lnTo>
                    <a:pt x="69850" y="241300"/>
                  </a:lnTo>
                  <a:lnTo>
                    <a:pt x="76200" y="228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15" name="Google Shape;1315;p93"/>
          <p:cNvSpPr txBox="1"/>
          <p:nvPr/>
        </p:nvSpPr>
        <p:spPr>
          <a:xfrm>
            <a:off x="3117100" y="3047500"/>
            <a:ext cx="5744100" cy="17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539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Non-maximum suppression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finds peaks in the image gradient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065" marR="5080" rtl="0" algn="ctr">
              <a:lnSpc>
                <a:spcPct val="1485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065" marR="5080" rtl="0" algn="ctr">
              <a:lnSpc>
                <a:spcPct val="1485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Hysteresis thresholding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locates edge strings Edge map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6" name="Google Shape;1316;p9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Stages of the Canny algorithm</a:t>
            </a:r>
            <a:endParaRPr/>
          </a:p>
        </p:txBody>
      </p:sp>
      <p:pic>
        <p:nvPicPr>
          <p:cNvPr id="1317" name="Google Shape;1317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838" y="5029200"/>
            <a:ext cx="769658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9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9" name="Google Shape;1319;p9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0" name="Google Shape;1320;p9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9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6" name="Google Shape;1326;p9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7" name="Google Shape;1327;p9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Canny edge detector</a:t>
            </a:r>
            <a:endParaRPr/>
          </a:p>
        </p:txBody>
      </p:sp>
      <p:pic>
        <p:nvPicPr>
          <p:cNvPr id="1328" name="Google Shape;1328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0" y="1143000"/>
            <a:ext cx="5850636" cy="4387596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94"/>
          <p:cNvSpPr txBox="1"/>
          <p:nvPr/>
        </p:nvSpPr>
        <p:spPr>
          <a:xfrm>
            <a:off x="4328667" y="5646420"/>
            <a:ext cx="35349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Original image (Lena)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9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1" name="Google Shape;1331;p9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2" name="Google Shape;1332;p9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9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8" name="Google Shape;1338;p9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9" name="Google Shape;1339;p9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Canny edge detector</a:t>
            </a:r>
            <a:endParaRPr/>
          </a:p>
        </p:txBody>
      </p:sp>
      <p:pic>
        <p:nvPicPr>
          <p:cNvPr id="1340" name="Google Shape;134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0682" y="1219200"/>
            <a:ext cx="5850636" cy="4387596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95"/>
          <p:cNvSpPr txBox="1"/>
          <p:nvPr/>
        </p:nvSpPr>
        <p:spPr>
          <a:xfrm>
            <a:off x="3908805" y="5646420"/>
            <a:ext cx="4374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Magnitude of the gradient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9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3" name="Google Shape;1343;p9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4" name="Google Shape;1344;p9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9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50" name="Google Shape;1350;p9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51" name="Google Shape;1351;p9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Canny edge detector</a:t>
            </a:r>
            <a:endParaRPr/>
          </a:p>
        </p:txBody>
      </p:sp>
      <p:pic>
        <p:nvPicPr>
          <p:cNvPr id="1352" name="Google Shape;1352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0" y="1219200"/>
            <a:ext cx="5814822" cy="436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96"/>
          <p:cNvSpPr txBox="1"/>
          <p:nvPr/>
        </p:nvSpPr>
        <p:spPr>
          <a:xfrm>
            <a:off x="5012182" y="5646420"/>
            <a:ext cx="21666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Thresholding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9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5" name="Google Shape;1355;p9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6" name="Google Shape;1356;p9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97"/>
          <p:cNvSpPr txBox="1"/>
          <p:nvPr>
            <p:ph idx="4294967295" type="ctrTitle"/>
          </p:nvPr>
        </p:nvSpPr>
        <p:spPr>
          <a:xfrm>
            <a:off x="700531" y="149180"/>
            <a:ext cx="10788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77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Canny edge detector</a:t>
            </a:r>
            <a:endParaRPr/>
          </a:p>
        </p:txBody>
      </p:sp>
      <p:pic>
        <p:nvPicPr>
          <p:cNvPr id="1362" name="Google Shape;1362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0" y="1447800"/>
            <a:ext cx="5814822" cy="436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97"/>
          <p:cNvSpPr txBox="1"/>
          <p:nvPr/>
        </p:nvSpPr>
        <p:spPr>
          <a:xfrm>
            <a:off x="1607298" y="5803900"/>
            <a:ext cx="13989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Thresholding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4" name="Google Shape;1364;p97"/>
          <p:cNvGrpSpPr/>
          <p:nvPr/>
        </p:nvGrpSpPr>
        <p:grpSpPr>
          <a:xfrm>
            <a:off x="3295396" y="1148080"/>
            <a:ext cx="6608318" cy="5201920"/>
            <a:chOff x="3295396" y="1148080"/>
            <a:chExt cx="6608318" cy="5201920"/>
          </a:xfrm>
        </p:grpSpPr>
        <p:sp>
          <p:nvSpPr>
            <p:cNvPr id="1365" name="Google Shape;1365;p97"/>
            <p:cNvSpPr/>
            <p:nvPr/>
          </p:nvSpPr>
          <p:spPr>
            <a:xfrm>
              <a:off x="6436995" y="4059555"/>
              <a:ext cx="1266190" cy="1388110"/>
            </a:xfrm>
            <a:custGeom>
              <a:rect b="b" l="l" r="r" t="t"/>
              <a:pathLst>
                <a:path extrusionOk="0" h="1388110" w="1266190">
                  <a:moveTo>
                    <a:pt x="0" y="1387602"/>
                  </a:moveTo>
                  <a:lnTo>
                    <a:pt x="1265681" y="1387602"/>
                  </a:lnTo>
                  <a:lnTo>
                    <a:pt x="1265681" y="0"/>
                  </a:lnTo>
                  <a:lnTo>
                    <a:pt x="0" y="0"/>
                  </a:lnTo>
                  <a:lnTo>
                    <a:pt x="0" y="1387602"/>
                  </a:lnTo>
                  <a:close/>
                </a:path>
              </a:pathLst>
            </a:custGeom>
            <a:noFill/>
            <a:ln cap="flat" cmpd="sng" w="2537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366" name="Google Shape;1366;p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20796" y="1173480"/>
              <a:ext cx="5842254" cy="5151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7" name="Google Shape;1367;p97"/>
            <p:cNvSpPr/>
            <p:nvPr/>
          </p:nvSpPr>
          <p:spPr>
            <a:xfrm>
              <a:off x="3295396" y="1148080"/>
              <a:ext cx="5893434" cy="5201920"/>
            </a:xfrm>
            <a:custGeom>
              <a:rect b="b" l="l" r="r" t="t"/>
              <a:pathLst>
                <a:path extrusionOk="0" h="5201920" w="5893434">
                  <a:moveTo>
                    <a:pt x="0" y="5201920"/>
                  </a:moveTo>
                  <a:lnTo>
                    <a:pt x="5893054" y="5201920"/>
                  </a:lnTo>
                  <a:lnTo>
                    <a:pt x="5893054" y="0"/>
                  </a:lnTo>
                  <a:lnTo>
                    <a:pt x="0" y="0"/>
                  </a:lnTo>
                  <a:lnTo>
                    <a:pt x="0" y="5201920"/>
                  </a:lnTo>
                  <a:close/>
                </a:path>
              </a:pathLst>
            </a:custGeom>
            <a:noFill/>
            <a:ln cap="flat" cmpd="sng" w="508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8" name="Google Shape;1368;p97"/>
            <p:cNvSpPr/>
            <p:nvPr/>
          </p:nvSpPr>
          <p:spPr>
            <a:xfrm>
              <a:off x="7264019" y="3053334"/>
              <a:ext cx="2639695" cy="1696085"/>
            </a:xfrm>
            <a:custGeom>
              <a:rect b="b" l="l" r="r" t="t"/>
              <a:pathLst>
                <a:path extrusionOk="0" h="1696085" w="2639695">
                  <a:moveTo>
                    <a:pt x="93779" y="1538569"/>
                  </a:moveTo>
                  <a:lnTo>
                    <a:pt x="86502" y="1539430"/>
                  </a:lnTo>
                  <a:lnTo>
                    <a:pt x="80107" y="1542958"/>
                  </a:lnTo>
                  <a:lnTo>
                    <a:pt x="75437" y="1548891"/>
                  </a:lnTo>
                  <a:lnTo>
                    <a:pt x="0" y="1695577"/>
                  </a:lnTo>
                  <a:lnTo>
                    <a:pt x="104613" y="1691385"/>
                  </a:lnTo>
                  <a:lnTo>
                    <a:pt x="42163" y="1691385"/>
                  </a:lnTo>
                  <a:lnTo>
                    <a:pt x="21589" y="1659254"/>
                  </a:lnTo>
                  <a:lnTo>
                    <a:pt x="81150" y="1621203"/>
                  </a:lnTo>
                  <a:lnTo>
                    <a:pt x="109347" y="1566290"/>
                  </a:lnTo>
                  <a:lnTo>
                    <a:pt x="111343" y="1558978"/>
                  </a:lnTo>
                  <a:lnTo>
                    <a:pt x="110458" y="1551701"/>
                  </a:lnTo>
                  <a:lnTo>
                    <a:pt x="106953" y="1545306"/>
                  </a:lnTo>
                  <a:lnTo>
                    <a:pt x="101091" y="1540636"/>
                  </a:lnTo>
                  <a:lnTo>
                    <a:pt x="93779" y="1538569"/>
                  </a:lnTo>
                  <a:close/>
                </a:path>
                <a:path extrusionOk="0" h="1696085" w="2639695">
                  <a:moveTo>
                    <a:pt x="81150" y="1621203"/>
                  </a:moveTo>
                  <a:lnTo>
                    <a:pt x="21589" y="1659254"/>
                  </a:lnTo>
                  <a:lnTo>
                    <a:pt x="42163" y="1691385"/>
                  </a:lnTo>
                  <a:lnTo>
                    <a:pt x="53692" y="1684020"/>
                  </a:lnTo>
                  <a:lnTo>
                    <a:pt x="48895" y="1684020"/>
                  </a:lnTo>
                  <a:lnTo>
                    <a:pt x="31114" y="1656207"/>
                  </a:lnTo>
                  <a:lnTo>
                    <a:pt x="63854" y="1654886"/>
                  </a:lnTo>
                  <a:lnTo>
                    <a:pt x="81150" y="1621203"/>
                  </a:lnTo>
                  <a:close/>
                </a:path>
                <a:path extrusionOk="0" h="1696085" w="2639695">
                  <a:moveTo>
                    <a:pt x="163322" y="1650872"/>
                  </a:moveTo>
                  <a:lnTo>
                    <a:pt x="101679" y="1653360"/>
                  </a:lnTo>
                  <a:lnTo>
                    <a:pt x="42163" y="1691385"/>
                  </a:lnTo>
                  <a:lnTo>
                    <a:pt x="104613" y="1691385"/>
                  </a:lnTo>
                  <a:lnTo>
                    <a:pt x="164846" y="1688972"/>
                  </a:lnTo>
                  <a:lnTo>
                    <a:pt x="183133" y="1669160"/>
                  </a:lnTo>
                  <a:lnTo>
                    <a:pt x="181359" y="1661802"/>
                  </a:lnTo>
                  <a:lnTo>
                    <a:pt x="177037" y="1655921"/>
                  </a:lnTo>
                  <a:lnTo>
                    <a:pt x="170811" y="1652087"/>
                  </a:lnTo>
                  <a:lnTo>
                    <a:pt x="163322" y="1650872"/>
                  </a:lnTo>
                  <a:close/>
                </a:path>
                <a:path extrusionOk="0" h="1696085" w="2639695">
                  <a:moveTo>
                    <a:pt x="63854" y="1654886"/>
                  </a:moveTo>
                  <a:lnTo>
                    <a:pt x="31114" y="1656207"/>
                  </a:lnTo>
                  <a:lnTo>
                    <a:pt x="48895" y="1684020"/>
                  </a:lnTo>
                  <a:lnTo>
                    <a:pt x="63854" y="1654886"/>
                  </a:lnTo>
                  <a:close/>
                </a:path>
                <a:path extrusionOk="0" h="1696085" w="2639695">
                  <a:moveTo>
                    <a:pt x="101679" y="1653360"/>
                  </a:moveTo>
                  <a:lnTo>
                    <a:pt x="63854" y="1654886"/>
                  </a:lnTo>
                  <a:lnTo>
                    <a:pt x="48895" y="1684020"/>
                  </a:lnTo>
                  <a:lnTo>
                    <a:pt x="53692" y="1684020"/>
                  </a:lnTo>
                  <a:lnTo>
                    <a:pt x="101679" y="1653360"/>
                  </a:lnTo>
                  <a:close/>
                </a:path>
                <a:path extrusionOk="0" h="1696085" w="2639695">
                  <a:moveTo>
                    <a:pt x="2618739" y="0"/>
                  </a:moveTo>
                  <a:lnTo>
                    <a:pt x="81150" y="1621203"/>
                  </a:lnTo>
                  <a:lnTo>
                    <a:pt x="63854" y="1654886"/>
                  </a:lnTo>
                  <a:lnTo>
                    <a:pt x="101679" y="1653360"/>
                  </a:lnTo>
                  <a:lnTo>
                    <a:pt x="2639313" y="32003"/>
                  </a:lnTo>
                  <a:lnTo>
                    <a:pt x="2618739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69" name="Google Shape;1369;p97"/>
          <p:cNvSpPr txBox="1"/>
          <p:nvPr/>
        </p:nvSpPr>
        <p:spPr>
          <a:xfrm>
            <a:off x="9583166" y="1765115"/>
            <a:ext cx="21420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0" lvl="0" marL="12700" marR="508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900">
                <a:latin typeface="Georgia"/>
                <a:ea typeface="Georgia"/>
                <a:cs typeface="Georgia"/>
                <a:sym typeface="Georgia"/>
              </a:rPr>
              <a:t>How to turn these </a:t>
            </a:r>
            <a:r>
              <a:rPr b="1" i="1" lang="en-US" sz="1900" u="sng">
                <a:latin typeface="Georgia"/>
                <a:ea typeface="Georgia"/>
                <a:cs typeface="Georgia"/>
                <a:sym typeface="Georgia"/>
              </a:rPr>
              <a:t>thick regions </a:t>
            </a:r>
            <a:r>
              <a:rPr b="1" i="1" lang="en-US" sz="1900" u="none">
                <a:latin typeface="Georgia"/>
                <a:ea typeface="Georgia"/>
                <a:cs typeface="Georgia"/>
                <a:sym typeface="Georgia"/>
              </a:rPr>
              <a:t>of the gradient into curves?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70" name="Google Shape;1370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522" y="1828800"/>
            <a:ext cx="2526791" cy="771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7754" y="3471671"/>
            <a:ext cx="2806446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9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3" name="Google Shape;1373;p97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9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79" name="Google Shape;1379;p9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380" name="Google Shape;1380;p98"/>
          <p:cNvGrpSpPr/>
          <p:nvPr/>
        </p:nvGrpSpPr>
        <p:grpSpPr>
          <a:xfrm>
            <a:off x="3352800" y="1219200"/>
            <a:ext cx="5862828" cy="4397502"/>
            <a:chOff x="3352800" y="1219200"/>
            <a:chExt cx="5862828" cy="4397502"/>
          </a:xfrm>
        </p:grpSpPr>
        <p:pic>
          <p:nvPicPr>
            <p:cNvPr id="1381" name="Google Shape;1381;p9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52800" y="1219200"/>
              <a:ext cx="5862828" cy="4397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2" name="Google Shape;1382;p9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52800" y="1219200"/>
              <a:ext cx="5814822" cy="4360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3" name="Google Shape;1383;p98"/>
            <p:cNvSpPr/>
            <p:nvPr/>
          </p:nvSpPr>
          <p:spPr>
            <a:xfrm>
              <a:off x="6145148" y="4378832"/>
              <a:ext cx="876300" cy="292100"/>
            </a:xfrm>
            <a:custGeom>
              <a:rect b="b" l="l" r="r" t="t"/>
              <a:pathLst>
                <a:path extrusionOk="0" h="292100" w="876300">
                  <a:moveTo>
                    <a:pt x="0" y="145923"/>
                  </a:moveTo>
                  <a:lnTo>
                    <a:pt x="22341" y="99779"/>
                  </a:lnTo>
                  <a:lnTo>
                    <a:pt x="84551" y="59719"/>
                  </a:lnTo>
                  <a:lnTo>
                    <a:pt x="128349" y="42719"/>
                  </a:lnTo>
                  <a:lnTo>
                    <a:pt x="179405" y="28139"/>
                  </a:lnTo>
                  <a:lnTo>
                    <a:pt x="236816" y="16277"/>
                  </a:lnTo>
                  <a:lnTo>
                    <a:pt x="299679" y="7434"/>
                  </a:lnTo>
                  <a:lnTo>
                    <a:pt x="367091" y="1908"/>
                  </a:lnTo>
                  <a:lnTo>
                    <a:pt x="438150" y="0"/>
                  </a:lnTo>
                  <a:lnTo>
                    <a:pt x="509208" y="1908"/>
                  </a:lnTo>
                  <a:lnTo>
                    <a:pt x="576620" y="7434"/>
                  </a:lnTo>
                  <a:lnTo>
                    <a:pt x="639483" y="16277"/>
                  </a:lnTo>
                  <a:lnTo>
                    <a:pt x="696894" y="28139"/>
                  </a:lnTo>
                  <a:lnTo>
                    <a:pt x="747950" y="42719"/>
                  </a:lnTo>
                  <a:lnTo>
                    <a:pt x="791748" y="59719"/>
                  </a:lnTo>
                  <a:lnTo>
                    <a:pt x="827385" y="78839"/>
                  </a:lnTo>
                  <a:lnTo>
                    <a:pt x="870564" y="122240"/>
                  </a:lnTo>
                  <a:lnTo>
                    <a:pt x="876300" y="145923"/>
                  </a:lnTo>
                  <a:lnTo>
                    <a:pt x="870564" y="169605"/>
                  </a:lnTo>
                  <a:lnTo>
                    <a:pt x="827385" y="213006"/>
                  </a:lnTo>
                  <a:lnTo>
                    <a:pt x="791748" y="232126"/>
                  </a:lnTo>
                  <a:lnTo>
                    <a:pt x="747950" y="249126"/>
                  </a:lnTo>
                  <a:lnTo>
                    <a:pt x="696894" y="263706"/>
                  </a:lnTo>
                  <a:lnTo>
                    <a:pt x="639483" y="275568"/>
                  </a:lnTo>
                  <a:lnTo>
                    <a:pt x="576620" y="284411"/>
                  </a:lnTo>
                  <a:lnTo>
                    <a:pt x="509208" y="289937"/>
                  </a:lnTo>
                  <a:lnTo>
                    <a:pt x="438150" y="291846"/>
                  </a:lnTo>
                  <a:lnTo>
                    <a:pt x="367091" y="289937"/>
                  </a:lnTo>
                  <a:lnTo>
                    <a:pt x="299679" y="284411"/>
                  </a:lnTo>
                  <a:lnTo>
                    <a:pt x="236816" y="275568"/>
                  </a:lnTo>
                  <a:lnTo>
                    <a:pt x="179405" y="263706"/>
                  </a:lnTo>
                  <a:lnTo>
                    <a:pt x="128349" y="249126"/>
                  </a:lnTo>
                  <a:lnTo>
                    <a:pt x="84551" y="232126"/>
                  </a:lnTo>
                  <a:lnTo>
                    <a:pt x="48914" y="213006"/>
                  </a:lnTo>
                  <a:lnTo>
                    <a:pt x="5735" y="169605"/>
                  </a:lnTo>
                  <a:lnTo>
                    <a:pt x="0" y="145923"/>
                  </a:lnTo>
                  <a:close/>
                </a:path>
              </a:pathLst>
            </a:custGeom>
            <a:noFill/>
            <a:ln cap="flat" cmpd="sng" w="254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84" name="Google Shape;1384;p9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Canny edge detector</a:t>
            </a:r>
            <a:endParaRPr/>
          </a:p>
        </p:txBody>
      </p:sp>
      <p:sp>
        <p:nvSpPr>
          <p:cNvPr id="1385" name="Google Shape;1385;p98"/>
          <p:cNvSpPr txBox="1"/>
          <p:nvPr/>
        </p:nvSpPr>
        <p:spPr>
          <a:xfrm>
            <a:off x="9437128" y="3127775"/>
            <a:ext cx="2559900" cy="15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5080" rtl="0" algn="l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500">
                <a:latin typeface="Georgia"/>
                <a:ea typeface="Georgia"/>
                <a:cs typeface="Georgia"/>
                <a:sym typeface="Georgia"/>
              </a:rPr>
              <a:t>Problem</a:t>
            </a:r>
            <a:r>
              <a:rPr i="1" lang="en-US" sz="2400">
                <a:latin typeface="Georgia"/>
                <a:ea typeface="Georgia"/>
                <a:cs typeface="Georgia"/>
                <a:sym typeface="Georgia"/>
              </a:rPr>
              <a:t>: pixels along this edge didn’t survive the thresholding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6" name="Google Shape;1386;p98"/>
          <p:cNvSpPr txBox="1"/>
          <p:nvPr/>
        </p:nvSpPr>
        <p:spPr>
          <a:xfrm>
            <a:off x="3774694" y="5646420"/>
            <a:ext cx="4642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Normal thresholding-issues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9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8" name="Google Shape;1388;p9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9" name="Google Shape;1389;p9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9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95" name="Google Shape;1395;p9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96" name="Google Shape;1396;p9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Canny Edge Detection</a:t>
            </a:r>
            <a:endParaRPr/>
          </a:p>
        </p:txBody>
      </p:sp>
      <p:sp>
        <p:nvSpPr>
          <p:cNvPr id="1397" name="Google Shape;1397;p99"/>
          <p:cNvSpPr txBox="1"/>
          <p:nvPr/>
        </p:nvSpPr>
        <p:spPr>
          <a:xfrm>
            <a:off x="688351" y="885950"/>
            <a:ext cx="109038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Non-maximum suppression: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Select the single maximum point across the width of	an edge.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98" name="Google Shape;139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209800"/>
            <a:ext cx="51816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253" y="2133600"/>
            <a:ext cx="5282946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9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1" name="Google Shape;1401;p9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2" name="Google Shape;1402;p9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10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08" name="Google Shape;1408;p10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09" name="Google Shape;1409;p10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Non-maximum Suppression</a:t>
            </a:r>
            <a:endParaRPr/>
          </a:p>
        </p:txBody>
      </p:sp>
      <p:sp>
        <p:nvSpPr>
          <p:cNvPr id="1410" name="Google Shape;1410;p100"/>
          <p:cNvSpPr txBox="1"/>
          <p:nvPr/>
        </p:nvSpPr>
        <p:spPr>
          <a:xfrm>
            <a:off x="688340" y="4725923"/>
            <a:ext cx="10598700" cy="13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Check if	pixel is local maximum along gradient direction, select single max across width of	the edge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requires checking interpolated pixels </a:t>
            </a:r>
            <a:r>
              <a:rPr i="1"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p </a:t>
            </a: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and </a:t>
            </a:r>
            <a:r>
              <a:rPr i="1"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11" name="Google Shape;141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653" y="1295400"/>
            <a:ext cx="42672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2" name="Google Shape;1412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9052" y="1325100"/>
            <a:ext cx="4203984" cy="3153951"/>
          </a:xfrm>
          <a:prstGeom prst="rect">
            <a:avLst/>
          </a:prstGeom>
          <a:noFill/>
          <a:ln>
            <a:noFill/>
          </a:ln>
        </p:spPr>
      </p:pic>
      <p:sp>
        <p:nvSpPr>
          <p:cNvPr id="1413" name="Google Shape;1413;p10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4" name="Google Shape;1414;p10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5" name="Google Shape;1415;p10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10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21" name="Google Shape;1421;p10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22" name="Google Shape;1422;p10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Canny Edge Detection</a:t>
            </a:r>
            <a:endParaRPr/>
          </a:p>
        </p:txBody>
      </p:sp>
      <p:pic>
        <p:nvPicPr>
          <p:cNvPr id="1423" name="Google Shape;1423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454" y="1066800"/>
            <a:ext cx="6502146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101"/>
          <p:cNvSpPr txBox="1"/>
          <p:nvPr/>
        </p:nvSpPr>
        <p:spPr>
          <a:xfrm>
            <a:off x="6910850" y="1226825"/>
            <a:ext cx="52809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7512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Georgia"/>
                <a:ea typeface="Georgia"/>
                <a:cs typeface="Georgia"/>
                <a:sym typeface="Georgia"/>
              </a:rPr>
              <a:t>Non-maximum suppression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2035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At q</a:t>
            </a:r>
            <a:r>
              <a:rPr i="1" lang="en-US" sz="2400">
                <a:latin typeface="Georgia"/>
                <a:ea typeface="Georgia"/>
                <a:cs typeface="Georgia"/>
                <a:sym typeface="Georgia"/>
              </a:rPr>
              <a:t>, the value must be larger than values interpolated at </a:t>
            </a:r>
            <a:r>
              <a:rPr i="1"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p </a:t>
            </a:r>
            <a:r>
              <a:rPr i="1" lang="en-US" sz="2400">
                <a:latin typeface="Georgia"/>
                <a:ea typeface="Georgia"/>
                <a:cs typeface="Georgia"/>
                <a:sym typeface="Georgia"/>
              </a:rPr>
              <a:t>or </a:t>
            </a:r>
            <a:r>
              <a:rPr i="1" lang="en-US" sz="24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r.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25" name="Google Shape;1425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745" y="4287011"/>
            <a:ext cx="2180844" cy="1635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6" name="Google Shape;1426;p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92411" y="4267200"/>
            <a:ext cx="2223516" cy="166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101"/>
          <p:cNvSpPr txBox="1"/>
          <p:nvPr/>
        </p:nvSpPr>
        <p:spPr>
          <a:xfrm>
            <a:off x="1524000" y="3200400"/>
            <a:ext cx="1930500" cy="58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215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Gradient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28" name="Google Shape;1428;p101"/>
          <p:cNvSpPr txBox="1"/>
          <p:nvPr/>
        </p:nvSpPr>
        <p:spPr>
          <a:xfrm>
            <a:off x="4419600" y="2766060"/>
            <a:ext cx="609600" cy="58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q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29" name="Google Shape;1429;p101"/>
          <p:cNvSpPr txBox="1"/>
          <p:nvPr/>
        </p:nvSpPr>
        <p:spPr>
          <a:xfrm>
            <a:off x="5029200" y="1837944"/>
            <a:ext cx="609600" cy="58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p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0" name="Google Shape;1430;p101"/>
          <p:cNvSpPr txBox="1"/>
          <p:nvPr/>
        </p:nvSpPr>
        <p:spPr>
          <a:xfrm>
            <a:off x="3721100" y="4290059"/>
            <a:ext cx="1779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431" name="Google Shape;1431;p101"/>
          <p:cNvGrpSpPr/>
          <p:nvPr/>
        </p:nvGrpSpPr>
        <p:grpSpPr>
          <a:xfrm>
            <a:off x="3318890" y="1601342"/>
            <a:ext cx="1972056" cy="2640330"/>
            <a:chOff x="3318890" y="1601342"/>
            <a:chExt cx="1972056" cy="2640330"/>
          </a:xfrm>
        </p:grpSpPr>
        <p:sp>
          <p:nvSpPr>
            <p:cNvPr id="1432" name="Google Shape;1432;p101"/>
            <p:cNvSpPr/>
            <p:nvPr/>
          </p:nvSpPr>
          <p:spPr>
            <a:xfrm>
              <a:off x="3318890" y="4013072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17" y="5827"/>
                  </a:lnTo>
                  <a:lnTo>
                    <a:pt x="62380" y="22055"/>
                  </a:lnTo>
                  <a:lnTo>
                    <a:pt x="29394" y="46798"/>
                  </a:lnTo>
                  <a:lnTo>
                    <a:pt x="7766" y="78175"/>
                  </a:lnTo>
                  <a:lnTo>
                    <a:pt x="0" y="114300"/>
                  </a:lnTo>
                  <a:lnTo>
                    <a:pt x="7766" y="150424"/>
                  </a:lnTo>
                  <a:lnTo>
                    <a:pt x="29394" y="181801"/>
                  </a:lnTo>
                  <a:lnTo>
                    <a:pt x="62380" y="206544"/>
                  </a:lnTo>
                  <a:lnTo>
                    <a:pt x="104217" y="222772"/>
                  </a:lnTo>
                  <a:lnTo>
                    <a:pt x="152400" y="228600"/>
                  </a:lnTo>
                  <a:lnTo>
                    <a:pt x="200582" y="222772"/>
                  </a:lnTo>
                  <a:lnTo>
                    <a:pt x="242419" y="206544"/>
                  </a:lnTo>
                  <a:lnTo>
                    <a:pt x="275405" y="181801"/>
                  </a:lnTo>
                  <a:lnTo>
                    <a:pt x="297033" y="150424"/>
                  </a:lnTo>
                  <a:lnTo>
                    <a:pt x="304800" y="114300"/>
                  </a:lnTo>
                  <a:lnTo>
                    <a:pt x="297033" y="78175"/>
                  </a:lnTo>
                  <a:lnTo>
                    <a:pt x="275405" y="46798"/>
                  </a:lnTo>
                  <a:lnTo>
                    <a:pt x="242419" y="22055"/>
                  </a:lnTo>
                  <a:lnTo>
                    <a:pt x="200582" y="582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3" name="Google Shape;1433;p101"/>
            <p:cNvSpPr/>
            <p:nvPr/>
          </p:nvSpPr>
          <p:spPr>
            <a:xfrm>
              <a:off x="3318890" y="4013072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394" y="46798"/>
                  </a:lnTo>
                  <a:lnTo>
                    <a:pt x="62380" y="22055"/>
                  </a:lnTo>
                  <a:lnTo>
                    <a:pt x="104217" y="5827"/>
                  </a:lnTo>
                  <a:lnTo>
                    <a:pt x="152400" y="0"/>
                  </a:lnTo>
                  <a:lnTo>
                    <a:pt x="200582" y="5827"/>
                  </a:lnTo>
                  <a:lnTo>
                    <a:pt x="242419" y="22055"/>
                  </a:lnTo>
                  <a:lnTo>
                    <a:pt x="275405" y="46798"/>
                  </a:lnTo>
                  <a:lnTo>
                    <a:pt x="297033" y="78175"/>
                  </a:lnTo>
                  <a:lnTo>
                    <a:pt x="304800" y="114300"/>
                  </a:lnTo>
                  <a:lnTo>
                    <a:pt x="297033" y="150424"/>
                  </a:lnTo>
                  <a:lnTo>
                    <a:pt x="275405" y="181801"/>
                  </a:lnTo>
                  <a:lnTo>
                    <a:pt x="242419" y="206544"/>
                  </a:lnTo>
                  <a:lnTo>
                    <a:pt x="200582" y="222772"/>
                  </a:lnTo>
                  <a:lnTo>
                    <a:pt x="152400" y="228600"/>
                  </a:lnTo>
                  <a:lnTo>
                    <a:pt x="104217" y="222772"/>
                  </a:lnTo>
                  <a:lnTo>
                    <a:pt x="62380" y="206544"/>
                  </a:lnTo>
                  <a:lnTo>
                    <a:pt x="29394" y="181801"/>
                  </a:lnTo>
                  <a:lnTo>
                    <a:pt x="7766" y="150424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4" name="Google Shape;1434;p101"/>
            <p:cNvSpPr/>
            <p:nvPr/>
          </p:nvSpPr>
          <p:spPr>
            <a:xfrm>
              <a:off x="4986146" y="1601342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17" y="5827"/>
                  </a:lnTo>
                  <a:lnTo>
                    <a:pt x="62380" y="22055"/>
                  </a:lnTo>
                  <a:lnTo>
                    <a:pt x="29394" y="46798"/>
                  </a:lnTo>
                  <a:lnTo>
                    <a:pt x="7766" y="78175"/>
                  </a:lnTo>
                  <a:lnTo>
                    <a:pt x="0" y="114300"/>
                  </a:lnTo>
                  <a:lnTo>
                    <a:pt x="7766" y="150424"/>
                  </a:lnTo>
                  <a:lnTo>
                    <a:pt x="29394" y="181801"/>
                  </a:lnTo>
                  <a:lnTo>
                    <a:pt x="62380" y="206544"/>
                  </a:lnTo>
                  <a:lnTo>
                    <a:pt x="104217" y="222772"/>
                  </a:lnTo>
                  <a:lnTo>
                    <a:pt x="152400" y="228600"/>
                  </a:lnTo>
                  <a:lnTo>
                    <a:pt x="200582" y="222772"/>
                  </a:lnTo>
                  <a:lnTo>
                    <a:pt x="242419" y="206544"/>
                  </a:lnTo>
                  <a:lnTo>
                    <a:pt x="275405" y="181801"/>
                  </a:lnTo>
                  <a:lnTo>
                    <a:pt x="297033" y="150424"/>
                  </a:lnTo>
                  <a:lnTo>
                    <a:pt x="304800" y="114300"/>
                  </a:lnTo>
                  <a:lnTo>
                    <a:pt x="297033" y="78175"/>
                  </a:lnTo>
                  <a:lnTo>
                    <a:pt x="275405" y="46798"/>
                  </a:lnTo>
                  <a:lnTo>
                    <a:pt x="242419" y="22055"/>
                  </a:lnTo>
                  <a:lnTo>
                    <a:pt x="200582" y="582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5" name="Google Shape;1435;p101"/>
            <p:cNvSpPr/>
            <p:nvPr/>
          </p:nvSpPr>
          <p:spPr>
            <a:xfrm>
              <a:off x="4986146" y="1601342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394" y="46798"/>
                  </a:lnTo>
                  <a:lnTo>
                    <a:pt x="62380" y="22055"/>
                  </a:lnTo>
                  <a:lnTo>
                    <a:pt x="104217" y="5827"/>
                  </a:lnTo>
                  <a:lnTo>
                    <a:pt x="152400" y="0"/>
                  </a:lnTo>
                  <a:lnTo>
                    <a:pt x="200582" y="5827"/>
                  </a:lnTo>
                  <a:lnTo>
                    <a:pt x="242419" y="22055"/>
                  </a:lnTo>
                  <a:lnTo>
                    <a:pt x="275405" y="46798"/>
                  </a:lnTo>
                  <a:lnTo>
                    <a:pt x="297033" y="78175"/>
                  </a:lnTo>
                  <a:lnTo>
                    <a:pt x="304800" y="114300"/>
                  </a:lnTo>
                  <a:lnTo>
                    <a:pt x="297033" y="150424"/>
                  </a:lnTo>
                  <a:lnTo>
                    <a:pt x="275405" y="181801"/>
                  </a:lnTo>
                  <a:lnTo>
                    <a:pt x="242419" y="206544"/>
                  </a:lnTo>
                  <a:lnTo>
                    <a:pt x="200582" y="222772"/>
                  </a:lnTo>
                  <a:lnTo>
                    <a:pt x="152400" y="228600"/>
                  </a:lnTo>
                  <a:lnTo>
                    <a:pt x="104217" y="222772"/>
                  </a:lnTo>
                  <a:lnTo>
                    <a:pt x="62380" y="206544"/>
                  </a:lnTo>
                  <a:lnTo>
                    <a:pt x="29394" y="181801"/>
                  </a:lnTo>
                  <a:lnTo>
                    <a:pt x="7766" y="150424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36" name="Google Shape;1436;p10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7" name="Google Shape;1437;p10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8" name="Google Shape;1438;p10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0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44" name="Google Shape;1444;p10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45" name="Google Shape;1445;p102"/>
          <p:cNvSpPr txBox="1"/>
          <p:nvPr>
            <p:ph idx="4294967295" type="title"/>
          </p:nvPr>
        </p:nvSpPr>
        <p:spPr>
          <a:xfrm>
            <a:off x="0" y="153150"/>
            <a:ext cx="121920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Georgia"/>
                <a:ea typeface="Georgia"/>
                <a:cs typeface="Georgia"/>
                <a:sym typeface="Georgia"/>
              </a:rPr>
              <a:t>Examples: Non-Maximum Suppression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46" name="Google Shape;144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254" y="2422398"/>
            <a:ext cx="3896867" cy="2193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7" name="Google Shape;1447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0614" y="2422398"/>
            <a:ext cx="3896867" cy="2193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p1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77021" y="2422398"/>
            <a:ext cx="3887724" cy="2193796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102"/>
          <p:cNvSpPr txBox="1"/>
          <p:nvPr/>
        </p:nvSpPr>
        <p:spPr>
          <a:xfrm>
            <a:off x="62740" y="6211175"/>
            <a:ext cx="46782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850">
                <a:latin typeface="Tahoma"/>
                <a:ea typeface="Tahoma"/>
                <a:cs typeface="Tahoma"/>
                <a:sym typeface="Tahoma"/>
              </a:rPr>
              <a:t>Image courtesy of G. Loy</a:t>
            </a:r>
            <a:endParaRPr sz="8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0" name="Google Shape;1450;p102"/>
          <p:cNvSpPr txBox="1"/>
          <p:nvPr/>
        </p:nvSpPr>
        <p:spPr>
          <a:xfrm>
            <a:off x="1080769" y="4756911"/>
            <a:ext cx="19680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Original image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1" name="Google Shape;1451;p102"/>
          <p:cNvSpPr txBox="1"/>
          <p:nvPr/>
        </p:nvSpPr>
        <p:spPr>
          <a:xfrm>
            <a:off x="4740909" y="4756911"/>
            <a:ext cx="26817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Gradient magnitude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2" name="Google Shape;1452;p102"/>
          <p:cNvSpPr txBox="1"/>
          <p:nvPr/>
        </p:nvSpPr>
        <p:spPr>
          <a:xfrm>
            <a:off x="9209785" y="4667757"/>
            <a:ext cx="1727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42240" lvl="0" marL="15430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Non-maxima suppressed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3" name="Google Shape;1453;p10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4" name="Google Shape;1454;p10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5" name="Google Shape;1455;p10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0" name="Google Shape;146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28600"/>
            <a:ext cx="10162032" cy="6097524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103"/>
          <p:cNvSpPr txBox="1"/>
          <p:nvPr/>
        </p:nvSpPr>
        <p:spPr>
          <a:xfrm>
            <a:off x="7391400" y="457200"/>
            <a:ext cx="4800600" cy="1222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 of one threshold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499744" rtl="0" algn="l">
              <a:lnSpc>
                <a:spcPct val="119166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Smoothing used to remove noise; it also impacts weak edges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10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3" name="Google Shape;1463;p103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8" name="Google Shape;1468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481" y="325885"/>
            <a:ext cx="10128918" cy="6072116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104"/>
          <p:cNvSpPr txBox="1"/>
          <p:nvPr/>
        </p:nvSpPr>
        <p:spPr>
          <a:xfrm>
            <a:off x="10421366" y="1577085"/>
            <a:ext cx="1211700" cy="14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1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fine scale (σ = 1)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high threshold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104"/>
          <p:cNvSpPr txBox="1"/>
          <p:nvPr/>
        </p:nvSpPr>
        <p:spPr>
          <a:xfrm>
            <a:off x="7391400" y="457200"/>
            <a:ext cx="4800600" cy="1222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 of one threshold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499744" rtl="0" algn="l">
              <a:lnSpc>
                <a:spcPct val="119166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Smoothing used to remove noise; it also impacts weak edges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10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2" name="Google Shape;1472;p104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7" name="Google Shape;1477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104" y="336553"/>
            <a:ext cx="10128159" cy="6072116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105"/>
          <p:cNvSpPr txBox="1"/>
          <p:nvPr/>
        </p:nvSpPr>
        <p:spPr>
          <a:xfrm>
            <a:off x="10431271" y="1808226"/>
            <a:ext cx="1212300" cy="18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854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coarse scale, (σ = 4)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high threshold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105"/>
          <p:cNvSpPr txBox="1"/>
          <p:nvPr/>
        </p:nvSpPr>
        <p:spPr>
          <a:xfrm>
            <a:off x="7391400" y="457200"/>
            <a:ext cx="4800600" cy="1222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 of one threshold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499744" rtl="0" algn="l">
              <a:lnSpc>
                <a:spcPct val="119166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Smoothing used to remove noise; it also impacts weak edges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10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1" name="Google Shape;1481;p105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6" name="Google Shape;1486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104" y="335029"/>
            <a:ext cx="10128159" cy="6072116"/>
          </a:xfrm>
          <a:prstGeom prst="rect">
            <a:avLst/>
          </a:prstGeom>
          <a:noFill/>
          <a:ln>
            <a:noFill/>
          </a:ln>
        </p:spPr>
      </p:pic>
      <p:sp>
        <p:nvSpPr>
          <p:cNvPr id="1487" name="Google Shape;1487;p106"/>
          <p:cNvSpPr txBox="1"/>
          <p:nvPr/>
        </p:nvSpPr>
        <p:spPr>
          <a:xfrm>
            <a:off x="10465307" y="1842261"/>
            <a:ext cx="1211700" cy="18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848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coarse scale (σ = 4)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low threshold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106"/>
          <p:cNvSpPr txBox="1"/>
          <p:nvPr/>
        </p:nvSpPr>
        <p:spPr>
          <a:xfrm>
            <a:off x="7391400" y="457200"/>
            <a:ext cx="4800600" cy="1222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 of one threshold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499744" rtl="0" algn="l">
              <a:lnSpc>
                <a:spcPct val="119166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Smoothing used to remove noise; it also impacts weak edges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10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0" name="Google Shape;1490;p106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0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96" name="Google Shape;1496;p10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97" name="Google Shape;1497;p107"/>
          <p:cNvSpPr txBox="1"/>
          <p:nvPr>
            <p:ph idx="4294967295" type="title"/>
          </p:nvPr>
        </p:nvSpPr>
        <p:spPr>
          <a:xfrm>
            <a:off x="0" y="153150"/>
            <a:ext cx="121920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Georgia"/>
                <a:ea typeface="Georgia"/>
                <a:cs typeface="Georgia"/>
                <a:sym typeface="Georgia"/>
              </a:rPr>
              <a:t>Hysteresis Thresholding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8" name="Google Shape;1498;p107"/>
          <p:cNvSpPr txBox="1"/>
          <p:nvPr/>
        </p:nvSpPr>
        <p:spPr>
          <a:xfrm>
            <a:off x="1014475" y="1117150"/>
            <a:ext cx="10785600" cy="18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Check that maximum value of gradient is sufficiently large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drop-outs?	use </a:t>
            </a:r>
            <a:r>
              <a:rPr b="1" lang="en-US" sz="2800">
                <a:latin typeface="Georgia"/>
                <a:ea typeface="Georgia"/>
                <a:cs typeface="Georgia"/>
                <a:sym typeface="Georgia"/>
              </a:rPr>
              <a:t>hysteresis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27328" lvl="2" marL="1154430" marR="508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use a </a:t>
            </a:r>
            <a:r>
              <a:rPr lang="en-US" sz="2400" u="sng">
                <a:latin typeface="Georgia"/>
                <a:ea typeface="Georgia"/>
                <a:cs typeface="Georgia"/>
                <a:sym typeface="Georgia"/>
              </a:rPr>
              <a:t>high threshold</a:t>
            </a:r>
            <a:r>
              <a:rPr lang="en-US" sz="2400" u="none">
                <a:latin typeface="Georgia"/>
                <a:ea typeface="Georgia"/>
                <a:cs typeface="Georgia"/>
                <a:sym typeface="Georgia"/>
              </a:rPr>
              <a:t> to start edge curves and a </a:t>
            </a:r>
            <a:r>
              <a:rPr lang="en-US" sz="2400" u="sng">
                <a:latin typeface="Georgia"/>
                <a:ea typeface="Georgia"/>
                <a:cs typeface="Georgia"/>
                <a:sym typeface="Georgia"/>
              </a:rPr>
              <a:t>low threshold</a:t>
            </a:r>
            <a:r>
              <a:rPr lang="en-US" sz="2400" u="none">
                <a:latin typeface="Georgia"/>
                <a:ea typeface="Georgia"/>
                <a:cs typeface="Georgia"/>
                <a:sym typeface="Georgia"/>
              </a:rPr>
              <a:t> to 	continue them.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499" name="Google Shape;1499;p107"/>
          <p:cNvGrpSpPr/>
          <p:nvPr/>
        </p:nvGrpSpPr>
        <p:grpSpPr>
          <a:xfrm>
            <a:off x="500658" y="4005791"/>
            <a:ext cx="10785705" cy="1467655"/>
            <a:chOff x="500658" y="4005791"/>
            <a:chExt cx="10785705" cy="1467655"/>
          </a:xfrm>
        </p:grpSpPr>
        <p:sp>
          <p:nvSpPr>
            <p:cNvPr id="1500" name="Google Shape;1500;p107"/>
            <p:cNvSpPr/>
            <p:nvPr/>
          </p:nvSpPr>
          <p:spPr>
            <a:xfrm>
              <a:off x="500658" y="4005791"/>
              <a:ext cx="3571875" cy="706120"/>
            </a:xfrm>
            <a:custGeom>
              <a:rect b="b" l="l" r="r" t="t"/>
              <a:pathLst>
                <a:path extrusionOk="0" h="706120" w="3571875">
                  <a:moveTo>
                    <a:pt x="117069" y="691938"/>
                  </a:moveTo>
                  <a:lnTo>
                    <a:pt x="83621" y="698105"/>
                  </a:lnTo>
                  <a:lnTo>
                    <a:pt x="52681" y="703175"/>
                  </a:lnTo>
                  <a:lnTo>
                    <a:pt x="26758" y="706049"/>
                  </a:lnTo>
                  <a:lnTo>
                    <a:pt x="8362" y="705631"/>
                  </a:lnTo>
                  <a:lnTo>
                    <a:pt x="0" y="700823"/>
                  </a:lnTo>
                  <a:lnTo>
                    <a:pt x="4181" y="690527"/>
                  </a:lnTo>
                  <a:lnTo>
                    <a:pt x="23413" y="673646"/>
                  </a:lnTo>
                  <a:lnTo>
                    <a:pt x="60207" y="649082"/>
                  </a:lnTo>
                  <a:lnTo>
                    <a:pt x="117069" y="615738"/>
                  </a:lnTo>
                  <a:lnTo>
                    <a:pt x="141356" y="601702"/>
                  </a:lnTo>
                  <a:lnTo>
                    <a:pt x="168924" y="585169"/>
                  </a:lnTo>
                  <a:lnTo>
                    <a:pt x="199575" y="566359"/>
                  </a:lnTo>
                  <a:lnTo>
                    <a:pt x="233105" y="545494"/>
                  </a:lnTo>
                  <a:lnTo>
                    <a:pt x="269314" y="522794"/>
                  </a:lnTo>
                  <a:lnTo>
                    <a:pt x="308000" y="498480"/>
                  </a:lnTo>
                  <a:lnTo>
                    <a:pt x="348963" y="472773"/>
                  </a:lnTo>
                  <a:lnTo>
                    <a:pt x="392001" y="445892"/>
                  </a:lnTo>
                  <a:lnTo>
                    <a:pt x="436912" y="418060"/>
                  </a:lnTo>
                  <a:lnTo>
                    <a:pt x="483496" y="389496"/>
                  </a:lnTo>
                  <a:lnTo>
                    <a:pt x="531551" y="360422"/>
                  </a:lnTo>
                  <a:lnTo>
                    <a:pt x="580876" y="331058"/>
                  </a:lnTo>
                  <a:lnTo>
                    <a:pt x="631269" y="301625"/>
                  </a:lnTo>
                  <a:lnTo>
                    <a:pt x="682530" y="272343"/>
                  </a:lnTo>
                  <a:lnTo>
                    <a:pt x="734457" y="243433"/>
                  </a:lnTo>
                  <a:lnTo>
                    <a:pt x="786848" y="215116"/>
                  </a:lnTo>
                  <a:lnTo>
                    <a:pt x="839504" y="187613"/>
                  </a:lnTo>
                  <a:lnTo>
                    <a:pt x="892221" y="161144"/>
                  </a:lnTo>
                  <a:lnTo>
                    <a:pt x="944799" y="135930"/>
                  </a:lnTo>
                  <a:lnTo>
                    <a:pt x="997038" y="112192"/>
                  </a:lnTo>
                  <a:lnTo>
                    <a:pt x="1048734" y="90150"/>
                  </a:lnTo>
                  <a:lnTo>
                    <a:pt x="1099688" y="70025"/>
                  </a:lnTo>
                  <a:lnTo>
                    <a:pt x="1149697" y="52039"/>
                  </a:lnTo>
                  <a:lnTo>
                    <a:pt x="1198562" y="36410"/>
                  </a:lnTo>
                  <a:lnTo>
                    <a:pt x="1246079" y="23361"/>
                  </a:lnTo>
                  <a:lnTo>
                    <a:pt x="1292049" y="13112"/>
                  </a:lnTo>
                  <a:lnTo>
                    <a:pt x="1336269" y="5884"/>
                  </a:lnTo>
                  <a:lnTo>
                    <a:pt x="1384785" y="1279"/>
                  </a:lnTo>
                  <a:lnTo>
                    <a:pt x="1432970" y="0"/>
                  </a:lnTo>
                  <a:lnTo>
                    <a:pt x="1480845" y="1797"/>
                  </a:lnTo>
                  <a:lnTo>
                    <a:pt x="1528433" y="6423"/>
                  </a:lnTo>
                  <a:lnTo>
                    <a:pt x="1575757" y="13629"/>
                  </a:lnTo>
                  <a:lnTo>
                    <a:pt x="1622837" y="23168"/>
                  </a:lnTo>
                  <a:lnTo>
                    <a:pt x="1669696" y="34791"/>
                  </a:lnTo>
                  <a:lnTo>
                    <a:pt x="1716357" y="48250"/>
                  </a:lnTo>
                  <a:lnTo>
                    <a:pt x="1762841" y="63297"/>
                  </a:lnTo>
                  <a:lnTo>
                    <a:pt x="1809170" y="79684"/>
                  </a:lnTo>
                  <a:lnTo>
                    <a:pt x="1855366" y="97163"/>
                  </a:lnTo>
                  <a:lnTo>
                    <a:pt x="1901451" y="115485"/>
                  </a:lnTo>
                  <a:lnTo>
                    <a:pt x="1947448" y="134402"/>
                  </a:lnTo>
                  <a:lnTo>
                    <a:pt x="1993378" y="153667"/>
                  </a:lnTo>
                  <a:lnTo>
                    <a:pt x="2039264" y="173030"/>
                  </a:lnTo>
                  <a:lnTo>
                    <a:pt x="2085127" y="192245"/>
                  </a:lnTo>
                  <a:lnTo>
                    <a:pt x="2130990" y="211062"/>
                  </a:lnTo>
                  <a:lnTo>
                    <a:pt x="2176875" y="229233"/>
                  </a:lnTo>
                  <a:lnTo>
                    <a:pt x="2222803" y="246511"/>
                  </a:lnTo>
                  <a:lnTo>
                    <a:pt x="2268796" y="262647"/>
                  </a:lnTo>
                  <a:lnTo>
                    <a:pt x="2314878" y="277394"/>
                  </a:lnTo>
                  <a:lnTo>
                    <a:pt x="2361069" y="290502"/>
                  </a:lnTo>
                  <a:lnTo>
                    <a:pt x="2407392" y="301724"/>
                  </a:lnTo>
                  <a:lnTo>
                    <a:pt x="2453869" y="310811"/>
                  </a:lnTo>
                  <a:lnTo>
                    <a:pt x="2504664" y="319121"/>
                  </a:lnTo>
                  <a:lnTo>
                    <a:pt x="2555461" y="326755"/>
                  </a:lnTo>
                  <a:lnTo>
                    <a:pt x="2606259" y="333745"/>
                  </a:lnTo>
                  <a:lnTo>
                    <a:pt x="2657057" y="340123"/>
                  </a:lnTo>
                  <a:lnTo>
                    <a:pt x="2707857" y="345921"/>
                  </a:lnTo>
                  <a:lnTo>
                    <a:pt x="2758658" y="351172"/>
                  </a:lnTo>
                  <a:lnTo>
                    <a:pt x="2809459" y="355908"/>
                  </a:lnTo>
                  <a:lnTo>
                    <a:pt x="2860261" y="360161"/>
                  </a:lnTo>
                  <a:lnTo>
                    <a:pt x="2911064" y="363962"/>
                  </a:lnTo>
                  <a:lnTo>
                    <a:pt x="2961867" y="367346"/>
                  </a:lnTo>
                  <a:lnTo>
                    <a:pt x="3012669" y="370342"/>
                  </a:lnTo>
                  <a:lnTo>
                    <a:pt x="3063472" y="372985"/>
                  </a:lnTo>
                  <a:lnTo>
                    <a:pt x="3114275" y="375305"/>
                  </a:lnTo>
                  <a:lnTo>
                    <a:pt x="3165077" y="377336"/>
                  </a:lnTo>
                  <a:lnTo>
                    <a:pt x="3215879" y="379109"/>
                  </a:lnTo>
                  <a:lnTo>
                    <a:pt x="3266681" y="380656"/>
                  </a:lnTo>
                  <a:lnTo>
                    <a:pt x="3317482" y="382011"/>
                  </a:lnTo>
                  <a:lnTo>
                    <a:pt x="3368281" y="383204"/>
                  </a:lnTo>
                  <a:lnTo>
                    <a:pt x="3419080" y="384268"/>
                  </a:lnTo>
                  <a:lnTo>
                    <a:pt x="3469878" y="385236"/>
                  </a:lnTo>
                  <a:lnTo>
                    <a:pt x="3520674" y="386140"/>
                  </a:lnTo>
                  <a:lnTo>
                    <a:pt x="3571469" y="387011"/>
                  </a:lnTo>
                </a:path>
              </a:pathLst>
            </a:custGeom>
            <a:noFill/>
            <a:ln cap="flat" cmpd="sng" w="76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1" name="Google Shape;1501;p107"/>
            <p:cNvSpPr/>
            <p:nvPr/>
          </p:nvSpPr>
          <p:spPr>
            <a:xfrm>
              <a:off x="3970781" y="4011676"/>
              <a:ext cx="3454400" cy="686435"/>
            </a:xfrm>
            <a:custGeom>
              <a:rect b="b" l="l" r="r" t="t"/>
              <a:pathLst>
                <a:path extrusionOk="0" h="686435" w="3454400">
                  <a:moveTo>
                    <a:pt x="0" y="381126"/>
                  </a:moveTo>
                  <a:lnTo>
                    <a:pt x="38188" y="389009"/>
                  </a:lnTo>
                  <a:lnTo>
                    <a:pt x="76905" y="396561"/>
                  </a:lnTo>
                  <a:lnTo>
                    <a:pt x="116681" y="403451"/>
                  </a:lnTo>
                  <a:lnTo>
                    <a:pt x="158044" y="409349"/>
                  </a:lnTo>
                  <a:lnTo>
                    <a:pt x="201524" y="413924"/>
                  </a:lnTo>
                  <a:lnTo>
                    <a:pt x="247650" y="416845"/>
                  </a:lnTo>
                  <a:lnTo>
                    <a:pt x="296950" y="417782"/>
                  </a:lnTo>
                  <a:lnTo>
                    <a:pt x="349955" y="416404"/>
                  </a:lnTo>
                  <a:lnTo>
                    <a:pt x="407193" y="412380"/>
                  </a:lnTo>
                  <a:lnTo>
                    <a:pt x="469194" y="405380"/>
                  </a:lnTo>
                  <a:lnTo>
                    <a:pt x="536486" y="395072"/>
                  </a:lnTo>
                  <a:lnTo>
                    <a:pt x="609600" y="381126"/>
                  </a:lnTo>
                  <a:lnTo>
                    <a:pt x="683102" y="362014"/>
                  </a:lnTo>
                  <a:lnTo>
                    <a:pt x="722119" y="349425"/>
                  </a:lnTo>
                  <a:lnTo>
                    <a:pt x="762530" y="335093"/>
                  </a:lnTo>
                  <a:lnTo>
                    <a:pt x="804249" y="319226"/>
                  </a:lnTo>
                  <a:lnTo>
                    <a:pt x="847188" y="302031"/>
                  </a:lnTo>
                  <a:lnTo>
                    <a:pt x="891261" y="283716"/>
                  </a:lnTo>
                  <a:lnTo>
                    <a:pt x="936382" y="264491"/>
                  </a:lnTo>
                  <a:lnTo>
                    <a:pt x="982463" y="244563"/>
                  </a:lnTo>
                  <a:lnTo>
                    <a:pt x="1029417" y="224141"/>
                  </a:lnTo>
                  <a:lnTo>
                    <a:pt x="1077158" y="203432"/>
                  </a:lnTo>
                  <a:lnTo>
                    <a:pt x="1125600" y="182645"/>
                  </a:lnTo>
                  <a:lnTo>
                    <a:pt x="1174654" y="161988"/>
                  </a:lnTo>
                  <a:lnTo>
                    <a:pt x="1224235" y="141669"/>
                  </a:lnTo>
                  <a:lnTo>
                    <a:pt x="1274256" y="121896"/>
                  </a:lnTo>
                  <a:lnTo>
                    <a:pt x="1324629" y="102878"/>
                  </a:lnTo>
                  <a:lnTo>
                    <a:pt x="1375268" y="84823"/>
                  </a:lnTo>
                  <a:lnTo>
                    <a:pt x="1426087" y="67939"/>
                  </a:lnTo>
                  <a:lnTo>
                    <a:pt x="1476998" y="52434"/>
                  </a:lnTo>
                  <a:lnTo>
                    <a:pt x="1527915" y="38516"/>
                  </a:lnTo>
                  <a:lnTo>
                    <a:pt x="1578750" y="26393"/>
                  </a:lnTo>
                  <a:lnTo>
                    <a:pt x="1629418" y="16274"/>
                  </a:lnTo>
                  <a:lnTo>
                    <a:pt x="1679831" y="8367"/>
                  </a:lnTo>
                  <a:lnTo>
                    <a:pt x="1729902" y="2880"/>
                  </a:lnTo>
                  <a:lnTo>
                    <a:pt x="1779545" y="22"/>
                  </a:lnTo>
                  <a:lnTo>
                    <a:pt x="1828672" y="0"/>
                  </a:lnTo>
                  <a:lnTo>
                    <a:pt x="1874777" y="2551"/>
                  </a:lnTo>
                  <a:lnTo>
                    <a:pt x="1922284" y="7388"/>
                  </a:lnTo>
                  <a:lnTo>
                    <a:pt x="1971041" y="14364"/>
                  </a:lnTo>
                  <a:lnTo>
                    <a:pt x="2020895" y="23333"/>
                  </a:lnTo>
                  <a:lnTo>
                    <a:pt x="2071692" y="34150"/>
                  </a:lnTo>
                  <a:lnTo>
                    <a:pt x="2123282" y="46668"/>
                  </a:lnTo>
                  <a:lnTo>
                    <a:pt x="2175509" y="60741"/>
                  </a:lnTo>
                  <a:lnTo>
                    <a:pt x="2228223" y="76225"/>
                  </a:lnTo>
                  <a:lnTo>
                    <a:pt x="2281271" y="92972"/>
                  </a:lnTo>
                  <a:lnTo>
                    <a:pt x="2334498" y="110838"/>
                  </a:lnTo>
                  <a:lnTo>
                    <a:pt x="2387754" y="129675"/>
                  </a:lnTo>
                  <a:lnTo>
                    <a:pt x="2440884" y="149339"/>
                  </a:lnTo>
                  <a:lnTo>
                    <a:pt x="2493737" y="169684"/>
                  </a:lnTo>
                  <a:lnTo>
                    <a:pt x="2546159" y="190563"/>
                  </a:lnTo>
                  <a:lnTo>
                    <a:pt x="2597998" y="211831"/>
                  </a:lnTo>
                  <a:lnTo>
                    <a:pt x="2649101" y="233342"/>
                  </a:lnTo>
                  <a:lnTo>
                    <a:pt x="2699316" y="254950"/>
                  </a:lnTo>
                  <a:lnTo>
                    <a:pt x="2748489" y="276509"/>
                  </a:lnTo>
                  <a:lnTo>
                    <a:pt x="2796468" y="297873"/>
                  </a:lnTo>
                  <a:lnTo>
                    <a:pt x="2843101" y="318897"/>
                  </a:lnTo>
                  <a:lnTo>
                    <a:pt x="2888233" y="339435"/>
                  </a:lnTo>
                  <a:lnTo>
                    <a:pt x="2931714" y="359340"/>
                  </a:lnTo>
                  <a:lnTo>
                    <a:pt x="2973389" y="378467"/>
                  </a:lnTo>
                  <a:lnTo>
                    <a:pt x="3013107" y="396670"/>
                  </a:lnTo>
                  <a:lnTo>
                    <a:pt x="3050714" y="413804"/>
                  </a:lnTo>
                  <a:lnTo>
                    <a:pt x="3086058" y="429722"/>
                  </a:lnTo>
                  <a:lnTo>
                    <a:pt x="3118986" y="444278"/>
                  </a:lnTo>
                  <a:lnTo>
                    <a:pt x="3149345" y="457326"/>
                  </a:lnTo>
                  <a:lnTo>
                    <a:pt x="3239525" y="497664"/>
                  </a:lnTo>
                  <a:lnTo>
                    <a:pt x="3308877" y="533302"/>
                  </a:lnTo>
                  <a:lnTo>
                    <a:pt x="3360376" y="564914"/>
                  </a:lnTo>
                  <a:lnTo>
                    <a:pt x="3396995" y="593169"/>
                  </a:lnTo>
                  <a:lnTo>
                    <a:pt x="3437489" y="642296"/>
                  </a:lnTo>
                  <a:lnTo>
                    <a:pt x="3447310" y="664510"/>
                  </a:lnTo>
                  <a:lnTo>
                    <a:pt x="3454145" y="686054"/>
                  </a:lnTo>
                </a:path>
              </a:pathLst>
            </a:custGeom>
            <a:noFill/>
            <a:ln cap="flat" cmpd="sng" w="28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2" name="Google Shape;1502;p107"/>
            <p:cNvSpPr/>
            <p:nvPr/>
          </p:nvSpPr>
          <p:spPr>
            <a:xfrm>
              <a:off x="7347819" y="4698111"/>
              <a:ext cx="890904" cy="609600"/>
            </a:xfrm>
            <a:custGeom>
              <a:rect b="b" l="l" r="r" t="t"/>
              <a:pathLst>
                <a:path extrusionOk="0" h="609600" w="890904">
                  <a:moveTo>
                    <a:pt x="77997" y="0"/>
                  </a:moveTo>
                  <a:lnTo>
                    <a:pt x="55712" y="46514"/>
                  </a:lnTo>
                  <a:lnTo>
                    <a:pt x="35099" y="92715"/>
                  </a:lnTo>
                  <a:lnTo>
                    <a:pt x="17828" y="138288"/>
                  </a:lnTo>
                  <a:lnTo>
                    <a:pt x="5571" y="182921"/>
                  </a:lnTo>
                  <a:lnTo>
                    <a:pt x="0" y="226300"/>
                  </a:lnTo>
                  <a:lnTo>
                    <a:pt x="2785" y="268111"/>
                  </a:lnTo>
                  <a:lnTo>
                    <a:pt x="15599" y="308040"/>
                  </a:lnTo>
                  <a:lnTo>
                    <a:pt x="40113" y="345774"/>
                  </a:lnTo>
                  <a:lnTo>
                    <a:pt x="77997" y="381000"/>
                  </a:lnTo>
                  <a:lnTo>
                    <a:pt x="133921" y="415338"/>
                  </a:lnTo>
                  <a:lnTo>
                    <a:pt x="204716" y="446885"/>
                  </a:lnTo>
                  <a:lnTo>
                    <a:pt x="245072" y="461728"/>
                  </a:lnTo>
                  <a:lnTo>
                    <a:pt x="288402" y="476013"/>
                  </a:lnTo>
                  <a:lnTo>
                    <a:pt x="334460" y="489786"/>
                  </a:lnTo>
                  <a:lnTo>
                    <a:pt x="382997" y="503093"/>
                  </a:lnTo>
                  <a:lnTo>
                    <a:pt x="433766" y="515982"/>
                  </a:lnTo>
                  <a:lnTo>
                    <a:pt x="486519" y="528498"/>
                  </a:lnTo>
                  <a:lnTo>
                    <a:pt x="541009" y="540689"/>
                  </a:lnTo>
                  <a:lnTo>
                    <a:pt x="596988" y="552601"/>
                  </a:lnTo>
                  <a:lnTo>
                    <a:pt x="654207" y="564280"/>
                  </a:lnTo>
                  <a:lnTo>
                    <a:pt x="712421" y="575772"/>
                  </a:lnTo>
                  <a:lnTo>
                    <a:pt x="771379" y="587126"/>
                  </a:lnTo>
                  <a:lnTo>
                    <a:pt x="830836" y="598386"/>
                  </a:lnTo>
                  <a:lnTo>
                    <a:pt x="890543" y="609600"/>
                  </a:ln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3" name="Google Shape;1503;p107"/>
            <p:cNvSpPr/>
            <p:nvPr/>
          </p:nvSpPr>
          <p:spPr>
            <a:xfrm>
              <a:off x="8238363" y="4545711"/>
              <a:ext cx="3048000" cy="927735"/>
            </a:xfrm>
            <a:custGeom>
              <a:rect b="b" l="l" r="r" t="t"/>
              <a:pathLst>
                <a:path extrusionOk="0" h="927735" w="3048000">
                  <a:moveTo>
                    <a:pt x="0" y="761619"/>
                  </a:moveTo>
                  <a:lnTo>
                    <a:pt x="56444" y="787019"/>
                  </a:lnTo>
                  <a:lnTo>
                    <a:pt x="95250" y="799719"/>
                  </a:lnTo>
                  <a:lnTo>
                    <a:pt x="146755" y="812419"/>
                  </a:lnTo>
                  <a:lnTo>
                    <a:pt x="215194" y="825119"/>
                  </a:lnTo>
                  <a:lnTo>
                    <a:pt x="304800" y="837819"/>
                  </a:lnTo>
                  <a:lnTo>
                    <a:pt x="340051" y="842698"/>
                  </a:lnTo>
                  <a:lnTo>
                    <a:pt x="377968" y="848756"/>
                  </a:lnTo>
                  <a:lnTo>
                    <a:pt x="418394" y="855757"/>
                  </a:lnTo>
                  <a:lnTo>
                    <a:pt x="461172" y="863465"/>
                  </a:lnTo>
                  <a:lnTo>
                    <a:pt x="506144" y="871645"/>
                  </a:lnTo>
                  <a:lnTo>
                    <a:pt x="553155" y="880062"/>
                  </a:lnTo>
                  <a:lnTo>
                    <a:pt x="602047" y="888481"/>
                  </a:lnTo>
                  <a:lnTo>
                    <a:pt x="652665" y="896666"/>
                  </a:lnTo>
                  <a:lnTo>
                    <a:pt x="704849" y="904382"/>
                  </a:lnTo>
                  <a:lnTo>
                    <a:pt x="758446" y="911394"/>
                  </a:lnTo>
                  <a:lnTo>
                    <a:pt x="813296" y="917466"/>
                  </a:lnTo>
                  <a:lnTo>
                    <a:pt x="869244" y="922363"/>
                  </a:lnTo>
                  <a:lnTo>
                    <a:pt x="926133" y="925849"/>
                  </a:lnTo>
                  <a:lnTo>
                    <a:pt x="983805" y="927690"/>
                  </a:lnTo>
                  <a:lnTo>
                    <a:pt x="1042105" y="927650"/>
                  </a:lnTo>
                  <a:lnTo>
                    <a:pt x="1100875" y="925494"/>
                  </a:lnTo>
                  <a:lnTo>
                    <a:pt x="1159959" y="920986"/>
                  </a:lnTo>
                  <a:lnTo>
                    <a:pt x="1219200" y="913891"/>
                  </a:lnTo>
                  <a:lnTo>
                    <a:pt x="1262818" y="907196"/>
                  </a:lnTo>
                  <a:lnTo>
                    <a:pt x="1308211" y="899342"/>
                  </a:lnTo>
                  <a:lnTo>
                    <a:pt x="1355204" y="890386"/>
                  </a:lnTo>
                  <a:lnTo>
                    <a:pt x="1403621" y="880387"/>
                  </a:lnTo>
                  <a:lnTo>
                    <a:pt x="1453286" y="869405"/>
                  </a:lnTo>
                  <a:lnTo>
                    <a:pt x="1504024" y="857497"/>
                  </a:lnTo>
                  <a:lnTo>
                    <a:pt x="1555660" y="844722"/>
                  </a:lnTo>
                  <a:lnTo>
                    <a:pt x="1608017" y="831138"/>
                  </a:lnTo>
                  <a:lnTo>
                    <a:pt x="1660921" y="816804"/>
                  </a:lnTo>
                  <a:lnTo>
                    <a:pt x="1714195" y="801778"/>
                  </a:lnTo>
                  <a:lnTo>
                    <a:pt x="1767664" y="786119"/>
                  </a:lnTo>
                  <a:lnTo>
                    <a:pt x="1821153" y="769885"/>
                  </a:lnTo>
                  <a:lnTo>
                    <a:pt x="1874485" y="753135"/>
                  </a:lnTo>
                  <a:lnTo>
                    <a:pt x="1927486" y="735927"/>
                  </a:lnTo>
                  <a:lnTo>
                    <a:pt x="1979980" y="718320"/>
                  </a:lnTo>
                  <a:lnTo>
                    <a:pt x="2031791" y="700371"/>
                  </a:lnTo>
                  <a:lnTo>
                    <a:pt x="2082744" y="682141"/>
                  </a:lnTo>
                  <a:lnTo>
                    <a:pt x="2132663" y="663686"/>
                  </a:lnTo>
                  <a:lnTo>
                    <a:pt x="2181373" y="645066"/>
                  </a:lnTo>
                  <a:lnTo>
                    <a:pt x="2228697" y="626339"/>
                  </a:lnTo>
                  <a:lnTo>
                    <a:pt x="2274461" y="607564"/>
                  </a:lnTo>
                  <a:lnTo>
                    <a:pt x="2318489" y="588798"/>
                  </a:lnTo>
                  <a:lnTo>
                    <a:pt x="2360605" y="570101"/>
                  </a:lnTo>
                  <a:lnTo>
                    <a:pt x="2400634" y="551530"/>
                  </a:lnTo>
                  <a:lnTo>
                    <a:pt x="2438400" y="533145"/>
                  </a:lnTo>
                  <a:lnTo>
                    <a:pt x="2493801" y="504135"/>
                  </a:lnTo>
                  <a:lnTo>
                    <a:pt x="2545853" y="474290"/>
                  </a:lnTo>
                  <a:lnTo>
                    <a:pt x="2594781" y="443666"/>
                  </a:lnTo>
                  <a:lnTo>
                    <a:pt x="2640806" y="412319"/>
                  </a:lnTo>
                  <a:lnTo>
                    <a:pt x="2684152" y="380304"/>
                  </a:lnTo>
                  <a:lnTo>
                    <a:pt x="2725042" y="347678"/>
                  </a:lnTo>
                  <a:lnTo>
                    <a:pt x="2763701" y="314496"/>
                  </a:lnTo>
                  <a:lnTo>
                    <a:pt x="2800350" y="280812"/>
                  </a:lnTo>
                  <a:lnTo>
                    <a:pt x="2835212" y="246684"/>
                  </a:lnTo>
                  <a:lnTo>
                    <a:pt x="2868513" y="212167"/>
                  </a:lnTo>
                  <a:lnTo>
                    <a:pt x="2900474" y="177315"/>
                  </a:lnTo>
                  <a:lnTo>
                    <a:pt x="2931318" y="142186"/>
                  </a:lnTo>
                  <a:lnTo>
                    <a:pt x="2961270" y="106834"/>
                  </a:lnTo>
                  <a:lnTo>
                    <a:pt x="2990552" y="71315"/>
                  </a:lnTo>
                  <a:lnTo>
                    <a:pt x="3019387" y="35685"/>
                  </a:lnTo>
                  <a:lnTo>
                    <a:pt x="30480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04" name="Google Shape;1504;p10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5" name="Google Shape;1505;p10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6" name="Google Shape;1506;p10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0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12" name="Google Shape;1512;p10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13" name="Google Shape;1513;p10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Edge Hysteresis</a:t>
            </a:r>
            <a:endParaRPr/>
          </a:p>
        </p:txBody>
      </p:sp>
      <p:sp>
        <p:nvSpPr>
          <p:cNvPr id="1514" name="Google Shape;1514;p108"/>
          <p:cNvSpPr txBox="1"/>
          <p:nvPr/>
        </p:nvSpPr>
        <p:spPr>
          <a:xfrm>
            <a:off x="650240" y="1333245"/>
            <a:ext cx="10935900" cy="4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900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Idea: Maintain two thresholds </a:t>
            </a: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US" sz="3600">
                <a:latin typeface="Calibri"/>
                <a:ea typeface="Calibri"/>
                <a:cs typeface="Calibri"/>
                <a:sym typeface="Calibri"/>
              </a:rPr>
              <a:t>high 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and </a:t>
            </a: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US" sz="3600">
                <a:latin typeface="Calibri"/>
                <a:ea typeface="Calibri"/>
                <a:cs typeface="Calibri"/>
                <a:sym typeface="Calibri"/>
              </a:rPr>
              <a:t>low</a:t>
            </a:r>
            <a:endParaRPr baseline="-25000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50800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Use </a:t>
            </a: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high </a:t>
            </a:r>
            <a:r>
              <a:rPr lang="en-US" sz="36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to find strong edges 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to start edge chain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0" lvl="0" marL="50800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Use </a:t>
            </a: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low </a:t>
            </a:r>
            <a:r>
              <a:rPr lang="en-US" sz="36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to find weak edges 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which </a:t>
            </a:r>
            <a:r>
              <a:rPr lang="en-US" sz="3600" u="sng">
                <a:latin typeface="Georgia"/>
                <a:ea typeface="Georgia"/>
                <a:cs typeface="Georgia"/>
                <a:sym typeface="Georgia"/>
              </a:rPr>
              <a:t>continue edge chain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935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Typical ratio of	thresholds is roughly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0" lvl="0" marL="373380" rtl="0" algn="ctr">
              <a:lnSpc>
                <a:spcPct val="100000"/>
              </a:lnSpc>
              <a:spcBef>
                <a:spcPts val="1785"/>
              </a:spcBef>
              <a:spcAft>
                <a:spcPts val="0"/>
              </a:spcAft>
              <a:buNone/>
            </a:pPr>
            <a:r>
              <a:rPr baseline="30000" lang="en-US" sz="540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high </a:t>
            </a:r>
            <a:r>
              <a:rPr baseline="30000" lang="en-US" sz="5400">
                <a:latin typeface="Calibri"/>
                <a:ea typeface="Calibri"/>
                <a:cs typeface="Calibri"/>
                <a:sym typeface="Calibri"/>
              </a:rPr>
              <a:t>/ k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low </a:t>
            </a:r>
            <a:r>
              <a:rPr baseline="30000" lang="en-US" sz="5400">
                <a:latin typeface="Calibri"/>
                <a:ea typeface="Calibri"/>
                <a:cs typeface="Calibri"/>
                <a:sym typeface="Calibri"/>
              </a:rPr>
              <a:t>= 2</a:t>
            </a:r>
            <a:endParaRPr baseline="30000" sz="5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10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6" name="Google Shape;1516;p10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7" name="Google Shape;1517;p10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10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523" name="Google Shape;1523;p109"/>
          <p:cNvGrpSpPr/>
          <p:nvPr/>
        </p:nvGrpSpPr>
        <p:grpSpPr>
          <a:xfrm>
            <a:off x="305181" y="974978"/>
            <a:ext cx="11582400" cy="2218380"/>
            <a:chOff x="305181" y="974978"/>
            <a:chExt cx="11582400" cy="2218380"/>
          </a:xfrm>
        </p:grpSpPr>
        <p:sp>
          <p:nvSpPr>
            <p:cNvPr id="1524" name="Google Shape;1524;p109"/>
            <p:cNvSpPr/>
            <p:nvPr/>
          </p:nvSpPr>
          <p:spPr>
            <a:xfrm>
              <a:off x="305181" y="974978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400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25" name="Google Shape;1525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65853" y="990599"/>
              <a:ext cx="3860272" cy="22027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6" name="Google Shape;1526;p109"/>
          <p:cNvSpPr txBox="1"/>
          <p:nvPr>
            <p:ph idx="4294967295" type="title"/>
          </p:nvPr>
        </p:nvSpPr>
        <p:spPr>
          <a:xfrm>
            <a:off x="0" y="153150"/>
            <a:ext cx="121920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Georgia"/>
                <a:ea typeface="Georgia"/>
                <a:cs typeface="Georgia"/>
                <a:sym typeface="Georgia"/>
              </a:rPr>
              <a:t>Hysteresis Thresholding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7" name="Google Shape;1527;p109"/>
          <p:cNvSpPr txBox="1"/>
          <p:nvPr/>
        </p:nvSpPr>
        <p:spPr>
          <a:xfrm>
            <a:off x="5279897" y="3217672"/>
            <a:ext cx="1482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original image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8" name="Google Shape;1528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561" y="3580638"/>
            <a:ext cx="3457136" cy="1955841"/>
          </a:xfrm>
          <a:prstGeom prst="rect">
            <a:avLst/>
          </a:prstGeom>
          <a:noFill/>
          <a:ln>
            <a:noFill/>
          </a:ln>
        </p:spPr>
      </p:pic>
      <p:sp>
        <p:nvSpPr>
          <p:cNvPr id="1529" name="Google Shape;1529;p109"/>
          <p:cNvSpPr txBox="1"/>
          <p:nvPr/>
        </p:nvSpPr>
        <p:spPr>
          <a:xfrm>
            <a:off x="1381505" y="5637276"/>
            <a:ext cx="15144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0795" lvl="0" marL="2286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high threshold (strong edges)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0" name="Google Shape;1530;p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8588" y="3581400"/>
            <a:ext cx="3456389" cy="192248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109"/>
          <p:cNvSpPr txBox="1"/>
          <p:nvPr/>
        </p:nvSpPr>
        <p:spPr>
          <a:xfrm>
            <a:off x="5380990" y="5637276"/>
            <a:ext cx="14427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9844" lvl="0" marL="4191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low threshold (weak edges)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2" name="Google Shape;1532;p10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1580" y="3582161"/>
            <a:ext cx="3454856" cy="1900406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109"/>
          <p:cNvSpPr txBox="1"/>
          <p:nvPr/>
        </p:nvSpPr>
        <p:spPr>
          <a:xfrm>
            <a:off x="9139935" y="5637276"/>
            <a:ext cx="20892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hysteresis threshold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10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5" name="Google Shape;1535;p10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6" name="Google Shape;1536;p10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11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2" name="Google Shape;1542;p11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3" name="Google Shape;1543;p110"/>
          <p:cNvSpPr txBox="1"/>
          <p:nvPr>
            <p:ph idx="4294967295" type="title"/>
          </p:nvPr>
        </p:nvSpPr>
        <p:spPr>
          <a:xfrm>
            <a:off x="0" y="153150"/>
            <a:ext cx="121920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9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Example: Canny Edge Detection</a:t>
            </a:r>
            <a:endParaRPr/>
          </a:p>
        </p:txBody>
      </p:sp>
      <p:pic>
        <p:nvPicPr>
          <p:cNvPr id="1544" name="Google Shape;1544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4100424"/>
            <a:ext cx="3900678" cy="219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6753" y="4103472"/>
            <a:ext cx="3888216" cy="21875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6" name="Google Shape;1546;p110"/>
          <p:cNvGrpSpPr/>
          <p:nvPr/>
        </p:nvGrpSpPr>
        <p:grpSpPr>
          <a:xfrm>
            <a:off x="6400800" y="1725248"/>
            <a:ext cx="3894476" cy="2191431"/>
            <a:chOff x="6400800" y="1725248"/>
            <a:chExt cx="3894476" cy="2191431"/>
          </a:xfrm>
        </p:grpSpPr>
        <p:pic>
          <p:nvPicPr>
            <p:cNvPr id="1547" name="Google Shape;1547;p1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00800" y="1725248"/>
              <a:ext cx="3894476" cy="2191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8" name="Google Shape;1548;p110"/>
            <p:cNvSpPr/>
            <p:nvPr/>
          </p:nvSpPr>
          <p:spPr>
            <a:xfrm>
              <a:off x="8044052" y="1735455"/>
              <a:ext cx="406400" cy="228600"/>
            </a:xfrm>
            <a:custGeom>
              <a:rect b="b" l="l" r="r" t="t"/>
              <a:pathLst>
                <a:path extrusionOk="0" h="228600" w="406400">
                  <a:moveTo>
                    <a:pt x="0" y="228600"/>
                  </a:moveTo>
                  <a:lnTo>
                    <a:pt x="406146" y="228600"/>
                  </a:lnTo>
                  <a:lnTo>
                    <a:pt x="406146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549" name="Google Shape;1549;p1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4332" y="1722120"/>
            <a:ext cx="3896868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p110"/>
          <p:cNvSpPr txBox="1"/>
          <p:nvPr/>
        </p:nvSpPr>
        <p:spPr>
          <a:xfrm>
            <a:off x="9389364" y="6402578"/>
            <a:ext cx="8433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Tahoma"/>
                <a:ea typeface="Tahoma"/>
                <a:cs typeface="Tahoma"/>
                <a:sym typeface="Tahoma"/>
              </a:rPr>
              <a:t>courtesy of G. Loy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1" name="Google Shape;1551;p110"/>
          <p:cNvSpPr txBox="1"/>
          <p:nvPr/>
        </p:nvSpPr>
        <p:spPr>
          <a:xfrm>
            <a:off x="9015983" y="1174750"/>
            <a:ext cx="25686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gap has been filled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2" name="Google Shape;1552;p110"/>
          <p:cNvSpPr/>
          <p:nvPr/>
        </p:nvSpPr>
        <p:spPr>
          <a:xfrm>
            <a:off x="8450198" y="1481963"/>
            <a:ext cx="613409" cy="237489"/>
          </a:xfrm>
          <a:custGeom>
            <a:rect b="b" l="l" r="r" t="t"/>
            <a:pathLst>
              <a:path extrusionOk="0" h="237489" w="613409">
                <a:moveTo>
                  <a:pt x="105536" y="157225"/>
                </a:moveTo>
                <a:lnTo>
                  <a:pt x="0" y="237489"/>
                </a:lnTo>
                <a:lnTo>
                  <a:pt x="132333" y="228600"/>
                </a:lnTo>
                <a:lnTo>
                  <a:pt x="123942" y="206248"/>
                </a:lnTo>
                <a:lnTo>
                  <a:pt x="110362" y="206248"/>
                </a:lnTo>
                <a:lnTo>
                  <a:pt x="103631" y="188467"/>
                </a:lnTo>
                <a:lnTo>
                  <a:pt x="115584" y="183986"/>
                </a:lnTo>
                <a:lnTo>
                  <a:pt x="105536" y="157225"/>
                </a:lnTo>
                <a:close/>
              </a:path>
              <a:path extrusionOk="0" h="237489" w="613409">
                <a:moveTo>
                  <a:pt x="115584" y="183986"/>
                </a:moveTo>
                <a:lnTo>
                  <a:pt x="103631" y="188467"/>
                </a:lnTo>
                <a:lnTo>
                  <a:pt x="110362" y="206248"/>
                </a:lnTo>
                <a:lnTo>
                  <a:pt x="122266" y="201783"/>
                </a:lnTo>
                <a:lnTo>
                  <a:pt x="115584" y="183986"/>
                </a:lnTo>
                <a:close/>
              </a:path>
              <a:path extrusionOk="0" h="237489" w="613409">
                <a:moveTo>
                  <a:pt x="122266" y="201783"/>
                </a:moveTo>
                <a:lnTo>
                  <a:pt x="110362" y="206248"/>
                </a:lnTo>
                <a:lnTo>
                  <a:pt x="123942" y="206248"/>
                </a:lnTo>
                <a:lnTo>
                  <a:pt x="122266" y="201783"/>
                </a:lnTo>
                <a:close/>
              </a:path>
              <a:path extrusionOk="0" h="237489" w="613409">
                <a:moveTo>
                  <a:pt x="606298" y="0"/>
                </a:moveTo>
                <a:lnTo>
                  <a:pt x="115584" y="183986"/>
                </a:lnTo>
                <a:lnTo>
                  <a:pt x="122266" y="201783"/>
                </a:lnTo>
                <a:lnTo>
                  <a:pt x="612901" y="17779"/>
                </a:lnTo>
                <a:lnTo>
                  <a:pt x="60629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53" name="Google Shape;1553;p110"/>
          <p:cNvSpPr txBox="1"/>
          <p:nvPr/>
        </p:nvSpPr>
        <p:spPr>
          <a:xfrm>
            <a:off x="861822" y="2488438"/>
            <a:ext cx="886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82245" lvl="0" marL="19431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Original image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4" name="Google Shape;1554;p110"/>
          <p:cNvSpPr txBox="1"/>
          <p:nvPr/>
        </p:nvSpPr>
        <p:spPr>
          <a:xfrm>
            <a:off x="985011" y="4790439"/>
            <a:ext cx="7614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75565" lvl="0" marL="8763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Strong edges only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5" name="Google Shape;1555;p110"/>
          <p:cNvSpPr txBox="1"/>
          <p:nvPr/>
        </p:nvSpPr>
        <p:spPr>
          <a:xfrm>
            <a:off x="10311383" y="2359405"/>
            <a:ext cx="13482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Strong + connected weak edges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6" name="Google Shape;1556;p110"/>
          <p:cNvSpPr txBox="1"/>
          <p:nvPr/>
        </p:nvSpPr>
        <p:spPr>
          <a:xfrm>
            <a:off x="10442702" y="4877815"/>
            <a:ext cx="6858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Weak edges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7" name="Google Shape;1557;p11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8" name="Google Shape;1558;p11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9" name="Google Shape;1559;p11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11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65" name="Google Shape;1565;p11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66" name="Google Shape;1566;p11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Edge Detection – Comparison Examples</a:t>
            </a:r>
            <a:endParaRPr/>
          </a:p>
        </p:txBody>
      </p:sp>
      <p:pic>
        <p:nvPicPr>
          <p:cNvPr id="1567" name="Google Shape;1567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121663"/>
            <a:ext cx="3441191" cy="2536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1144524"/>
            <a:ext cx="3566159" cy="2589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1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33600" y="3784853"/>
            <a:ext cx="3487674" cy="2615946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111"/>
          <p:cNvSpPr txBox="1"/>
          <p:nvPr/>
        </p:nvSpPr>
        <p:spPr>
          <a:xfrm>
            <a:off x="712427" y="2153675"/>
            <a:ext cx="1344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6680" lvl="0" marL="11874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Original Image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1" name="Google Shape;1571;p111"/>
          <p:cNvSpPr txBox="1"/>
          <p:nvPr/>
        </p:nvSpPr>
        <p:spPr>
          <a:xfrm>
            <a:off x="9897095" y="2604250"/>
            <a:ext cx="907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Sobel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2" name="Google Shape;1572;p111"/>
          <p:cNvSpPr txBox="1"/>
          <p:nvPr/>
        </p:nvSpPr>
        <p:spPr>
          <a:xfrm>
            <a:off x="9868148" y="4922000"/>
            <a:ext cx="907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Canny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3" name="Google Shape;1573;p111"/>
          <p:cNvSpPr txBox="1"/>
          <p:nvPr/>
        </p:nvSpPr>
        <p:spPr>
          <a:xfrm>
            <a:off x="1313397" y="5128250"/>
            <a:ext cx="736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LoG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574" name="Google Shape;1574;p1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3600" y="3828288"/>
            <a:ext cx="3566159" cy="2572512"/>
          </a:xfrm>
          <a:prstGeom prst="rect">
            <a:avLst/>
          </a:prstGeom>
          <a:noFill/>
          <a:ln>
            <a:noFill/>
          </a:ln>
        </p:spPr>
      </p:pic>
      <p:sp>
        <p:nvSpPr>
          <p:cNvPr id="1575" name="Google Shape;1575;p11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6" name="Google Shape;1576;p11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7" name="Google Shape;1577;p11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11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583" name="Google Shape;1583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1996" y="304800"/>
            <a:ext cx="4375404" cy="2870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4653" y="304800"/>
            <a:ext cx="4313682" cy="2870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5" name="Google Shape;1585;p1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0" y="3276600"/>
            <a:ext cx="4319778" cy="2926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6" name="Google Shape;1586;p1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94653" y="3276600"/>
            <a:ext cx="4313682" cy="2870454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12"/>
          <p:cNvSpPr txBox="1"/>
          <p:nvPr>
            <p:ph idx="4294967295" type="title"/>
          </p:nvPr>
        </p:nvSpPr>
        <p:spPr>
          <a:xfrm>
            <a:off x="381300" y="1071925"/>
            <a:ext cx="1059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6679" lvl="0" marL="11937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Original </a:t>
            </a:r>
            <a:endParaRPr b="1" sz="1800">
              <a:latin typeface="Georgia"/>
              <a:ea typeface="Georgia"/>
              <a:cs typeface="Georgia"/>
              <a:sym typeface="Georgia"/>
            </a:endParaRPr>
          </a:p>
          <a:p>
            <a:pPr indent="-106679" lvl="0" marL="11937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Image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8" name="Google Shape;1588;p112"/>
          <p:cNvSpPr txBox="1"/>
          <p:nvPr/>
        </p:nvSpPr>
        <p:spPr>
          <a:xfrm>
            <a:off x="10506693" y="1836175"/>
            <a:ext cx="1030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Sobel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9" name="Google Shape;1589;p112"/>
          <p:cNvSpPr txBox="1"/>
          <p:nvPr/>
        </p:nvSpPr>
        <p:spPr>
          <a:xfrm>
            <a:off x="10477747" y="4153925"/>
            <a:ext cx="1059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Canny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0" name="Google Shape;1590;p112"/>
          <p:cNvSpPr txBox="1"/>
          <p:nvPr/>
        </p:nvSpPr>
        <p:spPr>
          <a:xfrm>
            <a:off x="818473" y="4359900"/>
            <a:ext cx="622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LoG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1" name="Google Shape;1591;p11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2" name="Google Shape;1592;p11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3" name="Google Shape;1593;p11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1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99" name="Google Shape;1599;p11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600" name="Google Shape;1600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254" y="2057400"/>
            <a:ext cx="3263646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1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8546" y="2057400"/>
            <a:ext cx="3251454" cy="2448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2" name="Google Shape;1602;p1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13954" y="2057400"/>
            <a:ext cx="3263646" cy="2448306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113"/>
          <p:cNvSpPr txBox="1"/>
          <p:nvPr/>
        </p:nvSpPr>
        <p:spPr>
          <a:xfrm>
            <a:off x="4756658" y="4719827"/>
            <a:ext cx="22719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σ = 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b="1" baseline="-25000" lang="en-US" sz="1950">
                <a:latin typeface="Georgia"/>
                <a:ea typeface="Georgia"/>
                <a:cs typeface="Georgia"/>
                <a:sym typeface="Georgia"/>
              </a:rPr>
              <a:t>high </a:t>
            </a: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= 255 T</a:t>
            </a:r>
            <a:r>
              <a:rPr b="1" baseline="-25000" lang="en-US" sz="1950">
                <a:latin typeface="Georgia"/>
                <a:ea typeface="Georgia"/>
                <a:cs typeface="Georgia"/>
                <a:sym typeface="Georgia"/>
              </a:rPr>
              <a:t>low </a:t>
            </a: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= 1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4" name="Google Shape;1604;p113"/>
          <p:cNvSpPr txBox="1"/>
          <p:nvPr/>
        </p:nvSpPr>
        <p:spPr>
          <a:xfrm>
            <a:off x="8178053" y="4719825"/>
            <a:ext cx="32064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635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σ = 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b="1" baseline="-25000" lang="en-US" sz="1950">
                <a:latin typeface="Georgia"/>
                <a:ea typeface="Georgia"/>
                <a:cs typeface="Georgia"/>
                <a:sym typeface="Georgia"/>
              </a:rPr>
              <a:t>high </a:t>
            </a: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= 255 T</a:t>
            </a:r>
            <a:r>
              <a:rPr b="1" baseline="-25000" lang="en-US" sz="1950">
                <a:latin typeface="Georgia"/>
                <a:ea typeface="Georgia"/>
                <a:cs typeface="Georgia"/>
                <a:sym typeface="Georgia"/>
              </a:rPr>
              <a:t>low </a:t>
            </a: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= 220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5" name="Google Shape;1605;p11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Canny Edge Detection: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Effect of	Threshold</a:t>
            </a:r>
            <a:endParaRPr/>
          </a:p>
        </p:txBody>
      </p:sp>
      <p:sp>
        <p:nvSpPr>
          <p:cNvPr id="1606" name="Google Shape;1606;p11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7" name="Google Shape;1607;p11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8" name="Google Shape;1608;p11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1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14" name="Google Shape;1614;p11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15" name="Google Shape;1615;p11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Canny Edge Detection: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Gaussian kernel size</a:t>
            </a:r>
            <a:endParaRPr/>
          </a:p>
        </p:txBody>
      </p:sp>
      <p:pic>
        <p:nvPicPr>
          <p:cNvPr id="1616" name="Google Shape;1616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2057400"/>
            <a:ext cx="3225546" cy="2391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7" name="Google Shape;1617;p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254" y="2057400"/>
            <a:ext cx="3263646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8" name="Google Shape;1618;p1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7200" y="2057400"/>
            <a:ext cx="3238500" cy="2410206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p114"/>
          <p:cNvSpPr txBox="1"/>
          <p:nvPr/>
        </p:nvSpPr>
        <p:spPr>
          <a:xfrm>
            <a:off x="4604258" y="4719827"/>
            <a:ext cx="22719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σ = 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b="1" baseline="-25000" lang="en-US" sz="1950">
                <a:latin typeface="Georgia"/>
                <a:ea typeface="Georgia"/>
                <a:cs typeface="Georgia"/>
                <a:sym typeface="Georgia"/>
              </a:rPr>
              <a:t>high </a:t>
            </a: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= 120 T</a:t>
            </a:r>
            <a:r>
              <a:rPr b="1" baseline="-25000" lang="en-US" sz="1950">
                <a:latin typeface="Georgia"/>
                <a:ea typeface="Georgia"/>
                <a:cs typeface="Georgia"/>
                <a:sym typeface="Georgia"/>
              </a:rPr>
              <a:t>low </a:t>
            </a: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= 1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20" name="Google Shape;1620;p114"/>
          <p:cNvSpPr txBox="1"/>
          <p:nvPr/>
        </p:nvSpPr>
        <p:spPr>
          <a:xfrm>
            <a:off x="8160511" y="4716017"/>
            <a:ext cx="22719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635" rtl="0" algn="ctr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σ = </a:t>
            </a: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2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b="1" baseline="-25000" lang="en-US" sz="1950">
                <a:latin typeface="Georgia"/>
                <a:ea typeface="Georgia"/>
                <a:cs typeface="Georgia"/>
                <a:sym typeface="Georgia"/>
              </a:rPr>
              <a:t>high </a:t>
            </a: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= 120 T</a:t>
            </a:r>
            <a:r>
              <a:rPr b="1" baseline="-25000" lang="en-US" sz="1950">
                <a:latin typeface="Georgia"/>
                <a:ea typeface="Georgia"/>
                <a:cs typeface="Georgia"/>
                <a:sym typeface="Georgia"/>
              </a:rPr>
              <a:t>low </a:t>
            </a:r>
            <a:r>
              <a:rPr b="1" lang="en-US" sz="2000">
                <a:latin typeface="Georgia"/>
                <a:ea typeface="Georgia"/>
                <a:cs typeface="Georgia"/>
                <a:sym typeface="Georgia"/>
              </a:rPr>
              <a:t>= 1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21" name="Google Shape;1621;p11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2" name="Google Shape;1622;p11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3" name="Google Shape;1623;p11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115"/>
          <p:cNvSpPr txBox="1"/>
          <p:nvPr>
            <p:ph idx="4294967295" type="ctrTitle"/>
          </p:nvPr>
        </p:nvSpPr>
        <p:spPr>
          <a:xfrm>
            <a:off x="0" y="149175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Object boundaries vs. edges: </a:t>
            </a: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Edge detection is just the beginning…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629" name="Google Shape;1629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410" y="1600200"/>
            <a:ext cx="4614672" cy="2309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0" name="Google Shape;1630;p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79" y="1600200"/>
            <a:ext cx="4623055" cy="2313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1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1600" y="3994403"/>
            <a:ext cx="4623055" cy="2313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1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79" y="3994403"/>
            <a:ext cx="4623055" cy="2313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33" name="Google Shape;1633;p115"/>
          <p:cNvSpPr txBox="1"/>
          <p:nvPr/>
        </p:nvSpPr>
        <p:spPr>
          <a:xfrm>
            <a:off x="3244088" y="1150365"/>
            <a:ext cx="65823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Georgia"/>
                <a:ea typeface="Georgia"/>
                <a:cs typeface="Georgia"/>
                <a:sym typeface="Georgia"/>
              </a:rPr>
              <a:t>Image	                           Object segmentation</a:t>
            </a:r>
            <a:endParaRPr sz="2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34" name="Google Shape;1634;p11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5" name="Google Shape;1635;p115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11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41" name="Google Shape;1641;p11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42" name="Google Shape;1642;p11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Canny Operator In MATLAB</a:t>
            </a:r>
            <a:endParaRPr/>
          </a:p>
        </p:txBody>
      </p:sp>
      <p:sp>
        <p:nvSpPr>
          <p:cNvPr id="1643" name="Google Shape;1643;p116"/>
          <p:cNvSpPr txBox="1"/>
          <p:nvPr/>
        </p:nvSpPr>
        <p:spPr>
          <a:xfrm>
            <a:off x="688340" y="1125864"/>
            <a:ext cx="60756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-532765" lvl="0" marL="545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In MATLAB: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532764" lvl="1" marL="945514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&gt;&gt; edge(image, ‘canny’);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532764" lvl="1" marL="945514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&gt;&gt; help edge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4" name="Google Shape;1644;p11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5" name="Google Shape;1645;p11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6" name="Google Shape;1646;p11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11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2" name="Google Shape;1652;p117"/>
          <p:cNvSpPr txBox="1"/>
          <p:nvPr/>
        </p:nvSpPr>
        <p:spPr>
          <a:xfrm>
            <a:off x="2945850" y="2874900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653" name="Google Shape;1653;p117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