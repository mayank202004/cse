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6858000" cx="12192000"/>
  <p:notesSz cx="12192000" cy="6858000"/>
  <p:embeddedFontLst>
    <p:embeddedFont>
      <p:font typeface="Noto Sans Symbols"/>
      <p:regular r:id="rId45"/>
      <p:bold r:id="rId46"/>
    </p:embeddedFont>
    <p:embeddedFont>
      <p:font typeface="Bell MT"/>
      <p:regular r:id="rId47"/>
      <p:bold r:id="rId48"/>
      <p:italic r:id="rId49"/>
      <p:boldItalic r:id="rId50"/>
    </p:embeddedFont>
    <p:embeddedFont>
      <p:font typeface="Cambria Math"/>
      <p:regular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NotoSansSymbols-bold.fntdata"/><Relationship Id="rId45" Type="http://schemas.openxmlformats.org/officeDocument/2006/relationships/font" Target="fonts/NotoSansSymbol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BellMT-bold.fntdata"/><Relationship Id="rId47" Type="http://schemas.openxmlformats.org/officeDocument/2006/relationships/font" Target="fonts/BellMT-regular.fntdata"/><Relationship Id="rId49" Type="http://schemas.openxmlformats.org/officeDocument/2006/relationships/font" Target="fonts/BellM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CambriaMath-regular.fntdata"/><Relationship Id="rId50" Type="http://schemas.openxmlformats.org/officeDocument/2006/relationships/font" Target="fonts/BellM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1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1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1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1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1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1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1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1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1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1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1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1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1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1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1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2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2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2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2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2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2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2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2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2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2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2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2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2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2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2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2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2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3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43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3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3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3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43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3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43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3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43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3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43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3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43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3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43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3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3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3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43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4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44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4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44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4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44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4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4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44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44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44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44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44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44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4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44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4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44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4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44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5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5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" name="Google Shape;19;p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" name="Google Shape;26;p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" name="Google Shape;33;p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0" y="153150"/>
            <a:ext cx="121920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0" y="1058675"/>
            <a:ext cx="12192000" cy="3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205740" y="6547862"/>
            <a:ext cx="429005" cy="20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5.jp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hyperlink" Target="https://summerofhpc.prace-ri.eu/breaking-the-4th-dimensional-wall-of-object-tracking/" TargetMode="External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31.png"/><Relationship Id="rId11" Type="http://schemas.openxmlformats.org/officeDocument/2006/relationships/image" Target="../media/image41.png"/><Relationship Id="rId10" Type="http://schemas.openxmlformats.org/officeDocument/2006/relationships/image" Target="../media/image40.png"/><Relationship Id="rId9" Type="http://schemas.openxmlformats.org/officeDocument/2006/relationships/image" Target="../media/image44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3.png"/><Relationship Id="rId8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7.png"/><Relationship Id="rId4" Type="http://schemas.openxmlformats.org/officeDocument/2006/relationships/image" Target="../media/image43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5.png"/><Relationship Id="rId4" Type="http://schemas.openxmlformats.org/officeDocument/2006/relationships/image" Target="../media/image51.png"/><Relationship Id="rId11" Type="http://schemas.openxmlformats.org/officeDocument/2006/relationships/hyperlink" Target="http://www.cse.psu.edu/%7Ertc12/CSE486/lecture06.pdf" TargetMode="External"/><Relationship Id="rId10" Type="http://schemas.openxmlformats.org/officeDocument/2006/relationships/image" Target="../media/image45.png"/><Relationship Id="rId9" Type="http://schemas.openxmlformats.org/officeDocument/2006/relationships/image" Target="../media/image56.png"/><Relationship Id="rId5" Type="http://schemas.openxmlformats.org/officeDocument/2006/relationships/image" Target="../media/image50.png"/><Relationship Id="rId6" Type="http://schemas.openxmlformats.org/officeDocument/2006/relationships/image" Target="../media/image52.png"/><Relationship Id="rId7" Type="http://schemas.openxmlformats.org/officeDocument/2006/relationships/image" Target="../media/image59.png"/><Relationship Id="rId8" Type="http://schemas.openxmlformats.org/officeDocument/2006/relationships/image" Target="../media/image5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0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9.jpg"/><Relationship Id="rId4" Type="http://schemas.openxmlformats.org/officeDocument/2006/relationships/image" Target="../media/image53.png"/><Relationship Id="rId5" Type="http://schemas.openxmlformats.org/officeDocument/2006/relationships/image" Target="../media/image48.png"/><Relationship Id="rId6" Type="http://schemas.openxmlformats.org/officeDocument/2006/relationships/image" Target="../media/image6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8.png"/><Relationship Id="rId4" Type="http://schemas.openxmlformats.org/officeDocument/2006/relationships/image" Target="../media/image6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" name="Google Shape;40;p7"/>
          <p:cNvSpPr txBox="1"/>
          <p:nvPr>
            <p:ph idx="4294967295" type="title"/>
          </p:nvPr>
        </p:nvSpPr>
        <p:spPr>
          <a:xfrm>
            <a:off x="0" y="2264150"/>
            <a:ext cx="121920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Bell MT"/>
                <a:ea typeface="Bell MT"/>
                <a:cs typeface="Bell MT"/>
                <a:sym typeface="Bell MT"/>
              </a:rPr>
              <a:t>Corner Detection</a:t>
            </a:r>
            <a:endParaRPr sz="6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0">
                <a:solidFill>
                  <a:srgbClr val="002060"/>
                </a:solidFill>
              </a:rPr>
              <a:t>.</a:t>
            </a:r>
            <a:endParaRPr sz="100"/>
          </a:p>
        </p:txBody>
      </p:sp>
      <p:sp>
        <p:nvSpPr>
          <p:cNvPr id="41" name="Google Shape;41;p7"/>
          <p:cNvSpPr txBox="1"/>
          <p:nvPr/>
        </p:nvSpPr>
        <p:spPr>
          <a:xfrm>
            <a:off x="2106041" y="4340606"/>
            <a:ext cx="79788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Extraction of	High Level Features from Images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" name="Google Shape;50;p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" name="Google Shape;51;p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see some examples first …</a:t>
            </a:r>
            <a:endParaRPr/>
          </a:p>
        </p:txBody>
      </p:sp>
      <p:pic>
        <p:nvPicPr>
          <p:cNvPr id="52" name="Google Shape;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71" y="1060253"/>
            <a:ext cx="5795115" cy="262852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/>
        </p:nvSpPr>
        <p:spPr>
          <a:xfrm>
            <a:off x="3888740" y="4514342"/>
            <a:ext cx="14338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Edge Detection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 txBox="1"/>
          <p:nvPr/>
        </p:nvSpPr>
        <p:spPr>
          <a:xfrm>
            <a:off x="8765463" y="5962065"/>
            <a:ext cx="16211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Corner Detection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" name="Google Shape;55;p8"/>
          <p:cNvGrpSpPr/>
          <p:nvPr/>
        </p:nvGrpSpPr>
        <p:grpSpPr>
          <a:xfrm>
            <a:off x="6454902" y="1080516"/>
            <a:ext cx="5584697" cy="4786883"/>
            <a:chOff x="6454902" y="1080516"/>
            <a:chExt cx="5584697" cy="4786883"/>
          </a:xfrm>
        </p:grpSpPr>
        <p:pic>
          <p:nvPicPr>
            <p:cNvPr id="56" name="Google Shape;56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439150" y="2266950"/>
              <a:ext cx="3600449" cy="36004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54902" y="1080516"/>
              <a:ext cx="2928365" cy="21960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" name="Google Shape;66;p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" name="Google Shape;67;p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Motivation: Application of	 Corners</a:t>
            </a:r>
            <a:endParaRPr/>
          </a:p>
        </p:txBody>
      </p:sp>
      <p:sp>
        <p:nvSpPr>
          <p:cNvPr id="68" name="Google Shape;68;p9"/>
          <p:cNvSpPr txBox="1"/>
          <p:nvPr/>
        </p:nvSpPr>
        <p:spPr>
          <a:xfrm>
            <a:off x="688355" y="1368800"/>
            <a:ext cx="52161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Object Recognition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9" name="Google Shape;69;p9"/>
          <p:cNvSpPr txBox="1"/>
          <p:nvPr/>
        </p:nvSpPr>
        <p:spPr>
          <a:xfrm>
            <a:off x="122623" y="6195625"/>
            <a:ext cx="6051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Calibri"/>
                <a:ea typeface="Calibri"/>
                <a:cs typeface="Calibri"/>
                <a:sym typeface="Calibri"/>
              </a:rPr>
              <a:t>Image source: </a:t>
            </a:r>
            <a:r>
              <a:rPr lang="en-US" sz="1100">
                <a:latin typeface="Calibri"/>
                <a:ea typeface="Calibri"/>
                <a:cs typeface="Calibri"/>
                <a:sym typeface="Calibri"/>
              </a:rPr>
              <a:t>https://circuitdigest.com/tutorial/object-detection-using-python-opencv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70;p9"/>
          <p:cNvGrpSpPr/>
          <p:nvPr/>
        </p:nvGrpSpPr>
        <p:grpSpPr>
          <a:xfrm>
            <a:off x="3610355" y="2138172"/>
            <a:ext cx="4972049" cy="3068573"/>
            <a:chOff x="3610355" y="2138172"/>
            <a:chExt cx="4972049" cy="3068573"/>
          </a:xfrm>
        </p:grpSpPr>
        <p:pic>
          <p:nvPicPr>
            <p:cNvPr id="71" name="Google Shape;71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10355" y="2138172"/>
              <a:ext cx="4972049" cy="25816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57877" y="4696206"/>
              <a:ext cx="3493007" cy="5105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" name="Google Shape;73;p9"/>
          <p:cNvSpPr txBox="1"/>
          <p:nvPr/>
        </p:nvSpPr>
        <p:spPr>
          <a:xfrm>
            <a:off x="4487867" y="4742942"/>
            <a:ext cx="32143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Matching of Objects using Corners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" name="Google Shape;82;p1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" name="Google Shape;83;p1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Motivation: Application of	 Corners</a:t>
            </a:r>
            <a:endParaRPr/>
          </a:p>
        </p:txBody>
      </p:sp>
      <p:sp>
        <p:nvSpPr>
          <p:cNvPr id="84" name="Google Shape;84;p10"/>
          <p:cNvSpPr txBox="1"/>
          <p:nvPr/>
        </p:nvSpPr>
        <p:spPr>
          <a:xfrm>
            <a:off x="688340" y="894128"/>
            <a:ext cx="6368415" cy="150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Image registration (image stitching)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Find corresponding pairs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Use these pairs to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align images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5" name="Google Shape;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758" y="2590812"/>
            <a:ext cx="10160494" cy="380998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" name="Google Shape;94;p1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" name="Google Shape;95;p11"/>
          <p:cNvSpPr txBox="1"/>
          <p:nvPr>
            <p:ph idx="4294967295" type="title"/>
          </p:nvPr>
        </p:nvSpPr>
        <p:spPr>
          <a:xfrm>
            <a:off x="0" y="153150"/>
            <a:ext cx="12192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Motivation: Application of	 Corners	…</a:t>
            </a:r>
            <a:r>
              <a:rPr lang="en-US" sz="4200"/>
              <a:t>contd</a:t>
            </a:r>
            <a:endParaRPr sz="4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6" name="Google Shape;96;p11"/>
          <p:cNvSpPr txBox="1"/>
          <p:nvPr/>
        </p:nvSpPr>
        <p:spPr>
          <a:xfrm>
            <a:off x="688352" y="1266700"/>
            <a:ext cx="104445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Image registration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Detect corners and find repeatable points for matching,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637" y="2420192"/>
            <a:ext cx="11926932" cy="318961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" name="Google Shape;106;p1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" name="Google Shape;107;p1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Motivation: Application of	 Corners</a:t>
            </a:r>
            <a:endParaRPr/>
          </a:p>
        </p:txBody>
      </p:sp>
      <p:pic>
        <p:nvPicPr>
          <p:cNvPr id="108" name="Google Shape;1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854" y="1828800"/>
            <a:ext cx="5714999" cy="3428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/>
        </p:nvSpPr>
        <p:spPr>
          <a:xfrm>
            <a:off x="129551" y="6031475"/>
            <a:ext cx="938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Image source: </a:t>
            </a:r>
            <a:r>
              <a:rPr i="1" lang="en-US" sz="1600" u="sng">
                <a:solidFill>
                  <a:srgbClr val="0000FF"/>
                </a:solidFill>
                <a:latin typeface="Bell MT"/>
                <a:ea typeface="Bell MT"/>
                <a:cs typeface="Bell MT"/>
                <a:sym typeface="Bell M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https://summerofhpc.prace-ri.eu/breaking-the-4th-dimensional-wall-of-object-tracking/</a:t>
            </a:r>
            <a:endParaRPr sz="16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1828800"/>
            <a:ext cx="5714999" cy="3428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2"/>
          <p:cNvSpPr txBox="1"/>
          <p:nvPr/>
        </p:nvSpPr>
        <p:spPr>
          <a:xfrm>
            <a:off x="7635872" y="5270250"/>
            <a:ext cx="4185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Lucas-Kanade Feature Tracker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1781665" y="5270246"/>
            <a:ext cx="27743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Tracking using Median Flow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688340" y="1029806"/>
            <a:ext cx="331787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Object Tracking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4" name="Google Shape;114;p1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1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13"/>
          <p:cNvSpPr txBox="1"/>
          <p:nvPr/>
        </p:nvSpPr>
        <p:spPr>
          <a:xfrm>
            <a:off x="457565" y="1064161"/>
            <a:ext cx="75405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8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3D Reconstruction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Image Stitching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Stereo calibration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Robot navigation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… and </a:t>
            </a:r>
            <a:r>
              <a:rPr i="1" lang="en-US" sz="4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many more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/>
              <a:t>Other Applications</a:t>
            </a:r>
            <a:endParaRPr/>
          </a:p>
        </p:txBody>
      </p:sp>
      <p:sp>
        <p:nvSpPr>
          <p:cNvPr id="125" name="Google Shape;125;p13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" name="Google Shape;131;p1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" name="Google Shape;132;p1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Corner Detection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688353" y="1114300"/>
            <a:ext cx="11024100" cy="4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It relates to a broader topic called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i="1"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Feature-point</a:t>
            </a:r>
            <a:r>
              <a:rPr i="1"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or </a:t>
            </a:r>
            <a:r>
              <a:rPr i="1"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Interest-point</a:t>
            </a:r>
            <a:r>
              <a:rPr i="1"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or</a:t>
            </a:r>
            <a:r>
              <a:rPr i="1"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Key-point Detection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34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Other interest point/key point detection methods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SIFT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: Scale Invariant Feature Transform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SURF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: Speeded-up Robust Feature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HOG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: Histogram of	Oriented Gradient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…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many more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2" name="Google Shape;142;p1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3" name="Google Shape;143;p1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Edge (feature) </a:t>
            </a: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in an Image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33780" y="4343780"/>
            <a:ext cx="11176500" cy="1978200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33705" rtl="0" algn="l">
              <a:lnSpc>
                <a:spcPct val="11218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Edge Detection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832485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Convert a 2D image into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a set of curves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832485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Extracts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salient features 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of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the scene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83248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More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compact</a:t>
            </a:r>
            <a:r>
              <a:rPr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than pixels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307350" y="946650"/>
            <a:ext cx="115824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342900" lvl="0" marL="354965" marR="508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Collection of	continuous pixels with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high gradient in a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direction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46" name="Google Shape;1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4021" y="1630988"/>
            <a:ext cx="5794346" cy="262929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1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5" name="Google Shape;155;p1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6" name="Google Shape;156;p1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Corner </a:t>
            </a:r>
            <a:r>
              <a:rPr lang="en-US"/>
              <a:t>in an Image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305175" y="894350"/>
            <a:ext cx="11582400" cy="25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 corner is characterized by (general ideas)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Intersection of two lines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 place of	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high curvature point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50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presence of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 large variation of gradient in all directions at a point of 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	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interest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58" name="Google Shape;158;p16"/>
          <p:cNvGrpSpPr/>
          <p:nvPr/>
        </p:nvGrpSpPr>
        <p:grpSpPr>
          <a:xfrm>
            <a:off x="3276600" y="3124200"/>
            <a:ext cx="4876800" cy="3276600"/>
            <a:chOff x="3276600" y="3124200"/>
            <a:chExt cx="4876800" cy="3276600"/>
          </a:xfrm>
        </p:grpSpPr>
        <p:sp>
          <p:nvSpPr>
            <p:cNvPr id="159" name="Google Shape;159;p16"/>
            <p:cNvSpPr/>
            <p:nvPr/>
          </p:nvSpPr>
          <p:spPr>
            <a:xfrm>
              <a:off x="3683126" y="3581780"/>
              <a:ext cx="4166235" cy="2514600"/>
            </a:xfrm>
            <a:custGeom>
              <a:rect b="b" l="l" r="r" t="t"/>
              <a:pathLst>
                <a:path extrusionOk="0" h="2514600" w="4166234">
                  <a:moveTo>
                    <a:pt x="0" y="2514600"/>
                  </a:moveTo>
                  <a:lnTo>
                    <a:pt x="2082927" y="0"/>
                  </a:lnTo>
                  <a:lnTo>
                    <a:pt x="4165854" y="2514600"/>
                  </a:lnTo>
                  <a:lnTo>
                    <a:pt x="0" y="2514600"/>
                  </a:lnTo>
                  <a:close/>
                </a:path>
              </a:pathLst>
            </a:custGeom>
            <a:noFill/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3276600" y="548640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lnTo>
                    <a:pt x="2360" y="410454"/>
                  </a:lnTo>
                  <a:lnTo>
                    <a:pt x="9288" y="365059"/>
                  </a:lnTo>
                  <a:lnTo>
                    <a:pt x="20555" y="321243"/>
                  </a:lnTo>
                  <a:lnTo>
                    <a:pt x="35929" y="279238"/>
                  </a:lnTo>
                  <a:lnTo>
                    <a:pt x="55182" y="239272"/>
                  </a:lnTo>
                  <a:lnTo>
                    <a:pt x="78083" y="201576"/>
                  </a:lnTo>
                  <a:lnTo>
                    <a:pt x="104403" y="166379"/>
                  </a:lnTo>
                  <a:lnTo>
                    <a:pt x="133911" y="133911"/>
                  </a:lnTo>
                  <a:lnTo>
                    <a:pt x="166379" y="104403"/>
                  </a:lnTo>
                  <a:lnTo>
                    <a:pt x="201576" y="78083"/>
                  </a:lnTo>
                  <a:lnTo>
                    <a:pt x="239272" y="55182"/>
                  </a:lnTo>
                  <a:lnTo>
                    <a:pt x="279238" y="35929"/>
                  </a:lnTo>
                  <a:lnTo>
                    <a:pt x="321243" y="20555"/>
                  </a:lnTo>
                  <a:lnTo>
                    <a:pt x="365059" y="9288"/>
                  </a:lnTo>
                  <a:lnTo>
                    <a:pt x="410454" y="2360"/>
                  </a:lnTo>
                  <a:lnTo>
                    <a:pt x="457200" y="0"/>
                  </a:lnTo>
                  <a:lnTo>
                    <a:pt x="503945" y="2360"/>
                  </a:lnTo>
                  <a:lnTo>
                    <a:pt x="549340" y="9288"/>
                  </a:lnTo>
                  <a:lnTo>
                    <a:pt x="593156" y="20555"/>
                  </a:lnTo>
                  <a:lnTo>
                    <a:pt x="635161" y="35929"/>
                  </a:lnTo>
                  <a:lnTo>
                    <a:pt x="675127" y="55182"/>
                  </a:lnTo>
                  <a:lnTo>
                    <a:pt x="712823" y="78083"/>
                  </a:lnTo>
                  <a:lnTo>
                    <a:pt x="748020" y="104403"/>
                  </a:lnTo>
                  <a:lnTo>
                    <a:pt x="780488" y="133911"/>
                  </a:lnTo>
                  <a:lnTo>
                    <a:pt x="809996" y="166379"/>
                  </a:lnTo>
                  <a:lnTo>
                    <a:pt x="836316" y="201576"/>
                  </a:lnTo>
                  <a:lnTo>
                    <a:pt x="859217" y="239272"/>
                  </a:lnTo>
                  <a:lnTo>
                    <a:pt x="878470" y="279238"/>
                  </a:lnTo>
                  <a:lnTo>
                    <a:pt x="893844" y="321243"/>
                  </a:lnTo>
                  <a:lnTo>
                    <a:pt x="905111" y="365059"/>
                  </a:lnTo>
                  <a:lnTo>
                    <a:pt x="912039" y="410454"/>
                  </a:lnTo>
                  <a:lnTo>
                    <a:pt x="914400" y="457200"/>
                  </a:lnTo>
                  <a:lnTo>
                    <a:pt x="912039" y="503945"/>
                  </a:lnTo>
                  <a:lnTo>
                    <a:pt x="905111" y="549340"/>
                  </a:lnTo>
                  <a:lnTo>
                    <a:pt x="893844" y="593156"/>
                  </a:lnTo>
                  <a:lnTo>
                    <a:pt x="878470" y="635161"/>
                  </a:lnTo>
                  <a:lnTo>
                    <a:pt x="859217" y="675127"/>
                  </a:lnTo>
                  <a:lnTo>
                    <a:pt x="836316" y="712823"/>
                  </a:lnTo>
                  <a:lnTo>
                    <a:pt x="809996" y="748020"/>
                  </a:lnTo>
                  <a:lnTo>
                    <a:pt x="780488" y="780488"/>
                  </a:lnTo>
                  <a:lnTo>
                    <a:pt x="748020" y="809996"/>
                  </a:lnTo>
                  <a:lnTo>
                    <a:pt x="712823" y="836316"/>
                  </a:lnTo>
                  <a:lnTo>
                    <a:pt x="675127" y="859217"/>
                  </a:lnTo>
                  <a:lnTo>
                    <a:pt x="635161" y="878470"/>
                  </a:lnTo>
                  <a:lnTo>
                    <a:pt x="593156" y="893844"/>
                  </a:lnTo>
                  <a:lnTo>
                    <a:pt x="549340" y="905111"/>
                  </a:lnTo>
                  <a:lnTo>
                    <a:pt x="503945" y="912039"/>
                  </a:lnTo>
                  <a:lnTo>
                    <a:pt x="457200" y="914400"/>
                  </a:lnTo>
                  <a:lnTo>
                    <a:pt x="410454" y="912039"/>
                  </a:lnTo>
                  <a:lnTo>
                    <a:pt x="365059" y="905111"/>
                  </a:lnTo>
                  <a:lnTo>
                    <a:pt x="321243" y="893844"/>
                  </a:lnTo>
                  <a:lnTo>
                    <a:pt x="279238" y="878470"/>
                  </a:lnTo>
                  <a:lnTo>
                    <a:pt x="239272" y="859217"/>
                  </a:lnTo>
                  <a:lnTo>
                    <a:pt x="201576" y="836316"/>
                  </a:lnTo>
                  <a:lnTo>
                    <a:pt x="166379" y="809996"/>
                  </a:lnTo>
                  <a:lnTo>
                    <a:pt x="133911" y="780488"/>
                  </a:lnTo>
                  <a:lnTo>
                    <a:pt x="104403" y="748020"/>
                  </a:lnTo>
                  <a:lnTo>
                    <a:pt x="78083" y="712823"/>
                  </a:lnTo>
                  <a:lnTo>
                    <a:pt x="55182" y="675127"/>
                  </a:lnTo>
                  <a:lnTo>
                    <a:pt x="35929" y="635161"/>
                  </a:lnTo>
                  <a:lnTo>
                    <a:pt x="20555" y="593156"/>
                  </a:lnTo>
                  <a:lnTo>
                    <a:pt x="9288" y="549340"/>
                  </a:lnTo>
                  <a:lnTo>
                    <a:pt x="2360" y="503945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7239000" y="548640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lnTo>
                    <a:pt x="2360" y="410454"/>
                  </a:lnTo>
                  <a:lnTo>
                    <a:pt x="9288" y="365059"/>
                  </a:lnTo>
                  <a:lnTo>
                    <a:pt x="20555" y="321243"/>
                  </a:lnTo>
                  <a:lnTo>
                    <a:pt x="35929" y="279238"/>
                  </a:lnTo>
                  <a:lnTo>
                    <a:pt x="55182" y="239272"/>
                  </a:lnTo>
                  <a:lnTo>
                    <a:pt x="78083" y="201576"/>
                  </a:lnTo>
                  <a:lnTo>
                    <a:pt x="104403" y="166379"/>
                  </a:lnTo>
                  <a:lnTo>
                    <a:pt x="133911" y="133911"/>
                  </a:lnTo>
                  <a:lnTo>
                    <a:pt x="166379" y="104403"/>
                  </a:lnTo>
                  <a:lnTo>
                    <a:pt x="201576" y="78083"/>
                  </a:lnTo>
                  <a:lnTo>
                    <a:pt x="239272" y="55182"/>
                  </a:lnTo>
                  <a:lnTo>
                    <a:pt x="279238" y="35929"/>
                  </a:lnTo>
                  <a:lnTo>
                    <a:pt x="321243" y="20555"/>
                  </a:lnTo>
                  <a:lnTo>
                    <a:pt x="365059" y="9288"/>
                  </a:lnTo>
                  <a:lnTo>
                    <a:pt x="410454" y="2360"/>
                  </a:lnTo>
                  <a:lnTo>
                    <a:pt x="457200" y="0"/>
                  </a:lnTo>
                  <a:lnTo>
                    <a:pt x="503945" y="2360"/>
                  </a:lnTo>
                  <a:lnTo>
                    <a:pt x="549340" y="9288"/>
                  </a:lnTo>
                  <a:lnTo>
                    <a:pt x="593156" y="20555"/>
                  </a:lnTo>
                  <a:lnTo>
                    <a:pt x="635161" y="35929"/>
                  </a:lnTo>
                  <a:lnTo>
                    <a:pt x="675127" y="55182"/>
                  </a:lnTo>
                  <a:lnTo>
                    <a:pt x="712823" y="78083"/>
                  </a:lnTo>
                  <a:lnTo>
                    <a:pt x="748020" y="104403"/>
                  </a:lnTo>
                  <a:lnTo>
                    <a:pt x="780488" y="133911"/>
                  </a:lnTo>
                  <a:lnTo>
                    <a:pt x="809996" y="166379"/>
                  </a:lnTo>
                  <a:lnTo>
                    <a:pt x="836316" y="201576"/>
                  </a:lnTo>
                  <a:lnTo>
                    <a:pt x="859217" y="239272"/>
                  </a:lnTo>
                  <a:lnTo>
                    <a:pt x="878470" y="279238"/>
                  </a:lnTo>
                  <a:lnTo>
                    <a:pt x="893844" y="321243"/>
                  </a:lnTo>
                  <a:lnTo>
                    <a:pt x="905111" y="365059"/>
                  </a:lnTo>
                  <a:lnTo>
                    <a:pt x="912039" y="410454"/>
                  </a:lnTo>
                  <a:lnTo>
                    <a:pt x="914400" y="457200"/>
                  </a:lnTo>
                  <a:lnTo>
                    <a:pt x="912039" y="503945"/>
                  </a:lnTo>
                  <a:lnTo>
                    <a:pt x="905111" y="549340"/>
                  </a:lnTo>
                  <a:lnTo>
                    <a:pt x="893844" y="593156"/>
                  </a:lnTo>
                  <a:lnTo>
                    <a:pt x="878470" y="635161"/>
                  </a:lnTo>
                  <a:lnTo>
                    <a:pt x="859217" y="675127"/>
                  </a:lnTo>
                  <a:lnTo>
                    <a:pt x="836316" y="712823"/>
                  </a:lnTo>
                  <a:lnTo>
                    <a:pt x="809996" y="748020"/>
                  </a:lnTo>
                  <a:lnTo>
                    <a:pt x="780488" y="780488"/>
                  </a:lnTo>
                  <a:lnTo>
                    <a:pt x="748020" y="809996"/>
                  </a:lnTo>
                  <a:lnTo>
                    <a:pt x="712823" y="836316"/>
                  </a:lnTo>
                  <a:lnTo>
                    <a:pt x="675127" y="859217"/>
                  </a:lnTo>
                  <a:lnTo>
                    <a:pt x="635161" y="878470"/>
                  </a:lnTo>
                  <a:lnTo>
                    <a:pt x="593156" y="893844"/>
                  </a:lnTo>
                  <a:lnTo>
                    <a:pt x="549340" y="905111"/>
                  </a:lnTo>
                  <a:lnTo>
                    <a:pt x="503945" y="912039"/>
                  </a:lnTo>
                  <a:lnTo>
                    <a:pt x="457200" y="914400"/>
                  </a:lnTo>
                  <a:lnTo>
                    <a:pt x="410454" y="912039"/>
                  </a:lnTo>
                  <a:lnTo>
                    <a:pt x="365059" y="905111"/>
                  </a:lnTo>
                  <a:lnTo>
                    <a:pt x="321243" y="893844"/>
                  </a:lnTo>
                  <a:lnTo>
                    <a:pt x="279238" y="878470"/>
                  </a:lnTo>
                  <a:lnTo>
                    <a:pt x="239272" y="859217"/>
                  </a:lnTo>
                  <a:lnTo>
                    <a:pt x="201576" y="836316"/>
                  </a:lnTo>
                  <a:lnTo>
                    <a:pt x="166379" y="809996"/>
                  </a:lnTo>
                  <a:lnTo>
                    <a:pt x="133911" y="780488"/>
                  </a:lnTo>
                  <a:lnTo>
                    <a:pt x="104403" y="748020"/>
                  </a:lnTo>
                  <a:lnTo>
                    <a:pt x="78083" y="712823"/>
                  </a:lnTo>
                  <a:lnTo>
                    <a:pt x="55182" y="675127"/>
                  </a:lnTo>
                  <a:lnTo>
                    <a:pt x="35929" y="635161"/>
                  </a:lnTo>
                  <a:lnTo>
                    <a:pt x="20555" y="593156"/>
                  </a:lnTo>
                  <a:lnTo>
                    <a:pt x="9288" y="549340"/>
                  </a:lnTo>
                  <a:lnTo>
                    <a:pt x="2360" y="503945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5308854" y="3124200"/>
              <a:ext cx="914400" cy="914400"/>
            </a:xfrm>
            <a:custGeom>
              <a:rect b="b" l="l" r="r" t="t"/>
              <a:pathLst>
                <a:path extrusionOk="0" h="914400" w="914400">
                  <a:moveTo>
                    <a:pt x="0" y="457200"/>
                  </a:moveTo>
                  <a:lnTo>
                    <a:pt x="2360" y="410454"/>
                  </a:lnTo>
                  <a:lnTo>
                    <a:pt x="9288" y="365059"/>
                  </a:lnTo>
                  <a:lnTo>
                    <a:pt x="20555" y="321243"/>
                  </a:lnTo>
                  <a:lnTo>
                    <a:pt x="35929" y="279238"/>
                  </a:lnTo>
                  <a:lnTo>
                    <a:pt x="55182" y="239272"/>
                  </a:lnTo>
                  <a:lnTo>
                    <a:pt x="78083" y="201576"/>
                  </a:lnTo>
                  <a:lnTo>
                    <a:pt x="104403" y="166379"/>
                  </a:lnTo>
                  <a:lnTo>
                    <a:pt x="133911" y="133911"/>
                  </a:lnTo>
                  <a:lnTo>
                    <a:pt x="166379" y="104403"/>
                  </a:lnTo>
                  <a:lnTo>
                    <a:pt x="201576" y="78083"/>
                  </a:lnTo>
                  <a:lnTo>
                    <a:pt x="239272" y="55182"/>
                  </a:lnTo>
                  <a:lnTo>
                    <a:pt x="279238" y="35929"/>
                  </a:lnTo>
                  <a:lnTo>
                    <a:pt x="321243" y="20555"/>
                  </a:lnTo>
                  <a:lnTo>
                    <a:pt x="365059" y="9288"/>
                  </a:lnTo>
                  <a:lnTo>
                    <a:pt x="410454" y="2360"/>
                  </a:lnTo>
                  <a:lnTo>
                    <a:pt x="457200" y="0"/>
                  </a:lnTo>
                  <a:lnTo>
                    <a:pt x="503945" y="2360"/>
                  </a:lnTo>
                  <a:lnTo>
                    <a:pt x="549340" y="9288"/>
                  </a:lnTo>
                  <a:lnTo>
                    <a:pt x="593156" y="20555"/>
                  </a:lnTo>
                  <a:lnTo>
                    <a:pt x="635161" y="35929"/>
                  </a:lnTo>
                  <a:lnTo>
                    <a:pt x="675127" y="55182"/>
                  </a:lnTo>
                  <a:lnTo>
                    <a:pt x="712823" y="78083"/>
                  </a:lnTo>
                  <a:lnTo>
                    <a:pt x="748020" y="104403"/>
                  </a:lnTo>
                  <a:lnTo>
                    <a:pt x="780488" y="133911"/>
                  </a:lnTo>
                  <a:lnTo>
                    <a:pt x="809996" y="166379"/>
                  </a:lnTo>
                  <a:lnTo>
                    <a:pt x="836316" y="201576"/>
                  </a:lnTo>
                  <a:lnTo>
                    <a:pt x="859217" y="239272"/>
                  </a:lnTo>
                  <a:lnTo>
                    <a:pt x="878470" y="279238"/>
                  </a:lnTo>
                  <a:lnTo>
                    <a:pt x="893844" y="321243"/>
                  </a:lnTo>
                  <a:lnTo>
                    <a:pt x="905111" y="365059"/>
                  </a:lnTo>
                  <a:lnTo>
                    <a:pt x="912039" y="410454"/>
                  </a:lnTo>
                  <a:lnTo>
                    <a:pt x="914400" y="457200"/>
                  </a:lnTo>
                  <a:lnTo>
                    <a:pt x="912039" y="503945"/>
                  </a:lnTo>
                  <a:lnTo>
                    <a:pt x="905111" y="549340"/>
                  </a:lnTo>
                  <a:lnTo>
                    <a:pt x="893844" y="593156"/>
                  </a:lnTo>
                  <a:lnTo>
                    <a:pt x="878470" y="635161"/>
                  </a:lnTo>
                  <a:lnTo>
                    <a:pt x="859217" y="675127"/>
                  </a:lnTo>
                  <a:lnTo>
                    <a:pt x="836316" y="712823"/>
                  </a:lnTo>
                  <a:lnTo>
                    <a:pt x="809996" y="748020"/>
                  </a:lnTo>
                  <a:lnTo>
                    <a:pt x="780488" y="780488"/>
                  </a:lnTo>
                  <a:lnTo>
                    <a:pt x="748020" y="809996"/>
                  </a:lnTo>
                  <a:lnTo>
                    <a:pt x="712823" y="836316"/>
                  </a:lnTo>
                  <a:lnTo>
                    <a:pt x="675127" y="859217"/>
                  </a:lnTo>
                  <a:lnTo>
                    <a:pt x="635161" y="878470"/>
                  </a:lnTo>
                  <a:lnTo>
                    <a:pt x="593156" y="893844"/>
                  </a:lnTo>
                  <a:lnTo>
                    <a:pt x="549340" y="905111"/>
                  </a:lnTo>
                  <a:lnTo>
                    <a:pt x="503945" y="912039"/>
                  </a:lnTo>
                  <a:lnTo>
                    <a:pt x="457200" y="914400"/>
                  </a:lnTo>
                  <a:lnTo>
                    <a:pt x="410454" y="912039"/>
                  </a:lnTo>
                  <a:lnTo>
                    <a:pt x="365059" y="905111"/>
                  </a:lnTo>
                  <a:lnTo>
                    <a:pt x="321243" y="893844"/>
                  </a:lnTo>
                  <a:lnTo>
                    <a:pt x="279238" y="878470"/>
                  </a:lnTo>
                  <a:lnTo>
                    <a:pt x="239272" y="859217"/>
                  </a:lnTo>
                  <a:lnTo>
                    <a:pt x="201576" y="836316"/>
                  </a:lnTo>
                  <a:lnTo>
                    <a:pt x="166379" y="809996"/>
                  </a:lnTo>
                  <a:lnTo>
                    <a:pt x="133911" y="780488"/>
                  </a:lnTo>
                  <a:lnTo>
                    <a:pt x="104403" y="748020"/>
                  </a:lnTo>
                  <a:lnTo>
                    <a:pt x="78083" y="712823"/>
                  </a:lnTo>
                  <a:lnTo>
                    <a:pt x="55182" y="675127"/>
                  </a:lnTo>
                  <a:lnTo>
                    <a:pt x="35929" y="635161"/>
                  </a:lnTo>
                  <a:lnTo>
                    <a:pt x="20555" y="593156"/>
                  </a:lnTo>
                  <a:lnTo>
                    <a:pt x="9288" y="549340"/>
                  </a:lnTo>
                  <a:lnTo>
                    <a:pt x="2360" y="503945"/>
                  </a:lnTo>
                  <a:lnTo>
                    <a:pt x="0" y="457200"/>
                  </a:lnTo>
                  <a:close/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3" name="Google Shape;163;p1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1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1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1" name="Google Shape;171;p1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2" name="Google Shape;172;p1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Why use of Corners, not edges?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05175" y="1084975"/>
            <a:ext cx="8615400" cy="48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Aperture problem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marR="90170" rtl="0" algn="l">
              <a:lnSpc>
                <a:spcPct val="107857"/>
              </a:lnSpc>
              <a:spcBef>
                <a:spcPts val="75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reason interest point or corner points are good is that it does not have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aperture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problem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24130" rtl="0" algn="l">
              <a:lnSpc>
                <a:spcPct val="108124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Imagine looking at a scene using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SODA STRAW </a:t>
            </a: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(focusing on edge part)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marR="5080" rtl="0" algn="l">
              <a:lnSpc>
                <a:spcPct val="107857"/>
              </a:lnSpc>
              <a:spcBef>
                <a:spcPts val="69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when looking at very small region, there is 	ambiguity all the time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If we see whole thing then no ambiguity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132080" rtl="0" algn="l">
              <a:lnSpc>
                <a:spcPct val="108124"/>
              </a:lnSpc>
              <a:spcBef>
                <a:spcPts val="78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However, corner does not face aperture problem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9768840" y="3050148"/>
            <a:ext cx="219202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latin typeface="Bell MT"/>
                <a:ea typeface="Bell MT"/>
                <a:cs typeface="Bell MT"/>
                <a:sym typeface="Bell MT"/>
              </a:rPr>
              <a:t>Ambiguity</a:t>
            </a:r>
            <a:r>
              <a:rPr lang="en-US" sz="1800" u="none">
                <a:latin typeface="Bell MT"/>
                <a:ea typeface="Bell MT"/>
                <a:cs typeface="Bell MT"/>
                <a:sym typeface="Bell MT"/>
              </a:rPr>
              <a:t> in matching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an </a:t>
            </a:r>
            <a:r>
              <a:rPr lang="en-US" sz="1800" u="sng">
                <a:latin typeface="Bell MT"/>
                <a:ea typeface="Bell MT"/>
                <a:cs typeface="Bell MT"/>
                <a:sym typeface="Bell MT"/>
              </a:rPr>
              <a:t>edge</a:t>
            </a:r>
            <a:r>
              <a:rPr lang="en-US" sz="1800" u="none">
                <a:latin typeface="Bell MT"/>
                <a:ea typeface="Bell MT"/>
                <a:cs typeface="Bell MT"/>
                <a:sym typeface="Bell MT"/>
              </a:rPr>
              <a:t> point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9058300" y="5657000"/>
            <a:ext cx="2985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401955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latin typeface="Bell MT"/>
                <a:ea typeface="Bell MT"/>
                <a:cs typeface="Bell MT"/>
                <a:sym typeface="Bell MT"/>
              </a:rPr>
              <a:t>No ambiguity </a:t>
            </a:r>
            <a:r>
              <a:rPr lang="en-US" sz="1800" u="none">
                <a:latin typeface="Bell MT"/>
                <a:ea typeface="Bell MT"/>
                <a:cs typeface="Bell MT"/>
                <a:sym typeface="Bell MT"/>
              </a:rPr>
              <a:t>when matching a corner point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76" name="Google Shape;176;p17"/>
          <p:cNvGrpSpPr/>
          <p:nvPr/>
        </p:nvGrpSpPr>
        <p:grpSpPr>
          <a:xfrm>
            <a:off x="8920733" y="1117092"/>
            <a:ext cx="2936746" cy="1930907"/>
            <a:chOff x="8920733" y="1117092"/>
            <a:chExt cx="2936746" cy="1930907"/>
          </a:xfrm>
        </p:grpSpPr>
        <p:pic>
          <p:nvPicPr>
            <p:cNvPr id="177" name="Google Shape;17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20733" y="1117092"/>
              <a:ext cx="2936746" cy="1930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6834" y="1143380"/>
              <a:ext cx="2844546" cy="18387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7"/>
            <p:cNvSpPr/>
            <p:nvPr/>
          </p:nvSpPr>
          <p:spPr>
            <a:xfrm>
              <a:off x="8966834" y="1143380"/>
              <a:ext cx="2844800" cy="1838960"/>
            </a:xfrm>
            <a:custGeom>
              <a:rect b="b" l="l" r="r" t="t"/>
              <a:pathLst>
                <a:path extrusionOk="0" h="1838960" w="2844800">
                  <a:moveTo>
                    <a:pt x="0" y="919352"/>
                  </a:moveTo>
                  <a:lnTo>
                    <a:pt x="4714" y="843951"/>
                  </a:lnTo>
                  <a:lnTo>
                    <a:pt x="18615" y="770228"/>
                  </a:lnTo>
                  <a:lnTo>
                    <a:pt x="41335" y="698421"/>
                  </a:lnTo>
                  <a:lnTo>
                    <a:pt x="72508" y="628765"/>
                  </a:lnTo>
                  <a:lnTo>
                    <a:pt x="91151" y="594818"/>
                  </a:lnTo>
                  <a:lnTo>
                    <a:pt x="111769" y="561498"/>
                  </a:lnTo>
                  <a:lnTo>
                    <a:pt x="134318" y="528834"/>
                  </a:lnTo>
                  <a:lnTo>
                    <a:pt x="158752" y="496856"/>
                  </a:lnTo>
                  <a:lnTo>
                    <a:pt x="185024" y="465594"/>
                  </a:lnTo>
                  <a:lnTo>
                    <a:pt x="213090" y="435076"/>
                  </a:lnTo>
                  <a:lnTo>
                    <a:pt x="242903" y="405333"/>
                  </a:lnTo>
                  <a:lnTo>
                    <a:pt x="274417" y="376394"/>
                  </a:lnTo>
                  <a:lnTo>
                    <a:pt x="307587" y="348289"/>
                  </a:lnTo>
                  <a:lnTo>
                    <a:pt x="342368" y="321047"/>
                  </a:lnTo>
                  <a:lnTo>
                    <a:pt x="378712" y="294698"/>
                  </a:lnTo>
                  <a:lnTo>
                    <a:pt x="416575" y="269271"/>
                  </a:lnTo>
                  <a:lnTo>
                    <a:pt x="455911" y="244797"/>
                  </a:lnTo>
                  <a:lnTo>
                    <a:pt x="496674" y="221304"/>
                  </a:lnTo>
                  <a:lnTo>
                    <a:pt x="538819" y="198822"/>
                  </a:lnTo>
                  <a:lnTo>
                    <a:pt x="582299" y="177381"/>
                  </a:lnTo>
                  <a:lnTo>
                    <a:pt x="627068" y="157010"/>
                  </a:lnTo>
                  <a:lnTo>
                    <a:pt x="673082" y="137739"/>
                  </a:lnTo>
                  <a:lnTo>
                    <a:pt x="720294" y="119598"/>
                  </a:lnTo>
                  <a:lnTo>
                    <a:pt x="768658" y="102616"/>
                  </a:lnTo>
                  <a:lnTo>
                    <a:pt x="818129" y="86822"/>
                  </a:lnTo>
                  <a:lnTo>
                    <a:pt x="868662" y="72247"/>
                  </a:lnTo>
                  <a:lnTo>
                    <a:pt x="920209" y="58919"/>
                  </a:lnTo>
                  <a:lnTo>
                    <a:pt x="972726" y="46869"/>
                  </a:lnTo>
                  <a:lnTo>
                    <a:pt x="1026167" y="36125"/>
                  </a:lnTo>
                  <a:lnTo>
                    <a:pt x="1080485" y="26718"/>
                  </a:lnTo>
                  <a:lnTo>
                    <a:pt x="1135636" y="18677"/>
                  </a:lnTo>
                  <a:lnTo>
                    <a:pt x="1191574" y="12032"/>
                  </a:lnTo>
                  <a:lnTo>
                    <a:pt x="1248252" y="6812"/>
                  </a:lnTo>
                  <a:lnTo>
                    <a:pt x="1305625" y="3047"/>
                  </a:lnTo>
                  <a:lnTo>
                    <a:pt x="1363647" y="766"/>
                  </a:lnTo>
                  <a:lnTo>
                    <a:pt x="1422273" y="0"/>
                  </a:lnTo>
                  <a:lnTo>
                    <a:pt x="1480898" y="766"/>
                  </a:lnTo>
                  <a:lnTo>
                    <a:pt x="1538920" y="3047"/>
                  </a:lnTo>
                  <a:lnTo>
                    <a:pt x="1596293" y="6812"/>
                  </a:lnTo>
                  <a:lnTo>
                    <a:pt x="1652971" y="12032"/>
                  </a:lnTo>
                  <a:lnTo>
                    <a:pt x="1708909" y="18677"/>
                  </a:lnTo>
                  <a:lnTo>
                    <a:pt x="1764060" y="26718"/>
                  </a:lnTo>
                  <a:lnTo>
                    <a:pt x="1818378" y="36125"/>
                  </a:lnTo>
                  <a:lnTo>
                    <a:pt x="1871819" y="46869"/>
                  </a:lnTo>
                  <a:lnTo>
                    <a:pt x="1924336" y="58919"/>
                  </a:lnTo>
                  <a:lnTo>
                    <a:pt x="1975883" y="72247"/>
                  </a:lnTo>
                  <a:lnTo>
                    <a:pt x="2026416" y="86822"/>
                  </a:lnTo>
                  <a:lnTo>
                    <a:pt x="2075887" y="102616"/>
                  </a:lnTo>
                  <a:lnTo>
                    <a:pt x="2124251" y="119598"/>
                  </a:lnTo>
                  <a:lnTo>
                    <a:pt x="2171463" y="137739"/>
                  </a:lnTo>
                  <a:lnTo>
                    <a:pt x="2217477" y="157010"/>
                  </a:lnTo>
                  <a:lnTo>
                    <a:pt x="2262246" y="177381"/>
                  </a:lnTo>
                  <a:lnTo>
                    <a:pt x="2305726" y="198822"/>
                  </a:lnTo>
                  <a:lnTo>
                    <a:pt x="2347871" y="221304"/>
                  </a:lnTo>
                  <a:lnTo>
                    <a:pt x="2388634" y="244797"/>
                  </a:lnTo>
                  <a:lnTo>
                    <a:pt x="2427970" y="269271"/>
                  </a:lnTo>
                  <a:lnTo>
                    <a:pt x="2465833" y="294698"/>
                  </a:lnTo>
                  <a:lnTo>
                    <a:pt x="2502177" y="321047"/>
                  </a:lnTo>
                  <a:lnTo>
                    <a:pt x="2536958" y="348289"/>
                  </a:lnTo>
                  <a:lnTo>
                    <a:pt x="2570128" y="376394"/>
                  </a:lnTo>
                  <a:lnTo>
                    <a:pt x="2601642" y="405333"/>
                  </a:lnTo>
                  <a:lnTo>
                    <a:pt x="2631455" y="435076"/>
                  </a:lnTo>
                  <a:lnTo>
                    <a:pt x="2659521" y="465594"/>
                  </a:lnTo>
                  <a:lnTo>
                    <a:pt x="2685793" y="496856"/>
                  </a:lnTo>
                  <a:lnTo>
                    <a:pt x="2710227" y="528834"/>
                  </a:lnTo>
                  <a:lnTo>
                    <a:pt x="2732776" y="561498"/>
                  </a:lnTo>
                  <a:lnTo>
                    <a:pt x="2753394" y="594818"/>
                  </a:lnTo>
                  <a:lnTo>
                    <a:pt x="2772037" y="628765"/>
                  </a:lnTo>
                  <a:lnTo>
                    <a:pt x="2788657" y="663309"/>
                  </a:lnTo>
                  <a:lnTo>
                    <a:pt x="2815650" y="734070"/>
                  </a:lnTo>
                  <a:lnTo>
                    <a:pt x="2834006" y="806865"/>
                  </a:lnTo>
                  <a:lnTo>
                    <a:pt x="2843359" y="881457"/>
                  </a:lnTo>
                  <a:lnTo>
                    <a:pt x="2844546" y="919352"/>
                  </a:lnTo>
                  <a:lnTo>
                    <a:pt x="2843359" y="957248"/>
                  </a:lnTo>
                  <a:lnTo>
                    <a:pt x="2834006" y="1031840"/>
                  </a:lnTo>
                  <a:lnTo>
                    <a:pt x="2815650" y="1104635"/>
                  </a:lnTo>
                  <a:lnTo>
                    <a:pt x="2788657" y="1175396"/>
                  </a:lnTo>
                  <a:lnTo>
                    <a:pt x="2772037" y="1209940"/>
                  </a:lnTo>
                  <a:lnTo>
                    <a:pt x="2753394" y="1243887"/>
                  </a:lnTo>
                  <a:lnTo>
                    <a:pt x="2732776" y="1277207"/>
                  </a:lnTo>
                  <a:lnTo>
                    <a:pt x="2710227" y="1309871"/>
                  </a:lnTo>
                  <a:lnTo>
                    <a:pt x="2685793" y="1341849"/>
                  </a:lnTo>
                  <a:lnTo>
                    <a:pt x="2659521" y="1373111"/>
                  </a:lnTo>
                  <a:lnTo>
                    <a:pt x="2631455" y="1403629"/>
                  </a:lnTo>
                  <a:lnTo>
                    <a:pt x="2601642" y="1433372"/>
                  </a:lnTo>
                  <a:lnTo>
                    <a:pt x="2570128" y="1462311"/>
                  </a:lnTo>
                  <a:lnTo>
                    <a:pt x="2536958" y="1490416"/>
                  </a:lnTo>
                  <a:lnTo>
                    <a:pt x="2502177" y="1517658"/>
                  </a:lnTo>
                  <a:lnTo>
                    <a:pt x="2465833" y="1544007"/>
                  </a:lnTo>
                  <a:lnTo>
                    <a:pt x="2427970" y="1569434"/>
                  </a:lnTo>
                  <a:lnTo>
                    <a:pt x="2388634" y="1593908"/>
                  </a:lnTo>
                  <a:lnTo>
                    <a:pt x="2347871" y="1617401"/>
                  </a:lnTo>
                  <a:lnTo>
                    <a:pt x="2305726" y="1639883"/>
                  </a:lnTo>
                  <a:lnTo>
                    <a:pt x="2262246" y="1661324"/>
                  </a:lnTo>
                  <a:lnTo>
                    <a:pt x="2217477" y="1681695"/>
                  </a:lnTo>
                  <a:lnTo>
                    <a:pt x="2171463" y="1700966"/>
                  </a:lnTo>
                  <a:lnTo>
                    <a:pt x="2124251" y="1719107"/>
                  </a:lnTo>
                  <a:lnTo>
                    <a:pt x="2075887" y="1736089"/>
                  </a:lnTo>
                  <a:lnTo>
                    <a:pt x="2026416" y="1751883"/>
                  </a:lnTo>
                  <a:lnTo>
                    <a:pt x="1975883" y="1766458"/>
                  </a:lnTo>
                  <a:lnTo>
                    <a:pt x="1924336" y="1779786"/>
                  </a:lnTo>
                  <a:lnTo>
                    <a:pt x="1871819" y="1791836"/>
                  </a:lnTo>
                  <a:lnTo>
                    <a:pt x="1818378" y="1802580"/>
                  </a:lnTo>
                  <a:lnTo>
                    <a:pt x="1764060" y="1811987"/>
                  </a:lnTo>
                  <a:lnTo>
                    <a:pt x="1708909" y="1820028"/>
                  </a:lnTo>
                  <a:lnTo>
                    <a:pt x="1652971" y="1826673"/>
                  </a:lnTo>
                  <a:lnTo>
                    <a:pt x="1596293" y="1831893"/>
                  </a:lnTo>
                  <a:lnTo>
                    <a:pt x="1538920" y="1835658"/>
                  </a:lnTo>
                  <a:lnTo>
                    <a:pt x="1480898" y="1837939"/>
                  </a:lnTo>
                  <a:lnTo>
                    <a:pt x="1422273" y="1838705"/>
                  </a:lnTo>
                  <a:lnTo>
                    <a:pt x="1363647" y="1837939"/>
                  </a:lnTo>
                  <a:lnTo>
                    <a:pt x="1305625" y="1835658"/>
                  </a:lnTo>
                  <a:lnTo>
                    <a:pt x="1248252" y="1831893"/>
                  </a:lnTo>
                  <a:lnTo>
                    <a:pt x="1191574" y="1826673"/>
                  </a:lnTo>
                  <a:lnTo>
                    <a:pt x="1135636" y="1820028"/>
                  </a:lnTo>
                  <a:lnTo>
                    <a:pt x="1080485" y="1811987"/>
                  </a:lnTo>
                  <a:lnTo>
                    <a:pt x="1026167" y="1802580"/>
                  </a:lnTo>
                  <a:lnTo>
                    <a:pt x="972726" y="1791836"/>
                  </a:lnTo>
                  <a:lnTo>
                    <a:pt x="920209" y="1779786"/>
                  </a:lnTo>
                  <a:lnTo>
                    <a:pt x="868662" y="1766458"/>
                  </a:lnTo>
                  <a:lnTo>
                    <a:pt x="818129" y="1751883"/>
                  </a:lnTo>
                  <a:lnTo>
                    <a:pt x="768658" y="1736089"/>
                  </a:lnTo>
                  <a:lnTo>
                    <a:pt x="720294" y="1719107"/>
                  </a:lnTo>
                  <a:lnTo>
                    <a:pt x="673082" y="1700966"/>
                  </a:lnTo>
                  <a:lnTo>
                    <a:pt x="627068" y="1681695"/>
                  </a:lnTo>
                  <a:lnTo>
                    <a:pt x="582299" y="1661324"/>
                  </a:lnTo>
                  <a:lnTo>
                    <a:pt x="538819" y="1639883"/>
                  </a:lnTo>
                  <a:lnTo>
                    <a:pt x="496674" y="1617401"/>
                  </a:lnTo>
                  <a:lnTo>
                    <a:pt x="455911" y="1593908"/>
                  </a:lnTo>
                  <a:lnTo>
                    <a:pt x="416575" y="1569434"/>
                  </a:lnTo>
                  <a:lnTo>
                    <a:pt x="378712" y="1544007"/>
                  </a:lnTo>
                  <a:lnTo>
                    <a:pt x="342368" y="1517658"/>
                  </a:lnTo>
                  <a:lnTo>
                    <a:pt x="307587" y="1490416"/>
                  </a:lnTo>
                  <a:lnTo>
                    <a:pt x="274417" y="1462311"/>
                  </a:lnTo>
                  <a:lnTo>
                    <a:pt x="242903" y="1433372"/>
                  </a:lnTo>
                  <a:lnTo>
                    <a:pt x="213090" y="1403629"/>
                  </a:lnTo>
                  <a:lnTo>
                    <a:pt x="185024" y="1373111"/>
                  </a:lnTo>
                  <a:lnTo>
                    <a:pt x="158752" y="1341849"/>
                  </a:lnTo>
                  <a:lnTo>
                    <a:pt x="134318" y="1309871"/>
                  </a:lnTo>
                  <a:lnTo>
                    <a:pt x="111769" y="1277207"/>
                  </a:lnTo>
                  <a:lnTo>
                    <a:pt x="91151" y="1243887"/>
                  </a:lnTo>
                  <a:lnTo>
                    <a:pt x="72508" y="1209940"/>
                  </a:lnTo>
                  <a:lnTo>
                    <a:pt x="55888" y="1175396"/>
                  </a:lnTo>
                  <a:lnTo>
                    <a:pt x="28895" y="1104635"/>
                  </a:lnTo>
                  <a:lnTo>
                    <a:pt x="10539" y="1031840"/>
                  </a:lnTo>
                  <a:lnTo>
                    <a:pt x="1186" y="957248"/>
                  </a:lnTo>
                  <a:lnTo>
                    <a:pt x="0" y="919352"/>
                  </a:lnTo>
                  <a:close/>
                </a:path>
              </a:pathLst>
            </a:custGeom>
            <a:noFill/>
            <a:ln cap="flat" cmpd="sng" w="9525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10320908" y="2095119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31" y="5826"/>
                  </a:lnTo>
                  <a:lnTo>
                    <a:pt x="62396" y="22051"/>
                  </a:lnTo>
                  <a:lnTo>
                    <a:pt x="29405" y="46793"/>
                  </a:lnTo>
                  <a:lnTo>
                    <a:pt x="7769" y="78170"/>
                  </a:lnTo>
                  <a:lnTo>
                    <a:pt x="0" y="114300"/>
                  </a:lnTo>
                  <a:lnTo>
                    <a:pt x="7769" y="150429"/>
                  </a:lnTo>
                  <a:lnTo>
                    <a:pt x="29405" y="181806"/>
                  </a:lnTo>
                  <a:lnTo>
                    <a:pt x="62396" y="206548"/>
                  </a:lnTo>
                  <a:lnTo>
                    <a:pt x="104231" y="222773"/>
                  </a:lnTo>
                  <a:lnTo>
                    <a:pt x="152400" y="228600"/>
                  </a:lnTo>
                  <a:lnTo>
                    <a:pt x="200568" y="222773"/>
                  </a:lnTo>
                  <a:lnTo>
                    <a:pt x="242403" y="206548"/>
                  </a:lnTo>
                  <a:lnTo>
                    <a:pt x="275394" y="181806"/>
                  </a:lnTo>
                  <a:lnTo>
                    <a:pt x="297030" y="150429"/>
                  </a:lnTo>
                  <a:lnTo>
                    <a:pt x="304800" y="114300"/>
                  </a:lnTo>
                  <a:lnTo>
                    <a:pt x="297030" y="78170"/>
                  </a:lnTo>
                  <a:lnTo>
                    <a:pt x="275394" y="46793"/>
                  </a:lnTo>
                  <a:lnTo>
                    <a:pt x="242403" y="22051"/>
                  </a:lnTo>
                  <a:lnTo>
                    <a:pt x="200568" y="582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10320908" y="2095119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82" name="Google Shape;182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306305" y="1493520"/>
              <a:ext cx="1549145" cy="1203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17"/>
            <p:cNvSpPr/>
            <p:nvPr/>
          </p:nvSpPr>
          <p:spPr>
            <a:xfrm>
              <a:off x="9347453" y="1533905"/>
              <a:ext cx="1447800" cy="0"/>
            </a:xfrm>
            <a:custGeom>
              <a:rect b="b" l="l" r="r" t="t"/>
              <a:pathLst>
                <a:path extrusionOk="0" h="120000" w="1447800">
                  <a:moveTo>
                    <a:pt x="0" y="0"/>
                  </a:moveTo>
                  <a:lnTo>
                    <a:pt x="1447800" y="0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84" name="Google Shape;184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62615" y="1493520"/>
              <a:ext cx="575309" cy="10241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7"/>
            <p:cNvSpPr/>
            <p:nvPr/>
          </p:nvSpPr>
          <p:spPr>
            <a:xfrm>
              <a:off x="10320527" y="1533905"/>
              <a:ext cx="457200" cy="914400"/>
            </a:xfrm>
            <a:custGeom>
              <a:rect b="b" l="l" r="r" t="t"/>
              <a:pathLst>
                <a:path extrusionOk="0" h="914400" w="457200">
                  <a:moveTo>
                    <a:pt x="0" y="914400"/>
                  </a:moveTo>
                  <a:lnTo>
                    <a:pt x="457200" y="0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86" name="Google Shape;186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84079" y="1874520"/>
              <a:ext cx="1549145" cy="1203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17"/>
            <p:cNvSpPr/>
            <p:nvPr/>
          </p:nvSpPr>
          <p:spPr>
            <a:xfrm>
              <a:off x="9825227" y="1914905"/>
              <a:ext cx="1447800" cy="0"/>
            </a:xfrm>
            <a:custGeom>
              <a:rect b="b" l="l" r="r" t="t"/>
              <a:pathLst>
                <a:path extrusionOk="0" h="120000" w="1447800">
                  <a:moveTo>
                    <a:pt x="0" y="0"/>
                  </a:moveTo>
                  <a:lnTo>
                    <a:pt x="1447800" y="0"/>
                  </a:lnTo>
                </a:path>
              </a:pathLst>
            </a:custGeom>
            <a:noFill/>
            <a:ln cap="flat" cmpd="sng" w="381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88" name="Google Shape;188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41151" y="1874519"/>
              <a:ext cx="575309" cy="10241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17"/>
            <p:cNvSpPr/>
            <p:nvPr/>
          </p:nvSpPr>
          <p:spPr>
            <a:xfrm>
              <a:off x="10799063" y="1914905"/>
              <a:ext cx="457200" cy="914400"/>
            </a:xfrm>
            <a:custGeom>
              <a:rect b="b" l="l" r="r" t="t"/>
              <a:pathLst>
                <a:path extrusionOk="0" h="914400" w="457200">
                  <a:moveTo>
                    <a:pt x="0" y="914400"/>
                  </a:moveTo>
                  <a:lnTo>
                    <a:pt x="457200" y="0"/>
                  </a:lnTo>
                </a:path>
              </a:pathLst>
            </a:custGeom>
            <a:noFill/>
            <a:ln cap="flat" cmpd="sng" w="381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10472927" y="2128126"/>
              <a:ext cx="619760" cy="81280"/>
            </a:xfrm>
            <a:custGeom>
              <a:rect b="b" l="l" r="r" t="t"/>
              <a:pathLst>
                <a:path extrusionOk="0" h="81280" w="619759">
                  <a:moveTo>
                    <a:pt x="0" y="80962"/>
                  </a:moveTo>
                  <a:lnTo>
                    <a:pt x="619645" y="0"/>
                  </a:ln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11001088" y="2089644"/>
              <a:ext cx="92075" cy="99695"/>
            </a:xfrm>
            <a:custGeom>
              <a:rect b="b" l="l" r="r" t="t"/>
              <a:pathLst>
                <a:path extrusionOk="0" h="99694" w="92075">
                  <a:moveTo>
                    <a:pt x="12966" y="99174"/>
                  </a:moveTo>
                  <a:lnTo>
                    <a:pt x="91490" y="38481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10472927" y="2209038"/>
              <a:ext cx="528955" cy="228600"/>
            </a:xfrm>
            <a:custGeom>
              <a:rect b="b" l="l" r="r" t="t"/>
              <a:pathLst>
                <a:path extrusionOk="0" h="228600" w="528954">
                  <a:moveTo>
                    <a:pt x="0" y="0"/>
                  </a:moveTo>
                  <a:lnTo>
                    <a:pt x="528459" y="228015"/>
                  </a:ln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10902862" y="2357169"/>
              <a:ext cx="99060" cy="92075"/>
            </a:xfrm>
            <a:custGeom>
              <a:rect b="b" l="l" r="r" t="t"/>
              <a:pathLst>
                <a:path extrusionOk="0" h="92075" w="99059">
                  <a:moveTo>
                    <a:pt x="39624" y="0"/>
                  </a:moveTo>
                  <a:lnTo>
                    <a:pt x="98526" y="79883"/>
                  </a:lnTo>
                  <a:lnTo>
                    <a:pt x="0" y="91833"/>
                  </a:ln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10462259" y="2209038"/>
              <a:ext cx="405765" cy="461009"/>
            </a:xfrm>
            <a:custGeom>
              <a:rect b="b" l="l" r="r" t="t"/>
              <a:pathLst>
                <a:path extrusionOk="0" h="461010" w="405765">
                  <a:moveTo>
                    <a:pt x="0" y="0"/>
                  </a:moveTo>
                  <a:lnTo>
                    <a:pt x="405663" y="460870"/>
                  </a:lnTo>
                </a:path>
              </a:pathLst>
            </a:custGeom>
            <a:noFill/>
            <a:ln cap="flat" cmpd="sng" w="285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10773759" y="2572519"/>
              <a:ext cx="94615" cy="97790"/>
            </a:xfrm>
            <a:custGeom>
              <a:rect b="b" l="l" r="r" t="t"/>
              <a:pathLst>
                <a:path extrusionOk="0" h="97789" w="94615">
                  <a:moveTo>
                    <a:pt x="75069" y="0"/>
                  </a:moveTo>
                  <a:lnTo>
                    <a:pt x="94170" y="97383"/>
                  </a:lnTo>
                  <a:lnTo>
                    <a:pt x="0" y="66078"/>
                  </a:ln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96" name="Google Shape;196;p17"/>
          <p:cNvGrpSpPr/>
          <p:nvPr/>
        </p:nvGrpSpPr>
        <p:grpSpPr>
          <a:xfrm>
            <a:off x="8920733" y="3741420"/>
            <a:ext cx="2936746" cy="1930907"/>
            <a:chOff x="8920733" y="3741420"/>
            <a:chExt cx="2936746" cy="1930907"/>
          </a:xfrm>
        </p:grpSpPr>
        <p:pic>
          <p:nvPicPr>
            <p:cNvPr id="197" name="Google Shape;19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20733" y="3741420"/>
              <a:ext cx="2936746" cy="1930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6834" y="3767708"/>
              <a:ext cx="2844546" cy="18387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17"/>
            <p:cNvSpPr/>
            <p:nvPr/>
          </p:nvSpPr>
          <p:spPr>
            <a:xfrm>
              <a:off x="8966834" y="3767708"/>
              <a:ext cx="2844800" cy="1838960"/>
            </a:xfrm>
            <a:custGeom>
              <a:rect b="b" l="l" r="r" t="t"/>
              <a:pathLst>
                <a:path extrusionOk="0" h="1838960" w="2844800">
                  <a:moveTo>
                    <a:pt x="0" y="919352"/>
                  </a:moveTo>
                  <a:lnTo>
                    <a:pt x="4714" y="843951"/>
                  </a:lnTo>
                  <a:lnTo>
                    <a:pt x="18615" y="770228"/>
                  </a:lnTo>
                  <a:lnTo>
                    <a:pt x="41335" y="698421"/>
                  </a:lnTo>
                  <a:lnTo>
                    <a:pt x="72508" y="628765"/>
                  </a:lnTo>
                  <a:lnTo>
                    <a:pt x="91151" y="594818"/>
                  </a:lnTo>
                  <a:lnTo>
                    <a:pt x="111769" y="561498"/>
                  </a:lnTo>
                  <a:lnTo>
                    <a:pt x="134318" y="528834"/>
                  </a:lnTo>
                  <a:lnTo>
                    <a:pt x="158752" y="496856"/>
                  </a:lnTo>
                  <a:lnTo>
                    <a:pt x="185024" y="465594"/>
                  </a:lnTo>
                  <a:lnTo>
                    <a:pt x="213090" y="435076"/>
                  </a:lnTo>
                  <a:lnTo>
                    <a:pt x="242903" y="405333"/>
                  </a:lnTo>
                  <a:lnTo>
                    <a:pt x="274417" y="376394"/>
                  </a:lnTo>
                  <a:lnTo>
                    <a:pt x="307587" y="348289"/>
                  </a:lnTo>
                  <a:lnTo>
                    <a:pt x="342368" y="321047"/>
                  </a:lnTo>
                  <a:lnTo>
                    <a:pt x="378712" y="294698"/>
                  </a:lnTo>
                  <a:lnTo>
                    <a:pt x="416575" y="269271"/>
                  </a:lnTo>
                  <a:lnTo>
                    <a:pt x="455911" y="244797"/>
                  </a:lnTo>
                  <a:lnTo>
                    <a:pt x="496674" y="221304"/>
                  </a:lnTo>
                  <a:lnTo>
                    <a:pt x="538819" y="198822"/>
                  </a:lnTo>
                  <a:lnTo>
                    <a:pt x="582299" y="177381"/>
                  </a:lnTo>
                  <a:lnTo>
                    <a:pt x="627068" y="157010"/>
                  </a:lnTo>
                  <a:lnTo>
                    <a:pt x="673082" y="137739"/>
                  </a:lnTo>
                  <a:lnTo>
                    <a:pt x="720294" y="119598"/>
                  </a:lnTo>
                  <a:lnTo>
                    <a:pt x="768658" y="102616"/>
                  </a:lnTo>
                  <a:lnTo>
                    <a:pt x="818129" y="86822"/>
                  </a:lnTo>
                  <a:lnTo>
                    <a:pt x="868662" y="72247"/>
                  </a:lnTo>
                  <a:lnTo>
                    <a:pt x="920209" y="58919"/>
                  </a:lnTo>
                  <a:lnTo>
                    <a:pt x="972726" y="46869"/>
                  </a:lnTo>
                  <a:lnTo>
                    <a:pt x="1026167" y="36125"/>
                  </a:lnTo>
                  <a:lnTo>
                    <a:pt x="1080485" y="26718"/>
                  </a:lnTo>
                  <a:lnTo>
                    <a:pt x="1135636" y="18677"/>
                  </a:lnTo>
                  <a:lnTo>
                    <a:pt x="1191574" y="12032"/>
                  </a:lnTo>
                  <a:lnTo>
                    <a:pt x="1248252" y="6812"/>
                  </a:lnTo>
                  <a:lnTo>
                    <a:pt x="1305625" y="3047"/>
                  </a:lnTo>
                  <a:lnTo>
                    <a:pt x="1363647" y="766"/>
                  </a:lnTo>
                  <a:lnTo>
                    <a:pt x="1422273" y="0"/>
                  </a:lnTo>
                  <a:lnTo>
                    <a:pt x="1480898" y="766"/>
                  </a:lnTo>
                  <a:lnTo>
                    <a:pt x="1538920" y="3047"/>
                  </a:lnTo>
                  <a:lnTo>
                    <a:pt x="1596293" y="6812"/>
                  </a:lnTo>
                  <a:lnTo>
                    <a:pt x="1652971" y="12032"/>
                  </a:lnTo>
                  <a:lnTo>
                    <a:pt x="1708909" y="18677"/>
                  </a:lnTo>
                  <a:lnTo>
                    <a:pt x="1764060" y="26718"/>
                  </a:lnTo>
                  <a:lnTo>
                    <a:pt x="1818378" y="36125"/>
                  </a:lnTo>
                  <a:lnTo>
                    <a:pt x="1871819" y="46869"/>
                  </a:lnTo>
                  <a:lnTo>
                    <a:pt x="1924336" y="58919"/>
                  </a:lnTo>
                  <a:lnTo>
                    <a:pt x="1975883" y="72247"/>
                  </a:lnTo>
                  <a:lnTo>
                    <a:pt x="2026416" y="86822"/>
                  </a:lnTo>
                  <a:lnTo>
                    <a:pt x="2075887" y="102616"/>
                  </a:lnTo>
                  <a:lnTo>
                    <a:pt x="2124251" y="119598"/>
                  </a:lnTo>
                  <a:lnTo>
                    <a:pt x="2171463" y="137739"/>
                  </a:lnTo>
                  <a:lnTo>
                    <a:pt x="2217477" y="157010"/>
                  </a:lnTo>
                  <a:lnTo>
                    <a:pt x="2262246" y="177381"/>
                  </a:lnTo>
                  <a:lnTo>
                    <a:pt x="2305726" y="198822"/>
                  </a:lnTo>
                  <a:lnTo>
                    <a:pt x="2347871" y="221304"/>
                  </a:lnTo>
                  <a:lnTo>
                    <a:pt x="2388634" y="244797"/>
                  </a:lnTo>
                  <a:lnTo>
                    <a:pt x="2427970" y="269271"/>
                  </a:lnTo>
                  <a:lnTo>
                    <a:pt x="2465833" y="294698"/>
                  </a:lnTo>
                  <a:lnTo>
                    <a:pt x="2502177" y="321047"/>
                  </a:lnTo>
                  <a:lnTo>
                    <a:pt x="2536958" y="348289"/>
                  </a:lnTo>
                  <a:lnTo>
                    <a:pt x="2570128" y="376394"/>
                  </a:lnTo>
                  <a:lnTo>
                    <a:pt x="2601642" y="405333"/>
                  </a:lnTo>
                  <a:lnTo>
                    <a:pt x="2631455" y="435076"/>
                  </a:lnTo>
                  <a:lnTo>
                    <a:pt x="2659521" y="465594"/>
                  </a:lnTo>
                  <a:lnTo>
                    <a:pt x="2685793" y="496856"/>
                  </a:lnTo>
                  <a:lnTo>
                    <a:pt x="2710227" y="528834"/>
                  </a:lnTo>
                  <a:lnTo>
                    <a:pt x="2732776" y="561498"/>
                  </a:lnTo>
                  <a:lnTo>
                    <a:pt x="2753394" y="594818"/>
                  </a:lnTo>
                  <a:lnTo>
                    <a:pt x="2772037" y="628765"/>
                  </a:lnTo>
                  <a:lnTo>
                    <a:pt x="2788657" y="663309"/>
                  </a:lnTo>
                  <a:lnTo>
                    <a:pt x="2815650" y="734070"/>
                  </a:lnTo>
                  <a:lnTo>
                    <a:pt x="2834006" y="806865"/>
                  </a:lnTo>
                  <a:lnTo>
                    <a:pt x="2843359" y="881457"/>
                  </a:lnTo>
                  <a:lnTo>
                    <a:pt x="2844546" y="919352"/>
                  </a:lnTo>
                  <a:lnTo>
                    <a:pt x="2843359" y="957248"/>
                  </a:lnTo>
                  <a:lnTo>
                    <a:pt x="2834006" y="1031840"/>
                  </a:lnTo>
                  <a:lnTo>
                    <a:pt x="2815650" y="1104635"/>
                  </a:lnTo>
                  <a:lnTo>
                    <a:pt x="2788657" y="1175396"/>
                  </a:lnTo>
                  <a:lnTo>
                    <a:pt x="2772037" y="1209940"/>
                  </a:lnTo>
                  <a:lnTo>
                    <a:pt x="2753394" y="1243887"/>
                  </a:lnTo>
                  <a:lnTo>
                    <a:pt x="2732776" y="1277207"/>
                  </a:lnTo>
                  <a:lnTo>
                    <a:pt x="2710227" y="1309871"/>
                  </a:lnTo>
                  <a:lnTo>
                    <a:pt x="2685793" y="1341849"/>
                  </a:lnTo>
                  <a:lnTo>
                    <a:pt x="2659521" y="1373111"/>
                  </a:lnTo>
                  <a:lnTo>
                    <a:pt x="2631455" y="1403629"/>
                  </a:lnTo>
                  <a:lnTo>
                    <a:pt x="2601642" y="1433372"/>
                  </a:lnTo>
                  <a:lnTo>
                    <a:pt x="2570128" y="1462311"/>
                  </a:lnTo>
                  <a:lnTo>
                    <a:pt x="2536958" y="1490416"/>
                  </a:lnTo>
                  <a:lnTo>
                    <a:pt x="2502177" y="1517658"/>
                  </a:lnTo>
                  <a:lnTo>
                    <a:pt x="2465833" y="1544007"/>
                  </a:lnTo>
                  <a:lnTo>
                    <a:pt x="2427970" y="1569434"/>
                  </a:lnTo>
                  <a:lnTo>
                    <a:pt x="2388634" y="1593908"/>
                  </a:lnTo>
                  <a:lnTo>
                    <a:pt x="2347871" y="1617401"/>
                  </a:lnTo>
                  <a:lnTo>
                    <a:pt x="2305726" y="1639883"/>
                  </a:lnTo>
                  <a:lnTo>
                    <a:pt x="2262246" y="1661324"/>
                  </a:lnTo>
                  <a:lnTo>
                    <a:pt x="2217477" y="1681695"/>
                  </a:lnTo>
                  <a:lnTo>
                    <a:pt x="2171463" y="1700966"/>
                  </a:lnTo>
                  <a:lnTo>
                    <a:pt x="2124251" y="1719107"/>
                  </a:lnTo>
                  <a:lnTo>
                    <a:pt x="2075887" y="1736089"/>
                  </a:lnTo>
                  <a:lnTo>
                    <a:pt x="2026416" y="1751883"/>
                  </a:lnTo>
                  <a:lnTo>
                    <a:pt x="1975883" y="1766458"/>
                  </a:lnTo>
                  <a:lnTo>
                    <a:pt x="1924336" y="1779786"/>
                  </a:lnTo>
                  <a:lnTo>
                    <a:pt x="1871819" y="1791836"/>
                  </a:lnTo>
                  <a:lnTo>
                    <a:pt x="1818378" y="1802580"/>
                  </a:lnTo>
                  <a:lnTo>
                    <a:pt x="1764060" y="1811987"/>
                  </a:lnTo>
                  <a:lnTo>
                    <a:pt x="1708909" y="1820028"/>
                  </a:lnTo>
                  <a:lnTo>
                    <a:pt x="1652971" y="1826673"/>
                  </a:lnTo>
                  <a:lnTo>
                    <a:pt x="1596293" y="1831893"/>
                  </a:lnTo>
                  <a:lnTo>
                    <a:pt x="1538920" y="1835658"/>
                  </a:lnTo>
                  <a:lnTo>
                    <a:pt x="1480898" y="1837939"/>
                  </a:lnTo>
                  <a:lnTo>
                    <a:pt x="1422273" y="1838705"/>
                  </a:lnTo>
                  <a:lnTo>
                    <a:pt x="1363647" y="1837939"/>
                  </a:lnTo>
                  <a:lnTo>
                    <a:pt x="1305625" y="1835658"/>
                  </a:lnTo>
                  <a:lnTo>
                    <a:pt x="1248252" y="1831893"/>
                  </a:lnTo>
                  <a:lnTo>
                    <a:pt x="1191574" y="1826673"/>
                  </a:lnTo>
                  <a:lnTo>
                    <a:pt x="1135636" y="1820028"/>
                  </a:lnTo>
                  <a:lnTo>
                    <a:pt x="1080485" y="1811987"/>
                  </a:lnTo>
                  <a:lnTo>
                    <a:pt x="1026167" y="1802580"/>
                  </a:lnTo>
                  <a:lnTo>
                    <a:pt x="972726" y="1791836"/>
                  </a:lnTo>
                  <a:lnTo>
                    <a:pt x="920209" y="1779786"/>
                  </a:lnTo>
                  <a:lnTo>
                    <a:pt x="868662" y="1766458"/>
                  </a:lnTo>
                  <a:lnTo>
                    <a:pt x="818129" y="1751883"/>
                  </a:lnTo>
                  <a:lnTo>
                    <a:pt x="768658" y="1736089"/>
                  </a:lnTo>
                  <a:lnTo>
                    <a:pt x="720294" y="1719107"/>
                  </a:lnTo>
                  <a:lnTo>
                    <a:pt x="673082" y="1700966"/>
                  </a:lnTo>
                  <a:lnTo>
                    <a:pt x="627068" y="1681695"/>
                  </a:lnTo>
                  <a:lnTo>
                    <a:pt x="582299" y="1661324"/>
                  </a:lnTo>
                  <a:lnTo>
                    <a:pt x="538819" y="1639883"/>
                  </a:lnTo>
                  <a:lnTo>
                    <a:pt x="496674" y="1617401"/>
                  </a:lnTo>
                  <a:lnTo>
                    <a:pt x="455911" y="1593908"/>
                  </a:lnTo>
                  <a:lnTo>
                    <a:pt x="416575" y="1569434"/>
                  </a:lnTo>
                  <a:lnTo>
                    <a:pt x="378712" y="1544007"/>
                  </a:lnTo>
                  <a:lnTo>
                    <a:pt x="342368" y="1517658"/>
                  </a:lnTo>
                  <a:lnTo>
                    <a:pt x="307587" y="1490416"/>
                  </a:lnTo>
                  <a:lnTo>
                    <a:pt x="274417" y="1462311"/>
                  </a:lnTo>
                  <a:lnTo>
                    <a:pt x="242903" y="1433372"/>
                  </a:lnTo>
                  <a:lnTo>
                    <a:pt x="213090" y="1403629"/>
                  </a:lnTo>
                  <a:lnTo>
                    <a:pt x="185024" y="1373111"/>
                  </a:lnTo>
                  <a:lnTo>
                    <a:pt x="158752" y="1341849"/>
                  </a:lnTo>
                  <a:lnTo>
                    <a:pt x="134318" y="1309871"/>
                  </a:lnTo>
                  <a:lnTo>
                    <a:pt x="111769" y="1277207"/>
                  </a:lnTo>
                  <a:lnTo>
                    <a:pt x="91151" y="1243887"/>
                  </a:lnTo>
                  <a:lnTo>
                    <a:pt x="72508" y="1209940"/>
                  </a:lnTo>
                  <a:lnTo>
                    <a:pt x="55888" y="1175396"/>
                  </a:lnTo>
                  <a:lnTo>
                    <a:pt x="28895" y="1104635"/>
                  </a:lnTo>
                  <a:lnTo>
                    <a:pt x="10539" y="1031840"/>
                  </a:lnTo>
                  <a:lnTo>
                    <a:pt x="1186" y="957248"/>
                  </a:lnTo>
                  <a:lnTo>
                    <a:pt x="0" y="919352"/>
                  </a:lnTo>
                  <a:close/>
                </a:path>
              </a:pathLst>
            </a:custGeom>
            <a:noFill/>
            <a:ln cap="flat" cmpd="sng" w="9525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10971656" y="4474844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31" y="5826"/>
                  </a:lnTo>
                  <a:lnTo>
                    <a:pt x="62396" y="22051"/>
                  </a:lnTo>
                  <a:lnTo>
                    <a:pt x="29405" y="46793"/>
                  </a:lnTo>
                  <a:lnTo>
                    <a:pt x="7769" y="78170"/>
                  </a:lnTo>
                  <a:lnTo>
                    <a:pt x="0" y="114299"/>
                  </a:lnTo>
                  <a:lnTo>
                    <a:pt x="7769" y="150429"/>
                  </a:lnTo>
                  <a:lnTo>
                    <a:pt x="29405" y="181806"/>
                  </a:lnTo>
                  <a:lnTo>
                    <a:pt x="62396" y="206548"/>
                  </a:lnTo>
                  <a:lnTo>
                    <a:pt x="104231" y="222773"/>
                  </a:lnTo>
                  <a:lnTo>
                    <a:pt x="152400" y="228599"/>
                  </a:lnTo>
                  <a:lnTo>
                    <a:pt x="200568" y="222773"/>
                  </a:lnTo>
                  <a:lnTo>
                    <a:pt x="242403" y="206548"/>
                  </a:lnTo>
                  <a:lnTo>
                    <a:pt x="275394" y="181806"/>
                  </a:lnTo>
                  <a:lnTo>
                    <a:pt x="297030" y="150429"/>
                  </a:lnTo>
                  <a:lnTo>
                    <a:pt x="304800" y="114299"/>
                  </a:lnTo>
                  <a:lnTo>
                    <a:pt x="297030" y="78170"/>
                  </a:lnTo>
                  <a:lnTo>
                    <a:pt x="275394" y="46793"/>
                  </a:lnTo>
                  <a:lnTo>
                    <a:pt x="242403" y="22051"/>
                  </a:lnTo>
                  <a:lnTo>
                    <a:pt x="200568" y="582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10971656" y="4474844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299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299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599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299"/>
                  </a:lnTo>
                  <a:close/>
                </a:path>
              </a:pathLst>
            </a:cu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10522076" y="4146422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31" y="5826"/>
                  </a:lnTo>
                  <a:lnTo>
                    <a:pt x="62396" y="22051"/>
                  </a:lnTo>
                  <a:lnTo>
                    <a:pt x="29405" y="46793"/>
                  </a:lnTo>
                  <a:lnTo>
                    <a:pt x="7769" y="78170"/>
                  </a:lnTo>
                  <a:lnTo>
                    <a:pt x="0" y="114300"/>
                  </a:lnTo>
                  <a:lnTo>
                    <a:pt x="7769" y="150429"/>
                  </a:lnTo>
                  <a:lnTo>
                    <a:pt x="29405" y="181806"/>
                  </a:lnTo>
                  <a:lnTo>
                    <a:pt x="62396" y="206548"/>
                  </a:lnTo>
                  <a:lnTo>
                    <a:pt x="104231" y="222773"/>
                  </a:lnTo>
                  <a:lnTo>
                    <a:pt x="152400" y="228600"/>
                  </a:lnTo>
                  <a:lnTo>
                    <a:pt x="200568" y="222773"/>
                  </a:lnTo>
                  <a:lnTo>
                    <a:pt x="242403" y="206548"/>
                  </a:lnTo>
                  <a:lnTo>
                    <a:pt x="275394" y="181806"/>
                  </a:lnTo>
                  <a:lnTo>
                    <a:pt x="297030" y="150429"/>
                  </a:lnTo>
                  <a:lnTo>
                    <a:pt x="304800" y="114300"/>
                  </a:lnTo>
                  <a:lnTo>
                    <a:pt x="297030" y="78170"/>
                  </a:lnTo>
                  <a:lnTo>
                    <a:pt x="275394" y="46793"/>
                  </a:lnTo>
                  <a:lnTo>
                    <a:pt x="242403" y="22051"/>
                  </a:lnTo>
                  <a:lnTo>
                    <a:pt x="200568" y="582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10522076" y="4146422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04" name="Google Shape;204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12579" y="4202429"/>
              <a:ext cx="1549144" cy="1203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17"/>
            <p:cNvSpPr/>
            <p:nvPr/>
          </p:nvSpPr>
          <p:spPr>
            <a:xfrm>
              <a:off x="9253727" y="4242815"/>
              <a:ext cx="1447800" cy="0"/>
            </a:xfrm>
            <a:custGeom>
              <a:rect b="b" l="l" r="r" t="t"/>
              <a:pathLst>
                <a:path extrusionOk="0" h="120000" w="1447800">
                  <a:moveTo>
                    <a:pt x="0" y="0"/>
                  </a:moveTo>
                  <a:lnTo>
                    <a:pt x="1447800" y="0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06" name="Google Shape;206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169651" y="4202429"/>
              <a:ext cx="575309" cy="10241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17"/>
            <p:cNvSpPr/>
            <p:nvPr/>
          </p:nvSpPr>
          <p:spPr>
            <a:xfrm>
              <a:off x="10227563" y="4242815"/>
              <a:ext cx="457200" cy="914400"/>
            </a:xfrm>
            <a:custGeom>
              <a:rect b="b" l="l" r="r" t="t"/>
              <a:pathLst>
                <a:path extrusionOk="0" h="914400" w="457200">
                  <a:moveTo>
                    <a:pt x="0" y="914399"/>
                  </a:moveTo>
                  <a:lnTo>
                    <a:pt x="457200" y="0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08" name="Google Shape;208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691115" y="4583429"/>
              <a:ext cx="1549145" cy="1203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17"/>
            <p:cNvSpPr/>
            <p:nvPr/>
          </p:nvSpPr>
          <p:spPr>
            <a:xfrm>
              <a:off x="9732263" y="4623815"/>
              <a:ext cx="1447800" cy="0"/>
            </a:xfrm>
            <a:custGeom>
              <a:rect b="b" l="l" r="r" t="t"/>
              <a:pathLst>
                <a:path extrusionOk="0" h="120000" w="1447800">
                  <a:moveTo>
                    <a:pt x="0" y="0"/>
                  </a:moveTo>
                  <a:lnTo>
                    <a:pt x="1447800" y="0"/>
                  </a:lnTo>
                </a:path>
              </a:pathLst>
            </a:custGeom>
            <a:noFill/>
            <a:ln cap="flat" cmpd="sng" w="381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10" name="Google Shape;210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647425" y="4583429"/>
              <a:ext cx="575309" cy="10241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17"/>
            <p:cNvSpPr/>
            <p:nvPr/>
          </p:nvSpPr>
          <p:spPr>
            <a:xfrm>
              <a:off x="10705337" y="4623815"/>
              <a:ext cx="457200" cy="914400"/>
            </a:xfrm>
            <a:custGeom>
              <a:rect b="b" l="l" r="r" t="t"/>
              <a:pathLst>
                <a:path extrusionOk="0" h="914400" w="457200">
                  <a:moveTo>
                    <a:pt x="0" y="914400"/>
                  </a:moveTo>
                  <a:lnTo>
                    <a:pt x="457200" y="0"/>
                  </a:lnTo>
                </a:path>
              </a:pathLst>
            </a:custGeom>
            <a:noFill/>
            <a:ln cap="flat" cmpd="sng" w="381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12" name="Google Shape;212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640568" y="4206239"/>
              <a:ext cx="712469" cy="593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17"/>
            <p:cNvSpPr/>
            <p:nvPr/>
          </p:nvSpPr>
          <p:spPr>
            <a:xfrm>
              <a:off x="10693145" y="4242815"/>
              <a:ext cx="427990" cy="323850"/>
            </a:xfrm>
            <a:custGeom>
              <a:rect b="b" l="l" r="r" t="t"/>
              <a:pathLst>
                <a:path extrusionOk="0" h="323850" w="427990">
                  <a:moveTo>
                    <a:pt x="0" y="0"/>
                  </a:moveTo>
                  <a:lnTo>
                    <a:pt x="427786" y="323545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11071264" y="4509283"/>
              <a:ext cx="125730" cy="114935"/>
            </a:xfrm>
            <a:custGeom>
              <a:rect b="b" l="l" r="r" t="t"/>
              <a:pathLst>
                <a:path extrusionOk="0" h="114935" w="125729">
                  <a:moveTo>
                    <a:pt x="68948" y="0"/>
                  </a:moveTo>
                  <a:lnTo>
                    <a:pt x="0" y="91160"/>
                  </a:lnTo>
                  <a:lnTo>
                    <a:pt x="125628" y="114528"/>
                  </a:lnTo>
                  <a:lnTo>
                    <a:pt x="68948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5" name="Google Shape;215;p17"/>
          <p:cNvSpPr txBox="1"/>
          <p:nvPr/>
        </p:nvSpPr>
        <p:spPr>
          <a:xfrm>
            <a:off x="10265475" y="3779239"/>
            <a:ext cx="2730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𝒙</a:t>
            </a:r>
            <a:r>
              <a:rPr baseline="-25000" lang="en-US" sz="1950">
                <a:latin typeface="Cambria Math"/>
                <a:ea typeface="Cambria Math"/>
                <a:cs typeface="Cambria Math"/>
                <a:sym typeface="Cambria Math"/>
              </a:rPr>
              <a:t>𝒋</a:t>
            </a:r>
            <a:endParaRPr baseline="-25000" sz="19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11105839" y="4662671"/>
            <a:ext cx="7035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𝒙</a:t>
            </a:r>
            <a:r>
              <a:rPr baseline="-25000" lang="en-US" sz="1950">
                <a:latin typeface="Cambria Math"/>
                <a:ea typeface="Cambria Math"/>
                <a:cs typeface="Cambria Math"/>
                <a:sym typeface="Cambria Math"/>
              </a:rPr>
              <a:t>𝒋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+ 𝒖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10943469" y="4123776"/>
            <a:ext cx="1733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mbria Math"/>
                <a:ea typeface="Cambria Math"/>
                <a:cs typeface="Cambria Math"/>
                <a:sym typeface="Cambria Math"/>
              </a:rPr>
              <a:t>𝒖𝒖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8" name="Google Shape;218;p1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1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1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6" name="Google Shape;226;p1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7" name="Google Shape;227;p1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Why use of Corners, not edge?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688340" y="1067816"/>
            <a:ext cx="5285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A point on a line is hard to match.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229" name="Google Shape;229;p18"/>
          <p:cNvGrpSpPr/>
          <p:nvPr/>
        </p:nvGrpSpPr>
        <p:grpSpPr>
          <a:xfrm>
            <a:off x="508634" y="990600"/>
            <a:ext cx="10870566" cy="5098160"/>
            <a:chOff x="508634" y="990600"/>
            <a:chExt cx="10870566" cy="5098160"/>
          </a:xfrm>
        </p:grpSpPr>
        <p:sp>
          <p:nvSpPr>
            <p:cNvPr id="230" name="Google Shape;230;p18"/>
            <p:cNvSpPr/>
            <p:nvPr/>
          </p:nvSpPr>
          <p:spPr>
            <a:xfrm>
              <a:off x="7518653" y="990600"/>
              <a:ext cx="1930400" cy="2209800"/>
            </a:xfrm>
            <a:custGeom>
              <a:rect b="b" l="l" r="r" t="t"/>
              <a:pathLst>
                <a:path extrusionOk="0" h="2209800" w="1930400">
                  <a:moveTo>
                    <a:pt x="1930146" y="0"/>
                  </a:moveTo>
                  <a:lnTo>
                    <a:pt x="0" y="2209800"/>
                  </a:lnTo>
                </a:path>
              </a:pathLst>
            </a:cu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9448800" y="1219200"/>
              <a:ext cx="1930400" cy="2209800"/>
            </a:xfrm>
            <a:custGeom>
              <a:rect b="b" l="l" r="r" t="t"/>
              <a:pathLst>
                <a:path extrusionOk="0" h="2209800" w="1930400">
                  <a:moveTo>
                    <a:pt x="1930146" y="0"/>
                  </a:moveTo>
                  <a:lnTo>
                    <a:pt x="0" y="2209800"/>
                  </a:lnTo>
                </a:path>
              </a:pathLst>
            </a:cu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10464927" y="19815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31" y="5826"/>
                  </a:lnTo>
                  <a:lnTo>
                    <a:pt x="62396" y="22051"/>
                  </a:lnTo>
                  <a:lnTo>
                    <a:pt x="29405" y="46793"/>
                  </a:lnTo>
                  <a:lnTo>
                    <a:pt x="7769" y="78170"/>
                  </a:lnTo>
                  <a:lnTo>
                    <a:pt x="0" y="114300"/>
                  </a:lnTo>
                  <a:lnTo>
                    <a:pt x="7769" y="150429"/>
                  </a:lnTo>
                  <a:lnTo>
                    <a:pt x="29405" y="181806"/>
                  </a:lnTo>
                  <a:lnTo>
                    <a:pt x="62396" y="206548"/>
                  </a:lnTo>
                  <a:lnTo>
                    <a:pt x="104231" y="222773"/>
                  </a:lnTo>
                  <a:lnTo>
                    <a:pt x="152400" y="228600"/>
                  </a:lnTo>
                  <a:lnTo>
                    <a:pt x="200568" y="222773"/>
                  </a:lnTo>
                  <a:lnTo>
                    <a:pt x="242403" y="206548"/>
                  </a:lnTo>
                  <a:lnTo>
                    <a:pt x="275394" y="181806"/>
                  </a:lnTo>
                  <a:lnTo>
                    <a:pt x="297030" y="150429"/>
                  </a:lnTo>
                  <a:lnTo>
                    <a:pt x="304800" y="114300"/>
                  </a:lnTo>
                  <a:lnTo>
                    <a:pt x="297030" y="78170"/>
                  </a:lnTo>
                  <a:lnTo>
                    <a:pt x="275394" y="46793"/>
                  </a:lnTo>
                  <a:lnTo>
                    <a:pt x="242403" y="22051"/>
                  </a:lnTo>
                  <a:lnTo>
                    <a:pt x="200568" y="582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10464927" y="19815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10058780" y="24387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31" y="5826"/>
                  </a:lnTo>
                  <a:lnTo>
                    <a:pt x="62396" y="22051"/>
                  </a:lnTo>
                  <a:lnTo>
                    <a:pt x="29405" y="46793"/>
                  </a:lnTo>
                  <a:lnTo>
                    <a:pt x="7769" y="78170"/>
                  </a:lnTo>
                  <a:lnTo>
                    <a:pt x="0" y="114300"/>
                  </a:lnTo>
                  <a:lnTo>
                    <a:pt x="7769" y="150429"/>
                  </a:lnTo>
                  <a:lnTo>
                    <a:pt x="29405" y="181806"/>
                  </a:lnTo>
                  <a:lnTo>
                    <a:pt x="62396" y="206548"/>
                  </a:lnTo>
                  <a:lnTo>
                    <a:pt x="104231" y="222773"/>
                  </a:lnTo>
                  <a:lnTo>
                    <a:pt x="152400" y="228600"/>
                  </a:lnTo>
                  <a:lnTo>
                    <a:pt x="200568" y="222773"/>
                  </a:lnTo>
                  <a:lnTo>
                    <a:pt x="242403" y="206548"/>
                  </a:lnTo>
                  <a:lnTo>
                    <a:pt x="275394" y="181806"/>
                  </a:lnTo>
                  <a:lnTo>
                    <a:pt x="297030" y="150429"/>
                  </a:lnTo>
                  <a:lnTo>
                    <a:pt x="304800" y="114300"/>
                  </a:lnTo>
                  <a:lnTo>
                    <a:pt x="297030" y="78170"/>
                  </a:lnTo>
                  <a:lnTo>
                    <a:pt x="275394" y="46793"/>
                  </a:lnTo>
                  <a:lnTo>
                    <a:pt x="242403" y="22051"/>
                  </a:lnTo>
                  <a:lnTo>
                    <a:pt x="200568" y="582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10058780" y="24387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9652634" y="28959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31" y="5826"/>
                  </a:lnTo>
                  <a:lnTo>
                    <a:pt x="62396" y="22051"/>
                  </a:lnTo>
                  <a:lnTo>
                    <a:pt x="29405" y="46793"/>
                  </a:lnTo>
                  <a:lnTo>
                    <a:pt x="7769" y="78170"/>
                  </a:lnTo>
                  <a:lnTo>
                    <a:pt x="0" y="114300"/>
                  </a:lnTo>
                  <a:lnTo>
                    <a:pt x="7769" y="150429"/>
                  </a:lnTo>
                  <a:lnTo>
                    <a:pt x="29405" y="181806"/>
                  </a:lnTo>
                  <a:lnTo>
                    <a:pt x="62396" y="206548"/>
                  </a:lnTo>
                  <a:lnTo>
                    <a:pt x="104231" y="222773"/>
                  </a:lnTo>
                  <a:lnTo>
                    <a:pt x="152400" y="228600"/>
                  </a:lnTo>
                  <a:lnTo>
                    <a:pt x="200568" y="222773"/>
                  </a:lnTo>
                  <a:lnTo>
                    <a:pt x="242403" y="206548"/>
                  </a:lnTo>
                  <a:lnTo>
                    <a:pt x="275394" y="181806"/>
                  </a:lnTo>
                  <a:lnTo>
                    <a:pt x="297030" y="150429"/>
                  </a:lnTo>
                  <a:lnTo>
                    <a:pt x="304800" y="114300"/>
                  </a:lnTo>
                  <a:lnTo>
                    <a:pt x="297030" y="78170"/>
                  </a:lnTo>
                  <a:lnTo>
                    <a:pt x="275394" y="46793"/>
                  </a:lnTo>
                  <a:lnTo>
                    <a:pt x="242403" y="22051"/>
                  </a:lnTo>
                  <a:lnTo>
                    <a:pt x="200568" y="582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9652634" y="28959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10973180" y="14481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31" y="5826"/>
                  </a:lnTo>
                  <a:lnTo>
                    <a:pt x="62396" y="22051"/>
                  </a:lnTo>
                  <a:lnTo>
                    <a:pt x="29405" y="46793"/>
                  </a:lnTo>
                  <a:lnTo>
                    <a:pt x="7769" y="78170"/>
                  </a:lnTo>
                  <a:lnTo>
                    <a:pt x="0" y="114300"/>
                  </a:lnTo>
                  <a:lnTo>
                    <a:pt x="7769" y="150429"/>
                  </a:lnTo>
                  <a:lnTo>
                    <a:pt x="29405" y="181806"/>
                  </a:lnTo>
                  <a:lnTo>
                    <a:pt x="62396" y="206548"/>
                  </a:lnTo>
                  <a:lnTo>
                    <a:pt x="104231" y="222773"/>
                  </a:lnTo>
                  <a:lnTo>
                    <a:pt x="152400" y="228600"/>
                  </a:lnTo>
                  <a:lnTo>
                    <a:pt x="200568" y="222773"/>
                  </a:lnTo>
                  <a:lnTo>
                    <a:pt x="242403" y="206548"/>
                  </a:lnTo>
                  <a:lnTo>
                    <a:pt x="275394" y="181806"/>
                  </a:lnTo>
                  <a:lnTo>
                    <a:pt x="297030" y="150429"/>
                  </a:lnTo>
                  <a:lnTo>
                    <a:pt x="304800" y="114300"/>
                  </a:lnTo>
                  <a:lnTo>
                    <a:pt x="297030" y="78170"/>
                  </a:lnTo>
                  <a:lnTo>
                    <a:pt x="275394" y="46793"/>
                  </a:lnTo>
                  <a:lnTo>
                    <a:pt x="242403" y="22051"/>
                  </a:lnTo>
                  <a:lnTo>
                    <a:pt x="200568" y="582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10973180" y="14481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8839200" y="1613674"/>
              <a:ext cx="2039620" cy="291465"/>
            </a:xfrm>
            <a:custGeom>
              <a:rect b="b" l="l" r="r" t="t"/>
              <a:pathLst>
                <a:path extrusionOk="0" h="291464" w="2039620">
                  <a:moveTo>
                    <a:pt x="0" y="291325"/>
                  </a:moveTo>
                  <a:lnTo>
                    <a:pt x="2039302" y="0"/>
                  </a:ln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10851567" y="1559800"/>
              <a:ext cx="121285" cy="113664"/>
            </a:xfrm>
            <a:custGeom>
              <a:rect b="b" l="l" r="r" t="t"/>
              <a:pathLst>
                <a:path extrusionOk="0" h="113664" w="121284">
                  <a:moveTo>
                    <a:pt x="0" y="0"/>
                  </a:moveTo>
                  <a:lnTo>
                    <a:pt x="16167" y="113144"/>
                  </a:lnTo>
                  <a:lnTo>
                    <a:pt x="121234" y="403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2" name="Google Shape;242;p18"/>
            <p:cNvSpPr/>
            <p:nvPr/>
          </p:nvSpPr>
          <p:spPr>
            <a:xfrm>
              <a:off x="8737853" y="1905000"/>
              <a:ext cx="1734820" cy="217170"/>
            </a:xfrm>
            <a:custGeom>
              <a:rect b="b" l="l" r="r" t="t"/>
              <a:pathLst>
                <a:path extrusionOk="0" h="217169" w="1734820">
                  <a:moveTo>
                    <a:pt x="0" y="0"/>
                  </a:moveTo>
                  <a:lnTo>
                    <a:pt x="1734286" y="216789"/>
                  </a:ln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3" name="Google Shape;243;p18"/>
            <p:cNvSpPr/>
            <p:nvPr/>
          </p:nvSpPr>
          <p:spPr>
            <a:xfrm>
              <a:off x="10446142" y="2062709"/>
              <a:ext cx="120650" cy="113664"/>
            </a:xfrm>
            <a:custGeom>
              <a:rect b="b" l="l" r="r" t="t"/>
              <a:pathLst>
                <a:path extrusionOk="0" h="113664" w="120650">
                  <a:moveTo>
                    <a:pt x="14185" y="0"/>
                  </a:moveTo>
                  <a:lnTo>
                    <a:pt x="0" y="113411"/>
                  </a:lnTo>
                  <a:lnTo>
                    <a:pt x="120510" y="70891"/>
                  </a:lnTo>
                  <a:lnTo>
                    <a:pt x="14185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4" name="Google Shape;244;p18"/>
            <p:cNvSpPr/>
            <p:nvPr/>
          </p:nvSpPr>
          <p:spPr>
            <a:xfrm>
              <a:off x="8839200" y="1905000"/>
              <a:ext cx="1236345" cy="641985"/>
            </a:xfrm>
            <a:custGeom>
              <a:rect b="b" l="l" r="r" t="t"/>
              <a:pathLst>
                <a:path extrusionOk="0" h="641985" w="1236345">
                  <a:moveTo>
                    <a:pt x="0" y="0"/>
                  </a:moveTo>
                  <a:lnTo>
                    <a:pt x="1236014" y="641896"/>
                  </a:ln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10031973" y="2487399"/>
              <a:ext cx="128270" cy="103505"/>
            </a:xfrm>
            <a:custGeom>
              <a:rect b="b" l="l" r="r" t="t"/>
              <a:pathLst>
                <a:path extrusionOk="0" h="103505" w="128270">
                  <a:moveTo>
                    <a:pt x="52679" y="0"/>
                  </a:moveTo>
                  <a:lnTo>
                    <a:pt x="0" y="101434"/>
                  </a:lnTo>
                  <a:lnTo>
                    <a:pt x="127774" y="103403"/>
                  </a:lnTo>
                  <a:lnTo>
                    <a:pt x="52679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6" name="Google Shape;246;p18"/>
            <p:cNvSpPr/>
            <p:nvPr/>
          </p:nvSpPr>
          <p:spPr>
            <a:xfrm>
              <a:off x="8737853" y="1905000"/>
              <a:ext cx="950594" cy="998219"/>
            </a:xfrm>
            <a:custGeom>
              <a:rect b="b" l="l" r="r" t="t"/>
              <a:pathLst>
                <a:path extrusionOk="0" h="998219" w="950595">
                  <a:moveTo>
                    <a:pt x="0" y="0"/>
                  </a:moveTo>
                  <a:lnTo>
                    <a:pt x="950061" y="997813"/>
                  </a:ln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18"/>
            <p:cNvSpPr/>
            <p:nvPr/>
          </p:nvSpPr>
          <p:spPr>
            <a:xfrm>
              <a:off x="9633398" y="2849610"/>
              <a:ext cx="120650" cy="122555"/>
            </a:xfrm>
            <a:custGeom>
              <a:rect b="b" l="l" r="r" t="t"/>
              <a:pathLst>
                <a:path extrusionOk="0" h="122555" w="120650">
                  <a:moveTo>
                    <a:pt x="82778" y="0"/>
                  </a:moveTo>
                  <a:lnTo>
                    <a:pt x="0" y="78816"/>
                  </a:lnTo>
                  <a:lnTo>
                    <a:pt x="120205" y="122186"/>
                  </a:lnTo>
                  <a:lnTo>
                    <a:pt x="82778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8" name="Google Shape;248;p18"/>
            <p:cNvSpPr/>
            <p:nvPr/>
          </p:nvSpPr>
          <p:spPr>
            <a:xfrm>
              <a:off x="8534780" y="17529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31" y="5826"/>
                  </a:lnTo>
                  <a:lnTo>
                    <a:pt x="62396" y="22051"/>
                  </a:lnTo>
                  <a:lnTo>
                    <a:pt x="29405" y="46793"/>
                  </a:lnTo>
                  <a:lnTo>
                    <a:pt x="7769" y="78170"/>
                  </a:lnTo>
                  <a:lnTo>
                    <a:pt x="0" y="114300"/>
                  </a:lnTo>
                  <a:lnTo>
                    <a:pt x="7769" y="150429"/>
                  </a:lnTo>
                  <a:lnTo>
                    <a:pt x="29405" y="181806"/>
                  </a:lnTo>
                  <a:lnTo>
                    <a:pt x="62396" y="206548"/>
                  </a:lnTo>
                  <a:lnTo>
                    <a:pt x="104231" y="222773"/>
                  </a:lnTo>
                  <a:lnTo>
                    <a:pt x="152400" y="228600"/>
                  </a:lnTo>
                  <a:lnTo>
                    <a:pt x="200568" y="222773"/>
                  </a:lnTo>
                  <a:lnTo>
                    <a:pt x="242403" y="206548"/>
                  </a:lnTo>
                  <a:lnTo>
                    <a:pt x="275394" y="181806"/>
                  </a:lnTo>
                  <a:lnTo>
                    <a:pt x="297030" y="150429"/>
                  </a:lnTo>
                  <a:lnTo>
                    <a:pt x="304800" y="114300"/>
                  </a:lnTo>
                  <a:lnTo>
                    <a:pt x="297030" y="78170"/>
                  </a:lnTo>
                  <a:lnTo>
                    <a:pt x="275394" y="46793"/>
                  </a:lnTo>
                  <a:lnTo>
                    <a:pt x="242403" y="22051"/>
                  </a:lnTo>
                  <a:lnTo>
                    <a:pt x="200568" y="582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8534780" y="17529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18"/>
            <p:cNvSpPr/>
            <p:nvPr/>
          </p:nvSpPr>
          <p:spPr>
            <a:xfrm>
              <a:off x="508634" y="1676780"/>
              <a:ext cx="2540000" cy="1600200"/>
            </a:xfrm>
            <a:custGeom>
              <a:rect b="b" l="l" r="r" t="t"/>
              <a:pathLst>
                <a:path extrusionOk="0" h="1600200" w="2540000">
                  <a:moveTo>
                    <a:pt x="1269873" y="0"/>
                  </a:moveTo>
                  <a:lnTo>
                    <a:pt x="0" y="1600200"/>
                  </a:lnTo>
                  <a:lnTo>
                    <a:pt x="2539746" y="1600200"/>
                  </a:lnTo>
                  <a:lnTo>
                    <a:pt x="12698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508634" y="1676780"/>
              <a:ext cx="2540000" cy="1600200"/>
            </a:xfrm>
            <a:custGeom>
              <a:rect b="b" l="l" r="r" t="t"/>
              <a:pathLst>
                <a:path extrusionOk="0" h="1600200" w="2540000">
                  <a:moveTo>
                    <a:pt x="0" y="1600200"/>
                  </a:moveTo>
                  <a:lnTo>
                    <a:pt x="1269873" y="0"/>
                  </a:lnTo>
                  <a:lnTo>
                    <a:pt x="2539746" y="1600200"/>
                  </a:lnTo>
                  <a:lnTo>
                    <a:pt x="0" y="1600200"/>
                  </a:lnTo>
                  <a:close/>
                </a:path>
              </a:pathLst>
            </a:custGeom>
            <a:noFill/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2" name="Google Shape;252;p18"/>
            <p:cNvSpPr/>
            <p:nvPr/>
          </p:nvSpPr>
          <p:spPr>
            <a:xfrm>
              <a:off x="3251834" y="1676780"/>
              <a:ext cx="2540000" cy="1600200"/>
            </a:xfrm>
            <a:custGeom>
              <a:rect b="b" l="l" r="r" t="t"/>
              <a:pathLst>
                <a:path extrusionOk="0" h="1600200" w="2540000">
                  <a:moveTo>
                    <a:pt x="1269873" y="0"/>
                  </a:moveTo>
                  <a:lnTo>
                    <a:pt x="0" y="1600200"/>
                  </a:lnTo>
                  <a:lnTo>
                    <a:pt x="2539746" y="1600200"/>
                  </a:lnTo>
                  <a:lnTo>
                    <a:pt x="12698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3" name="Google Shape;253;p18"/>
            <p:cNvSpPr/>
            <p:nvPr/>
          </p:nvSpPr>
          <p:spPr>
            <a:xfrm>
              <a:off x="3251834" y="1676780"/>
              <a:ext cx="2540000" cy="1600200"/>
            </a:xfrm>
            <a:custGeom>
              <a:rect b="b" l="l" r="r" t="t"/>
              <a:pathLst>
                <a:path extrusionOk="0" h="1600200" w="2540000">
                  <a:moveTo>
                    <a:pt x="0" y="1600200"/>
                  </a:moveTo>
                  <a:lnTo>
                    <a:pt x="1269873" y="0"/>
                  </a:lnTo>
                  <a:lnTo>
                    <a:pt x="2539746" y="1600200"/>
                  </a:lnTo>
                  <a:lnTo>
                    <a:pt x="0" y="1600200"/>
                  </a:lnTo>
                  <a:close/>
                </a:path>
              </a:pathLst>
            </a:custGeom>
            <a:noFill/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" name="Google Shape;254;p18"/>
            <p:cNvSpPr/>
            <p:nvPr/>
          </p:nvSpPr>
          <p:spPr>
            <a:xfrm>
              <a:off x="1016126" y="22863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31" y="5826"/>
                  </a:lnTo>
                  <a:lnTo>
                    <a:pt x="62396" y="22051"/>
                  </a:lnTo>
                  <a:lnTo>
                    <a:pt x="29405" y="46793"/>
                  </a:lnTo>
                  <a:lnTo>
                    <a:pt x="7769" y="78170"/>
                  </a:lnTo>
                  <a:lnTo>
                    <a:pt x="0" y="114300"/>
                  </a:lnTo>
                  <a:lnTo>
                    <a:pt x="7769" y="150429"/>
                  </a:lnTo>
                  <a:lnTo>
                    <a:pt x="29405" y="181806"/>
                  </a:lnTo>
                  <a:lnTo>
                    <a:pt x="62396" y="206548"/>
                  </a:lnTo>
                  <a:lnTo>
                    <a:pt x="104231" y="222773"/>
                  </a:lnTo>
                  <a:lnTo>
                    <a:pt x="152400" y="228600"/>
                  </a:lnTo>
                  <a:lnTo>
                    <a:pt x="200568" y="222773"/>
                  </a:lnTo>
                  <a:lnTo>
                    <a:pt x="242403" y="206548"/>
                  </a:lnTo>
                  <a:lnTo>
                    <a:pt x="275394" y="181806"/>
                  </a:lnTo>
                  <a:lnTo>
                    <a:pt x="297030" y="150429"/>
                  </a:lnTo>
                  <a:lnTo>
                    <a:pt x="304800" y="114300"/>
                  </a:lnTo>
                  <a:lnTo>
                    <a:pt x="297030" y="78170"/>
                  </a:lnTo>
                  <a:lnTo>
                    <a:pt x="275394" y="46793"/>
                  </a:lnTo>
                  <a:lnTo>
                    <a:pt x="242403" y="22051"/>
                  </a:lnTo>
                  <a:lnTo>
                    <a:pt x="200568" y="582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1016126" y="22863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" name="Google Shape;256;p18"/>
            <p:cNvSpPr/>
            <p:nvPr/>
          </p:nvSpPr>
          <p:spPr>
            <a:xfrm>
              <a:off x="3853052" y="22101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31" y="5826"/>
                  </a:lnTo>
                  <a:lnTo>
                    <a:pt x="62396" y="22051"/>
                  </a:lnTo>
                  <a:lnTo>
                    <a:pt x="29405" y="46793"/>
                  </a:lnTo>
                  <a:lnTo>
                    <a:pt x="7769" y="78170"/>
                  </a:lnTo>
                  <a:lnTo>
                    <a:pt x="0" y="114300"/>
                  </a:lnTo>
                  <a:lnTo>
                    <a:pt x="7769" y="150429"/>
                  </a:lnTo>
                  <a:lnTo>
                    <a:pt x="29405" y="181806"/>
                  </a:lnTo>
                  <a:lnTo>
                    <a:pt x="62396" y="206548"/>
                  </a:lnTo>
                  <a:lnTo>
                    <a:pt x="104231" y="222773"/>
                  </a:lnTo>
                  <a:lnTo>
                    <a:pt x="152400" y="228600"/>
                  </a:lnTo>
                  <a:lnTo>
                    <a:pt x="200568" y="222773"/>
                  </a:lnTo>
                  <a:lnTo>
                    <a:pt x="242403" y="206548"/>
                  </a:lnTo>
                  <a:lnTo>
                    <a:pt x="275394" y="181806"/>
                  </a:lnTo>
                  <a:lnTo>
                    <a:pt x="297030" y="150429"/>
                  </a:lnTo>
                  <a:lnTo>
                    <a:pt x="304800" y="114300"/>
                  </a:lnTo>
                  <a:lnTo>
                    <a:pt x="297030" y="78170"/>
                  </a:lnTo>
                  <a:lnTo>
                    <a:pt x="275394" y="46793"/>
                  </a:lnTo>
                  <a:lnTo>
                    <a:pt x="242403" y="22051"/>
                  </a:lnTo>
                  <a:lnTo>
                    <a:pt x="200568" y="582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3853052" y="22101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3603879" y="25149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31" y="5826"/>
                  </a:lnTo>
                  <a:lnTo>
                    <a:pt x="62396" y="22051"/>
                  </a:lnTo>
                  <a:lnTo>
                    <a:pt x="29405" y="46793"/>
                  </a:lnTo>
                  <a:lnTo>
                    <a:pt x="7769" y="78170"/>
                  </a:lnTo>
                  <a:lnTo>
                    <a:pt x="0" y="114300"/>
                  </a:lnTo>
                  <a:lnTo>
                    <a:pt x="7769" y="150429"/>
                  </a:lnTo>
                  <a:lnTo>
                    <a:pt x="29405" y="181806"/>
                  </a:lnTo>
                  <a:lnTo>
                    <a:pt x="62396" y="206548"/>
                  </a:lnTo>
                  <a:lnTo>
                    <a:pt x="104231" y="222773"/>
                  </a:lnTo>
                  <a:lnTo>
                    <a:pt x="152400" y="228600"/>
                  </a:lnTo>
                  <a:lnTo>
                    <a:pt x="200568" y="222773"/>
                  </a:lnTo>
                  <a:lnTo>
                    <a:pt x="242403" y="206548"/>
                  </a:lnTo>
                  <a:lnTo>
                    <a:pt x="275394" y="181806"/>
                  </a:lnTo>
                  <a:lnTo>
                    <a:pt x="297030" y="150429"/>
                  </a:lnTo>
                  <a:lnTo>
                    <a:pt x="304800" y="114300"/>
                  </a:lnTo>
                  <a:lnTo>
                    <a:pt x="297030" y="78170"/>
                  </a:lnTo>
                  <a:lnTo>
                    <a:pt x="275394" y="46793"/>
                  </a:lnTo>
                  <a:lnTo>
                    <a:pt x="242403" y="22051"/>
                  </a:lnTo>
                  <a:lnTo>
                    <a:pt x="200568" y="582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3603879" y="25149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3327273" y="2845689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31" y="5826"/>
                  </a:lnTo>
                  <a:lnTo>
                    <a:pt x="62396" y="22051"/>
                  </a:lnTo>
                  <a:lnTo>
                    <a:pt x="29405" y="46793"/>
                  </a:lnTo>
                  <a:lnTo>
                    <a:pt x="7769" y="78170"/>
                  </a:lnTo>
                  <a:lnTo>
                    <a:pt x="0" y="114300"/>
                  </a:lnTo>
                  <a:lnTo>
                    <a:pt x="7769" y="150429"/>
                  </a:lnTo>
                  <a:lnTo>
                    <a:pt x="29405" y="181806"/>
                  </a:lnTo>
                  <a:lnTo>
                    <a:pt x="62396" y="206548"/>
                  </a:lnTo>
                  <a:lnTo>
                    <a:pt x="104231" y="222773"/>
                  </a:lnTo>
                  <a:lnTo>
                    <a:pt x="152400" y="228600"/>
                  </a:lnTo>
                  <a:lnTo>
                    <a:pt x="200568" y="222773"/>
                  </a:lnTo>
                  <a:lnTo>
                    <a:pt x="242403" y="206548"/>
                  </a:lnTo>
                  <a:lnTo>
                    <a:pt x="275394" y="181806"/>
                  </a:lnTo>
                  <a:lnTo>
                    <a:pt x="297030" y="150429"/>
                  </a:lnTo>
                  <a:lnTo>
                    <a:pt x="304800" y="114300"/>
                  </a:lnTo>
                  <a:lnTo>
                    <a:pt x="297030" y="78170"/>
                  </a:lnTo>
                  <a:lnTo>
                    <a:pt x="275394" y="46793"/>
                  </a:lnTo>
                  <a:lnTo>
                    <a:pt x="242403" y="22051"/>
                  </a:lnTo>
                  <a:lnTo>
                    <a:pt x="200568" y="582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3327273" y="2845689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4083176" y="19053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152400" y="0"/>
                  </a:moveTo>
                  <a:lnTo>
                    <a:pt x="104231" y="5826"/>
                  </a:lnTo>
                  <a:lnTo>
                    <a:pt x="62396" y="22051"/>
                  </a:lnTo>
                  <a:lnTo>
                    <a:pt x="29405" y="46793"/>
                  </a:lnTo>
                  <a:lnTo>
                    <a:pt x="7769" y="78170"/>
                  </a:lnTo>
                  <a:lnTo>
                    <a:pt x="0" y="114300"/>
                  </a:lnTo>
                  <a:lnTo>
                    <a:pt x="7769" y="150429"/>
                  </a:lnTo>
                  <a:lnTo>
                    <a:pt x="29405" y="181806"/>
                  </a:lnTo>
                  <a:lnTo>
                    <a:pt x="62396" y="206548"/>
                  </a:lnTo>
                  <a:lnTo>
                    <a:pt x="104231" y="222773"/>
                  </a:lnTo>
                  <a:lnTo>
                    <a:pt x="152400" y="228600"/>
                  </a:lnTo>
                  <a:lnTo>
                    <a:pt x="200568" y="222773"/>
                  </a:lnTo>
                  <a:lnTo>
                    <a:pt x="242403" y="206548"/>
                  </a:lnTo>
                  <a:lnTo>
                    <a:pt x="275394" y="181806"/>
                  </a:lnTo>
                  <a:lnTo>
                    <a:pt x="297030" y="150429"/>
                  </a:lnTo>
                  <a:lnTo>
                    <a:pt x="304800" y="114300"/>
                  </a:lnTo>
                  <a:lnTo>
                    <a:pt x="297030" y="78170"/>
                  </a:lnTo>
                  <a:lnTo>
                    <a:pt x="275394" y="46793"/>
                  </a:lnTo>
                  <a:lnTo>
                    <a:pt x="242403" y="22051"/>
                  </a:lnTo>
                  <a:lnTo>
                    <a:pt x="200568" y="5826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4083176" y="190538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2826639" y="4398645"/>
              <a:ext cx="2540000" cy="1600200"/>
            </a:xfrm>
            <a:custGeom>
              <a:rect b="b" l="l" r="r" t="t"/>
              <a:pathLst>
                <a:path extrusionOk="0" h="1600200" w="2540000">
                  <a:moveTo>
                    <a:pt x="1269873" y="0"/>
                  </a:moveTo>
                  <a:lnTo>
                    <a:pt x="0" y="1600199"/>
                  </a:lnTo>
                  <a:lnTo>
                    <a:pt x="2539746" y="1600199"/>
                  </a:lnTo>
                  <a:lnTo>
                    <a:pt x="12698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2826639" y="4398645"/>
              <a:ext cx="2540000" cy="1600200"/>
            </a:xfrm>
            <a:custGeom>
              <a:rect b="b" l="l" r="r" t="t"/>
              <a:pathLst>
                <a:path extrusionOk="0" h="1600200" w="2540000">
                  <a:moveTo>
                    <a:pt x="0" y="1600199"/>
                  </a:moveTo>
                  <a:lnTo>
                    <a:pt x="1269873" y="0"/>
                  </a:lnTo>
                  <a:lnTo>
                    <a:pt x="2539746" y="1600199"/>
                  </a:lnTo>
                  <a:lnTo>
                    <a:pt x="0" y="1600199"/>
                  </a:lnTo>
                  <a:close/>
                </a:path>
              </a:pathLst>
            </a:custGeom>
            <a:noFill/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" name="Google Shape;266;p18"/>
            <p:cNvSpPr/>
            <p:nvPr/>
          </p:nvSpPr>
          <p:spPr>
            <a:xfrm>
              <a:off x="6299834" y="4398645"/>
              <a:ext cx="2540000" cy="1600200"/>
            </a:xfrm>
            <a:custGeom>
              <a:rect b="b" l="l" r="r" t="t"/>
              <a:pathLst>
                <a:path extrusionOk="0" h="1600200" w="2540000">
                  <a:moveTo>
                    <a:pt x="0" y="1600199"/>
                  </a:moveTo>
                  <a:lnTo>
                    <a:pt x="1269873" y="0"/>
                  </a:lnTo>
                  <a:lnTo>
                    <a:pt x="2539746" y="1600199"/>
                  </a:lnTo>
                  <a:lnTo>
                    <a:pt x="0" y="1600199"/>
                  </a:lnTo>
                  <a:close/>
                </a:path>
              </a:pathLst>
            </a:custGeom>
            <a:noFill/>
            <a:ln cap="flat" cmpd="sng" w="254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" name="Google Shape;267;p18"/>
            <p:cNvSpPr/>
            <p:nvPr/>
          </p:nvSpPr>
          <p:spPr>
            <a:xfrm>
              <a:off x="3943731" y="4322445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299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299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599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299"/>
                  </a:lnTo>
                  <a:close/>
                </a:path>
              </a:pathLst>
            </a:cu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2679573" y="5860160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5162931" y="5846445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299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299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599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299"/>
                  </a:lnTo>
                  <a:close/>
                </a:path>
              </a:pathLst>
            </a:custGeom>
            <a:noFill/>
            <a:ln cap="flat" cmpd="sng" w="254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7416927" y="4320159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6152769" y="5857875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300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300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600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300"/>
                  </a:lnTo>
                  <a:close/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8636127" y="5844159"/>
              <a:ext cx="304800" cy="228600"/>
            </a:xfrm>
            <a:custGeom>
              <a:rect b="b" l="l" r="r" t="t"/>
              <a:pathLst>
                <a:path extrusionOk="0" h="228600" w="304800">
                  <a:moveTo>
                    <a:pt x="0" y="114299"/>
                  </a:moveTo>
                  <a:lnTo>
                    <a:pt x="29405" y="46793"/>
                  </a:lnTo>
                  <a:lnTo>
                    <a:pt x="62396" y="22051"/>
                  </a:lnTo>
                  <a:lnTo>
                    <a:pt x="104231" y="5826"/>
                  </a:lnTo>
                  <a:lnTo>
                    <a:pt x="152400" y="0"/>
                  </a:lnTo>
                  <a:lnTo>
                    <a:pt x="200568" y="5826"/>
                  </a:lnTo>
                  <a:lnTo>
                    <a:pt x="242403" y="22051"/>
                  </a:lnTo>
                  <a:lnTo>
                    <a:pt x="275394" y="46793"/>
                  </a:lnTo>
                  <a:lnTo>
                    <a:pt x="297030" y="78170"/>
                  </a:lnTo>
                  <a:lnTo>
                    <a:pt x="304800" y="114299"/>
                  </a:lnTo>
                  <a:lnTo>
                    <a:pt x="297030" y="150429"/>
                  </a:lnTo>
                  <a:lnTo>
                    <a:pt x="275394" y="181806"/>
                  </a:lnTo>
                  <a:lnTo>
                    <a:pt x="242403" y="206548"/>
                  </a:lnTo>
                  <a:lnTo>
                    <a:pt x="200568" y="222773"/>
                  </a:lnTo>
                  <a:lnTo>
                    <a:pt x="152400" y="228599"/>
                  </a:lnTo>
                  <a:lnTo>
                    <a:pt x="104231" y="222773"/>
                  </a:lnTo>
                  <a:lnTo>
                    <a:pt x="62396" y="206548"/>
                  </a:lnTo>
                  <a:lnTo>
                    <a:pt x="29405" y="181806"/>
                  </a:lnTo>
                  <a:lnTo>
                    <a:pt x="7769" y="150429"/>
                  </a:lnTo>
                  <a:lnTo>
                    <a:pt x="0" y="114299"/>
                  </a:lnTo>
                  <a:close/>
                </a:path>
              </a:pathLst>
            </a:custGeom>
            <a:noFill/>
            <a:ln cap="flat" cmpd="sng" w="254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73" name="Google Shape;273;p18"/>
          <p:cNvSpPr txBox="1"/>
          <p:nvPr/>
        </p:nvSpPr>
        <p:spPr>
          <a:xfrm>
            <a:off x="511165" y="3243309"/>
            <a:ext cx="46602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900">
            <a:spAutoFit/>
          </a:bodyPr>
          <a:lstStyle/>
          <a:p>
            <a:pPr indent="0" lvl="0" marL="419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     </a:t>
            </a: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Object 1	                            Object 2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Matching of	corners is easier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74" name="Google Shape;274;p18"/>
          <p:cNvSpPr txBox="1"/>
          <p:nvPr/>
        </p:nvSpPr>
        <p:spPr>
          <a:xfrm>
            <a:off x="10107015" y="2889121"/>
            <a:ext cx="20109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Matching of a point from Object 1 to Object 2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75" name="Google Shape;275;p18"/>
          <p:cNvSpPr txBox="1"/>
          <p:nvPr/>
        </p:nvSpPr>
        <p:spPr>
          <a:xfrm>
            <a:off x="3601580" y="6045437"/>
            <a:ext cx="885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Object 1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76" name="Google Shape;276;p18"/>
          <p:cNvSpPr txBox="1"/>
          <p:nvPr/>
        </p:nvSpPr>
        <p:spPr>
          <a:xfrm>
            <a:off x="7078429" y="6045437"/>
            <a:ext cx="885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Object 2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277" name="Google Shape;277;p18"/>
          <p:cNvGrpSpPr/>
          <p:nvPr/>
        </p:nvGrpSpPr>
        <p:grpSpPr>
          <a:xfrm>
            <a:off x="4327397" y="4994909"/>
            <a:ext cx="3300221" cy="422147"/>
            <a:chOff x="4327397" y="5071109"/>
            <a:chExt cx="3300221" cy="422147"/>
          </a:xfrm>
        </p:grpSpPr>
        <p:pic>
          <p:nvPicPr>
            <p:cNvPr id="278" name="Google Shape;27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27397" y="5071109"/>
              <a:ext cx="3300221" cy="4221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18"/>
            <p:cNvSpPr/>
            <p:nvPr/>
          </p:nvSpPr>
          <p:spPr>
            <a:xfrm>
              <a:off x="4368545" y="5257799"/>
              <a:ext cx="3010535" cy="1905"/>
            </a:xfrm>
            <a:custGeom>
              <a:rect b="b" l="l" r="r" t="t"/>
              <a:pathLst>
                <a:path extrusionOk="0" h="1904" w="3010534">
                  <a:moveTo>
                    <a:pt x="0" y="0"/>
                  </a:moveTo>
                  <a:lnTo>
                    <a:pt x="3010281" y="1562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7264487" y="5192627"/>
              <a:ext cx="114935" cy="133350"/>
            </a:xfrm>
            <a:custGeom>
              <a:rect b="b" l="l" r="r" t="t"/>
              <a:pathLst>
                <a:path extrusionOk="0" h="133350" w="114934">
                  <a:moveTo>
                    <a:pt x="76" y="0"/>
                  </a:moveTo>
                  <a:lnTo>
                    <a:pt x="114338" y="66738"/>
                  </a:lnTo>
                  <a:lnTo>
                    <a:pt x="0" y="133350"/>
                  </a:lnTo>
                </a:path>
              </a:pathLst>
            </a:custGeom>
            <a:noFill/>
            <a:ln cap="flat" cmpd="sng" w="381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1" name="Google Shape;281;p1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" name="Google Shape;282;p1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1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9" name="Google Shape;289;p1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0" name="Google Shape;290;p1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Harris </a:t>
            </a:r>
            <a:r>
              <a:rPr lang="en-US"/>
              <a:t>corner detector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634740" y="1245865"/>
            <a:ext cx="86094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 popular corner detector which works quite well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Proposed in 1988 by researcher called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Harris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92" name="Google Shape;292;p1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1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" name="Google Shape;294;p1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0" name="Google Shape;300;p2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1" name="Google Shape;301;p20"/>
          <p:cNvSpPr txBox="1"/>
          <p:nvPr>
            <p:ph idx="4294967295" type="title"/>
          </p:nvPr>
        </p:nvSpPr>
        <p:spPr>
          <a:xfrm>
            <a:off x="0" y="153150"/>
            <a:ext cx="121920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5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Basic Idea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305175" y="1097475"/>
            <a:ext cx="11582400" cy="22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343535" lvl="0" marL="355600" marR="508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We should easily recognize the </a:t>
            </a: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corner point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by looking through a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small window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460375" rtl="0" algn="l">
              <a:lnSpc>
                <a:spcPct val="108124"/>
              </a:lnSpc>
              <a:spcBef>
                <a:spcPts val="76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Shifting a window in </a:t>
            </a:r>
            <a:r>
              <a:rPr i="1"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any direction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should give </a:t>
            </a:r>
            <a:r>
              <a:rPr i="1"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 large change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in intensity </a:t>
            </a:r>
            <a:r>
              <a:rPr lang="en-US" sz="32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(in case of	corner)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303" name="Google Shape;303;p20"/>
          <p:cNvGrpSpPr/>
          <p:nvPr/>
        </p:nvGrpSpPr>
        <p:grpSpPr>
          <a:xfrm>
            <a:off x="4394834" y="3505580"/>
            <a:ext cx="3454400" cy="2514600"/>
            <a:chOff x="4394834" y="3505580"/>
            <a:chExt cx="3454400" cy="2514600"/>
          </a:xfrm>
        </p:grpSpPr>
        <p:sp>
          <p:nvSpPr>
            <p:cNvPr id="304" name="Google Shape;304;p20"/>
            <p:cNvSpPr/>
            <p:nvPr/>
          </p:nvSpPr>
          <p:spPr>
            <a:xfrm>
              <a:off x="4394834" y="3505580"/>
              <a:ext cx="3454400" cy="2514600"/>
            </a:xfrm>
            <a:custGeom>
              <a:rect b="b" l="l" r="r" t="t"/>
              <a:pathLst>
                <a:path extrusionOk="0" h="2514600" w="3454400">
                  <a:moveTo>
                    <a:pt x="3454145" y="0"/>
                  </a:moveTo>
                  <a:lnTo>
                    <a:pt x="0" y="0"/>
                  </a:lnTo>
                  <a:lnTo>
                    <a:pt x="0" y="2514600"/>
                  </a:lnTo>
                  <a:lnTo>
                    <a:pt x="3454145" y="2514600"/>
                  </a:lnTo>
                  <a:lnTo>
                    <a:pt x="3454145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4394834" y="3505580"/>
              <a:ext cx="3454400" cy="2514600"/>
            </a:xfrm>
            <a:custGeom>
              <a:rect b="b" l="l" r="r" t="t"/>
              <a:pathLst>
                <a:path extrusionOk="0" h="2514600" w="3454400">
                  <a:moveTo>
                    <a:pt x="0" y="0"/>
                  </a:moveTo>
                  <a:lnTo>
                    <a:pt x="3454145" y="0"/>
                  </a:lnTo>
                  <a:lnTo>
                    <a:pt x="3454145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5004053" y="4000500"/>
              <a:ext cx="2703195" cy="1485900"/>
            </a:xfrm>
            <a:custGeom>
              <a:rect b="b" l="l" r="r" t="t"/>
              <a:pathLst>
                <a:path extrusionOk="0" h="1485900" w="2703195">
                  <a:moveTo>
                    <a:pt x="0" y="1485900"/>
                  </a:moveTo>
                  <a:lnTo>
                    <a:pt x="180187" y="0"/>
                  </a:lnTo>
                  <a:lnTo>
                    <a:pt x="2702814" y="945578"/>
                  </a:lnTo>
                </a:path>
              </a:pathLst>
            </a:custGeom>
            <a:noFill/>
            <a:ln cap="flat" cmpd="sng" w="44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4902326" y="3848480"/>
              <a:ext cx="711835" cy="533400"/>
            </a:xfrm>
            <a:custGeom>
              <a:rect b="b" l="l" r="r" t="t"/>
              <a:pathLst>
                <a:path extrusionOk="0" h="533400" w="711835">
                  <a:moveTo>
                    <a:pt x="711708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11708" y="533400"/>
                  </a:lnTo>
                  <a:lnTo>
                    <a:pt x="711708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4902326" y="3848480"/>
              <a:ext cx="711835" cy="533400"/>
            </a:xfrm>
            <a:custGeom>
              <a:rect b="b" l="l" r="r" t="t"/>
              <a:pathLst>
                <a:path extrusionOk="0" h="533400" w="711835">
                  <a:moveTo>
                    <a:pt x="0" y="0"/>
                  </a:moveTo>
                  <a:lnTo>
                    <a:pt x="711708" y="0"/>
                  </a:lnTo>
                  <a:lnTo>
                    <a:pt x="711708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09" name="Google Shape;309;p2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2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p2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7" name="Google Shape;317;p2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8" name="Google Shape;318;p2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Harris Detector: Basic Idea</a:t>
            </a:r>
            <a:endParaRPr/>
          </a:p>
        </p:txBody>
      </p:sp>
      <p:grpSp>
        <p:nvGrpSpPr>
          <p:cNvPr id="319" name="Google Shape;319;p21"/>
          <p:cNvGrpSpPr/>
          <p:nvPr/>
        </p:nvGrpSpPr>
        <p:grpSpPr>
          <a:xfrm>
            <a:off x="711326" y="1752980"/>
            <a:ext cx="3150235" cy="2209800"/>
            <a:chOff x="711326" y="1752980"/>
            <a:chExt cx="3150235" cy="2209800"/>
          </a:xfrm>
        </p:grpSpPr>
        <p:sp>
          <p:nvSpPr>
            <p:cNvPr id="320" name="Google Shape;320;p21"/>
            <p:cNvSpPr/>
            <p:nvPr/>
          </p:nvSpPr>
          <p:spPr>
            <a:xfrm>
              <a:off x="711326" y="1752980"/>
              <a:ext cx="3150235" cy="2209800"/>
            </a:xfrm>
            <a:custGeom>
              <a:rect b="b" l="l" r="r" t="t"/>
              <a:pathLst>
                <a:path extrusionOk="0" h="2209800" w="3150235">
                  <a:moveTo>
                    <a:pt x="3150108" y="0"/>
                  </a:moveTo>
                  <a:lnTo>
                    <a:pt x="0" y="0"/>
                  </a:lnTo>
                  <a:lnTo>
                    <a:pt x="0" y="2209800"/>
                  </a:lnTo>
                  <a:lnTo>
                    <a:pt x="3150108" y="2209800"/>
                  </a:lnTo>
                  <a:lnTo>
                    <a:pt x="3150108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711326" y="1752980"/>
              <a:ext cx="3150235" cy="2209800"/>
            </a:xfrm>
            <a:custGeom>
              <a:rect b="b" l="l" r="r" t="t"/>
              <a:pathLst>
                <a:path extrusionOk="0" h="2209800" w="3150235">
                  <a:moveTo>
                    <a:pt x="0" y="0"/>
                  </a:moveTo>
                  <a:lnTo>
                    <a:pt x="3150108" y="0"/>
                  </a:lnTo>
                  <a:lnTo>
                    <a:pt x="3150108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21"/>
            <p:cNvSpPr/>
            <p:nvPr/>
          </p:nvSpPr>
          <p:spPr>
            <a:xfrm>
              <a:off x="1973198" y="30849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1973198" y="30849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2614803" y="3027959"/>
              <a:ext cx="71120" cy="57150"/>
            </a:xfrm>
            <a:custGeom>
              <a:rect b="b" l="l" r="r" t="t"/>
              <a:pathLst>
                <a:path extrusionOk="0" h="57150" w="71119">
                  <a:moveTo>
                    <a:pt x="0" y="56997"/>
                  </a:moveTo>
                  <a:lnTo>
                    <a:pt x="70904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5" name="Google Shape;325;p21"/>
            <p:cNvSpPr/>
            <p:nvPr/>
          </p:nvSpPr>
          <p:spPr>
            <a:xfrm>
              <a:off x="2659896" y="2988183"/>
              <a:ext cx="75565" cy="67945"/>
            </a:xfrm>
            <a:custGeom>
              <a:rect b="b" l="l" r="r" t="t"/>
              <a:pathLst>
                <a:path extrusionOk="0" h="67944" w="75564">
                  <a:moveTo>
                    <a:pt x="75298" y="0"/>
                  </a:moveTo>
                  <a:lnTo>
                    <a:pt x="0" y="27939"/>
                  </a:lnTo>
                  <a:lnTo>
                    <a:pt x="31826" y="67538"/>
                  </a:lnTo>
                  <a:lnTo>
                    <a:pt x="75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" name="Google Shape;326;p21"/>
            <p:cNvSpPr/>
            <p:nvPr/>
          </p:nvSpPr>
          <p:spPr>
            <a:xfrm>
              <a:off x="2639948" y="3556635"/>
              <a:ext cx="75565" cy="53340"/>
            </a:xfrm>
            <a:custGeom>
              <a:rect b="b" l="l" r="r" t="t"/>
              <a:pathLst>
                <a:path extrusionOk="0" h="53339" w="75564">
                  <a:moveTo>
                    <a:pt x="0" y="0"/>
                  </a:moveTo>
                  <a:lnTo>
                    <a:pt x="75399" y="5327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2690319" y="3581831"/>
              <a:ext cx="77470" cy="64769"/>
            </a:xfrm>
            <a:custGeom>
              <a:rect b="b" l="l" r="r" t="t"/>
              <a:pathLst>
                <a:path extrusionOk="0" h="64770" w="77469">
                  <a:moveTo>
                    <a:pt x="29311" y="0"/>
                  </a:moveTo>
                  <a:lnTo>
                    <a:pt x="0" y="41490"/>
                  </a:lnTo>
                  <a:lnTo>
                    <a:pt x="76885" y="64719"/>
                  </a:lnTo>
                  <a:lnTo>
                    <a:pt x="293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1882660" y="3558158"/>
              <a:ext cx="90805" cy="58419"/>
            </a:xfrm>
            <a:custGeom>
              <a:rect b="b" l="l" r="r" t="t"/>
              <a:pathLst>
                <a:path extrusionOk="0" h="58420" w="90805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1829174" y="3587880"/>
              <a:ext cx="78105" cy="62865"/>
            </a:xfrm>
            <a:custGeom>
              <a:rect b="b" l="l" r="r" t="t"/>
              <a:pathLst>
                <a:path extrusionOk="0" h="62864" w="78105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1890268" y="3013595"/>
              <a:ext cx="83185" cy="71755"/>
            </a:xfrm>
            <a:custGeom>
              <a:rect b="b" l="l" r="r" t="t"/>
              <a:pathLst>
                <a:path extrusionOk="0" h="71755" w="83185">
                  <a:moveTo>
                    <a:pt x="82931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1842138" y="2972175"/>
              <a:ext cx="74930" cy="69215"/>
            </a:xfrm>
            <a:custGeom>
              <a:rect b="b" l="l" r="r" t="t"/>
              <a:pathLst>
                <a:path extrusionOk="0" h="69214" w="74930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2074544" y="30087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2074544" y="30087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2716148" y="2951759"/>
              <a:ext cx="71120" cy="57150"/>
            </a:xfrm>
            <a:custGeom>
              <a:rect b="b" l="l" r="r" t="t"/>
              <a:pathLst>
                <a:path extrusionOk="0" h="57150" w="71119">
                  <a:moveTo>
                    <a:pt x="0" y="56997"/>
                  </a:moveTo>
                  <a:lnTo>
                    <a:pt x="70904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2761242" y="2911983"/>
              <a:ext cx="75565" cy="67945"/>
            </a:xfrm>
            <a:custGeom>
              <a:rect b="b" l="l" r="r" t="t"/>
              <a:pathLst>
                <a:path extrusionOk="0" h="67944" w="75564">
                  <a:moveTo>
                    <a:pt x="75298" y="0"/>
                  </a:moveTo>
                  <a:lnTo>
                    <a:pt x="0" y="27939"/>
                  </a:lnTo>
                  <a:lnTo>
                    <a:pt x="31826" y="67538"/>
                  </a:lnTo>
                  <a:lnTo>
                    <a:pt x="75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" name="Google Shape;336;p21"/>
            <p:cNvSpPr/>
            <p:nvPr/>
          </p:nvSpPr>
          <p:spPr>
            <a:xfrm>
              <a:off x="2741294" y="3480435"/>
              <a:ext cx="75565" cy="53340"/>
            </a:xfrm>
            <a:custGeom>
              <a:rect b="b" l="l" r="r" t="t"/>
              <a:pathLst>
                <a:path extrusionOk="0" h="53339" w="75564">
                  <a:moveTo>
                    <a:pt x="0" y="0"/>
                  </a:moveTo>
                  <a:lnTo>
                    <a:pt x="75399" y="5327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" name="Google Shape;337;p21"/>
            <p:cNvSpPr/>
            <p:nvPr/>
          </p:nvSpPr>
          <p:spPr>
            <a:xfrm>
              <a:off x="2791665" y="3505631"/>
              <a:ext cx="77470" cy="64769"/>
            </a:xfrm>
            <a:custGeom>
              <a:rect b="b" l="l" r="r" t="t"/>
              <a:pathLst>
                <a:path extrusionOk="0" h="64770" w="77469">
                  <a:moveTo>
                    <a:pt x="29311" y="0"/>
                  </a:moveTo>
                  <a:lnTo>
                    <a:pt x="0" y="41490"/>
                  </a:lnTo>
                  <a:lnTo>
                    <a:pt x="76885" y="64719"/>
                  </a:lnTo>
                  <a:lnTo>
                    <a:pt x="293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1984006" y="3481958"/>
              <a:ext cx="90805" cy="58419"/>
            </a:xfrm>
            <a:custGeom>
              <a:rect b="b" l="l" r="r" t="t"/>
              <a:pathLst>
                <a:path extrusionOk="0" h="58420" w="90805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1930520" y="3511680"/>
              <a:ext cx="78105" cy="62865"/>
            </a:xfrm>
            <a:custGeom>
              <a:rect b="b" l="l" r="r" t="t"/>
              <a:pathLst>
                <a:path extrusionOk="0" h="62864" w="78105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1991613" y="2937395"/>
              <a:ext cx="83185" cy="71755"/>
            </a:xfrm>
            <a:custGeom>
              <a:rect b="b" l="l" r="r" t="t"/>
              <a:pathLst>
                <a:path extrusionOk="0" h="71755" w="83185">
                  <a:moveTo>
                    <a:pt x="82931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21"/>
            <p:cNvSpPr/>
            <p:nvPr/>
          </p:nvSpPr>
          <p:spPr>
            <a:xfrm>
              <a:off x="1943484" y="2895975"/>
              <a:ext cx="74930" cy="69215"/>
            </a:xfrm>
            <a:custGeom>
              <a:rect b="b" l="l" r="r" t="t"/>
              <a:pathLst>
                <a:path extrusionOk="0" h="69214" w="74930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2136266" y="3068955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2136266" y="3068955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2777109" y="3011805"/>
              <a:ext cx="71755" cy="57150"/>
            </a:xfrm>
            <a:custGeom>
              <a:rect b="b" l="l" r="r" t="t"/>
              <a:pathLst>
                <a:path extrusionOk="0" h="57150" w="71755">
                  <a:moveTo>
                    <a:pt x="0" y="57150"/>
                  </a:moveTo>
                  <a:lnTo>
                    <a:pt x="71539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2822870" y="2972186"/>
              <a:ext cx="75565" cy="67945"/>
            </a:xfrm>
            <a:custGeom>
              <a:rect b="b" l="l" r="r" t="t"/>
              <a:pathLst>
                <a:path extrusionOk="0" h="67944" w="75564">
                  <a:moveTo>
                    <a:pt x="75399" y="0"/>
                  </a:moveTo>
                  <a:lnTo>
                    <a:pt x="0" y="27711"/>
                  </a:lnTo>
                  <a:lnTo>
                    <a:pt x="31711" y="67398"/>
                  </a:lnTo>
                  <a:lnTo>
                    <a:pt x="753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2803016" y="3540632"/>
              <a:ext cx="74930" cy="53975"/>
            </a:xfrm>
            <a:custGeom>
              <a:rect b="b" l="l" r="r" t="t"/>
              <a:pathLst>
                <a:path extrusionOk="0" h="53975" w="74930">
                  <a:moveTo>
                    <a:pt x="0" y="0"/>
                  </a:moveTo>
                  <a:lnTo>
                    <a:pt x="74879" y="53682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7" name="Google Shape;347;p21"/>
            <p:cNvSpPr/>
            <p:nvPr/>
          </p:nvSpPr>
          <p:spPr>
            <a:xfrm>
              <a:off x="2852776" y="3566269"/>
              <a:ext cx="76835" cy="65405"/>
            </a:xfrm>
            <a:custGeom>
              <a:rect b="b" l="l" r="r" t="t"/>
              <a:pathLst>
                <a:path extrusionOk="0" h="65404" w="76835">
                  <a:moveTo>
                    <a:pt x="29603" y="0"/>
                  </a:moveTo>
                  <a:lnTo>
                    <a:pt x="0" y="41287"/>
                  </a:lnTo>
                  <a:lnTo>
                    <a:pt x="76733" y="65036"/>
                  </a:lnTo>
                  <a:lnTo>
                    <a:pt x="296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21"/>
            <p:cNvSpPr/>
            <p:nvPr/>
          </p:nvSpPr>
          <p:spPr>
            <a:xfrm>
              <a:off x="2045728" y="3542157"/>
              <a:ext cx="90805" cy="58419"/>
            </a:xfrm>
            <a:custGeom>
              <a:rect b="b" l="l" r="r" t="t"/>
              <a:pathLst>
                <a:path extrusionOk="0" h="58420" w="90805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9" name="Google Shape;349;p21"/>
            <p:cNvSpPr/>
            <p:nvPr/>
          </p:nvSpPr>
          <p:spPr>
            <a:xfrm>
              <a:off x="1992243" y="3571880"/>
              <a:ext cx="78105" cy="62865"/>
            </a:xfrm>
            <a:custGeom>
              <a:rect b="b" l="l" r="r" t="t"/>
              <a:pathLst>
                <a:path extrusionOk="0" h="62864" w="78105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0" name="Google Shape;350;p21"/>
            <p:cNvSpPr/>
            <p:nvPr/>
          </p:nvSpPr>
          <p:spPr>
            <a:xfrm>
              <a:off x="2053335" y="2997593"/>
              <a:ext cx="83185" cy="71755"/>
            </a:xfrm>
            <a:custGeom>
              <a:rect b="b" l="l" r="r" t="t"/>
              <a:pathLst>
                <a:path extrusionOk="0" h="71755" w="83185">
                  <a:moveTo>
                    <a:pt x="82931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1" name="Google Shape;351;p21"/>
            <p:cNvSpPr/>
            <p:nvPr/>
          </p:nvSpPr>
          <p:spPr>
            <a:xfrm>
              <a:off x="2005206" y="2956173"/>
              <a:ext cx="74930" cy="69215"/>
            </a:xfrm>
            <a:custGeom>
              <a:rect b="b" l="l" r="r" t="t"/>
              <a:pathLst>
                <a:path extrusionOk="0" h="69214" w="74930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2" name="Google Shape;352;p21"/>
            <p:cNvSpPr/>
            <p:nvPr/>
          </p:nvSpPr>
          <p:spPr>
            <a:xfrm>
              <a:off x="2060066" y="3170300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4"/>
                  </a:lnTo>
                  <a:lnTo>
                    <a:pt x="647700" y="470154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3" name="Google Shape;353;p21"/>
            <p:cNvSpPr/>
            <p:nvPr/>
          </p:nvSpPr>
          <p:spPr>
            <a:xfrm>
              <a:off x="2060066" y="3170300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4"/>
                  </a:lnTo>
                  <a:lnTo>
                    <a:pt x="0" y="47015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2700909" y="3113150"/>
              <a:ext cx="71755" cy="57150"/>
            </a:xfrm>
            <a:custGeom>
              <a:rect b="b" l="l" r="r" t="t"/>
              <a:pathLst>
                <a:path extrusionOk="0" h="57150" w="71755">
                  <a:moveTo>
                    <a:pt x="0" y="57150"/>
                  </a:moveTo>
                  <a:lnTo>
                    <a:pt x="71539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5" name="Google Shape;355;p21"/>
            <p:cNvSpPr/>
            <p:nvPr/>
          </p:nvSpPr>
          <p:spPr>
            <a:xfrm>
              <a:off x="2746670" y="3073532"/>
              <a:ext cx="75565" cy="67945"/>
            </a:xfrm>
            <a:custGeom>
              <a:rect b="b" l="l" r="r" t="t"/>
              <a:pathLst>
                <a:path extrusionOk="0" h="67944" w="75564">
                  <a:moveTo>
                    <a:pt x="75399" y="0"/>
                  </a:moveTo>
                  <a:lnTo>
                    <a:pt x="0" y="27711"/>
                  </a:lnTo>
                  <a:lnTo>
                    <a:pt x="31711" y="67398"/>
                  </a:lnTo>
                  <a:lnTo>
                    <a:pt x="753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6" name="Google Shape;356;p21"/>
            <p:cNvSpPr/>
            <p:nvPr/>
          </p:nvSpPr>
          <p:spPr>
            <a:xfrm>
              <a:off x="2726816" y="3641979"/>
              <a:ext cx="74930" cy="53975"/>
            </a:xfrm>
            <a:custGeom>
              <a:rect b="b" l="l" r="r" t="t"/>
              <a:pathLst>
                <a:path extrusionOk="0" h="53975" w="74930">
                  <a:moveTo>
                    <a:pt x="0" y="0"/>
                  </a:moveTo>
                  <a:lnTo>
                    <a:pt x="74879" y="53682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2776576" y="3667615"/>
              <a:ext cx="76835" cy="65405"/>
            </a:xfrm>
            <a:custGeom>
              <a:rect b="b" l="l" r="r" t="t"/>
              <a:pathLst>
                <a:path extrusionOk="0" h="65404" w="76835">
                  <a:moveTo>
                    <a:pt x="29603" y="0"/>
                  </a:moveTo>
                  <a:lnTo>
                    <a:pt x="0" y="41287"/>
                  </a:lnTo>
                  <a:lnTo>
                    <a:pt x="76733" y="65036"/>
                  </a:lnTo>
                  <a:lnTo>
                    <a:pt x="296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21"/>
            <p:cNvSpPr/>
            <p:nvPr/>
          </p:nvSpPr>
          <p:spPr>
            <a:xfrm>
              <a:off x="1969528" y="3643502"/>
              <a:ext cx="90805" cy="58419"/>
            </a:xfrm>
            <a:custGeom>
              <a:rect b="b" l="l" r="r" t="t"/>
              <a:pathLst>
                <a:path extrusionOk="0" h="58420" w="90805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21"/>
            <p:cNvSpPr/>
            <p:nvPr/>
          </p:nvSpPr>
          <p:spPr>
            <a:xfrm>
              <a:off x="1916042" y="3673224"/>
              <a:ext cx="78105" cy="62865"/>
            </a:xfrm>
            <a:custGeom>
              <a:rect b="b" l="l" r="r" t="t"/>
              <a:pathLst>
                <a:path extrusionOk="0" h="62864" w="78105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1977275" y="3099536"/>
              <a:ext cx="83185" cy="71120"/>
            </a:xfrm>
            <a:custGeom>
              <a:rect b="b" l="l" r="r" t="t"/>
              <a:pathLst>
                <a:path extrusionOk="0" h="71119" w="83185">
                  <a:moveTo>
                    <a:pt x="82791" y="707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1928996" y="3058283"/>
              <a:ext cx="74930" cy="69215"/>
            </a:xfrm>
            <a:custGeom>
              <a:rect b="b" l="l" r="r" t="t"/>
              <a:pathLst>
                <a:path extrusionOk="0" h="69214" w="74930">
                  <a:moveTo>
                    <a:pt x="0" y="0"/>
                  </a:moveTo>
                  <a:lnTo>
                    <a:pt x="41427" y="68821"/>
                  </a:lnTo>
                  <a:lnTo>
                    <a:pt x="74434" y="30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" name="Google Shape;362;p21"/>
            <p:cNvSpPr/>
            <p:nvPr/>
          </p:nvSpPr>
          <p:spPr>
            <a:xfrm>
              <a:off x="1943480" y="3127628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1943480" y="3127628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2585084" y="3070631"/>
              <a:ext cx="71120" cy="57150"/>
            </a:xfrm>
            <a:custGeom>
              <a:rect b="b" l="l" r="r" t="t"/>
              <a:pathLst>
                <a:path extrusionOk="0" h="57150" w="71119">
                  <a:moveTo>
                    <a:pt x="0" y="56997"/>
                  </a:moveTo>
                  <a:lnTo>
                    <a:pt x="70904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2630178" y="3030855"/>
              <a:ext cx="75565" cy="67945"/>
            </a:xfrm>
            <a:custGeom>
              <a:rect b="b" l="l" r="r" t="t"/>
              <a:pathLst>
                <a:path extrusionOk="0" h="67944" w="75564">
                  <a:moveTo>
                    <a:pt x="75298" y="0"/>
                  </a:moveTo>
                  <a:lnTo>
                    <a:pt x="0" y="27939"/>
                  </a:lnTo>
                  <a:lnTo>
                    <a:pt x="31826" y="67538"/>
                  </a:lnTo>
                  <a:lnTo>
                    <a:pt x="75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2610231" y="3599307"/>
              <a:ext cx="75565" cy="53975"/>
            </a:xfrm>
            <a:custGeom>
              <a:rect b="b" l="l" r="r" t="t"/>
              <a:pathLst>
                <a:path extrusionOk="0" h="53975" w="75564">
                  <a:moveTo>
                    <a:pt x="0" y="0"/>
                  </a:moveTo>
                  <a:lnTo>
                    <a:pt x="75539" y="538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2660694" y="3625077"/>
              <a:ext cx="76835" cy="65405"/>
            </a:xfrm>
            <a:custGeom>
              <a:rect b="b" l="l" r="r" t="t"/>
              <a:pathLst>
                <a:path extrusionOk="0" h="65404" w="76835">
                  <a:moveTo>
                    <a:pt x="29476" y="0"/>
                  </a:moveTo>
                  <a:lnTo>
                    <a:pt x="0" y="41363"/>
                  </a:lnTo>
                  <a:lnTo>
                    <a:pt x="76784" y="64909"/>
                  </a:lnTo>
                  <a:lnTo>
                    <a:pt x="294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21"/>
            <p:cNvSpPr/>
            <p:nvPr/>
          </p:nvSpPr>
          <p:spPr>
            <a:xfrm>
              <a:off x="1852942" y="3600830"/>
              <a:ext cx="90805" cy="58419"/>
            </a:xfrm>
            <a:custGeom>
              <a:rect b="b" l="l" r="r" t="t"/>
              <a:pathLst>
                <a:path extrusionOk="0" h="58420" w="90805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1799457" y="3630552"/>
              <a:ext cx="78105" cy="62865"/>
            </a:xfrm>
            <a:custGeom>
              <a:rect b="b" l="l" r="r" t="t"/>
              <a:pathLst>
                <a:path extrusionOk="0" h="62864" w="78105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1860549" y="3056267"/>
              <a:ext cx="83185" cy="71755"/>
            </a:xfrm>
            <a:custGeom>
              <a:rect b="b" l="l" r="r" t="t"/>
              <a:pathLst>
                <a:path extrusionOk="0" h="71755" w="83185">
                  <a:moveTo>
                    <a:pt x="82931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21"/>
            <p:cNvSpPr/>
            <p:nvPr/>
          </p:nvSpPr>
          <p:spPr>
            <a:xfrm>
              <a:off x="1812420" y="3014847"/>
              <a:ext cx="74930" cy="69215"/>
            </a:xfrm>
            <a:custGeom>
              <a:rect b="b" l="l" r="r" t="t"/>
              <a:pathLst>
                <a:path extrusionOk="0" h="69214" w="74930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21"/>
            <p:cNvSpPr/>
            <p:nvPr/>
          </p:nvSpPr>
          <p:spPr>
            <a:xfrm>
              <a:off x="2021966" y="3054477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2021966" y="3054477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2662809" y="2997327"/>
              <a:ext cx="71755" cy="57150"/>
            </a:xfrm>
            <a:custGeom>
              <a:rect b="b" l="l" r="r" t="t"/>
              <a:pathLst>
                <a:path extrusionOk="0" h="57150" w="71755">
                  <a:moveTo>
                    <a:pt x="0" y="57150"/>
                  </a:moveTo>
                  <a:lnTo>
                    <a:pt x="71539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2708570" y="2957708"/>
              <a:ext cx="75565" cy="67945"/>
            </a:xfrm>
            <a:custGeom>
              <a:rect b="b" l="l" r="r" t="t"/>
              <a:pathLst>
                <a:path extrusionOk="0" h="67944" w="75564">
                  <a:moveTo>
                    <a:pt x="75399" y="0"/>
                  </a:moveTo>
                  <a:lnTo>
                    <a:pt x="0" y="27711"/>
                  </a:lnTo>
                  <a:lnTo>
                    <a:pt x="31711" y="67398"/>
                  </a:lnTo>
                  <a:lnTo>
                    <a:pt x="753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2688716" y="3526154"/>
              <a:ext cx="74930" cy="53975"/>
            </a:xfrm>
            <a:custGeom>
              <a:rect b="b" l="l" r="r" t="t"/>
              <a:pathLst>
                <a:path extrusionOk="0" h="53975" w="74930">
                  <a:moveTo>
                    <a:pt x="0" y="0"/>
                  </a:moveTo>
                  <a:lnTo>
                    <a:pt x="74879" y="53682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2738476" y="3551791"/>
              <a:ext cx="76835" cy="65405"/>
            </a:xfrm>
            <a:custGeom>
              <a:rect b="b" l="l" r="r" t="t"/>
              <a:pathLst>
                <a:path extrusionOk="0" h="65404" w="76835">
                  <a:moveTo>
                    <a:pt x="29603" y="0"/>
                  </a:moveTo>
                  <a:lnTo>
                    <a:pt x="0" y="41287"/>
                  </a:lnTo>
                  <a:lnTo>
                    <a:pt x="76733" y="65036"/>
                  </a:lnTo>
                  <a:lnTo>
                    <a:pt x="296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1931428" y="3527679"/>
              <a:ext cx="90805" cy="58419"/>
            </a:xfrm>
            <a:custGeom>
              <a:rect b="b" l="l" r="r" t="t"/>
              <a:pathLst>
                <a:path extrusionOk="0" h="58420" w="90805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1877942" y="3557402"/>
              <a:ext cx="78105" cy="62865"/>
            </a:xfrm>
            <a:custGeom>
              <a:rect b="b" l="l" r="r" t="t"/>
              <a:pathLst>
                <a:path extrusionOk="0" h="62864" w="78105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1939035" y="2983115"/>
              <a:ext cx="83185" cy="71755"/>
            </a:xfrm>
            <a:custGeom>
              <a:rect b="b" l="l" r="r" t="t"/>
              <a:pathLst>
                <a:path extrusionOk="0" h="71755" w="83185">
                  <a:moveTo>
                    <a:pt x="82931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21"/>
            <p:cNvSpPr/>
            <p:nvPr/>
          </p:nvSpPr>
          <p:spPr>
            <a:xfrm>
              <a:off x="1890906" y="2941695"/>
              <a:ext cx="74930" cy="69215"/>
            </a:xfrm>
            <a:custGeom>
              <a:rect b="b" l="l" r="r" t="t"/>
              <a:pathLst>
                <a:path extrusionOk="0" h="69214" w="74930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1320545" y="2133599"/>
              <a:ext cx="2133600" cy="1447800"/>
            </a:xfrm>
            <a:custGeom>
              <a:rect b="b" l="l" r="r" t="t"/>
              <a:pathLst>
                <a:path extrusionOk="0" h="1447800" w="2133600">
                  <a:moveTo>
                    <a:pt x="0" y="1447800"/>
                  </a:moveTo>
                  <a:lnTo>
                    <a:pt x="0" y="0"/>
                  </a:lnTo>
                  <a:lnTo>
                    <a:pt x="2133600" y="838200"/>
                  </a:lnTo>
                </a:path>
              </a:pathLst>
            </a:custGeom>
            <a:noFill/>
            <a:ln cap="flat" cmpd="sng" w="412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83" name="Google Shape;383;p21"/>
          <p:cNvSpPr txBox="1"/>
          <p:nvPr/>
        </p:nvSpPr>
        <p:spPr>
          <a:xfrm>
            <a:off x="1094739" y="4425188"/>
            <a:ext cx="1988185" cy="1126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3399"/>
                </a:solidFill>
                <a:latin typeface="Bell MT"/>
                <a:ea typeface="Bell MT"/>
                <a:cs typeface="Bell MT"/>
                <a:sym typeface="Bell MT"/>
              </a:rPr>
              <a:t>“flat”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region: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5080" rtl="0" algn="l">
              <a:lnSpc>
                <a:spcPct val="12125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no change in all directions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384" name="Google Shape;384;p21"/>
          <p:cNvGrpSpPr/>
          <p:nvPr/>
        </p:nvGrpSpPr>
        <p:grpSpPr>
          <a:xfrm>
            <a:off x="4572380" y="1752980"/>
            <a:ext cx="3149600" cy="2209800"/>
            <a:chOff x="4572380" y="1752980"/>
            <a:chExt cx="3149600" cy="2209800"/>
          </a:xfrm>
        </p:grpSpPr>
        <p:sp>
          <p:nvSpPr>
            <p:cNvPr id="385" name="Google Shape;385;p21"/>
            <p:cNvSpPr/>
            <p:nvPr/>
          </p:nvSpPr>
          <p:spPr>
            <a:xfrm>
              <a:off x="4572380" y="1752980"/>
              <a:ext cx="3149600" cy="2209800"/>
            </a:xfrm>
            <a:custGeom>
              <a:rect b="b" l="l" r="r" t="t"/>
              <a:pathLst>
                <a:path extrusionOk="0" h="2209800" w="3149600">
                  <a:moveTo>
                    <a:pt x="3149346" y="0"/>
                  </a:moveTo>
                  <a:lnTo>
                    <a:pt x="0" y="0"/>
                  </a:lnTo>
                  <a:lnTo>
                    <a:pt x="0" y="2209800"/>
                  </a:lnTo>
                  <a:lnTo>
                    <a:pt x="3149346" y="2209800"/>
                  </a:lnTo>
                  <a:lnTo>
                    <a:pt x="3149346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21"/>
            <p:cNvSpPr/>
            <p:nvPr/>
          </p:nvSpPr>
          <p:spPr>
            <a:xfrm>
              <a:off x="4572380" y="1752980"/>
              <a:ext cx="3149600" cy="2209800"/>
            </a:xfrm>
            <a:custGeom>
              <a:rect b="b" l="l" r="r" t="t"/>
              <a:pathLst>
                <a:path extrusionOk="0" h="2209800" w="3149600">
                  <a:moveTo>
                    <a:pt x="0" y="0"/>
                  </a:moveTo>
                  <a:lnTo>
                    <a:pt x="3149346" y="0"/>
                  </a:lnTo>
                  <a:lnTo>
                    <a:pt x="3149346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21"/>
            <p:cNvSpPr/>
            <p:nvPr/>
          </p:nvSpPr>
          <p:spPr>
            <a:xfrm>
              <a:off x="5181600" y="2133599"/>
              <a:ext cx="2133600" cy="1447800"/>
            </a:xfrm>
            <a:custGeom>
              <a:rect b="b" l="l" r="r" t="t"/>
              <a:pathLst>
                <a:path extrusionOk="0" h="1447800" w="2133600">
                  <a:moveTo>
                    <a:pt x="0" y="1447800"/>
                  </a:moveTo>
                  <a:lnTo>
                    <a:pt x="0" y="0"/>
                  </a:lnTo>
                  <a:lnTo>
                    <a:pt x="2133600" y="838200"/>
                  </a:lnTo>
                </a:path>
              </a:pathLst>
            </a:custGeom>
            <a:noFill/>
            <a:ln cap="flat" cmpd="sng" w="412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21"/>
            <p:cNvSpPr/>
            <p:nvPr/>
          </p:nvSpPr>
          <p:spPr>
            <a:xfrm>
              <a:off x="4919852" y="27039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21"/>
            <p:cNvSpPr/>
            <p:nvPr/>
          </p:nvSpPr>
          <p:spPr>
            <a:xfrm>
              <a:off x="4919852" y="27039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5560694" y="2646806"/>
              <a:ext cx="71755" cy="57150"/>
            </a:xfrm>
            <a:custGeom>
              <a:rect b="b" l="l" r="r" t="t"/>
              <a:pathLst>
                <a:path extrusionOk="0" h="57150" w="71754">
                  <a:moveTo>
                    <a:pt x="0" y="57150"/>
                  </a:moveTo>
                  <a:lnTo>
                    <a:pt x="71539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5606456" y="2607188"/>
              <a:ext cx="75565" cy="67945"/>
            </a:xfrm>
            <a:custGeom>
              <a:rect b="b" l="l" r="r" t="t"/>
              <a:pathLst>
                <a:path extrusionOk="0" h="67944" w="75564">
                  <a:moveTo>
                    <a:pt x="75399" y="0"/>
                  </a:moveTo>
                  <a:lnTo>
                    <a:pt x="0" y="27711"/>
                  </a:lnTo>
                  <a:lnTo>
                    <a:pt x="31711" y="67398"/>
                  </a:lnTo>
                  <a:lnTo>
                    <a:pt x="753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5586602" y="3175634"/>
              <a:ext cx="74930" cy="53340"/>
            </a:xfrm>
            <a:custGeom>
              <a:rect b="b" l="l" r="r" t="t"/>
              <a:pathLst>
                <a:path extrusionOk="0" h="53339" w="74929">
                  <a:moveTo>
                    <a:pt x="0" y="0"/>
                  </a:moveTo>
                  <a:lnTo>
                    <a:pt x="74739" y="5312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5636268" y="3200697"/>
              <a:ext cx="76835" cy="65405"/>
            </a:xfrm>
            <a:custGeom>
              <a:rect b="b" l="l" r="r" t="t"/>
              <a:pathLst>
                <a:path extrusionOk="0" h="65404" w="76835">
                  <a:moveTo>
                    <a:pt x="29438" y="0"/>
                  </a:moveTo>
                  <a:lnTo>
                    <a:pt x="0" y="41402"/>
                  </a:lnTo>
                  <a:lnTo>
                    <a:pt x="76822" y="64858"/>
                  </a:lnTo>
                  <a:lnTo>
                    <a:pt x="294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4829314" y="3177158"/>
              <a:ext cx="90805" cy="58419"/>
            </a:xfrm>
            <a:custGeom>
              <a:rect b="b" l="l" r="r" t="t"/>
              <a:pathLst>
                <a:path extrusionOk="0" h="58419" w="90804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4775829" y="3206880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4836274" y="2632455"/>
              <a:ext cx="83820" cy="71755"/>
            </a:xfrm>
            <a:custGeom>
              <a:rect b="b" l="l" r="r" t="t"/>
              <a:pathLst>
                <a:path extrusionOk="0" h="71755" w="83820">
                  <a:moveTo>
                    <a:pt x="83578" y="715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4788025" y="2591184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389" y="68834"/>
                  </a:lnTo>
                  <a:lnTo>
                    <a:pt x="74409" y="30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5021198" y="27039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5021198" y="27039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5662802" y="2646959"/>
              <a:ext cx="71120" cy="57150"/>
            </a:xfrm>
            <a:custGeom>
              <a:rect b="b" l="l" r="r" t="t"/>
              <a:pathLst>
                <a:path extrusionOk="0" h="57150" w="71120">
                  <a:moveTo>
                    <a:pt x="0" y="56997"/>
                  </a:moveTo>
                  <a:lnTo>
                    <a:pt x="70904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5707896" y="2607183"/>
              <a:ext cx="75565" cy="67945"/>
            </a:xfrm>
            <a:custGeom>
              <a:rect b="b" l="l" r="r" t="t"/>
              <a:pathLst>
                <a:path extrusionOk="0" h="67944" w="75564">
                  <a:moveTo>
                    <a:pt x="75298" y="0"/>
                  </a:moveTo>
                  <a:lnTo>
                    <a:pt x="0" y="27939"/>
                  </a:lnTo>
                  <a:lnTo>
                    <a:pt x="31826" y="67538"/>
                  </a:lnTo>
                  <a:lnTo>
                    <a:pt x="75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5687948" y="3175634"/>
              <a:ext cx="75565" cy="53340"/>
            </a:xfrm>
            <a:custGeom>
              <a:rect b="b" l="l" r="r" t="t"/>
              <a:pathLst>
                <a:path extrusionOk="0" h="53339" w="75564">
                  <a:moveTo>
                    <a:pt x="0" y="0"/>
                  </a:moveTo>
                  <a:lnTo>
                    <a:pt x="75399" y="5327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21"/>
            <p:cNvSpPr/>
            <p:nvPr/>
          </p:nvSpPr>
          <p:spPr>
            <a:xfrm>
              <a:off x="5738319" y="3200831"/>
              <a:ext cx="77470" cy="64769"/>
            </a:xfrm>
            <a:custGeom>
              <a:rect b="b" l="l" r="r" t="t"/>
              <a:pathLst>
                <a:path extrusionOk="0" h="64770" w="77470">
                  <a:moveTo>
                    <a:pt x="29311" y="0"/>
                  </a:moveTo>
                  <a:lnTo>
                    <a:pt x="0" y="41490"/>
                  </a:lnTo>
                  <a:lnTo>
                    <a:pt x="76885" y="64719"/>
                  </a:lnTo>
                  <a:lnTo>
                    <a:pt x="293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21"/>
            <p:cNvSpPr/>
            <p:nvPr/>
          </p:nvSpPr>
          <p:spPr>
            <a:xfrm>
              <a:off x="4930660" y="3177158"/>
              <a:ext cx="90805" cy="58419"/>
            </a:xfrm>
            <a:custGeom>
              <a:rect b="b" l="l" r="r" t="t"/>
              <a:pathLst>
                <a:path extrusionOk="0" h="58419" w="90804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4877174" y="3206880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4938267" y="2632595"/>
              <a:ext cx="83185" cy="71755"/>
            </a:xfrm>
            <a:custGeom>
              <a:rect b="b" l="l" r="r" t="t"/>
              <a:pathLst>
                <a:path extrusionOk="0" h="71755" w="83185">
                  <a:moveTo>
                    <a:pt x="82930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21"/>
            <p:cNvSpPr/>
            <p:nvPr/>
          </p:nvSpPr>
          <p:spPr>
            <a:xfrm>
              <a:off x="4890138" y="2591175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4967858" y="2522600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4967858" y="2522600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5609463" y="2465603"/>
              <a:ext cx="71120" cy="57150"/>
            </a:xfrm>
            <a:custGeom>
              <a:rect b="b" l="l" r="r" t="t"/>
              <a:pathLst>
                <a:path extrusionOk="0" h="57150" w="71120">
                  <a:moveTo>
                    <a:pt x="0" y="56997"/>
                  </a:moveTo>
                  <a:lnTo>
                    <a:pt x="70904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5654556" y="2425826"/>
              <a:ext cx="75565" cy="67945"/>
            </a:xfrm>
            <a:custGeom>
              <a:rect b="b" l="l" r="r" t="t"/>
              <a:pathLst>
                <a:path extrusionOk="0" h="67944" w="75564">
                  <a:moveTo>
                    <a:pt x="75298" y="0"/>
                  </a:moveTo>
                  <a:lnTo>
                    <a:pt x="0" y="27939"/>
                  </a:lnTo>
                  <a:lnTo>
                    <a:pt x="31826" y="67538"/>
                  </a:lnTo>
                  <a:lnTo>
                    <a:pt x="75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5634608" y="2994278"/>
              <a:ext cx="75565" cy="53975"/>
            </a:xfrm>
            <a:custGeom>
              <a:rect b="b" l="l" r="r" t="t"/>
              <a:pathLst>
                <a:path extrusionOk="0" h="53975" w="75564">
                  <a:moveTo>
                    <a:pt x="0" y="0"/>
                  </a:moveTo>
                  <a:lnTo>
                    <a:pt x="75539" y="538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5685072" y="3020048"/>
              <a:ext cx="76835" cy="65405"/>
            </a:xfrm>
            <a:custGeom>
              <a:rect b="b" l="l" r="r" t="t"/>
              <a:pathLst>
                <a:path extrusionOk="0" h="65405" w="76835">
                  <a:moveTo>
                    <a:pt x="29476" y="0"/>
                  </a:moveTo>
                  <a:lnTo>
                    <a:pt x="0" y="41363"/>
                  </a:lnTo>
                  <a:lnTo>
                    <a:pt x="76784" y="64909"/>
                  </a:lnTo>
                  <a:lnTo>
                    <a:pt x="294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4877993" y="2995802"/>
              <a:ext cx="90170" cy="58419"/>
            </a:xfrm>
            <a:custGeom>
              <a:rect b="b" l="l" r="r" t="t"/>
              <a:pathLst>
                <a:path extrusionOk="0" h="58419" w="90170">
                  <a:moveTo>
                    <a:pt x="89865" y="0"/>
                  </a:moveTo>
                  <a:lnTo>
                    <a:pt x="0" y="5783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4824599" y="3025404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330" y="0"/>
                  </a:moveTo>
                  <a:lnTo>
                    <a:pt x="0" y="62598"/>
                  </a:lnTo>
                  <a:lnTo>
                    <a:pt x="77825" y="42710"/>
                  </a:lnTo>
                  <a:lnTo>
                    <a:pt x="503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4885067" y="2451836"/>
              <a:ext cx="83185" cy="71120"/>
            </a:xfrm>
            <a:custGeom>
              <a:rect b="b" l="l" r="r" t="t"/>
              <a:pathLst>
                <a:path extrusionOk="0" h="71119" w="83185">
                  <a:moveTo>
                    <a:pt x="82791" y="707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" name="Google Shape;417;p21"/>
            <p:cNvSpPr/>
            <p:nvPr/>
          </p:nvSpPr>
          <p:spPr>
            <a:xfrm>
              <a:off x="4836788" y="2410583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427" y="68821"/>
                  </a:lnTo>
                  <a:lnTo>
                    <a:pt x="74434" y="30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8" name="Google Shape;418;p21"/>
            <p:cNvSpPr/>
            <p:nvPr/>
          </p:nvSpPr>
          <p:spPr>
            <a:xfrm>
              <a:off x="4822316" y="2639186"/>
              <a:ext cx="647700" cy="469900"/>
            </a:xfrm>
            <a:custGeom>
              <a:rect b="b" l="l" r="r" t="t"/>
              <a:pathLst>
                <a:path extrusionOk="0" h="469900" w="647700">
                  <a:moveTo>
                    <a:pt x="647700" y="0"/>
                  </a:moveTo>
                  <a:lnTo>
                    <a:pt x="0" y="0"/>
                  </a:lnTo>
                  <a:lnTo>
                    <a:pt x="0" y="469391"/>
                  </a:lnTo>
                  <a:lnTo>
                    <a:pt x="647700" y="469391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4822316" y="2639186"/>
              <a:ext cx="647700" cy="469900"/>
            </a:xfrm>
            <a:custGeom>
              <a:rect b="b" l="l" r="r" t="t"/>
              <a:pathLst>
                <a:path extrusionOk="0" h="4699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69391"/>
                  </a:lnTo>
                  <a:lnTo>
                    <a:pt x="0" y="46939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5463158" y="2581465"/>
              <a:ext cx="71755" cy="57785"/>
            </a:xfrm>
            <a:custGeom>
              <a:rect b="b" l="l" r="r" t="t"/>
              <a:pathLst>
                <a:path extrusionOk="0" h="57785" w="71754">
                  <a:moveTo>
                    <a:pt x="0" y="57721"/>
                  </a:moveTo>
                  <a:lnTo>
                    <a:pt x="71691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1" name="Google Shape;421;p21"/>
            <p:cNvSpPr/>
            <p:nvPr/>
          </p:nvSpPr>
          <p:spPr>
            <a:xfrm>
              <a:off x="5509040" y="2541645"/>
              <a:ext cx="75565" cy="67945"/>
            </a:xfrm>
            <a:custGeom>
              <a:rect b="b" l="l" r="r" t="t"/>
              <a:pathLst>
                <a:path extrusionOk="0" h="67944" w="75564">
                  <a:moveTo>
                    <a:pt x="75272" y="0"/>
                  </a:moveTo>
                  <a:lnTo>
                    <a:pt x="0" y="28003"/>
                  </a:lnTo>
                  <a:lnTo>
                    <a:pt x="31851" y="67576"/>
                  </a:lnTo>
                  <a:lnTo>
                    <a:pt x="7527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2" name="Google Shape;422;p21"/>
            <p:cNvSpPr/>
            <p:nvPr/>
          </p:nvSpPr>
          <p:spPr>
            <a:xfrm>
              <a:off x="5489066" y="3110102"/>
              <a:ext cx="74930" cy="53975"/>
            </a:xfrm>
            <a:custGeom>
              <a:rect b="b" l="l" r="r" t="t"/>
              <a:pathLst>
                <a:path extrusionOk="0" h="53975" w="74929">
                  <a:moveTo>
                    <a:pt x="0" y="0"/>
                  </a:moveTo>
                  <a:lnTo>
                    <a:pt x="74879" y="53682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" name="Google Shape;423;p21"/>
            <p:cNvSpPr/>
            <p:nvPr/>
          </p:nvSpPr>
          <p:spPr>
            <a:xfrm>
              <a:off x="5538825" y="3135739"/>
              <a:ext cx="76835" cy="65405"/>
            </a:xfrm>
            <a:custGeom>
              <a:rect b="b" l="l" r="r" t="t"/>
              <a:pathLst>
                <a:path extrusionOk="0" h="65405" w="76835">
                  <a:moveTo>
                    <a:pt x="29603" y="0"/>
                  </a:moveTo>
                  <a:lnTo>
                    <a:pt x="0" y="41287"/>
                  </a:lnTo>
                  <a:lnTo>
                    <a:pt x="76733" y="65036"/>
                  </a:lnTo>
                  <a:lnTo>
                    <a:pt x="296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4731778" y="3111627"/>
              <a:ext cx="90805" cy="58419"/>
            </a:xfrm>
            <a:custGeom>
              <a:rect b="b" l="l" r="r" t="t"/>
              <a:pathLst>
                <a:path extrusionOk="0" h="58419" w="90804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4678292" y="3141350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4739385" y="2567825"/>
              <a:ext cx="83185" cy="71755"/>
            </a:xfrm>
            <a:custGeom>
              <a:rect b="b" l="l" r="r" t="t"/>
              <a:pathLst>
                <a:path extrusionOk="0" h="71755" w="83185">
                  <a:moveTo>
                    <a:pt x="82930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4691256" y="2526405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8" name="Google Shape;428;p21"/>
            <p:cNvSpPr/>
            <p:nvPr/>
          </p:nvSpPr>
          <p:spPr>
            <a:xfrm>
              <a:off x="4817744" y="27039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4817744" y="27039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" name="Google Shape;430;p21"/>
            <p:cNvSpPr/>
            <p:nvPr/>
          </p:nvSpPr>
          <p:spPr>
            <a:xfrm>
              <a:off x="5459348" y="2646959"/>
              <a:ext cx="71120" cy="57150"/>
            </a:xfrm>
            <a:custGeom>
              <a:rect b="b" l="l" r="r" t="t"/>
              <a:pathLst>
                <a:path extrusionOk="0" h="57150" w="71120">
                  <a:moveTo>
                    <a:pt x="0" y="56997"/>
                  </a:moveTo>
                  <a:lnTo>
                    <a:pt x="70904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5504442" y="2607183"/>
              <a:ext cx="75565" cy="67945"/>
            </a:xfrm>
            <a:custGeom>
              <a:rect b="b" l="l" r="r" t="t"/>
              <a:pathLst>
                <a:path extrusionOk="0" h="67944" w="75564">
                  <a:moveTo>
                    <a:pt x="75298" y="0"/>
                  </a:moveTo>
                  <a:lnTo>
                    <a:pt x="0" y="27939"/>
                  </a:lnTo>
                  <a:lnTo>
                    <a:pt x="31826" y="67538"/>
                  </a:lnTo>
                  <a:lnTo>
                    <a:pt x="75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21"/>
            <p:cNvSpPr/>
            <p:nvPr/>
          </p:nvSpPr>
          <p:spPr>
            <a:xfrm>
              <a:off x="5484494" y="3175634"/>
              <a:ext cx="75565" cy="53340"/>
            </a:xfrm>
            <a:custGeom>
              <a:rect b="b" l="l" r="r" t="t"/>
              <a:pathLst>
                <a:path extrusionOk="0" h="53339" w="75564">
                  <a:moveTo>
                    <a:pt x="0" y="0"/>
                  </a:moveTo>
                  <a:lnTo>
                    <a:pt x="75399" y="5327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21"/>
            <p:cNvSpPr/>
            <p:nvPr/>
          </p:nvSpPr>
          <p:spPr>
            <a:xfrm>
              <a:off x="5534865" y="3200831"/>
              <a:ext cx="77470" cy="64769"/>
            </a:xfrm>
            <a:custGeom>
              <a:rect b="b" l="l" r="r" t="t"/>
              <a:pathLst>
                <a:path extrusionOk="0" h="64770" w="77470">
                  <a:moveTo>
                    <a:pt x="29311" y="0"/>
                  </a:moveTo>
                  <a:lnTo>
                    <a:pt x="0" y="41490"/>
                  </a:lnTo>
                  <a:lnTo>
                    <a:pt x="76885" y="64719"/>
                  </a:lnTo>
                  <a:lnTo>
                    <a:pt x="293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4727206" y="3177158"/>
              <a:ext cx="90805" cy="58419"/>
            </a:xfrm>
            <a:custGeom>
              <a:rect b="b" l="l" r="r" t="t"/>
              <a:pathLst>
                <a:path extrusionOk="0" h="58419" w="90804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4673721" y="3206880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6" name="Google Shape;436;p21"/>
            <p:cNvSpPr/>
            <p:nvPr/>
          </p:nvSpPr>
          <p:spPr>
            <a:xfrm>
              <a:off x="4734813" y="2632595"/>
              <a:ext cx="83185" cy="71755"/>
            </a:xfrm>
            <a:custGeom>
              <a:rect b="b" l="l" r="r" t="t"/>
              <a:pathLst>
                <a:path extrusionOk="0" h="71755" w="83185">
                  <a:moveTo>
                    <a:pt x="82930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4686684" y="2591175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8" name="Google Shape;438;p21"/>
            <p:cNvSpPr/>
            <p:nvPr/>
          </p:nvSpPr>
          <p:spPr>
            <a:xfrm>
              <a:off x="4817744" y="27801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21"/>
            <p:cNvSpPr/>
            <p:nvPr/>
          </p:nvSpPr>
          <p:spPr>
            <a:xfrm>
              <a:off x="4817744" y="27801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21"/>
            <p:cNvSpPr/>
            <p:nvPr/>
          </p:nvSpPr>
          <p:spPr>
            <a:xfrm>
              <a:off x="5459348" y="2723159"/>
              <a:ext cx="71120" cy="57150"/>
            </a:xfrm>
            <a:custGeom>
              <a:rect b="b" l="l" r="r" t="t"/>
              <a:pathLst>
                <a:path extrusionOk="0" h="57150" w="71120">
                  <a:moveTo>
                    <a:pt x="0" y="56997"/>
                  </a:moveTo>
                  <a:lnTo>
                    <a:pt x="70904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21"/>
            <p:cNvSpPr/>
            <p:nvPr/>
          </p:nvSpPr>
          <p:spPr>
            <a:xfrm>
              <a:off x="5504442" y="2683383"/>
              <a:ext cx="75565" cy="67945"/>
            </a:xfrm>
            <a:custGeom>
              <a:rect b="b" l="l" r="r" t="t"/>
              <a:pathLst>
                <a:path extrusionOk="0" h="67944" w="75564">
                  <a:moveTo>
                    <a:pt x="75298" y="0"/>
                  </a:moveTo>
                  <a:lnTo>
                    <a:pt x="0" y="27939"/>
                  </a:lnTo>
                  <a:lnTo>
                    <a:pt x="31826" y="67538"/>
                  </a:lnTo>
                  <a:lnTo>
                    <a:pt x="75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21"/>
            <p:cNvSpPr/>
            <p:nvPr/>
          </p:nvSpPr>
          <p:spPr>
            <a:xfrm>
              <a:off x="5484494" y="3251834"/>
              <a:ext cx="75565" cy="53340"/>
            </a:xfrm>
            <a:custGeom>
              <a:rect b="b" l="l" r="r" t="t"/>
              <a:pathLst>
                <a:path extrusionOk="0" h="53339" w="75564">
                  <a:moveTo>
                    <a:pt x="0" y="0"/>
                  </a:moveTo>
                  <a:lnTo>
                    <a:pt x="75399" y="5327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21"/>
            <p:cNvSpPr/>
            <p:nvPr/>
          </p:nvSpPr>
          <p:spPr>
            <a:xfrm>
              <a:off x="5534865" y="3277031"/>
              <a:ext cx="77470" cy="64769"/>
            </a:xfrm>
            <a:custGeom>
              <a:rect b="b" l="l" r="r" t="t"/>
              <a:pathLst>
                <a:path extrusionOk="0" h="64770" w="77470">
                  <a:moveTo>
                    <a:pt x="29311" y="0"/>
                  </a:moveTo>
                  <a:lnTo>
                    <a:pt x="0" y="41490"/>
                  </a:lnTo>
                  <a:lnTo>
                    <a:pt x="76885" y="64719"/>
                  </a:lnTo>
                  <a:lnTo>
                    <a:pt x="293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21"/>
            <p:cNvSpPr/>
            <p:nvPr/>
          </p:nvSpPr>
          <p:spPr>
            <a:xfrm>
              <a:off x="4727206" y="3253358"/>
              <a:ext cx="90805" cy="58419"/>
            </a:xfrm>
            <a:custGeom>
              <a:rect b="b" l="l" r="r" t="t"/>
              <a:pathLst>
                <a:path extrusionOk="0" h="58420" w="90804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4673721" y="3283080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21"/>
            <p:cNvSpPr/>
            <p:nvPr/>
          </p:nvSpPr>
          <p:spPr>
            <a:xfrm>
              <a:off x="4734813" y="2708795"/>
              <a:ext cx="83185" cy="71755"/>
            </a:xfrm>
            <a:custGeom>
              <a:rect b="b" l="l" r="r" t="t"/>
              <a:pathLst>
                <a:path extrusionOk="0" h="71755" w="83185">
                  <a:moveTo>
                    <a:pt x="82930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21"/>
            <p:cNvSpPr/>
            <p:nvPr/>
          </p:nvSpPr>
          <p:spPr>
            <a:xfrm>
              <a:off x="4686684" y="2667375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21"/>
            <p:cNvSpPr/>
            <p:nvPr/>
          </p:nvSpPr>
          <p:spPr>
            <a:xfrm>
              <a:off x="4817744" y="26277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21"/>
            <p:cNvSpPr/>
            <p:nvPr/>
          </p:nvSpPr>
          <p:spPr>
            <a:xfrm>
              <a:off x="4817744" y="26277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21"/>
            <p:cNvSpPr/>
            <p:nvPr/>
          </p:nvSpPr>
          <p:spPr>
            <a:xfrm>
              <a:off x="5459348" y="2570759"/>
              <a:ext cx="71120" cy="57150"/>
            </a:xfrm>
            <a:custGeom>
              <a:rect b="b" l="l" r="r" t="t"/>
              <a:pathLst>
                <a:path extrusionOk="0" h="57150" w="71120">
                  <a:moveTo>
                    <a:pt x="0" y="56997"/>
                  </a:moveTo>
                  <a:lnTo>
                    <a:pt x="70904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21"/>
            <p:cNvSpPr/>
            <p:nvPr/>
          </p:nvSpPr>
          <p:spPr>
            <a:xfrm>
              <a:off x="5504442" y="2530982"/>
              <a:ext cx="75565" cy="67945"/>
            </a:xfrm>
            <a:custGeom>
              <a:rect b="b" l="l" r="r" t="t"/>
              <a:pathLst>
                <a:path extrusionOk="0" h="67944" w="75564">
                  <a:moveTo>
                    <a:pt x="75298" y="0"/>
                  </a:moveTo>
                  <a:lnTo>
                    <a:pt x="0" y="27939"/>
                  </a:lnTo>
                  <a:lnTo>
                    <a:pt x="31826" y="67538"/>
                  </a:lnTo>
                  <a:lnTo>
                    <a:pt x="75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21"/>
            <p:cNvSpPr/>
            <p:nvPr/>
          </p:nvSpPr>
          <p:spPr>
            <a:xfrm>
              <a:off x="5484494" y="3099434"/>
              <a:ext cx="75565" cy="53340"/>
            </a:xfrm>
            <a:custGeom>
              <a:rect b="b" l="l" r="r" t="t"/>
              <a:pathLst>
                <a:path extrusionOk="0" h="53339" w="75564">
                  <a:moveTo>
                    <a:pt x="0" y="0"/>
                  </a:moveTo>
                  <a:lnTo>
                    <a:pt x="75399" y="5327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21"/>
            <p:cNvSpPr/>
            <p:nvPr/>
          </p:nvSpPr>
          <p:spPr>
            <a:xfrm>
              <a:off x="5534865" y="3124631"/>
              <a:ext cx="77470" cy="64769"/>
            </a:xfrm>
            <a:custGeom>
              <a:rect b="b" l="l" r="r" t="t"/>
              <a:pathLst>
                <a:path extrusionOk="0" h="64769" w="77470">
                  <a:moveTo>
                    <a:pt x="29311" y="0"/>
                  </a:moveTo>
                  <a:lnTo>
                    <a:pt x="0" y="41490"/>
                  </a:lnTo>
                  <a:lnTo>
                    <a:pt x="76885" y="64719"/>
                  </a:lnTo>
                  <a:lnTo>
                    <a:pt x="293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21"/>
            <p:cNvSpPr/>
            <p:nvPr/>
          </p:nvSpPr>
          <p:spPr>
            <a:xfrm>
              <a:off x="4727206" y="3100958"/>
              <a:ext cx="90805" cy="58419"/>
            </a:xfrm>
            <a:custGeom>
              <a:rect b="b" l="l" r="r" t="t"/>
              <a:pathLst>
                <a:path extrusionOk="0" h="58419" w="90804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5" name="Google Shape;455;p21"/>
            <p:cNvSpPr/>
            <p:nvPr/>
          </p:nvSpPr>
          <p:spPr>
            <a:xfrm>
              <a:off x="4673721" y="3130680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21"/>
            <p:cNvSpPr/>
            <p:nvPr/>
          </p:nvSpPr>
          <p:spPr>
            <a:xfrm>
              <a:off x="4734813" y="2556395"/>
              <a:ext cx="83185" cy="71755"/>
            </a:xfrm>
            <a:custGeom>
              <a:rect b="b" l="l" r="r" t="t"/>
              <a:pathLst>
                <a:path extrusionOk="0" h="71755" w="83185">
                  <a:moveTo>
                    <a:pt x="82930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" name="Google Shape;457;p21"/>
            <p:cNvSpPr/>
            <p:nvPr/>
          </p:nvSpPr>
          <p:spPr>
            <a:xfrm>
              <a:off x="4686684" y="2514975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" name="Google Shape;458;p21"/>
            <p:cNvSpPr/>
            <p:nvPr/>
          </p:nvSpPr>
          <p:spPr>
            <a:xfrm>
              <a:off x="4817744" y="25515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21"/>
            <p:cNvSpPr/>
            <p:nvPr/>
          </p:nvSpPr>
          <p:spPr>
            <a:xfrm>
              <a:off x="4817744" y="2551556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" name="Google Shape;460;p21"/>
            <p:cNvSpPr/>
            <p:nvPr/>
          </p:nvSpPr>
          <p:spPr>
            <a:xfrm>
              <a:off x="5459348" y="2494559"/>
              <a:ext cx="71120" cy="57150"/>
            </a:xfrm>
            <a:custGeom>
              <a:rect b="b" l="l" r="r" t="t"/>
              <a:pathLst>
                <a:path extrusionOk="0" h="57150" w="71120">
                  <a:moveTo>
                    <a:pt x="0" y="56997"/>
                  </a:moveTo>
                  <a:lnTo>
                    <a:pt x="70904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" name="Google Shape;461;p21"/>
            <p:cNvSpPr/>
            <p:nvPr/>
          </p:nvSpPr>
          <p:spPr>
            <a:xfrm>
              <a:off x="5504442" y="2454782"/>
              <a:ext cx="75565" cy="67945"/>
            </a:xfrm>
            <a:custGeom>
              <a:rect b="b" l="l" r="r" t="t"/>
              <a:pathLst>
                <a:path extrusionOk="0" h="67944" w="75564">
                  <a:moveTo>
                    <a:pt x="75298" y="0"/>
                  </a:moveTo>
                  <a:lnTo>
                    <a:pt x="0" y="27939"/>
                  </a:lnTo>
                  <a:lnTo>
                    <a:pt x="31826" y="67538"/>
                  </a:lnTo>
                  <a:lnTo>
                    <a:pt x="75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2" name="Google Shape;462;p21"/>
            <p:cNvSpPr/>
            <p:nvPr/>
          </p:nvSpPr>
          <p:spPr>
            <a:xfrm>
              <a:off x="5484494" y="3023234"/>
              <a:ext cx="75565" cy="53340"/>
            </a:xfrm>
            <a:custGeom>
              <a:rect b="b" l="l" r="r" t="t"/>
              <a:pathLst>
                <a:path extrusionOk="0" h="53339" w="75564">
                  <a:moveTo>
                    <a:pt x="0" y="0"/>
                  </a:moveTo>
                  <a:lnTo>
                    <a:pt x="75399" y="5327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" name="Google Shape;463;p21"/>
            <p:cNvSpPr/>
            <p:nvPr/>
          </p:nvSpPr>
          <p:spPr>
            <a:xfrm>
              <a:off x="5534865" y="3048431"/>
              <a:ext cx="77470" cy="64769"/>
            </a:xfrm>
            <a:custGeom>
              <a:rect b="b" l="l" r="r" t="t"/>
              <a:pathLst>
                <a:path extrusionOk="0" h="64769" w="77470">
                  <a:moveTo>
                    <a:pt x="29311" y="0"/>
                  </a:moveTo>
                  <a:lnTo>
                    <a:pt x="0" y="41490"/>
                  </a:lnTo>
                  <a:lnTo>
                    <a:pt x="76885" y="64719"/>
                  </a:lnTo>
                  <a:lnTo>
                    <a:pt x="293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4" name="Google Shape;464;p21"/>
            <p:cNvSpPr/>
            <p:nvPr/>
          </p:nvSpPr>
          <p:spPr>
            <a:xfrm>
              <a:off x="4727206" y="3024758"/>
              <a:ext cx="90805" cy="58419"/>
            </a:xfrm>
            <a:custGeom>
              <a:rect b="b" l="l" r="r" t="t"/>
              <a:pathLst>
                <a:path extrusionOk="0" h="58419" w="90804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5" name="Google Shape;465;p21"/>
            <p:cNvSpPr/>
            <p:nvPr/>
          </p:nvSpPr>
          <p:spPr>
            <a:xfrm>
              <a:off x="4673721" y="3054480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6" name="Google Shape;466;p21"/>
            <p:cNvSpPr/>
            <p:nvPr/>
          </p:nvSpPr>
          <p:spPr>
            <a:xfrm>
              <a:off x="4734813" y="2480195"/>
              <a:ext cx="83185" cy="71755"/>
            </a:xfrm>
            <a:custGeom>
              <a:rect b="b" l="l" r="r" t="t"/>
              <a:pathLst>
                <a:path extrusionOk="0" h="71755" w="83185">
                  <a:moveTo>
                    <a:pt x="82930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7" name="Google Shape;467;p21"/>
            <p:cNvSpPr/>
            <p:nvPr/>
          </p:nvSpPr>
          <p:spPr>
            <a:xfrm>
              <a:off x="4686684" y="2438775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68" name="Google Shape;468;p21"/>
          <p:cNvSpPr txBox="1"/>
          <p:nvPr/>
        </p:nvSpPr>
        <p:spPr>
          <a:xfrm>
            <a:off x="4650740" y="4425188"/>
            <a:ext cx="2531110" cy="1126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3399"/>
                </a:solidFill>
                <a:latin typeface="Bell MT"/>
                <a:ea typeface="Bell MT"/>
                <a:cs typeface="Bell MT"/>
                <a:sym typeface="Bell MT"/>
              </a:rPr>
              <a:t>“edge”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: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5080" rtl="0" algn="l">
              <a:lnSpc>
                <a:spcPct val="12125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no change along the edge direction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469" name="Google Shape;469;p21"/>
          <p:cNvGrpSpPr/>
          <p:nvPr/>
        </p:nvGrpSpPr>
        <p:grpSpPr>
          <a:xfrm>
            <a:off x="8331327" y="1729362"/>
            <a:ext cx="3150235" cy="2233419"/>
            <a:chOff x="8331327" y="1729362"/>
            <a:chExt cx="3150235" cy="2233419"/>
          </a:xfrm>
        </p:grpSpPr>
        <p:sp>
          <p:nvSpPr>
            <p:cNvPr id="470" name="Google Shape;470;p21"/>
            <p:cNvSpPr/>
            <p:nvPr/>
          </p:nvSpPr>
          <p:spPr>
            <a:xfrm>
              <a:off x="8331327" y="1752981"/>
              <a:ext cx="3150235" cy="2209800"/>
            </a:xfrm>
            <a:custGeom>
              <a:rect b="b" l="l" r="r" t="t"/>
              <a:pathLst>
                <a:path extrusionOk="0" h="2209800" w="3150234">
                  <a:moveTo>
                    <a:pt x="3150107" y="0"/>
                  </a:moveTo>
                  <a:lnTo>
                    <a:pt x="0" y="0"/>
                  </a:lnTo>
                  <a:lnTo>
                    <a:pt x="0" y="2209800"/>
                  </a:lnTo>
                  <a:lnTo>
                    <a:pt x="3150107" y="2209800"/>
                  </a:lnTo>
                  <a:lnTo>
                    <a:pt x="3150107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1" name="Google Shape;471;p21"/>
            <p:cNvSpPr/>
            <p:nvPr/>
          </p:nvSpPr>
          <p:spPr>
            <a:xfrm>
              <a:off x="8331327" y="1752981"/>
              <a:ext cx="3150235" cy="2209800"/>
            </a:xfrm>
            <a:custGeom>
              <a:rect b="b" l="l" r="r" t="t"/>
              <a:pathLst>
                <a:path extrusionOk="0" h="2209800" w="3150234">
                  <a:moveTo>
                    <a:pt x="0" y="0"/>
                  </a:moveTo>
                  <a:lnTo>
                    <a:pt x="3150107" y="0"/>
                  </a:lnTo>
                  <a:lnTo>
                    <a:pt x="3150107" y="2209800"/>
                  </a:lnTo>
                  <a:lnTo>
                    <a:pt x="0" y="2209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21"/>
            <p:cNvSpPr/>
            <p:nvPr/>
          </p:nvSpPr>
          <p:spPr>
            <a:xfrm>
              <a:off x="8940546" y="2133600"/>
              <a:ext cx="2133600" cy="1447800"/>
            </a:xfrm>
            <a:custGeom>
              <a:rect b="b" l="l" r="r" t="t"/>
              <a:pathLst>
                <a:path extrusionOk="0" h="1447800" w="2133600">
                  <a:moveTo>
                    <a:pt x="0" y="1447800"/>
                  </a:moveTo>
                  <a:lnTo>
                    <a:pt x="0" y="0"/>
                  </a:lnTo>
                  <a:lnTo>
                    <a:pt x="2133600" y="838200"/>
                  </a:lnTo>
                </a:path>
              </a:pathLst>
            </a:custGeom>
            <a:noFill/>
            <a:ln cap="flat" cmpd="sng" w="412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21"/>
            <p:cNvSpPr/>
            <p:nvPr/>
          </p:nvSpPr>
          <p:spPr>
            <a:xfrm>
              <a:off x="8678799" y="1941957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4" name="Google Shape;474;p21"/>
            <p:cNvSpPr/>
            <p:nvPr/>
          </p:nvSpPr>
          <p:spPr>
            <a:xfrm>
              <a:off x="8678799" y="1941957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9320403" y="1884959"/>
              <a:ext cx="71120" cy="57150"/>
            </a:xfrm>
            <a:custGeom>
              <a:rect b="b" l="l" r="r" t="t"/>
              <a:pathLst>
                <a:path extrusionOk="0" h="57150" w="71120">
                  <a:moveTo>
                    <a:pt x="0" y="56997"/>
                  </a:moveTo>
                  <a:lnTo>
                    <a:pt x="70904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9365497" y="1845183"/>
              <a:ext cx="75565" cy="67945"/>
            </a:xfrm>
            <a:custGeom>
              <a:rect b="b" l="l" r="r" t="t"/>
              <a:pathLst>
                <a:path extrusionOk="0" h="67944" w="75565">
                  <a:moveTo>
                    <a:pt x="75298" y="0"/>
                  </a:moveTo>
                  <a:lnTo>
                    <a:pt x="0" y="27939"/>
                  </a:lnTo>
                  <a:lnTo>
                    <a:pt x="31826" y="67538"/>
                  </a:lnTo>
                  <a:lnTo>
                    <a:pt x="75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9345549" y="2413635"/>
              <a:ext cx="75565" cy="53340"/>
            </a:xfrm>
            <a:custGeom>
              <a:rect b="b" l="l" r="r" t="t"/>
              <a:pathLst>
                <a:path extrusionOk="0" h="53339" w="75565">
                  <a:moveTo>
                    <a:pt x="0" y="0"/>
                  </a:moveTo>
                  <a:lnTo>
                    <a:pt x="75399" y="5327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21"/>
            <p:cNvSpPr/>
            <p:nvPr/>
          </p:nvSpPr>
          <p:spPr>
            <a:xfrm>
              <a:off x="9395919" y="2438831"/>
              <a:ext cx="77470" cy="64769"/>
            </a:xfrm>
            <a:custGeom>
              <a:rect b="b" l="l" r="r" t="t"/>
              <a:pathLst>
                <a:path extrusionOk="0" h="64769" w="77470">
                  <a:moveTo>
                    <a:pt x="29311" y="0"/>
                  </a:moveTo>
                  <a:lnTo>
                    <a:pt x="0" y="41490"/>
                  </a:lnTo>
                  <a:lnTo>
                    <a:pt x="76885" y="64719"/>
                  </a:lnTo>
                  <a:lnTo>
                    <a:pt x="293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8588260" y="2415159"/>
              <a:ext cx="90805" cy="58419"/>
            </a:xfrm>
            <a:custGeom>
              <a:rect b="b" l="l" r="r" t="t"/>
              <a:pathLst>
                <a:path extrusionOk="0" h="58419" w="90804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8534776" y="2444880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1" name="Google Shape;481;p21"/>
            <p:cNvSpPr/>
            <p:nvPr/>
          </p:nvSpPr>
          <p:spPr>
            <a:xfrm>
              <a:off x="8595868" y="1870595"/>
              <a:ext cx="83185" cy="71755"/>
            </a:xfrm>
            <a:custGeom>
              <a:rect b="b" l="l" r="r" t="t"/>
              <a:pathLst>
                <a:path extrusionOk="0" h="71755" w="83184">
                  <a:moveTo>
                    <a:pt x="82930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8547738" y="1829175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8769477" y="2010537"/>
              <a:ext cx="647700" cy="469900"/>
            </a:xfrm>
            <a:custGeom>
              <a:rect b="b" l="l" r="r" t="t"/>
              <a:pathLst>
                <a:path extrusionOk="0" h="469900" w="647700">
                  <a:moveTo>
                    <a:pt x="647700" y="0"/>
                  </a:moveTo>
                  <a:lnTo>
                    <a:pt x="0" y="0"/>
                  </a:lnTo>
                  <a:lnTo>
                    <a:pt x="0" y="469391"/>
                  </a:lnTo>
                  <a:lnTo>
                    <a:pt x="647700" y="469391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8769477" y="2010537"/>
              <a:ext cx="647700" cy="469900"/>
            </a:xfrm>
            <a:custGeom>
              <a:rect b="b" l="l" r="r" t="t"/>
              <a:pathLst>
                <a:path extrusionOk="0" h="4699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69391"/>
                  </a:lnTo>
                  <a:lnTo>
                    <a:pt x="0" y="46939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9411081" y="1952967"/>
              <a:ext cx="71120" cy="57785"/>
            </a:xfrm>
            <a:custGeom>
              <a:rect b="b" l="l" r="r" t="t"/>
              <a:pathLst>
                <a:path extrusionOk="0" h="57785" w="71120">
                  <a:moveTo>
                    <a:pt x="0" y="57569"/>
                  </a:moveTo>
                  <a:lnTo>
                    <a:pt x="7105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9456281" y="1913002"/>
              <a:ext cx="75565" cy="67945"/>
            </a:xfrm>
            <a:custGeom>
              <a:rect b="b" l="l" r="r" t="t"/>
              <a:pathLst>
                <a:path extrusionOk="0" h="67944" w="75565">
                  <a:moveTo>
                    <a:pt x="75196" y="0"/>
                  </a:moveTo>
                  <a:lnTo>
                    <a:pt x="0" y="28232"/>
                  </a:lnTo>
                  <a:lnTo>
                    <a:pt x="31978" y="67703"/>
                  </a:lnTo>
                  <a:lnTo>
                    <a:pt x="751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9436227" y="2481453"/>
              <a:ext cx="75565" cy="53975"/>
            </a:xfrm>
            <a:custGeom>
              <a:rect b="b" l="l" r="r" t="t"/>
              <a:pathLst>
                <a:path extrusionOk="0" h="53975" w="75565">
                  <a:moveTo>
                    <a:pt x="0" y="0"/>
                  </a:moveTo>
                  <a:lnTo>
                    <a:pt x="75539" y="538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9486690" y="2507222"/>
              <a:ext cx="76835" cy="65405"/>
            </a:xfrm>
            <a:custGeom>
              <a:rect b="b" l="l" r="r" t="t"/>
              <a:pathLst>
                <a:path extrusionOk="0" h="65405" w="76834">
                  <a:moveTo>
                    <a:pt x="29476" y="0"/>
                  </a:moveTo>
                  <a:lnTo>
                    <a:pt x="0" y="41363"/>
                  </a:lnTo>
                  <a:lnTo>
                    <a:pt x="76796" y="64909"/>
                  </a:lnTo>
                  <a:lnTo>
                    <a:pt x="294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8678938" y="2482977"/>
              <a:ext cx="90805" cy="58419"/>
            </a:xfrm>
            <a:custGeom>
              <a:rect b="b" l="l" r="r" t="t"/>
              <a:pathLst>
                <a:path extrusionOk="0" h="58419" w="90804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8625454" y="2512700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8686546" y="1939175"/>
              <a:ext cx="83185" cy="71755"/>
            </a:xfrm>
            <a:custGeom>
              <a:rect b="b" l="l" r="r" t="t"/>
              <a:pathLst>
                <a:path extrusionOk="0" h="71755" w="83184">
                  <a:moveTo>
                    <a:pt x="82930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8638416" y="1897755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3" name="Google Shape;493;p21"/>
            <p:cNvSpPr/>
            <p:nvPr/>
          </p:nvSpPr>
          <p:spPr>
            <a:xfrm>
              <a:off x="8720709" y="2075307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8720709" y="2075307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9362313" y="2018309"/>
              <a:ext cx="71120" cy="57150"/>
            </a:xfrm>
            <a:custGeom>
              <a:rect b="b" l="l" r="r" t="t"/>
              <a:pathLst>
                <a:path extrusionOk="0" h="57150" w="71120">
                  <a:moveTo>
                    <a:pt x="0" y="56997"/>
                  </a:moveTo>
                  <a:lnTo>
                    <a:pt x="70904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9407406" y="1978533"/>
              <a:ext cx="75565" cy="67945"/>
            </a:xfrm>
            <a:custGeom>
              <a:rect b="b" l="l" r="r" t="t"/>
              <a:pathLst>
                <a:path extrusionOk="0" h="67944" w="75565">
                  <a:moveTo>
                    <a:pt x="75298" y="0"/>
                  </a:moveTo>
                  <a:lnTo>
                    <a:pt x="0" y="27939"/>
                  </a:lnTo>
                  <a:lnTo>
                    <a:pt x="31826" y="67538"/>
                  </a:lnTo>
                  <a:lnTo>
                    <a:pt x="75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9387459" y="2546985"/>
              <a:ext cx="75565" cy="53340"/>
            </a:xfrm>
            <a:custGeom>
              <a:rect b="b" l="l" r="r" t="t"/>
              <a:pathLst>
                <a:path extrusionOk="0" h="53339" w="75565">
                  <a:moveTo>
                    <a:pt x="0" y="0"/>
                  </a:moveTo>
                  <a:lnTo>
                    <a:pt x="75399" y="53276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9437829" y="2572181"/>
              <a:ext cx="77470" cy="64769"/>
            </a:xfrm>
            <a:custGeom>
              <a:rect b="b" l="l" r="r" t="t"/>
              <a:pathLst>
                <a:path extrusionOk="0" h="64769" w="77470">
                  <a:moveTo>
                    <a:pt x="29311" y="0"/>
                  </a:moveTo>
                  <a:lnTo>
                    <a:pt x="0" y="41490"/>
                  </a:lnTo>
                  <a:lnTo>
                    <a:pt x="76885" y="64719"/>
                  </a:lnTo>
                  <a:lnTo>
                    <a:pt x="293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8630843" y="2548509"/>
              <a:ext cx="90170" cy="58419"/>
            </a:xfrm>
            <a:custGeom>
              <a:rect b="b" l="l" r="r" t="t"/>
              <a:pathLst>
                <a:path extrusionOk="0" h="58419" w="90170">
                  <a:moveTo>
                    <a:pt x="89865" y="0"/>
                  </a:moveTo>
                  <a:lnTo>
                    <a:pt x="0" y="5783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8577449" y="2578110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330" y="0"/>
                  </a:moveTo>
                  <a:lnTo>
                    <a:pt x="0" y="62598"/>
                  </a:lnTo>
                  <a:lnTo>
                    <a:pt x="77825" y="42710"/>
                  </a:lnTo>
                  <a:lnTo>
                    <a:pt x="503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8637778" y="2003945"/>
              <a:ext cx="83185" cy="71755"/>
            </a:xfrm>
            <a:custGeom>
              <a:rect b="b" l="l" r="r" t="t"/>
              <a:pathLst>
                <a:path extrusionOk="0" h="71755" w="83184">
                  <a:moveTo>
                    <a:pt x="82930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8589648" y="1962525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8604885" y="2031111"/>
              <a:ext cx="647700" cy="469900"/>
            </a:xfrm>
            <a:custGeom>
              <a:rect b="b" l="l" r="r" t="t"/>
              <a:pathLst>
                <a:path extrusionOk="0" h="469900" w="647700">
                  <a:moveTo>
                    <a:pt x="647700" y="0"/>
                  </a:moveTo>
                  <a:lnTo>
                    <a:pt x="0" y="0"/>
                  </a:lnTo>
                  <a:lnTo>
                    <a:pt x="0" y="469391"/>
                  </a:lnTo>
                  <a:lnTo>
                    <a:pt x="647700" y="469391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8604885" y="2031111"/>
              <a:ext cx="647700" cy="469900"/>
            </a:xfrm>
            <a:custGeom>
              <a:rect b="b" l="l" r="r" t="t"/>
              <a:pathLst>
                <a:path extrusionOk="0" h="4699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69391"/>
                  </a:lnTo>
                  <a:lnTo>
                    <a:pt x="0" y="46939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9245727" y="1973961"/>
              <a:ext cx="71755" cy="57150"/>
            </a:xfrm>
            <a:custGeom>
              <a:rect b="b" l="l" r="r" t="t"/>
              <a:pathLst>
                <a:path extrusionOk="0" h="57150" w="71754">
                  <a:moveTo>
                    <a:pt x="0" y="57150"/>
                  </a:moveTo>
                  <a:lnTo>
                    <a:pt x="71539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9291490" y="1934342"/>
              <a:ext cx="75565" cy="67945"/>
            </a:xfrm>
            <a:custGeom>
              <a:rect b="b" l="l" r="r" t="t"/>
              <a:pathLst>
                <a:path extrusionOk="0" h="67944" w="75565">
                  <a:moveTo>
                    <a:pt x="75399" y="0"/>
                  </a:moveTo>
                  <a:lnTo>
                    <a:pt x="0" y="27711"/>
                  </a:lnTo>
                  <a:lnTo>
                    <a:pt x="31711" y="67398"/>
                  </a:lnTo>
                  <a:lnTo>
                    <a:pt x="753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9271635" y="2502027"/>
              <a:ext cx="74930" cy="53975"/>
            </a:xfrm>
            <a:custGeom>
              <a:rect b="b" l="l" r="r" t="t"/>
              <a:pathLst>
                <a:path extrusionOk="0" h="53975" w="74929">
                  <a:moveTo>
                    <a:pt x="0" y="0"/>
                  </a:moveTo>
                  <a:lnTo>
                    <a:pt x="74879" y="53682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9321393" y="2527663"/>
              <a:ext cx="76835" cy="65405"/>
            </a:xfrm>
            <a:custGeom>
              <a:rect b="b" l="l" r="r" t="t"/>
              <a:pathLst>
                <a:path extrusionOk="0" h="65405" w="76834">
                  <a:moveTo>
                    <a:pt x="29603" y="0"/>
                  </a:moveTo>
                  <a:lnTo>
                    <a:pt x="0" y="41287"/>
                  </a:lnTo>
                  <a:lnTo>
                    <a:pt x="76733" y="65036"/>
                  </a:lnTo>
                  <a:lnTo>
                    <a:pt x="296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8514346" y="2503551"/>
              <a:ext cx="90805" cy="58419"/>
            </a:xfrm>
            <a:custGeom>
              <a:rect b="b" l="l" r="r" t="t"/>
              <a:pathLst>
                <a:path extrusionOk="0" h="58419" w="90804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8460862" y="2533274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8521306" y="1959610"/>
              <a:ext cx="83820" cy="71755"/>
            </a:xfrm>
            <a:custGeom>
              <a:rect b="b" l="l" r="r" t="t"/>
              <a:pathLst>
                <a:path extrusionOk="0" h="71755" w="83820">
                  <a:moveTo>
                    <a:pt x="83578" y="715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8473056" y="1918338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389" y="68834"/>
                  </a:lnTo>
                  <a:lnTo>
                    <a:pt x="74409" y="30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8526399" y="1915287"/>
              <a:ext cx="647700" cy="469900"/>
            </a:xfrm>
            <a:custGeom>
              <a:rect b="b" l="l" r="r" t="t"/>
              <a:pathLst>
                <a:path extrusionOk="0" h="469900" w="647700">
                  <a:moveTo>
                    <a:pt x="647700" y="0"/>
                  </a:moveTo>
                  <a:lnTo>
                    <a:pt x="0" y="0"/>
                  </a:lnTo>
                  <a:lnTo>
                    <a:pt x="0" y="469391"/>
                  </a:lnTo>
                  <a:lnTo>
                    <a:pt x="647700" y="469391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8526399" y="1915287"/>
              <a:ext cx="647700" cy="469900"/>
            </a:xfrm>
            <a:custGeom>
              <a:rect b="b" l="l" r="r" t="t"/>
              <a:pathLst>
                <a:path extrusionOk="0" h="4699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69391"/>
                  </a:lnTo>
                  <a:lnTo>
                    <a:pt x="0" y="46939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9168003" y="1857717"/>
              <a:ext cx="71120" cy="57785"/>
            </a:xfrm>
            <a:custGeom>
              <a:rect b="b" l="l" r="r" t="t"/>
              <a:pathLst>
                <a:path extrusionOk="0" h="57785" w="71120">
                  <a:moveTo>
                    <a:pt x="0" y="57569"/>
                  </a:moveTo>
                  <a:lnTo>
                    <a:pt x="7105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9213202" y="1817752"/>
              <a:ext cx="75565" cy="67945"/>
            </a:xfrm>
            <a:custGeom>
              <a:rect b="b" l="l" r="r" t="t"/>
              <a:pathLst>
                <a:path extrusionOk="0" h="67944" w="75565">
                  <a:moveTo>
                    <a:pt x="75196" y="0"/>
                  </a:moveTo>
                  <a:lnTo>
                    <a:pt x="0" y="28232"/>
                  </a:lnTo>
                  <a:lnTo>
                    <a:pt x="31978" y="67703"/>
                  </a:lnTo>
                  <a:lnTo>
                    <a:pt x="751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9193149" y="2386203"/>
              <a:ext cx="75565" cy="53975"/>
            </a:xfrm>
            <a:custGeom>
              <a:rect b="b" l="l" r="r" t="t"/>
              <a:pathLst>
                <a:path extrusionOk="0" h="53975" w="75565">
                  <a:moveTo>
                    <a:pt x="0" y="0"/>
                  </a:moveTo>
                  <a:lnTo>
                    <a:pt x="75539" y="538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9243612" y="2411972"/>
              <a:ext cx="76835" cy="65405"/>
            </a:xfrm>
            <a:custGeom>
              <a:rect b="b" l="l" r="r" t="t"/>
              <a:pathLst>
                <a:path extrusionOk="0" h="65405" w="76834">
                  <a:moveTo>
                    <a:pt x="29476" y="0"/>
                  </a:moveTo>
                  <a:lnTo>
                    <a:pt x="0" y="41363"/>
                  </a:lnTo>
                  <a:lnTo>
                    <a:pt x="76796" y="64909"/>
                  </a:lnTo>
                  <a:lnTo>
                    <a:pt x="294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8435860" y="2387727"/>
              <a:ext cx="90805" cy="58419"/>
            </a:xfrm>
            <a:custGeom>
              <a:rect b="b" l="l" r="r" t="t"/>
              <a:pathLst>
                <a:path extrusionOk="0" h="58419" w="90804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8382376" y="2417450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8443468" y="1843925"/>
              <a:ext cx="83185" cy="71755"/>
            </a:xfrm>
            <a:custGeom>
              <a:rect b="b" l="l" r="r" t="t"/>
              <a:pathLst>
                <a:path extrusionOk="0" h="71755" w="83184">
                  <a:moveTo>
                    <a:pt x="82930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21"/>
            <p:cNvSpPr/>
            <p:nvPr/>
          </p:nvSpPr>
          <p:spPr>
            <a:xfrm>
              <a:off x="8395338" y="1802505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21"/>
            <p:cNvSpPr/>
            <p:nvPr/>
          </p:nvSpPr>
          <p:spPr>
            <a:xfrm>
              <a:off x="8604885" y="1842135"/>
              <a:ext cx="647700" cy="469900"/>
            </a:xfrm>
            <a:custGeom>
              <a:rect b="b" l="l" r="r" t="t"/>
              <a:pathLst>
                <a:path extrusionOk="0" h="469900" w="647700">
                  <a:moveTo>
                    <a:pt x="647700" y="0"/>
                  </a:moveTo>
                  <a:lnTo>
                    <a:pt x="0" y="0"/>
                  </a:lnTo>
                  <a:lnTo>
                    <a:pt x="0" y="469391"/>
                  </a:lnTo>
                  <a:lnTo>
                    <a:pt x="647700" y="469391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21"/>
            <p:cNvSpPr/>
            <p:nvPr/>
          </p:nvSpPr>
          <p:spPr>
            <a:xfrm>
              <a:off x="8604885" y="1842135"/>
              <a:ext cx="647700" cy="469900"/>
            </a:xfrm>
            <a:custGeom>
              <a:rect b="b" l="l" r="r" t="t"/>
              <a:pathLst>
                <a:path extrusionOk="0" h="4699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69391"/>
                  </a:lnTo>
                  <a:lnTo>
                    <a:pt x="0" y="46939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21"/>
            <p:cNvSpPr/>
            <p:nvPr/>
          </p:nvSpPr>
          <p:spPr>
            <a:xfrm>
              <a:off x="9245727" y="1784985"/>
              <a:ext cx="71755" cy="57150"/>
            </a:xfrm>
            <a:custGeom>
              <a:rect b="b" l="l" r="r" t="t"/>
              <a:pathLst>
                <a:path extrusionOk="0" h="57150" w="71754">
                  <a:moveTo>
                    <a:pt x="0" y="57150"/>
                  </a:moveTo>
                  <a:lnTo>
                    <a:pt x="71539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21"/>
            <p:cNvSpPr/>
            <p:nvPr/>
          </p:nvSpPr>
          <p:spPr>
            <a:xfrm>
              <a:off x="9291490" y="1745366"/>
              <a:ext cx="75565" cy="67945"/>
            </a:xfrm>
            <a:custGeom>
              <a:rect b="b" l="l" r="r" t="t"/>
              <a:pathLst>
                <a:path extrusionOk="0" h="67944" w="75565">
                  <a:moveTo>
                    <a:pt x="75399" y="0"/>
                  </a:moveTo>
                  <a:lnTo>
                    <a:pt x="0" y="27711"/>
                  </a:lnTo>
                  <a:lnTo>
                    <a:pt x="31711" y="67398"/>
                  </a:lnTo>
                  <a:lnTo>
                    <a:pt x="753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21"/>
            <p:cNvSpPr/>
            <p:nvPr/>
          </p:nvSpPr>
          <p:spPr>
            <a:xfrm>
              <a:off x="9271635" y="2313051"/>
              <a:ext cx="74930" cy="53975"/>
            </a:xfrm>
            <a:custGeom>
              <a:rect b="b" l="l" r="r" t="t"/>
              <a:pathLst>
                <a:path extrusionOk="0" h="53975" w="74929">
                  <a:moveTo>
                    <a:pt x="0" y="0"/>
                  </a:moveTo>
                  <a:lnTo>
                    <a:pt x="74879" y="53682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21"/>
            <p:cNvSpPr/>
            <p:nvPr/>
          </p:nvSpPr>
          <p:spPr>
            <a:xfrm>
              <a:off x="9321393" y="2338687"/>
              <a:ext cx="76835" cy="65405"/>
            </a:xfrm>
            <a:custGeom>
              <a:rect b="b" l="l" r="r" t="t"/>
              <a:pathLst>
                <a:path extrusionOk="0" h="65405" w="76834">
                  <a:moveTo>
                    <a:pt x="29603" y="0"/>
                  </a:moveTo>
                  <a:lnTo>
                    <a:pt x="0" y="41287"/>
                  </a:lnTo>
                  <a:lnTo>
                    <a:pt x="76733" y="65036"/>
                  </a:lnTo>
                  <a:lnTo>
                    <a:pt x="296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21"/>
            <p:cNvSpPr/>
            <p:nvPr/>
          </p:nvSpPr>
          <p:spPr>
            <a:xfrm>
              <a:off x="8514473" y="2315337"/>
              <a:ext cx="90805" cy="57785"/>
            </a:xfrm>
            <a:custGeom>
              <a:rect b="b" l="l" r="r" t="t"/>
              <a:pathLst>
                <a:path extrusionOk="0" h="57785" w="90804">
                  <a:moveTo>
                    <a:pt x="90411" y="0"/>
                  </a:moveTo>
                  <a:lnTo>
                    <a:pt x="0" y="57403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0" name="Google Shape;530;p21"/>
            <p:cNvSpPr/>
            <p:nvPr/>
          </p:nvSpPr>
          <p:spPr>
            <a:xfrm>
              <a:off x="8460867" y="2344487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711" y="0"/>
                  </a:moveTo>
                  <a:lnTo>
                    <a:pt x="0" y="62293"/>
                  </a:lnTo>
                  <a:lnTo>
                    <a:pt x="77939" y="42887"/>
                  </a:lnTo>
                  <a:lnTo>
                    <a:pt x="507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1" name="Google Shape;531;p21"/>
            <p:cNvSpPr/>
            <p:nvPr/>
          </p:nvSpPr>
          <p:spPr>
            <a:xfrm>
              <a:off x="8521306" y="1770634"/>
              <a:ext cx="83820" cy="71755"/>
            </a:xfrm>
            <a:custGeom>
              <a:rect b="b" l="l" r="r" t="t"/>
              <a:pathLst>
                <a:path extrusionOk="0" h="71755" w="83820">
                  <a:moveTo>
                    <a:pt x="83578" y="715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2" name="Google Shape;532;p21"/>
            <p:cNvSpPr/>
            <p:nvPr/>
          </p:nvSpPr>
          <p:spPr>
            <a:xfrm>
              <a:off x="8473056" y="1729362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389" y="68834"/>
                  </a:lnTo>
                  <a:lnTo>
                    <a:pt x="74409" y="30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3" name="Google Shape;533;p21"/>
            <p:cNvSpPr/>
            <p:nvPr/>
          </p:nvSpPr>
          <p:spPr>
            <a:xfrm>
              <a:off x="8796909" y="1899285"/>
              <a:ext cx="647700" cy="469900"/>
            </a:xfrm>
            <a:custGeom>
              <a:rect b="b" l="l" r="r" t="t"/>
              <a:pathLst>
                <a:path extrusionOk="0" h="469900" w="647700">
                  <a:moveTo>
                    <a:pt x="647700" y="0"/>
                  </a:moveTo>
                  <a:lnTo>
                    <a:pt x="0" y="0"/>
                  </a:lnTo>
                  <a:lnTo>
                    <a:pt x="0" y="469391"/>
                  </a:lnTo>
                  <a:lnTo>
                    <a:pt x="647700" y="469391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4" name="Google Shape;534;p21"/>
            <p:cNvSpPr/>
            <p:nvPr/>
          </p:nvSpPr>
          <p:spPr>
            <a:xfrm>
              <a:off x="8796909" y="1899285"/>
              <a:ext cx="647700" cy="469900"/>
            </a:xfrm>
            <a:custGeom>
              <a:rect b="b" l="l" r="r" t="t"/>
              <a:pathLst>
                <a:path extrusionOk="0" h="4699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69391"/>
                  </a:lnTo>
                  <a:lnTo>
                    <a:pt x="0" y="46939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5" name="Google Shape;535;p21"/>
            <p:cNvSpPr/>
            <p:nvPr/>
          </p:nvSpPr>
          <p:spPr>
            <a:xfrm>
              <a:off x="9438513" y="1842287"/>
              <a:ext cx="71120" cy="57150"/>
            </a:xfrm>
            <a:custGeom>
              <a:rect b="b" l="l" r="r" t="t"/>
              <a:pathLst>
                <a:path extrusionOk="0" h="57150" w="71120">
                  <a:moveTo>
                    <a:pt x="0" y="56997"/>
                  </a:moveTo>
                  <a:lnTo>
                    <a:pt x="70904" y="0"/>
                  </a:lnTo>
                </a:path>
              </a:pathLst>
            </a:custGeom>
            <a:noFill/>
            <a:ln cap="flat" cmpd="sng" w="126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6" name="Google Shape;536;p21"/>
            <p:cNvSpPr/>
            <p:nvPr/>
          </p:nvSpPr>
          <p:spPr>
            <a:xfrm>
              <a:off x="9483606" y="1802511"/>
              <a:ext cx="75565" cy="67945"/>
            </a:xfrm>
            <a:custGeom>
              <a:rect b="b" l="l" r="r" t="t"/>
              <a:pathLst>
                <a:path extrusionOk="0" h="67944" w="75565">
                  <a:moveTo>
                    <a:pt x="75298" y="0"/>
                  </a:moveTo>
                  <a:lnTo>
                    <a:pt x="0" y="27939"/>
                  </a:lnTo>
                  <a:lnTo>
                    <a:pt x="31826" y="67538"/>
                  </a:lnTo>
                  <a:lnTo>
                    <a:pt x="752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7" name="Google Shape;537;p21"/>
            <p:cNvSpPr/>
            <p:nvPr/>
          </p:nvSpPr>
          <p:spPr>
            <a:xfrm>
              <a:off x="9463659" y="2370201"/>
              <a:ext cx="75565" cy="53975"/>
            </a:xfrm>
            <a:custGeom>
              <a:rect b="b" l="l" r="r" t="t"/>
              <a:pathLst>
                <a:path extrusionOk="0" h="53975" w="75565">
                  <a:moveTo>
                    <a:pt x="0" y="0"/>
                  </a:moveTo>
                  <a:lnTo>
                    <a:pt x="75539" y="538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8" name="Google Shape;538;p21"/>
            <p:cNvSpPr/>
            <p:nvPr/>
          </p:nvSpPr>
          <p:spPr>
            <a:xfrm>
              <a:off x="9514122" y="2395970"/>
              <a:ext cx="76835" cy="65405"/>
            </a:xfrm>
            <a:custGeom>
              <a:rect b="b" l="l" r="r" t="t"/>
              <a:pathLst>
                <a:path extrusionOk="0" h="65405" w="76834">
                  <a:moveTo>
                    <a:pt x="29476" y="0"/>
                  </a:moveTo>
                  <a:lnTo>
                    <a:pt x="0" y="41363"/>
                  </a:lnTo>
                  <a:lnTo>
                    <a:pt x="76796" y="64909"/>
                  </a:lnTo>
                  <a:lnTo>
                    <a:pt x="294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9" name="Google Shape;539;p21"/>
            <p:cNvSpPr/>
            <p:nvPr/>
          </p:nvSpPr>
          <p:spPr>
            <a:xfrm>
              <a:off x="8707183" y="2372487"/>
              <a:ext cx="90170" cy="57785"/>
            </a:xfrm>
            <a:custGeom>
              <a:rect b="b" l="l" r="r" t="t"/>
              <a:pathLst>
                <a:path extrusionOk="0" h="57785" w="90170">
                  <a:moveTo>
                    <a:pt x="89725" y="0"/>
                  </a:moveTo>
                  <a:lnTo>
                    <a:pt x="0" y="5727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0" name="Google Shape;540;p21"/>
            <p:cNvSpPr/>
            <p:nvPr/>
          </p:nvSpPr>
          <p:spPr>
            <a:xfrm>
              <a:off x="8653655" y="2401516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558" y="0"/>
                  </a:moveTo>
                  <a:lnTo>
                    <a:pt x="0" y="62407"/>
                  </a:lnTo>
                  <a:lnTo>
                    <a:pt x="77889" y="42824"/>
                  </a:lnTo>
                  <a:lnTo>
                    <a:pt x="505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1" name="Google Shape;541;p21"/>
            <p:cNvSpPr/>
            <p:nvPr/>
          </p:nvSpPr>
          <p:spPr>
            <a:xfrm>
              <a:off x="8713978" y="1827923"/>
              <a:ext cx="83185" cy="71755"/>
            </a:xfrm>
            <a:custGeom>
              <a:rect b="b" l="l" r="r" t="t"/>
              <a:pathLst>
                <a:path extrusionOk="0" h="71755" w="83184">
                  <a:moveTo>
                    <a:pt x="82930" y="71361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21"/>
            <p:cNvSpPr/>
            <p:nvPr/>
          </p:nvSpPr>
          <p:spPr>
            <a:xfrm>
              <a:off x="8665848" y="1786503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186" y="68961"/>
                  </a:lnTo>
                  <a:lnTo>
                    <a:pt x="74320" y="30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3" name="Google Shape;543;p21"/>
            <p:cNvSpPr/>
            <p:nvPr/>
          </p:nvSpPr>
          <p:spPr>
            <a:xfrm>
              <a:off x="8719185" y="1941957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647700" y="0"/>
                  </a:moveTo>
                  <a:lnTo>
                    <a:pt x="0" y="0"/>
                  </a:lnTo>
                  <a:lnTo>
                    <a:pt x="0" y="470153"/>
                  </a:lnTo>
                  <a:lnTo>
                    <a:pt x="647700" y="470153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4F81BD">
                <a:alpha val="4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21"/>
            <p:cNvSpPr/>
            <p:nvPr/>
          </p:nvSpPr>
          <p:spPr>
            <a:xfrm>
              <a:off x="8719185" y="1941957"/>
              <a:ext cx="647700" cy="470534"/>
            </a:xfrm>
            <a:custGeom>
              <a:rect b="b" l="l" r="r" t="t"/>
              <a:pathLst>
                <a:path extrusionOk="0" h="470535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470153"/>
                  </a:lnTo>
                  <a:lnTo>
                    <a:pt x="0" y="47015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5" name="Google Shape;545;p21"/>
            <p:cNvSpPr/>
            <p:nvPr/>
          </p:nvSpPr>
          <p:spPr>
            <a:xfrm>
              <a:off x="9360027" y="1884807"/>
              <a:ext cx="71755" cy="57150"/>
            </a:xfrm>
            <a:custGeom>
              <a:rect b="b" l="l" r="r" t="t"/>
              <a:pathLst>
                <a:path extrusionOk="0" h="57150" w="71754">
                  <a:moveTo>
                    <a:pt x="0" y="57150"/>
                  </a:moveTo>
                  <a:lnTo>
                    <a:pt x="71539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21"/>
            <p:cNvSpPr/>
            <p:nvPr/>
          </p:nvSpPr>
          <p:spPr>
            <a:xfrm>
              <a:off x="9405790" y="1845188"/>
              <a:ext cx="75565" cy="67945"/>
            </a:xfrm>
            <a:custGeom>
              <a:rect b="b" l="l" r="r" t="t"/>
              <a:pathLst>
                <a:path extrusionOk="0" h="67944" w="75565">
                  <a:moveTo>
                    <a:pt x="75399" y="0"/>
                  </a:moveTo>
                  <a:lnTo>
                    <a:pt x="0" y="27711"/>
                  </a:lnTo>
                  <a:lnTo>
                    <a:pt x="31711" y="67398"/>
                  </a:lnTo>
                  <a:lnTo>
                    <a:pt x="753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7" name="Google Shape;547;p21"/>
            <p:cNvSpPr/>
            <p:nvPr/>
          </p:nvSpPr>
          <p:spPr>
            <a:xfrm>
              <a:off x="9385935" y="2413635"/>
              <a:ext cx="74930" cy="53340"/>
            </a:xfrm>
            <a:custGeom>
              <a:rect b="b" l="l" r="r" t="t"/>
              <a:pathLst>
                <a:path extrusionOk="0" h="53339" w="74929">
                  <a:moveTo>
                    <a:pt x="0" y="0"/>
                  </a:moveTo>
                  <a:lnTo>
                    <a:pt x="74739" y="5312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8" name="Google Shape;548;p21"/>
            <p:cNvSpPr/>
            <p:nvPr/>
          </p:nvSpPr>
          <p:spPr>
            <a:xfrm>
              <a:off x="9435599" y="2438697"/>
              <a:ext cx="76835" cy="65405"/>
            </a:xfrm>
            <a:custGeom>
              <a:rect b="b" l="l" r="r" t="t"/>
              <a:pathLst>
                <a:path extrusionOk="0" h="65405" w="76834">
                  <a:moveTo>
                    <a:pt x="29438" y="0"/>
                  </a:moveTo>
                  <a:lnTo>
                    <a:pt x="0" y="41402"/>
                  </a:lnTo>
                  <a:lnTo>
                    <a:pt x="76822" y="64858"/>
                  </a:lnTo>
                  <a:lnTo>
                    <a:pt x="2943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21"/>
            <p:cNvSpPr/>
            <p:nvPr/>
          </p:nvSpPr>
          <p:spPr>
            <a:xfrm>
              <a:off x="8628646" y="2415159"/>
              <a:ext cx="90805" cy="58419"/>
            </a:xfrm>
            <a:custGeom>
              <a:rect b="b" l="l" r="r" t="t"/>
              <a:pathLst>
                <a:path extrusionOk="0" h="58419" w="90804">
                  <a:moveTo>
                    <a:pt x="90538" y="0"/>
                  </a:moveTo>
                  <a:lnTo>
                    <a:pt x="0" y="5796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21"/>
            <p:cNvSpPr/>
            <p:nvPr/>
          </p:nvSpPr>
          <p:spPr>
            <a:xfrm>
              <a:off x="8575162" y="2444880"/>
              <a:ext cx="78105" cy="62865"/>
            </a:xfrm>
            <a:custGeom>
              <a:rect b="b" l="l" r="r" t="t"/>
              <a:pathLst>
                <a:path extrusionOk="0" h="62864" w="78104">
                  <a:moveTo>
                    <a:pt x="50482" y="0"/>
                  </a:moveTo>
                  <a:lnTo>
                    <a:pt x="0" y="62484"/>
                  </a:lnTo>
                  <a:lnTo>
                    <a:pt x="77876" y="42786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1" name="Google Shape;551;p21"/>
            <p:cNvSpPr/>
            <p:nvPr/>
          </p:nvSpPr>
          <p:spPr>
            <a:xfrm>
              <a:off x="8635606" y="1870456"/>
              <a:ext cx="83820" cy="71755"/>
            </a:xfrm>
            <a:custGeom>
              <a:rect b="b" l="l" r="r" t="t"/>
              <a:pathLst>
                <a:path extrusionOk="0" h="71755" w="83820">
                  <a:moveTo>
                    <a:pt x="83578" y="7150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2" name="Google Shape;552;p21"/>
            <p:cNvSpPr/>
            <p:nvPr/>
          </p:nvSpPr>
          <p:spPr>
            <a:xfrm>
              <a:off x="8587356" y="1829184"/>
              <a:ext cx="74930" cy="69215"/>
            </a:xfrm>
            <a:custGeom>
              <a:rect b="b" l="l" r="r" t="t"/>
              <a:pathLst>
                <a:path extrusionOk="0" h="69214" w="74929">
                  <a:moveTo>
                    <a:pt x="0" y="0"/>
                  </a:moveTo>
                  <a:lnTo>
                    <a:pt x="41389" y="68834"/>
                  </a:lnTo>
                  <a:lnTo>
                    <a:pt x="74409" y="30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53" name="Google Shape;553;p21"/>
          <p:cNvSpPr txBox="1"/>
          <p:nvPr/>
        </p:nvSpPr>
        <p:spPr>
          <a:xfrm>
            <a:off x="8409940" y="4425188"/>
            <a:ext cx="2975610" cy="1126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3399"/>
                </a:solidFill>
                <a:latin typeface="Bell MT"/>
                <a:ea typeface="Bell MT"/>
                <a:cs typeface="Bell MT"/>
                <a:sym typeface="Bell MT"/>
              </a:rPr>
              <a:t>“corner”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: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5080" rtl="0" algn="l">
              <a:lnSpc>
                <a:spcPct val="12125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significant change in all directions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54" name="Google Shape;554;p2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5" name="Google Shape;555;p2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6" name="Google Shape;556;p2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2" name="Google Shape;562;p2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3" name="Google Shape;563;p2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Harris </a:t>
            </a:r>
            <a:r>
              <a:rPr lang="en-US"/>
              <a:t>Corner Detector</a:t>
            </a:r>
            <a:endParaRPr/>
          </a:p>
        </p:txBody>
      </p:sp>
      <p:sp>
        <p:nvSpPr>
          <p:cNvPr id="564" name="Google Shape;564;p22"/>
          <p:cNvSpPr txBox="1"/>
          <p:nvPr/>
        </p:nvSpPr>
        <p:spPr>
          <a:xfrm>
            <a:off x="381202" y="972300"/>
            <a:ext cx="11506500" cy="20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Idea used for Corner Detection: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Exactly at a corner, gradient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is ill defined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marR="50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In the region around a corner, if	we analyze the distribution of gradient, we shall find </a:t>
            </a:r>
            <a:r>
              <a:rPr lang="en-US" sz="2800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two dominant directions of the gradient change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565" name="Google Shape;565;p22"/>
          <p:cNvGrpSpPr/>
          <p:nvPr/>
        </p:nvGrpSpPr>
        <p:grpSpPr>
          <a:xfrm>
            <a:off x="625601" y="3702555"/>
            <a:ext cx="3276603" cy="2286320"/>
            <a:chOff x="625601" y="3702555"/>
            <a:chExt cx="3276603" cy="2286320"/>
          </a:xfrm>
        </p:grpSpPr>
        <p:sp>
          <p:nvSpPr>
            <p:cNvPr id="566" name="Google Shape;566;p22"/>
            <p:cNvSpPr/>
            <p:nvPr/>
          </p:nvSpPr>
          <p:spPr>
            <a:xfrm>
              <a:off x="1997201" y="3773995"/>
              <a:ext cx="0" cy="2214880"/>
            </a:xfrm>
            <a:custGeom>
              <a:rect b="b" l="l" r="r" t="t"/>
              <a:pathLst>
                <a:path extrusionOk="0" h="2214879" w="120000">
                  <a:moveTo>
                    <a:pt x="0" y="22145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1954344" y="3702555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625601" y="5150357"/>
              <a:ext cx="3205480" cy="0"/>
            </a:xfrm>
            <a:custGeom>
              <a:rect b="b" l="l" r="r" t="t"/>
              <a:pathLst>
                <a:path extrusionOk="0" h="120000" w="3205479">
                  <a:moveTo>
                    <a:pt x="0" y="0"/>
                  </a:moveTo>
                  <a:lnTo>
                    <a:pt x="32051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9" name="Google Shape;569;p22"/>
            <p:cNvSpPr/>
            <p:nvPr/>
          </p:nvSpPr>
          <p:spPr>
            <a:xfrm>
              <a:off x="3816479" y="5107491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70" name="Google Shape;570;p22"/>
          <p:cNvSpPr txBox="1"/>
          <p:nvPr/>
        </p:nvSpPr>
        <p:spPr>
          <a:xfrm>
            <a:off x="1660771" y="4750875"/>
            <a:ext cx="9462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baseline="-25000" lang="en-US" sz="4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lang="en-US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2"/>
          <p:cNvSpPr txBox="1"/>
          <p:nvPr/>
        </p:nvSpPr>
        <p:spPr>
          <a:xfrm>
            <a:off x="1660770" y="4548050"/>
            <a:ext cx="8940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baseline="-25000" lang="en-US" sz="4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baseline="-25000" lang="en-US" sz="4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**</a:t>
            </a:r>
            <a:endParaRPr baseline="-25000" sz="4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2" name="Google Shape;572;p22"/>
          <p:cNvGrpSpPr/>
          <p:nvPr/>
        </p:nvGrpSpPr>
        <p:grpSpPr>
          <a:xfrm>
            <a:off x="656081" y="3832097"/>
            <a:ext cx="1548004" cy="1433576"/>
            <a:chOff x="656081" y="3832097"/>
            <a:chExt cx="1548004" cy="1433576"/>
          </a:xfrm>
        </p:grpSpPr>
        <p:sp>
          <p:nvSpPr>
            <p:cNvPr id="573" name="Google Shape;573;p22"/>
            <p:cNvSpPr/>
            <p:nvPr/>
          </p:nvSpPr>
          <p:spPr>
            <a:xfrm>
              <a:off x="1672590" y="5049773"/>
              <a:ext cx="531495" cy="215900"/>
            </a:xfrm>
            <a:custGeom>
              <a:rect b="b" l="l" r="r" t="t"/>
              <a:pathLst>
                <a:path extrusionOk="0" h="215900" w="531494">
                  <a:moveTo>
                    <a:pt x="0" y="107823"/>
                  </a:moveTo>
                  <a:lnTo>
                    <a:pt x="26992" y="60404"/>
                  </a:lnTo>
                  <a:lnTo>
                    <a:pt x="99466" y="23687"/>
                  </a:lnTo>
                  <a:lnTo>
                    <a:pt x="148773" y="10959"/>
                  </a:lnTo>
                  <a:lnTo>
                    <a:pt x="204668" y="2847"/>
                  </a:lnTo>
                  <a:lnTo>
                    <a:pt x="265557" y="0"/>
                  </a:lnTo>
                  <a:lnTo>
                    <a:pt x="326445" y="2847"/>
                  </a:lnTo>
                  <a:lnTo>
                    <a:pt x="382340" y="10959"/>
                  </a:lnTo>
                  <a:lnTo>
                    <a:pt x="431647" y="23687"/>
                  </a:lnTo>
                  <a:lnTo>
                    <a:pt x="472773" y="40384"/>
                  </a:lnTo>
                  <a:lnTo>
                    <a:pt x="524100" y="83099"/>
                  </a:lnTo>
                  <a:lnTo>
                    <a:pt x="531114" y="107823"/>
                  </a:lnTo>
                  <a:lnTo>
                    <a:pt x="524100" y="132546"/>
                  </a:lnTo>
                  <a:lnTo>
                    <a:pt x="472773" y="175261"/>
                  </a:lnTo>
                  <a:lnTo>
                    <a:pt x="431647" y="191958"/>
                  </a:lnTo>
                  <a:lnTo>
                    <a:pt x="382340" y="204686"/>
                  </a:lnTo>
                  <a:lnTo>
                    <a:pt x="326445" y="212798"/>
                  </a:lnTo>
                  <a:lnTo>
                    <a:pt x="265557" y="215646"/>
                  </a:lnTo>
                  <a:lnTo>
                    <a:pt x="204668" y="212798"/>
                  </a:lnTo>
                  <a:lnTo>
                    <a:pt x="148773" y="204686"/>
                  </a:lnTo>
                  <a:lnTo>
                    <a:pt x="99466" y="191958"/>
                  </a:lnTo>
                  <a:lnTo>
                    <a:pt x="58340" y="175261"/>
                  </a:lnTo>
                  <a:lnTo>
                    <a:pt x="7013" y="132546"/>
                  </a:lnTo>
                  <a:lnTo>
                    <a:pt x="0" y="107823"/>
                  </a:lnTo>
                  <a:close/>
                </a:path>
              </a:pathLst>
            </a:cu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74" name="Google Shape;57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6081" y="3832097"/>
              <a:ext cx="701801" cy="549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5" name="Google Shape;575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2182" y="3855338"/>
              <a:ext cx="609599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22"/>
            <p:cNvSpPr/>
            <p:nvPr/>
          </p:nvSpPr>
          <p:spPr>
            <a:xfrm>
              <a:off x="702182" y="3855338"/>
              <a:ext cx="609600" cy="457200"/>
            </a:xfrm>
            <a:custGeom>
              <a:rect b="b" l="l" r="r" t="t"/>
              <a:pathLst>
                <a:path extrusionOk="0" h="457200" w="609600">
                  <a:moveTo>
                    <a:pt x="0" y="0"/>
                  </a:moveTo>
                  <a:lnTo>
                    <a:pt x="609599" y="0"/>
                  </a:lnTo>
                  <a:lnTo>
                    <a:pt x="609599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77" name="Google Shape;577;p22"/>
          <p:cNvSpPr txBox="1"/>
          <p:nvPr/>
        </p:nvSpPr>
        <p:spPr>
          <a:xfrm>
            <a:off x="3599100" y="5134927"/>
            <a:ext cx="136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𝑰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78" name="Google Shape;578;p22"/>
          <p:cNvSpPr txBox="1"/>
          <p:nvPr/>
        </p:nvSpPr>
        <p:spPr>
          <a:xfrm>
            <a:off x="3709589" y="5255322"/>
            <a:ext cx="1326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latin typeface="Cambria Math"/>
                <a:ea typeface="Cambria Math"/>
                <a:cs typeface="Cambria Math"/>
                <a:sym typeface="Cambria Math"/>
              </a:rPr>
              <a:t>𝒙</a:t>
            </a:r>
            <a:endParaRPr sz="14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79" name="Google Shape;579;p22"/>
          <p:cNvSpPr txBox="1"/>
          <p:nvPr/>
        </p:nvSpPr>
        <p:spPr>
          <a:xfrm>
            <a:off x="2124467" y="3655359"/>
            <a:ext cx="2979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𝑰</a:t>
            </a:r>
            <a:r>
              <a:rPr baseline="-25000" lang="en-US" sz="2175">
                <a:latin typeface="Cambria Math"/>
                <a:ea typeface="Cambria Math"/>
                <a:cs typeface="Cambria Math"/>
                <a:sym typeface="Cambria Math"/>
              </a:rPr>
              <a:t>𝒚</a:t>
            </a:r>
            <a:endParaRPr baseline="-25000" sz="21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80" name="Google Shape;580;p22"/>
          <p:cNvSpPr txBox="1"/>
          <p:nvPr/>
        </p:nvSpPr>
        <p:spPr>
          <a:xfrm>
            <a:off x="1604134" y="5949128"/>
            <a:ext cx="89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No edge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81" name="Google Shape;581;p22"/>
          <p:cNvGrpSpPr/>
          <p:nvPr/>
        </p:nvGrpSpPr>
        <p:grpSpPr>
          <a:xfrm>
            <a:off x="4429505" y="3702555"/>
            <a:ext cx="3276603" cy="2286320"/>
            <a:chOff x="4429505" y="3702555"/>
            <a:chExt cx="3276603" cy="2286320"/>
          </a:xfrm>
        </p:grpSpPr>
        <p:sp>
          <p:nvSpPr>
            <p:cNvPr id="582" name="Google Shape;582;p22"/>
            <p:cNvSpPr/>
            <p:nvPr/>
          </p:nvSpPr>
          <p:spPr>
            <a:xfrm>
              <a:off x="5801105" y="3773995"/>
              <a:ext cx="0" cy="2214880"/>
            </a:xfrm>
            <a:custGeom>
              <a:rect b="b" l="l" r="r" t="t"/>
              <a:pathLst>
                <a:path extrusionOk="0" h="2214879" w="120000">
                  <a:moveTo>
                    <a:pt x="0" y="22145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3" name="Google Shape;583;p22"/>
            <p:cNvSpPr/>
            <p:nvPr/>
          </p:nvSpPr>
          <p:spPr>
            <a:xfrm>
              <a:off x="5758248" y="3702555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4" name="Google Shape;584;p22"/>
            <p:cNvSpPr/>
            <p:nvPr/>
          </p:nvSpPr>
          <p:spPr>
            <a:xfrm>
              <a:off x="4429505" y="5150357"/>
              <a:ext cx="3205480" cy="0"/>
            </a:xfrm>
            <a:custGeom>
              <a:rect b="b" l="l" r="r" t="t"/>
              <a:pathLst>
                <a:path extrusionOk="0" h="120000" w="3205479">
                  <a:moveTo>
                    <a:pt x="0" y="0"/>
                  </a:moveTo>
                  <a:lnTo>
                    <a:pt x="32051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7620383" y="5107491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4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86" name="Google Shape;586;p22"/>
          <p:cNvSpPr txBox="1"/>
          <p:nvPr/>
        </p:nvSpPr>
        <p:spPr>
          <a:xfrm>
            <a:off x="5503228" y="4809800"/>
            <a:ext cx="8940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baseline="-25000" lang="en-US" sz="4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***</a:t>
            </a:r>
            <a:endParaRPr baseline="-25000" sz="4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7" name="Google Shape;587;p22"/>
          <p:cNvGrpSpPr/>
          <p:nvPr/>
        </p:nvGrpSpPr>
        <p:grpSpPr>
          <a:xfrm>
            <a:off x="4459985" y="3832097"/>
            <a:ext cx="2598204" cy="1486056"/>
            <a:chOff x="4459985" y="3832097"/>
            <a:chExt cx="2598204" cy="1486056"/>
          </a:xfrm>
        </p:grpSpPr>
        <p:sp>
          <p:nvSpPr>
            <p:cNvPr id="588" name="Google Shape;588;p22"/>
            <p:cNvSpPr/>
            <p:nvPr/>
          </p:nvSpPr>
          <p:spPr>
            <a:xfrm>
              <a:off x="5565304" y="4138958"/>
              <a:ext cx="1492885" cy="1179195"/>
            </a:xfrm>
            <a:custGeom>
              <a:rect b="b" l="l" r="r" t="t"/>
              <a:pathLst>
                <a:path extrusionOk="0" h="1179195" w="1492884">
                  <a:moveTo>
                    <a:pt x="11885" y="1152573"/>
                  </a:moveTo>
                  <a:lnTo>
                    <a:pt x="3677" y="1137291"/>
                  </a:lnTo>
                  <a:lnTo>
                    <a:pt x="0" y="1118991"/>
                  </a:lnTo>
                  <a:lnTo>
                    <a:pt x="719" y="1097835"/>
                  </a:lnTo>
                  <a:lnTo>
                    <a:pt x="14812" y="1047613"/>
                  </a:lnTo>
                  <a:lnTo>
                    <a:pt x="44887" y="987937"/>
                  </a:lnTo>
                  <a:lnTo>
                    <a:pt x="65584" y="954963"/>
                  </a:lnTo>
                  <a:lnTo>
                    <a:pt x="89876" y="920118"/>
                  </a:lnTo>
                  <a:lnTo>
                    <a:pt x="117628" y="883564"/>
                  </a:lnTo>
                  <a:lnTo>
                    <a:pt x="148707" y="845466"/>
                  </a:lnTo>
                  <a:lnTo>
                    <a:pt x="182980" y="805987"/>
                  </a:lnTo>
                  <a:lnTo>
                    <a:pt x="220313" y="765292"/>
                  </a:lnTo>
                  <a:lnTo>
                    <a:pt x="260572" y="723544"/>
                  </a:lnTo>
                  <a:lnTo>
                    <a:pt x="303624" y="680907"/>
                  </a:lnTo>
                  <a:lnTo>
                    <a:pt x="349334" y="637545"/>
                  </a:lnTo>
                  <a:lnTo>
                    <a:pt x="397570" y="593621"/>
                  </a:lnTo>
                  <a:lnTo>
                    <a:pt x="448197" y="549300"/>
                  </a:lnTo>
                  <a:lnTo>
                    <a:pt x="501082" y="504746"/>
                  </a:lnTo>
                  <a:lnTo>
                    <a:pt x="556091" y="460122"/>
                  </a:lnTo>
                  <a:lnTo>
                    <a:pt x="613090" y="415592"/>
                  </a:lnTo>
                  <a:lnTo>
                    <a:pt x="670891" y="372110"/>
                  </a:lnTo>
                  <a:lnTo>
                    <a:pt x="728267" y="330575"/>
                  </a:lnTo>
                  <a:lnTo>
                    <a:pt x="785024" y="291073"/>
                  </a:lnTo>
                  <a:lnTo>
                    <a:pt x="840969" y="253691"/>
                  </a:lnTo>
                  <a:lnTo>
                    <a:pt x="895910" y="218516"/>
                  </a:lnTo>
                  <a:lnTo>
                    <a:pt x="949653" y="185633"/>
                  </a:lnTo>
                  <a:lnTo>
                    <a:pt x="1002005" y="155130"/>
                  </a:lnTo>
                  <a:lnTo>
                    <a:pt x="1052774" y="127092"/>
                  </a:lnTo>
                  <a:lnTo>
                    <a:pt x="1101766" y="101607"/>
                  </a:lnTo>
                  <a:lnTo>
                    <a:pt x="1148790" y="78761"/>
                  </a:lnTo>
                  <a:lnTo>
                    <a:pt x="1193651" y="58641"/>
                  </a:lnTo>
                  <a:lnTo>
                    <a:pt x="1236157" y="41333"/>
                  </a:lnTo>
                  <a:lnTo>
                    <a:pt x="1276115" y="26923"/>
                  </a:lnTo>
                  <a:lnTo>
                    <a:pt x="1313331" y="15498"/>
                  </a:lnTo>
                  <a:lnTo>
                    <a:pt x="1378770" y="1950"/>
                  </a:lnTo>
                  <a:lnTo>
                    <a:pt x="1406606" y="0"/>
                  </a:lnTo>
                  <a:lnTo>
                    <a:pt x="1430930" y="1380"/>
                  </a:lnTo>
                  <a:lnTo>
                    <a:pt x="1468266" y="14482"/>
                  </a:lnTo>
                  <a:lnTo>
                    <a:pt x="1492779" y="59958"/>
                  </a:lnTo>
                  <a:lnTo>
                    <a:pt x="1492060" y="81114"/>
                  </a:lnTo>
                  <a:lnTo>
                    <a:pt x="1477967" y="131335"/>
                  </a:lnTo>
                  <a:lnTo>
                    <a:pt x="1447891" y="191011"/>
                  </a:lnTo>
                  <a:lnTo>
                    <a:pt x="1427194" y="223984"/>
                  </a:lnTo>
                  <a:lnTo>
                    <a:pt x="1402903" y="258830"/>
                  </a:lnTo>
                  <a:lnTo>
                    <a:pt x="1375150" y="295383"/>
                  </a:lnTo>
                  <a:lnTo>
                    <a:pt x="1344071" y="333481"/>
                  </a:lnTo>
                  <a:lnTo>
                    <a:pt x="1309798" y="372959"/>
                  </a:lnTo>
                  <a:lnTo>
                    <a:pt x="1272465" y="413654"/>
                  </a:lnTo>
                  <a:lnTo>
                    <a:pt x="1232206" y="455401"/>
                  </a:lnTo>
                  <a:lnTo>
                    <a:pt x="1189155" y="498037"/>
                  </a:lnTo>
                  <a:lnTo>
                    <a:pt x="1143444" y="541398"/>
                  </a:lnTo>
                  <a:lnTo>
                    <a:pt x="1095209" y="585321"/>
                  </a:lnTo>
                  <a:lnTo>
                    <a:pt x="1044582" y="629640"/>
                  </a:lnTo>
                  <a:lnTo>
                    <a:pt x="991697" y="674193"/>
                  </a:lnTo>
                  <a:lnTo>
                    <a:pt x="936688" y="718815"/>
                  </a:lnTo>
                  <a:lnTo>
                    <a:pt x="879688" y="763344"/>
                  </a:lnTo>
                  <a:lnTo>
                    <a:pt x="821887" y="806827"/>
                  </a:lnTo>
                  <a:lnTo>
                    <a:pt x="764511" y="848364"/>
                  </a:lnTo>
                  <a:lnTo>
                    <a:pt x="707754" y="887867"/>
                  </a:lnTo>
                  <a:lnTo>
                    <a:pt x="651809" y="925250"/>
                  </a:lnTo>
                  <a:lnTo>
                    <a:pt x="596869" y="960427"/>
                  </a:lnTo>
                  <a:lnTo>
                    <a:pt x="543126" y="993311"/>
                  </a:lnTo>
                  <a:lnTo>
                    <a:pt x="490773" y="1023815"/>
                  </a:lnTo>
                  <a:lnTo>
                    <a:pt x="440005" y="1051853"/>
                  </a:lnTo>
                  <a:lnTo>
                    <a:pt x="391012" y="1077339"/>
                  </a:lnTo>
                  <a:lnTo>
                    <a:pt x="343989" y="1100185"/>
                  </a:lnTo>
                  <a:lnTo>
                    <a:pt x="299128" y="1120306"/>
                  </a:lnTo>
                  <a:lnTo>
                    <a:pt x="256622" y="1137615"/>
                  </a:lnTo>
                  <a:lnTo>
                    <a:pt x="216664" y="1152025"/>
                  </a:lnTo>
                  <a:lnTo>
                    <a:pt x="179447" y="1163450"/>
                  </a:lnTo>
                  <a:lnTo>
                    <a:pt x="114008" y="1176999"/>
                  </a:lnTo>
                  <a:lnTo>
                    <a:pt x="86172" y="1178949"/>
                  </a:lnTo>
                  <a:lnTo>
                    <a:pt x="61849" y="1177568"/>
                  </a:lnTo>
                  <a:lnTo>
                    <a:pt x="41231" y="1172770"/>
                  </a:lnTo>
                  <a:lnTo>
                    <a:pt x="24512" y="1164467"/>
                  </a:lnTo>
                  <a:lnTo>
                    <a:pt x="11885" y="1152573"/>
                  </a:lnTo>
                  <a:close/>
                </a:path>
              </a:pathLst>
            </a:cu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89" name="Google Shape;589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59985" y="3832097"/>
              <a:ext cx="701801" cy="549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06086" y="3855338"/>
              <a:ext cx="6096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p22"/>
            <p:cNvSpPr/>
            <p:nvPr/>
          </p:nvSpPr>
          <p:spPr>
            <a:xfrm>
              <a:off x="4506086" y="3855338"/>
              <a:ext cx="609600" cy="457200"/>
            </a:xfrm>
            <a:custGeom>
              <a:rect b="b" l="l" r="r" t="t"/>
              <a:pathLst>
                <a:path extrusionOk="0" h="4572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92" name="Google Shape;592;p22"/>
          <p:cNvSpPr txBox="1"/>
          <p:nvPr/>
        </p:nvSpPr>
        <p:spPr>
          <a:xfrm>
            <a:off x="6651107" y="4368189"/>
            <a:ext cx="22796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2"/>
          <p:cNvSpPr txBox="1"/>
          <p:nvPr/>
        </p:nvSpPr>
        <p:spPr>
          <a:xfrm>
            <a:off x="6527824" y="4061950"/>
            <a:ext cx="10332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4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lang="en-US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baseline="-25000" lang="en-US" sz="4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**</a:t>
            </a:r>
            <a:endParaRPr baseline="-25000" sz="4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4" name="Google Shape;594;p22"/>
          <p:cNvGrpSpPr/>
          <p:nvPr/>
        </p:nvGrpSpPr>
        <p:grpSpPr>
          <a:xfrm>
            <a:off x="4844415" y="3862196"/>
            <a:ext cx="257175" cy="271780"/>
            <a:chOff x="4844415" y="3862196"/>
            <a:chExt cx="257175" cy="271780"/>
          </a:xfrm>
        </p:grpSpPr>
        <p:sp>
          <p:nvSpPr>
            <p:cNvPr id="595" name="Google Shape;595;p22"/>
            <p:cNvSpPr/>
            <p:nvPr/>
          </p:nvSpPr>
          <p:spPr>
            <a:xfrm>
              <a:off x="4844415" y="3862196"/>
              <a:ext cx="257175" cy="271780"/>
            </a:xfrm>
            <a:custGeom>
              <a:rect b="b" l="l" r="r" t="t"/>
              <a:pathLst>
                <a:path extrusionOk="0" h="271779" w="257175">
                  <a:moveTo>
                    <a:pt x="256793" y="0"/>
                  </a:moveTo>
                  <a:lnTo>
                    <a:pt x="0" y="0"/>
                  </a:lnTo>
                  <a:lnTo>
                    <a:pt x="256793" y="271272"/>
                  </a:lnTo>
                  <a:lnTo>
                    <a:pt x="2567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6" name="Google Shape;596;p22"/>
            <p:cNvSpPr/>
            <p:nvPr/>
          </p:nvSpPr>
          <p:spPr>
            <a:xfrm>
              <a:off x="4844415" y="3862196"/>
              <a:ext cx="257175" cy="271780"/>
            </a:xfrm>
            <a:custGeom>
              <a:rect b="b" l="l" r="r" t="t"/>
              <a:pathLst>
                <a:path extrusionOk="0" h="271779" w="257175">
                  <a:moveTo>
                    <a:pt x="256793" y="0"/>
                  </a:moveTo>
                  <a:lnTo>
                    <a:pt x="256793" y="271272"/>
                  </a:lnTo>
                  <a:lnTo>
                    <a:pt x="0" y="0"/>
                  </a:lnTo>
                  <a:lnTo>
                    <a:pt x="256793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97" name="Google Shape;597;p22"/>
          <p:cNvSpPr txBox="1"/>
          <p:nvPr/>
        </p:nvSpPr>
        <p:spPr>
          <a:xfrm>
            <a:off x="7393755" y="5145082"/>
            <a:ext cx="136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𝑰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98" name="Google Shape;598;p22"/>
          <p:cNvSpPr txBox="1"/>
          <p:nvPr/>
        </p:nvSpPr>
        <p:spPr>
          <a:xfrm>
            <a:off x="7504247" y="5265477"/>
            <a:ext cx="1326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latin typeface="Cambria Math"/>
                <a:ea typeface="Cambria Math"/>
                <a:cs typeface="Cambria Math"/>
                <a:sym typeface="Cambria Math"/>
              </a:rPr>
              <a:t>𝒙</a:t>
            </a:r>
            <a:endParaRPr sz="14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99" name="Google Shape;599;p22"/>
          <p:cNvSpPr txBox="1"/>
          <p:nvPr/>
        </p:nvSpPr>
        <p:spPr>
          <a:xfrm>
            <a:off x="5383722" y="5923365"/>
            <a:ext cx="1033144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One edge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00" name="Google Shape;600;p22"/>
          <p:cNvGrpSpPr/>
          <p:nvPr/>
        </p:nvGrpSpPr>
        <p:grpSpPr>
          <a:xfrm>
            <a:off x="8196833" y="3680457"/>
            <a:ext cx="3276603" cy="2286320"/>
            <a:chOff x="8196833" y="3680457"/>
            <a:chExt cx="3276603" cy="2286320"/>
          </a:xfrm>
        </p:grpSpPr>
        <p:sp>
          <p:nvSpPr>
            <p:cNvPr id="601" name="Google Shape;601;p22"/>
            <p:cNvSpPr/>
            <p:nvPr/>
          </p:nvSpPr>
          <p:spPr>
            <a:xfrm>
              <a:off x="9568433" y="3751897"/>
              <a:ext cx="0" cy="2214880"/>
            </a:xfrm>
            <a:custGeom>
              <a:rect b="b" l="l" r="r" t="t"/>
              <a:pathLst>
                <a:path extrusionOk="0" h="2214879" w="120000">
                  <a:moveTo>
                    <a:pt x="0" y="2214562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2" name="Google Shape;602;p22"/>
            <p:cNvSpPr/>
            <p:nvPr/>
          </p:nvSpPr>
          <p:spPr>
            <a:xfrm>
              <a:off x="9525575" y="3680457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3" name="Google Shape;603;p22"/>
            <p:cNvSpPr/>
            <p:nvPr/>
          </p:nvSpPr>
          <p:spPr>
            <a:xfrm>
              <a:off x="8196833" y="5128260"/>
              <a:ext cx="3205480" cy="0"/>
            </a:xfrm>
            <a:custGeom>
              <a:rect b="b" l="l" r="r" t="t"/>
              <a:pathLst>
                <a:path extrusionOk="0" h="120000" w="3205479">
                  <a:moveTo>
                    <a:pt x="0" y="0"/>
                  </a:moveTo>
                  <a:lnTo>
                    <a:pt x="3205162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4" name="Google Shape;604;p22"/>
            <p:cNvSpPr/>
            <p:nvPr/>
          </p:nvSpPr>
          <p:spPr>
            <a:xfrm>
              <a:off x="11387711" y="5085395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05" name="Google Shape;605;p22"/>
          <p:cNvSpPr txBox="1"/>
          <p:nvPr/>
        </p:nvSpPr>
        <p:spPr>
          <a:xfrm>
            <a:off x="9271149" y="4787300"/>
            <a:ext cx="8154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baseline="-25000" lang="en-US" sz="4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***</a:t>
            </a:r>
            <a:endParaRPr baseline="-25000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2"/>
          <p:cNvSpPr/>
          <p:nvPr/>
        </p:nvSpPr>
        <p:spPr>
          <a:xfrm>
            <a:off x="9528609" y="4274127"/>
            <a:ext cx="1443990" cy="1452245"/>
          </a:xfrm>
          <a:custGeom>
            <a:rect b="b" l="l" r="r" t="t"/>
            <a:pathLst>
              <a:path extrusionOk="0" h="1452245" w="1443990">
                <a:moveTo>
                  <a:pt x="153297" y="1161961"/>
                </a:moveTo>
                <a:lnTo>
                  <a:pt x="125233" y="1122851"/>
                </a:lnTo>
                <a:lnTo>
                  <a:pt x="100044" y="1082584"/>
                </a:lnTo>
                <a:lnTo>
                  <a:pt x="77712" y="1041295"/>
                </a:lnTo>
                <a:lnTo>
                  <a:pt x="58223" y="999117"/>
                </a:lnTo>
                <a:lnTo>
                  <a:pt x="41559" y="956185"/>
                </a:lnTo>
                <a:lnTo>
                  <a:pt x="27704" y="912632"/>
                </a:lnTo>
                <a:lnTo>
                  <a:pt x="16642" y="868592"/>
                </a:lnTo>
                <a:lnTo>
                  <a:pt x="8357" y="824199"/>
                </a:lnTo>
                <a:lnTo>
                  <a:pt x="2832" y="779588"/>
                </a:lnTo>
                <a:lnTo>
                  <a:pt x="52" y="734891"/>
                </a:lnTo>
                <a:lnTo>
                  <a:pt x="0" y="690244"/>
                </a:lnTo>
                <a:lnTo>
                  <a:pt x="2659" y="645780"/>
                </a:lnTo>
                <a:lnTo>
                  <a:pt x="8014" y="601633"/>
                </a:lnTo>
                <a:lnTo>
                  <a:pt x="16048" y="557937"/>
                </a:lnTo>
                <a:lnTo>
                  <a:pt x="26746" y="514826"/>
                </a:lnTo>
                <a:lnTo>
                  <a:pt x="40090" y="472434"/>
                </a:lnTo>
                <a:lnTo>
                  <a:pt x="56065" y="430895"/>
                </a:lnTo>
                <a:lnTo>
                  <a:pt x="74654" y="390343"/>
                </a:lnTo>
                <a:lnTo>
                  <a:pt x="95841" y="350912"/>
                </a:lnTo>
                <a:lnTo>
                  <a:pt x="119610" y="312735"/>
                </a:lnTo>
                <a:lnTo>
                  <a:pt x="145945" y="275947"/>
                </a:lnTo>
                <a:lnTo>
                  <a:pt x="174829" y="240683"/>
                </a:lnTo>
                <a:lnTo>
                  <a:pt x="206246" y="207074"/>
                </a:lnTo>
                <a:lnTo>
                  <a:pt x="240179" y="175257"/>
                </a:lnTo>
                <a:lnTo>
                  <a:pt x="276614" y="145364"/>
                </a:lnTo>
                <a:lnTo>
                  <a:pt x="314942" y="117942"/>
                </a:lnTo>
                <a:lnTo>
                  <a:pt x="354480" y="93434"/>
                </a:lnTo>
                <a:lnTo>
                  <a:pt x="395094" y="71821"/>
                </a:lnTo>
                <a:lnTo>
                  <a:pt x="436649" y="53085"/>
                </a:lnTo>
                <a:lnTo>
                  <a:pt x="479013" y="37206"/>
                </a:lnTo>
                <a:lnTo>
                  <a:pt x="522052" y="24165"/>
                </a:lnTo>
                <a:lnTo>
                  <a:pt x="565632" y="13943"/>
                </a:lnTo>
                <a:lnTo>
                  <a:pt x="609621" y="6520"/>
                </a:lnTo>
                <a:lnTo>
                  <a:pt x="653883" y="1879"/>
                </a:lnTo>
                <a:lnTo>
                  <a:pt x="698286" y="0"/>
                </a:lnTo>
                <a:lnTo>
                  <a:pt x="742695" y="863"/>
                </a:lnTo>
                <a:lnTo>
                  <a:pt x="786979" y="4449"/>
                </a:lnTo>
                <a:lnTo>
                  <a:pt x="831002" y="10740"/>
                </a:lnTo>
                <a:lnTo>
                  <a:pt x="874631" y="19717"/>
                </a:lnTo>
                <a:lnTo>
                  <a:pt x="917734" y="31359"/>
                </a:lnTo>
                <a:lnTo>
                  <a:pt x="960175" y="45649"/>
                </a:lnTo>
                <a:lnTo>
                  <a:pt x="1001822" y="62567"/>
                </a:lnTo>
                <a:lnTo>
                  <a:pt x="1042540" y="82094"/>
                </a:lnTo>
                <a:lnTo>
                  <a:pt x="1082198" y="104211"/>
                </a:lnTo>
                <a:lnTo>
                  <a:pt x="1120660" y="128899"/>
                </a:lnTo>
                <a:lnTo>
                  <a:pt x="1157793" y="156139"/>
                </a:lnTo>
                <a:lnTo>
                  <a:pt x="1193464" y="185911"/>
                </a:lnTo>
                <a:lnTo>
                  <a:pt x="1227538" y="218197"/>
                </a:lnTo>
                <a:lnTo>
                  <a:pt x="1259884" y="252977"/>
                </a:lnTo>
                <a:lnTo>
                  <a:pt x="1290366" y="290233"/>
                </a:lnTo>
                <a:lnTo>
                  <a:pt x="1318430" y="329344"/>
                </a:lnTo>
                <a:lnTo>
                  <a:pt x="1343619" y="369612"/>
                </a:lnTo>
                <a:lnTo>
                  <a:pt x="1365950" y="410902"/>
                </a:lnTo>
                <a:lnTo>
                  <a:pt x="1385440" y="453081"/>
                </a:lnTo>
                <a:lnTo>
                  <a:pt x="1402104" y="496014"/>
                </a:lnTo>
                <a:lnTo>
                  <a:pt x="1415959" y="539567"/>
                </a:lnTo>
                <a:lnTo>
                  <a:pt x="1427021" y="583607"/>
                </a:lnTo>
                <a:lnTo>
                  <a:pt x="1435306" y="628000"/>
                </a:lnTo>
                <a:lnTo>
                  <a:pt x="1440831" y="672612"/>
                </a:lnTo>
                <a:lnTo>
                  <a:pt x="1443611" y="717308"/>
                </a:lnTo>
                <a:lnTo>
                  <a:pt x="1443663" y="761955"/>
                </a:lnTo>
                <a:lnTo>
                  <a:pt x="1441004" y="806418"/>
                </a:lnTo>
                <a:lnTo>
                  <a:pt x="1435649" y="850565"/>
                </a:lnTo>
                <a:lnTo>
                  <a:pt x="1427615" y="894261"/>
                </a:lnTo>
                <a:lnTo>
                  <a:pt x="1416917" y="937371"/>
                </a:lnTo>
                <a:lnTo>
                  <a:pt x="1403573" y="979763"/>
                </a:lnTo>
                <a:lnTo>
                  <a:pt x="1387598" y="1021301"/>
                </a:lnTo>
                <a:lnTo>
                  <a:pt x="1369009" y="1061853"/>
                </a:lnTo>
                <a:lnTo>
                  <a:pt x="1347822" y="1101284"/>
                </a:lnTo>
                <a:lnTo>
                  <a:pt x="1324053" y="1139460"/>
                </a:lnTo>
                <a:lnTo>
                  <a:pt x="1297718" y="1176247"/>
                </a:lnTo>
                <a:lnTo>
                  <a:pt x="1268834" y="1211512"/>
                </a:lnTo>
                <a:lnTo>
                  <a:pt x="1237417" y="1245120"/>
                </a:lnTo>
                <a:lnTo>
                  <a:pt x="1203483" y="1276937"/>
                </a:lnTo>
                <a:lnTo>
                  <a:pt x="1167049" y="1306830"/>
                </a:lnTo>
                <a:lnTo>
                  <a:pt x="1128720" y="1334253"/>
                </a:lnTo>
                <a:lnTo>
                  <a:pt x="1089183" y="1358762"/>
                </a:lnTo>
                <a:lnTo>
                  <a:pt x="1048569" y="1380376"/>
                </a:lnTo>
                <a:lnTo>
                  <a:pt x="1007014" y="1399113"/>
                </a:lnTo>
                <a:lnTo>
                  <a:pt x="964650" y="1414993"/>
                </a:lnTo>
                <a:lnTo>
                  <a:pt x="921611" y="1428034"/>
                </a:lnTo>
                <a:lnTo>
                  <a:pt x="878030" y="1438257"/>
                </a:lnTo>
                <a:lnTo>
                  <a:pt x="834042" y="1445679"/>
                </a:lnTo>
                <a:lnTo>
                  <a:pt x="789780" y="1450320"/>
                </a:lnTo>
                <a:lnTo>
                  <a:pt x="745377" y="1452200"/>
                </a:lnTo>
                <a:lnTo>
                  <a:pt x="700967" y="1451336"/>
                </a:lnTo>
                <a:lnTo>
                  <a:pt x="656684" y="1447749"/>
                </a:lnTo>
                <a:lnTo>
                  <a:pt x="612661" y="1441458"/>
                </a:lnTo>
                <a:lnTo>
                  <a:pt x="569031" y="1432481"/>
                </a:lnTo>
                <a:lnTo>
                  <a:pt x="525929" y="1420838"/>
                </a:lnTo>
                <a:lnTo>
                  <a:pt x="483488" y="1406548"/>
                </a:lnTo>
                <a:lnTo>
                  <a:pt x="441841" y="1389629"/>
                </a:lnTo>
                <a:lnTo>
                  <a:pt x="401122" y="1370102"/>
                </a:lnTo>
                <a:lnTo>
                  <a:pt x="361465" y="1347984"/>
                </a:lnTo>
                <a:lnTo>
                  <a:pt x="323003" y="1323296"/>
                </a:lnTo>
                <a:lnTo>
                  <a:pt x="285870" y="1296056"/>
                </a:lnTo>
                <a:lnTo>
                  <a:pt x="250199" y="1266283"/>
                </a:lnTo>
                <a:lnTo>
                  <a:pt x="216124" y="1233997"/>
                </a:lnTo>
                <a:lnTo>
                  <a:pt x="183779" y="1199217"/>
                </a:lnTo>
                <a:lnTo>
                  <a:pt x="153297" y="1161961"/>
                </a:lnTo>
                <a:close/>
              </a:path>
            </a:pathLst>
          </a:cu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7" name="Google Shape;607;p22"/>
          <p:cNvSpPr txBox="1"/>
          <p:nvPr/>
        </p:nvSpPr>
        <p:spPr>
          <a:xfrm>
            <a:off x="10295746" y="4039500"/>
            <a:ext cx="9462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4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lang="en-US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baseline="-25000" lang="en-US" sz="4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**</a:t>
            </a:r>
            <a:endParaRPr baseline="-25000" sz="4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8" name="Google Shape;608;p22"/>
          <p:cNvGrpSpPr/>
          <p:nvPr/>
        </p:nvGrpSpPr>
        <p:grpSpPr>
          <a:xfrm>
            <a:off x="8234933" y="3835908"/>
            <a:ext cx="701801" cy="549401"/>
            <a:chOff x="8234933" y="3835908"/>
            <a:chExt cx="701801" cy="549401"/>
          </a:xfrm>
        </p:grpSpPr>
        <p:pic>
          <p:nvPicPr>
            <p:cNvPr id="609" name="Google Shape;609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234933" y="3835908"/>
              <a:ext cx="701801" cy="549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0" name="Google Shape;6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81034" y="3859149"/>
              <a:ext cx="6096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" name="Google Shape;611;p22"/>
            <p:cNvSpPr/>
            <p:nvPr/>
          </p:nvSpPr>
          <p:spPr>
            <a:xfrm>
              <a:off x="8281034" y="3859149"/>
              <a:ext cx="609600" cy="457200"/>
            </a:xfrm>
            <a:custGeom>
              <a:rect b="b" l="l" r="r" t="t"/>
              <a:pathLst>
                <a:path extrusionOk="0" h="4572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4A7E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2" name="Google Shape;612;p22"/>
            <p:cNvSpPr/>
            <p:nvPr/>
          </p:nvSpPr>
          <p:spPr>
            <a:xfrm>
              <a:off x="8619362" y="3866007"/>
              <a:ext cx="257810" cy="271780"/>
            </a:xfrm>
            <a:custGeom>
              <a:rect b="b" l="l" r="r" t="t"/>
              <a:pathLst>
                <a:path extrusionOk="0" h="271779" w="257809">
                  <a:moveTo>
                    <a:pt x="257555" y="0"/>
                  </a:moveTo>
                  <a:lnTo>
                    <a:pt x="0" y="0"/>
                  </a:lnTo>
                  <a:lnTo>
                    <a:pt x="257555" y="271272"/>
                  </a:lnTo>
                  <a:lnTo>
                    <a:pt x="2575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3" name="Google Shape;613;p22"/>
            <p:cNvSpPr/>
            <p:nvPr/>
          </p:nvSpPr>
          <p:spPr>
            <a:xfrm>
              <a:off x="8619362" y="3866007"/>
              <a:ext cx="257810" cy="271780"/>
            </a:xfrm>
            <a:custGeom>
              <a:rect b="b" l="l" r="r" t="t"/>
              <a:pathLst>
                <a:path extrusionOk="0" h="271779" w="257809">
                  <a:moveTo>
                    <a:pt x="257555" y="0"/>
                  </a:moveTo>
                  <a:lnTo>
                    <a:pt x="257555" y="271272"/>
                  </a:lnTo>
                  <a:lnTo>
                    <a:pt x="0" y="0"/>
                  </a:lnTo>
                  <a:lnTo>
                    <a:pt x="257555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22"/>
            <p:cNvSpPr/>
            <p:nvPr/>
          </p:nvSpPr>
          <p:spPr>
            <a:xfrm>
              <a:off x="8526398" y="3901059"/>
              <a:ext cx="350520" cy="388620"/>
            </a:xfrm>
            <a:custGeom>
              <a:rect b="b" l="l" r="r" t="t"/>
              <a:pathLst>
                <a:path extrusionOk="0" h="388620" w="350520">
                  <a:moveTo>
                    <a:pt x="350520" y="0"/>
                  </a:moveTo>
                  <a:lnTo>
                    <a:pt x="0" y="388619"/>
                  </a:lnTo>
                  <a:lnTo>
                    <a:pt x="350520" y="388619"/>
                  </a:lnTo>
                  <a:lnTo>
                    <a:pt x="3505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5" name="Google Shape;615;p22"/>
            <p:cNvSpPr/>
            <p:nvPr/>
          </p:nvSpPr>
          <p:spPr>
            <a:xfrm>
              <a:off x="8526398" y="3901059"/>
              <a:ext cx="350520" cy="388620"/>
            </a:xfrm>
            <a:custGeom>
              <a:rect b="b" l="l" r="r" t="t"/>
              <a:pathLst>
                <a:path extrusionOk="0" h="388620" w="350520">
                  <a:moveTo>
                    <a:pt x="350520" y="388619"/>
                  </a:moveTo>
                  <a:lnTo>
                    <a:pt x="0" y="388619"/>
                  </a:lnTo>
                  <a:lnTo>
                    <a:pt x="350520" y="0"/>
                  </a:lnTo>
                  <a:lnTo>
                    <a:pt x="350520" y="388619"/>
                  </a:lnTo>
                  <a:close/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16" name="Google Shape;616;p22"/>
          <p:cNvSpPr txBox="1"/>
          <p:nvPr/>
        </p:nvSpPr>
        <p:spPr>
          <a:xfrm>
            <a:off x="10300904" y="5388800"/>
            <a:ext cx="8940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4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lang="en-US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baseline="-25000" lang="en-US" sz="4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**</a:t>
            </a:r>
            <a:endParaRPr baseline="-25000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2"/>
          <p:cNvSpPr txBox="1"/>
          <p:nvPr/>
        </p:nvSpPr>
        <p:spPr>
          <a:xfrm>
            <a:off x="11156128" y="5121221"/>
            <a:ext cx="136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𝑰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18" name="Google Shape;618;p22"/>
          <p:cNvSpPr txBox="1"/>
          <p:nvPr/>
        </p:nvSpPr>
        <p:spPr>
          <a:xfrm>
            <a:off x="11266618" y="5241617"/>
            <a:ext cx="1326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latin typeface="Cambria Math"/>
                <a:ea typeface="Cambria Math"/>
                <a:cs typeface="Cambria Math"/>
                <a:sym typeface="Cambria Math"/>
              </a:rPr>
              <a:t>𝒙</a:t>
            </a:r>
            <a:endParaRPr sz="14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19" name="Google Shape;619;p22"/>
          <p:cNvSpPr txBox="1"/>
          <p:nvPr/>
        </p:nvSpPr>
        <p:spPr>
          <a:xfrm>
            <a:off x="5907543" y="3694010"/>
            <a:ext cx="40791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𝑰</a:t>
            </a:r>
            <a:r>
              <a:rPr baseline="-25000" lang="en-US" sz="2175">
                <a:latin typeface="Cambria Math"/>
                <a:ea typeface="Cambria Math"/>
                <a:cs typeface="Cambria Math"/>
                <a:sym typeface="Cambria Math"/>
              </a:rPr>
              <a:t>𝒚	                                                                                            </a:t>
            </a:r>
            <a:r>
              <a:rPr lang="en-US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𝑰</a:t>
            </a:r>
            <a:r>
              <a:rPr baseline="-25000" lang="en-US" sz="2175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𝒚</a:t>
            </a:r>
            <a:endParaRPr baseline="-25000" i="1" sz="22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20" name="Google Shape;620;p22"/>
          <p:cNvSpPr txBox="1"/>
          <p:nvPr/>
        </p:nvSpPr>
        <p:spPr>
          <a:xfrm>
            <a:off x="9215870" y="5930453"/>
            <a:ext cx="81534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Corner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p2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2" name="Google Shape;622;p2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3" name="Google Shape;623;p2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9" name="Google Shape;629;p2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0" name="Google Shape;630;p2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Harris Detector: Mathematics</a:t>
            </a:r>
            <a:endParaRPr/>
          </a:p>
        </p:txBody>
      </p:sp>
      <p:sp>
        <p:nvSpPr>
          <p:cNvPr id="631" name="Google Shape;631;p2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2" name="Google Shape;632;p2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3" name="Google Shape;633;p2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634" name="Google Shape;6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6450"/>
            <a:ext cx="11887201" cy="4817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0" name="Google Shape;640;p24"/>
          <p:cNvSpPr txBox="1"/>
          <p:nvPr/>
        </p:nvSpPr>
        <p:spPr>
          <a:xfrm>
            <a:off x="0" y="149175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Harris Detector: Mathematics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41" name="Google Shape;641;p24"/>
          <p:cNvSpPr txBox="1"/>
          <p:nvPr/>
        </p:nvSpPr>
        <p:spPr>
          <a:xfrm>
            <a:off x="688340" y="1311655"/>
            <a:ext cx="936371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For small shifts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u,v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], we can approximate E(u,v) using	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Taylor expansion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42" name="Google Shape;642;p24"/>
          <p:cNvSpPr txBox="1"/>
          <p:nvPr/>
        </p:nvSpPr>
        <p:spPr>
          <a:xfrm>
            <a:off x="688340" y="3605276"/>
            <a:ext cx="721868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where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is a 2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×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2 matrix computed from image derivatives: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3" name="Google Shape;643;p2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4" name="Google Shape;644;p24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645" name="Google Shape;6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1871" y="1995004"/>
            <a:ext cx="4868249" cy="137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1187" y="4394699"/>
            <a:ext cx="6269632" cy="16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2" name="Google Shape;652;p2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3" name="Google Shape;653;p2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Harris Detector: Mathematics</a:t>
            </a:r>
            <a:endParaRPr/>
          </a:p>
        </p:txBody>
      </p:sp>
      <p:sp>
        <p:nvSpPr>
          <p:cNvPr id="654" name="Google Shape;654;p2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5" name="Google Shape;655;p2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6" name="Google Shape;656;p2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657" name="Google Shape;6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086450"/>
            <a:ext cx="11582403" cy="507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3" name="Google Shape;663;p2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4" name="Google Shape;664;p2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Harris </a:t>
            </a:r>
            <a:r>
              <a:rPr lang="en-US"/>
              <a:t>Corner Detector – 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An alternate explanation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65" name="Google Shape;665;p26"/>
          <p:cNvSpPr txBox="1"/>
          <p:nvPr/>
        </p:nvSpPr>
        <p:spPr>
          <a:xfrm>
            <a:off x="688351" y="1038100"/>
            <a:ext cx="88611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Use of Eigen analysis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Also known as Principal Component Analysis (PCA)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666" name="Google Shape;6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0647" y="2512875"/>
            <a:ext cx="4780396" cy="322486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26"/>
          <p:cNvSpPr txBox="1"/>
          <p:nvPr/>
        </p:nvSpPr>
        <p:spPr>
          <a:xfrm>
            <a:off x="150915" y="6184022"/>
            <a:ext cx="5056505" cy="21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Image source: </a:t>
            </a:r>
            <a:r>
              <a:rPr i="1" lang="en-US" sz="1200">
                <a:latin typeface="Bell MT"/>
                <a:ea typeface="Bell MT"/>
                <a:cs typeface="Bell MT"/>
                <a:sym typeface="Bell MT"/>
              </a:rPr>
              <a:t>https://docs.opencv.org/3.4/d1/dee/tutorial_introduction_to_pca.html</a:t>
            </a:r>
            <a:endParaRPr sz="1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68" name="Google Shape;668;p26"/>
          <p:cNvSpPr txBox="1"/>
          <p:nvPr/>
        </p:nvSpPr>
        <p:spPr>
          <a:xfrm>
            <a:off x="1272539" y="3171697"/>
            <a:ext cx="2235200" cy="961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2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aseline="-25000" lang="en-US" sz="1800">
                <a:latin typeface="Bell MT"/>
                <a:ea typeface="Bell MT"/>
                <a:cs typeface="Bell MT"/>
                <a:sym typeface="Bell MT"/>
              </a:rPr>
              <a:t>1 </a:t>
            </a:r>
            <a:r>
              <a:rPr lang="en-US" sz="1400">
                <a:latin typeface="Bell MT"/>
                <a:ea typeface="Bell MT"/>
                <a:cs typeface="Bell MT"/>
                <a:sym typeface="Bell MT"/>
              </a:rPr>
              <a:t>&gt; </a:t>
            </a: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aseline="-25000" lang="en-US" sz="1800">
                <a:latin typeface="Bell MT"/>
                <a:ea typeface="Bell MT"/>
                <a:cs typeface="Bell MT"/>
                <a:sym typeface="Bell MT"/>
              </a:rPr>
              <a:t>2</a:t>
            </a:r>
            <a:endParaRPr baseline="-25000"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38100" marR="3048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US" sz="1200">
                <a:latin typeface="Bell MT"/>
                <a:ea typeface="Bell MT"/>
                <a:cs typeface="Bell MT"/>
                <a:sym typeface="Bell MT"/>
              </a:rPr>
              <a:t>Red vector: for </a:t>
            </a:r>
            <a:r>
              <a:rPr baseline="30000" lang="en-US" sz="2100">
                <a:latin typeface="Bell MT"/>
                <a:ea typeface="Bell MT"/>
                <a:cs typeface="Bell MT"/>
                <a:sym typeface="Bell MT"/>
              </a:rPr>
              <a:t>Eigenvalue </a:t>
            </a:r>
            <a:r>
              <a:rPr baseline="30000" lang="en-US" sz="2700"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lang="en-US" sz="1200">
                <a:latin typeface="Bell MT"/>
                <a:ea typeface="Bell MT"/>
                <a:cs typeface="Bell MT"/>
                <a:sym typeface="Bell MT"/>
              </a:rPr>
              <a:t>1 Green vector: for </a:t>
            </a:r>
            <a:r>
              <a:rPr baseline="30000" lang="en-US" sz="2100">
                <a:latin typeface="Bell MT"/>
                <a:ea typeface="Bell MT"/>
                <a:cs typeface="Bell MT"/>
                <a:sym typeface="Bell MT"/>
              </a:rPr>
              <a:t>Eigenvalue </a:t>
            </a:r>
            <a:r>
              <a:rPr baseline="30000" lang="en-US" sz="2700"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9" name="Google Shape;669;p2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0" name="Google Shape;670;p2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1" name="Google Shape;671;p2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7" name="Google Shape;677;p2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8" name="Google Shape;678;p2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Harris </a:t>
            </a:r>
            <a:r>
              <a:rPr lang="en-US"/>
              <a:t>Corner Detector – 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An alternate explanation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79" name="Google Shape;679;p27"/>
          <p:cNvSpPr txBox="1"/>
          <p:nvPr/>
        </p:nvSpPr>
        <p:spPr>
          <a:xfrm>
            <a:off x="688351" y="1114300"/>
            <a:ext cx="94491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Use of Eigen analysis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Also known as Principal Component Analysis (PCA)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80" name="Google Shape;680;p2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1" name="Google Shape;681;p2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2" name="Google Shape;682;p2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683" name="Google Shape;6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575" y="2383125"/>
            <a:ext cx="11246848" cy="319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9" name="Google Shape;689;p2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90" name="Google Shape;690;p2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Harris </a:t>
            </a:r>
            <a:r>
              <a:rPr lang="en-US"/>
              <a:t>Corner Detector – 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An alternate explanation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91" name="Google Shape;691;p28"/>
          <p:cNvSpPr txBox="1"/>
          <p:nvPr/>
        </p:nvSpPr>
        <p:spPr>
          <a:xfrm>
            <a:off x="826515" y="1110752"/>
            <a:ext cx="10641300" cy="3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Use of Eigen analysis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marR="821055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Presence of large variation of	gradient in all directions can be 	analyzed using Eigen-analysis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508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Matrix </a:t>
            </a:r>
            <a:r>
              <a:rPr i="1"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</a:t>
            </a:r>
            <a:r>
              <a:rPr i="1"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should have two large Eigen values at the point of interest</a:t>
            </a:r>
            <a:r>
              <a:rPr i="1"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for it 	to be </a:t>
            </a:r>
            <a:r>
              <a:rPr i="1"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 corner or a key-point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Based on the </a:t>
            </a:r>
            <a:r>
              <a:rPr i="1"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magnitude of Eigen values</a:t>
            </a:r>
            <a:r>
              <a:rPr i="1"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, key-point can be detected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92" name="Google Shape;692;p28"/>
          <p:cNvSpPr txBox="1"/>
          <p:nvPr/>
        </p:nvSpPr>
        <p:spPr>
          <a:xfrm>
            <a:off x="914775" y="4272925"/>
            <a:ext cx="10464900" cy="865200"/>
          </a:xfrm>
          <a:prstGeom prst="rect">
            <a:avLst/>
          </a:prstGeom>
          <a:noFill/>
          <a:ln cap="flat" cmpd="sng" w="25400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66040" rtl="0" algn="ctr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42729"/>
                </a:solidFill>
                <a:latin typeface="Georgia"/>
                <a:ea typeface="Georgia"/>
                <a:cs typeface="Georgia"/>
                <a:sym typeface="Georgia"/>
              </a:rPr>
              <a:t>Eigen-value decomposition for </a:t>
            </a:r>
            <a:r>
              <a:rPr b="1" lang="en-US" sz="2400">
                <a:solidFill>
                  <a:srgbClr val="0070C0"/>
                </a:solidFill>
                <a:latin typeface="Georgia"/>
                <a:ea typeface="Georgia"/>
                <a:cs typeface="Georgia"/>
                <a:sym typeface="Georgia"/>
              </a:rPr>
              <a:t>symmetric matrix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9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427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C=X</a:t>
            </a:r>
            <a:r>
              <a:rPr baseline="30000" lang="en-US" sz="2775">
                <a:solidFill>
                  <a:srgbClr val="2427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 </a:t>
            </a:r>
            <a:r>
              <a:rPr lang="en-US" sz="2800">
                <a:solidFill>
                  <a:srgbClr val="2427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∑ X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3" name="Google Shape;693;p28"/>
          <p:cNvSpPr txBox="1"/>
          <p:nvPr/>
        </p:nvSpPr>
        <p:spPr>
          <a:xfrm>
            <a:off x="5336540" y="5259657"/>
            <a:ext cx="30867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100">
            <a:spAutoFit/>
          </a:bodyPr>
          <a:lstStyle/>
          <a:p>
            <a:pPr indent="0" lvl="0" marL="12700" marR="5080" rtl="0" algn="l">
              <a:lnSpc>
                <a:spcPct val="1115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2427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∑ </a:t>
            </a:r>
            <a:r>
              <a:rPr i="1" lang="en-US" sz="1900">
                <a:solidFill>
                  <a:srgbClr val="24272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</a:t>
            </a:r>
            <a:r>
              <a:rPr lang="en-US" sz="1900">
                <a:solidFill>
                  <a:srgbClr val="2427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1800">
                <a:solidFill>
                  <a:srgbClr val="2427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 Eigen-values and X </a:t>
            </a:r>
            <a:r>
              <a:rPr i="1" lang="en-US" sz="1900">
                <a:solidFill>
                  <a:srgbClr val="24272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</a:t>
            </a:r>
            <a:r>
              <a:rPr lang="en-US" sz="1900">
                <a:solidFill>
                  <a:srgbClr val="2427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1800">
                <a:solidFill>
                  <a:srgbClr val="2427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 Eigen vectors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4" name="Google Shape;694;p2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5" name="Google Shape;695;p2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6" name="Google Shape;696;p2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2" name="Google Shape;702;p29"/>
          <p:cNvSpPr txBox="1"/>
          <p:nvPr/>
        </p:nvSpPr>
        <p:spPr>
          <a:xfrm>
            <a:off x="-1" y="149175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lang="en-US" sz="4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Harris </a:t>
            </a: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Corner Detector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03" name="Google Shape;703;p2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4" name="Google Shape;704;p29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705" name="Google Shape;7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082475"/>
            <a:ext cx="11506451" cy="522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1" name="Google Shape;711;p3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2" name="Google Shape;712;p30"/>
          <p:cNvSpPr txBox="1"/>
          <p:nvPr/>
        </p:nvSpPr>
        <p:spPr>
          <a:xfrm>
            <a:off x="-26" y="149175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lang="en-US" sz="4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Harris </a:t>
            </a: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Corner Detector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13" name="Google Shape;713;p30"/>
          <p:cNvSpPr txBox="1"/>
          <p:nvPr/>
        </p:nvSpPr>
        <p:spPr>
          <a:xfrm>
            <a:off x="688340" y="987806"/>
            <a:ext cx="624459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First, consider </a:t>
            </a:r>
            <a:r>
              <a:rPr b="1"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Simple Case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where: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14" name="Google Shape;714;p30"/>
          <p:cNvSpPr txBox="1"/>
          <p:nvPr/>
        </p:nvSpPr>
        <p:spPr>
          <a:xfrm>
            <a:off x="688351" y="3602000"/>
            <a:ext cx="6205500" cy="25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457200" lvl="0" marL="4699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This means dominant gradient directions align with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x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or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y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axis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457200" lvl="0" marL="469265" marR="1346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If	either </a:t>
            </a:r>
            <a:r>
              <a:rPr i="1"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λ </a:t>
            </a:r>
            <a:r>
              <a:rPr lang="en-US" sz="32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is close to 0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, then this is </a:t>
            </a: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not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 corner,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so look for</a:t>
            </a:r>
            <a:r>
              <a:rPr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locations where both are large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715" name="Google Shape;715;p30"/>
          <p:cNvGrpSpPr/>
          <p:nvPr/>
        </p:nvGrpSpPr>
        <p:grpSpPr>
          <a:xfrm>
            <a:off x="7607293" y="3684262"/>
            <a:ext cx="3057657" cy="1818908"/>
            <a:chOff x="7607293" y="3684262"/>
            <a:chExt cx="3057657" cy="1818908"/>
          </a:xfrm>
        </p:grpSpPr>
        <p:pic>
          <p:nvPicPr>
            <p:cNvPr id="716" name="Google Shape;716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07293" y="3684262"/>
              <a:ext cx="2666746" cy="18189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7" name="Google Shape;717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140951" y="4082033"/>
              <a:ext cx="1523999" cy="10439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30"/>
            <p:cNvSpPr/>
            <p:nvPr/>
          </p:nvSpPr>
          <p:spPr>
            <a:xfrm>
              <a:off x="9316492" y="4113656"/>
              <a:ext cx="1301115" cy="824230"/>
            </a:xfrm>
            <a:custGeom>
              <a:rect b="b" l="l" r="r" t="t"/>
              <a:pathLst>
                <a:path extrusionOk="0" h="824229" w="1301115">
                  <a:moveTo>
                    <a:pt x="1300886" y="0"/>
                  </a:moveTo>
                  <a:lnTo>
                    <a:pt x="0" y="824191"/>
                  </a:lnTo>
                </a:path>
              </a:pathLst>
            </a:cu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9" name="Google Shape;719;p30"/>
            <p:cNvSpPr/>
            <p:nvPr/>
          </p:nvSpPr>
          <p:spPr>
            <a:xfrm>
              <a:off x="9316497" y="4859512"/>
              <a:ext cx="88265" cy="78740"/>
            </a:xfrm>
            <a:custGeom>
              <a:rect b="b" l="l" r="r" t="t"/>
              <a:pathLst>
                <a:path extrusionOk="0" h="78739" w="88265">
                  <a:moveTo>
                    <a:pt x="40576" y="0"/>
                  </a:moveTo>
                  <a:lnTo>
                    <a:pt x="0" y="78333"/>
                  </a:lnTo>
                  <a:lnTo>
                    <a:pt x="88163" y="75095"/>
                  </a:lnTo>
                </a:path>
              </a:pathLst>
            </a:custGeom>
            <a:noFill/>
            <a:ln cap="flat" cmpd="sng" w="25375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20" name="Google Shape;720;p30"/>
          <p:cNvSpPr txBox="1"/>
          <p:nvPr/>
        </p:nvSpPr>
        <p:spPr>
          <a:xfrm>
            <a:off x="6807327" y="5562980"/>
            <a:ext cx="5181600" cy="831850"/>
          </a:xfrm>
          <a:prstGeom prst="rect">
            <a:avLst/>
          </a:prstGeom>
          <a:solidFill>
            <a:srgbClr val="DCE6F2"/>
          </a:solidFill>
          <a:ln cap="flat" cmpd="sng" w="25400">
            <a:solidFill>
              <a:srgbClr val="B66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latin typeface="Bell MT"/>
                <a:ea typeface="Bell MT"/>
                <a:cs typeface="Bell MT"/>
                <a:sym typeface="Bell MT"/>
              </a:rPr>
              <a:t>Window for corner detection,</a:t>
            </a:r>
            <a:endParaRPr sz="1600">
              <a:latin typeface="Bell MT"/>
              <a:ea typeface="Bell MT"/>
              <a:cs typeface="Bell MT"/>
              <a:sym typeface="Bell MT"/>
            </a:endParaRPr>
          </a:p>
          <a:p>
            <a:pPr indent="0" lvl="0" marL="330835" marR="324485" rtl="0" algn="ctr">
              <a:lnSpc>
                <a:spcPct val="116363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i="1" lang="en-US" sz="1600">
                <a:latin typeface="Bell MT"/>
                <a:ea typeface="Bell MT"/>
                <a:cs typeface="Bell MT"/>
                <a:sym typeface="Bell MT"/>
              </a:rPr>
              <a:t>There is no point in this window where both Ix and Iy exist together, so </a:t>
            </a:r>
            <a:r>
              <a:rPr lang="en-US" sz="16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Ix × Iy = 0</a:t>
            </a:r>
            <a:endParaRPr sz="165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21" name="Google Shape;721;p30"/>
          <p:cNvSpPr txBox="1"/>
          <p:nvPr/>
        </p:nvSpPr>
        <p:spPr>
          <a:xfrm>
            <a:off x="10441940" y="3836399"/>
            <a:ext cx="12985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Corner point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22" name="Google Shape;722;p3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3" name="Google Shape;723;p3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4" name="Google Shape;724;p3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725" name="Google Shape;72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5650" y="1714050"/>
            <a:ext cx="9401445" cy="167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1" name="Google Shape;731;p3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2" name="Google Shape;732;p3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Harris </a:t>
            </a:r>
            <a:r>
              <a:rPr lang="en-US"/>
              <a:t>Corner Detector</a:t>
            </a:r>
            <a:endParaRPr/>
          </a:p>
        </p:txBody>
      </p:sp>
      <p:sp>
        <p:nvSpPr>
          <p:cNvPr id="733" name="Google Shape;733;p31"/>
          <p:cNvSpPr txBox="1"/>
          <p:nvPr/>
        </p:nvSpPr>
        <p:spPr>
          <a:xfrm>
            <a:off x="662940" y="659732"/>
            <a:ext cx="6829425" cy="2611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825">
            <a:spAutoFit/>
          </a:bodyPr>
          <a:lstStyle/>
          <a:p>
            <a:pPr indent="-456565" lvl="0" marL="4946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What is the region look like if: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456564" lvl="1" marL="894714" rtl="0" algn="l">
              <a:lnSpc>
                <a:spcPct val="100000"/>
              </a:lnSpc>
              <a:spcBef>
                <a:spcPts val="2255"/>
              </a:spcBef>
              <a:spcAft>
                <a:spcPts val="0"/>
              </a:spcAft>
              <a:buSzPts val="3600"/>
              <a:buFont typeface="Bell MT"/>
              <a:buAutoNum type="arabicPeriod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Only </a:t>
            </a:r>
            <a:r>
              <a:rPr lang="en-US" sz="3600"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aseline="-25000" lang="en-US" sz="3600">
                <a:latin typeface="Noto Sans Symbols"/>
                <a:ea typeface="Noto Sans Symbols"/>
                <a:cs typeface="Noto Sans Symbols"/>
                <a:sym typeface="Noto Sans Symbols"/>
              </a:rPr>
              <a:t>1</a:t>
            </a:r>
            <a:r>
              <a:rPr baseline="-25000"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= 0? 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(Edge)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456564" lvl="1" marL="894714" rtl="0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SzPts val="3600"/>
              <a:buFont typeface="Bell MT"/>
              <a:buAutoNum type="arabicPeriod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Only </a:t>
            </a:r>
            <a:r>
              <a:rPr lang="en-US" sz="3600"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aseline="-25000" lang="en-US" sz="3600">
                <a:latin typeface="Noto Sans Symbols"/>
                <a:ea typeface="Noto Sans Symbols"/>
                <a:cs typeface="Noto Sans Symbols"/>
                <a:sym typeface="Noto Sans Symbols"/>
              </a:rPr>
              <a:t>2</a:t>
            </a:r>
            <a:r>
              <a:rPr baseline="-25000"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= 0? 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(Edge)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34" name="Google Shape;734;p31"/>
          <p:cNvSpPr txBox="1"/>
          <p:nvPr/>
        </p:nvSpPr>
        <p:spPr>
          <a:xfrm>
            <a:off x="1062989" y="3245611"/>
            <a:ext cx="1699260" cy="16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70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Noto Sans Symbols"/>
                <a:ea typeface="Noto Sans Symbols"/>
                <a:cs typeface="Noto Sans Symbols"/>
                <a:sym typeface="Noto Sans Symbols"/>
              </a:rPr>
              <a:t>3.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aseline="-25000" lang="en-US" sz="3600">
                <a:latin typeface="Noto Sans Symbols"/>
                <a:ea typeface="Noto Sans Symbols"/>
                <a:cs typeface="Noto Sans Symbols"/>
                <a:sym typeface="Noto Sans Symbols"/>
              </a:rPr>
              <a:t>1</a:t>
            </a:r>
            <a:r>
              <a:rPr baseline="-25000"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= 0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None/>
            </a:pPr>
            <a:r>
              <a:rPr lang="en-US" sz="3600">
                <a:latin typeface="Noto Sans Symbols"/>
                <a:ea typeface="Noto Sans Symbols"/>
                <a:cs typeface="Noto Sans Symbols"/>
                <a:sym typeface="Noto Sans Symbols"/>
              </a:rPr>
              <a:t>4.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aseline="-25000" lang="en-US" sz="3600">
                <a:latin typeface="Noto Sans Symbols"/>
                <a:ea typeface="Noto Sans Symbols"/>
                <a:cs typeface="Noto Sans Symbols"/>
                <a:sym typeface="Noto Sans Symbols"/>
              </a:rPr>
              <a:t>1</a:t>
            </a:r>
            <a:r>
              <a:rPr baseline="-25000"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&gt; 0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35" name="Google Shape;735;p31"/>
          <p:cNvSpPr txBox="1"/>
          <p:nvPr/>
        </p:nvSpPr>
        <p:spPr>
          <a:xfrm>
            <a:off x="2799740" y="3474211"/>
            <a:ext cx="54192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304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lang="en-US" sz="3600"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aseline="-25000" lang="en-US" sz="3600">
                <a:latin typeface="Noto Sans Symbols"/>
                <a:ea typeface="Noto Sans Symbols"/>
                <a:cs typeface="Noto Sans Symbols"/>
                <a:sym typeface="Noto Sans Symbols"/>
              </a:rPr>
              <a:t>2</a:t>
            </a:r>
            <a:r>
              <a:rPr baseline="-25000"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= 0? 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(Interior region)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lang="en-US" sz="3600"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baseline="-25000" lang="en-US" sz="3600">
                <a:latin typeface="Noto Sans Symbols"/>
                <a:ea typeface="Noto Sans Symbols"/>
                <a:cs typeface="Noto Sans Symbols"/>
                <a:sym typeface="Noto Sans Symbols"/>
              </a:rPr>
              <a:t>2</a:t>
            </a:r>
            <a:r>
              <a:rPr baseline="-25000"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&gt; 0? 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(Corner point)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36" name="Google Shape;736;p3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7" name="Google Shape;737;p3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8" name="Google Shape;738;p3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4" name="Google Shape;744;p3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5" name="Google Shape;745;p3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Harris </a:t>
            </a:r>
            <a:r>
              <a:rPr lang="en-US"/>
              <a:t>Corner Detector</a:t>
            </a:r>
            <a:endParaRPr/>
          </a:p>
        </p:txBody>
      </p:sp>
      <p:grpSp>
        <p:nvGrpSpPr>
          <p:cNvPr id="746" name="Google Shape;746;p32"/>
          <p:cNvGrpSpPr/>
          <p:nvPr/>
        </p:nvGrpSpPr>
        <p:grpSpPr>
          <a:xfrm>
            <a:off x="3425952" y="1193291"/>
            <a:ext cx="5993129" cy="4550664"/>
            <a:chOff x="3425952" y="1193291"/>
            <a:chExt cx="5993129" cy="4550664"/>
          </a:xfrm>
        </p:grpSpPr>
        <p:pic>
          <p:nvPicPr>
            <p:cNvPr id="747" name="Google Shape;747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25952" y="1193291"/>
              <a:ext cx="5993129" cy="45506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8" name="Google Shape;748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72053" y="1219580"/>
              <a:ext cx="5900928" cy="44584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9" name="Google Shape;749;p32"/>
            <p:cNvSpPr/>
            <p:nvPr/>
          </p:nvSpPr>
          <p:spPr>
            <a:xfrm>
              <a:off x="3472053" y="1219580"/>
              <a:ext cx="5901055" cy="4458970"/>
            </a:xfrm>
            <a:custGeom>
              <a:rect b="b" l="l" r="r" t="t"/>
              <a:pathLst>
                <a:path extrusionOk="0" h="4458970" w="5901055">
                  <a:moveTo>
                    <a:pt x="0" y="0"/>
                  </a:moveTo>
                  <a:lnTo>
                    <a:pt x="5900928" y="0"/>
                  </a:lnTo>
                  <a:lnTo>
                    <a:pt x="5900928" y="4458462"/>
                  </a:lnTo>
                  <a:lnTo>
                    <a:pt x="0" y="4458462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692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50" name="Google Shape;750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25290" y="4063746"/>
              <a:ext cx="5193791" cy="1673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1" name="Google Shape;751;p3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71391" y="4090034"/>
              <a:ext cx="5101589" cy="1581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2" name="Google Shape;752;p32"/>
            <p:cNvSpPr/>
            <p:nvPr/>
          </p:nvSpPr>
          <p:spPr>
            <a:xfrm>
              <a:off x="4271391" y="4090034"/>
              <a:ext cx="5101590" cy="1581150"/>
            </a:xfrm>
            <a:custGeom>
              <a:rect b="b" l="l" r="r" t="t"/>
              <a:pathLst>
                <a:path extrusionOk="0" h="1581150" w="5101590">
                  <a:moveTo>
                    <a:pt x="5101590" y="1581149"/>
                  </a:moveTo>
                  <a:lnTo>
                    <a:pt x="0" y="1581149"/>
                  </a:lnTo>
                  <a:lnTo>
                    <a:pt x="5101590" y="0"/>
                  </a:lnTo>
                  <a:lnTo>
                    <a:pt x="5101590" y="1581149"/>
                  </a:lnTo>
                  <a:close/>
                </a:path>
              </a:pathLst>
            </a:custGeom>
            <a:noFill/>
            <a:ln cap="flat" cmpd="sng" w="9525">
              <a:solidFill>
                <a:srgbClr val="98B9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53" name="Google Shape;753;p3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425952" y="1203197"/>
              <a:ext cx="2182367" cy="36507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4" name="Google Shape;754;p3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72053" y="1229486"/>
              <a:ext cx="2090166" cy="35585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5" name="Google Shape;755;p32"/>
            <p:cNvSpPr/>
            <p:nvPr/>
          </p:nvSpPr>
          <p:spPr>
            <a:xfrm>
              <a:off x="3472053" y="1229486"/>
              <a:ext cx="2090420" cy="3558540"/>
            </a:xfrm>
            <a:custGeom>
              <a:rect b="b" l="l" r="r" t="t"/>
              <a:pathLst>
                <a:path extrusionOk="0" h="3558540" w="2090420">
                  <a:moveTo>
                    <a:pt x="0" y="0"/>
                  </a:moveTo>
                  <a:lnTo>
                    <a:pt x="2090166" y="0"/>
                  </a:lnTo>
                  <a:lnTo>
                    <a:pt x="0" y="355854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98B9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56" name="Google Shape;756;p3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425952" y="3602736"/>
              <a:ext cx="2673857" cy="21412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7" name="Google Shape;757;p32"/>
            <p:cNvSpPr/>
            <p:nvPr/>
          </p:nvSpPr>
          <p:spPr>
            <a:xfrm>
              <a:off x="3472053" y="3629024"/>
              <a:ext cx="2581910" cy="2049145"/>
            </a:xfrm>
            <a:custGeom>
              <a:rect b="b" l="l" r="r" t="t"/>
              <a:pathLst>
                <a:path extrusionOk="0" h="2049145" w="2581910">
                  <a:moveTo>
                    <a:pt x="0" y="0"/>
                  </a:moveTo>
                  <a:lnTo>
                    <a:pt x="0" y="2049018"/>
                  </a:lnTo>
                  <a:lnTo>
                    <a:pt x="2581656" y="2049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74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8" name="Google Shape;758;p32"/>
            <p:cNvSpPr/>
            <p:nvPr/>
          </p:nvSpPr>
          <p:spPr>
            <a:xfrm>
              <a:off x="3472053" y="3629024"/>
              <a:ext cx="2581910" cy="2049145"/>
            </a:xfrm>
            <a:custGeom>
              <a:rect b="b" l="l" r="r" t="t"/>
              <a:pathLst>
                <a:path extrusionOk="0" h="2049145" w="2581910">
                  <a:moveTo>
                    <a:pt x="0" y="2049018"/>
                  </a:moveTo>
                  <a:lnTo>
                    <a:pt x="0" y="0"/>
                  </a:lnTo>
                  <a:lnTo>
                    <a:pt x="2581656" y="2049018"/>
                  </a:lnTo>
                  <a:lnTo>
                    <a:pt x="0" y="2049018"/>
                  </a:lnTo>
                  <a:close/>
                </a:path>
              </a:pathLst>
            </a:custGeom>
            <a:noFill/>
            <a:ln cap="flat" cmpd="sng" w="9525">
              <a:solidFill>
                <a:srgbClr val="98B9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59" name="Google Shape;759;p32"/>
          <p:cNvSpPr txBox="1"/>
          <p:nvPr/>
        </p:nvSpPr>
        <p:spPr>
          <a:xfrm>
            <a:off x="5653311" y="2815838"/>
            <a:ext cx="19704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381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Corner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𝝀</a:t>
            </a:r>
            <a:r>
              <a:rPr baseline="-25000" lang="en-US" sz="1950">
                <a:latin typeface="Cambria Math"/>
                <a:ea typeface="Cambria Math"/>
                <a:cs typeface="Cambria Math"/>
                <a:sym typeface="Cambria Math"/>
              </a:rPr>
              <a:t>𝟏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𝐚</a:t>
            </a: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nd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𝝀</a:t>
            </a:r>
            <a:r>
              <a:rPr baseline="-25000" lang="en-US" sz="1950">
                <a:latin typeface="Cambria Math"/>
                <a:ea typeface="Cambria Math"/>
                <a:cs typeface="Cambria Math"/>
                <a:sym typeface="Cambria Math"/>
              </a:rPr>
              <a:t>𝟐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are large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0" name="Google Shape;760;p32"/>
          <p:cNvSpPr txBox="1"/>
          <p:nvPr/>
        </p:nvSpPr>
        <p:spPr>
          <a:xfrm>
            <a:off x="3842414" y="1490245"/>
            <a:ext cx="8541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Edge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𝝀</a:t>
            </a:r>
            <a:r>
              <a:rPr baseline="-25000" lang="en-US" sz="1950">
                <a:latin typeface="Cambria Math"/>
                <a:ea typeface="Cambria Math"/>
                <a:cs typeface="Cambria Math"/>
                <a:sym typeface="Cambria Math"/>
              </a:rPr>
              <a:t>𝟐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≫ 𝝀</a:t>
            </a:r>
            <a:r>
              <a:rPr baseline="-25000" lang="en-US" sz="1950">
                <a:latin typeface="Cambria Math"/>
                <a:ea typeface="Cambria Math"/>
                <a:cs typeface="Cambria Math"/>
                <a:sym typeface="Cambria Math"/>
              </a:rPr>
              <a:t>𝟏</a:t>
            </a:r>
            <a:endParaRPr baseline="-25000" sz="19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761" name="Google Shape;761;p32"/>
          <p:cNvSpPr txBox="1"/>
          <p:nvPr/>
        </p:nvSpPr>
        <p:spPr>
          <a:xfrm>
            <a:off x="7764124" y="4735285"/>
            <a:ext cx="8541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Edge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𝝀</a:t>
            </a:r>
            <a:r>
              <a:rPr baseline="-25000" lang="en-US" sz="1950">
                <a:latin typeface="Cambria Math"/>
                <a:ea typeface="Cambria Math"/>
                <a:cs typeface="Cambria Math"/>
                <a:sym typeface="Cambria Math"/>
              </a:rPr>
              <a:t>𝟏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≫ 𝝀</a:t>
            </a:r>
            <a:r>
              <a:rPr baseline="-25000" lang="en-US" sz="1950"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endParaRPr baseline="-25000" sz="19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762" name="Google Shape;762;p32"/>
          <p:cNvSpPr txBox="1"/>
          <p:nvPr/>
        </p:nvSpPr>
        <p:spPr>
          <a:xfrm>
            <a:off x="3792761" y="4564353"/>
            <a:ext cx="838200" cy="8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Interior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74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𝝀</a:t>
            </a:r>
            <a:r>
              <a:rPr baseline="-25000" lang="en-US" sz="195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𝟏 </a:t>
            </a:r>
            <a:r>
              <a:rPr lang="en-US" sz="18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≈ 𝟎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774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𝝀</a:t>
            </a:r>
            <a:r>
              <a:rPr baseline="-25000" lang="en-US" sz="195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𝟐 </a:t>
            </a:r>
            <a:r>
              <a:rPr lang="en-US" sz="18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≈ 𝟎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763" name="Google Shape;763;p32"/>
          <p:cNvGrpSpPr/>
          <p:nvPr/>
        </p:nvGrpSpPr>
        <p:grpSpPr>
          <a:xfrm>
            <a:off x="5750052" y="5922264"/>
            <a:ext cx="1835657" cy="235457"/>
            <a:chOff x="5750052" y="5922264"/>
            <a:chExt cx="1835657" cy="235457"/>
          </a:xfrm>
        </p:grpSpPr>
        <p:pic>
          <p:nvPicPr>
            <p:cNvPr id="764" name="Google Shape;764;p3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750052" y="5922264"/>
              <a:ext cx="1835657" cy="2354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5" name="Google Shape;765;p32"/>
            <p:cNvSpPr/>
            <p:nvPr/>
          </p:nvSpPr>
          <p:spPr>
            <a:xfrm>
              <a:off x="5791581" y="6020181"/>
              <a:ext cx="1612900" cy="0"/>
            </a:xfrm>
            <a:custGeom>
              <a:rect b="b" l="l" r="r" t="t"/>
              <a:pathLst>
                <a:path extrusionOk="0" h="120000" w="1612900">
                  <a:moveTo>
                    <a:pt x="0" y="0"/>
                  </a:moveTo>
                  <a:lnTo>
                    <a:pt x="1612900" y="0"/>
                  </a:lnTo>
                </a:path>
              </a:pathLst>
            </a:custGeom>
            <a:noFill/>
            <a:ln cap="flat" cmpd="sng" w="25400">
              <a:solidFill>
                <a:srgbClr val="4BAC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6" name="Google Shape;766;p32"/>
            <p:cNvSpPr/>
            <p:nvPr/>
          </p:nvSpPr>
          <p:spPr>
            <a:xfrm>
              <a:off x="7391783" y="5982078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AC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67" name="Google Shape;767;p32"/>
          <p:cNvSpPr txBox="1"/>
          <p:nvPr/>
        </p:nvSpPr>
        <p:spPr>
          <a:xfrm>
            <a:off x="7528383" y="5867849"/>
            <a:ext cx="304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𝝀</a:t>
            </a:r>
            <a:r>
              <a:rPr baseline="-25000" lang="en-US" sz="1950">
                <a:latin typeface="Cambria Math"/>
                <a:ea typeface="Cambria Math"/>
                <a:cs typeface="Cambria Math"/>
                <a:sym typeface="Cambria Math"/>
              </a:rPr>
              <a:t>𝟏</a:t>
            </a:r>
            <a:endParaRPr baseline="-25000" sz="19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768" name="Google Shape;768;p32"/>
          <p:cNvSpPr txBox="1"/>
          <p:nvPr/>
        </p:nvSpPr>
        <p:spPr>
          <a:xfrm>
            <a:off x="2977133" y="2991103"/>
            <a:ext cx="304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𝝀</a:t>
            </a:r>
            <a:r>
              <a:rPr baseline="-25000" lang="en-US" sz="1950">
                <a:latin typeface="Cambria Math"/>
                <a:ea typeface="Cambria Math"/>
                <a:cs typeface="Cambria Math"/>
                <a:sym typeface="Cambria Math"/>
              </a:rPr>
              <a:t>𝟐</a:t>
            </a:r>
            <a:endParaRPr baseline="-25000" sz="19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769" name="Google Shape;769;p32"/>
          <p:cNvGrpSpPr/>
          <p:nvPr/>
        </p:nvGrpSpPr>
        <p:grpSpPr>
          <a:xfrm>
            <a:off x="2987801" y="3243833"/>
            <a:ext cx="235457" cy="1836419"/>
            <a:chOff x="2987801" y="3243833"/>
            <a:chExt cx="235457" cy="1836419"/>
          </a:xfrm>
        </p:grpSpPr>
        <p:pic>
          <p:nvPicPr>
            <p:cNvPr id="770" name="Google Shape;770;p3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87801" y="3243833"/>
              <a:ext cx="235457" cy="18364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1" name="Google Shape;771;p32"/>
            <p:cNvSpPr/>
            <p:nvPr/>
          </p:nvSpPr>
          <p:spPr>
            <a:xfrm>
              <a:off x="3105530" y="3405257"/>
              <a:ext cx="0" cy="1614170"/>
            </a:xfrm>
            <a:custGeom>
              <a:rect b="b" l="l" r="r" t="t"/>
              <a:pathLst>
                <a:path extrusionOk="0" h="1614170" w="120000">
                  <a:moveTo>
                    <a:pt x="0" y="1614093"/>
                  </a:moveTo>
                  <a:lnTo>
                    <a:pt x="0" y="0"/>
                  </a:lnTo>
                </a:path>
              </a:pathLst>
            </a:custGeom>
            <a:noFill/>
            <a:ln cap="flat" cmpd="sng" w="25400">
              <a:solidFill>
                <a:srgbClr val="4BAC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3067434" y="3341749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BACC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73" name="Google Shape;773;p3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4" name="Google Shape;774;p3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5" name="Google Shape;775;p3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1" name="Google Shape;781;p33"/>
          <p:cNvSpPr/>
          <p:nvPr/>
        </p:nvSpPr>
        <p:spPr>
          <a:xfrm>
            <a:off x="9180956" y="3622928"/>
            <a:ext cx="1640205" cy="1162050"/>
          </a:xfrm>
          <a:custGeom>
            <a:rect b="b" l="l" r="r" t="t"/>
            <a:pathLst>
              <a:path extrusionOk="0" h="1162050" w="1640204">
                <a:moveTo>
                  <a:pt x="0" y="0"/>
                </a:moveTo>
                <a:lnTo>
                  <a:pt x="1639824" y="0"/>
                </a:lnTo>
                <a:lnTo>
                  <a:pt x="1639824" y="1162050"/>
                </a:lnTo>
                <a:lnTo>
                  <a:pt x="0" y="116205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2" name="Google Shape;782;p33"/>
          <p:cNvSpPr txBox="1"/>
          <p:nvPr/>
        </p:nvSpPr>
        <p:spPr>
          <a:xfrm>
            <a:off x="612140" y="4950205"/>
            <a:ext cx="99816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3535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So every case is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like a rotated version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of</a:t>
            </a:r>
            <a:r>
              <a:rPr lang="en-US" sz="32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the one discussed earlier.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83" name="Google Shape;783;p33"/>
          <p:cNvSpPr txBox="1"/>
          <p:nvPr/>
        </p:nvSpPr>
        <p:spPr>
          <a:xfrm>
            <a:off x="305150" y="727700"/>
            <a:ext cx="11582400" cy="18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52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17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Now, consider a </a:t>
            </a:r>
            <a:r>
              <a:rPr b="1"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General Case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508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In a general case, it can be shown that since C is symmetric, it can be written as follows (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 is a rotation matrix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):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784" name="Google Shape;784;p33"/>
          <p:cNvGrpSpPr/>
          <p:nvPr/>
        </p:nvGrpSpPr>
        <p:grpSpPr>
          <a:xfrm>
            <a:off x="9182100" y="2091690"/>
            <a:ext cx="1751075" cy="1376933"/>
            <a:chOff x="9182100" y="2091690"/>
            <a:chExt cx="1751075" cy="1376933"/>
          </a:xfrm>
        </p:grpSpPr>
        <p:pic>
          <p:nvPicPr>
            <p:cNvPr id="785" name="Google Shape;785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182100" y="2091690"/>
              <a:ext cx="1751075" cy="1376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6" name="Google Shape;786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80497" y="2939796"/>
              <a:ext cx="683513" cy="4541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33"/>
            <p:cNvSpPr/>
            <p:nvPr/>
          </p:nvSpPr>
          <p:spPr>
            <a:xfrm>
              <a:off x="10257191" y="3085745"/>
              <a:ext cx="460375" cy="235585"/>
            </a:xfrm>
            <a:custGeom>
              <a:rect b="b" l="l" r="r" t="t"/>
              <a:pathLst>
                <a:path extrusionOk="0" h="235585" w="460375">
                  <a:moveTo>
                    <a:pt x="460209" y="235407"/>
                  </a:moveTo>
                  <a:lnTo>
                    <a:pt x="0" y="0"/>
                  </a:lnTo>
                </a:path>
              </a:pathLst>
            </a:cu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8" name="Google Shape;788;p33"/>
            <p:cNvSpPr/>
            <p:nvPr/>
          </p:nvSpPr>
          <p:spPr>
            <a:xfrm>
              <a:off x="10257196" y="3080872"/>
              <a:ext cx="88265" cy="79375"/>
            </a:xfrm>
            <a:custGeom>
              <a:rect b="b" l="l" r="r" t="t"/>
              <a:pathLst>
                <a:path extrusionOk="0" h="79375" w="88265">
                  <a:moveTo>
                    <a:pt x="47586" y="79146"/>
                  </a:moveTo>
                  <a:lnTo>
                    <a:pt x="0" y="4864"/>
                  </a:lnTo>
                  <a:lnTo>
                    <a:pt x="88074" y="0"/>
                  </a:lnTo>
                </a:path>
              </a:pathLst>
            </a:cu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89" name="Google Shape;789;p33"/>
          <p:cNvSpPr txBox="1"/>
          <p:nvPr/>
        </p:nvSpPr>
        <p:spPr>
          <a:xfrm>
            <a:off x="10772140" y="3177893"/>
            <a:ext cx="12985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Bell MT"/>
                <a:ea typeface="Bell MT"/>
                <a:cs typeface="Bell MT"/>
                <a:sym typeface="Bell MT"/>
              </a:rPr>
              <a:t>Corner point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790" name="Google Shape;790;p33"/>
          <p:cNvGrpSpPr/>
          <p:nvPr/>
        </p:nvGrpSpPr>
        <p:grpSpPr>
          <a:xfrm>
            <a:off x="9180956" y="3442716"/>
            <a:ext cx="1738501" cy="1282572"/>
            <a:chOff x="9180956" y="3442716"/>
            <a:chExt cx="1738501" cy="1282572"/>
          </a:xfrm>
        </p:grpSpPr>
        <p:sp>
          <p:nvSpPr>
            <p:cNvPr id="791" name="Google Shape;791;p33"/>
            <p:cNvSpPr/>
            <p:nvPr/>
          </p:nvSpPr>
          <p:spPr>
            <a:xfrm>
              <a:off x="9180956" y="3611498"/>
              <a:ext cx="889635" cy="1113790"/>
            </a:xfrm>
            <a:custGeom>
              <a:rect b="b" l="l" r="r" t="t"/>
              <a:pathLst>
                <a:path extrusionOk="0" h="1113789" w="889634">
                  <a:moveTo>
                    <a:pt x="0" y="0"/>
                  </a:moveTo>
                  <a:lnTo>
                    <a:pt x="0" y="1113282"/>
                  </a:lnTo>
                  <a:lnTo>
                    <a:pt x="889254" y="5874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2" name="Google Shape;792;p33"/>
            <p:cNvSpPr/>
            <p:nvPr/>
          </p:nvSpPr>
          <p:spPr>
            <a:xfrm>
              <a:off x="9180956" y="3611498"/>
              <a:ext cx="889635" cy="1113790"/>
            </a:xfrm>
            <a:custGeom>
              <a:rect b="b" l="l" r="r" t="t"/>
              <a:pathLst>
                <a:path extrusionOk="0" h="1113789" w="889634">
                  <a:moveTo>
                    <a:pt x="0" y="0"/>
                  </a:moveTo>
                  <a:lnTo>
                    <a:pt x="889254" y="587463"/>
                  </a:lnTo>
                  <a:lnTo>
                    <a:pt x="0" y="1113282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93" name="Google Shape;793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980675" y="3442716"/>
              <a:ext cx="938782" cy="8473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4" name="Google Shape;794;p33"/>
            <p:cNvSpPr/>
            <p:nvPr/>
          </p:nvSpPr>
          <p:spPr>
            <a:xfrm>
              <a:off x="10153912" y="3473576"/>
              <a:ext cx="716280" cy="625475"/>
            </a:xfrm>
            <a:custGeom>
              <a:rect b="b" l="l" r="r" t="t"/>
              <a:pathLst>
                <a:path extrusionOk="0" h="625475" w="716279">
                  <a:moveTo>
                    <a:pt x="715835" y="0"/>
                  </a:moveTo>
                  <a:lnTo>
                    <a:pt x="0" y="625373"/>
                  </a:lnTo>
                </a:path>
              </a:pathLst>
            </a:cu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5" name="Google Shape;795;p33"/>
            <p:cNvSpPr/>
            <p:nvPr/>
          </p:nvSpPr>
          <p:spPr>
            <a:xfrm>
              <a:off x="10153911" y="4015338"/>
              <a:ext cx="86995" cy="83820"/>
            </a:xfrm>
            <a:custGeom>
              <a:rect b="b" l="l" r="r" t="t"/>
              <a:pathLst>
                <a:path extrusionOk="0" h="83820" w="86995">
                  <a:moveTo>
                    <a:pt x="28143" y="0"/>
                  </a:moveTo>
                  <a:lnTo>
                    <a:pt x="0" y="83604"/>
                  </a:lnTo>
                  <a:lnTo>
                    <a:pt x="86639" y="66941"/>
                  </a:lnTo>
                </a:path>
              </a:pathLst>
            </a:custGeom>
            <a:noFill/>
            <a:ln cap="flat" cmpd="sng" w="254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96" name="Google Shape;796;p3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7" name="Google Shape;797;p33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98" name="Google Shape;798;p33"/>
          <p:cNvSpPr txBox="1"/>
          <p:nvPr/>
        </p:nvSpPr>
        <p:spPr>
          <a:xfrm>
            <a:off x="50" y="81000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3177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The Harris Corner Detector</a:t>
            </a:r>
            <a:endParaRPr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799" name="Google Shape;799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9450" y="2776626"/>
            <a:ext cx="5319100" cy="171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5" name="Google Shape;805;p34"/>
          <p:cNvSpPr txBox="1"/>
          <p:nvPr/>
        </p:nvSpPr>
        <p:spPr>
          <a:xfrm>
            <a:off x="305175" y="149950"/>
            <a:ext cx="11582400" cy="3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Bell MT"/>
                <a:ea typeface="Bell MT"/>
                <a:cs typeface="Bell MT"/>
                <a:sym typeface="Bell MT"/>
              </a:rPr>
              <a:t>Corner Detection - Steps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239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Filter image with Gaussian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to reduce noise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Compute magnitude of the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x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y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gradients at each pixel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9248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I</a:t>
            </a:r>
            <a:r>
              <a:rPr baseline="-25000" i="1" lang="en-US" sz="2775">
                <a:latin typeface="Bell MT"/>
                <a:ea typeface="Bell MT"/>
                <a:cs typeface="Bell MT"/>
                <a:sym typeface="Bell MT"/>
              </a:rPr>
              <a:t>x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I</a:t>
            </a:r>
            <a:r>
              <a:rPr baseline="-25000" i="1" lang="en-US" sz="2775">
                <a:latin typeface="Bell MT"/>
                <a:ea typeface="Bell MT"/>
                <a:cs typeface="Bell MT"/>
                <a:sym typeface="Bell MT"/>
              </a:rPr>
              <a:t>y</a:t>
            </a:r>
            <a:endParaRPr baseline="-25000" sz="2775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Construct matrix C in a window around each pixel (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y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9248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Harris uses a Gaussian window – just blur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06" name="Google Shape;806;p3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7" name="Google Shape;807;p34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808" name="Google Shape;80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7049" y="4062250"/>
            <a:ext cx="7897900" cy="18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4" name="Google Shape;814;p3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5" name="Google Shape;815;p3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Corner Detection - Steps</a:t>
            </a:r>
            <a:endParaRPr/>
          </a:p>
        </p:txBody>
      </p:sp>
      <p:sp>
        <p:nvSpPr>
          <p:cNvPr id="816" name="Google Shape;816;p35"/>
          <p:cNvSpPr txBox="1"/>
          <p:nvPr/>
        </p:nvSpPr>
        <p:spPr>
          <a:xfrm>
            <a:off x="305177" y="1100650"/>
            <a:ext cx="11523300" cy="28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Computation of	</a:t>
            </a:r>
            <a:r>
              <a:rPr lang="en-US" sz="3000">
                <a:solidFill>
                  <a:srgbClr val="00B05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’s :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Solve for product of	</a:t>
            </a:r>
            <a:r>
              <a:rPr lang="en-US" sz="2600"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’s (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determinant of	C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)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015" marR="5080" rtl="0" algn="l">
              <a:lnSpc>
                <a:spcPct val="108076"/>
              </a:lnSpc>
              <a:spcBef>
                <a:spcPts val="66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If </a:t>
            </a:r>
            <a:r>
              <a:rPr lang="en-US" sz="2600" u="sng"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’s are both big 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600" u="none">
                <a:latin typeface="Bell MT"/>
                <a:ea typeface="Bell MT"/>
                <a:cs typeface="Bell MT"/>
                <a:sym typeface="Bell MT"/>
              </a:rPr>
              <a:t>i.e. 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product reaches local maximum &amp; is above threshold), we have a corner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00B050"/>
              </a:buClr>
              <a:buSzPts val="2600"/>
              <a:buFont typeface="Arial"/>
              <a:buChar char="–"/>
            </a:pPr>
            <a:r>
              <a:rPr lang="en-US" sz="26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Harris also checks that ratio of	</a:t>
            </a:r>
            <a:r>
              <a:rPr lang="en-US" sz="2600" u="sng">
                <a:solidFill>
                  <a:srgbClr val="00B05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λ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’</a:t>
            </a:r>
            <a:r>
              <a:rPr lang="en-US" sz="26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 is not too high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Harris Response Calculator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17" name="Google Shape;817;p35"/>
          <p:cNvSpPr txBox="1"/>
          <p:nvPr/>
        </p:nvSpPr>
        <p:spPr>
          <a:xfrm>
            <a:off x="345465" y="4878888"/>
            <a:ext cx="10833000" cy="14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b="1" lang="en-US" sz="3000">
                <a:latin typeface="Bell MT"/>
                <a:ea typeface="Bell MT"/>
                <a:cs typeface="Bell MT"/>
                <a:sym typeface="Bell MT"/>
              </a:rPr>
              <a:t>Non-maximum Suppression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55650" marR="5080" rtl="0" algn="l">
              <a:lnSpc>
                <a:spcPct val="108076"/>
              </a:lnSpc>
              <a:spcBef>
                <a:spcPts val="69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In order to pick up the optimal values to indicate corners, we find the </a:t>
            </a:r>
            <a:r>
              <a:rPr b="1" lang="en-US" sz="2600" u="sng">
                <a:latin typeface="Bell MT"/>
                <a:ea typeface="Bell MT"/>
                <a:cs typeface="Bell MT"/>
                <a:sym typeface="Bell MT"/>
              </a:rPr>
              <a:t>local</a:t>
            </a:r>
            <a:r>
              <a:rPr b="1" lang="en-US" sz="26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b="1" lang="en-US" sz="2600" u="sng">
                <a:latin typeface="Bell MT"/>
                <a:ea typeface="Bell MT"/>
                <a:cs typeface="Bell MT"/>
                <a:sym typeface="Bell MT"/>
              </a:rPr>
              <a:t>maxima</a:t>
            </a:r>
            <a:r>
              <a:rPr b="1" lang="en-US" sz="26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as corners </a:t>
            </a:r>
            <a:r>
              <a:rPr i="1" lang="en-US" sz="2600" u="none">
                <a:latin typeface="Bell MT"/>
                <a:ea typeface="Bell MT"/>
                <a:cs typeface="Bell MT"/>
                <a:sym typeface="Bell MT"/>
              </a:rPr>
              <a:t>within the window 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which is a </a:t>
            </a:r>
            <a:r>
              <a:rPr b="1" lang="en-US" sz="26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3 by 3 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filter.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18" name="Google Shape;818;p35"/>
          <p:cNvSpPr txBox="1"/>
          <p:nvPr/>
        </p:nvSpPr>
        <p:spPr>
          <a:xfrm>
            <a:off x="4726821" y="3883396"/>
            <a:ext cx="38481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12700" marR="508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where </a:t>
            </a:r>
            <a:r>
              <a:rPr lang="en-US" sz="21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is an empirically determined constant; </a:t>
            </a:r>
            <a:r>
              <a:rPr lang="en-US" sz="21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lies in [0.04, 0.06]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19" name="Google Shape;819;p3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0" name="Google Shape;820;p3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1" name="Google Shape;821;p3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822" name="Google Shape;82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125" y="3958450"/>
            <a:ext cx="2939436" cy="7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8" name="Google Shape;828;p3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9" name="Google Shape;829;p3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Harris Corner </a:t>
            </a:r>
            <a:r>
              <a:rPr lang="en-US">
                <a:solidFill>
                  <a:srgbClr val="00B0F0"/>
                </a:solidFill>
              </a:rPr>
              <a:t>Response Map</a:t>
            </a:r>
            <a:endParaRPr/>
          </a:p>
        </p:txBody>
      </p:sp>
      <p:pic>
        <p:nvPicPr>
          <p:cNvPr id="830" name="Google Shape;83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975" y="1243965"/>
            <a:ext cx="4752974" cy="4752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1" name="Google Shape;831;p36"/>
          <p:cNvGrpSpPr/>
          <p:nvPr/>
        </p:nvGrpSpPr>
        <p:grpSpPr>
          <a:xfrm>
            <a:off x="6364223" y="1421891"/>
            <a:ext cx="4880609" cy="4347210"/>
            <a:chOff x="6364223" y="1421891"/>
            <a:chExt cx="4880609" cy="4347210"/>
          </a:xfrm>
        </p:grpSpPr>
        <p:pic>
          <p:nvPicPr>
            <p:cNvPr id="832" name="Google Shape;832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64223" y="1421891"/>
              <a:ext cx="4880609" cy="43472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3" name="Google Shape;833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410324" y="1448180"/>
              <a:ext cx="4788408" cy="42550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4" name="Google Shape;834;p36"/>
            <p:cNvSpPr/>
            <p:nvPr/>
          </p:nvSpPr>
          <p:spPr>
            <a:xfrm>
              <a:off x="6410324" y="1448180"/>
              <a:ext cx="4788535" cy="4255135"/>
            </a:xfrm>
            <a:custGeom>
              <a:rect b="b" l="l" r="r" t="t"/>
              <a:pathLst>
                <a:path extrusionOk="0" h="4255135" w="4788534">
                  <a:moveTo>
                    <a:pt x="0" y="0"/>
                  </a:moveTo>
                  <a:lnTo>
                    <a:pt x="4788408" y="0"/>
                  </a:lnTo>
                  <a:lnTo>
                    <a:pt x="4788408" y="4255008"/>
                  </a:lnTo>
                  <a:lnTo>
                    <a:pt x="0" y="425500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692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35" name="Google Shape;835;p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12685" y="4161281"/>
              <a:ext cx="4232147" cy="16017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6" name="Google Shape;836;p3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58787" y="4187570"/>
              <a:ext cx="4139946" cy="15095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7" name="Google Shape;837;p36"/>
            <p:cNvSpPr/>
            <p:nvPr/>
          </p:nvSpPr>
          <p:spPr>
            <a:xfrm>
              <a:off x="7058786" y="4187571"/>
              <a:ext cx="4140200" cy="1510030"/>
            </a:xfrm>
            <a:custGeom>
              <a:rect b="b" l="l" r="r" t="t"/>
              <a:pathLst>
                <a:path extrusionOk="0" h="1510029" w="4140200">
                  <a:moveTo>
                    <a:pt x="4139946" y="1509521"/>
                  </a:moveTo>
                  <a:lnTo>
                    <a:pt x="0" y="1509521"/>
                  </a:lnTo>
                  <a:lnTo>
                    <a:pt x="4139946" y="0"/>
                  </a:lnTo>
                  <a:lnTo>
                    <a:pt x="4139946" y="1509521"/>
                  </a:lnTo>
                  <a:close/>
                </a:path>
              </a:pathLst>
            </a:custGeom>
            <a:noFill/>
            <a:ln cap="flat" cmpd="sng" w="9525">
              <a:solidFill>
                <a:srgbClr val="98B9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38" name="Google Shape;838;p3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364224" y="1431797"/>
              <a:ext cx="1787651" cy="34884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9" name="Google Shape;839;p3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410324" y="1458086"/>
              <a:ext cx="1695450" cy="33962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0" name="Google Shape;840;p36"/>
            <p:cNvSpPr/>
            <p:nvPr/>
          </p:nvSpPr>
          <p:spPr>
            <a:xfrm>
              <a:off x="6410324" y="1458086"/>
              <a:ext cx="1695450" cy="3396615"/>
            </a:xfrm>
            <a:custGeom>
              <a:rect b="b" l="l" r="r" t="t"/>
              <a:pathLst>
                <a:path extrusionOk="0" h="3396615" w="1695450">
                  <a:moveTo>
                    <a:pt x="0" y="0"/>
                  </a:moveTo>
                  <a:lnTo>
                    <a:pt x="1695450" y="0"/>
                  </a:lnTo>
                  <a:lnTo>
                    <a:pt x="0" y="339623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98B9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41" name="Google Shape;841;p3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364224" y="3721608"/>
              <a:ext cx="2186939" cy="20474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2" name="Google Shape;842;p36"/>
            <p:cNvSpPr/>
            <p:nvPr/>
          </p:nvSpPr>
          <p:spPr>
            <a:xfrm>
              <a:off x="6410324" y="3747896"/>
              <a:ext cx="2094864" cy="1955800"/>
            </a:xfrm>
            <a:custGeom>
              <a:rect b="b" l="l" r="r" t="t"/>
              <a:pathLst>
                <a:path extrusionOk="0" h="1955800" w="2094865">
                  <a:moveTo>
                    <a:pt x="0" y="0"/>
                  </a:moveTo>
                  <a:lnTo>
                    <a:pt x="0" y="1955291"/>
                  </a:lnTo>
                  <a:lnTo>
                    <a:pt x="2094738" y="1955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74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3" name="Google Shape;843;p36"/>
            <p:cNvSpPr/>
            <p:nvPr/>
          </p:nvSpPr>
          <p:spPr>
            <a:xfrm>
              <a:off x="6410324" y="3747896"/>
              <a:ext cx="2094864" cy="1955800"/>
            </a:xfrm>
            <a:custGeom>
              <a:rect b="b" l="l" r="r" t="t"/>
              <a:pathLst>
                <a:path extrusionOk="0" h="1955800" w="2094865">
                  <a:moveTo>
                    <a:pt x="0" y="1955291"/>
                  </a:moveTo>
                  <a:lnTo>
                    <a:pt x="0" y="0"/>
                  </a:lnTo>
                  <a:lnTo>
                    <a:pt x="2094738" y="1955291"/>
                  </a:lnTo>
                  <a:lnTo>
                    <a:pt x="0" y="1955291"/>
                  </a:lnTo>
                  <a:close/>
                </a:path>
              </a:pathLst>
            </a:custGeom>
            <a:noFill/>
            <a:ln cap="flat" cmpd="sng" w="9525">
              <a:solidFill>
                <a:srgbClr val="98B95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44" name="Google Shape;844;p36"/>
          <p:cNvSpPr txBox="1"/>
          <p:nvPr/>
        </p:nvSpPr>
        <p:spPr>
          <a:xfrm>
            <a:off x="6693792" y="1707650"/>
            <a:ext cx="30411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“Edge”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41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𝑹 &lt; 𝟎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137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2075179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“Corner”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07581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𝑹 &gt; 𝟎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845" name="Google Shape;845;p36"/>
          <p:cNvSpPr txBox="1"/>
          <p:nvPr/>
        </p:nvSpPr>
        <p:spPr>
          <a:xfrm>
            <a:off x="6660831" y="4809838"/>
            <a:ext cx="895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“Flat”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|𝑹| </a:t>
            </a:r>
            <a:r>
              <a:rPr b="1"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6" name="Google Shape;846;p36"/>
          <p:cNvSpPr txBox="1"/>
          <p:nvPr/>
        </p:nvSpPr>
        <p:spPr>
          <a:xfrm>
            <a:off x="9993050" y="4750651"/>
            <a:ext cx="737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“Edge”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54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𝑹 &lt; 𝟎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847" name="Google Shape;847;p36"/>
          <p:cNvSpPr txBox="1"/>
          <p:nvPr/>
        </p:nvSpPr>
        <p:spPr>
          <a:xfrm>
            <a:off x="123344" y="6183270"/>
            <a:ext cx="3862070" cy="201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Image source: </a:t>
            </a:r>
            <a:r>
              <a:rPr i="1" lang="en-US" sz="1100" u="sng">
                <a:solidFill>
                  <a:srgbClr val="0000FF"/>
                </a:solidFill>
                <a:latin typeface="Bell MT"/>
                <a:ea typeface="Bell MT"/>
                <a:cs typeface="Bell MT"/>
                <a:sym typeface="Bell MT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http://www.cse.psu.edu/~rtc12/CSE486/lecture06.pdf</a:t>
            </a:r>
            <a:endParaRPr sz="11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48" name="Google Shape;848;p3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9" name="Google Shape;849;p3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0" name="Google Shape;850;p3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7"/>
          <p:cNvSpPr txBox="1"/>
          <p:nvPr>
            <p:ph idx="4294967295" type="title"/>
          </p:nvPr>
        </p:nvSpPr>
        <p:spPr>
          <a:xfrm>
            <a:off x="750" y="153150"/>
            <a:ext cx="12192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5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Bell MT"/>
                <a:ea typeface="Bell MT"/>
                <a:cs typeface="Bell MT"/>
                <a:sym typeface="Bell MT"/>
              </a:rPr>
              <a:t>Harris Detector: Workflow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56" name="Google Shape;8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945" y="1143000"/>
            <a:ext cx="10871441" cy="5272277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3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8" name="Google Shape;858;p37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8"/>
          <p:cNvSpPr txBox="1"/>
          <p:nvPr>
            <p:ph idx="4294967295" type="ctrTitle"/>
          </p:nvPr>
        </p:nvSpPr>
        <p:spPr>
          <a:xfrm>
            <a:off x="25" y="149175"/>
            <a:ext cx="121920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Bell MT"/>
                <a:ea typeface="Bell MT"/>
                <a:cs typeface="Bell MT"/>
                <a:sym typeface="Bell MT"/>
              </a:rPr>
              <a:t>Harris Detector: Workflow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864" name="Google Shape;864;p38"/>
          <p:cNvGrpSpPr/>
          <p:nvPr/>
        </p:nvGrpSpPr>
        <p:grpSpPr>
          <a:xfrm>
            <a:off x="710946" y="1143000"/>
            <a:ext cx="10871452" cy="5269229"/>
            <a:chOff x="710946" y="1143000"/>
            <a:chExt cx="10871452" cy="5269229"/>
          </a:xfrm>
        </p:grpSpPr>
        <p:pic>
          <p:nvPicPr>
            <p:cNvPr id="865" name="Google Shape;86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0946" y="1143000"/>
              <a:ext cx="10871452" cy="5269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6" name="Google Shape;86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03664" y="1319784"/>
              <a:ext cx="1594865" cy="676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7" name="Google Shape;867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503664" y="1685544"/>
              <a:ext cx="1256537" cy="676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8" name="Google Shape;868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503664" y="2051303"/>
              <a:ext cx="1748789" cy="6766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9" name="Google Shape;869;p38"/>
          <p:cNvSpPr txBox="1"/>
          <p:nvPr/>
        </p:nvSpPr>
        <p:spPr>
          <a:xfrm>
            <a:off x="9679940" y="1393952"/>
            <a:ext cx="1372235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corner response 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0" name="Google Shape;870;p3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1" name="Google Shape;871;p38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7" name="Google Shape;877;p3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8" name="Google Shape;878;p39"/>
          <p:cNvSpPr txBox="1"/>
          <p:nvPr>
            <p:ph idx="4294967295" type="title"/>
          </p:nvPr>
        </p:nvSpPr>
        <p:spPr>
          <a:xfrm>
            <a:off x="0" y="153150"/>
            <a:ext cx="12192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5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Bell MT"/>
                <a:ea typeface="Bell MT"/>
                <a:cs typeface="Bell MT"/>
                <a:sym typeface="Bell MT"/>
              </a:rPr>
              <a:t>Harris Detector: Workflow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79" name="Google Shape;8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946" y="1143000"/>
            <a:ext cx="10871452" cy="5269229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39"/>
          <p:cNvSpPr txBox="1"/>
          <p:nvPr/>
        </p:nvSpPr>
        <p:spPr>
          <a:xfrm>
            <a:off x="9679940" y="1393952"/>
            <a:ext cx="153543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points with large corner response: R&gt;threshold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1" name="Google Shape;881;p3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2" name="Google Shape;882;p3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3" name="Google Shape;883;p3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9" name="Google Shape;889;p4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0" name="Google Shape;890;p40"/>
          <p:cNvSpPr txBox="1"/>
          <p:nvPr>
            <p:ph idx="4294967295" type="title"/>
          </p:nvPr>
        </p:nvSpPr>
        <p:spPr>
          <a:xfrm>
            <a:off x="0" y="153150"/>
            <a:ext cx="12192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5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Bell MT"/>
                <a:ea typeface="Bell MT"/>
                <a:cs typeface="Bell MT"/>
                <a:sym typeface="Bell MT"/>
              </a:rPr>
              <a:t>Harris Detector: Workflow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91" name="Google Shape;8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946" y="1143000"/>
            <a:ext cx="10871452" cy="5251703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40"/>
          <p:cNvSpPr txBox="1"/>
          <p:nvPr/>
        </p:nvSpPr>
        <p:spPr>
          <a:xfrm>
            <a:off x="9679940" y="1393952"/>
            <a:ext cx="1677670" cy="1548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 only the points of local maxima of </a:t>
            </a:r>
            <a:r>
              <a:rPr i="1"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3" name="Google Shape;893;p4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4" name="Google Shape;894;p4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5" name="Google Shape;895;p4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41"/>
          <p:cNvSpPr txBox="1"/>
          <p:nvPr>
            <p:ph idx="4294967295" type="title"/>
          </p:nvPr>
        </p:nvSpPr>
        <p:spPr>
          <a:xfrm>
            <a:off x="750" y="153150"/>
            <a:ext cx="12192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7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Image with Detected Corners</a:t>
            </a:r>
            <a:endParaRPr/>
          </a:p>
        </p:txBody>
      </p:sp>
      <p:pic>
        <p:nvPicPr>
          <p:cNvPr id="901" name="Google Shape;90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1146" y="1905000"/>
            <a:ext cx="4149568" cy="312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5346" y="1981200"/>
            <a:ext cx="4048618" cy="304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4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4" name="Google Shape;904;p41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2"/>
          <p:cNvSpPr txBox="1"/>
          <p:nvPr>
            <p:ph idx="4294967295" type="title"/>
          </p:nvPr>
        </p:nvSpPr>
        <p:spPr>
          <a:xfrm>
            <a:off x="75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Image with Detected Corners</a:t>
            </a:r>
            <a:endParaRPr/>
          </a:p>
        </p:txBody>
      </p:sp>
      <p:pic>
        <p:nvPicPr>
          <p:cNvPr id="910" name="Google Shape;91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143000"/>
            <a:ext cx="6578455" cy="4933639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4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2" name="Google Shape;912;p42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4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8" name="Google Shape;918;p4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9" name="Google Shape;919;p4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Example- Harris Corners</a:t>
            </a:r>
            <a:endParaRPr/>
          </a:p>
        </p:txBody>
      </p:sp>
      <p:sp>
        <p:nvSpPr>
          <p:cNvPr id="920" name="Google Shape;920;p43"/>
          <p:cNvSpPr txBox="1"/>
          <p:nvPr/>
        </p:nvSpPr>
        <p:spPr>
          <a:xfrm>
            <a:off x="370790" y="1305565"/>
            <a:ext cx="10664100" cy="2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Originally developed as features for </a:t>
            </a:r>
            <a:r>
              <a:rPr lang="en-US" sz="3200" u="sng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motion tracking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508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Greatly reduces amount of	computation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compared to tracking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every pixel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 u="sng">
                <a:latin typeface="Bell MT"/>
                <a:ea typeface="Bell MT"/>
                <a:cs typeface="Bell MT"/>
                <a:sym typeface="Bell MT"/>
              </a:rPr>
              <a:t>Translation and rotation invariant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(but not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scale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invariant)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21" name="Google Shape;921;p4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2" name="Google Shape;922;p4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3" name="Google Shape;923;p4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4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9" name="Google Shape;929;p4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0" name="Google Shape;930;p44"/>
          <p:cNvSpPr txBox="1"/>
          <p:nvPr>
            <p:ph idx="4294967295" type="title"/>
          </p:nvPr>
        </p:nvSpPr>
        <p:spPr>
          <a:xfrm>
            <a:off x="0" y="153150"/>
            <a:ext cx="121920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0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Hessian Matrix based Key-Point Detection</a:t>
            </a:r>
            <a:endParaRPr/>
          </a:p>
        </p:txBody>
      </p:sp>
      <p:sp>
        <p:nvSpPr>
          <p:cNvPr id="931" name="Google Shape;931;p44"/>
          <p:cNvSpPr txBox="1"/>
          <p:nvPr/>
        </p:nvSpPr>
        <p:spPr>
          <a:xfrm>
            <a:off x="688340" y="987806"/>
            <a:ext cx="102654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Detection of	salient feature points (key-points) in the image using hessian matrix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3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Use of </a:t>
            </a:r>
            <a:r>
              <a:rPr b="1" lang="en-US" sz="3200" u="sng">
                <a:latin typeface="Bell MT"/>
                <a:ea typeface="Bell MT"/>
                <a:cs typeface="Bell MT"/>
                <a:sym typeface="Bell MT"/>
              </a:rPr>
              <a:t>Hessian matrix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for key-point detection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32" name="Google Shape;932;p44"/>
          <p:cNvSpPr txBox="1"/>
          <p:nvPr/>
        </p:nvSpPr>
        <p:spPr>
          <a:xfrm>
            <a:off x="688340" y="3816350"/>
            <a:ext cx="294005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Hessian Matrix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33" name="Google Shape;933;p44"/>
          <p:cNvSpPr txBox="1"/>
          <p:nvPr/>
        </p:nvSpPr>
        <p:spPr>
          <a:xfrm>
            <a:off x="688340" y="5550028"/>
            <a:ext cx="9241790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Key point is detected where </a:t>
            </a:r>
            <a:r>
              <a:rPr lang="en-US" sz="3350">
                <a:latin typeface="Bell MT"/>
                <a:ea typeface="Bell MT"/>
                <a:cs typeface="Bell MT"/>
                <a:sym typeface="Bell MT"/>
              </a:rPr>
              <a:t>determinant (H)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is large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34" name="Google Shape;934;p4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5" name="Google Shape;935;p4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6" name="Google Shape;936;p4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937" name="Google Shape;93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1071" y="3816352"/>
            <a:ext cx="3394500" cy="133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3" name="Google Shape;943;p45"/>
          <p:cNvSpPr txBox="1"/>
          <p:nvPr/>
        </p:nvSpPr>
        <p:spPr>
          <a:xfrm>
            <a:off x="2945850" y="2874900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44" name="Google Shape;944;p45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