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6858000" cx="12192000"/>
  <p:notesSz cx="12192000" cy="6858000"/>
  <p:embeddedFontLst>
    <p:embeddedFont>
      <p:font typeface="Noto Sans Symbols"/>
      <p:regular r:id="rId54"/>
      <p:bold r:id="rId55"/>
    </p:embeddedFont>
    <p:embeddedFont>
      <p:font typeface="Bell MT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179AF1-11E9-40D2-887D-3ECBB34D71EC}">
  <a:tblStyle styleId="{BE179AF1-11E9-40D2-887D-3ECBB34D71E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NotoSansSymbols-bold.fntdata"/><Relationship Id="rId10" Type="http://schemas.openxmlformats.org/officeDocument/2006/relationships/slide" Target="slides/slide4.xml"/><Relationship Id="rId54" Type="http://schemas.openxmlformats.org/officeDocument/2006/relationships/font" Target="fonts/NotoSansSymbols-regular.fntdata"/><Relationship Id="rId13" Type="http://schemas.openxmlformats.org/officeDocument/2006/relationships/slide" Target="slides/slide7.xml"/><Relationship Id="rId57" Type="http://schemas.openxmlformats.org/officeDocument/2006/relationships/font" Target="fonts/BellMT-bold.fntdata"/><Relationship Id="rId12" Type="http://schemas.openxmlformats.org/officeDocument/2006/relationships/slide" Target="slides/slide6.xml"/><Relationship Id="rId56" Type="http://schemas.openxmlformats.org/officeDocument/2006/relationships/font" Target="fonts/BellMT-regular.fntdata"/><Relationship Id="rId15" Type="http://schemas.openxmlformats.org/officeDocument/2006/relationships/slide" Target="slides/slide9.xml"/><Relationship Id="rId59" Type="http://schemas.openxmlformats.org/officeDocument/2006/relationships/font" Target="fonts/BellMT-boldItalic.fntdata"/><Relationship Id="rId14" Type="http://schemas.openxmlformats.org/officeDocument/2006/relationships/slide" Target="slides/slide8.xml"/><Relationship Id="rId58" Type="http://schemas.openxmlformats.org/officeDocument/2006/relationships/font" Target="fonts/BellMT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5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5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5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5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5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5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5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5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5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5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5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5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5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5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5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5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6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6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6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6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6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6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6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6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6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6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6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6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6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6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6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6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7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7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7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7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7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47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7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7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7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7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7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7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7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7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7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7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7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7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7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7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8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48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8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8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8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48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8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48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48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48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8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48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48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48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8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48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48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48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48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48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9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49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49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49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49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49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49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49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49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49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49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49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49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49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49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49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p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p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p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153150"/>
            <a:ext cx="12192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0" y="1058675"/>
            <a:ext cx="121920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205740" y="6547862"/>
            <a:ext cx="429005" cy="20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23.jpg"/><Relationship Id="rId7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1.jpg"/><Relationship Id="rId5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0" Type="http://schemas.openxmlformats.org/officeDocument/2006/relationships/image" Target="../media/image30.png"/><Relationship Id="rId9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27.png"/><Relationship Id="rId13" Type="http://schemas.openxmlformats.org/officeDocument/2006/relationships/image" Target="../media/image37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21.png"/><Relationship Id="rId5" Type="http://schemas.openxmlformats.org/officeDocument/2006/relationships/image" Target="../media/image32.png"/><Relationship Id="rId6" Type="http://schemas.openxmlformats.org/officeDocument/2006/relationships/image" Target="../media/image41.png"/><Relationship Id="rId7" Type="http://schemas.openxmlformats.org/officeDocument/2006/relationships/image" Target="../media/image36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Relationship Id="rId9" Type="http://schemas.openxmlformats.org/officeDocument/2006/relationships/image" Target="../media/image55.png"/><Relationship Id="rId5" Type="http://schemas.openxmlformats.org/officeDocument/2006/relationships/image" Target="../media/image42.png"/><Relationship Id="rId6" Type="http://schemas.openxmlformats.org/officeDocument/2006/relationships/image" Target="../media/image40.png"/><Relationship Id="rId7" Type="http://schemas.openxmlformats.org/officeDocument/2006/relationships/image" Target="../media/image39.png"/><Relationship Id="rId8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8.png"/><Relationship Id="rId13" Type="http://schemas.openxmlformats.org/officeDocument/2006/relationships/image" Target="../media/image53.png"/><Relationship Id="rId1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9.png"/><Relationship Id="rId4" Type="http://schemas.openxmlformats.org/officeDocument/2006/relationships/image" Target="../media/image51.png"/><Relationship Id="rId9" Type="http://schemas.openxmlformats.org/officeDocument/2006/relationships/image" Target="../media/image54.png"/><Relationship Id="rId15" Type="http://schemas.openxmlformats.org/officeDocument/2006/relationships/image" Target="../media/image50.png"/><Relationship Id="rId14" Type="http://schemas.openxmlformats.org/officeDocument/2006/relationships/image" Target="../media/image57.png"/><Relationship Id="rId16" Type="http://schemas.openxmlformats.org/officeDocument/2006/relationships/image" Target="../media/image65.png"/><Relationship Id="rId5" Type="http://schemas.openxmlformats.org/officeDocument/2006/relationships/image" Target="../media/image56.png"/><Relationship Id="rId6" Type="http://schemas.openxmlformats.org/officeDocument/2006/relationships/image" Target="../media/image47.png"/><Relationship Id="rId7" Type="http://schemas.openxmlformats.org/officeDocument/2006/relationships/image" Target="../media/image58.png"/><Relationship Id="rId8" Type="http://schemas.openxmlformats.org/officeDocument/2006/relationships/image" Target="../media/image4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3.png"/><Relationship Id="rId4" Type="http://schemas.openxmlformats.org/officeDocument/2006/relationships/image" Target="../media/image66.png"/><Relationship Id="rId9" Type="http://schemas.openxmlformats.org/officeDocument/2006/relationships/image" Target="../media/image67.png"/><Relationship Id="rId5" Type="http://schemas.openxmlformats.org/officeDocument/2006/relationships/image" Target="../media/image77.png"/><Relationship Id="rId6" Type="http://schemas.openxmlformats.org/officeDocument/2006/relationships/image" Target="../media/image64.png"/><Relationship Id="rId7" Type="http://schemas.openxmlformats.org/officeDocument/2006/relationships/image" Target="../media/image72.png"/><Relationship Id="rId8" Type="http://schemas.openxmlformats.org/officeDocument/2006/relationships/image" Target="../media/image69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89.png"/><Relationship Id="rId11" Type="http://schemas.openxmlformats.org/officeDocument/2006/relationships/image" Target="../media/image80.png"/><Relationship Id="rId10" Type="http://schemas.openxmlformats.org/officeDocument/2006/relationships/image" Target="../media/image83.png"/><Relationship Id="rId13" Type="http://schemas.openxmlformats.org/officeDocument/2006/relationships/image" Target="../media/image78.png"/><Relationship Id="rId1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9" Type="http://schemas.openxmlformats.org/officeDocument/2006/relationships/image" Target="../media/image92.png"/><Relationship Id="rId15" Type="http://schemas.openxmlformats.org/officeDocument/2006/relationships/image" Target="../media/image98.png"/><Relationship Id="rId14" Type="http://schemas.openxmlformats.org/officeDocument/2006/relationships/image" Target="../media/image88.png"/><Relationship Id="rId17" Type="http://schemas.openxmlformats.org/officeDocument/2006/relationships/image" Target="../media/image82.png"/><Relationship Id="rId16" Type="http://schemas.openxmlformats.org/officeDocument/2006/relationships/image" Target="../media/image91.png"/><Relationship Id="rId5" Type="http://schemas.openxmlformats.org/officeDocument/2006/relationships/image" Target="../media/image84.png"/><Relationship Id="rId19" Type="http://schemas.openxmlformats.org/officeDocument/2006/relationships/image" Target="../media/image70.png"/><Relationship Id="rId6" Type="http://schemas.openxmlformats.org/officeDocument/2006/relationships/image" Target="../media/image71.png"/><Relationship Id="rId18" Type="http://schemas.openxmlformats.org/officeDocument/2006/relationships/image" Target="../media/image100.png"/><Relationship Id="rId7" Type="http://schemas.openxmlformats.org/officeDocument/2006/relationships/image" Target="../media/image86.png"/><Relationship Id="rId8" Type="http://schemas.openxmlformats.org/officeDocument/2006/relationships/image" Target="../media/image7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0.png"/><Relationship Id="rId4" Type="http://schemas.openxmlformats.org/officeDocument/2006/relationships/image" Target="../media/image89.png"/><Relationship Id="rId5" Type="http://schemas.openxmlformats.org/officeDocument/2006/relationships/image" Target="../media/image9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3.png"/><Relationship Id="rId4" Type="http://schemas.openxmlformats.org/officeDocument/2006/relationships/image" Target="../media/image1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2.jpg"/><Relationship Id="rId4" Type="http://schemas.openxmlformats.org/officeDocument/2006/relationships/image" Target="../media/image101.png"/><Relationship Id="rId5" Type="http://schemas.openxmlformats.org/officeDocument/2006/relationships/image" Target="../media/image105.jpg"/><Relationship Id="rId6" Type="http://schemas.openxmlformats.org/officeDocument/2006/relationships/image" Target="../media/image10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3.png"/><Relationship Id="rId4" Type="http://schemas.openxmlformats.org/officeDocument/2006/relationships/image" Target="../media/image95.jpg"/><Relationship Id="rId5" Type="http://schemas.openxmlformats.org/officeDocument/2006/relationships/image" Target="../media/image96.png"/><Relationship Id="rId6" Type="http://schemas.openxmlformats.org/officeDocument/2006/relationships/image" Target="../media/image10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4.png"/><Relationship Id="rId4" Type="http://schemas.openxmlformats.org/officeDocument/2006/relationships/image" Target="../media/image118.png"/><Relationship Id="rId5" Type="http://schemas.openxmlformats.org/officeDocument/2006/relationships/image" Target="../media/image114.png"/><Relationship Id="rId6" Type="http://schemas.openxmlformats.org/officeDocument/2006/relationships/image" Target="../media/image1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5.png"/><Relationship Id="rId10" Type="http://schemas.openxmlformats.org/officeDocument/2006/relationships/image" Target="../media/image121.png"/><Relationship Id="rId13" Type="http://schemas.openxmlformats.org/officeDocument/2006/relationships/image" Target="../media/image119.png"/><Relationship Id="rId12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9.png"/><Relationship Id="rId4" Type="http://schemas.openxmlformats.org/officeDocument/2006/relationships/image" Target="../media/image106.png"/><Relationship Id="rId9" Type="http://schemas.openxmlformats.org/officeDocument/2006/relationships/image" Target="../media/image127.png"/><Relationship Id="rId15" Type="http://schemas.openxmlformats.org/officeDocument/2006/relationships/image" Target="../media/image39.png"/><Relationship Id="rId14" Type="http://schemas.openxmlformats.org/officeDocument/2006/relationships/image" Target="../media/image131.png"/><Relationship Id="rId17" Type="http://schemas.openxmlformats.org/officeDocument/2006/relationships/image" Target="../media/image125.png"/><Relationship Id="rId16" Type="http://schemas.openxmlformats.org/officeDocument/2006/relationships/image" Target="../media/image134.png"/><Relationship Id="rId5" Type="http://schemas.openxmlformats.org/officeDocument/2006/relationships/image" Target="../media/image110.png"/><Relationship Id="rId6" Type="http://schemas.openxmlformats.org/officeDocument/2006/relationships/image" Target="../media/image124.png"/><Relationship Id="rId7" Type="http://schemas.openxmlformats.org/officeDocument/2006/relationships/image" Target="../media/image123.png"/><Relationship Id="rId8" Type="http://schemas.openxmlformats.org/officeDocument/2006/relationships/image" Target="../media/image130.png"/></Relationships>
</file>

<file path=ppt/slides/_rels/slide29.xml.rels><?xml version="1.0" encoding="UTF-8" standalone="yes"?><Relationships xmlns="http://schemas.openxmlformats.org/package/2006/relationships"><Relationship Id="rId20" Type="http://schemas.openxmlformats.org/officeDocument/2006/relationships/image" Target="../media/image143.png"/><Relationship Id="rId22" Type="http://schemas.openxmlformats.org/officeDocument/2006/relationships/image" Target="../media/image152.png"/><Relationship Id="rId21" Type="http://schemas.openxmlformats.org/officeDocument/2006/relationships/image" Target="../media/image148.png"/><Relationship Id="rId24" Type="http://schemas.openxmlformats.org/officeDocument/2006/relationships/image" Target="../media/image154.png"/><Relationship Id="rId23" Type="http://schemas.openxmlformats.org/officeDocument/2006/relationships/image" Target="../media/image15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9.png"/><Relationship Id="rId4" Type="http://schemas.openxmlformats.org/officeDocument/2006/relationships/image" Target="../media/image132.png"/><Relationship Id="rId9" Type="http://schemas.openxmlformats.org/officeDocument/2006/relationships/image" Target="../media/image147.png"/><Relationship Id="rId26" Type="http://schemas.openxmlformats.org/officeDocument/2006/relationships/image" Target="../media/image157.png"/><Relationship Id="rId25" Type="http://schemas.openxmlformats.org/officeDocument/2006/relationships/image" Target="../media/image151.png"/><Relationship Id="rId28" Type="http://schemas.openxmlformats.org/officeDocument/2006/relationships/image" Target="../media/image164.png"/><Relationship Id="rId27" Type="http://schemas.openxmlformats.org/officeDocument/2006/relationships/image" Target="../media/image190.png"/><Relationship Id="rId5" Type="http://schemas.openxmlformats.org/officeDocument/2006/relationships/image" Target="../media/image141.png"/><Relationship Id="rId6" Type="http://schemas.openxmlformats.org/officeDocument/2006/relationships/image" Target="../media/image169.png"/><Relationship Id="rId7" Type="http://schemas.openxmlformats.org/officeDocument/2006/relationships/image" Target="../media/image133.png"/><Relationship Id="rId8" Type="http://schemas.openxmlformats.org/officeDocument/2006/relationships/image" Target="../media/image142.png"/><Relationship Id="rId11" Type="http://schemas.openxmlformats.org/officeDocument/2006/relationships/image" Target="../media/image136.png"/><Relationship Id="rId10" Type="http://schemas.openxmlformats.org/officeDocument/2006/relationships/image" Target="../media/image144.png"/><Relationship Id="rId13" Type="http://schemas.openxmlformats.org/officeDocument/2006/relationships/image" Target="../media/image139.png"/><Relationship Id="rId12" Type="http://schemas.openxmlformats.org/officeDocument/2006/relationships/image" Target="../media/image135.png"/><Relationship Id="rId15" Type="http://schemas.openxmlformats.org/officeDocument/2006/relationships/image" Target="../media/image140.png"/><Relationship Id="rId14" Type="http://schemas.openxmlformats.org/officeDocument/2006/relationships/image" Target="../media/image146.png"/><Relationship Id="rId17" Type="http://schemas.openxmlformats.org/officeDocument/2006/relationships/image" Target="../media/image150.png"/><Relationship Id="rId16" Type="http://schemas.openxmlformats.org/officeDocument/2006/relationships/image" Target="../media/image145.png"/><Relationship Id="rId19" Type="http://schemas.openxmlformats.org/officeDocument/2006/relationships/image" Target="../media/image149.png"/><Relationship Id="rId18" Type="http://schemas.openxmlformats.org/officeDocument/2006/relationships/image" Target="../media/image1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3.png"/><Relationship Id="rId4" Type="http://schemas.openxmlformats.org/officeDocument/2006/relationships/image" Target="../media/image16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0.png"/><Relationship Id="rId4" Type="http://schemas.openxmlformats.org/officeDocument/2006/relationships/image" Target="../media/image162.png"/><Relationship Id="rId9" Type="http://schemas.openxmlformats.org/officeDocument/2006/relationships/image" Target="../media/image168.png"/><Relationship Id="rId5" Type="http://schemas.openxmlformats.org/officeDocument/2006/relationships/image" Target="../media/image166.png"/><Relationship Id="rId6" Type="http://schemas.openxmlformats.org/officeDocument/2006/relationships/image" Target="../media/image176.png"/><Relationship Id="rId7" Type="http://schemas.openxmlformats.org/officeDocument/2006/relationships/image" Target="../media/image159.png"/><Relationship Id="rId8" Type="http://schemas.openxmlformats.org/officeDocument/2006/relationships/image" Target="../media/image184.png"/><Relationship Id="rId11" Type="http://schemas.openxmlformats.org/officeDocument/2006/relationships/image" Target="../media/image70.png"/><Relationship Id="rId10" Type="http://schemas.openxmlformats.org/officeDocument/2006/relationships/image" Target="../media/image6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5.png"/><Relationship Id="rId4" Type="http://schemas.openxmlformats.org/officeDocument/2006/relationships/image" Target="../media/image16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5.png"/><Relationship Id="rId4" Type="http://schemas.openxmlformats.org/officeDocument/2006/relationships/image" Target="../media/image17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7.png"/><Relationship Id="rId4" Type="http://schemas.openxmlformats.org/officeDocument/2006/relationships/image" Target="../media/image165.png"/><Relationship Id="rId5" Type="http://schemas.openxmlformats.org/officeDocument/2006/relationships/image" Target="../media/image178.png"/><Relationship Id="rId6" Type="http://schemas.openxmlformats.org/officeDocument/2006/relationships/image" Target="../media/image17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5.png"/><Relationship Id="rId4" Type="http://schemas.openxmlformats.org/officeDocument/2006/relationships/image" Target="../media/image179.png"/><Relationship Id="rId5" Type="http://schemas.openxmlformats.org/officeDocument/2006/relationships/image" Target="../media/image17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2.jpg"/><Relationship Id="rId4" Type="http://schemas.openxmlformats.org/officeDocument/2006/relationships/image" Target="../media/image181.jpg"/><Relationship Id="rId5" Type="http://schemas.openxmlformats.org/officeDocument/2006/relationships/image" Target="../media/image18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2.jpg"/><Relationship Id="rId4" Type="http://schemas.openxmlformats.org/officeDocument/2006/relationships/image" Target="../media/image180.png"/><Relationship Id="rId5" Type="http://schemas.openxmlformats.org/officeDocument/2006/relationships/image" Target="../media/image194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7.png"/><Relationship Id="rId4" Type="http://schemas.openxmlformats.org/officeDocument/2006/relationships/image" Target="../media/image185.png"/><Relationship Id="rId5" Type="http://schemas.openxmlformats.org/officeDocument/2006/relationships/image" Target="../media/image18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1.png"/><Relationship Id="rId4" Type="http://schemas.openxmlformats.org/officeDocument/2006/relationships/image" Target="../media/image19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83.png"/><Relationship Id="rId4" Type="http://schemas.openxmlformats.org/officeDocument/2006/relationships/image" Target="../media/image182.png"/><Relationship Id="rId5" Type="http://schemas.openxmlformats.org/officeDocument/2006/relationships/image" Target="../media/image187.png"/><Relationship Id="rId6" Type="http://schemas.openxmlformats.org/officeDocument/2006/relationships/image" Target="../media/image19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8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" name="Google Shape;40;p7"/>
          <p:cNvSpPr txBox="1"/>
          <p:nvPr>
            <p:ph idx="4294967295" type="title"/>
          </p:nvPr>
        </p:nvSpPr>
        <p:spPr>
          <a:xfrm>
            <a:off x="0" y="1190775"/>
            <a:ext cx="12192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Hough	Transform</a:t>
            </a:r>
            <a:endParaRPr sz="6000"/>
          </a:p>
        </p:txBody>
      </p:sp>
      <p:sp>
        <p:nvSpPr>
          <p:cNvPr id="41" name="Google Shape;41;p7"/>
          <p:cNvSpPr txBox="1"/>
          <p:nvPr/>
        </p:nvSpPr>
        <p:spPr>
          <a:xfrm>
            <a:off x="4426329" y="3892660"/>
            <a:ext cx="3414300" cy="20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1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Part – 1</a:t>
            </a:r>
            <a:endParaRPr sz="40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Detection of	 Lines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2" name="Google Shape;42;p7"/>
          <p:cNvSpPr txBox="1"/>
          <p:nvPr/>
        </p:nvSpPr>
        <p:spPr>
          <a:xfrm>
            <a:off x="2106624" y="2685009"/>
            <a:ext cx="79788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Extraction of	High Level Features from Images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" name="Google Shape;51;p8"/>
          <p:cNvSpPr txBox="1"/>
          <p:nvPr>
            <p:ph idx="4294967295" type="title"/>
          </p:nvPr>
        </p:nvSpPr>
        <p:spPr>
          <a:xfrm>
            <a:off x="0" y="153150"/>
            <a:ext cx="12192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305175" y="1060988"/>
            <a:ext cx="11509500" cy="18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35914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50"/>
              <a:buFont typeface="Noto Sans Symbols"/>
              <a:buChar char="▪"/>
            </a:pPr>
            <a:r>
              <a:rPr lang="en-US" sz="3100">
                <a:latin typeface="Bell MT"/>
                <a:ea typeface="Bell MT"/>
                <a:cs typeface="Bell MT"/>
                <a:sym typeface="Bell MT"/>
              </a:rPr>
              <a:t>We have seen some basic features like </a:t>
            </a:r>
            <a:r>
              <a:rPr lang="en-US" sz="31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edges</a:t>
            </a:r>
            <a:r>
              <a:rPr lang="en-US" sz="3100" u="none">
                <a:latin typeface="Bell MT"/>
                <a:ea typeface="Bell MT"/>
                <a:cs typeface="Bell MT"/>
                <a:sym typeface="Bell MT"/>
              </a:rPr>
              <a:t>, and </a:t>
            </a:r>
            <a:r>
              <a:rPr lang="en-US" sz="31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corners</a:t>
            </a:r>
            <a:endParaRPr sz="3100">
              <a:latin typeface="Bell MT"/>
              <a:ea typeface="Bell MT"/>
              <a:cs typeface="Bell MT"/>
              <a:sym typeface="Bell MT"/>
            </a:endParaRPr>
          </a:p>
          <a:p>
            <a:pPr indent="-336549" lvl="0" marL="354965" marR="5080" rtl="0" algn="l">
              <a:lnSpc>
                <a:spcPct val="108124"/>
              </a:lnSpc>
              <a:spcBef>
                <a:spcPts val="3195"/>
              </a:spcBef>
              <a:spcAft>
                <a:spcPts val="0"/>
              </a:spcAft>
              <a:buClr>
                <a:srgbClr val="FF0000"/>
              </a:buClr>
              <a:buSzPts val="2450"/>
              <a:buFont typeface="Noto Sans Symbols"/>
              <a:buChar char="▪"/>
            </a:pPr>
            <a:r>
              <a:rPr lang="en-US" sz="3100">
                <a:latin typeface="Bell MT"/>
                <a:ea typeface="Bell MT"/>
                <a:cs typeface="Bell MT"/>
                <a:sym typeface="Bell MT"/>
              </a:rPr>
              <a:t>Sometimes, we want to see </a:t>
            </a:r>
            <a:r>
              <a:rPr b="1" lang="en-US" sz="3100" u="sng">
                <a:latin typeface="Bell MT"/>
                <a:ea typeface="Bell MT"/>
                <a:cs typeface="Bell MT"/>
                <a:sym typeface="Bell MT"/>
              </a:rPr>
              <a:t>high level features</a:t>
            </a:r>
            <a:r>
              <a:rPr b="1" lang="en-US" sz="31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100" u="none">
                <a:latin typeface="Bell MT"/>
                <a:ea typeface="Bell MT"/>
                <a:cs typeface="Bell MT"/>
                <a:sym typeface="Bell MT"/>
              </a:rPr>
              <a:t>present in the image</a:t>
            </a:r>
            <a:endParaRPr sz="3100">
              <a:latin typeface="Bell MT"/>
              <a:ea typeface="Bell MT"/>
              <a:cs typeface="Bell MT"/>
              <a:sym typeface="Bell MT"/>
            </a:endParaRPr>
          </a:p>
          <a:p>
            <a:pPr indent="-278765" lvl="1" marL="75501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Noto Sans Symbols"/>
              <a:buChar char="▪"/>
            </a:pPr>
            <a:r>
              <a:rPr i="1"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line, circles etc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3" name="Google Shape;53;p8"/>
          <p:cNvSpPr txBox="1"/>
          <p:nvPr/>
        </p:nvSpPr>
        <p:spPr>
          <a:xfrm>
            <a:off x="305175" y="3258175"/>
            <a:ext cx="115824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This requires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association of	a model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with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4" name="Google Shape;54;p8"/>
          <p:cNvSpPr txBox="1"/>
          <p:nvPr/>
        </p:nvSpPr>
        <p:spPr>
          <a:xfrm>
            <a:off x="7561325" y="3269350"/>
            <a:ext cx="3518400" cy="492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observed features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5" name="Google Shape;55;p8"/>
          <p:cNvSpPr txBox="1"/>
          <p:nvPr/>
        </p:nvSpPr>
        <p:spPr>
          <a:xfrm>
            <a:off x="993152" y="3749200"/>
            <a:ext cx="10894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284480" lvl="0" marL="297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b="1" lang="en-US" sz="2800" u="sng">
                <a:latin typeface="Bell MT"/>
                <a:ea typeface="Bell MT"/>
                <a:cs typeface="Bell MT"/>
                <a:sym typeface="Bell MT"/>
              </a:rPr>
              <a:t>Observed Features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: for example, edge points, corner points etc.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0" marL="29718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b="1" lang="en-US" sz="2800" u="sng">
                <a:latin typeface="Bell MT"/>
                <a:ea typeface="Bell MT"/>
                <a:cs typeface="Bell MT"/>
                <a:sym typeface="Bell MT"/>
              </a:rPr>
              <a:t>Model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: for example line, circle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56" name="Google Shape;56;p8"/>
          <p:cNvGrpSpPr/>
          <p:nvPr/>
        </p:nvGrpSpPr>
        <p:grpSpPr>
          <a:xfrm>
            <a:off x="533400" y="4913376"/>
            <a:ext cx="4372354" cy="1453895"/>
            <a:chOff x="533400" y="4913376"/>
            <a:chExt cx="4372354" cy="1453895"/>
          </a:xfrm>
        </p:grpSpPr>
        <p:pic>
          <p:nvPicPr>
            <p:cNvPr id="57" name="Google Shape;5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97964" y="4913376"/>
              <a:ext cx="1440941" cy="14417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400" y="4925568"/>
              <a:ext cx="1441703" cy="14417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64051" y="4915662"/>
              <a:ext cx="1441703" cy="14417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8"/>
          <p:cNvGrpSpPr/>
          <p:nvPr/>
        </p:nvGrpSpPr>
        <p:grpSpPr>
          <a:xfrm>
            <a:off x="4960620" y="4876800"/>
            <a:ext cx="6854188" cy="1505712"/>
            <a:chOff x="4960620" y="4876800"/>
            <a:chExt cx="6854188" cy="1505712"/>
          </a:xfrm>
        </p:grpSpPr>
        <p:pic>
          <p:nvPicPr>
            <p:cNvPr id="61" name="Google Shape;61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960620" y="4913376"/>
              <a:ext cx="1909571" cy="14416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887717" y="4876800"/>
              <a:ext cx="4927091" cy="15057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305181" y="974979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" name="Google Shape;72;p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" name="Google Shape;73;p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Why to fit models (line </a:t>
            </a:r>
            <a:r>
              <a:rPr i="1" lang="en-US">
                <a:latin typeface="Bell MT"/>
                <a:ea typeface="Bell MT"/>
                <a:cs typeface="Bell MT"/>
                <a:sym typeface="Bell MT"/>
              </a:rPr>
              <a:t>etc</a:t>
            </a:r>
            <a:r>
              <a:rPr lang="en-US"/>
              <a:t>.)?</a:t>
            </a:r>
            <a:endParaRPr/>
          </a:p>
        </p:txBody>
      </p:sp>
      <p:sp>
        <p:nvSpPr>
          <p:cNvPr id="74" name="Google Shape;74;p9"/>
          <p:cNvSpPr txBox="1"/>
          <p:nvPr/>
        </p:nvSpPr>
        <p:spPr>
          <a:xfrm>
            <a:off x="688340" y="985520"/>
            <a:ext cx="106083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b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Why can’t we just do edge detection?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6385" lvl="0" marL="755650" marR="508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Many objects characterized by presence of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straight lines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or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circles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75" name="Google Shape;75;p9"/>
          <p:cNvGrpSpPr/>
          <p:nvPr/>
        </p:nvGrpSpPr>
        <p:grpSpPr>
          <a:xfrm>
            <a:off x="1963673" y="2743200"/>
            <a:ext cx="2686049" cy="3581399"/>
            <a:chOff x="1963673" y="2743200"/>
            <a:chExt cx="2686049" cy="3581399"/>
          </a:xfrm>
        </p:grpSpPr>
        <p:pic>
          <p:nvPicPr>
            <p:cNvPr id="76" name="Google Shape;7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63673" y="2743200"/>
              <a:ext cx="2686049" cy="35813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9"/>
            <p:cNvSpPr/>
            <p:nvPr/>
          </p:nvSpPr>
          <p:spPr>
            <a:xfrm>
              <a:off x="2116073" y="4876800"/>
              <a:ext cx="2362200" cy="1905"/>
            </a:xfrm>
            <a:custGeom>
              <a:rect b="b" l="l" r="r" t="t"/>
              <a:pathLst>
                <a:path extrusionOk="0" h="1904" w="2362200">
                  <a:moveTo>
                    <a:pt x="0" y="0"/>
                  </a:moveTo>
                  <a:lnTo>
                    <a:pt x="2362200" y="1587"/>
                  </a:lnTo>
                </a:path>
              </a:pathLst>
            </a:custGeom>
            <a:noFill/>
            <a:ln cap="flat" cmpd="sng" w="381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2649473" y="4572000"/>
              <a:ext cx="1752600" cy="1905"/>
            </a:xfrm>
            <a:custGeom>
              <a:rect b="b" l="l" r="r" t="t"/>
              <a:pathLst>
                <a:path extrusionOk="0" h="1904" w="1752600">
                  <a:moveTo>
                    <a:pt x="0" y="0"/>
                  </a:moveTo>
                  <a:lnTo>
                    <a:pt x="1752600" y="1587"/>
                  </a:lnTo>
                </a:path>
              </a:pathLst>
            </a:custGeom>
            <a:noFill/>
            <a:ln cap="flat" cmpd="sng" w="381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3182873" y="3657600"/>
              <a:ext cx="1905" cy="838200"/>
            </a:xfrm>
            <a:custGeom>
              <a:rect b="b" l="l" r="r" t="t"/>
              <a:pathLst>
                <a:path extrusionOk="0" h="838200" w="1905">
                  <a:moveTo>
                    <a:pt x="0" y="838200"/>
                  </a:moveTo>
                  <a:lnTo>
                    <a:pt x="1587" y="0"/>
                  </a:lnTo>
                </a:path>
              </a:pathLst>
            </a:custGeom>
            <a:noFill/>
            <a:ln cap="flat" cmpd="sng" w="381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" name="Google Shape;80;p9"/>
            <p:cNvSpPr/>
            <p:nvPr/>
          </p:nvSpPr>
          <p:spPr>
            <a:xfrm>
              <a:off x="3716273" y="3733800"/>
              <a:ext cx="1905" cy="838200"/>
            </a:xfrm>
            <a:custGeom>
              <a:rect b="b" l="l" r="r" t="t"/>
              <a:pathLst>
                <a:path extrusionOk="0" h="838200" w="1904">
                  <a:moveTo>
                    <a:pt x="0" y="838200"/>
                  </a:moveTo>
                  <a:lnTo>
                    <a:pt x="1587" y="0"/>
                  </a:lnTo>
                </a:path>
              </a:pathLst>
            </a:custGeom>
            <a:noFill/>
            <a:ln cap="flat" cmpd="sng" w="381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2878073" y="5334000"/>
              <a:ext cx="914400" cy="1905"/>
            </a:xfrm>
            <a:custGeom>
              <a:rect b="b" l="l" r="r" t="t"/>
              <a:pathLst>
                <a:path extrusionOk="0" h="1904" w="914400">
                  <a:moveTo>
                    <a:pt x="0" y="0"/>
                  </a:moveTo>
                  <a:lnTo>
                    <a:pt x="914400" y="1587"/>
                  </a:lnTo>
                </a:path>
              </a:pathLst>
            </a:custGeom>
            <a:noFill/>
            <a:ln cap="flat" cmpd="sng" w="381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82" name="Google Shape;82;p9"/>
          <p:cNvGrpSpPr/>
          <p:nvPr/>
        </p:nvGrpSpPr>
        <p:grpSpPr>
          <a:xfrm>
            <a:off x="4859273" y="3276600"/>
            <a:ext cx="2246375" cy="1752599"/>
            <a:chOff x="4859273" y="3276600"/>
            <a:chExt cx="2246375" cy="1752599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59273" y="3276600"/>
              <a:ext cx="2246375" cy="1752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5392673" y="3657600"/>
              <a:ext cx="990600" cy="1905"/>
            </a:xfrm>
            <a:custGeom>
              <a:rect b="b" l="l" r="r" t="t"/>
              <a:pathLst>
                <a:path extrusionOk="0" h="1904" w="990600">
                  <a:moveTo>
                    <a:pt x="0" y="0"/>
                  </a:moveTo>
                  <a:lnTo>
                    <a:pt x="990600" y="1587"/>
                  </a:lnTo>
                </a:path>
              </a:pathLst>
            </a:custGeom>
            <a:noFill/>
            <a:ln cap="flat" cmpd="sng" w="381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5545073" y="3352800"/>
              <a:ext cx="713105" cy="1905"/>
            </a:xfrm>
            <a:custGeom>
              <a:rect b="b" l="l" r="r" t="t"/>
              <a:pathLst>
                <a:path extrusionOk="0" h="1904" w="713104">
                  <a:moveTo>
                    <a:pt x="0" y="0"/>
                  </a:moveTo>
                  <a:lnTo>
                    <a:pt x="712787" y="1587"/>
                  </a:lnTo>
                </a:path>
              </a:pathLst>
            </a:custGeom>
            <a:noFill/>
            <a:ln cap="flat" cmpd="sng" w="381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5621273" y="4038600"/>
              <a:ext cx="609600" cy="1905"/>
            </a:xfrm>
            <a:custGeom>
              <a:rect b="b" l="l" r="r" t="t"/>
              <a:pathLst>
                <a:path extrusionOk="0" h="1904" w="609600">
                  <a:moveTo>
                    <a:pt x="0" y="0"/>
                  </a:moveTo>
                  <a:lnTo>
                    <a:pt x="609600" y="1587"/>
                  </a:lnTo>
                </a:path>
              </a:pathLst>
            </a:custGeom>
            <a:noFill/>
            <a:ln cap="flat" cmpd="sng" w="381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87" name="Google Shape;87;p9"/>
          <p:cNvGrpSpPr/>
          <p:nvPr/>
        </p:nvGrpSpPr>
        <p:grpSpPr>
          <a:xfrm>
            <a:off x="7372350" y="2971800"/>
            <a:ext cx="2684525" cy="2514599"/>
            <a:chOff x="7372350" y="2971800"/>
            <a:chExt cx="2684525" cy="2514599"/>
          </a:xfrm>
        </p:grpSpPr>
        <p:pic>
          <p:nvPicPr>
            <p:cNvPr id="88" name="Google Shape;88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73874" y="2971800"/>
              <a:ext cx="2683001" cy="2514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9"/>
            <p:cNvSpPr/>
            <p:nvPr/>
          </p:nvSpPr>
          <p:spPr>
            <a:xfrm>
              <a:off x="8442199" y="4267200"/>
              <a:ext cx="227329" cy="1143000"/>
            </a:xfrm>
            <a:custGeom>
              <a:rect b="b" l="l" r="r" t="t"/>
              <a:pathLst>
                <a:path extrusionOk="0" h="1143000" w="227329">
                  <a:moveTo>
                    <a:pt x="227012" y="114300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7372350" y="3657600"/>
              <a:ext cx="840105" cy="1600200"/>
            </a:xfrm>
            <a:custGeom>
              <a:rect b="b" l="l" r="r" t="t"/>
              <a:pathLst>
                <a:path extrusionOk="0" h="1600200" w="840104">
                  <a:moveTo>
                    <a:pt x="0" y="1600200"/>
                  </a:moveTo>
                  <a:lnTo>
                    <a:pt x="839787" y="0"/>
                  </a:lnTo>
                </a:path>
              </a:pathLst>
            </a:custGeom>
            <a:noFill/>
            <a:ln cap="flat" cmpd="sng" w="381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8440674" y="4267200"/>
              <a:ext cx="685800" cy="1905"/>
            </a:xfrm>
            <a:custGeom>
              <a:rect b="b" l="l" r="r" t="t"/>
              <a:pathLst>
                <a:path extrusionOk="0" h="1904" w="685800">
                  <a:moveTo>
                    <a:pt x="0" y="0"/>
                  </a:moveTo>
                  <a:lnTo>
                    <a:pt x="685800" y="1587"/>
                  </a:lnTo>
                </a:path>
              </a:pathLst>
            </a:custGeom>
            <a:noFill/>
            <a:ln cap="flat" cmpd="sng" w="381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2" name="Google Shape;92;p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" name="Google Shape;100;p1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" name="Google Shape;101;p1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</a:t>
            </a:r>
            <a:r>
              <a:rPr i="1" lang="en-US">
                <a:latin typeface="Bell MT"/>
                <a:ea typeface="Bell MT"/>
                <a:cs typeface="Bell MT"/>
                <a:sym typeface="Bell MT"/>
              </a:rPr>
              <a:t>Model Fitting</a:t>
            </a:r>
            <a:endParaRPr/>
          </a:p>
        </p:txBody>
      </p:sp>
      <p:grpSp>
        <p:nvGrpSpPr>
          <p:cNvPr id="102" name="Google Shape;102;p10"/>
          <p:cNvGrpSpPr/>
          <p:nvPr/>
        </p:nvGrpSpPr>
        <p:grpSpPr>
          <a:xfrm>
            <a:off x="1381506" y="4394453"/>
            <a:ext cx="4363973" cy="896111"/>
            <a:chOff x="1381506" y="4394453"/>
            <a:chExt cx="4363973" cy="896111"/>
          </a:xfrm>
        </p:grpSpPr>
        <p:pic>
          <p:nvPicPr>
            <p:cNvPr id="103" name="Google Shape;10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81506" y="4405121"/>
              <a:ext cx="640079" cy="8374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93341" y="4394453"/>
              <a:ext cx="4152138" cy="8961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Google Shape;105;p10"/>
          <p:cNvSpPr txBox="1"/>
          <p:nvPr/>
        </p:nvSpPr>
        <p:spPr>
          <a:xfrm>
            <a:off x="688340" y="851177"/>
            <a:ext cx="10633710" cy="5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 u="sng">
                <a:latin typeface="Bell MT"/>
                <a:ea typeface="Bell MT"/>
                <a:cs typeface="Bell MT"/>
                <a:sym typeface="Bell MT"/>
              </a:rPr>
              <a:t>Steps</a:t>
            </a:r>
            <a:r>
              <a:rPr lang="en-US" sz="4000" u="none">
                <a:latin typeface="Bell MT"/>
                <a:ea typeface="Bell MT"/>
                <a:cs typeface="Bell MT"/>
                <a:sym typeface="Bell MT"/>
              </a:rPr>
              <a:t> to get high level features (</a:t>
            </a:r>
            <a:r>
              <a:rPr lang="en-US" sz="40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model fitting</a:t>
            </a:r>
            <a:r>
              <a:rPr lang="en-US" sz="4000" u="none">
                <a:latin typeface="Bell MT"/>
                <a:ea typeface="Bell MT"/>
                <a:cs typeface="Bell MT"/>
                <a:sym typeface="Bell MT"/>
              </a:rPr>
              <a:t>)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1013460" rtl="0" algn="l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–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Choose a </a:t>
            </a:r>
            <a:r>
              <a:rPr lang="en-US" sz="36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parametric model</a:t>
            </a:r>
            <a:r>
              <a:rPr lang="en-US" sz="36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to represent a set of 	</a:t>
            </a:r>
            <a:r>
              <a:rPr lang="en-US" sz="3600" u="sng">
                <a:latin typeface="Bell MT"/>
                <a:ea typeface="Bell MT"/>
                <a:cs typeface="Bell MT"/>
                <a:sym typeface="Bell MT"/>
              </a:rPr>
              <a:t>feature points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127000" rtl="0" algn="l">
              <a:lnSpc>
                <a:spcPct val="100000"/>
              </a:lnSpc>
              <a:spcBef>
                <a:spcPts val="3745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–"/>
            </a:pPr>
            <a:r>
              <a:rPr lang="en-US" sz="3600" u="sng">
                <a:latin typeface="Bell MT"/>
                <a:ea typeface="Bell MT"/>
                <a:cs typeface="Bell MT"/>
                <a:sym typeface="Bell MT"/>
              </a:rPr>
              <a:t>Analysis the set of	feature points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 to see if	they fit in 	the model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Membership criterion is not local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28600" lvl="0" marL="1612265" marR="50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That means, we cannot tell whether a point belongs to a given model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just by looking at that point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1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" name="Google Shape;114;p1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" name="Google Shape;115;p1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</a:t>
            </a:r>
            <a:r>
              <a:rPr i="1" lang="en-US">
                <a:latin typeface="Bell MT"/>
                <a:ea typeface="Bell MT"/>
                <a:cs typeface="Bell MT"/>
                <a:sym typeface="Bell MT"/>
              </a:rPr>
              <a:t>Model Fitting</a:t>
            </a:r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688340" y="866670"/>
            <a:ext cx="10346690" cy="24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2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Three main questions: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What model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represents the given set of	features the best?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How many model instances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are there?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Which of	several model instances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gets which feature?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17" name="Google Shape;117;p11"/>
          <p:cNvGrpSpPr/>
          <p:nvPr/>
        </p:nvGrpSpPr>
        <p:grpSpPr>
          <a:xfrm>
            <a:off x="3733800" y="3810000"/>
            <a:ext cx="2371153" cy="2057400"/>
            <a:chOff x="3733800" y="3810000"/>
            <a:chExt cx="2371153" cy="2057400"/>
          </a:xfrm>
        </p:grpSpPr>
        <p:pic>
          <p:nvPicPr>
            <p:cNvPr id="118" name="Google Shape;118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62284" y="4995100"/>
              <a:ext cx="112395" cy="106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37188" y="4770310"/>
              <a:ext cx="111633" cy="1055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75694" y="4416742"/>
              <a:ext cx="111633" cy="1055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89104" y="3902392"/>
              <a:ext cx="111633" cy="1055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2358" y="5219890"/>
              <a:ext cx="111633" cy="1062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49636" y="5541454"/>
              <a:ext cx="111633" cy="106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856922" y="5251894"/>
              <a:ext cx="111633" cy="106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60176" y="4191190"/>
              <a:ext cx="111633" cy="106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993320" y="4641532"/>
              <a:ext cx="111633" cy="1055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79910" y="5412676"/>
              <a:ext cx="111633" cy="106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15346" y="4866322"/>
              <a:ext cx="111633" cy="106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83164" y="4480750"/>
              <a:ext cx="112395" cy="10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11"/>
            <p:cNvSpPr/>
            <p:nvPr/>
          </p:nvSpPr>
          <p:spPr>
            <a:xfrm>
              <a:off x="3733800" y="3810000"/>
              <a:ext cx="2249170" cy="2057400"/>
            </a:xfrm>
            <a:custGeom>
              <a:rect b="b" l="l" r="r" t="t"/>
              <a:pathLst>
                <a:path extrusionOk="0" h="2057400" w="2249170">
                  <a:moveTo>
                    <a:pt x="0" y="2057400"/>
                  </a:moveTo>
                  <a:lnTo>
                    <a:pt x="224866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31" name="Google Shape;131;p11"/>
          <p:cNvGrpSpPr/>
          <p:nvPr/>
        </p:nvGrpSpPr>
        <p:grpSpPr>
          <a:xfrm>
            <a:off x="6323492" y="3987328"/>
            <a:ext cx="1096645" cy="1520825"/>
            <a:chOff x="6323492" y="3987328"/>
            <a:chExt cx="1096645" cy="1520825"/>
          </a:xfrm>
        </p:grpSpPr>
        <p:pic>
          <p:nvPicPr>
            <p:cNvPr id="132" name="Google Shape;132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43128" y="5316664"/>
              <a:ext cx="111632" cy="1055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810946" y="4673536"/>
              <a:ext cx="111632" cy="106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368224" y="4737544"/>
              <a:ext cx="111633" cy="106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219378" y="5219890"/>
              <a:ext cx="112395" cy="1062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38150" y="4255960"/>
              <a:ext cx="111632" cy="105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11"/>
            <p:cNvSpPr/>
            <p:nvPr/>
          </p:nvSpPr>
          <p:spPr>
            <a:xfrm>
              <a:off x="6323492" y="3987328"/>
              <a:ext cx="1096645" cy="1520825"/>
            </a:xfrm>
            <a:custGeom>
              <a:rect b="b" l="l" r="r" t="t"/>
              <a:pathLst>
                <a:path extrusionOk="0" h="1520825" w="1096645">
                  <a:moveTo>
                    <a:pt x="1096632" y="1520367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8" name="Google Shape;138;p1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1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" name="Google Shape;146;p1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7" name="Google Shape;147;p1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497D"/>
                </a:solidFill>
              </a:rPr>
              <a:t>Challenges in </a:t>
            </a:r>
            <a:r>
              <a:rPr lang="en-US">
                <a:solidFill>
                  <a:schemeClr val="dk2"/>
                </a:solidFill>
              </a:rPr>
              <a:t>Line Fitting</a:t>
            </a:r>
            <a:endParaRPr/>
          </a:p>
        </p:txBody>
      </p:sp>
      <p:sp>
        <p:nvSpPr>
          <p:cNvPr id="148" name="Google Shape;148;p12"/>
          <p:cNvSpPr txBox="1"/>
          <p:nvPr/>
        </p:nvSpPr>
        <p:spPr>
          <a:xfrm>
            <a:off x="688338" y="1207310"/>
            <a:ext cx="7773600" cy="51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-231140" lvl="0" marL="2438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b="1" lang="en-US" sz="3000">
                <a:latin typeface="Bell MT"/>
                <a:ea typeface="Bell MT"/>
                <a:cs typeface="Bell MT"/>
                <a:sym typeface="Bell MT"/>
              </a:rPr>
              <a:t>Extra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edge points (clutter), </a:t>
            </a:r>
            <a:r>
              <a:rPr lang="en-US" sz="3000" u="sng">
                <a:latin typeface="Bell MT"/>
                <a:ea typeface="Bell MT"/>
                <a:cs typeface="Bell MT"/>
                <a:sym typeface="Bell MT"/>
              </a:rPr>
              <a:t>multiple models</a:t>
            </a:r>
            <a:r>
              <a:rPr lang="en-US" sz="3000" u="none">
                <a:latin typeface="Bell MT"/>
                <a:ea typeface="Bell MT"/>
                <a:cs typeface="Bell MT"/>
                <a:sym typeface="Bell MT"/>
              </a:rPr>
              <a:t>: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31140" lvl="1" marL="701040" rtl="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which points go with which line, if	any?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31775" lvl="0" marL="243840" marR="5080" rtl="0" algn="l">
              <a:lnSpc>
                <a:spcPct val="96000"/>
              </a:lnSpc>
              <a:spcBef>
                <a:spcPts val="5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Only some parts of	each line detected, and some parts are </a:t>
            </a:r>
            <a:r>
              <a:rPr b="1" lang="en-US" sz="3000">
                <a:latin typeface="Bell MT"/>
                <a:ea typeface="Bell MT"/>
                <a:cs typeface="Bell MT"/>
                <a:sym typeface="Bell MT"/>
              </a:rPr>
              <a:t>missing: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31140" lvl="1" marL="70104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how to find a line that bridges missing evidence?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31140" lvl="0" marL="243840" rtl="0" algn="l">
              <a:lnSpc>
                <a:spcPct val="100000"/>
              </a:lnSpc>
              <a:spcBef>
                <a:spcPts val="47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b="1" lang="en-US" sz="3000">
                <a:latin typeface="Bell MT"/>
                <a:ea typeface="Bell MT"/>
                <a:cs typeface="Bell MT"/>
                <a:sym typeface="Bell MT"/>
              </a:rPr>
              <a:t>Noise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in measured edge points, orientations: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31775" lvl="1" marL="701040" marR="300990" rtl="0" algn="l">
              <a:lnSpc>
                <a:spcPct val="96153"/>
              </a:lnSpc>
              <a:spcBef>
                <a:spcPts val="122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how to detect true underlying parameters in noisy situation?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49" name="Google Shape;149;p12"/>
          <p:cNvGrpSpPr/>
          <p:nvPr/>
        </p:nvGrpSpPr>
        <p:grpSpPr>
          <a:xfrm>
            <a:off x="8534400" y="2644139"/>
            <a:ext cx="1987104" cy="1905000"/>
            <a:chOff x="8534400" y="2644139"/>
            <a:chExt cx="1987104" cy="1905000"/>
          </a:xfrm>
        </p:grpSpPr>
        <p:pic>
          <p:nvPicPr>
            <p:cNvPr id="150" name="Google Shape;15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28010" y="3740848"/>
              <a:ext cx="94869" cy="98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41954" y="3532822"/>
              <a:ext cx="94869" cy="98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41598" y="3205162"/>
              <a:ext cx="94869" cy="98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55186" y="2728912"/>
              <a:ext cx="94869" cy="98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85516" y="3949636"/>
              <a:ext cx="94869" cy="98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14422" y="4246816"/>
              <a:ext cx="94869" cy="98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311574" y="3979354"/>
              <a:ext cx="95630" cy="98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141904" y="2997136"/>
              <a:ext cx="95630" cy="98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425874" y="3413188"/>
              <a:ext cx="95630" cy="99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912286" y="4127944"/>
              <a:ext cx="95630" cy="98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685466" y="3621976"/>
              <a:ext cx="95630" cy="98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742616" y="3264598"/>
              <a:ext cx="95630" cy="986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2"/>
            <p:cNvSpPr/>
            <p:nvPr/>
          </p:nvSpPr>
          <p:spPr>
            <a:xfrm>
              <a:off x="8534400" y="2644139"/>
              <a:ext cx="1883410" cy="1905000"/>
            </a:xfrm>
            <a:custGeom>
              <a:rect b="b" l="l" r="r" t="t"/>
              <a:pathLst>
                <a:path extrusionOk="0" h="1905000" w="1883409">
                  <a:moveTo>
                    <a:pt x="0" y="1905000"/>
                  </a:moveTo>
                  <a:lnTo>
                    <a:pt x="188290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63" name="Google Shape;163;p12"/>
          <p:cNvGrpSpPr/>
          <p:nvPr/>
        </p:nvGrpSpPr>
        <p:grpSpPr>
          <a:xfrm>
            <a:off x="10713305" y="2818498"/>
            <a:ext cx="898525" cy="1387475"/>
            <a:chOff x="10713305" y="2818498"/>
            <a:chExt cx="898525" cy="1387475"/>
          </a:xfrm>
        </p:grpSpPr>
        <p:pic>
          <p:nvPicPr>
            <p:cNvPr id="164" name="Google Shape;16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53762" y="4038790"/>
              <a:ext cx="94869" cy="98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1110912" y="3442906"/>
              <a:ext cx="94869" cy="99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739818" y="3503104"/>
              <a:ext cx="94869" cy="98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53050" y="3949636"/>
              <a:ext cx="94869" cy="986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0882312" y="3056572"/>
              <a:ext cx="95630" cy="986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2"/>
            <p:cNvSpPr/>
            <p:nvPr/>
          </p:nvSpPr>
          <p:spPr>
            <a:xfrm>
              <a:off x="10713305" y="2818498"/>
              <a:ext cx="898525" cy="1387475"/>
            </a:xfrm>
            <a:custGeom>
              <a:rect b="b" l="l" r="r" t="t"/>
              <a:pathLst>
                <a:path extrusionOk="0" h="1387475" w="898525">
                  <a:moveTo>
                    <a:pt x="898359" y="138710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0" name="Google Shape;170;p1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1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78" name="Google Shape;178;p13"/>
          <p:cNvGrpSpPr/>
          <p:nvPr/>
        </p:nvGrpSpPr>
        <p:grpSpPr>
          <a:xfrm>
            <a:off x="305181" y="967739"/>
            <a:ext cx="11582400" cy="1005839"/>
            <a:chOff x="305181" y="967739"/>
            <a:chExt cx="11582400" cy="1005839"/>
          </a:xfrm>
        </p:grpSpPr>
        <p:sp>
          <p:nvSpPr>
            <p:cNvPr id="179" name="Google Shape;179;p13"/>
            <p:cNvSpPr/>
            <p:nvPr/>
          </p:nvSpPr>
          <p:spPr>
            <a:xfrm>
              <a:off x="305181" y="974978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80" name="Google Shape;18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19250" y="967739"/>
              <a:ext cx="7515605" cy="10058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1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497D"/>
                </a:solidFill>
              </a:rPr>
              <a:t>What is the way ahead?</a:t>
            </a:r>
            <a:endParaRPr/>
          </a:p>
        </p:txBody>
      </p:sp>
      <p:sp>
        <p:nvSpPr>
          <p:cNvPr id="182" name="Google Shape;182;p13"/>
          <p:cNvSpPr txBox="1"/>
          <p:nvPr/>
        </p:nvSpPr>
        <p:spPr>
          <a:xfrm>
            <a:off x="688340" y="1058673"/>
            <a:ext cx="10290810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49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It is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not feasible to check all combinations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of	features by fitting a model to each possible subset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83" name="Google Shape;183;p13"/>
          <p:cNvGrpSpPr/>
          <p:nvPr/>
        </p:nvGrpSpPr>
        <p:grpSpPr>
          <a:xfrm>
            <a:off x="3810000" y="2895600"/>
            <a:ext cx="2980752" cy="2613660"/>
            <a:chOff x="3810000" y="2895600"/>
            <a:chExt cx="2980752" cy="2613660"/>
          </a:xfrm>
        </p:grpSpPr>
        <p:pic>
          <p:nvPicPr>
            <p:cNvPr id="184" name="Google Shape;184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53368" y="4402264"/>
              <a:ext cx="138302" cy="132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24284" y="4116514"/>
              <a:ext cx="138302" cy="132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24512" y="3666934"/>
              <a:ext cx="138302" cy="132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95656" y="3013900"/>
              <a:ext cx="137541" cy="1322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39246" y="4688014"/>
              <a:ext cx="138302" cy="132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2224" y="5096446"/>
              <a:ext cx="138302" cy="132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81000" y="4729162"/>
              <a:ext cx="138303" cy="132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24590" y="3381184"/>
              <a:ext cx="138302" cy="1322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52450" y="3953446"/>
              <a:ext cx="138302" cy="131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81306" y="4933378"/>
              <a:ext cx="138302" cy="132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039552" y="4239196"/>
              <a:ext cx="137540" cy="131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24896" y="3749230"/>
              <a:ext cx="138302" cy="1314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13"/>
            <p:cNvSpPr/>
            <p:nvPr/>
          </p:nvSpPr>
          <p:spPr>
            <a:xfrm>
              <a:off x="3810000" y="2895600"/>
              <a:ext cx="2827020" cy="2613660"/>
            </a:xfrm>
            <a:custGeom>
              <a:rect b="b" l="l" r="r" t="t"/>
              <a:pathLst>
                <a:path extrusionOk="0" h="2613660" w="2827020">
                  <a:moveTo>
                    <a:pt x="0" y="2613660"/>
                  </a:moveTo>
                  <a:lnTo>
                    <a:pt x="282702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97" name="Google Shape;197;p13"/>
          <p:cNvGrpSpPr/>
          <p:nvPr/>
        </p:nvGrpSpPr>
        <p:grpSpPr>
          <a:xfrm>
            <a:off x="7068013" y="3122403"/>
            <a:ext cx="1376680" cy="1929130"/>
            <a:chOff x="7068013" y="3122403"/>
            <a:chExt cx="1376680" cy="1929130"/>
          </a:xfrm>
        </p:grpSpPr>
        <p:pic>
          <p:nvPicPr>
            <p:cNvPr id="198" name="Google Shape;198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595044" y="4810696"/>
              <a:ext cx="137541" cy="132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80388" y="3993832"/>
              <a:ext cx="138302" cy="132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123366" y="4075366"/>
              <a:ext cx="138302" cy="132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94738" y="4688014"/>
              <a:ext cx="138302" cy="132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338250" y="3462718"/>
              <a:ext cx="137541" cy="1322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13"/>
            <p:cNvSpPr/>
            <p:nvPr/>
          </p:nvSpPr>
          <p:spPr>
            <a:xfrm>
              <a:off x="7068013" y="3122403"/>
              <a:ext cx="1376680" cy="1929130"/>
            </a:xfrm>
            <a:custGeom>
              <a:rect b="b" l="l" r="r" t="t"/>
              <a:pathLst>
                <a:path extrusionOk="0" h="1929129" w="1376679">
                  <a:moveTo>
                    <a:pt x="1376070" y="192852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4" name="Google Shape;204;p1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1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1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2" name="Google Shape;212;p1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3" name="Google Shape;213;p14"/>
          <p:cNvSpPr txBox="1"/>
          <p:nvPr>
            <p:ph idx="4294967295" type="title"/>
          </p:nvPr>
        </p:nvSpPr>
        <p:spPr>
          <a:xfrm>
            <a:off x="0" y="153150"/>
            <a:ext cx="121920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Hough Transform: </a:t>
            </a:r>
            <a:r>
              <a:rPr lang="en-US"/>
              <a:t>Fitting Models using Voting</a:t>
            </a:r>
            <a:endParaRPr/>
          </a:p>
        </p:txBody>
      </p:sp>
      <p:grpSp>
        <p:nvGrpSpPr>
          <p:cNvPr id="214" name="Google Shape;214;p14"/>
          <p:cNvGrpSpPr/>
          <p:nvPr/>
        </p:nvGrpSpPr>
        <p:grpSpPr>
          <a:xfrm>
            <a:off x="952500" y="2136648"/>
            <a:ext cx="4021073" cy="786383"/>
            <a:chOff x="952500" y="2136648"/>
            <a:chExt cx="4021073" cy="786383"/>
          </a:xfrm>
        </p:grpSpPr>
        <p:pic>
          <p:nvPicPr>
            <p:cNvPr id="215" name="Google Shape;21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00" y="2145030"/>
              <a:ext cx="635507" cy="7353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3772" y="2136648"/>
              <a:ext cx="3749801" cy="7863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7" name="Google Shape;217;p14"/>
          <p:cNvGrpSpPr/>
          <p:nvPr/>
        </p:nvGrpSpPr>
        <p:grpSpPr>
          <a:xfrm>
            <a:off x="7011923" y="2724911"/>
            <a:ext cx="2396489" cy="786383"/>
            <a:chOff x="7011923" y="2724911"/>
            <a:chExt cx="2396489" cy="786383"/>
          </a:xfrm>
        </p:grpSpPr>
        <p:pic>
          <p:nvPicPr>
            <p:cNvPr id="218" name="Google Shape;218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11923" y="2724911"/>
              <a:ext cx="2396489" cy="7863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25284" y="3190493"/>
              <a:ext cx="1969769" cy="571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0" name="Google Shape;220;p14"/>
          <p:cNvGrpSpPr/>
          <p:nvPr/>
        </p:nvGrpSpPr>
        <p:grpSpPr>
          <a:xfrm>
            <a:off x="8788145" y="3974591"/>
            <a:ext cx="3300983" cy="786383"/>
            <a:chOff x="8788145" y="3974591"/>
            <a:chExt cx="3300983" cy="786383"/>
          </a:xfrm>
        </p:grpSpPr>
        <p:pic>
          <p:nvPicPr>
            <p:cNvPr id="221" name="Google Shape;221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001505" y="4440173"/>
              <a:ext cx="2786632" cy="57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788145" y="3974591"/>
              <a:ext cx="3300983" cy="7863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3" name="Google Shape;223;p14"/>
          <p:cNvGrpSpPr/>
          <p:nvPr/>
        </p:nvGrpSpPr>
        <p:grpSpPr>
          <a:xfrm>
            <a:off x="1223772" y="4401311"/>
            <a:ext cx="1603235" cy="786383"/>
            <a:chOff x="1223772" y="4401311"/>
            <a:chExt cx="1603235" cy="786383"/>
          </a:xfrm>
        </p:grpSpPr>
        <p:pic>
          <p:nvPicPr>
            <p:cNvPr id="224" name="Google Shape;224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223772" y="4401311"/>
              <a:ext cx="1603235" cy="7863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437131" y="4866894"/>
              <a:ext cx="1176527" cy="57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" name="Google Shape;226;p14"/>
          <p:cNvSpPr txBox="1"/>
          <p:nvPr/>
        </p:nvSpPr>
        <p:spPr>
          <a:xfrm>
            <a:off x="688340" y="987807"/>
            <a:ext cx="11076305" cy="511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3535" lvl="0" marL="355600" marR="2146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Voting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is a general technique where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we let the features vote for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all models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that are compatible with it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19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Cycle through features, cast votes for model parameters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127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Look for model parameters that receive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a lot of	votes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33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Noise &amp; clutter features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will cast votes too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55650" marR="5080" rtl="0" algn="l">
              <a:lnSpc>
                <a:spcPct val="100000"/>
              </a:lnSpc>
              <a:spcBef>
                <a:spcPts val="130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typically their votes should be inconsistent with the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majority of	“good”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features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33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Multiple fragments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A model can span multiple fragments if	some features are not observed 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lang="en-US" sz="21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acceptable)</a:t>
            </a:r>
            <a:endParaRPr sz="21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227" name="Google Shape;227;p14"/>
          <p:cNvGrpSpPr/>
          <p:nvPr/>
        </p:nvGrpSpPr>
        <p:grpSpPr>
          <a:xfrm>
            <a:off x="9573006" y="2400300"/>
            <a:ext cx="1465896" cy="1143000"/>
            <a:chOff x="9573006" y="2400300"/>
            <a:chExt cx="1465896" cy="1143000"/>
          </a:xfrm>
        </p:grpSpPr>
        <p:pic>
          <p:nvPicPr>
            <p:cNvPr id="228" name="Google Shape;228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0082974" y="3056572"/>
              <a:ext cx="72771" cy="63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14"/>
            <p:cNvSpPr/>
            <p:nvPr/>
          </p:nvSpPr>
          <p:spPr>
            <a:xfrm>
              <a:off x="10319385" y="2936366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31623" y="0"/>
                  </a:moveTo>
                  <a:lnTo>
                    <a:pt x="19314" y="2095"/>
                  </a:lnTo>
                  <a:lnTo>
                    <a:pt x="9263" y="7810"/>
                  </a:lnTo>
                  <a:lnTo>
                    <a:pt x="2485" y="16287"/>
                  </a:lnTo>
                  <a:lnTo>
                    <a:pt x="0" y="26670"/>
                  </a:lnTo>
                  <a:lnTo>
                    <a:pt x="2485" y="37052"/>
                  </a:lnTo>
                  <a:lnTo>
                    <a:pt x="9263" y="45529"/>
                  </a:lnTo>
                  <a:lnTo>
                    <a:pt x="19314" y="51244"/>
                  </a:lnTo>
                  <a:lnTo>
                    <a:pt x="31623" y="53340"/>
                  </a:lnTo>
                  <a:lnTo>
                    <a:pt x="43931" y="51244"/>
                  </a:lnTo>
                  <a:lnTo>
                    <a:pt x="53982" y="45529"/>
                  </a:lnTo>
                  <a:lnTo>
                    <a:pt x="60760" y="37052"/>
                  </a:lnTo>
                  <a:lnTo>
                    <a:pt x="63246" y="26670"/>
                  </a:lnTo>
                  <a:lnTo>
                    <a:pt x="60760" y="16287"/>
                  </a:lnTo>
                  <a:lnTo>
                    <a:pt x="53982" y="7810"/>
                  </a:lnTo>
                  <a:lnTo>
                    <a:pt x="43931" y="2095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10319385" y="2936366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0" y="26670"/>
                  </a:moveTo>
                  <a:lnTo>
                    <a:pt x="2485" y="16287"/>
                  </a:lnTo>
                  <a:lnTo>
                    <a:pt x="9263" y="7810"/>
                  </a:lnTo>
                  <a:lnTo>
                    <a:pt x="19314" y="2095"/>
                  </a:lnTo>
                  <a:lnTo>
                    <a:pt x="31623" y="0"/>
                  </a:lnTo>
                  <a:lnTo>
                    <a:pt x="43931" y="2095"/>
                  </a:lnTo>
                  <a:lnTo>
                    <a:pt x="53982" y="7810"/>
                  </a:lnTo>
                  <a:lnTo>
                    <a:pt x="60760" y="16287"/>
                  </a:lnTo>
                  <a:lnTo>
                    <a:pt x="63246" y="26670"/>
                  </a:lnTo>
                  <a:lnTo>
                    <a:pt x="60760" y="37052"/>
                  </a:lnTo>
                  <a:lnTo>
                    <a:pt x="53982" y="45529"/>
                  </a:lnTo>
                  <a:lnTo>
                    <a:pt x="43931" y="51244"/>
                  </a:lnTo>
                  <a:lnTo>
                    <a:pt x="31623" y="53340"/>
                  </a:lnTo>
                  <a:lnTo>
                    <a:pt x="19314" y="51244"/>
                  </a:lnTo>
                  <a:lnTo>
                    <a:pt x="9263" y="45529"/>
                  </a:lnTo>
                  <a:lnTo>
                    <a:pt x="2485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31" name="Google Shape;231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461688" y="2735008"/>
              <a:ext cx="72771" cy="63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840402" y="2449258"/>
              <a:ext cx="72771" cy="63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977818" y="3181540"/>
              <a:ext cx="72771" cy="63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14"/>
            <p:cNvSpPr/>
            <p:nvPr/>
          </p:nvSpPr>
          <p:spPr>
            <a:xfrm>
              <a:off x="9709023" y="3365372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31623" y="0"/>
                  </a:moveTo>
                  <a:lnTo>
                    <a:pt x="19314" y="2095"/>
                  </a:lnTo>
                  <a:lnTo>
                    <a:pt x="9263" y="7810"/>
                  </a:lnTo>
                  <a:lnTo>
                    <a:pt x="2485" y="16287"/>
                  </a:lnTo>
                  <a:lnTo>
                    <a:pt x="0" y="26670"/>
                  </a:lnTo>
                  <a:lnTo>
                    <a:pt x="2485" y="37052"/>
                  </a:lnTo>
                  <a:lnTo>
                    <a:pt x="9263" y="45529"/>
                  </a:lnTo>
                  <a:lnTo>
                    <a:pt x="19314" y="51244"/>
                  </a:lnTo>
                  <a:lnTo>
                    <a:pt x="31623" y="53340"/>
                  </a:lnTo>
                  <a:lnTo>
                    <a:pt x="43931" y="51244"/>
                  </a:lnTo>
                  <a:lnTo>
                    <a:pt x="53982" y="45529"/>
                  </a:lnTo>
                  <a:lnTo>
                    <a:pt x="60760" y="37052"/>
                  </a:lnTo>
                  <a:lnTo>
                    <a:pt x="63246" y="26670"/>
                  </a:lnTo>
                  <a:lnTo>
                    <a:pt x="60760" y="16287"/>
                  </a:lnTo>
                  <a:lnTo>
                    <a:pt x="53982" y="7810"/>
                  </a:lnTo>
                  <a:lnTo>
                    <a:pt x="43931" y="2095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9709023" y="3365372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0" y="26670"/>
                  </a:moveTo>
                  <a:lnTo>
                    <a:pt x="2485" y="16287"/>
                  </a:lnTo>
                  <a:lnTo>
                    <a:pt x="9263" y="7810"/>
                  </a:lnTo>
                  <a:lnTo>
                    <a:pt x="19314" y="2095"/>
                  </a:lnTo>
                  <a:lnTo>
                    <a:pt x="31623" y="0"/>
                  </a:lnTo>
                  <a:lnTo>
                    <a:pt x="43931" y="2095"/>
                  </a:lnTo>
                  <a:lnTo>
                    <a:pt x="53982" y="7810"/>
                  </a:lnTo>
                  <a:lnTo>
                    <a:pt x="60760" y="16287"/>
                  </a:lnTo>
                  <a:lnTo>
                    <a:pt x="63246" y="26670"/>
                  </a:lnTo>
                  <a:lnTo>
                    <a:pt x="60760" y="37052"/>
                  </a:lnTo>
                  <a:lnTo>
                    <a:pt x="53982" y="45529"/>
                  </a:lnTo>
                  <a:lnTo>
                    <a:pt x="43931" y="51244"/>
                  </a:lnTo>
                  <a:lnTo>
                    <a:pt x="31623" y="53340"/>
                  </a:lnTo>
                  <a:lnTo>
                    <a:pt x="19314" y="51244"/>
                  </a:lnTo>
                  <a:lnTo>
                    <a:pt x="9263" y="45529"/>
                  </a:lnTo>
                  <a:lnTo>
                    <a:pt x="2485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10887075" y="3204591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31623" y="0"/>
                  </a:moveTo>
                  <a:lnTo>
                    <a:pt x="19314" y="2095"/>
                  </a:lnTo>
                  <a:lnTo>
                    <a:pt x="9263" y="7810"/>
                  </a:lnTo>
                  <a:lnTo>
                    <a:pt x="2485" y="16287"/>
                  </a:lnTo>
                  <a:lnTo>
                    <a:pt x="0" y="26670"/>
                  </a:lnTo>
                  <a:lnTo>
                    <a:pt x="2485" y="37052"/>
                  </a:lnTo>
                  <a:lnTo>
                    <a:pt x="9263" y="45529"/>
                  </a:lnTo>
                  <a:lnTo>
                    <a:pt x="19314" y="51244"/>
                  </a:lnTo>
                  <a:lnTo>
                    <a:pt x="31623" y="53340"/>
                  </a:lnTo>
                  <a:lnTo>
                    <a:pt x="43931" y="51244"/>
                  </a:lnTo>
                  <a:lnTo>
                    <a:pt x="53982" y="45529"/>
                  </a:lnTo>
                  <a:lnTo>
                    <a:pt x="60760" y="37052"/>
                  </a:lnTo>
                  <a:lnTo>
                    <a:pt x="63246" y="26670"/>
                  </a:lnTo>
                  <a:lnTo>
                    <a:pt x="60760" y="16287"/>
                  </a:lnTo>
                  <a:lnTo>
                    <a:pt x="53982" y="7810"/>
                  </a:lnTo>
                  <a:lnTo>
                    <a:pt x="43931" y="2095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10887075" y="3204591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0" y="26670"/>
                  </a:moveTo>
                  <a:lnTo>
                    <a:pt x="2485" y="16287"/>
                  </a:lnTo>
                  <a:lnTo>
                    <a:pt x="9263" y="7810"/>
                  </a:lnTo>
                  <a:lnTo>
                    <a:pt x="19314" y="2095"/>
                  </a:lnTo>
                  <a:lnTo>
                    <a:pt x="31623" y="0"/>
                  </a:lnTo>
                  <a:lnTo>
                    <a:pt x="43931" y="2095"/>
                  </a:lnTo>
                  <a:lnTo>
                    <a:pt x="53982" y="7810"/>
                  </a:lnTo>
                  <a:lnTo>
                    <a:pt x="60760" y="16287"/>
                  </a:lnTo>
                  <a:lnTo>
                    <a:pt x="63246" y="26670"/>
                  </a:lnTo>
                  <a:lnTo>
                    <a:pt x="60760" y="37052"/>
                  </a:lnTo>
                  <a:lnTo>
                    <a:pt x="53982" y="45529"/>
                  </a:lnTo>
                  <a:lnTo>
                    <a:pt x="43931" y="51244"/>
                  </a:lnTo>
                  <a:lnTo>
                    <a:pt x="31623" y="53340"/>
                  </a:lnTo>
                  <a:lnTo>
                    <a:pt x="19314" y="51244"/>
                  </a:lnTo>
                  <a:lnTo>
                    <a:pt x="9263" y="45529"/>
                  </a:lnTo>
                  <a:lnTo>
                    <a:pt x="2485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38" name="Google Shape;238;p1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0019728" y="2610041"/>
              <a:ext cx="72771" cy="63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1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0966894" y="2859976"/>
              <a:ext cx="72008" cy="63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14"/>
            <p:cNvSpPr/>
            <p:nvPr/>
          </p:nvSpPr>
          <p:spPr>
            <a:xfrm>
              <a:off x="10592943" y="3293744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31623" y="0"/>
                  </a:moveTo>
                  <a:lnTo>
                    <a:pt x="19314" y="2095"/>
                  </a:lnTo>
                  <a:lnTo>
                    <a:pt x="9263" y="7810"/>
                  </a:lnTo>
                  <a:lnTo>
                    <a:pt x="2485" y="16287"/>
                  </a:lnTo>
                  <a:lnTo>
                    <a:pt x="0" y="26670"/>
                  </a:lnTo>
                  <a:lnTo>
                    <a:pt x="2485" y="37052"/>
                  </a:lnTo>
                  <a:lnTo>
                    <a:pt x="9263" y="45529"/>
                  </a:lnTo>
                  <a:lnTo>
                    <a:pt x="19314" y="51244"/>
                  </a:lnTo>
                  <a:lnTo>
                    <a:pt x="31623" y="53340"/>
                  </a:lnTo>
                  <a:lnTo>
                    <a:pt x="43931" y="51244"/>
                  </a:lnTo>
                  <a:lnTo>
                    <a:pt x="53982" y="45529"/>
                  </a:lnTo>
                  <a:lnTo>
                    <a:pt x="60760" y="37052"/>
                  </a:lnTo>
                  <a:lnTo>
                    <a:pt x="63246" y="26670"/>
                  </a:lnTo>
                  <a:lnTo>
                    <a:pt x="60760" y="16287"/>
                  </a:lnTo>
                  <a:lnTo>
                    <a:pt x="53982" y="7810"/>
                  </a:lnTo>
                  <a:lnTo>
                    <a:pt x="43931" y="2095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10592943" y="3293744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0" y="26670"/>
                  </a:moveTo>
                  <a:lnTo>
                    <a:pt x="2485" y="16287"/>
                  </a:lnTo>
                  <a:lnTo>
                    <a:pt x="9263" y="7810"/>
                  </a:lnTo>
                  <a:lnTo>
                    <a:pt x="19314" y="2095"/>
                  </a:lnTo>
                  <a:lnTo>
                    <a:pt x="31623" y="0"/>
                  </a:lnTo>
                  <a:lnTo>
                    <a:pt x="43931" y="2095"/>
                  </a:lnTo>
                  <a:lnTo>
                    <a:pt x="53982" y="7810"/>
                  </a:lnTo>
                  <a:lnTo>
                    <a:pt x="60760" y="16287"/>
                  </a:lnTo>
                  <a:lnTo>
                    <a:pt x="63246" y="26670"/>
                  </a:lnTo>
                  <a:lnTo>
                    <a:pt x="60760" y="37052"/>
                  </a:lnTo>
                  <a:lnTo>
                    <a:pt x="53982" y="45529"/>
                  </a:lnTo>
                  <a:lnTo>
                    <a:pt x="43931" y="51244"/>
                  </a:lnTo>
                  <a:lnTo>
                    <a:pt x="31623" y="53340"/>
                  </a:lnTo>
                  <a:lnTo>
                    <a:pt x="19314" y="51244"/>
                  </a:lnTo>
                  <a:lnTo>
                    <a:pt x="9263" y="45529"/>
                  </a:lnTo>
                  <a:lnTo>
                    <a:pt x="2485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42" name="Google Shape;242;p1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683686" y="2984944"/>
              <a:ext cx="72771" cy="63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725596" y="2770822"/>
              <a:ext cx="72771" cy="63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14"/>
            <p:cNvSpPr/>
            <p:nvPr/>
          </p:nvSpPr>
          <p:spPr>
            <a:xfrm>
              <a:off x="9573006" y="2400300"/>
              <a:ext cx="1388745" cy="1143000"/>
            </a:xfrm>
            <a:custGeom>
              <a:rect b="b" l="l" r="r" t="t"/>
              <a:pathLst>
                <a:path extrusionOk="0" h="1143000" w="1388745">
                  <a:moveTo>
                    <a:pt x="0" y="1143000"/>
                  </a:moveTo>
                  <a:lnTo>
                    <a:pt x="138836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45" name="Google Shape;245;p14"/>
          <p:cNvGrpSpPr/>
          <p:nvPr/>
        </p:nvGrpSpPr>
        <p:grpSpPr>
          <a:xfrm>
            <a:off x="11165128" y="2491588"/>
            <a:ext cx="691515" cy="859155"/>
            <a:chOff x="11165128" y="2491588"/>
            <a:chExt cx="691515" cy="859155"/>
          </a:xfrm>
        </p:grpSpPr>
        <p:sp>
          <p:nvSpPr>
            <p:cNvPr id="246" name="Google Shape;246;p14"/>
            <p:cNvSpPr/>
            <p:nvPr/>
          </p:nvSpPr>
          <p:spPr>
            <a:xfrm>
              <a:off x="11434190" y="3240404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31623" y="0"/>
                  </a:moveTo>
                  <a:lnTo>
                    <a:pt x="19314" y="2095"/>
                  </a:lnTo>
                  <a:lnTo>
                    <a:pt x="9263" y="7810"/>
                  </a:lnTo>
                  <a:lnTo>
                    <a:pt x="2485" y="16287"/>
                  </a:lnTo>
                  <a:lnTo>
                    <a:pt x="0" y="26670"/>
                  </a:lnTo>
                  <a:lnTo>
                    <a:pt x="2485" y="37052"/>
                  </a:lnTo>
                  <a:lnTo>
                    <a:pt x="9263" y="45529"/>
                  </a:lnTo>
                  <a:lnTo>
                    <a:pt x="19314" y="51244"/>
                  </a:lnTo>
                  <a:lnTo>
                    <a:pt x="31623" y="53340"/>
                  </a:lnTo>
                  <a:lnTo>
                    <a:pt x="43931" y="51244"/>
                  </a:lnTo>
                  <a:lnTo>
                    <a:pt x="53982" y="45529"/>
                  </a:lnTo>
                  <a:lnTo>
                    <a:pt x="60760" y="37052"/>
                  </a:lnTo>
                  <a:lnTo>
                    <a:pt x="63246" y="26670"/>
                  </a:lnTo>
                  <a:lnTo>
                    <a:pt x="60760" y="16287"/>
                  </a:lnTo>
                  <a:lnTo>
                    <a:pt x="53982" y="7810"/>
                  </a:lnTo>
                  <a:lnTo>
                    <a:pt x="43931" y="2095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11434190" y="3240404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0" y="26670"/>
                  </a:moveTo>
                  <a:lnTo>
                    <a:pt x="2485" y="16287"/>
                  </a:lnTo>
                  <a:lnTo>
                    <a:pt x="9263" y="7810"/>
                  </a:lnTo>
                  <a:lnTo>
                    <a:pt x="19314" y="2095"/>
                  </a:lnTo>
                  <a:lnTo>
                    <a:pt x="31623" y="0"/>
                  </a:lnTo>
                  <a:lnTo>
                    <a:pt x="43931" y="2095"/>
                  </a:lnTo>
                  <a:lnTo>
                    <a:pt x="53982" y="7810"/>
                  </a:lnTo>
                  <a:lnTo>
                    <a:pt x="60760" y="16287"/>
                  </a:lnTo>
                  <a:lnTo>
                    <a:pt x="63246" y="26670"/>
                  </a:lnTo>
                  <a:lnTo>
                    <a:pt x="60760" y="37052"/>
                  </a:lnTo>
                  <a:lnTo>
                    <a:pt x="53982" y="45529"/>
                  </a:lnTo>
                  <a:lnTo>
                    <a:pt x="43931" y="51244"/>
                  </a:lnTo>
                  <a:lnTo>
                    <a:pt x="31623" y="53340"/>
                  </a:lnTo>
                  <a:lnTo>
                    <a:pt x="19314" y="51244"/>
                  </a:lnTo>
                  <a:lnTo>
                    <a:pt x="9263" y="45529"/>
                  </a:lnTo>
                  <a:lnTo>
                    <a:pt x="2485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11476100" y="2883026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31623" y="0"/>
                  </a:moveTo>
                  <a:lnTo>
                    <a:pt x="19314" y="2095"/>
                  </a:lnTo>
                  <a:lnTo>
                    <a:pt x="9263" y="7810"/>
                  </a:lnTo>
                  <a:lnTo>
                    <a:pt x="2485" y="16287"/>
                  </a:lnTo>
                  <a:lnTo>
                    <a:pt x="0" y="26670"/>
                  </a:lnTo>
                  <a:lnTo>
                    <a:pt x="2485" y="37052"/>
                  </a:lnTo>
                  <a:lnTo>
                    <a:pt x="9263" y="45529"/>
                  </a:lnTo>
                  <a:lnTo>
                    <a:pt x="19314" y="51244"/>
                  </a:lnTo>
                  <a:lnTo>
                    <a:pt x="31623" y="53340"/>
                  </a:lnTo>
                  <a:lnTo>
                    <a:pt x="43931" y="51244"/>
                  </a:lnTo>
                  <a:lnTo>
                    <a:pt x="53982" y="45529"/>
                  </a:lnTo>
                  <a:lnTo>
                    <a:pt x="60760" y="37052"/>
                  </a:lnTo>
                  <a:lnTo>
                    <a:pt x="63246" y="26670"/>
                  </a:lnTo>
                  <a:lnTo>
                    <a:pt x="60760" y="16287"/>
                  </a:lnTo>
                  <a:lnTo>
                    <a:pt x="53982" y="7810"/>
                  </a:lnTo>
                  <a:lnTo>
                    <a:pt x="43931" y="2095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11476100" y="2883026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0" y="26670"/>
                  </a:moveTo>
                  <a:lnTo>
                    <a:pt x="2485" y="16287"/>
                  </a:lnTo>
                  <a:lnTo>
                    <a:pt x="9263" y="7810"/>
                  </a:lnTo>
                  <a:lnTo>
                    <a:pt x="19314" y="2095"/>
                  </a:lnTo>
                  <a:lnTo>
                    <a:pt x="31623" y="0"/>
                  </a:lnTo>
                  <a:lnTo>
                    <a:pt x="43931" y="2095"/>
                  </a:lnTo>
                  <a:lnTo>
                    <a:pt x="53982" y="7810"/>
                  </a:lnTo>
                  <a:lnTo>
                    <a:pt x="60760" y="16287"/>
                  </a:lnTo>
                  <a:lnTo>
                    <a:pt x="63246" y="26670"/>
                  </a:lnTo>
                  <a:lnTo>
                    <a:pt x="60760" y="37052"/>
                  </a:lnTo>
                  <a:lnTo>
                    <a:pt x="53982" y="45529"/>
                  </a:lnTo>
                  <a:lnTo>
                    <a:pt x="43931" y="51244"/>
                  </a:lnTo>
                  <a:lnTo>
                    <a:pt x="31623" y="53340"/>
                  </a:lnTo>
                  <a:lnTo>
                    <a:pt x="19314" y="51244"/>
                  </a:lnTo>
                  <a:lnTo>
                    <a:pt x="9263" y="45529"/>
                  </a:lnTo>
                  <a:lnTo>
                    <a:pt x="2485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11202542" y="2918840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31623" y="0"/>
                  </a:moveTo>
                  <a:lnTo>
                    <a:pt x="19314" y="2095"/>
                  </a:lnTo>
                  <a:lnTo>
                    <a:pt x="9263" y="7810"/>
                  </a:lnTo>
                  <a:lnTo>
                    <a:pt x="2485" y="16287"/>
                  </a:lnTo>
                  <a:lnTo>
                    <a:pt x="0" y="26670"/>
                  </a:lnTo>
                  <a:lnTo>
                    <a:pt x="2485" y="37052"/>
                  </a:lnTo>
                  <a:lnTo>
                    <a:pt x="9263" y="45529"/>
                  </a:lnTo>
                  <a:lnTo>
                    <a:pt x="19314" y="51244"/>
                  </a:lnTo>
                  <a:lnTo>
                    <a:pt x="31623" y="53340"/>
                  </a:lnTo>
                  <a:lnTo>
                    <a:pt x="43931" y="51244"/>
                  </a:lnTo>
                  <a:lnTo>
                    <a:pt x="53982" y="45529"/>
                  </a:lnTo>
                  <a:lnTo>
                    <a:pt x="60760" y="37052"/>
                  </a:lnTo>
                  <a:lnTo>
                    <a:pt x="63246" y="26670"/>
                  </a:lnTo>
                  <a:lnTo>
                    <a:pt x="60760" y="16287"/>
                  </a:lnTo>
                  <a:lnTo>
                    <a:pt x="53982" y="7810"/>
                  </a:lnTo>
                  <a:lnTo>
                    <a:pt x="43931" y="2095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11202542" y="2918840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0" y="26670"/>
                  </a:moveTo>
                  <a:lnTo>
                    <a:pt x="2485" y="16287"/>
                  </a:lnTo>
                  <a:lnTo>
                    <a:pt x="9263" y="7810"/>
                  </a:lnTo>
                  <a:lnTo>
                    <a:pt x="19314" y="2095"/>
                  </a:lnTo>
                  <a:lnTo>
                    <a:pt x="31623" y="0"/>
                  </a:lnTo>
                  <a:lnTo>
                    <a:pt x="43931" y="2095"/>
                  </a:lnTo>
                  <a:lnTo>
                    <a:pt x="53982" y="7810"/>
                  </a:lnTo>
                  <a:lnTo>
                    <a:pt x="60760" y="16287"/>
                  </a:lnTo>
                  <a:lnTo>
                    <a:pt x="63246" y="26670"/>
                  </a:lnTo>
                  <a:lnTo>
                    <a:pt x="60760" y="37052"/>
                  </a:lnTo>
                  <a:lnTo>
                    <a:pt x="53982" y="45529"/>
                  </a:lnTo>
                  <a:lnTo>
                    <a:pt x="43931" y="51244"/>
                  </a:lnTo>
                  <a:lnTo>
                    <a:pt x="31623" y="53340"/>
                  </a:lnTo>
                  <a:lnTo>
                    <a:pt x="19314" y="51244"/>
                  </a:lnTo>
                  <a:lnTo>
                    <a:pt x="9263" y="45529"/>
                  </a:lnTo>
                  <a:lnTo>
                    <a:pt x="2485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52" name="Google Shape;252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1723560" y="3181540"/>
              <a:ext cx="72771" cy="63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14"/>
            <p:cNvSpPr/>
            <p:nvPr/>
          </p:nvSpPr>
          <p:spPr>
            <a:xfrm>
              <a:off x="11307698" y="2650616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31623" y="0"/>
                  </a:moveTo>
                  <a:lnTo>
                    <a:pt x="19314" y="2095"/>
                  </a:lnTo>
                  <a:lnTo>
                    <a:pt x="9263" y="7810"/>
                  </a:lnTo>
                  <a:lnTo>
                    <a:pt x="2485" y="16287"/>
                  </a:lnTo>
                  <a:lnTo>
                    <a:pt x="0" y="26670"/>
                  </a:lnTo>
                  <a:lnTo>
                    <a:pt x="2485" y="37052"/>
                  </a:lnTo>
                  <a:lnTo>
                    <a:pt x="9263" y="45529"/>
                  </a:lnTo>
                  <a:lnTo>
                    <a:pt x="19314" y="51244"/>
                  </a:lnTo>
                  <a:lnTo>
                    <a:pt x="31623" y="53340"/>
                  </a:lnTo>
                  <a:lnTo>
                    <a:pt x="43931" y="51244"/>
                  </a:lnTo>
                  <a:lnTo>
                    <a:pt x="53982" y="45529"/>
                  </a:lnTo>
                  <a:lnTo>
                    <a:pt x="60760" y="37052"/>
                  </a:lnTo>
                  <a:lnTo>
                    <a:pt x="63246" y="26670"/>
                  </a:lnTo>
                  <a:lnTo>
                    <a:pt x="60760" y="16287"/>
                  </a:lnTo>
                  <a:lnTo>
                    <a:pt x="53982" y="7810"/>
                  </a:lnTo>
                  <a:lnTo>
                    <a:pt x="43931" y="2095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11307698" y="2650616"/>
              <a:ext cx="63500" cy="53340"/>
            </a:xfrm>
            <a:custGeom>
              <a:rect b="b" l="l" r="r" t="t"/>
              <a:pathLst>
                <a:path extrusionOk="0" h="53339" w="63500">
                  <a:moveTo>
                    <a:pt x="0" y="26670"/>
                  </a:moveTo>
                  <a:lnTo>
                    <a:pt x="2485" y="16287"/>
                  </a:lnTo>
                  <a:lnTo>
                    <a:pt x="9263" y="7810"/>
                  </a:lnTo>
                  <a:lnTo>
                    <a:pt x="19314" y="2095"/>
                  </a:lnTo>
                  <a:lnTo>
                    <a:pt x="31623" y="0"/>
                  </a:lnTo>
                  <a:lnTo>
                    <a:pt x="43931" y="2095"/>
                  </a:lnTo>
                  <a:lnTo>
                    <a:pt x="53982" y="7810"/>
                  </a:lnTo>
                  <a:lnTo>
                    <a:pt x="60760" y="16287"/>
                  </a:lnTo>
                  <a:lnTo>
                    <a:pt x="63246" y="26670"/>
                  </a:lnTo>
                  <a:lnTo>
                    <a:pt x="60760" y="37052"/>
                  </a:lnTo>
                  <a:lnTo>
                    <a:pt x="53982" y="45529"/>
                  </a:lnTo>
                  <a:lnTo>
                    <a:pt x="43931" y="51244"/>
                  </a:lnTo>
                  <a:lnTo>
                    <a:pt x="31623" y="53340"/>
                  </a:lnTo>
                  <a:lnTo>
                    <a:pt x="19314" y="51244"/>
                  </a:lnTo>
                  <a:lnTo>
                    <a:pt x="9263" y="45529"/>
                  </a:lnTo>
                  <a:lnTo>
                    <a:pt x="2485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11165128" y="2491588"/>
              <a:ext cx="691515" cy="859155"/>
            </a:xfrm>
            <a:custGeom>
              <a:rect b="b" l="l" r="r" t="t"/>
              <a:pathLst>
                <a:path extrusionOk="0" h="859154" w="691515">
                  <a:moveTo>
                    <a:pt x="691222" y="85910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6" name="Google Shape;256;p1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7" name="Google Shape;257;p1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1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4" name="Google Shape;264;p1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5" name="Google Shape;265;p1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Hough Transform: </a:t>
            </a:r>
            <a:r>
              <a:rPr lang="en-US"/>
              <a:t>Fitting Models using Voting</a:t>
            </a:r>
            <a:endParaRPr/>
          </a:p>
        </p:txBody>
      </p:sp>
      <p:sp>
        <p:nvSpPr>
          <p:cNvPr id="266" name="Google Shape;266;p15"/>
          <p:cNvSpPr txBox="1"/>
          <p:nvPr/>
        </p:nvSpPr>
        <p:spPr>
          <a:xfrm>
            <a:off x="688340" y="857613"/>
            <a:ext cx="1077595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8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b="1"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Main idea of	Hough Transform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marR="5080" rtl="0" algn="l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SzPts val="3600"/>
              <a:buFont typeface="Bell MT"/>
              <a:buAutoNum type="arabicPeriod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	Record all possible </a:t>
            </a:r>
            <a:r>
              <a:rPr lang="en-US" sz="3600" u="sng">
                <a:latin typeface="Bell MT"/>
                <a:ea typeface="Bell MT"/>
                <a:cs typeface="Bell MT"/>
                <a:sym typeface="Bell MT"/>
              </a:rPr>
              <a:t>models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 on which each </a:t>
            </a:r>
            <a:r>
              <a:rPr lang="en-US" sz="3600" u="sng">
                <a:latin typeface="Bell MT"/>
                <a:ea typeface="Bell MT"/>
                <a:cs typeface="Bell MT"/>
                <a:sym typeface="Bell MT"/>
              </a:rPr>
              <a:t>edge point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 lies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556895" lvl="1" marL="1026794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SzPts val="3600"/>
              <a:buFont typeface="Bell MT"/>
              <a:buAutoNum type="arabicPeriod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Look for models that get more votes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67" name="Google Shape;2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2382" y="4344161"/>
            <a:ext cx="1789175" cy="178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3501" y="4343400"/>
            <a:ext cx="1789175" cy="178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023" y="4343400"/>
            <a:ext cx="1789175" cy="178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1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p1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8" name="Google Shape;278;p1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9" name="Google Shape;279;p16"/>
          <p:cNvSpPr txBox="1"/>
          <p:nvPr>
            <p:ph idx="4294967295" type="title"/>
          </p:nvPr>
        </p:nvSpPr>
        <p:spPr>
          <a:xfrm>
            <a:off x="0" y="153150"/>
            <a:ext cx="121920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1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Hough Transform: </a:t>
            </a:r>
            <a:r>
              <a:rPr lang="en-US">
                <a:solidFill>
                  <a:srgbClr val="00B0F0"/>
                </a:solidFill>
              </a:rPr>
              <a:t>Image space </a:t>
            </a:r>
            <a:r>
              <a:rPr lang="en-US"/>
              <a:t>and </a:t>
            </a:r>
            <a:r>
              <a:rPr lang="en-US">
                <a:solidFill>
                  <a:srgbClr val="00B0F0"/>
                </a:solidFill>
              </a:rPr>
              <a:t>Hough space</a:t>
            </a:r>
            <a:endParaRPr/>
          </a:p>
        </p:txBody>
      </p:sp>
      <p:grpSp>
        <p:nvGrpSpPr>
          <p:cNvPr id="280" name="Google Shape;280;p16"/>
          <p:cNvGrpSpPr/>
          <p:nvPr/>
        </p:nvGrpSpPr>
        <p:grpSpPr>
          <a:xfrm>
            <a:off x="952500" y="4626864"/>
            <a:ext cx="9442703" cy="789431"/>
            <a:chOff x="952500" y="4626864"/>
            <a:chExt cx="9442703" cy="789431"/>
          </a:xfrm>
        </p:grpSpPr>
        <p:pic>
          <p:nvPicPr>
            <p:cNvPr id="281" name="Google Shape;28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00" y="4637532"/>
              <a:ext cx="635507" cy="736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3772" y="4626864"/>
              <a:ext cx="3418331" cy="7863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37131" y="5095494"/>
              <a:ext cx="2991611" cy="57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68723" y="4629912"/>
              <a:ext cx="2707385" cy="7863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09766" y="4626864"/>
              <a:ext cx="1647443" cy="7863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723126" y="5095494"/>
              <a:ext cx="1220723" cy="57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90866" y="4629912"/>
              <a:ext cx="2704337" cy="7863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8" name="Google Shape;288;p16"/>
          <p:cNvGrpSpPr/>
          <p:nvPr/>
        </p:nvGrpSpPr>
        <p:grpSpPr>
          <a:xfrm>
            <a:off x="2781684" y="1219578"/>
            <a:ext cx="2095499" cy="1866900"/>
            <a:chOff x="2781684" y="1219578"/>
            <a:chExt cx="2095499" cy="1866900"/>
          </a:xfrm>
        </p:grpSpPr>
        <p:sp>
          <p:nvSpPr>
            <p:cNvPr id="289" name="Google Shape;289;p16"/>
            <p:cNvSpPr/>
            <p:nvPr/>
          </p:nvSpPr>
          <p:spPr>
            <a:xfrm>
              <a:off x="2819781" y="1283081"/>
              <a:ext cx="0" cy="1765300"/>
            </a:xfrm>
            <a:custGeom>
              <a:rect b="b" l="l" r="r" t="t"/>
              <a:pathLst>
                <a:path extrusionOk="0" h="1765300" w="120000">
                  <a:moveTo>
                    <a:pt x="0" y="17653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" name="Google Shape;290;p16"/>
            <p:cNvSpPr/>
            <p:nvPr/>
          </p:nvSpPr>
          <p:spPr>
            <a:xfrm>
              <a:off x="2781684" y="12195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2819781" y="3048380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4800983" y="30102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3" name="Google Shape;293;p16"/>
          <p:cNvSpPr txBox="1"/>
          <p:nvPr/>
        </p:nvSpPr>
        <p:spPr>
          <a:xfrm>
            <a:off x="4726940" y="3065018"/>
            <a:ext cx="13589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" name="Google Shape;294;p16"/>
          <p:cNvGrpSpPr/>
          <p:nvPr/>
        </p:nvGrpSpPr>
        <p:grpSpPr>
          <a:xfrm>
            <a:off x="3200780" y="1755648"/>
            <a:ext cx="1752219" cy="759333"/>
            <a:chOff x="3200780" y="1755648"/>
            <a:chExt cx="1752219" cy="759333"/>
          </a:xfrm>
        </p:grpSpPr>
        <p:sp>
          <p:nvSpPr>
            <p:cNvPr id="295" name="Google Shape;295;p16"/>
            <p:cNvSpPr/>
            <p:nvPr/>
          </p:nvSpPr>
          <p:spPr>
            <a:xfrm>
              <a:off x="3200780" y="1981581"/>
              <a:ext cx="1447800" cy="533400"/>
            </a:xfrm>
            <a:custGeom>
              <a:rect b="b" l="l" r="r" t="t"/>
              <a:pathLst>
                <a:path extrusionOk="0" h="533400" w="1447800">
                  <a:moveTo>
                    <a:pt x="0" y="533400"/>
                  </a:moveTo>
                  <a:lnTo>
                    <a:pt x="1447800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96" name="Google Shape;296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398520" y="1755648"/>
              <a:ext cx="1554479" cy="2255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7" name="Google Shape;297;p16"/>
          <p:cNvGrpSpPr/>
          <p:nvPr/>
        </p:nvGrpSpPr>
        <p:grpSpPr>
          <a:xfrm>
            <a:off x="6940681" y="1219578"/>
            <a:ext cx="2095496" cy="1866900"/>
            <a:chOff x="6940681" y="1219578"/>
            <a:chExt cx="2095496" cy="1866900"/>
          </a:xfrm>
        </p:grpSpPr>
        <p:sp>
          <p:nvSpPr>
            <p:cNvPr id="298" name="Google Shape;298;p16"/>
            <p:cNvSpPr/>
            <p:nvPr/>
          </p:nvSpPr>
          <p:spPr>
            <a:xfrm>
              <a:off x="6978776" y="1283081"/>
              <a:ext cx="0" cy="1765300"/>
            </a:xfrm>
            <a:custGeom>
              <a:rect b="b" l="l" r="r" t="t"/>
              <a:pathLst>
                <a:path extrusionOk="0" h="1765300" w="120000">
                  <a:moveTo>
                    <a:pt x="0" y="17653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6940681" y="12195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6978776" y="3048380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8959977" y="30102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2" name="Google Shape;302;p16"/>
          <p:cNvSpPr txBox="1"/>
          <p:nvPr/>
        </p:nvSpPr>
        <p:spPr>
          <a:xfrm>
            <a:off x="8886190" y="3065019"/>
            <a:ext cx="228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2561471" y="1131473"/>
            <a:ext cx="4305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y	b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34618" y="2586418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 txBox="1"/>
          <p:nvPr/>
        </p:nvSpPr>
        <p:spPr>
          <a:xfrm>
            <a:off x="7673340" y="3049144"/>
            <a:ext cx="36258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aseline="-25000" i="1" lang="en-US" sz="1950"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688346" y="3366009"/>
            <a:ext cx="9611360" cy="2670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74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Image space	Hough (parameter) space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Connection between image (x, y) &amp; Hough (m, b) spaces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b="1" lang="en-US" sz="2800" u="sng">
                <a:latin typeface="Bell MT"/>
                <a:ea typeface="Bell MT"/>
                <a:cs typeface="Bell MT"/>
                <a:sym typeface="Bell MT"/>
              </a:rPr>
              <a:t>A line in the image</a:t>
            </a:r>
            <a:r>
              <a:rPr b="1" lang="en-US" sz="28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corresponds to </a:t>
            </a:r>
            <a:r>
              <a:rPr b="1" lang="en-US" sz="2800" u="sng">
                <a:latin typeface="Bell MT"/>
                <a:ea typeface="Bell MT"/>
                <a:cs typeface="Bell MT"/>
                <a:sym typeface="Bell MT"/>
              </a:rPr>
              <a:t>a point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in Hough space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To go from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image space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to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Hough space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given a set of points (x, y), find all (m, b) such that y = mx + b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07" name="Google Shape;307;p16"/>
          <p:cNvSpPr txBox="1"/>
          <p:nvPr/>
        </p:nvSpPr>
        <p:spPr>
          <a:xfrm>
            <a:off x="6597015" y="2426844"/>
            <a:ext cx="29273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-25000" i="1" lang="en-US" sz="1950"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8" name="Google Shape;308;p16"/>
          <p:cNvGrpSpPr/>
          <p:nvPr/>
        </p:nvGrpSpPr>
        <p:grpSpPr>
          <a:xfrm>
            <a:off x="5334380" y="2124448"/>
            <a:ext cx="915027" cy="171450"/>
            <a:chOff x="5334380" y="2124448"/>
            <a:chExt cx="915027" cy="171450"/>
          </a:xfrm>
        </p:grpSpPr>
        <p:sp>
          <p:nvSpPr>
            <p:cNvPr id="309" name="Google Shape;309;p16"/>
            <p:cNvSpPr/>
            <p:nvPr/>
          </p:nvSpPr>
          <p:spPr>
            <a:xfrm>
              <a:off x="5334380" y="2210181"/>
              <a:ext cx="771525" cy="0"/>
            </a:xfrm>
            <a:custGeom>
              <a:rect b="b" l="l" r="r" t="t"/>
              <a:pathLst>
                <a:path extrusionOk="0" h="120000" w="771525">
                  <a:moveTo>
                    <a:pt x="0" y="0"/>
                  </a:moveTo>
                  <a:lnTo>
                    <a:pt x="771525" y="0"/>
                  </a:lnTo>
                </a:path>
              </a:pathLst>
            </a:custGeom>
            <a:noFill/>
            <a:ln cap="flat" cmpd="sng" w="571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6077322" y="2124448"/>
              <a:ext cx="172085" cy="171450"/>
            </a:xfrm>
            <a:custGeom>
              <a:rect b="b" l="l" r="r" t="t"/>
              <a:pathLst>
                <a:path extrusionOk="0" h="171450" w="172085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1" name="Google Shape;311;p1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1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p1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9" name="Google Shape;319;p1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0" name="Google Shape;320;p17"/>
          <p:cNvSpPr txBox="1"/>
          <p:nvPr>
            <p:ph idx="4294967295" type="title"/>
          </p:nvPr>
        </p:nvSpPr>
        <p:spPr>
          <a:xfrm>
            <a:off x="0" y="76950"/>
            <a:ext cx="121920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Hough Transform: </a:t>
            </a:r>
            <a:r>
              <a:rPr lang="en-US"/>
              <a:t>Finding Lines</a:t>
            </a:r>
            <a:endParaRPr/>
          </a:p>
        </p:txBody>
      </p:sp>
      <p:grpSp>
        <p:nvGrpSpPr>
          <p:cNvPr id="321" name="Google Shape;321;p17"/>
          <p:cNvGrpSpPr/>
          <p:nvPr/>
        </p:nvGrpSpPr>
        <p:grpSpPr>
          <a:xfrm>
            <a:off x="954024" y="2359914"/>
            <a:ext cx="10367009" cy="1177289"/>
            <a:chOff x="954024" y="2359914"/>
            <a:chExt cx="10367009" cy="1177289"/>
          </a:xfrm>
        </p:grpSpPr>
        <p:pic>
          <p:nvPicPr>
            <p:cNvPr id="322" name="Google Shape;32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05572" y="2359914"/>
              <a:ext cx="1816607" cy="675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88452" y="2759202"/>
              <a:ext cx="1450847" cy="50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54024" y="2764536"/>
              <a:ext cx="597395" cy="731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23772" y="2750820"/>
              <a:ext cx="3250691" cy="7863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079747" y="2983992"/>
              <a:ext cx="439673" cy="5372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123944" y="2750820"/>
              <a:ext cx="753617" cy="7863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82845" y="2983992"/>
              <a:ext cx="439673" cy="5372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527042" y="2750820"/>
              <a:ext cx="6793991" cy="7863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17"/>
          <p:cNvSpPr txBox="1"/>
          <p:nvPr/>
        </p:nvSpPr>
        <p:spPr>
          <a:xfrm>
            <a:off x="662940" y="894130"/>
            <a:ext cx="10449560" cy="237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Connection between image (</a:t>
            </a:r>
            <a:r>
              <a:rPr i="1" lang="en-US" sz="3200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lang="en-US" sz="3200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i="1" lang="en-US" sz="3200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y</a:t>
            </a:r>
            <a:r>
              <a:rPr lang="en-US" sz="3200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) &amp; Hough (</a:t>
            </a:r>
            <a:r>
              <a:rPr i="1" lang="en-US" sz="3200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m</a:t>
            </a:r>
            <a:r>
              <a:rPr lang="en-US" sz="3200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i="1" lang="en-US" sz="3200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b</a:t>
            </a:r>
            <a:r>
              <a:rPr lang="en-US" sz="3200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) spaces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▪"/>
            </a:pPr>
            <a:r>
              <a:rPr lang="en-US" sz="2800" u="sng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A line in the image</a:t>
            </a:r>
            <a:r>
              <a:rPr lang="en-US" sz="2800" u="none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 corresponds to </a:t>
            </a:r>
            <a:r>
              <a:rPr lang="en-US" sz="2800" u="sng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a point</a:t>
            </a:r>
            <a:r>
              <a:rPr lang="en-US" sz="2800" u="none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 in Hough space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To go from </a:t>
            </a:r>
            <a:r>
              <a:rPr i="1" lang="en-US" sz="2800" u="sng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image space </a:t>
            </a:r>
            <a:r>
              <a:rPr lang="en-US" sz="2800" u="none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to </a:t>
            </a:r>
            <a:r>
              <a:rPr i="1" lang="en-US" sz="2800" u="sng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Hough space</a:t>
            </a:r>
            <a:r>
              <a:rPr lang="en-US" sz="2800" u="none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80465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given a set of	points (x, y), find all (m, b) such that </a:t>
            </a:r>
            <a:r>
              <a:rPr lang="en-US" sz="2400" u="sng">
                <a:solidFill>
                  <a:srgbClr val="A7A8A7"/>
                </a:solidFill>
                <a:latin typeface="Bell MT"/>
                <a:ea typeface="Bell MT"/>
                <a:cs typeface="Bell MT"/>
                <a:sym typeface="Bell MT"/>
              </a:rPr>
              <a:t>y = mx + b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What does a point (x</a:t>
            </a:r>
            <a:r>
              <a:rPr baseline="-25000" i="1" lang="en-US" sz="2775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0</a:t>
            </a:r>
            <a:r>
              <a:rPr i="1"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, y</a:t>
            </a:r>
            <a:r>
              <a:rPr baseline="-25000" i="1" lang="en-US" sz="2775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0</a:t>
            </a:r>
            <a:r>
              <a:rPr i="1"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) in the image space map to in the Hough space?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331" name="Google Shape;331;p17"/>
          <p:cNvGrpSpPr/>
          <p:nvPr/>
        </p:nvGrpSpPr>
        <p:grpSpPr>
          <a:xfrm>
            <a:off x="1411986" y="3220211"/>
            <a:ext cx="4514848" cy="1556765"/>
            <a:chOff x="1411986" y="3220211"/>
            <a:chExt cx="4514848" cy="1556765"/>
          </a:xfrm>
        </p:grpSpPr>
        <p:pic>
          <p:nvPicPr>
            <p:cNvPr id="332" name="Google Shape;332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411986" y="3256026"/>
              <a:ext cx="610361" cy="7277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623822" y="3220211"/>
              <a:ext cx="1720595" cy="7863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898904" y="3729989"/>
              <a:ext cx="524255" cy="624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1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113026" y="3699509"/>
              <a:ext cx="2728721" cy="675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1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440936" y="3699509"/>
              <a:ext cx="518159" cy="675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1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558284" y="3699509"/>
              <a:ext cx="550163" cy="675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1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768595" y="3898391"/>
              <a:ext cx="378713" cy="461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1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807457" y="3699509"/>
              <a:ext cx="1080515" cy="675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1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548121" y="3898391"/>
              <a:ext cx="378713" cy="461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898904" y="4132326"/>
              <a:ext cx="524255" cy="624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113026" y="4101845"/>
              <a:ext cx="3585209" cy="6751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17"/>
          <p:cNvSpPr txBox="1"/>
          <p:nvPr/>
        </p:nvSpPr>
        <p:spPr>
          <a:xfrm>
            <a:off x="1577339" y="3243776"/>
            <a:ext cx="4236085" cy="1307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227965" lvl="0" marL="266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Bell MT"/>
              <a:buChar char="–"/>
            </a:pPr>
            <a:r>
              <a:rPr i="1" lang="en-US" sz="28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Answer: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8600" lvl="1" marL="723265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Bell MT"/>
              <a:buChar char="–"/>
            </a:pPr>
            <a:r>
              <a:rPr i="1" lang="en-US" sz="2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the solutions of	b = -x</a:t>
            </a:r>
            <a:r>
              <a:rPr baseline="-25000" i="1" lang="en-US" sz="2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0</a:t>
            </a:r>
            <a:r>
              <a:rPr i="1" lang="en-US" sz="2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m + y</a:t>
            </a:r>
            <a:r>
              <a:rPr baseline="-25000" i="1" lang="en-US" sz="2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0</a:t>
            </a:r>
            <a:endParaRPr baseline="-25000" sz="2400">
              <a:latin typeface="Bell MT"/>
              <a:ea typeface="Bell MT"/>
              <a:cs typeface="Bell MT"/>
              <a:sym typeface="Bell MT"/>
            </a:endParaRPr>
          </a:p>
          <a:p>
            <a:pPr indent="-228600" lvl="1" marL="723265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Bell MT"/>
              <a:buChar char="–"/>
            </a:pPr>
            <a:r>
              <a:rPr i="1" lang="en-US" sz="2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this is a line in Hough space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344" name="Google Shape;344;p17"/>
          <p:cNvGrpSpPr/>
          <p:nvPr/>
        </p:nvGrpSpPr>
        <p:grpSpPr>
          <a:xfrm>
            <a:off x="6379848" y="3653407"/>
            <a:ext cx="2095498" cy="1866899"/>
            <a:chOff x="6379848" y="3653407"/>
            <a:chExt cx="2095498" cy="1866899"/>
          </a:xfrm>
        </p:grpSpPr>
        <p:sp>
          <p:nvSpPr>
            <p:cNvPr id="345" name="Google Shape;345;p17"/>
            <p:cNvSpPr/>
            <p:nvPr/>
          </p:nvSpPr>
          <p:spPr>
            <a:xfrm>
              <a:off x="6417945" y="3716908"/>
              <a:ext cx="0" cy="1765300"/>
            </a:xfrm>
            <a:custGeom>
              <a:rect b="b" l="l" r="r" t="t"/>
              <a:pathLst>
                <a:path extrusionOk="0" h="1765300" w="120000">
                  <a:moveTo>
                    <a:pt x="0" y="17653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6379848" y="365340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6417945" y="5482208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8399146" y="5444106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9" name="Google Shape;349;p17"/>
          <p:cNvSpPr txBox="1"/>
          <p:nvPr/>
        </p:nvSpPr>
        <p:spPr>
          <a:xfrm>
            <a:off x="8325216" y="5498952"/>
            <a:ext cx="13589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0" name="Google Shape;350;p17"/>
          <p:cNvGrpSpPr/>
          <p:nvPr/>
        </p:nvGrpSpPr>
        <p:grpSpPr>
          <a:xfrm>
            <a:off x="6946582" y="3653407"/>
            <a:ext cx="4368739" cy="1866899"/>
            <a:chOff x="6946582" y="3653407"/>
            <a:chExt cx="4368739" cy="1866899"/>
          </a:xfrm>
        </p:grpSpPr>
        <p:sp>
          <p:nvSpPr>
            <p:cNvPr id="351" name="Google Shape;351;p17"/>
            <p:cNvSpPr/>
            <p:nvPr/>
          </p:nvSpPr>
          <p:spPr>
            <a:xfrm>
              <a:off x="9257918" y="3716908"/>
              <a:ext cx="0" cy="1765300"/>
            </a:xfrm>
            <a:custGeom>
              <a:rect b="b" l="l" r="r" t="t"/>
              <a:pathLst>
                <a:path extrusionOk="0" h="1765300" w="120000">
                  <a:moveTo>
                    <a:pt x="0" y="17653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9219823" y="365340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9257918" y="5482208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1239121" y="5444106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55" name="Google Shape;355;p1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6946582" y="4258246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17"/>
          <p:cNvSpPr txBox="1"/>
          <p:nvPr/>
        </p:nvSpPr>
        <p:spPr>
          <a:xfrm>
            <a:off x="8758035" y="5498952"/>
            <a:ext cx="3152140" cy="684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521969" rtl="0" algn="r">
              <a:lnSpc>
                <a:spcPct val="117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Hough (parameter) space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357" name="Google Shape;357;p17"/>
          <p:cNvGrpSpPr/>
          <p:nvPr/>
        </p:nvGrpSpPr>
        <p:grpSpPr>
          <a:xfrm>
            <a:off x="8001381" y="4191000"/>
            <a:ext cx="3432416" cy="757809"/>
            <a:chOff x="8001381" y="4191000"/>
            <a:chExt cx="3432416" cy="757809"/>
          </a:xfrm>
        </p:grpSpPr>
        <p:sp>
          <p:nvSpPr>
            <p:cNvPr id="358" name="Google Shape;358;p17"/>
            <p:cNvSpPr/>
            <p:nvPr/>
          </p:nvSpPr>
          <p:spPr>
            <a:xfrm>
              <a:off x="8001381" y="4644008"/>
              <a:ext cx="771525" cy="0"/>
            </a:xfrm>
            <a:custGeom>
              <a:rect b="b" l="l" r="r" t="t"/>
              <a:pathLst>
                <a:path extrusionOk="0" h="120000" w="771525">
                  <a:moveTo>
                    <a:pt x="0" y="0"/>
                  </a:moveTo>
                  <a:lnTo>
                    <a:pt x="771525" y="0"/>
                  </a:lnTo>
                </a:path>
              </a:pathLst>
            </a:custGeom>
            <a:noFill/>
            <a:ln cap="flat" cmpd="sng" w="571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8744322" y="4558276"/>
              <a:ext cx="172085" cy="171450"/>
            </a:xfrm>
            <a:custGeom>
              <a:rect b="b" l="l" r="r" t="t"/>
              <a:pathLst>
                <a:path extrusionOk="0" h="171450" w="172084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9593961" y="4415409"/>
              <a:ext cx="1447800" cy="533400"/>
            </a:xfrm>
            <a:custGeom>
              <a:rect b="b" l="l" r="r" t="t"/>
              <a:pathLst>
                <a:path extrusionOk="0" h="533400" w="1447800">
                  <a:moveTo>
                    <a:pt x="0" y="0"/>
                  </a:moveTo>
                  <a:lnTo>
                    <a:pt x="1447800" y="53340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61" name="Google Shape;361;p1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9700261" y="4191000"/>
              <a:ext cx="1733536" cy="2255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2" name="Google Shape;362;p17"/>
          <p:cNvSpPr txBox="1"/>
          <p:nvPr/>
        </p:nvSpPr>
        <p:spPr>
          <a:xfrm>
            <a:off x="6623419" y="5483076"/>
            <a:ext cx="1591310" cy="700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36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i="1" lang="en-US" sz="1950"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950"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Image space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63" name="Google Shape;363;p17"/>
          <p:cNvSpPr txBox="1"/>
          <p:nvPr/>
        </p:nvSpPr>
        <p:spPr>
          <a:xfrm>
            <a:off x="6040805" y="3565407"/>
            <a:ext cx="31305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y	b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50800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None/>
            </a:pP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aseline="-25000" i="1" lang="en-US" sz="1950"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5" name="Google Shape;365;p1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1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2" name="Google Shape;372;p1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3" name="Google Shape;373;p18"/>
          <p:cNvSpPr txBox="1"/>
          <p:nvPr>
            <p:ph idx="4294967295" type="title"/>
          </p:nvPr>
        </p:nvSpPr>
        <p:spPr>
          <a:xfrm>
            <a:off x="0" y="153150"/>
            <a:ext cx="121920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5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 Lines in an Image: Hough Space</a:t>
            </a:r>
            <a:endParaRPr/>
          </a:p>
        </p:txBody>
      </p:sp>
      <p:sp>
        <p:nvSpPr>
          <p:cNvPr id="374" name="Google Shape;374;p18"/>
          <p:cNvSpPr txBox="1"/>
          <p:nvPr/>
        </p:nvSpPr>
        <p:spPr>
          <a:xfrm>
            <a:off x="662938" y="4112005"/>
            <a:ext cx="10276205" cy="202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810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What are the </a:t>
            </a:r>
            <a:r>
              <a:rPr lang="en-US" sz="32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line parameters for the line that contains both</a:t>
            </a:r>
            <a:r>
              <a:rPr lang="en-US" sz="32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(x</a:t>
            </a:r>
            <a:r>
              <a:rPr baseline="-25000" lang="en-US" sz="3150" u="none">
                <a:latin typeface="Bell MT"/>
                <a:ea typeface="Bell MT"/>
                <a:cs typeface="Bell MT"/>
                <a:sym typeface="Bell MT"/>
              </a:rPr>
              <a:t>0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, y</a:t>
            </a:r>
            <a:r>
              <a:rPr baseline="-25000" lang="en-US" sz="3150" u="none">
                <a:latin typeface="Bell MT"/>
                <a:ea typeface="Bell MT"/>
                <a:cs typeface="Bell MT"/>
                <a:sym typeface="Bell MT"/>
              </a:rPr>
              <a:t>0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) and (x</a:t>
            </a:r>
            <a:r>
              <a:rPr baseline="-25000" lang="en-US" sz="3150" u="none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, y</a:t>
            </a:r>
            <a:r>
              <a:rPr baseline="-25000" lang="en-US" sz="3150" u="none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)?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9530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It is the intersection of	the lines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866264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b = –x</a:t>
            </a:r>
            <a:r>
              <a:rPr baseline="-25000" lang="en-US" sz="2775">
                <a:latin typeface="Bell MT"/>
                <a:ea typeface="Bell MT"/>
                <a:cs typeface="Bell MT"/>
                <a:sym typeface="Bell MT"/>
              </a:rPr>
              <a:t>0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m + y</a:t>
            </a:r>
            <a:r>
              <a:rPr baseline="-25000" lang="en-US" sz="2775">
                <a:latin typeface="Bell MT"/>
                <a:ea typeface="Bell MT"/>
                <a:cs typeface="Bell MT"/>
                <a:sym typeface="Bell MT"/>
              </a:rPr>
              <a:t>0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and b = –x</a:t>
            </a:r>
            <a:r>
              <a:rPr baseline="-25000" lang="en-US" sz="2775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m + y</a:t>
            </a:r>
            <a:r>
              <a:rPr baseline="-25000" lang="en-US" sz="2775">
                <a:latin typeface="Bell MT"/>
                <a:ea typeface="Bell MT"/>
                <a:cs typeface="Bell MT"/>
                <a:sym typeface="Bell MT"/>
              </a:rPr>
              <a:t>1</a:t>
            </a:r>
            <a:endParaRPr baseline="-25000" sz="2775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375" name="Google Shape;375;p18"/>
          <p:cNvGrpSpPr/>
          <p:nvPr/>
        </p:nvGrpSpPr>
        <p:grpSpPr>
          <a:xfrm>
            <a:off x="2781684" y="1219578"/>
            <a:ext cx="2095499" cy="1866900"/>
            <a:chOff x="2781684" y="1219578"/>
            <a:chExt cx="2095499" cy="1866900"/>
          </a:xfrm>
        </p:grpSpPr>
        <p:sp>
          <p:nvSpPr>
            <p:cNvPr id="376" name="Google Shape;376;p18"/>
            <p:cNvSpPr/>
            <p:nvPr/>
          </p:nvSpPr>
          <p:spPr>
            <a:xfrm>
              <a:off x="2819781" y="1283081"/>
              <a:ext cx="0" cy="1765300"/>
            </a:xfrm>
            <a:custGeom>
              <a:rect b="b" l="l" r="r" t="t"/>
              <a:pathLst>
                <a:path extrusionOk="0" h="1765300" w="120000">
                  <a:moveTo>
                    <a:pt x="0" y="17653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2781684" y="12195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2819781" y="3048380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4800983" y="30102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80" name="Google Shape;380;p18"/>
          <p:cNvSpPr txBox="1"/>
          <p:nvPr/>
        </p:nvSpPr>
        <p:spPr>
          <a:xfrm>
            <a:off x="4726940" y="3065018"/>
            <a:ext cx="13589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1" name="Google Shape;381;p18"/>
          <p:cNvGrpSpPr/>
          <p:nvPr/>
        </p:nvGrpSpPr>
        <p:grpSpPr>
          <a:xfrm>
            <a:off x="6940681" y="1219578"/>
            <a:ext cx="2095496" cy="1866900"/>
            <a:chOff x="6940681" y="1219578"/>
            <a:chExt cx="2095496" cy="1866900"/>
          </a:xfrm>
        </p:grpSpPr>
        <p:sp>
          <p:nvSpPr>
            <p:cNvPr id="382" name="Google Shape;382;p18"/>
            <p:cNvSpPr/>
            <p:nvPr/>
          </p:nvSpPr>
          <p:spPr>
            <a:xfrm>
              <a:off x="6978776" y="1283081"/>
              <a:ext cx="0" cy="1765300"/>
            </a:xfrm>
            <a:custGeom>
              <a:rect b="b" l="l" r="r" t="t"/>
              <a:pathLst>
                <a:path extrusionOk="0" h="1765300" w="120000">
                  <a:moveTo>
                    <a:pt x="0" y="17653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6940681" y="12195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6978776" y="3048380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8959977" y="30102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86" name="Google Shape;386;p18"/>
          <p:cNvSpPr txBox="1"/>
          <p:nvPr/>
        </p:nvSpPr>
        <p:spPr>
          <a:xfrm>
            <a:off x="6479541" y="3065019"/>
            <a:ext cx="3169920" cy="6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539750" rtl="0" algn="r">
              <a:lnSpc>
                <a:spcPct val="119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Hough (parameter) space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7" name="Google Shape;387;p18"/>
          <p:cNvGrpSpPr/>
          <p:nvPr/>
        </p:nvGrpSpPr>
        <p:grpSpPr>
          <a:xfrm>
            <a:off x="3348418" y="1595818"/>
            <a:ext cx="619125" cy="314325"/>
            <a:chOff x="3348418" y="1595818"/>
            <a:chExt cx="619125" cy="314325"/>
          </a:xfrm>
        </p:grpSpPr>
        <p:pic>
          <p:nvPicPr>
            <p:cNvPr id="388" name="Google Shape;38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48418" y="1824418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81818" y="1595818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0" name="Google Shape;390;p18"/>
          <p:cNvSpPr txBox="1"/>
          <p:nvPr/>
        </p:nvSpPr>
        <p:spPr>
          <a:xfrm>
            <a:off x="3025141" y="3049143"/>
            <a:ext cx="160274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36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i="1" lang="en-US" sz="1950"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950"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image space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1" name="Google Shape;391;p18"/>
          <p:cNvGrpSpPr/>
          <p:nvPr/>
        </p:nvGrpSpPr>
        <p:grpSpPr>
          <a:xfrm>
            <a:off x="5334380" y="2124448"/>
            <a:ext cx="915027" cy="171450"/>
            <a:chOff x="5334380" y="2124448"/>
            <a:chExt cx="915027" cy="171450"/>
          </a:xfrm>
        </p:grpSpPr>
        <p:sp>
          <p:nvSpPr>
            <p:cNvPr id="392" name="Google Shape;392;p18"/>
            <p:cNvSpPr/>
            <p:nvPr/>
          </p:nvSpPr>
          <p:spPr>
            <a:xfrm>
              <a:off x="5334380" y="2210181"/>
              <a:ext cx="771525" cy="0"/>
            </a:xfrm>
            <a:custGeom>
              <a:rect b="b" l="l" r="r" t="t"/>
              <a:pathLst>
                <a:path extrusionOk="0" h="120000" w="771525">
                  <a:moveTo>
                    <a:pt x="0" y="0"/>
                  </a:moveTo>
                  <a:lnTo>
                    <a:pt x="771525" y="0"/>
                  </a:lnTo>
                </a:path>
              </a:pathLst>
            </a:custGeom>
            <a:noFill/>
            <a:ln cap="flat" cmpd="sng" w="571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6077322" y="2124448"/>
              <a:ext cx="172085" cy="171450"/>
            </a:xfrm>
            <a:custGeom>
              <a:rect b="b" l="l" r="r" t="t"/>
              <a:pathLst>
                <a:path extrusionOk="0" h="171450" w="172085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94" name="Google Shape;394;p18"/>
          <p:cNvGrpSpPr/>
          <p:nvPr/>
        </p:nvGrpSpPr>
        <p:grpSpPr>
          <a:xfrm>
            <a:off x="7239381" y="1757172"/>
            <a:ext cx="1916048" cy="757809"/>
            <a:chOff x="7239381" y="1757172"/>
            <a:chExt cx="1916048" cy="757809"/>
          </a:xfrm>
        </p:grpSpPr>
        <p:sp>
          <p:nvSpPr>
            <p:cNvPr id="395" name="Google Shape;395;p18"/>
            <p:cNvSpPr/>
            <p:nvPr/>
          </p:nvSpPr>
          <p:spPr>
            <a:xfrm>
              <a:off x="7315581" y="1981581"/>
              <a:ext cx="1447800" cy="533400"/>
            </a:xfrm>
            <a:custGeom>
              <a:rect b="b" l="l" r="r" t="t"/>
              <a:pathLst>
                <a:path extrusionOk="0" h="533400" w="1447800">
                  <a:moveTo>
                    <a:pt x="0" y="0"/>
                  </a:moveTo>
                  <a:lnTo>
                    <a:pt x="1447800" y="53340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96" name="Google Shape;39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21880" y="1757172"/>
              <a:ext cx="1733549" cy="2255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7" name="Google Shape;397;p18"/>
            <p:cNvSpPr/>
            <p:nvPr/>
          </p:nvSpPr>
          <p:spPr>
            <a:xfrm>
              <a:off x="7239381" y="2133981"/>
              <a:ext cx="1752600" cy="228600"/>
            </a:xfrm>
            <a:custGeom>
              <a:rect b="b" l="l" r="r" t="t"/>
              <a:pathLst>
                <a:path extrusionOk="0" h="228600" w="1752600">
                  <a:moveTo>
                    <a:pt x="0" y="0"/>
                  </a:moveTo>
                  <a:lnTo>
                    <a:pt x="1752600" y="22860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98" name="Google Shape;398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53946" y="2146744"/>
              <a:ext cx="191643" cy="1924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9" name="Google Shape;399;p18"/>
          <p:cNvSpPr txBox="1"/>
          <p:nvPr/>
        </p:nvSpPr>
        <p:spPr>
          <a:xfrm>
            <a:off x="8206740" y="2644266"/>
            <a:ext cx="12833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= –</a:t>
            </a: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18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m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aseline="-25000" lang="en-US" sz="1800"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 txBox="1"/>
          <p:nvPr/>
        </p:nvSpPr>
        <p:spPr>
          <a:xfrm>
            <a:off x="3390266" y="1914016"/>
            <a:ext cx="6807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18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aseline="-25000" lang="en-US" sz="18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 txBox="1"/>
          <p:nvPr/>
        </p:nvSpPr>
        <p:spPr>
          <a:xfrm>
            <a:off x="2442527" y="1087270"/>
            <a:ext cx="4450080" cy="941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0">
            <a:spAutoFit/>
          </a:bodyPr>
          <a:lstStyle/>
          <a:p>
            <a:pPr indent="0" lvl="0" marL="1314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y	b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642745" rtl="0" algn="l">
              <a:lnSpc>
                <a:spcPct val="108611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18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aseline="-25000" lang="en-US" sz="18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5080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aseline="-25000" i="1" lang="en-US" sz="1950"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" name="Google Shape;403;p1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1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0" name="Google Shape;410;p1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1" name="Google Shape;411;p19"/>
          <p:cNvSpPr txBox="1"/>
          <p:nvPr>
            <p:ph idx="4294967295" type="title"/>
          </p:nvPr>
        </p:nvSpPr>
        <p:spPr>
          <a:xfrm>
            <a:off x="0" y="153150"/>
            <a:ext cx="121920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3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 Lines in an Image: </a:t>
            </a:r>
            <a:r>
              <a:rPr lang="en-US">
                <a:solidFill>
                  <a:srgbClr val="00B0F0"/>
                </a:solidFill>
              </a:rPr>
              <a:t>Hough Algorithm</a:t>
            </a:r>
            <a:endParaRPr/>
          </a:p>
        </p:txBody>
      </p:sp>
      <p:sp>
        <p:nvSpPr>
          <p:cNvPr id="412" name="Google Shape;412;p19"/>
          <p:cNvSpPr txBox="1"/>
          <p:nvPr/>
        </p:nvSpPr>
        <p:spPr>
          <a:xfrm>
            <a:off x="612156" y="3749911"/>
            <a:ext cx="1067181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So, how can we use </a:t>
            </a:r>
            <a:r>
              <a:rPr b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this to find the most likely parameters (m, b) </a:t>
            </a: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for the most prominent line in the image space?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13" name="Google Shape;413;p19"/>
          <p:cNvSpPr txBox="1"/>
          <p:nvPr/>
        </p:nvSpPr>
        <p:spPr>
          <a:xfrm>
            <a:off x="1069356" y="4545439"/>
            <a:ext cx="16700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–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9"/>
          <p:cNvSpPr txBox="1"/>
          <p:nvPr/>
        </p:nvSpPr>
        <p:spPr>
          <a:xfrm>
            <a:off x="1367800" y="4596250"/>
            <a:ext cx="3169800" cy="307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Bell MT"/>
                <a:ea typeface="Bell MT"/>
                <a:cs typeface="Bell MT"/>
                <a:sym typeface="Bell MT"/>
              </a:rPr>
              <a:t>Follow </a:t>
            </a:r>
            <a:r>
              <a:rPr lang="en-US" sz="2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Hough Algorithm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15" name="Google Shape;415;p19"/>
          <p:cNvSpPr txBox="1"/>
          <p:nvPr/>
        </p:nvSpPr>
        <p:spPr>
          <a:xfrm>
            <a:off x="612156" y="4838425"/>
            <a:ext cx="9413240" cy="1573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20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Steps of	</a:t>
            </a:r>
            <a:r>
              <a:rPr lang="en-US" sz="24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Hough Algorithm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Arial"/>
              <a:buChar char="–"/>
            </a:pPr>
            <a:r>
              <a:rPr lang="en-US" sz="2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Each edge point in image space </a:t>
            </a:r>
            <a:r>
              <a:rPr i="1" lang="en-US" sz="2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vote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for a set of possible parameters in Hough space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–"/>
            </a:pPr>
            <a:r>
              <a:rPr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Accumulate votes in discrete set of bins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Parameters with </a:t>
            </a:r>
            <a:r>
              <a:rPr lang="en-US" sz="2000" u="sng">
                <a:latin typeface="Bell MT"/>
                <a:ea typeface="Bell MT"/>
                <a:cs typeface="Bell MT"/>
                <a:sym typeface="Bell MT"/>
              </a:rPr>
              <a:t>lots of votes</a:t>
            </a:r>
            <a:r>
              <a:rPr lang="en-US" sz="2000" u="none">
                <a:latin typeface="Bell MT"/>
                <a:ea typeface="Bell MT"/>
                <a:cs typeface="Bell MT"/>
                <a:sym typeface="Bell MT"/>
              </a:rPr>
              <a:t> indicate lines in image space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416" name="Google Shape;416;p19"/>
          <p:cNvGrpSpPr/>
          <p:nvPr/>
        </p:nvGrpSpPr>
        <p:grpSpPr>
          <a:xfrm>
            <a:off x="2781684" y="1219578"/>
            <a:ext cx="2095499" cy="1866900"/>
            <a:chOff x="2781684" y="1219578"/>
            <a:chExt cx="2095499" cy="1866900"/>
          </a:xfrm>
        </p:grpSpPr>
        <p:sp>
          <p:nvSpPr>
            <p:cNvPr id="417" name="Google Shape;417;p19"/>
            <p:cNvSpPr/>
            <p:nvPr/>
          </p:nvSpPr>
          <p:spPr>
            <a:xfrm>
              <a:off x="2819781" y="1283081"/>
              <a:ext cx="0" cy="1765300"/>
            </a:xfrm>
            <a:custGeom>
              <a:rect b="b" l="l" r="r" t="t"/>
              <a:pathLst>
                <a:path extrusionOk="0" h="1765300" w="120000">
                  <a:moveTo>
                    <a:pt x="0" y="17653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8" name="Google Shape;418;p19"/>
            <p:cNvSpPr/>
            <p:nvPr/>
          </p:nvSpPr>
          <p:spPr>
            <a:xfrm>
              <a:off x="2781684" y="12195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9" name="Google Shape;419;p19"/>
            <p:cNvSpPr/>
            <p:nvPr/>
          </p:nvSpPr>
          <p:spPr>
            <a:xfrm>
              <a:off x="2819781" y="3048380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4800983" y="30102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1" name="Google Shape;421;p19"/>
          <p:cNvSpPr txBox="1"/>
          <p:nvPr/>
        </p:nvSpPr>
        <p:spPr>
          <a:xfrm>
            <a:off x="4726940" y="3065018"/>
            <a:ext cx="13589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9"/>
          <p:cNvSpPr txBox="1"/>
          <p:nvPr/>
        </p:nvSpPr>
        <p:spPr>
          <a:xfrm>
            <a:off x="2561471" y="1131473"/>
            <a:ext cx="4305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y	b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3" name="Google Shape;423;p19"/>
          <p:cNvGrpSpPr/>
          <p:nvPr/>
        </p:nvGrpSpPr>
        <p:grpSpPr>
          <a:xfrm>
            <a:off x="6940681" y="1219578"/>
            <a:ext cx="2095496" cy="1866900"/>
            <a:chOff x="6940681" y="1219578"/>
            <a:chExt cx="2095496" cy="1866900"/>
          </a:xfrm>
        </p:grpSpPr>
        <p:sp>
          <p:nvSpPr>
            <p:cNvPr id="424" name="Google Shape;424;p19"/>
            <p:cNvSpPr/>
            <p:nvPr/>
          </p:nvSpPr>
          <p:spPr>
            <a:xfrm>
              <a:off x="6978776" y="1283081"/>
              <a:ext cx="0" cy="1765300"/>
            </a:xfrm>
            <a:custGeom>
              <a:rect b="b" l="l" r="r" t="t"/>
              <a:pathLst>
                <a:path extrusionOk="0" h="1765300" w="120000">
                  <a:moveTo>
                    <a:pt x="0" y="17653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5" name="Google Shape;425;p19"/>
            <p:cNvSpPr/>
            <p:nvPr/>
          </p:nvSpPr>
          <p:spPr>
            <a:xfrm>
              <a:off x="6940681" y="12195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6" name="Google Shape;426;p19"/>
            <p:cNvSpPr/>
            <p:nvPr/>
          </p:nvSpPr>
          <p:spPr>
            <a:xfrm>
              <a:off x="6978776" y="3048380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8959977" y="30102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8" name="Google Shape;428;p19"/>
          <p:cNvSpPr txBox="1"/>
          <p:nvPr/>
        </p:nvSpPr>
        <p:spPr>
          <a:xfrm>
            <a:off x="6479541" y="3065019"/>
            <a:ext cx="3169920" cy="557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539750" rtl="0" algn="r">
              <a:lnSpc>
                <a:spcPct val="9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97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Hough (parameter) space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9" name="Google Shape;429;p19"/>
          <p:cNvGrpSpPr/>
          <p:nvPr/>
        </p:nvGrpSpPr>
        <p:grpSpPr>
          <a:xfrm>
            <a:off x="3024568" y="1522666"/>
            <a:ext cx="1360551" cy="539877"/>
            <a:chOff x="3024568" y="1522666"/>
            <a:chExt cx="1360551" cy="539877"/>
          </a:xfrm>
        </p:grpSpPr>
        <p:pic>
          <p:nvPicPr>
            <p:cNvPr id="430" name="Google Shape;43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48418" y="1824418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1" name="Google Shape;43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81818" y="1595818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24568" y="1976818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99394" y="1522666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4" name="Google Shape;434;p19"/>
          <p:cNvSpPr txBox="1"/>
          <p:nvPr/>
        </p:nvSpPr>
        <p:spPr>
          <a:xfrm>
            <a:off x="3050541" y="3231364"/>
            <a:ext cx="155765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Image space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5" name="Google Shape;435;p19"/>
          <p:cNvGrpSpPr/>
          <p:nvPr/>
        </p:nvGrpSpPr>
        <p:grpSpPr>
          <a:xfrm>
            <a:off x="5334380" y="2124448"/>
            <a:ext cx="915027" cy="171450"/>
            <a:chOff x="5334380" y="2124448"/>
            <a:chExt cx="915027" cy="171450"/>
          </a:xfrm>
        </p:grpSpPr>
        <p:sp>
          <p:nvSpPr>
            <p:cNvPr id="436" name="Google Shape;436;p19"/>
            <p:cNvSpPr/>
            <p:nvPr/>
          </p:nvSpPr>
          <p:spPr>
            <a:xfrm>
              <a:off x="5334380" y="2210181"/>
              <a:ext cx="771525" cy="0"/>
            </a:xfrm>
            <a:custGeom>
              <a:rect b="b" l="l" r="r" t="t"/>
              <a:pathLst>
                <a:path extrusionOk="0" h="120000" w="771525">
                  <a:moveTo>
                    <a:pt x="0" y="0"/>
                  </a:moveTo>
                  <a:lnTo>
                    <a:pt x="771525" y="0"/>
                  </a:lnTo>
                </a:path>
              </a:pathLst>
            </a:custGeom>
            <a:noFill/>
            <a:ln cap="flat" cmpd="sng" w="571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6077322" y="2124448"/>
              <a:ext cx="172085" cy="171450"/>
            </a:xfrm>
            <a:custGeom>
              <a:rect b="b" l="l" r="r" t="t"/>
              <a:pathLst>
                <a:path extrusionOk="0" h="171450" w="172085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438" name="Google Shape;438;p19"/>
          <p:cNvGrpSpPr/>
          <p:nvPr/>
        </p:nvGrpSpPr>
        <p:grpSpPr>
          <a:xfrm>
            <a:off x="6972681" y="1202055"/>
            <a:ext cx="2336927" cy="1899031"/>
            <a:chOff x="6972681" y="1202055"/>
            <a:chExt cx="2336927" cy="1899031"/>
          </a:xfrm>
        </p:grpSpPr>
        <p:sp>
          <p:nvSpPr>
            <p:cNvPr id="439" name="Google Shape;439;p19"/>
            <p:cNvSpPr/>
            <p:nvPr/>
          </p:nvSpPr>
          <p:spPr>
            <a:xfrm>
              <a:off x="7315581" y="1981581"/>
              <a:ext cx="1447800" cy="533400"/>
            </a:xfrm>
            <a:custGeom>
              <a:rect b="b" l="l" r="r" t="t"/>
              <a:pathLst>
                <a:path extrusionOk="0" h="533400" w="1447800">
                  <a:moveTo>
                    <a:pt x="0" y="0"/>
                  </a:moveTo>
                  <a:lnTo>
                    <a:pt x="1447800" y="53340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19"/>
            <p:cNvSpPr/>
            <p:nvPr/>
          </p:nvSpPr>
          <p:spPr>
            <a:xfrm>
              <a:off x="7239381" y="2133980"/>
              <a:ext cx="1752600" cy="228600"/>
            </a:xfrm>
            <a:custGeom>
              <a:rect b="b" l="l" r="r" t="t"/>
              <a:pathLst>
                <a:path extrusionOk="0" h="228600" w="1752600">
                  <a:moveTo>
                    <a:pt x="0" y="0"/>
                  </a:moveTo>
                  <a:lnTo>
                    <a:pt x="1752600" y="22860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19"/>
            <p:cNvSpPr/>
            <p:nvPr/>
          </p:nvSpPr>
          <p:spPr>
            <a:xfrm>
              <a:off x="7337679" y="1896237"/>
              <a:ext cx="1826260" cy="693420"/>
            </a:xfrm>
            <a:custGeom>
              <a:rect b="b" l="l" r="r" t="t"/>
              <a:pathLst>
                <a:path extrusionOk="0" h="693419" w="1826259">
                  <a:moveTo>
                    <a:pt x="0" y="693420"/>
                  </a:moveTo>
                  <a:lnTo>
                    <a:pt x="1825752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19"/>
            <p:cNvSpPr/>
            <p:nvPr/>
          </p:nvSpPr>
          <p:spPr>
            <a:xfrm>
              <a:off x="7227951" y="2114930"/>
              <a:ext cx="1972310" cy="292100"/>
            </a:xfrm>
            <a:custGeom>
              <a:rect b="b" l="l" r="r" t="t"/>
              <a:pathLst>
                <a:path extrusionOk="0" h="292100" w="1972309">
                  <a:moveTo>
                    <a:pt x="0" y="291846"/>
                  </a:moveTo>
                  <a:lnTo>
                    <a:pt x="1972056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6972681" y="1238631"/>
              <a:ext cx="2300605" cy="1862455"/>
            </a:xfrm>
            <a:custGeom>
              <a:rect b="b" l="l" r="r" t="t"/>
              <a:pathLst>
                <a:path extrusionOk="0" h="1862455" w="2300604">
                  <a:moveTo>
                    <a:pt x="0" y="0"/>
                  </a:moveTo>
                  <a:lnTo>
                    <a:pt x="2300478" y="0"/>
                  </a:lnTo>
                  <a:lnTo>
                    <a:pt x="2300478" y="1862327"/>
                  </a:lnTo>
                  <a:lnTo>
                    <a:pt x="0" y="186232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19"/>
            <p:cNvSpPr/>
            <p:nvPr/>
          </p:nvSpPr>
          <p:spPr>
            <a:xfrm>
              <a:off x="7009257" y="1528953"/>
              <a:ext cx="2263775" cy="1905"/>
            </a:xfrm>
            <a:custGeom>
              <a:rect b="b" l="l" r="r" t="t"/>
              <a:pathLst>
                <a:path extrusionOk="0" h="1905" w="2263775">
                  <a:moveTo>
                    <a:pt x="0" y="0"/>
                  </a:moveTo>
                  <a:lnTo>
                    <a:pt x="2263775" y="158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19"/>
            <p:cNvSpPr/>
            <p:nvPr/>
          </p:nvSpPr>
          <p:spPr>
            <a:xfrm>
              <a:off x="6972681" y="1823085"/>
              <a:ext cx="2263775" cy="1905"/>
            </a:xfrm>
            <a:custGeom>
              <a:rect b="b" l="l" r="r" t="t"/>
              <a:pathLst>
                <a:path extrusionOk="0" h="1905" w="2263775">
                  <a:moveTo>
                    <a:pt x="0" y="0"/>
                  </a:moveTo>
                  <a:lnTo>
                    <a:pt x="2263775" y="158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19"/>
            <p:cNvSpPr/>
            <p:nvPr/>
          </p:nvSpPr>
          <p:spPr>
            <a:xfrm>
              <a:off x="7045833" y="2114930"/>
              <a:ext cx="2263775" cy="1905"/>
            </a:xfrm>
            <a:custGeom>
              <a:rect b="b" l="l" r="r" t="t"/>
              <a:pathLst>
                <a:path extrusionOk="0" h="1905" w="2263775">
                  <a:moveTo>
                    <a:pt x="0" y="0"/>
                  </a:moveTo>
                  <a:lnTo>
                    <a:pt x="2263775" y="158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19"/>
            <p:cNvSpPr/>
            <p:nvPr/>
          </p:nvSpPr>
          <p:spPr>
            <a:xfrm>
              <a:off x="7045833" y="2405252"/>
              <a:ext cx="2263775" cy="1905"/>
            </a:xfrm>
            <a:custGeom>
              <a:rect b="b" l="l" r="r" t="t"/>
              <a:pathLst>
                <a:path extrusionOk="0" h="1905" w="2263775">
                  <a:moveTo>
                    <a:pt x="0" y="0"/>
                  </a:moveTo>
                  <a:lnTo>
                    <a:pt x="2263775" y="158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19"/>
            <p:cNvSpPr/>
            <p:nvPr/>
          </p:nvSpPr>
          <p:spPr>
            <a:xfrm>
              <a:off x="7045833" y="2662808"/>
              <a:ext cx="2263775" cy="1905"/>
            </a:xfrm>
            <a:custGeom>
              <a:rect b="b" l="l" r="r" t="t"/>
              <a:pathLst>
                <a:path extrusionOk="0" h="1905" w="2263775">
                  <a:moveTo>
                    <a:pt x="0" y="0"/>
                  </a:moveTo>
                  <a:lnTo>
                    <a:pt x="2263775" y="158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7045833" y="2953131"/>
              <a:ext cx="2263775" cy="1905"/>
            </a:xfrm>
            <a:custGeom>
              <a:rect b="b" l="l" r="r" t="t"/>
              <a:pathLst>
                <a:path extrusionOk="0" h="1905" w="2263775">
                  <a:moveTo>
                    <a:pt x="0" y="0"/>
                  </a:moveTo>
                  <a:lnTo>
                    <a:pt x="2263775" y="158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7183756" y="1240155"/>
              <a:ext cx="1905" cy="1825625"/>
            </a:xfrm>
            <a:custGeom>
              <a:rect b="b" l="l" r="r" t="t"/>
              <a:pathLst>
                <a:path extrusionOk="0" h="1825625" w="1904">
                  <a:moveTo>
                    <a:pt x="1587" y="0"/>
                  </a:moveTo>
                  <a:lnTo>
                    <a:pt x="0" y="182562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7547992" y="1239393"/>
              <a:ext cx="1905" cy="1825625"/>
            </a:xfrm>
            <a:custGeom>
              <a:rect b="b" l="l" r="r" t="t"/>
              <a:pathLst>
                <a:path extrusionOk="0" h="1825625" w="1904">
                  <a:moveTo>
                    <a:pt x="1587" y="0"/>
                  </a:moveTo>
                  <a:lnTo>
                    <a:pt x="0" y="182562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7913752" y="1202817"/>
              <a:ext cx="1905" cy="1825625"/>
            </a:xfrm>
            <a:custGeom>
              <a:rect b="b" l="l" r="r" t="t"/>
              <a:pathLst>
                <a:path extrusionOk="0" h="1825625" w="1904">
                  <a:moveTo>
                    <a:pt x="1587" y="0"/>
                  </a:moveTo>
                  <a:lnTo>
                    <a:pt x="0" y="182562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8278750" y="1202055"/>
              <a:ext cx="1905" cy="1825625"/>
            </a:xfrm>
            <a:custGeom>
              <a:rect b="b" l="l" r="r" t="t"/>
              <a:pathLst>
                <a:path extrusionOk="0" h="1825625" w="1904">
                  <a:moveTo>
                    <a:pt x="1587" y="0"/>
                  </a:moveTo>
                  <a:lnTo>
                    <a:pt x="0" y="182562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8571358" y="1239393"/>
              <a:ext cx="1905" cy="1825625"/>
            </a:xfrm>
            <a:custGeom>
              <a:rect b="b" l="l" r="r" t="t"/>
              <a:pathLst>
                <a:path extrusionOk="0" h="1825625" w="1904">
                  <a:moveTo>
                    <a:pt x="1587" y="0"/>
                  </a:moveTo>
                  <a:lnTo>
                    <a:pt x="0" y="182562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8935594" y="1238631"/>
              <a:ext cx="1905" cy="1825625"/>
            </a:xfrm>
            <a:custGeom>
              <a:rect b="b" l="l" r="r" t="t"/>
              <a:pathLst>
                <a:path extrusionOk="0" h="1825625" w="1904">
                  <a:moveTo>
                    <a:pt x="1587" y="0"/>
                  </a:moveTo>
                  <a:lnTo>
                    <a:pt x="0" y="182562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56" name="Google Shape;456;p1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p1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8" name="Google Shape;458;p1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4" name="Google Shape;464;p20"/>
          <p:cNvSpPr/>
          <p:nvPr/>
        </p:nvSpPr>
        <p:spPr>
          <a:xfrm>
            <a:off x="305181" y="974979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5" name="Google Shape;465;p20"/>
          <p:cNvSpPr txBox="1"/>
          <p:nvPr>
            <p:ph idx="4294967295" type="title"/>
          </p:nvPr>
        </p:nvSpPr>
        <p:spPr>
          <a:xfrm>
            <a:off x="0" y="146488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Polar Representation </a:t>
            </a:r>
            <a:r>
              <a:rPr lang="en-US"/>
              <a:t>of	Lines</a:t>
            </a:r>
            <a:endParaRPr/>
          </a:p>
        </p:txBody>
      </p:sp>
      <p:sp>
        <p:nvSpPr>
          <p:cNvPr id="466" name="Google Shape;466;p20"/>
          <p:cNvSpPr txBox="1"/>
          <p:nvPr/>
        </p:nvSpPr>
        <p:spPr>
          <a:xfrm>
            <a:off x="688340" y="982777"/>
            <a:ext cx="6307455" cy="1049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431800" lvl="0" marL="444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Issues with usual (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m, b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) parameter space: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74650" lvl="1" marL="844550" rtl="0" algn="l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▪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Can take on infinite values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67" name="Google Shape;467;p20"/>
          <p:cNvSpPr txBox="1"/>
          <p:nvPr/>
        </p:nvSpPr>
        <p:spPr>
          <a:xfrm>
            <a:off x="1145539" y="2084325"/>
            <a:ext cx="369316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5115" lvl="0" marL="297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24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Undefined for vertical lines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68" name="Google Shape;468;p20"/>
          <p:cNvSpPr txBox="1"/>
          <p:nvPr/>
        </p:nvSpPr>
        <p:spPr>
          <a:xfrm>
            <a:off x="4690120" y="5908169"/>
            <a:ext cx="71628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Point in image space </a:t>
            </a:r>
            <a:r>
              <a:rPr lang="en-US" sz="2400">
                <a:solidFill>
                  <a:srgbClr val="00B05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sinusoid segment in Hough space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69" name="Google Shape;469;p20"/>
          <p:cNvSpPr txBox="1"/>
          <p:nvPr/>
        </p:nvSpPr>
        <p:spPr>
          <a:xfrm>
            <a:off x="8572761" y="3248208"/>
            <a:ext cx="3129915" cy="2442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12700" marR="5080" rtl="0" algn="l">
              <a:lnSpc>
                <a:spcPct val="1134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b="1" lang="en-US" sz="2200">
                <a:latin typeface="Bell MT"/>
                <a:ea typeface="Bell MT"/>
                <a:cs typeface="Bell MT"/>
                <a:sym typeface="Bell MT"/>
              </a:rPr>
              <a:t>: 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perpendicular distance from line to origin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635" lvl="0" marL="12700" marR="184150" rtl="0" algn="l">
              <a:lnSpc>
                <a:spcPct val="99000"/>
              </a:lnSpc>
              <a:spcBef>
                <a:spcPts val="1205"/>
              </a:spcBef>
              <a:spcAft>
                <a:spcPts val="0"/>
              </a:spcAft>
              <a:buNone/>
            </a:pPr>
            <a:r>
              <a:rPr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23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1" lang="en-US" sz="2200">
                <a:latin typeface="Bell MT"/>
                <a:ea typeface="Bell MT"/>
                <a:cs typeface="Bell MT"/>
                <a:sym typeface="Bell MT"/>
              </a:rPr>
              <a:t>: 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angle the perpendicular makes with the x-axis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0" lvl="0" marL="8509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i="1" lang="en-US" sz="3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i="1" lang="en-US" sz="315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31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0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i="1" lang="en-US" sz="315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31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70" name="Google Shape;470;p20"/>
          <p:cNvGrpSpPr/>
          <p:nvPr/>
        </p:nvGrpSpPr>
        <p:grpSpPr>
          <a:xfrm>
            <a:off x="4877180" y="2041779"/>
            <a:ext cx="4267203" cy="3886201"/>
            <a:chOff x="4877180" y="2041779"/>
            <a:chExt cx="4267203" cy="3886201"/>
          </a:xfrm>
        </p:grpSpPr>
        <p:sp>
          <p:nvSpPr>
            <p:cNvPr id="471" name="Google Shape;471;p20"/>
            <p:cNvSpPr/>
            <p:nvPr/>
          </p:nvSpPr>
          <p:spPr>
            <a:xfrm>
              <a:off x="5867780" y="2879979"/>
              <a:ext cx="0" cy="2984500"/>
            </a:xfrm>
            <a:custGeom>
              <a:rect b="b" l="l" r="r" t="t"/>
              <a:pathLst>
                <a:path extrusionOk="0" h="2984500" w="120000">
                  <a:moveTo>
                    <a:pt x="0" y="0"/>
                  </a:moveTo>
                  <a:lnTo>
                    <a:pt x="0" y="298450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5829686" y="5851780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20"/>
            <p:cNvSpPr/>
            <p:nvPr/>
          </p:nvSpPr>
          <p:spPr>
            <a:xfrm>
              <a:off x="5867780" y="2879979"/>
              <a:ext cx="3213100" cy="0"/>
            </a:xfrm>
            <a:custGeom>
              <a:rect b="b" l="l" r="r" t="t"/>
              <a:pathLst>
                <a:path extrusionOk="0" h="120000" w="3213100">
                  <a:moveTo>
                    <a:pt x="0" y="0"/>
                  </a:moveTo>
                  <a:lnTo>
                    <a:pt x="32131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20"/>
            <p:cNvSpPr/>
            <p:nvPr/>
          </p:nvSpPr>
          <p:spPr>
            <a:xfrm>
              <a:off x="9068183" y="2841876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20"/>
            <p:cNvSpPr/>
            <p:nvPr/>
          </p:nvSpPr>
          <p:spPr>
            <a:xfrm>
              <a:off x="4877180" y="2041779"/>
              <a:ext cx="4038600" cy="3505200"/>
            </a:xfrm>
            <a:custGeom>
              <a:rect b="b" l="l" r="r" t="t"/>
              <a:pathLst>
                <a:path extrusionOk="0" h="3505200" w="4038600">
                  <a:moveTo>
                    <a:pt x="0" y="3505200"/>
                  </a:moveTo>
                  <a:lnTo>
                    <a:pt x="403860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5867780" y="2879979"/>
              <a:ext cx="914400" cy="1066800"/>
            </a:xfrm>
            <a:custGeom>
              <a:rect b="b" l="l" r="r" t="t"/>
              <a:pathLst>
                <a:path extrusionOk="0" h="1066800" w="914400">
                  <a:moveTo>
                    <a:pt x="0" y="0"/>
                  </a:moveTo>
                  <a:lnTo>
                    <a:pt x="914400" y="10668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552418" y="3449007"/>
              <a:ext cx="487680" cy="480695"/>
            </a:xfrm>
            <a:custGeom>
              <a:rect b="b" l="l" r="r" t="t"/>
              <a:pathLst>
                <a:path extrusionOk="0" h="480695" w="487679">
                  <a:moveTo>
                    <a:pt x="0" y="252247"/>
                  </a:moveTo>
                  <a:lnTo>
                    <a:pt x="285546" y="0"/>
                  </a:lnTo>
                  <a:lnTo>
                    <a:pt x="487337" y="228434"/>
                  </a:lnTo>
                  <a:lnTo>
                    <a:pt x="201790" y="480682"/>
                  </a:lnTo>
                  <a:lnTo>
                    <a:pt x="0" y="252247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248394" y="2879598"/>
              <a:ext cx="214629" cy="381000"/>
            </a:xfrm>
            <a:custGeom>
              <a:rect b="b" l="l" r="r" t="t"/>
              <a:pathLst>
                <a:path extrusionOk="0" h="381000" w="214629">
                  <a:moveTo>
                    <a:pt x="195948" y="0"/>
                  </a:moveTo>
                  <a:lnTo>
                    <a:pt x="203886" y="55342"/>
                  </a:lnTo>
                  <a:lnTo>
                    <a:pt x="210462" y="109361"/>
                  </a:lnTo>
                  <a:lnTo>
                    <a:pt x="214317" y="160734"/>
                  </a:lnTo>
                  <a:lnTo>
                    <a:pt x="214089" y="208138"/>
                  </a:lnTo>
                  <a:lnTo>
                    <a:pt x="208419" y="250251"/>
                  </a:lnTo>
                  <a:lnTo>
                    <a:pt x="170869" y="318516"/>
                  </a:lnTo>
                  <a:lnTo>
                    <a:pt x="136383" y="342138"/>
                  </a:lnTo>
                  <a:lnTo>
                    <a:pt x="94842" y="358902"/>
                  </a:lnTo>
                  <a:lnTo>
                    <a:pt x="48597" y="371094"/>
                  </a:lnTo>
                  <a:lnTo>
                    <a:pt x="0" y="381000"/>
                  </a:lnTo>
                </a:path>
              </a:pathLst>
            </a:custGeom>
            <a:noFill/>
            <a:ln cap="flat" cmpd="sng" w="381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79" name="Google Shape;479;p20"/>
          <p:cNvSpPr txBox="1"/>
          <p:nvPr/>
        </p:nvSpPr>
        <p:spPr>
          <a:xfrm>
            <a:off x="5412740" y="2663571"/>
            <a:ext cx="5378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[0,0]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5867400" y="2879598"/>
            <a:ext cx="914400" cy="1066800"/>
          </a:xfrm>
          <a:custGeom>
            <a:rect b="b" l="l" r="r" t="t"/>
            <a:pathLst>
              <a:path extrusionOk="0" h="1066800" w="914400">
                <a:moveTo>
                  <a:pt x="0" y="0"/>
                </a:moveTo>
                <a:lnTo>
                  <a:pt x="914400" y="1066800"/>
                </a:lnTo>
              </a:path>
            </a:pathLst>
          </a:cu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1" name="Google Shape;481;p20"/>
          <p:cNvSpPr txBox="1"/>
          <p:nvPr/>
        </p:nvSpPr>
        <p:spPr>
          <a:xfrm>
            <a:off x="6058256" y="2643560"/>
            <a:ext cx="294005" cy="1223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725">
            <a:spAutoFit/>
          </a:bodyPr>
          <a:lstStyle/>
          <a:p>
            <a:pPr indent="0" lvl="0" marL="85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30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None/>
            </a:pPr>
            <a:r>
              <a:rPr i="1" lang="en-US" sz="29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20"/>
          <p:cNvSpPr txBox="1"/>
          <p:nvPr/>
        </p:nvSpPr>
        <p:spPr>
          <a:xfrm>
            <a:off x="6946465" y="2311745"/>
            <a:ext cx="220345" cy="537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3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20"/>
          <p:cNvSpPr txBox="1"/>
          <p:nvPr/>
        </p:nvSpPr>
        <p:spPr>
          <a:xfrm>
            <a:off x="5493034" y="3560025"/>
            <a:ext cx="196215" cy="473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2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5" name="Google Shape;485;p2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6" name="Google Shape;486;p2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2" name="Google Shape;492;p2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3" name="Google Shape;493;p21"/>
          <p:cNvSpPr txBox="1"/>
          <p:nvPr>
            <p:ph idx="4294967295" type="title"/>
          </p:nvPr>
        </p:nvSpPr>
        <p:spPr>
          <a:xfrm>
            <a:off x="0" y="153150"/>
            <a:ext cx="121920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5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Hough Transform Algorithm</a:t>
            </a:r>
            <a:endParaRPr/>
          </a:p>
        </p:txBody>
      </p:sp>
      <p:sp>
        <p:nvSpPr>
          <p:cNvPr id="494" name="Google Shape;494;p21"/>
          <p:cNvSpPr txBox="1"/>
          <p:nvPr/>
        </p:nvSpPr>
        <p:spPr>
          <a:xfrm>
            <a:off x="688340" y="997079"/>
            <a:ext cx="5979795" cy="3564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Using the polar parameterization: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191262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x cos </a:t>
            </a:r>
            <a:r>
              <a:rPr i="1" lang="en-US" sz="335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- y sin </a:t>
            </a:r>
            <a:r>
              <a:rPr i="1" lang="en-US" sz="335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= 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Basic Hough transform algorithm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80364" lvl="1" marL="850264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SzPts val="2300"/>
              <a:buFont typeface="Bell MT"/>
              <a:buAutoNum type="arabicPeriod"/>
            </a:pP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Initialize H[d, </a:t>
            </a:r>
            <a:r>
              <a:rPr lang="en-US" sz="23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]=0</a:t>
            </a:r>
            <a:endParaRPr sz="2300">
              <a:latin typeface="Bell MT"/>
              <a:ea typeface="Bell MT"/>
              <a:cs typeface="Bell MT"/>
              <a:sym typeface="Bell MT"/>
            </a:endParaRPr>
          </a:p>
          <a:p>
            <a:pPr indent="-380364" lvl="1" marL="850264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SzPts val="2300"/>
              <a:buFont typeface="Bell MT"/>
              <a:buAutoNum type="arabicPeriod"/>
            </a:pP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for each edge point (x,y) in the image</a:t>
            </a:r>
            <a:endParaRPr sz="23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18565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for </a:t>
            </a:r>
            <a:r>
              <a:rPr lang="en-US" sz="23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= 0 to 180	// some quantization</a:t>
            </a:r>
            <a:endParaRPr sz="2300">
              <a:latin typeface="Bell MT"/>
              <a:ea typeface="Bell MT"/>
              <a:cs typeface="Bell MT"/>
              <a:sym typeface="Bell MT"/>
            </a:endParaRPr>
          </a:p>
          <a:p>
            <a:pPr indent="0" lvl="0" marL="168275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d=x cos </a:t>
            </a:r>
            <a:r>
              <a:rPr i="1" lang="en-US" sz="25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- y sin </a:t>
            </a:r>
            <a:r>
              <a:rPr i="1" lang="en-US" sz="25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25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1675764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H[d, </a:t>
            </a:r>
            <a:r>
              <a:rPr lang="en-US" sz="23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] = H[d, </a:t>
            </a:r>
            <a:r>
              <a:rPr lang="en-US" sz="23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] + 1</a:t>
            </a:r>
            <a:endParaRPr sz="23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95" name="Google Shape;495;p21"/>
          <p:cNvSpPr txBox="1"/>
          <p:nvPr/>
        </p:nvSpPr>
        <p:spPr>
          <a:xfrm>
            <a:off x="1145539" y="4536136"/>
            <a:ext cx="6833234" cy="1201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625">
            <a:spAutoFit/>
          </a:bodyPr>
          <a:lstStyle/>
          <a:p>
            <a:pPr indent="-3803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Bell MT"/>
              <a:buAutoNum type="arabicPeriod" startAt="3"/>
            </a:pP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Find the value(s) of	(d, </a:t>
            </a:r>
            <a:r>
              <a:rPr lang="en-US" sz="23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) where H[d, </a:t>
            </a:r>
            <a:r>
              <a:rPr lang="en-US" sz="23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] is maximum</a:t>
            </a:r>
            <a:endParaRPr sz="2300">
              <a:latin typeface="Bell MT"/>
              <a:ea typeface="Bell MT"/>
              <a:cs typeface="Bell MT"/>
              <a:sym typeface="Bell MT"/>
            </a:endParaRPr>
          </a:p>
          <a:p>
            <a:pPr indent="-380365" lvl="0" marL="393065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SzPts val="2300"/>
              <a:buFont typeface="Bell MT"/>
              <a:buAutoNum type="arabicPeriod" startAt="3"/>
            </a:pP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The detected line in the image is given by</a:t>
            </a:r>
            <a:endParaRPr sz="23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x cos </a:t>
            </a:r>
            <a:r>
              <a:rPr i="1" lang="en-US" sz="25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- y sin </a:t>
            </a:r>
            <a:r>
              <a:rPr i="1" lang="en-US" sz="25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= d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graphicFrame>
        <p:nvGraphicFramePr>
          <p:cNvPr id="496" name="Google Shape;496;p21"/>
          <p:cNvGraphicFramePr/>
          <p:nvPr/>
        </p:nvGraphicFramePr>
        <p:xfrm>
          <a:off x="8139112" y="15097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{BE179AF1-11E9-40D2-887D-3ECBB34D71EC}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7" name="Google Shape;497;p21"/>
          <p:cNvSpPr txBox="1"/>
          <p:nvPr/>
        </p:nvSpPr>
        <p:spPr>
          <a:xfrm>
            <a:off x="8076565" y="1161416"/>
            <a:ext cx="207073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H: accumulator array (votes)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1"/>
          <p:cNvSpPr txBox="1"/>
          <p:nvPr/>
        </p:nvSpPr>
        <p:spPr>
          <a:xfrm>
            <a:off x="9146540" y="3523742"/>
            <a:ext cx="1435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 txBox="1"/>
          <p:nvPr/>
        </p:nvSpPr>
        <p:spPr>
          <a:xfrm>
            <a:off x="7851063" y="2230551"/>
            <a:ext cx="144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1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00" name="Google Shape;500;p21"/>
          <p:cNvSpPr txBox="1"/>
          <p:nvPr/>
        </p:nvSpPr>
        <p:spPr>
          <a:xfrm>
            <a:off x="8077581" y="4267580"/>
            <a:ext cx="3886200" cy="1569720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050">
            <a:spAutoFit/>
          </a:bodyPr>
          <a:lstStyle/>
          <a:p>
            <a:pPr indent="302260" lvl="0" marL="285115" marR="279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Time complexity (in terms of number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27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of votes)?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2" name="Google Shape;502;p2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3" name="Google Shape;503;p2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9" name="Google Shape;509;p2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10" name="Google Shape;5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9700" y="1130045"/>
            <a:ext cx="6769099" cy="3390899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2"/>
          <p:cNvSpPr txBox="1"/>
          <p:nvPr/>
        </p:nvSpPr>
        <p:spPr>
          <a:xfrm>
            <a:off x="2426350" y="4539800"/>
            <a:ext cx="4003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0" lvl="0" marL="10096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Image space edge coordinates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2"/>
          <p:cNvSpPr txBox="1"/>
          <p:nvPr/>
        </p:nvSpPr>
        <p:spPr>
          <a:xfrm>
            <a:off x="7444827" y="4910525"/>
            <a:ext cx="1336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Votes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 txBox="1"/>
          <p:nvPr/>
        </p:nvSpPr>
        <p:spPr>
          <a:xfrm>
            <a:off x="7673340" y="4542028"/>
            <a:ext cx="144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1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14" name="Google Shape;514;p22"/>
          <p:cNvSpPr txBox="1"/>
          <p:nvPr/>
        </p:nvSpPr>
        <p:spPr>
          <a:xfrm>
            <a:off x="9654616" y="2710941"/>
            <a:ext cx="1435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2364790" y="2939541"/>
            <a:ext cx="1282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2"/>
          <p:cNvSpPr txBox="1"/>
          <p:nvPr/>
        </p:nvSpPr>
        <p:spPr>
          <a:xfrm>
            <a:off x="6936790" y="5682970"/>
            <a:ext cx="290703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Bright value = high vote count Black = no votes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17" name="Google Shape;517;p22"/>
          <p:cNvSpPr txBox="1"/>
          <p:nvPr>
            <p:ph idx="4294967295" type="title"/>
          </p:nvPr>
        </p:nvSpPr>
        <p:spPr>
          <a:xfrm>
            <a:off x="0" y="153150"/>
            <a:ext cx="12192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3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Examples</a:t>
            </a:r>
            <a:r>
              <a:rPr lang="en-US"/>
              <a:t>: Hough Transform for Straight Lines</a:t>
            </a:r>
            <a:endParaRPr/>
          </a:p>
        </p:txBody>
      </p:sp>
      <p:sp>
        <p:nvSpPr>
          <p:cNvPr id="518" name="Google Shape;518;p2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9" name="Google Shape;519;p2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0" name="Google Shape;520;p2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6" name="Google Shape;526;p2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7" name="Google Shape;527;p23"/>
          <p:cNvSpPr txBox="1"/>
          <p:nvPr>
            <p:ph idx="4294967295" type="title"/>
          </p:nvPr>
        </p:nvSpPr>
        <p:spPr>
          <a:xfrm>
            <a:off x="0" y="153150"/>
            <a:ext cx="12192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4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Hough Transform for Straight Lines</a:t>
            </a:r>
            <a:endParaRPr/>
          </a:p>
        </p:txBody>
      </p:sp>
      <p:sp>
        <p:nvSpPr>
          <p:cNvPr id="528" name="Google Shape;528;p23"/>
          <p:cNvSpPr txBox="1"/>
          <p:nvPr/>
        </p:nvSpPr>
        <p:spPr>
          <a:xfrm>
            <a:off x="3924696" y="1298755"/>
            <a:ext cx="87884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Square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529" name="Google Shape;5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376" y="1676400"/>
            <a:ext cx="3473195" cy="4611611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3"/>
          <p:cNvSpPr txBox="1"/>
          <p:nvPr/>
        </p:nvSpPr>
        <p:spPr>
          <a:xfrm>
            <a:off x="6576383" y="4325879"/>
            <a:ext cx="2740660" cy="902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6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latin typeface="Bell MT"/>
                <a:ea typeface="Bell MT"/>
                <a:cs typeface="Bell MT"/>
                <a:sym typeface="Bell MT"/>
              </a:rPr>
              <a:t>Four lines</a:t>
            </a:r>
            <a:endParaRPr sz="295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rtl="0" algn="l">
              <a:lnSpc>
                <a:spcPct val="116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latin typeface="Bell MT"/>
                <a:ea typeface="Bell MT"/>
                <a:cs typeface="Bell MT"/>
                <a:sym typeface="Bell MT"/>
              </a:rPr>
              <a:t>Four bright spots</a:t>
            </a:r>
            <a:endParaRPr sz="295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31" name="Google Shape;531;p2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2" name="Google Shape;532;p2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3" name="Google Shape;533;p2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3209" y="1199124"/>
            <a:ext cx="3071029" cy="451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0082" y="1588290"/>
            <a:ext cx="3844688" cy="3844688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4"/>
          <p:cNvSpPr txBox="1"/>
          <p:nvPr>
            <p:ph idx="4294967295" type="title"/>
          </p:nvPr>
        </p:nvSpPr>
        <p:spPr>
          <a:xfrm>
            <a:off x="750" y="153150"/>
            <a:ext cx="12192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4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Hough Transform for Straight Lines</a:t>
            </a:r>
            <a:endParaRPr/>
          </a:p>
        </p:txBody>
      </p:sp>
      <p:sp>
        <p:nvSpPr>
          <p:cNvPr id="541" name="Google Shape;541;p2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2" name="Google Shape;542;p24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811" y="1506474"/>
            <a:ext cx="2700515" cy="359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5200" y="1506474"/>
            <a:ext cx="2702051" cy="35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07352" y="2705807"/>
            <a:ext cx="2710620" cy="3634781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5"/>
          <p:cNvSpPr txBox="1"/>
          <p:nvPr>
            <p:ph idx="4294967295" type="title"/>
          </p:nvPr>
        </p:nvSpPr>
        <p:spPr>
          <a:xfrm>
            <a:off x="750" y="153150"/>
            <a:ext cx="121920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Hough Transform for Straight Lines</a:t>
            </a:r>
            <a:endParaRPr/>
          </a:p>
        </p:txBody>
      </p:sp>
      <p:pic>
        <p:nvPicPr>
          <p:cNvPr id="551" name="Google Shape;55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2" y="1516000"/>
            <a:ext cx="2848352" cy="2486402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3" name="Google Shape;553;p25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1348" y="3357372"/>
            <a:ext cx="4055150" cy="2700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8196" y="537972"/>
            <a:ext cx="4381499" cy="2438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5957" y="489809"/>
            <a:ext cx="4457057" cy="2555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3631" y="3357371"/>
            <a:ext cx="4768381" cy="2665476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26"/>
          <p:cNvSpPr txBox="1"/>
          <p:nvPr/>
        </p:nvSpPr>
        <p:spPr>
          <a:xfrm>
            <a:off x="6503353" y="5997321"/>
            <a:ext cx="31197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Showing longest segments found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63" name="Google Shape;563;p2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4" name="Google Shape;564;p26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0" name="Google Shape;570;p2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71" name="Google Shape;57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1951" y="1066800"/>
            <a:ext cx="6769335" cy="3301748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Impact of	Noise on Hough Transform</a:t>
            </a:r>
            <a:endParaRPr/>
          </a:p>
        </p:txBody>
      </p:sp>
      <p:sp>
        <p:nvSpPr>
          <p:cNvPr id="573" name="Google Shape;573;p27"/>
          <p:cNvSpPr txBox="1"/>
          <p:nvPr/>
        </p:nvSpPr>
        <p:spPr>
          <a:xfrm>
            <a:off x="2229450" y="4611250"/>
            <a:ext cx="43422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8669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302895" lvl="0" marL="12700" marR="508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Image space edge coordinates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7"/>
          <p:cNvSpPr txBox="1"/>
          <p:nvPr/>
        </p:nvSpPr>
        <p:spPr>
          <a:xfrm>
            <a:off x="7379557" y="4689675"/>
            <a:ext cx="17187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0" rtl="0" algn="l">
              <a:lnSpc>
                <a:spcPct val="10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18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12700" rtl="0" algn="l">
              <a:lnSpc>
                <a:spcPct val="107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Votes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7"/>
          <p:cNvSpPr txBox="1"/>
          <p:nvPr/>
        </p:nvSpPr>
        <p:spPr>
          <a:xfrm>
            <a:off x="2413800" y="2934933"/>
            <a:ext cx="1282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7"/>
          <p:cNvSpPr txBox="1"/>
          <p:nvPr/>
        </p:nvSpPr>
        <p:spPr>
          <a:xfrm>
            <a:off x="9500399" y="2847607"/>
            <a:ext cx="1435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7"/>
          <p:cNvSpPr txBox="1"/>
          <p:nvPr/>
        </p:nvSpPr>
        <p:spPr>
          <a:xfrm>
            <a:off x="609980" y="5867780"/>
            <a:ext cx="11201400" cy="462280"/>
          </a:xfrm>
          <a:prstGeom prst="rect">
            <a:avLst/>
          </a:prstGeom>
          <a:solidFill>
            <a:srgbClr val="C0504D"/>
          </a:solidFill>
          <a:ln cap="flat" cmpd="sng" w="25400">
            <a:solidFill>
              <a:srgbClr val="8C3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90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the difficulty it imposes in the implementation?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9" name="Google Shape;579;p2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0" name="Google Shape;580;p2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6" name="Google Shape;586;p2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87" name="Google Shape;58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7817" y="1077457"/>
            <a:ext cx="6756634" cy="337769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28"/>
          <p:cNvSpPr txBox="1"/>
          <p:nvPr/>
        </p:nvSpPr>
        <p:spPr>
          <a:xfrm>
            <a:off x="3261867" y="4587077"/>
            <a:ext cx="491807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31242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Image space	Votes edge coordinates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89" name="Google Shape;589;p28"/>
          <p:cNvSpPr txBox="1"/>
          <p:nvPr/>
        </p:nvSpPr>
        <p:spPr>
          <a:xfrm>
            <a:off x="533780" y="5486780"/>
            <a:ext cx="11125200" cy="83058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90805" marR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Here, everything appears to be “noise”, or random edge points, but we still see peaks in the vote space.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Impact of	Noise on Hough Transform</a:t>
            </a:r>
            <a:endParaRPr/>
          </a:p>
        </p:txBody>
      </p:sp>
      <p:sp>
        <p:nvSpPr>
          <p:cNvPr id="591" name="Google Shape;591;p2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2" name="Google Shape;592;p2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3" name="Google Shape;593;p2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599" name="Google Shape;599;p29"/>
          <p:cNvGrpSpPr/>
          <p:nvPr/>
        </p:nvGrpSpPr>
        <p:grpSpPr>
          <a:xfrm>
            <a:off x="8839200" y="251459"/>
            <a:ext cx="2350438" cy="828294"/>
            <a:chOff x="8839200" y="251459"/>
            <a:chExt cx="2350438" cy="828294"/>
          </a:xfrm>
        </p:grpSpPr>
        <p:pic>
          <p:nvPicPr>
            <p:cNvPr id="600" name="Google Shape;600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839200" y="251459"/>
              <a:ext cx="899922" cy="8282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29"/>
            <p:cNvSpPr/>
            <p:nvPr/>
          </p:nvSpPr>
          <p:spPr>
            <a:xfrm>
              <a:off x="9301733" y="427113"/>
              <a:ext cx="246379" cy="226695"/>
            </a:xfrm>
            <a:custGeom>
              <a:rect b="b" l="l" r="r" t="t"/>
              <a:pathLst>
                <a:path extrusionOk="0" h="226695" w="246379">
                  <a:moveTo>
                    <a:pt x="0" y="226682"/>
                  </a:moveTo>
                  <a:lnTo>
                    <a:pt x="246151" y="0"/>
                  </a:ln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2" name="Google Shape;602;p29"/>
            <p:cNvSpPr/>
            <p:nvPr/>
          </p:nvSpPr>
          <p:spPr>
            <a:xfrm>
              <a:off x="9508342" y="378719"/>
              <a:ext cx="92710" cy="90170"/>
            </a:xfrm>
            <a:custGeom>
              <a:rect b="b" l="l" r="r" t="t"/>
              <a:pathLst>
                <a:path extrusionOk="0" h="90170" w="92709">
                  <a:moveTo>
                    <a:pt x="92100" y="0"/>
                  </a:moveTo>
                  <a:lnTo>
                    <a:pt x="0" y="26543"/>
                  </a:lnTo>
                  <a:lnTo>
                    <a:pt x="58077" y="89598"/>
                  </a:lnTo>
                  <a:lnTo>
                    <a:pt x="921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03" name="Google Shape;603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03028" y="317109"/>
              <a:ext cx="1386610" cy="3171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29"/>
            <p:cNvSpPr/>
            <p:nvPr/>
          </p:nvSpPr>
          <p:spPr>
            <a:xfrm>
              <a:off x="9254490" y="633984"/>
              <a:ext cx="69850" cy="63500"/>
            </a:xfrm>
            <a:custGeom>
              <a:rect b="b" l="l" r="r" t="t"/>
              <a:pathLst>
                <a:path extrusionOk="0" h="63500" w="69850">
                  <a:moveTo>
                    <a:pt x="34671" y="0"/>
                  </a:moveTo>
                  <a:lnTo>
                    <a:pt x="21174" y="2485"/>
                  </a:lnTo>
                  <a:lnTo>
                    <a:pt x="10153" y="9263"/>
                  </a:lnTo>
                  <a:lnTo>
                    <a:pt x="2724" y="19314"/>
                  </a:lnTo>
                  <a:lnTo>
                    <a:pt x="0" y="31623"/>
                  </a:lnTo>
                  <a:lnTo>
                    <a:pt x="2724" y="43931"/>
                  </a:lnTo>
                  <a:lnTo>
                    <a:pt x="10153" y="53982"/>
                  </a:lnTo>
                  <a:lnTo>
                    <a:pt x="21174" y="60760"/>
                  </a:lnTo>
                  <a:lnTo>
                    <a:pt x="34671" y="63246"/>
                  </a:lnTo>
                  <a:lnTo>
                    <a:pt x="48167" y="60760"/>
                  </a:lnTo>
                  <a:lnTo>
                    <a:pt x="59188" y="53982"/>
                  </a:lnTo>
                  <a:lnTo>
                    <a:pt x="66617" y="43931"/>
                  </a:lnTo>
                  <a:lnTo>
                    <a:pt x="69342" y="31623"/>
                  </a:lnTo>
                  <a:lnTo>
                    <a:pt x="66617" y="19314"/>
                  </a:lnTo>
                  <a:lnTo>
                    <a:pt x="59188" y="9263"/>
                  </a:lnTo>
                  <a:lnTo>
                    <a:pt x="48167" y="2485"/>
                  </a:lnTo>
                  <a:lnTo>
                    <a:pt x="3467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9285351" y="675512"/>
              <a:ext cx="373380" cy="0"/>
            </a:xfrm>
            <a:custGeom>
              <a:rect b="b" l="l" r="r" t="t"/>
              <a:pathLst>
                <a:path extrusionOk="0" h="120000" w="373379">
                  <a:moveTo>
                    <a:pt x="0" y="0"/>
                  </a:moveTo>
                  <a:lnTo>
                    <a:pt x="37312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9645778" y="637410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9280779" y="324484"/>
              <a:ext cx="0" cy="362585"/>
            </a:xfrm>
            <a:custGeom>
              <a:rect b="b" l="l" r="r" t="t"/>
              <a:pathLst>
                <a:path extrusionOk="0" h="362584" w="120000">
                  <a:moveTo>
                    <a:pt x="0" y="362458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9242682" y="260983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9372979" y="600836"/>
              <a:ext cx="36195" cy="67945"/>
            </a:xfrm>
            <a:custGeom>
              <a:rect b="b" l="l" r="r" t="t"/>
              <a:pathLst>
                <a:path extrusionOk="0" h="67945" w="36195">
                  <a:moveTo>
                    <a:pt x="25907" y="67817"/>
                  </a:moveTo>
                  <a:lnTo>
                    <a:pt x="30291" y="55727"/>
                  </a:lnTo>
                  <a:lnTo>
                    <a:pt x="34002" y="43883"/>
                  </a:lnTo>
                  <a:lnTo>
                    <a:pt x="35825" y="33036"/>
                  </a:lnTo>
                  <a:lnTo>
                    <a:pt x="34543" y="23939"/>
                  </a:lnTo>
                  <a:lnTo>
                    <a:pt x="29348" y="16644"/>
                  </a:lnTo>
                  <a:lnTo>
                    <a:pt x="21048" y="10474"/>
                  </a:lnTo>
                  <a:lnTo>
                    <a:pt x="10860" y="5051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10" name="Google Shape;610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492233" y="515111"/>
              <a:ext cx="99821" cy="16382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1" name="Google Shape;611;p29"/>
          <p:cNvSpPr txBox="1"/>
          <p:nvPr/>
        </p:nvSpPr>
        <p:spPr>
          <a:xfrm>
            <a:off x="688340" y="999239"/>
            <a:ext cx="6028055" cy="284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Extension 1:	Use the image gradient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80364" lvl="0" marL="850264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SzPts val="2400"/>
              <a:buFont typeface="Bell MT"/>
              <a:buAutoNum type="arabicPeriod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Initialize H[d,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]=0 </a:t>
            </a: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[same as previous]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-380364" lvl="0" marL="850264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SzPts val="2400"/>
              <a:buFont typeface="Bell MT"/>
              <a:buAutoNum type="arabicPeriod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for each edge point I[x,y] in the image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61976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= gradient at (x,y)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516255" rtl="0" algn="ctr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d = x cos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- y sin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28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640080" rtl="0" algn="ctr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H[d, </a:t>
            </a:r>
            <a:r>
              <a:rPr lang="en-US" sz="32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] = H[d,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] + 1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12" name="Google Shape;612;p29"/>
          <p:cNvSpPr txBox="1"/>
          <p:nvPr/>
        </p:nvSpPr>
        <p:spPr>
          <a:xfrm>
            <a:off x="688340" y="3816600"/>
            <a:ext cx="9812700" cy="25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-380364" lvl="0" marL="8502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l MT"/>
              <a:buAutoNum type="arabicPeriod" startAt="3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Find the value(s) of	(d,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) where H[d,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] is maximum </a:t>
            </a: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[</a:t>
            </a:r>
            <a:r>
              <a:rPr lang="en-US" sz="21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same as previous</a:t>
            </a: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]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-380364" lvl="0" marL="850264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400"/>
              <a:buFont typeface="Bell MT"/>
              <a:buAutoNum type="arabicPeriod" startAt="3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The detected line in the image is given by </a:t>
            </a: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[same as previous]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0" lvl="0" marL="1612265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d = x cos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- y sin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24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1612265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(Reduces degrees of	freedom)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13" name="Google Shape;613;p29"/>
          <p:cNvSpPr txBox="1"/>
          <p:nvPr>
            <p:ph idx="4294967295" type="title"/>
          </p:nvPr>
        </p:nvSpPr>
        <p:spPr>
          <a:xfrm>
            <a:off x="0" y="153150"/>
            <a:ext cx="12192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4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Extensions</a:t>
            </a:r>
            <a:endParaRPr/>
          </a:p>
        </p:txBody>
      </p:sp>
      <p:grpSp>
        <p:nvGrpSpPr>
          <p:cNvPr id="614" name="Google Shape;614;p29"/>
          <p:cNvGrpSpPr/>
          <p:nvPr/>
        </p:nvGrpSpPr>
        <p:grpSpPr>
          <a:xfrm>
            <a:off x="6880479" y="1165478"/>
            <a:ext cx="4351050" cy="2587755"/>
            <a:chOff x="6880479" y="1165478"/>
            <a:chExt cx="4351050" cy="2587755"/>
          </a:xfrm>
        </p:grpSpPr>
        <p:pic>
          <p:nvPicPr>
            <p:cNvPr id="615" name="Google Shape;615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878998" y="1302430"/>
              <a:ext cx="2352531" cy="4250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29"/>
            <p:cNvSpPr/>
            <p:nvPr/>
          </p:nvSpPr>
          <p:spPr>
            <a:xfrm>
              <a:off x="7544181" y="1724024"/>
              <a:ext cx="0" cy="1965960"/>
            </a:xfrm>
            <a:custGeom>
              <a:rect b="b" l="l" r="r" t="t"/>
              <a:pathLst>
                <a:path extrusionOk="0" h="1965960" w="120000">
                  <a:moveTo>
                    <a:pt x="0" y="0"/>
                  </a:moveTo>
                  <a:lnTo>
                    <a:pt x="0" y="196570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7506085" y="3677033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7544181" y="1724024"/>
              <a:ext cx="2132330" cy="0"/>
            </a:xfrm>
            <a:custGeom>
              <a:rect b="b" l="l" r="r" t="t"/>
              <a:pathLst>
                <a:path extrusionOk="0" h="120000" w="2132329">
                  <a:moveTo>
                    <a:pt x="0" y="0"/>
                  </a:moveTo>
                  <a:lnTo>
                    <a:pt x="21318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9" name="Google Shape;619;p29"/>
            <p:cNvSpPr/>
            <p:nvPr/>
          </p:nvSpPr>
          <p:spPr>
            <a:xfrm>
              <a:off x="9663304" y="1685922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0" name="Google Shape;620;p29"/>
            <p:cNvSpPr/>
            <p:nvPr/>
          </p:nvSpPr>
          <p:spPr>
            <a:xfrm>
              <a:off x="6880479" y="1165478"/>
              <a:ext cx="2706370" cy="2334260"/>
            </a:xfrm>
            <a:custGeom>
              <a:rect b="b" l="l" r="r" t="t"/>
              <a:pathLst>
                <a:path extrusionOk="0" h="2334260" w="2706370">
                  <a:moveTo>
                    <a:pt x="0" y="2334006"/>
                  </a:moveTo>
                  <a:lnTo>
                    <a:pt x="270586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7544181" y="1724024"/>
              <a:ext cx="612775" cy="710565"/>
            </a:xfrm>
            <a:custGeom>
              <a:rect b="b" l="l" r="r" t="t"/>
              <a:pathLst>
                <a:path extrusionOk="0" h="710564" w="612775">
                  <a:moveTo>
                    <a:pt x="0" y="0"/>
                  </a:moveTo>
                  <a:lnTo>
                    <a:pt x="612648" y="710184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8003234" y="2102074"/>
              <a:ext cx="325755" cy="321310"/>
            </a:xfrm>
            <a:custGeom>
              <a:rect b="b" l="l" r="r" t="t"/>
              <a:pathLst>
                <a:path extrusionOk="0" h="321310" w="325754">
                  <a:moveTo>
                    <a:pt x="0" y="168960"/>
                  </a:moveTo>
                  <a:lnTo>
                    <a:pt x="191262" y="0"/>
                  </a:lnTo>
                  <a:lnTo>
                    <a:pt x="325615" y="152095"/>
                  </a:lnTo>
                  <a:lnTo>
                    <a:pt x="134353" y="321055"/>
                  </a:lnTo>
                  <a:lnTo>
                    <a:pt x="0" y="16896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7799071" y="1723643"/>
              <a:ext cx="144145" cy="254000"/>
            </a:xfrm>
            <a:custGeom>
              <a:rect b="b" l="l" r="r" t="t"/>
              <a:pathLst>
                <a:path extrusionOk="0" h="254000" w="144145">
                  <a:moveTo>
                    <a:pt x="131279" y="0"/>
                  </a:moveTo>
                  <a:lnTo>
                    <a:pt x="138970" y="55014"/>
                  </a:lnTo>
                  <a:lnTo>
                    <a:pt x="143586" y="107051"/>
                  </a:lnTo>
                  <a:lnTo>
                    <a:pt x="142049" y="153140"/>
                  </a:lnTo>
                  <a:lnTo>
                    <a:pt x="131279" y="190309"/>
                  </a:lnTo>
                  <a:lnTo>
                    <a:pt x="109227" y="216575"/>
                  </a:lnTo>
                  <a:lnTo>
                    <a:pt x="77946" y="233919"/>
                  </a:lnTo>
                  <a:lnTo>
                    <a:pt x="40511" y="245318"/>
                  </a:lnTo>
                  <a:lnTo>
                    <a:pt x="0" y="253746"/>
                  </a:lnTo>
                </a:path>
              </a:pathLst>
            </a:custGeom>
            <a:noFill/>
            <a:ln cap="flat" cmpd="sng" w="381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24" name="Google Shape;624;p29"/>
          <p:cNvSpPr txBox="1"/>
          <p:nvPr/>
        </p:nvSpPr>
        <p:spPr>
          <a:xfrm>
            <a:off x="7074296" y="1401601"/>
            <a:ext cx="4432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(0,0)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7543801" y="1723644"/>
            <a:ext cx="612775" cy="710565"/>
          </a:xfrm>
          <a:custGeom>
            <a:rect b="b" l="l" r="r" t="t"/>
            <a:pathLst>
              <a:path extrusionOk="0" h="710564" w="612775">
                <a:moveTo>
                  <a:pt x="0" y="0"/>
                </a:moveTo>
                <a:lnTo>
                  <a:pt x="612495" y="710285"/>
                </a:lnTo>
              </a:path>
            </a:pathLst>
          </a:cu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6" name="Google Shape;626;p29"/>
          <p:cNvSpPr txBox="1"/>
          <p:nvPr/>
        </p:nvSpPr>
        <p:spPr>
          <a:xfrm>
            <a:off x="7667693" y="1561938"/>
            <a:ext cx="2051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615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20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rPr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7" name="Google Shape;627;p29"/>
          <p:cNvSpPr txBox="1"/>
          <p:nvPr/>
        </p:nvSpPr>
        <p:spPr>
          <a:xfrm>
            <a:off x="8262800" y="1341374"/>
            <a:ext cx="1562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8" name="Google Shape;628;p29"/>
          <p:cNvSpPr txBox="1"/>
          <p:nvPr/>
        </p:nvSpPr>
        <p:spPr>
          <a:xfrm>
            <a:off x="7289179" y="2172012"/>
            <a:ext cx="139700" cy="324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9" name="Google Shape;629;p2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0" name="Google Shape;630;p2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1" name="Google Shape;631;p2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32" name="Google Shape;632;p2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8" name="Google Shape;638;p30"/>
          <p:cNvSpPr txBox="1"/>
          <p:nvPr>
            <p:ph idx="4294967295" type="title"/>
          </p:nvPr>
        </p:nvSpPr>
        <p:spPr>
          <a:xfrm>
            <a:off x="0" y="153150"/>
            <a:ext cx="12192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4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Extensions</a:t>
            </a:r>
            <a:endParaRPr/>
          </a:p>
        </p:txBody>
      </p:sp>
      <p:sp>
        <p:nvSpPr>
          <p:cNvPr id="639" name="Google Shape;639;p30"/>
          <p:cNvSpPr txBox="1"/>
          <p:nvPr/>
        </p:nvSpPr>
        <p:spPr>
          <a:xfrm>
            <a:off x="688340" y="961905"/>
            <a:ext cx="10083165" cy="113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Extension 2: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give more votes for stronger edges (use magnitude of	gradient)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40" name="Google Shape;640;p30"/>
          <p:cNvSpPr txBox="1"/>
          <p:nvPr/>
        </p:nvSpPr>
        <p:spPr>
          <a:xfrm>
            <a:off x="688340" y="2629982"/>
            <a:ext cx="10500995" cy="3248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Extension 3: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80364" lvl="0" marL="850264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change the sampling of	(d, </a:t>
            </a:r>
            <a:r>
              <a:rPr lang="en-US" sz="2800">
                <a:solidFill>
                  <a:srgbClr val="00B05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) to give more/less resolution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295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Extension 4: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81000" lvl="0" marL="850900" marR="50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The same procedure can be used with circles, squares, or any other shape…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41" name="Google Shape;641;p3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2" name="Google Shape;642;p3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3" name="Google Shape;643;p3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44" name="Google Shape;644;p3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0" name="Google Shape;650;p31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51" name="Google Shape;651;p31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7" name="Google Shape;657;p32"/>
          <p:cNvSpPr txBox="1"/>
          <p:nvPr>
            <p:ph idx="4294967295" type="title"/>
          </p:nvPr>
        </p:nvSpPr>
        <p:spPr>
          <a:xfrm>
            <a:off x="0" y="1465700"/>
            <a:ext cx="12192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Hough Transform</a:t>
            </a:r>
            <a:endParaRPr sz="6000"/>
          </a:p>
        </p:txBody>
      </p:sp>
      <p:sp>
        <p:nvSpPr>
          <p:cNvPr id="658" name="Google Shape;658;p32"/>
          <p:cNvSpPr txBox="1"/>
          <p:nvPr/>
        </p:nvSpPr>
        <p:spPr>
          <a:xfrm>
            <a:off x="4341622" y="3959823"/>
            <a:ext cx="3692400" cy="20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35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Part – 2</a:t>
            </a:r>
            <a:endParaRPr sz="40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Detection of	Circles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59" name="Google Shape;659;p32"/>
          <p:cNvSpPr txBox="1"/>
          <p:nvPr/>
        </p:nvSpPr>
        <p:spPr>
          <a:xfrm>
            <a:off x="2141565" y="2986824"/>
            <a:ext cx="7983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Extraction of	High Level Features from Images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60" name="Google Shape;660;p3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1" name="Google Shape;661;p3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2" name="Google Shape;662;p3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8" name="Google Shape;668;p3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9" name="Google Shape;669;p33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</a:t>
            </a:r>
            <a:endParaRPr/>
          </a:p>
        </p:txBody>
      </p:sp>
      <p:sp>
        <p:nvSpPr>
          <p:cNvPr id="670" name="Google Shape;670;p33"/>
          <p:cNvSpPr txBox="1"/>
          <p:nvPr/>
        </p:nvSpPr>
        <p:spPr>
          <a:xfrm>
            <a:off x="688340" y="979032"/>
            <a:ext cx="102387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5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Quick Recap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Line detection using Hough Transform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29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Circle detection using Hough Transform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32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Voting: Practical Tips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32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Hough Transform: Handling of	Noise and Multiple Fragments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32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Hough Transform: Pros and Cons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71" name="Google Shape;671;p3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2" name="Google Shape;672;p3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3" name="Google Shape;673;p3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9" name="Google Shape;679;p3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0" name="Google Shape;680;p34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Hough Transform: </a:t>
            </a:r>
            <a:r>
              <a:rPr lang="en-US"/>
              <a:t>Fitting Models using Voting</a:t>
            </a:r>
            <a:endParaRPr/>
          </a:p>
        </p:txBody>
      </p:sp>
      <p:grpSp>
        <p:nvGrpSpPr>
          <p:cNvPr id="681" name="Google Shape;681;p34"/>
          <p:cNvGrpSpPr/>
          <p:nvPr/>
        </p:nvGrpSpPr>
        <p:grpSpPr>
          <a:xfrm>
            <a:off x="954024" y="2058923"/>
            <a:ext cx="2593846" cy="789432"/>
            <a:chOff x="954024" y="2058923"/>
            <a:chExt cx="2593846" cy="789432"/>
          </a:xfrm>
        </p:grpSpPr>
        <p:pic>
          <p:nvPicPr>
            <p:cNvPr id="682" name="Google Shape;682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4024" y="2072640"/>
              <a:ext cx="597395" cy="731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3" name="Google Shape;683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3772" y="2058924"/>
              <a:ext cx="1982723" cy="7894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4" name="Google Shape;684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37103" y="2058923"/>
              <a:ext cx="810767" cy="7894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5" name="Google Shape;685;p34"/>
          <p:cNvSpPr txBox="1"/>
          <p:nvPr/>
        </p:nvSpPr>
        <p:spPr>
          <a:xfrm>
            <a:off x="688340" y="1063244"/>
            <a:ext cx="10373360" cy="15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49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Sometimes, we want to detect </a:t>
            </a:r>
            <a:r>
              <a:rPr b="1" lang="en-US" sz="3200" u="sng">
                <a:latin typeface="Bell MT"/>
                <a:ea typeface="Bell MT"/>
                <a:cs typeface="Bell MT"/>
                <a:sym typeface="Bell MT"/>
              </a:rPr>
              <a:t>high level features</a:t>
            </a:r>
            <a:r>
              <a:rPr b="1" lang="en-US" sz="3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present in the image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line, circles etc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686" name="Google Shape;686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16963" y="4867668"/>
            <a:ext cx="7516367" cy="1008875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34"/>
          <p:cNvSpPr txBox="1"/>
          <p:nvPr/>
        </p:nvSpPr>
        <p:spPr>
          <a:xfrm>
            <a:off x="688340" y="4960111"/>
            <a:ext cx="10289540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3535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It is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not feasible to check all combinations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of	features by fitting a </a:t>
            </a:r>
            <a:r>
              <a:rPr lang="en-US" sz="3600" u="sng">
                <a:latin typeface="Bell MT"/>
                <a:ea typeface="Bell MT"/>
                <a:cs typeface="Bell MT"/>
                <a:sym typeface="Bell MT"/>
              </a:rPr>
              <a:t>model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 to </a:t>
            </a:r>
            <a:r>
              <a:rPr lang="en-US" sz="3600" u="sng">
                <a:latin typeface="Bell MT"/>
                <a:ea typeface="Bell MT"/>
                <a:cs typeface="Bell MT"/>
                <a:sym typeface="Bell MT"/>
              </a:rPr>
              <a:t>each possible subset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688" name="Google Shape;688;p34"/>
          <p:cNvGrpSpPr/>
          <p:nvPr/>
        </p:nvGrpSpPr>
        <p:grpSpPr>
          <a:xfrm>
            <a:off x="4200144" y="2057400"/>
            <a:ext cx="2981134" cy="2613660"/>
            <a:chOff x="4200144" y="2057400"/>
            <a:chExt cx="2981134" cy="2613660"/>
          </a:xfrm>
        </p:grpSpPr>
        <p:pic>
          <p:nvPicPr>
            <p:cNvPr id="689" name="Google Shape;689;p3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243893" y="3564445"/>
              <a:ext cx="137540" cy="1314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0" name="Google Shape;690;p3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714809" y="3277933"/>
              <a:ext cx="137540" cy="131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1" name="Google Shape;691;p3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015037" y="2828353"/>
              <a:ext cx="137540" cy="132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2" name="Google Shape;692;p3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786181" y="2174557"/>
              <a:ext cx="137541" cy="132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3" name="Google Shape;693;p3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029009" y="3849433"/>
              <a:ext cx="139064" cy="132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4" name="Google Shape;694;p3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72749" y="4257865"/>
              <a:ext cx="137540" cy="132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5" name="Google Shape;695;p3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871525" y="3890581"/>
              <a:ext cx="137541" cy="131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6" name="Google Shape;696;p3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114353" y="2543365"/>
              <a:ext cx="139064" cy="131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7" name="Google Shape;697;p3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042213" y="3114865"/>
              <a:ext cx="139065" cy="131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8" name="Google Shape;698;p3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271069" y="4094797"/>
              <a:ext cx="139064" cy="131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p3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30077" y="3399853"/>
              <a:ext cx="137540" cy="132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0" name="Google Shape;700;p3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515421" y="2910649"/>
              <a:ext cx="137540" cy="1314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" name="Google Shape;701;p34"/>
            <p:cNvSpPr/>
            <p:nvPr/>
          </p:nvSpPr>
          <p:spPr>
            <a:xfrm>
              <a:off x="4200144" y="2057400"/>
              <a:ext cx="2827020" cy="2613660"/>
            </a:xfrm>
            <a:custGeom>
              <a:rect b="b" l="l" r="r" t="t"/>
              <a:pathLst>
                <a:path extrusionOk="0" h="2613660" w="2827020">
                  <a:moveTo>
                    <a:pt x="0" y="2613660"/>
                  </a:moveTo>
                  <a:lnTo>
                    <a:pt x="282702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02" name="Google Shape;702;p34"/>
          <p:cNvGrpSpPr/>
          <p:nvPr/>
        </p:nvGrpSpPr>
        <p:grpSpPr>
          <a:xfrm>
            <a:off x="7458538" y="2284203"/>
            <a:ext cx="1376680" cy="1929130"/>
            <a:chOff x="7458538" y="2284203"/>
            <a:chExt cx="1376680" cy="1929130"/>
          </a:xfrm>
        </p:grpSpPr>
        <p:pic>
          <p:nvPicPr>
            <p:cNvPr id="703" name="Google Shape;703;p3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985569" y="3972877"/>
              <a:ext cx="137541" cy="131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4" name="Google Shape;704;p3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070913" y="3156013"/>
              <a:ext cx="137541" cy="131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5" name="Google Shape;705;p3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513129" y="3236785"/>
              <a:ext cx="139065" cy="132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6" name="Google Shape;706;p3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584501" y="3849433"/>
              <a:ext cx="139065" cy="132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7" name="Google Shape;707;p3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728013" y="2624137"/>
              <a:ext cx="137541" cy="1329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34"/>
            <p:cNvSpPr/>
            <p:nvPr/>
          </p:nvSpPr>
          <p:spPr>
            <a:xfrm>
              <a:off x="7458538" y="2284203"/>
              <a:ext cx="1376680" cy="1929130"/>
            </a:xfrm>
            <a:custGeom>
              <a:rect b="b" l="l" r="r" t="t"/>
              <a:pathLst>
                <a:path extrusionOk="0" h="1929129" w="1376679">
                  <a:moveTo>
                    <a:pt x="1376070" y="192852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09" name="Google Shape;709;p3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0" name="Google Shape;710;p3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1" name="Google Shape;711;p3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7" name="Google Shape;717;p3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8" name="Google Shape;718;p3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Hough Transform: </a:t>
            </a:r>
            <a:r>
              <a:rPr lang="en-US"/>
              <a:t>Fitting Models using Voting</a:t>
            </a:r>
            <a:endParaRPr/>
          </a:p>
        </p:txBody>
      </p:sp>
      <p:grpSp>
        <p:nvGrpSpPr>
          <p:cNvPr id="719" name="Google Shape;719;p35"/>
          <p:cNvGrpSpPr/>
          <p:nvPr/>
        </p:nvGrpSpPr>
        <p:grpSpPr>
          <a:xfrm>
            <a:off x="987552" y="2584704"/>
            <a:ext cx="3361943" cy="650747"/>
            <a:chOff x="987552" y="2584704"/>
            <a:chExt cx="3361943" cy="650747"/>
          </a:xfrm>
        </p:grpSpPr>
        <p:pic>
          <p:nvPicPr>
            <p:cNvPr id="720" name="Google Shape;720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7552" y="2592324"/>
              <a:ext cx="525779" cy="609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1" name="Google Shape;721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63396" y="2584704"/>
              <a:ext cx="3086099" cy="6507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22" name="Google Shape;72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9800" y="3081528"/>
            <a:ext cx="1972055" cy="650747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35"/>
          <p:cNvSpPr txBox="1"/>
          <p:nvPr/>
        </p:nvSpPr>
        <p:spPr>
          <a:xfrm>
            <a:off x="688340" y="766676"/>
            <a:ext cx="10706735" cy="274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2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50"/>
              <a:buFont typeface="Noto Sans Symbols"/>
              <a:buChar char="▪"/>
            </a:pPr>
            <a:r>
              <a:rPr b="1" lang="en-US" sz="2600">
                <a:latin typeface="Bell MT"/>
                <a:ea typeface="Bell MT"/>
                <a:cs typeface="Bell MT"/>
                <a:sym typeface="Bell MT"/>
              </a:rPr>
              <a:t>Hough Transform gives a systematic way to </a:t>
            </a:r>
            <a:r>
              <a:rPr b="1" lang="en-US" sz="2600" u="sng">
                <a:latin typeface="Bell MT"/>
                <a:ea typeface="Bell MT"/>
                <a:cs typeface="Bell MT"/>
                <a:sym typeface="Bell MT"/>
              </a:rPr>
              <a:t>model fitting using </a:t>
            </a:r>
            <a:r>
              <a:rPr b="1" lang="en-US" sz="2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voting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5080" rtl="0" algn="l">
              <a:lnSpc>
                <a:spcPct val="119615"/>
              </a:lnSpc>
              <a:spcBef>
                <a:spcPts val="1925"/>
              </a:spcBef>
              <a:spcAft>
                <a:spcPts val="0"/>
              </a:spcAft>
              <a:buClr>
                <a:srgbClr val="FF0000"/>
              </a:buClr>
              <a:buSzPts val="2050"/>
              <a:buFont typeface="Noto Sans Symbols"/>
              <a:buChar char="▪"/>
            </a:pPr>
            <a:r>
              <a:rPr b="1" lang="en-US" sz="2600">
                <a:latin typeface="Bell MT"/>
                <a:ea typeface="Bell MT"/>
                <a:cs typeface="Bell MT"/>
                <a:sym typeface="Bell MT"/>
              </a:rPr>
              <a:t>Voting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is a general concept where 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we let features vote for all models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 that are compatible with it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Cycle through features, cast votes for model parameters</a:t>
            </a:r>
            <a:endParaRPr sz="23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Look for model parameters that receive </a:t>
            </a:r>
            <a:r>
              <a:rPr lang="en-US" sz="2300" u="sng">
                <a:latin typeface="Bell MT"/>
                <a:ea typeface="Bell MT"/>
                <a:cs typeface="Bell MT"/>
                <a:sym typeface="Bell MT"/>
              </a:rPr>
              <a:t>a lot of	votes</a:t>
            </a:r>
            <a:endParaRPr sz="23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724" name="Google Shape;724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5059" y="3465576"/>
            <a:ext cx="1621535" cy="518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5" name="Google Shape;725;p35"/>
          <p:cNvGrpSpPr/>
          <p:nvPr/>
        </p:nvGrpSpPr>
        <p:grpSpPr>
          <a:xfrm>
            <a:off x="9573768" y="2400300"/>
            <a:ext cx="1460373" cy="1143000"/>
            <a:chOff x="9573768" y="2400300"/>
            <a:chExt cx="1460373" cy="1143000"/>
          </a:xfrm>
        </p:grpSpPr>
        <p:sp>
          <p:nvSpPr>
            <p:cNvPr id="726" name="Google Shape;726;p35"/>
            <p:cNvSpPr/>
            <p:nvPr/>
          </p:nvSpPr>
          <p:spPr>
            <a:xfrm>
              <a:off x="10087356" y="3061716"/>
              <a:ext cx="64135" cy="53340"/>
            </a:xfrm>
            <a:custGeom>
              <a:rect b="b" l="l" r="r" t="t"/>
              <a:pathLst>
                <a:path extrusionOk="0" h="53339" w="64134">
                  <a:moveTo>
                    <a:pt x="32004" y="0"/>
                  </a:moveTo>
                  <a:lnTo>
                    <a:pt x="19545" y="2095"/>
                  </a:lnTo>
                  <a:lnTo>
                    <a:pt x="9372" y="7810"/>
                  </a:lnTo>
                  <a:lnTo>
                    <a:pt x="2514" y="16287"/>
                  </a:lnTo>
                  <a:lnTo>
                    <a:pt x="0" y="26670"/>
                  </a:lnTo>
                  <a:lnTo>
                    <a:pt x="2514" y="37052"/>
                  </a:lnTo>
                  <a:lnTo>
                    <a:pt x="9372" y="45529"/>
                  </a:lnTo>
                  <a:lnTo>
                    <a:pt x="19545" y="51244"/>
                  </a:lnTo>
                  <a:lnTo>
                    <a:pt x="32004" y="53340"/>
                  </a:lnTo>
                  <a:lnTo>
                    <a:pt x="44462" y="51244"/>
                  </a:lnTo>
                  <a:lnTo>
                    <a:pt x="54635" y="45529"/>
                  </a:lnTo>
                  <a:lnTo>
                    <a:pt x="61493" y="37052"/>
                  </a:lnTo>
                  <a:lnTo>
                    <a:pt x="64008" y="26670"/>
                  </a:lnTo>
                  <a:lnTo>
                    <a:pt x="61493" y="16287"/>
                  </a:lnTo>
                  <a:lnTo>
                    <a:pt x="54635" y="7810"/>
                  </a:lnTo>
                  <a:lnTo>
                    <a:pt x="44462" y="2095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7" name="Google Shape;727;p35"/>
            <p:cNvSpPr/>
            <p:nvPr/>
          </p:nvSpPr>
          <p:spPr>
            <a:xfrm>
              <a:off x="10087356" y="3061716"/>
              <a:ext cx="64135" cy="53340"/>
            </a:xfrm>
            <a:custGeom>
              <a:rect b="b" l="l" r="r" t="t"/>
              <a:pathLst>
                <a:path extrusionOk="0" h="53339" w="64134">
                  <a:moveTo>
                    <a:pt x="0" y="26670"/>
                  </a:moveTo>
                  <a:lnTo>
                    <a:pt x="2514" y="16287"/>
                  </a:lnTo>
                  <a:lnTo>
                    <a:pt x="9372" y="7810"/>
                  </a:lnTo>
                  <a:lnTo>
                    <a:pt x="19545" y="2095"/>
                  </a:lnTo>
                  <a:lnTo>
                    <a:pt x="32004" y="0"/>
                  </a:lnTo>
                  <a:lnTo>
                    <a:pt x="44462" y="2095"/>
                  </a:lnTo>
                  <a:lnTo>
                    <a:pt x="54635" y="7810"/>
                  </a:lnTo>
                  <a:lnTo>
                    <a:pt x="61493" y="16287"/>
                  </a:lnTo>
                  <a:lnTo>
                    <a:pt x="64008" y="26670"/>
                  </a:lnTo>
                  <a:lnTo>
                    <a:pt x="61493" y="37052"/>
                  </a:lnTo>
                  <a:lnTo>
                    <a:pt x="54635" y="45529"/>
                  </a:lnTo>
                  <a:lnTo>
                    <a:pt x="44462" y="51244"/>
                  </a:lnTo>
                  <a:lnTo>
                    <a:pt x="32004" y="53340"/>
                  </a:lnTo>
                  <a:lnTo>
                    <a:pt x="19545" y="51244"/>
                  </a:lnTo>
                  <a:lnTo>
                    <a:pt x="9372" y="45529"/>
                  </a:lnTo>
                  <a:lnTo>
                    <a:pt x="251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8" name="Google Shape;728;p35"/>
            <p:cNvSpPr/>
            <p:nvPr/>
          </p:nvSpPr>
          <p:spPr>
            <a:xfrm>
              <a:off x="10319004" y="2936748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31242" y="0"/>
                  </a:moveTo>
                  <a:lnTo>
                    <a:pt x="19079" y="2095"/>
                  </a:lnTo>
                  <a:lnTo>
                    <a:pt x="9148" y="7810"/>
                  </a:lnTo>
                  <a:lnTo>
                    <a:pt x="2454" y="16287"/>
                  </a:lnTo>
                  <a:lnTo>
                    <a:pt x="0" y="26670"/>
                  </a:lnTo>
                  <a:lnTo>
                    <a:pt x="2454" y="37052"/>
                  </a:lnTo>
                  <a:lnTo>
                    <a:pt x="9148" y="45529"/>
                  </a:lnTo>
                  <a:lnTo>
                    <a:pt x="19079" y="51244"/>
                  </a:lnTo>
                  <a:lnTo>
                    <a:pt x="31242" y="53340"/>
                  </a:lnTo>
                  <a:lnTo>
                    <a:pt x="43404" y="51244"/>
                  </a:lnTo>
                  <a:lnTo>
                    <a:pt x="53335" y="45529"/>
                  </a:lnTo>
                  <a:lnTo>
                    <a:pt x="60029" y="37052"/>
                  </a:lnTo>
                  <a:lnTo>
                    <a:pt x="62484" y="26670"/>
                  </a:lnTo>
                  <a:lnTo>
                    <a:pt x="60029" y="16287"/>
                  </a:lnTo>
                  <a:lnTo>
                    <a:pt x="53335" y="7810"/>
                  </a:lnTo>
                  <a:lnTo>
                    <a:pt x="43404" y="2095"/>
                  </a:lnTo>
                  <a:lnTo>
                    <a:pt x="3124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9" name="Google Shape;729;p35"/>
            <p:cNvSpPr/>
            <p:nvPr/>
          </p:nvSpPr>
          <p:spPr>
            <a:xfrm>
              <a:off x="10319004" y="2936748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0" y="26670"/>
                  </a:moveTo>
                  <a:lnTo>
                    <a:pt x="2454" y="16287"/>
                  </a:lnTo>
                  <a:lnTo>
                    <a:pt x="9148" y="7810"/>
                  </a:lnTo>
                  <a:lnTo>
                    <a:pt x="19079" y="2095"/>
                  </a:lnTo>
                  <a:lnTo>
                    <a:pt x="31242" y="0"/>
                  </a:lnTo>
                  <a:lnTo>
                    <a:pt x="43404" y="2095"/>
                  </a:lnTo>
                  <a:lnTo>
                    <a:pt x="53335" y="7810"/>
                  </a:lnTo>
                  <a:lnTo>
                    <a:pt x="60029" y="16287"/>
                  </a:lnTo>
                  <a:lnTo>
                    <a:pt x="62484" y="26670"/>
                  </a:lnTo>
                  <a:lnTo>
                    <a:pt x="60029" y="37052"/>
                  </a:lnTo>
                  <a:lnTo>
                    <a:pt x="53335" y="45529"/>
                  </a:lnTo>
                  <a:lnTo>
                    <a:pt x="43404" y="51244"/>
                  </a:lnTo>
                  <a:lnTo>
                    <a:pt x="31242" y="53340"/>
                  </a:lnTo>
                  <a:lnTo>
                    <a:pt x="19079" y="51244"/>
                  </a:lnTo>
                  <a:lnTo>
                    <a:pt x="9148" y="45529"/>
                  </a:lnTo>
                  <a:lnTo>
                    <a:pt x="245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35"/>
            <p:cNvSpPr/>
            <p:nvPr/>
          </p:nvSpPr>
          <p:spPr>
            <a:xfrm>
              <a:off x="10466832" y="2740152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31242" y="0"/>
                  </a:moveTo>
                  <a:lnTo>
                    <a:pt x="19079" y="2095"/>
                  </a:lnTo>
                  <a:lnTo>
                    <a:pt x="9148" y="7810"/>
                  </a:lnTo>
                  <a:lnTo>
                    <a:pt x="2454" y="16287"/>
                  </a:lnTo>
                  <a:lnTo>
                    <a:pt x="0" y="26670"/>
                  </a:lnTo>
                  <a:lnTo>
                    <a:pt x="2454" y="37052"/>
                  </a:lnTo>
                  <a:lnTo>
                    <a:pt x="9148" y="45529"/>
                  </a:lnTo>
                  <a:lnTo>
                    <a:pt x="19079" y="51244"/>
                  </a:lnTo>
                  <a:lnTo>
                    <a:pt x="31242" y="53340"/>
                  </a:lnTo>
                  <a:lnTo>
                    <a:pt x="43404" y="51244"/>
                  </a:lnTo>
                  <a:lnTo>
                    <a:pt x="53335" y="45529"/>
                  </a:lnTo>
                  <a:lnTo>
                    <a:pt x="60029" y="37052"/>
                  </a:lnTo>
                  <a:lnTo>
                    <a:pt x="62484" y="26670"/>
                  </a:lnTo>
                  <a:lnTo>
                    <a:pt x="60029" y="16287"/>
                  </a:lnTo>
                  <a:lnTo>
                    <a:pt x="53335" y="7810"/>
                  </a:lnTo>
                  <a:lnTo>
                    <a:pt x="43404" y="2095"/>
                  </a:lnTo>
                  <a:lnTo>
                    <a:pt x="3124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1" name="Google Shape;731;p35"/>
            <p:cNvSpPr/>
            <p:nvPr/>
          </p:nvSpPr>
          <p:spPr>
            <a:xfrm>
              <a:off x="10466831" y="2740152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0" y="26670"/>
                  </a:moveTo>
                  <a:lnTo>
                    <a:pt x="2454" y="16287"/>
                  </a:lnTo>
                  <a:lnTo>
                    <a:pt x="9148" y="7810"/>
                  </a:lnTo>
                  <a:lnTo>
                    <a:pt x="19079" y="2095"/>
                  </a:lnTo>
                  <a:lnTo>
                    <a:pt x="31242" y="0"/>
                  </a:lnTo>
                  <a:lnTo>
                    <a:pt x="43404" y="2095"/>
                  </a:lnTo>
                  <a:lnTo>
                    <a:pt x="53335" y="7810"/>
                  </a:lnTo>
                  <a:lnTo>
                    <a:pt x="60029" y="16287"/>
                  </a:lnTo>
                  <a:lnTo>
                    <a:pt x="62484" y="26670"/>
                  </a:lnTo>
                  <a:lnTo>
                    <a:pt x="60029" y="37052"/>
                  </a:lnTo>
                  <a:lnTo>
                    <a:pt x="53335" y="45529"/>
                  </a:lnTo>
                  <a:lnTo>
                    <a:pt x="43404" y="51244"/>
                  </a:lnTo>
                  <a:lnTo>
                    <a:pt x="31242" y="53340"/>
                  </a:lnTo>
                  <a:lnTo>
                    <a:pt x="19079" y="51244"/>
                  </a:lnTo>
                  <a:lnTo>
                    <a:pt x="9148" y="45529"/>
                  </a:lnTo>
                  <a:lnTo>
                    <a:pt x="245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2" name="Google Shape;732;p35"/>
            <p:cNvSpPr/>
            <p:nvPr/>
          </p:nvSpPr>
          <p:spPr>
            <a:xfrm>
              <a:off x="10844784" y="2453639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31242" y="0"/>
                  </a:moveTo>
                  <a:lnTo>
                    <a:pt x="19079" y="2095"/>
                  </a:lnTo>
                  <a:lnTo>
                    <a:pt x="9148" y="7810"/>
                  </a:lnTo>
                  <a:lnTo>
                    <a:pt x="2454" y="16287"/>
                  </a:lnTo>
                  <a:lnTo>
                    <a:pt x="0" y="26670"/>
                  </a:lnTo>
                  <a:lnTo>
                    <a:pt x="2454" y="37052"/>
                  </a:lnTo>
                  <a:lnTo>
                    <a:pt x="9148" y="45529"/>
                  </a:lnTo>
                  <a:lnTo>
                    <a:pt x="19079" y="51244"/>
                  </a:lnTo>
                  <a:lnTo>
                    <a:pt x="31242" y="53340"/>
                  </a:lnTo>
                  <a:lnTo>
                    <a:pt x="43404" y="51244"/>
                  </a:lnTo>
                  <a:lnTo>
                    <a:pt x="53335" y="45529"/>
                  </a:lnTo>
                  <a:lnTo>
                    <a:pt x="60029" y="37052"/>
                  </a:lnTo>
                  <a:lnTo>
                    <a:pt x="62484" y="26670"/>
                  </a:lnTo>
                  <a:lnTo>
                    <a:pt x="60029" y="16287"/>
                  </a:lnTo>
                  <a:lnTo>
                    <a:pt x="53335" y="7810"/>
                  </a:lnTo>
                  <a:lnTo>
                    <a:pt x="43404" y="2095"/>
                  </a:lnTo>
                  <a:lnTo>
                    <a:pt x="3124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3" name="Google Shape;733;p35"/>
            <p:cNvSpPr/>
            <p:nvPr/>
          </p:nvSpPr>
          <p:spPr>
            <a:xfrm>
              <a:off x="10844784" y="2453639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0" y="26670"/>
                  </a:moveTo>
                  <a:lnTo>
                    <a:pt x="2454" y="16287"/>
                  </a:lnTo>
                  <a:lnTo>
                    <a:pt x="9148" y="7810"/>
                  </a:lnTo>
                  <a:lnTo>
                    <a:pt x="19079" y="2095"/>
                  </a:lnTo>
                  <a:lnTo>
                    <a:pt x="31242" y="0"/>
                  </a:lnTo>
                  <a:lnTo>
                    <a:pt x="43404" y="2095"/>
                  </a:lnTo>
                  <a:lnTo>
                    <a:pt x="53335" y="7810"/>
                  </a:lnTo>
                  <a:lnTo>
                    <a:pt x="60029" y="16287"/>
                  </a:lnTo>
                  <a:lnTo>
                    <a:pt x="62484" y="26670"/>
                  </a:lnTo>
                  <a:lnTo>
                    <a:pt x="60029" y="37052"/>
                  </a:lnTo>
                  <a:lnTo>
                    <a:pt x="53335" y="45529"/>
                  </a:lnTo>
                  <a:lnTo>
                    <a:pt x="43404" y="51244"/>
                  </a:lnTo>
                  <a:lnTo>
                    <a:pt x="31242" y="53340"/>
                  </a:lnTo>
                  <a:lnTo>
                    <a:pt x="19079" y="51244"/>
                  </a:lnTo>
                  <a:lnTo>
                    <a:pt x="9148" y="45529"/>
                  </a:lnTo>
                  <a:lnTo>
                    <a:pt x="245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4" name="Google Shape;734;p35"/>
            <p:cNvSpPr/>
            <p:nvPr/>
          </p:nvSpPr>
          <p:spPr>
            <a:xfrm>
              <a:off x="9982200" y="3186683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31242" y="0"/>
                  </a:moveTo>
                  <a:lnTo>
                    <a:pt x="19079" y="2095"/>
                  </a:lnTo>
                  <a:lnTo>
                    <a:pt x="9148" y="7810"/>
                  </a:lnTo>
                  <a:lnTo>
                    <a:pt x="2454" y="16287"/>
                  </a:lnTo>
                  <a:lnTo>
                    <a:pt x="0" y="26670"/>
                  </a:lnTo>
                  <a:lnTo>
                    <a:pt x="2454" y="37052"/>
                  </a:lnTo>
                  <a:lnTo>
                    <a:pt x="9148" y="45529"/>
                  </a:lnTo>
                  <a:lnTo>
                    <a:pt x="19079" y="51244"/>
                  </a:lnTo>
                  <a:lnTo>
                    <a:pt x="31242" y="53340"/>
                  </a:lnTo>
                  <a:lnTo>
                    <a:pt x="43404" y="51244"/>
                  </a:lnTo>
                  <a:lnTo>
                    <a:pt x="53335" y="45529"/>
                  </a:lnTo>
                  <a:lnTo>
                    <a:pt x="60029" y="37052"/>
                  </a:lnTo>
                  <a:lnTo>
                    <a:pt x="62484" y="26670"/>
                  </a:lnTo>
                  <a:lnTo>
                    <a:pt x="60029" y="16287"/>
                  </a:lnTo>
                  <a:lnTo>
                    <a:pt x="53335" y="7810"/>
                  </a:lnTo>
                  <a:lnTo>
                    <a:pt x="43404" y="2095"/>
                  </a:lnTo>
                  <a:lnTo>
                    <a:pt x="3124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5" name="Google Shape;735;p35"/>
            <p:cNvSpPr/>
            <p:nvPr/>
          </p:nvSpPr>
          <p:spPr>
            <a:xfrm>
              <a:off x="9982200" y="3186683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0" y="26670"/>
                  </a:moveTo>
                  <a:lnTo>
                    <a:pt x="2454" y="16287"/>
                  </a:lnTo>
                  <a:lnTo>
                    <a:pt x="9148" y="7810"/>
                  </a:lnTo>
                  <a:lnTo>
                    <a:pt x="19079" y="2095"/>
                  </a:lnTo>
                  <a:lnTo>
                    <a:pt x="31242" y="0"/>
                  </a:lnTo>
                  <a:lnTo>
                    <a:pt x="43404" y="2095"/>
                  </a:lnTo>
                  <a:lnTo>
                    <a:pt x="53335" y="7810"/>
                  </a:lnTo>
                  <a:lnTo>
                    <a:pt x="60029" y="16287"/>
                  </a:lnTo>
                  <a:lnTo>
                    <a:pt x="62484" y="26670"/>
                  </a:lnTo>
                  <a:lnTo>
                    <a:pt x="60029" y="37052"/>
                  </a:lnTo>
                  <a:lnTo>
                    <a:pt x="53335" y="45529"/>
                  </a:lnTo>
                  <a:lnTo>
                    <a:pt x="43404" y="51244"/>
                  </a:lnTo>
                  <a:lnTo>
                    <a:pt x="31242" y="53340"/>
                  </a:lnTo>
                  <a:lnTo>
                    <a:pt x="19079" y="51244"/>
                  </a:lnTo>
                  <a:lnTo>
                    <a:pt x="9148" y="45529"/>
                  </a:lnTo>
                  <a:lnTo>
                    <a:pt x="245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6" name="Google Shape;736;p35"/>
            <p:cNvSpPr/>
            <p:nvPr/>
          </p:nvSpPr>
          <p:spPr>
            <a:xfrm>
              <a:off x="9709404" y="3364991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31242" y="0"/>
                  </a:moveTo>
                  <a:lnTo>
                    <a:pt x="19079" y="2095"/>
                  </a:lnTo>
                  <a:lnTo>
                    <a:pt x="9148" y="7810"/>
                  </a:lnTo>
                  <a:lnTo>
                    <a:pt x="2454" y="16287"/>
                  </a:lnTo>
                  <a:lnTo>
                    <a:pt x="0" y="26670"/>
                  </a:lnTo>
                  <a:lnTo>
                    <a:pt x="2454" y="37052"/>
                  </a:lnTo>
                  <a:lnTo>
                    <a:pt x="9148" y="45529"/>
                  </a:lnTo>
                  <a:lnTo>
                    <a:pt x="19079" y="51244"/>
                  </a:lnTo>
                  <a:lnTo>
                    <a:pt x="31242" y="53340"/>
                  </a:lnTo>
                  <a:lnTo>
                    <a:pt x="43404" y="51244"/>
                  </a:lnTo>
                  <a:lnTo>
                    <a:pt x="53335" y="45529"/>
                  </a:lnTo>
                  <a:lnTo>
                    <a:pt x="60029" y="37052"/>
                  </a:lnTo>
                  <a:lnTo>
                    <a:pt x="62484" y="26670"/>
                  </a:lnTo>
                  <a:lnTo>
                    <a:pt x="60029" y="16287"/>
                  </a:lnTo>
                  <a:lnTo>
                    <a:pt x="53335" y="7810"/>
                  </a:lnTo>
                  <a:lnTo>
                    <a:pt x="43404" y="2095"/>
                  </a:lnTo>
                  <a:lnTo>
                    <a:pt x="3124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7" name="Google Shape;737;p35"/>
            <p:cNvSpPr/>
            <p:nvPr/>
          </p:nvSpPr>
          <p:spPr>
            <a:xfrm>
              <a:off x="9709404" y="3364991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0" y="26670"/>
                  </a:moveTo>
                  <a:lnTo>
                    <a:pt x="2454" y="16287"/>
                  </a:lnTo>
                  <a:lnTo>
                    <a:pt x="9148" y="7810"/>
                  </a:lnTo>
                  <a:lnTo>
                    <a:pt x="19079" y="2095"/>
                  </a:lnTo>
                  <a:lnTo>
                    <a:pt x="31242" y="0"/>
                  </a:lnTo>
                  <a:lnTo>
                    <a:pt x="43404" y="2095"/>
                  </a:lnTo>
                  <a:lnTo>
                    <a:pt x="53335" y="7810"/>
                  </a:lnTo>
                  <a:lnTo>
                    <a:pt x="60029" y="16287"/>
                  </a:lnTo>
                  <a:lnTo>
                    <a:pt x="62484" y="26670"/>
                  </a:lnTo>
                  <a:lnTo>
                    <a:pt x="60029" y="37052"/>
                  </a:lnTo>
                  <a:lnTo>
                    <a:pt x="53335" y="45529"/>
                  </a:lnTo>
                  <a:lnTo>
                    <a:pt x="43404" y="51244"/>
                  </a:lnTo>
                  <a:lnTo>
                    <a:pt x="31242" y="53340"/>
                  </a:lnTo>
                  <a:lnTo>
                    <a:pt x="19079" y="51244"/>
                  </a:lnTo>
                  <a:lnTo>
                    <a:pt x="9148" y="45529"/>
                  </a:lnTo>
                  <a:lnTo>
                    <a:pt x="245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38" name="Google Shape;738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882693" y="3198685"/>
              <a:ext cx="72008" cy="64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9" name="Google Shape;739;p35"/>
            <p:cNvSpPr/>
            <p:nvPr/>
          </p:nvSpPr>
          <p:spPr>
            <a:xfrm>
              <a:off x="10024872" y="2615184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31242" y="0"/>
                  </a:moveTo>
                  <a:lnTo>
                    <a:pt x="19079" y="2095"/>
                  </a:lnTo>
                  <a:lnTo>
                    <a:pt x="9148" y="7810"/>
                  </a:lnTo>
                  <a:lnTo>
                    <a:pt x="2454" y="16287"/>
                  </a:lnTo>
                  <a:lnTo>
                    <a:pt x="0" y="26670"/>
                  </a:lnTo>
                  <a:lnTo>
                    <a:pt x="2454" y="37052"/>
                  </a:lnTo>
                  <a:lnTo>
                    <a:pt x="9148" y="45529"/>
                  </a:lnTo>
                  <a:lnTo>
                    <a:pt x="19079" y="51244"/>
                  </a:lnTo>
                  <a:lnTo>
                    <a:pt x="31242" y="53340"/>
                  </a:lnTo>
                  <a:lnTo>
                    <a:pt x="43404" y="51244"/>
                  </a:lnTo>
                  <a:lnTo>
                    <a:pt x="53335" y="45529"/>
                  </a:lnTo>
                  <a:lnTo>
                    <a:pt x="60029" y="37052"/>
                  </a:lnTo>
                  <a:lnTo>
                    <a:pt x="62484" y="26670"/>
                  </a:lnTo>
                  <a:lnTo>
                    <a:pt x="60029" y="16287"/>
                  </a:lnTo>
                  <a:lnTo>
                    <a:pt x="53335" y="7810"/>
                  </a:lnTo>
                  <a:lnTo>
                    <a:pt x="43404" y="2095"/>
                  </a:lnTo>
                  <a:lnTo>
                    <a:pt x="3124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0" name="Google Shape;740;p35"/>
            <p:cNvSpPr/>
            <p:nvPr/>
          </p:nvSpPr>
          <p:spPr>
            <a:xfrm>
              <a:off x="10024872" y="2615184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0" y="26670"/>
                  </a:moveTo>
                  <a:lnTo>
                    <a:pt x="2454" y="16287"/>
                  </a:lnTo>
                  <a:lnTo>
                    <a:pt x="9148" y="7810"/>
                  </a:lnTo>
                  <a:lnTo>
                    <a:pt x="19079" y="2095"/>
                  </a:lnTo>
                  <a:lnTo>
                    <a:pt x="31242" y="0"/>
                  </a:lnTo>
                  <a:lnTo>
                    <a:pt x="43404" y="2095"/>
                  </a:lnTo>
                  <a:lnTo>
                    <a:pt x="53335" y="7810"/>
                  </a:lnTo>
                  <a:lnTo>
                    <a:pt x="60029" y="16287"/>
                  </a:lnTo>
                  <a:lnTo>
                    <a:pt x="62484" y="26670"/>
                  </a:lnTo>
                  <a:lnTo>
                    <a:pt x="60029" y="37052"/>
                  </a:lnTo>
                  <a:lnTo>
                    <a:pt x="53335" y="45529"/>
                  </a:lnTo>
                  <a:lnTo>
                    <a:pt x="43404" y="51244"/>
                  </a:lnTo>
                  <a:lnTo>
                    <a:pt x="31242" y="53340"/>
                  </a:lnTo>
                  <a:lnTo>
                    <a:pt x="19079" y="51244"/>
                  </a:lnTo>
                  <a:lnTo>
                    <a:pt x="9148" y="45529"/>
                  </a:lnTo>
                  <a:lnTo>
                    <a:pt x="245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1" name="Google Shape;741;p35"/>
            <p:cNvSpPr/>
            <p:nvPr/>
          </p:nvSpPr>
          <p:spPr>
            <a:xfrm>
              <a:off x="10971276" y="2865119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31242" y="0"/>
                  </a:moveTo>
                  <a:lnTo>
                    <a:pt x="19079" y="2095"/>
                  </a:lnTo>
                  <a:lnTo>
                    <a:pt x="9148" y="7810"/>
                  </a:lnTo>
                  <a:lnTo>
                    <a:pt x="2454" y="16287"/>
                  </a:lnTo>
                  <a:lnTo>
                    <a:pt x="0" y="26670"/>
                  </a:lnTo>
                  <a:lnTo>
                    <a:pt x="2454" y="37052"/>
                  </a:lnTo>
                  <a:lnTo>
                    <a:pt x="9148" y="45529"/>
                  </a:lnTo>
                  <a:lnTo>
                    <a:pt x="19079" y="51244"/>
                  </a:lnTo>
                  <a:lnTo>
                    <a:pt x="31242" y="53340"/>
                  </a:lnTo>
                  <a:lnTo>
                    <a:pt x="43404" y="51244"/>
                  </a:lnTo>
                  <a:lnTo>
                    <a:pt x="53335" y="45529"/>
                  </a:lnTo>
                  <a:lnTo>
                    <a:pt x="60029" y="37052"/>
                  </a:lnTo>
                  <a:lnTo>
                    <a:pt x="62484" y="26670"/>
                  </a:lnTo>
                  <a:lnTo>
                    <a:pt x="60029" y="16287"/>
                  </a:lnTo>
                  <a:lnTo>
                    <a:pt x="53335" y="7810"/>
                  </a:lnTo>
                  <a:lnTo>
                    <a:pt x="43404" y="2095"/>
                  </a:lnTo>
                  <a:lnTo>
                    <a:pt x="3124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2" name="Google Shape;742;p35"/>
            <p:cNvSpPr/>
            <p:nvPr/>
          </p:nvSpPr>
          <p:spPr>
            <a:xfrm>
              <a:off x="10971276" y="2865119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0" y="26670"/>
                  </a:moveTo>
                  <a:lnTo>
                    <a:pt x="2454" y="16287"/>
                  </a:lnTo>
                  <a:lnTo>
                    <a:pt x="9148" y="7810"/>
                  </a:lnTo>
                  <a:lnTo>
                    <a:pt x="19079" y="2095"/>
                  </a:lnTo>
                  <a:lnTo>
                    <a:pt x="31242" y="0"/>
                  </a:lnTo>
                  <a:lnTo>
                    <a:pt x="43404" y="2095"/>
                  </a:lnTo>
                  <a:lnTo>
                    <a:pt x="53335" y="7810"/>
                  </a:lnTo>
                  <a:lnTo>
                    <a:pt x="60029" y="16287"/>
                  </a:lnTo>
                  <a:lnTo>
                    <a:pt x="62484" y="26670"/>
                  </a:lnTo>
                  <a:lnTo>
                    <a:pt x="60029" y="37052"/>
                  </a:lnTo>
                  <a:lnTo>
                    <a:pt x="53335" y="45529"/>
                  </a:lnTo>
                  <a:lnTo>
                    <a:pt x="43404" y="51244"/>
                  </a:lnTo>
                  <a:lnTo>
                    <a:pt x="31242" y="53340"/>
                  </a:lnTo>
                  <a:lnTo>
                    <a:pt x="19079" y="51244"/>
                  </a:lnTo>
                  <a:lnTo>
                    <a:pt x="9148" y="45529"/>
                  </a:lnTo>
                  <a:lnTo>
                    <a:pt x="245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3" name="Google Shape;743;p35"/>
            <p:cNvSpPr/>
            <p:nvPr/>
          </p:nvSpPr>
          <p:spPr>
            <a:xfrm>
              <a:off x="10591800" y="3293363"/>
              <a:ext cx="64135" cy="53340"/>
            </a:xfrm>
            <a:custGeom>
              <a:rect b="b" l="l" r="r" t="t"/>
              <a:pathLst>
                <a:path extrusionOk="0" h="53339" w="64134">
                  <a:moveTo>
                    <a:pt x="32004" y="0"/>
                  </a:moveTo>
                  <a:lnTo>
                    <a:pt x="19545" y="2095"/>
                  </a:lnTo>
                  <a:lnTo>
                    <a:pt x="9372" y="7810"/>
                  </a:lnTo>
                  <a:lnTo>
                    <a:pt x="2514" y="16287"/>
                  </a:lnTo>
                  <a:lnTo>
                    <a:pt x="0" y="26670"/>
                  </a:lnTo>
                  <a:lnTo>
                    <a:pt x="2514" y="37052"/>
                  </a:lnTo>
                  <a:lnTo>
                    <a:pt x="9372" y="45529"/>
                  </a:lnTo>
                  <a:lnTo>
                    <a:pt x="19545" y="51244"/>
                  </a:lnTo>
                  <a:lnTo>
                    <a:pt x="32004" y="53340"/>
                  </a:lnTo>
                  <a:lnTo>
                    <a:pt x="44462" y="51244"/>
                  </a:lnTo>
                  <a:lnTo>
                    <a:pt x="54635" y="45529"/>
                  </a:lnTo>
                  <a:lnTo>
                    <a:pt x="61493" y="37052"/>
                  </a:lnTo>
                  <a:lnTo>
                    <a:pt x="64008" y="26670"/>
                  </a:lnTo>
                  <a:lnTo>
                    <a:pt x="61493" y="16287"/>
                  </a:lnTo>
                  <a:lnTo>
                    <a:pt x="54635" y="7810"/>
                  </a:lnTo>
                  <a:lnTo>
                    <a:pt x="44462" y="2095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4" name="Google Shape;744;p35"/>
            <p:cNvSpPr/>
            <p:nvPr/>
          </p:nvSpPr>
          <p:spPr>
            <a:xfrm>
              <a:off x="10591800" y="3293363"/>
              <a:ext cx="64135" cy="53340"/>
            </a:xfrm>
            <a:custGeom>
              <a:rect b="b" l="l" r="r" t="t"/>
              <a:pathLst>
                <a:path extrusionOk="0" h="53339" w="64134">
                  <a:moveTo>
                    <a:pt x="0" y="26670"/>
                  </a:moveTo>
                  <a:lnTo>
                    <a:pt x="2514" y="16287"/>
                  </a:lnTo>
                  <a:lnTo>
                    <a:pt x="9372" y="7810"/>
                  </a:lnTo>
                  <a:lnTo>
                    <a:pt x="19545" y="2095"/>
                  </a:lnTo>
                  <a:lnTo>
                    <a:pt x="32004" y="0"/>
                  </a:lnTo>
                  <a:lnTo>
                    <a:pt x="44462" y="2095"/>
                  </a:lnTo>
                  <a:lnTo>
                    <a:pt x="54635" y="7810"/>
                  </a:lnTo>
                  <a:lnTo>
                    <a:pt x="61493" y="16287"/>
                  </a:lnTo>
                  <a:lnTo>
                    <a:pt x="64008" y="26670"/>
                  </a:lnTo>
                  <a:lnTo>
                    <a:pt x="61493" y="37052"/>
                  </a:lnTo>
                  <a:lnTo>
                    <a:pt x="54635" y="45529"/>
                  </a:lnTo>
                  <a:lnTo>
                    <a:pt x="44462" y="51244"/>
                  </a:lnTo>
                  <a:lnTo>
                    <a:pt x="32004" y="53340"/>
                  </a:lnTo>
                  <a:lnTo>
                    <a:pt x="19545" y="51244"/>
                  </a:lnTo>
                  <a:lnTo>
                    <a:pt x="9372" y="45529"/>
                  </a:lnTo>
                  <a:lnTo>
                    <a:pt x="251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5" name="Google Shape;745;p35"/>
            <p:cNvSpPr/>
            <p:nvPr/>
          </p:nvSpPr>
          <p:spPr>
            <a:xfrm>
              <a:off x="9688068" y="2990087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31242" y="0"/>
                  </a:moveTo>
                  <a:lnTo>
                    <a:pt x="19079" y="2095"/>
                  </a:lnTo>
                  <a:lnTo>
                    <a:pt x="9148" y="7810"/>
                  </a:lnTo>
                  <a:lnTo>
                    <a:pt x="2454" y="16287"/>
                  </a:lnTo>
                  <a:lnTo>
                    <a:pt x="0" y="26670"/>
                  </a:lnTo>
                  <a:lnTo>
                    <a:pt x="2454" y="37052"/>
                  </a:lnTo>
                  <a:lnTo>
                    <a:pt x="9148" y="45529"/>
                  </a:lnTo>
                  <a:lnTo>
                    <a:pt x="19079" y="51244"/>
                  </a:lnTo>
                  <a:lnTo>
                    <a:pt x="31242" y="53340"/>
                  </a:lnTo>
                  <a:lnTo>
                    <a:pt x="43404" y="51244"/>
                  </a:lnTo>
                  <a:lnTo>
                    <a:pt x="53335" y="45529"/>
                  </a:lnTo>
                  <a:lnTo>
                    <a:pt x="60029" y="37052"/>
                  </a:lnTo>
                  <a:lnTo>
                    <a:pt x="62484" y="26670"/>
                  </a:lnTo>
                  <a:lnTo>
                    <a:pt x="60029" y="16287"/>
                  </a:lnTo>
                  <a:lnTo>
                    <a:pt x="53335" y="7810"/>
                  </a:lnTo>
                  <a:lnTo>
                    <a:pt x="43404" y="2095"/>
                  </a:lnTo>
                  <a:lnTo>
                    <a:pt x="3124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6" name="Google Shape;746;p35"/>
            <p:cNvSpPr/>
            <p:nvPr/>
          </p:nvSpPr>
          <p:spPr>
            <a:xfrm>
              <a:off x="9688068" y="2990087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0" y="26670"/>
                  </a:moveTo>
                  <a:lnTo>
                    <a:pt x="2454" y="16287"/>
                  </a:lnTo>
                  <a:lnTo>
                    <a:pt x="9148" y="7810"/>
                  </a:lnTo>
                  <a:lnTo>
                    <a:pt x="19079" y="2095"/>
                  </a:lnTo>
                  <a:lnTo>
                    <a:pt x="31242" y="0"/>
                  </a:lnTo>
                  <a:lnTo>
                    <a:pt x="43404" y="2095"/>
                  </a:lnTo>
                  <a:lnTo>
                    <a:pt x="53335" y="7810"/>
                  </a:lnTo>
                  <a:lnTo>
                    <a:pt x="60029" y="16287"/>
                  </a:lnTo>
                  <a:lnTo>
                    <a:pt x="62484" y="26670"/>
                  </a:lnTo>
                  <a:lnTo>
                    <a:pt x="60029" y="37052"/>
                  </a:lnTo>
                  <a:lnTo>
                    <a:pt x="53335" y="45529"/>
                  </a:lnTo>
                  <a:lnTo>
                    <a:pt x="43404" y="51244"/>
                  </a:lnTo>
                  <a:lnTo>
                    <a:pt x="31242" y="53340"/>
                  </a:lnTo>
                  <a:lnTo>
                    <a:pt x="19079" y="51244"/>
                  </a:lnTo>
                  <a:lnTo>
                    <a:pt x="9148" y="45529"/>
                  </a:lnTo>
                  <a:lnTo>
                    <a:pt x="245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7" name="Google Shape;747;p35"/>
            <p:cNvSpPr/>
            <p:nvPr/>
          </p:nvSpPr>
          <p:spPr>
            <a:xfrm>
              <a:off x="9729216" y="2775204"/>
              <a:ext cx="64135" cy="53340"/>
            </a:xfrm>
            <a:custGeom>
              <a:rect b="b" l="l" r="r" t="t"/>
              <a:pathLst>
                <a:path extrusionOk="0" h="53339" w="64134">
                  <a:moveTo>
                    <a:pt x="32004" y="0"/>
                  </a:moveTo>
                  <a:lnTo>
                    <a:pt x="19545" y="2095"/>
                  </a:lnTo>
                  <a:lnTo>
                    <a:pt x="9372" y="7810"/>
                  </a:lnTo>
                  <a:lnTo>
                    <a:pt x="2514" y="16287"/>
                  </a:lnTo>
                  <a:lnTo>
                    <a:pt x="0" y="26670"/>
                  </a:lnTo>
                  <a:lnTo>
                    <a:pt x="2514" y="37052"/>
                  </a:lnTo>
                  <a:lnTo>
                    <a:pt x="9372" y="45529"/>
                  </a:lnTo>
                  <a:lnTo>
                    <a:pt x="19545" y="51244"/>
                  </a:lnTo>
                  <a:lnTo>
                    <a:pt x="32004" y="53340"/>
                  </a:lnTo>
                  <a:lnTo>
                    <a:pt x="44462" y="51244"/>
                  </a:lnTo>
                  <a:lnTo>
                    <a:pt x="54635" y="45529"/>
                  </a:lnTo>
                  <a:lnTo>
                    <a:pt x="61493" y="37052"/>
                  </a:lnTo>
                  <a:lnTo>
                    <a:pt x="64008" y="26670"/>
                  </a:lnTo>
                  <a:lnTo>
                    <a:pt x="61493" y="16287"/>
                  </a:lnTo>
                  <a:lnTo>
                    <a:pt x="54635" y="7810"/>
                  </a:lnTo>
                  <a:lnTo>
                    <a:pt x="44462" y="2095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8" name="Google Shape;748;p35"/>
            <p:cNvSpPr/>
            <p:nvPr/>
          </p:nvSpPr>
          <p:spPr>
            <a:xfrm>
              <a:off x="9729216" y="2775204"/>
              <a:ext cx="64135" cy="53340"/>
            </a:xfrm>
            <a:custGeom>
              <a:rect b="b" l="l" r="r" t="t"/>
              <a:pathLst>
                <a:path extrusionOk="0" h="53339" w="64134">
                  <a:moveTo>
                    <a:pt x="0" y="26670"/>
                  </a:moveTo>
                  <a:lnTo>
                    <a:pt x="2514" y="16287"/>
                  </a:lnTo>
                  <a:lnTo>
                    <a:pt x="9372" y="7810"/>
                  </a:lnTo>
                  <a:lnTo>
                    <a:pt x="19545" y="2095"/>
                  </a:lnTo>
                  <a:lnTo>
                    <a:pt x="32004" y="0"/>
                  </a:lnTo>
                  <a:lnTo>
                    <a:pt x="44462" y="2095"/>
                  </a:lnTo>
                  <a:lnTo>
                    <a:pt x="54635" y="7810"/>
                  </a:lnTo>
                  <a:lnTo>
                    <a:pt x="61493" y="16287"/>
                  </a:lnTo>
                  <a:lnTo>
                    <a:pt x="64008" y="26670"/>
                  </a:lnTo>
                  <a:lnTo>
                    <a:pt x="61493" y="37052"/>
                  </a:lnTo>
                  <a:lnTo>
                    <a:pt x="54635" y="45529"/>
                  </a:lnTo>
                  <a:lnTo>
                    <a:pt x="44462" y="51244"/>
                  </a:lnTo>
                  <a:lnTo>
                    <a:pt x="32004" y="53340"/>
                  </a:lnTo>
                  <a:lnTo>
                    <a:pt x="19545" y="51244"/>
                  </a:lnTo>
                  <a:lnTo>
                    <a:pt x="9372" y="45529"/>
                  </a:lnTo>
                  <a:lnTo>
                    <a:pt x="251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9" name="Google Shape;749;p35"/>
            <p:cNvSpPr/>
            <p:nvPr/>
          </p:nvSpPr>
          <p:spPr>
            <a:xfrm>
              <a:off x="9573768" y="2400300"/>
              <a:ext cx="1386840" cy="1143000"/>
            </a:xfrm>
            <a:custGeom>
              <a:rect b="b" l="l" r="r" t="t"/>
              <a:pathLst>
                <a:path extrusionOk="0" h="1143000" w="1386840">
                  <a:moveTo>
                    <a:pt x="0" y="1143000"/>
                  </a:moveTo>
                  <a:lnTo>
                    <a:pt x="138684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50" name="Google Shape;750;p35"/>
          <p:cNvGrpSpPr/>
          <p:nvPr/>
        </p:nvGrpSpPr>
        <p:grpSpPr>
          <a:xfrm>
            <a:off x="11165128" y="2491588"/>
            <a:ext cx="691515" cy="859155"/>
            <a:chOff x="11165128" y="2491588"/>
            <a:chExt cx="691515" cy="859155"/>
          </a:xfrm>
        </p:grpSpPr>
        <p:sp>
          <p:nvSpPr>
            <p:cNvPr id="751" name="Google Shape;751;p35"/>
            <p:cNvSpPr/>
            <p:nvPr/>
          </p:nvSpPr>
          <p:spPr>
            <a:xfrm>
              <a:off x="11433047" y="3240023"/>
              <a:ext cx="64135" cy="53340"/>
            </a:xfrm>
            <a:custGeom>
              <a:rect b="b" l="l" r="r" t="t"/>
              <a:pathLst>
                <a:path extrusionOk="0" h="53339" w="64134">
                  <a:moveTo>
                    <a:pt x="32004" y="0"/>
                  </a:moveTo>
                  <a:lnTo>
                    <a:pt x="19545" y="2095"/>
                  </a:lnTo>
                  <a:lnTo>
                    <a:pt x="9372" y="7810"/>
                  </a:lnTo>
                  <a:lnTo>
                    <a:pt x="2514" y="16287"/>
                  </a:lnTo>
                  <a:lnTo>
                    <a:pt x="0" y="26670"/>
                  </a:lnTo>
                  <a:lnTo>
                    <a:pt x="2514" y="37052"/>
                  </a:lnTo>
                  <a:lnTo>
                    <a:pt x="9372" y="45529"/>
                  </a:lnTo>
                  <a:lnTo>
                    <a:pt x="19545" y="51244"/>
                  </a:lnTo>
                  <a:lnTo>
                    <a:pt x="32004" y="53340"/>
                  </a:lnTo>
                  <a:lnTo>
                    <a:pt x="44462" y="51244"/>
                  </a:lnTo>
                  <a:lnTo>
                    <a:pt x="54635" y="45529"/>
                  </a:lnTo>
                  <a:lnTo>
                    <a:pt x="61493" y="37052"/>
                  </a:lnTo>
                  <a:lnTo>
                    <a:pt x="64008" y="26670"/>
                  </a:lnTo>
                  <a:lnTo>
                    <a:pt x="61493" y="16287"/>
                  </a:lnTo>
                  <a:lnTo>
                    <a:pt x="54635" y="7810"/>
                  </a:lnTo>
                  <a:lnTo>
                    <a:pt x="44462" y="2095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2" name="Google Shape;752;p35"/>
            <p:cNvSpPr/>
            <p:nvPr/>
          </p:nvSpPr>
          <p:spPr>
            <a:xfrm>
              <a:off x="11433047" y="3240023"/>
              <a:ext cx="64135" cy="53340"/>
            </a:xfrm>
            <a:custGeom>
              <a:rect b="b" l="l" r="r" t="t"/>
              <a:pathLst>
                <a:path extrusionOk="0" h="53339" w="64134">
                  <a:moveTo>
                    <a:pt x="0" y="26670"/>
                  </a:moveTo>
                  <a:lnTo>
                    <a:pt x="2514" y="16287"/>
                  </a:lnTo>
                  <a:lnTo>
                    <a:pt x="9372" y="7810"/>
                  </a:lnTo>
                  <a:lnTo>
                    <a:pt x="19545" y="2095"/>
                  </a:lnTo>
                  <a:lnTo>
                    <a:pt x="32004" y="0"/>
                  </a:lnTo>
                  <a:lnTo>
                    <a:pt x="44462" y="2095"/>
                  </a:lnTo>
                  <a:lnTo>
                    <a:pt x="54635" y="7810"/>
                  </a:lnTo>
                  <a:lnTo>
                    <a:pt x="61493" y="16287"/>
                  </a:lnTo>
                  <a:lnTo>
                    <a:pt x="64008" y="26670"/>
                  </a:lnTo>
                  <a:lnTo>
                    <a:pt x="61493" y="37052"/>
                  </a:lnTo>
                  <a:lnTo>
                    <a:pt x="54635" y="45529"/>
                  </a:lnTo>
                  <a:lnTo>
                    <a:pt x="44462" y="51244"/>
                  </a:lnTo>
                  <a:lnTo>
                    <a:pt x="32004" y="53340"/>
                  </a:lnTo>
                  <a:lnTo>
                    <a:pt x="19545" y="51244"/>
                  </a:lnTo>
                  <a:lnTo>
                    <a:pt x="9372" y="45529"/>
                  </a:lnTo>
                  <a:lnTo>
                    <a:pt x="251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53" name="Google Shape;753;p3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470956" y="2877121"/>
              <a:ext cx="72008" cy="64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4" name="Google Shape;754;p35"/>
            <p:cNvSpPr/>
            <p:nvPr/>
          </p:nvSpPr>
          <p:spPr>
            <a:xfrm>
              <a:off x="11202923" y="2918459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31242" y="0"/>
                  </a:moveTo>
                  <a:lnTo>
                    <a:pt x="19079" y="2095"/>
                  </a:lnTo>
                  <a:lnTo>
                    <a:pt x="9148" y="7810"/>
                  </a:lnTo>
                  <a:lnTo>
                    <a:pt x="2454" y="16287"/>
                  </a:lnTo>
                  <a:lnTo>
                    <a:pt x="0" y="26670"/>
                  </a:lnTo>
                  <a:lnTo>
                    <a:pt x="2454" y="37052"/>
                  </a:lnTo>
                  <a:lnTo>
                    <a:pt x="9148" y="45529"/>
                  </a:lnTo>
                  <a:lnTo>
                    <a:pt x="19079" y="51244"/>
                  </a:lnTo>
                  <a:lnTo>
                    <a:pt x="31242" y="53340"/>
                  </a:lnTo>
                  <a:lnTo>
                    <a:pt x="43404" y="51244"/>
                  </a:lnTo>
                  <a:lnTo>
                    <a:pt x="53335" y="45529"/>
                  </a:lnTo>
                  <a:lnTo>
                    <a:pt x="60029" y="37052"/>
                  </a:lnTo>
                  <a:lnTo>
                    <a:pt x="62484" y="26670"/>
                  </a:lnTo>
                  <a:lnTo>
                    <a:pt x="60029" y="16287"/>
                  </a:lnTo>
                  <a:lnTo>
                    <a:pt x="53335" y="7810"/>
                  </a:lnTo>
                  <a:lnTo>
                    <a:pt x="43404" y="2095"/>
                  </a:lnTo>
                  <a:lnTo>
                    <a:pt x="3124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5" name="Google Shape;755;p35"/>
            <p:cNvSpPr/>
            <p:nvPr/>
          </p:nvSpPr>
          <p:spPr>
            <a:xfrm>
              <a:off x="11202923" y="2918459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0" y="26670"/>
                  </a:moveTo>
                  <a:lnTo>
                    <a:pt x="2454" y="16287"/>
                  </a:lnTo>
                  <a:lnTo>
                    <a:pt x="9148" y="7810"/>
                  </a:lnTo>
                  <a:lnTo>
                    <a:pt x="19079" y="2095"/>
                  </a:lnTo>
                  <a:lnTo>
                    <a:pt x="31242" y="0"/>
                  </a:lnTo>
                  <a:lnTo>
                    <a:pt x="43404" y="2095"/>
                  </a:lnTo>
                  <a:lnTo>
                    <a:pt x="53335" y="7810"/>
                  </a:lnTo>
                  <a:lnTo>
                    <a:pt x="60029" y="16287"/>
                  </a:lnTo>
                  <a:lnTo>
                    <a:pt x="62484" y="26670"/>
                  </a:lnTo>
                  <a:lnTo>
                    <a:pt x="60029" y="37052"/>
                  </a:lnTo>
                  <a:lnTo>
                    <a:pt x="53335" y="45529"/>
                  </a:lnTo>
                  <a:lnTo>
                    <a:pt x="43404" y="51244"/>
                  </a:lnTo>
                  <a:lnTo>
                    <a:pt x="31242" y="53340"/>
                  </a:lnTo>
                  <a:lnTo>
                    <a:pt x="19079" y="51244"/>
                  </a:lnTo>
                  <a:lnTo>
                    <a:pt x="9148" y="45529"/>
                  </a:lnTo>
                  <a:lnTo>
                    <a:pt x="245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6" name="Google Shape;756;p35"/>
            <p:cNvSpPr/>
            <p:nvPr/>
          </p:nvSpPr>
          <p:spPr>
            <a:xfrm>
              <a:off x="11728703" y="3186683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31242" y="0"/>
                  </a:moveTo>
                  <a:lnTo>
                    <a:pt x="19079" y="2095"/>
                  </a:lnTo>
                  <a:lnTo>
                    <a:pt x="9148" y="7810"/>
                  </a:lnTo>
                  <a:lnTo>
                    <a:pt x="2454" y="16287"/>
                  </a:lnTo>
                  <a:lnTo>
                    <a:pt x="0" y="26670"/>
                  </a:lnTo>
                  <a:lnTo>
                    <a:pt x="2454" y="37052"/>
                  </a:lnTo>
                  <a:lnTo>
                    <a:pt x="9148" y="45529"/>
                  </a:lnTo>
                  <a:lnTo>
                    <a:pt x="19079" y="51244"/>
                  </a:lnTo>
                  <a:lnTo>
                    <a:pt x="31242" y="53340"/>
                  </a:lnTo>
                  <a:lnTo>
                    <a:pt x="43404" y="51244"/>
                  </a:lnTo>
                  <a:lnTo>
                    <a:pt x="53335" y="45529"/>
                  </a:lnTo>
                  <a:lnTo>
                    <a:pt x="60029" y="37052"/>
                  </a:lnTo>
                  <a:lnTo>
                    <a:pt x="62484" y="26670"/>
                  </a:lnTo>
                  <a:lnTo>
                    <a:pt x="60029" y="16287"/>
                  </a:lnTo>
                  <a:lnTo>
                    <a:pt x="53335" y="7810"/>
                  </a:lnTo>
                  <a:lnTo>
                    <a:pt x="43404" y="2095"/>
                  </a:lnTo>
                  <a:lnTo>
                    <a:pt x="3124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35"/>
            <p:cNvSpPr/>
            <p:nvPr/>
          </p:nvSpPr>
          <p:spPr>
            <a:xfrm>
              <a:off x="11728703" y="3186683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0" y="26670"/>
                  </a:moveTo>
                  <a:lnTo>
                    <a:pt x="2454" y="16287"/>
                  </a:lnTo>
                  <a:lnTo>
                    <a:pt x="9148" y="7810"/>
                  </a:lnTo>
                  <a:lnTo>
                    <a:pt x="19079" y="2095"/>
                  </a:lnTo>
                  <a:lnTo>
                    <a:pt x="31242" y="0"/>
                  </a:lnTo>
                  <a:lnTo>
                    <a:pt x="43404" y="2095"/>
                  </a:lnTo>
                  <a:lnTo>
                    <a:pt x="53335" y="7810"/>
                  </a:lnTo>
                  <a:lnTo>
                    <a:pt x="60029" y="16287"/>
                  </a:lnTo>
                  <a:lnTo>
                    <a:pt x="62484" y="26670"/>
                  </a:lnTo>
                  <a:lnTo>
                    <a:pt x="60029" y="37052"/>
                  </a:lnTo>
                  <a:lnTo>
                    <a:pt x="53335" y="45529"/>
                  </a:lnTo>
                  <a:lnTo>
                    <a:pt x="43404" y="51244"/>
                  </a:lnTo>
                  <a:lnTo>
                    <a:pt x="31242" y="53340"/>
                  </a:lnTo>
                  <a:lnTo>
                    <a:pt x="19079" y="51244"/>
                  </a:lnTo>
                  <a:lnTo>
                    <a:pt x="9148" y="45529"/>
                  </a:lnTo>
                  <a:lnTo>
                    <a:pt x="245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35"/>
            <p:cNvSpPr/>
            <p:nvPr/>
          </p:nvSpPr>
          <p:spPr>
            <a:xfrm>
              <a:off x="11308079" y="2650235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31242" y="0"/>
                  </a:moveTo>
                  <a:lnTo>
                    <a:pt x="19079" y="2095"/>
                  </a:lnTo>
                  <a:lnTo>
                    <a:pt x="9148" y="7810"/>
                  </a:lnTo>
                  <a:lnTo>
                    <a:pt x="2454" y="16287"/>
                  </a:lnTo>
                  <a:lnTo>
                    <a:pt x="0" y="26670"/>
                  </a:lnTo>
                  <a:lnTo>
                    <a:pt x="2454" y="37052"/>
                  </a:lnTo>
                  <a:lnTo>
                    <a:pt x="9148" y="45529"/>
                  </a:lnTo>
                  <a:lnTo>
                    <a:pt x="19079" y="51244"/>
                  </a:lnTo>
                  <a:lnTo>
                    <a:pt x="31242" y="53340"/>
                  </a:lnTo>
                  <a:lnTo>
                    <a:pt x="43404" y="51244"/>
                  </a:lnTo>
                  <a:lnTo>
                    <a:pt x="53335" y="45529"/>
                  </a:lnTo>
                  <a:lnTo>
                    <a:pt x="60029" y="37052"/>
                  </a:lnTo>
                  <a:lnTo>
                    <a:pt x="62484" y="26670"/>
                  </a:lnTo>
                  <a:lnTo>
                    <a:pt x="60029" y="16287"/>
                  </a:lnTo>
                  <a:lnTo>
                    <a:pt x="53335" y="7810"/>
                  </a:lnTo>
                  <a:lnTo>
                    <a:pt x="43404" y="2095"/>
                  </a:lnTo>
                  <a:lnTo>
                    <a:pt x="3124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9" name="Google Shape;759;p35"/>
            <p:cNvSpPr/>
            <p:nvPr/>
          </p:nvSpPr>
          <p:spPr>
            <a:xfrm>
              <a:off x="11308079" y="2650235"/>
              <a:ext cx="62865" cy="53340"/>
            </a:xfrm>
            <a:custGeom>
              <a:rect b="b" l="l" r="r" t="t"/>
              <a:pathLst>
                <a:path extrusionOk="0" h="53339" w="62865">
                  <a:moveTo>
                    <a:pt x="0" y="26670"/>
                  </a:moveTo>
                  <a:lnTo>
                    <a:pt x="2454" y="16287"/>
                  </a:lnTo>
                  <a:lnTo>
                    <a:pt x="9148" y="7810"/>
                  </a:lnTo>
                  <a:lnTo>
                    <a:pt x="19079" y="2095"/>
                  </a:lnTo>
                  <a:lnTo>
                    <a:pt x="31242" y="0"/>
                  </a:lnTo>
                  <a:lnTo>
                    <a:pt x="43404" y="2095"/>
                  </a:lnTo>
                  <a:lnTo>
                    <a:pt x="53335" y="7810"/>
                  </a:lnTo>
                  <a:lnTo>
                    <a:pt x="60029" y="16287"/>
                  </a:lnTo>
                  <a:lnTo>
                    <a:pt x="62484" y="26670"/>
                  </a:lnTo>
                  <a:lnTo>
                    <a:pt x="60029" y="37052"/>
                  </a:lnTo>
                  <a:lnTo>
                    <a:pt x="53335" y="45529"/>
                  </a:lnTo>
                  <a:lnTo>
                    <a:pt x="43404" y="51244"/>
                  </a:lnTo>
                  <a:lnTo>
                    <a:pt x="31242" y="53340"/>
                  </a:lnTo>
                  <a:lnTo>
                    <a:pt x="19079" y="51244"/>
                  </a:lnTo>
                  <a:lnTo>
                    <a:pt x="9148" y="45529"/>
                  </a:lnTo>
                  <a:lnTo>
                    <a:pt x="2454" y="37052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0" name="Google Shape;760;p35"/>
            <p:cNvSpPr/>
            <p:nvPr/>
          </p:nvSpPr>
          <p:spPr>
            <a:xfrm>
              <a:off x="11165128" y="2491588"/>
              <a:ext cx="691515" cy="859155"/>
            </a:xfrm>
            <a:custGeom>
              <a:rect b="b" l="l" r="r" t="t"/>
              <a:pathLst>
                <a:path extrusionOk="0" h="859154" w="691515">
                  <a:moveTo>
                    <a:pt x="691222" y="85910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61" name="Google Shape;761;p35"/>
          <p:cNvGrpSpPr/>
          <p:nvPr/>
        </p:nvGrpSpPr>
        <p:grpSpPr>
          <a:xfrm>
            <a:off x="1816861" y="3798061"/>
            <a:ext cx="7134353" cy="2659126"/>
            <a:chOff x="1816861" y="3798061"/>
            <a:chExt cx="7134353" cy="2659126"/>
          </a:xfrm>
        </p:grpSpPr>
        <p:sp>
          <p:nvSpPr>
            <p:cNvPr id="762" name="Google Shape;762;p35"/>
            <p:cNvSpPr/>
            <p:nvPr/>
          </p:nvSpPr>
          <p:spPr>
            <a:xfrm>
              <a:off x="6665214" y="3996689"/>
              <a:ext cx="2286000" cy="1828800"/>
            </a:xfrm>
            <a:custGeom>
              <a:rect b="b" l="l" r="r" t="t"/>
              <a:pathLst>
                <a:path extrusionOk="0" h="1828800" w="2286000">
                  <a:moveTo>
                    <a:pt x="1143000" y="0"/>
                  </a:moveTo>
                  <a:lnTo>
                    <a:pt x="1089193" y="995"/>
                  </a:lnTo>
                  <a:lnTo>
                    <a:pt x="1036027" y="3951"/>
                  </a:lnTo>
                  <a:lnTo>
                    <a:pt x="983555" y="8825"/>
                  </a:lnTo>
                  <a:lnTo>
                    <a:pt x="931835" y="15573"/>
                  </a:lnTo>
                  <a:lnTo>
                    <a:pt x="880919" y="24150"/>
                  </a:lnTo>
                  <a:lnTo>
                    <a:pt x="830863" y="34512"/>
                  </a:lnTo>
                  <a:lnTo>
                    <a:pt x="781721" y="46617"/>
                  </a:lnTo>
                  <a:lnTo>
                    <a:pt x="733550" y="60419"/>
                  </a:lnTo>
                  <a:lnTo>
                    <a:pt x="686403" y="75875"/>
                  </a:lnTo>
                  <a:lnTo>
                    <a:pt x="640335" y="92941"/>
                  </a:lnTo>
                  <a:lnTo>
                    <a:pt x="595402" y="111573"/>
                  </a:lnTo>
                  <a:lnTo>
                    <a:pt x="551658" y="131728"/>
                  </a:lnTo>
                  <a:lnTo>
                    <a:pt x="509158" y="153361"/>
                  </a:lnTo>
                  <a:lnTo>
                    <a:pt x="467957" y="176427"/>
                  </a:lnTo>
                  <a:lnTo>
                    <a:pt x="428109" y="200885"/>
                  </a:lnTo>
                  <a:lnTo>
                    <a:pt x="389671" y="226689"/>
                  </a:lnTo>
                  <a:lnTo>
                    <a:pt x="352696" y="253795"/>
                  </a:lnTo>
                  <a:lnTo>
                    <a:pt x="317240" y="282161"/>
                  </a:lnTo>
                  <a:lnTo>
                    <a:pt x="283357" y="311741"/>
                  </a:lnTo>
                  <a:lnTo>
                    <a:pt x="251102" y="342492"/>
                  </a:lnTo>
                  <a:lnTo>
                    <a:pt x="220531" y="374369"/>
                  </a:lnTo>
                  <a:lnTo>
                    <a:pt x="191697" y="407330"/>
                  </a:lnTo>
                  <a:lnTo>
                    <a:pt x="164657" y="441330"/>
                  </a:lnTo>
                  <a:lnTo>
                    <a:pt x="139464" y="476326"/>
                  </a:lnTo>
                  <a:lnTo>
                    <a:pt x="116175" y="512272"/>
                  </a:lnTo>
                  <a:lnTo>
                    <a:pt x="94842" y="549126"/>
                  </a:lnTo>
                  <a:lnTo>
                    <a:pt x="75522" y="586844"/>
                  </a:lnTo>
                  <a:lnTo>
                    <a:pt x="58270" y="625381"/>
                  </a:lnTo>
                  <a:lnTo>
                    <a:pt x="43140" y="664694"/>
                  </a:lnTo>
                  <a:lnTo>
                    <a:pt x="30187" y="704738"/>
                  </a:lnTo>
                  <a:lnTo>
                    <a:pt x="19466" y="745470"/>
                  </a:lnTo>
                  <a:lnTo>
                    <a:pt x="11032" y="786846"/>
                  </a:lnTo>
                  <a:lnTo>
                    <a:pt x="4939" y="828823"/>
                  </a:lnTo>
                  <a:lnTo>
                    <a:pt x="1244" y="871355"/>
                  </a:lnTo>
                  <a:lnTo>
                    <a:pt x="0" y="914400"/>
                  </a:lnTo>
                  <a:lnTo>
                    <a:pt x="1244" y="957444"/>
                  </a:lnTo>
                  <a:lnTo>
                    <a:pt x="4939" y="999976"/>
                  </a:lnTo>
                  <a:lnTo>
                    <a:pt x="11032" y="1041953"/>
                  </a:lnTo>
                  <a:lnTo>
                    <a:pt x="19466" y="1083329"/>
                  </a:lnTo>
                  <a:lnTo>
                    <a:pt x="30187" y="1124061"/>
                  </a:lnTo>
                  <a:lnTo>
                    <a:pt x="43140" y="1164105"/>
                  </a:lnTo>
                  <a:lnTo>
                    <a:pt x="58270" y="1203418"/>
                  </a:lnTo>
                  <a:lnTo>
                    <a:pt x="75522" y="1241955"/>
                  </a:lnTo>
                  <a:lnTo>
                    <a:pt x="94842" y="1279673"/>
                  </a:lnTo>
                  <a:lnTo>
                    <a:pt x="116175" y="1316527"/>
                  </a:lnTo>
                  <a:lnTo>
                    <a:pt x="139464" y="1352473"/>
                  </a:lnTo>
                  <a:lnTo>
                    <a:pt x="164657" y="1387469"/>
                  </a:lnTo>
                  <a:lnTo>
                    <a:pt x="191697" y="1421469"/>
                  </a:lnTo>
                  <a:lnTo>
                    <a:pt x="220531" y="1454430"/>
                  </a:lnTo>
                  <a:lnTo>
                    <a:pt x="251102" y="1486307"/>
                  </a:lnTo>
                  <a:lnTo>
                    <a:pt x="283357" y="1517058"/>
                  </a:lnTo>
                  <a:lnTo>
                    <a:pt x="317240" y="1546638"/>
                  </a:lnTo>
                  <a:lnTo>
                    <a:pt x="352696" y="1575004"/>
                  </a:lnTo>
                  <a:lnTo>
                    <a:pt x="389671" y="1602110"/>
                  </a:lnTo>
                  <a:lnTo>
                    <a:pt x="428109" y="1627914"/>
                  </a:lnTo>
                  <a:lnTo>
                    <a:pt x="467957" y="1652372"/>
                  </a:lnTo>
                  <a:lnTo>
                    <a:pt x="509158" y="1675438"/>
                  </a:lnTo>
                  <a:lnTo>
                    <a:pt x="551658" y="1697071"/>
                  </a:lnTo>
                  <a:lnTo>
                    <a:pt x="595402" y="1717226"/>
                  </a:lnTo>
                  <a:lnTo>
                    <a:pt x="640335" y="1735858"/>
                  </a:lnTo>
                  <a:lnTo>
                    <a:pt x="686403" y="1752924"/>
                  </a:lnTo>
                  <a:lnTo>
                    <a:pt x="733550" y="1768380"/>
                  </a:lnTo>
                  <a:lnTo>
                    <a:pt x="781721" y="1782182"/>
                  </a:lnTo>
                  <a:lnTo>
                    <a:pt x="830863" y="1794287"/>
                  </a:lnTo>
                  <a:lnTo>
                    <a:pt x="880919" y="1804649"/>
                  </a:lnTo>
                  <a:lnTo>
                    <a:pt x="931835" y="1813226"/>
                  </a:lnTo>
                  <a:lnTo>
                    <a:pt x="983555" y="1819974"/>
                  </a:lnTo>
                  <a:lnTo>
                    <a:pt x="1036027" y="1824848"/>
                  </a:lnTo>
                  <a:lnTo>
                    <a:pt x="1089193" y="1827804"/>
                  </a:lnTo>
                  <a:lnTo>
                    <a:pt x="1143000" y="1828800"/>
                  </a:lnTo>
                  <a:lnTo>
                    <a:pt x="1196806" y="1827804"/>
                  </a:lnTo>
                  <a:lnTo>
                    <a:pt x="1249972" y="1824848"/>
                  </a:lnTo>
                  <a:lnTo>
                    <a:pt x="1302444" y="1819974"/>
                  </a:lnTo>
                  <a:lnTo>
                    <a:pt x="1354164" y="1813226"/>
                  </a:lnTo>
                  <a:lnTo>
                    <a:pt x="1405080" y="1804649"/>
                  </a:lnTo>
                  <a:lnTo>
                    <a:pt x="1455136" y="1794287"/>
                  </a:lnTo>
                  <a:lnTo>
                    <a:pt x="1504278" y="1782182"/>
                  </a:lnTo>
                  <a:lnTo>
                    <a:pt x="1552449" y="1768380"/>
                  </a:lnTo>
                  <a:lnTo>
                    <a:pt x="1599596" y="1752924"/>
                  </a:lnTo>
                  <a:lnTo>
                    <a:pt x="1645664" y="1735858"/>
                  </a:lnTo>
                  <a:lnTo>
                    <a:pt x="1690597" y="1717226"/>
                  </a:lnTo>
                  <a:lnTo>
                    <a:pt x="1734341" y="1697071"/>
                  </a:lnTo>
                  <a:lnTo>
                    <a:pt x="1776841" y="1675438"/>
                  </a:lnTo>
                  <a:lnTo>
                    <a:pt x="1818042" y="1652372"/>
                  </a:lnTo>
                  <a:lnTo>
                    <a:pt x="1857890" y="1627914"/>
                  </a:lnTo>
                  <a:lnTo>
                    <a:pt x="1896328" y="1602110"/>
                  </a:lnTo>
                  <a:lnTo>
                    <a:pt x="1933303" y="1575004"/>
                  </a:lnTo>
                  <a:lnTo>
                    <a:pt x="1968759" y="1546638"/>
                  </a:lnTo>
                  <a:lnTo>
                    <a:pt x="2002642" y="1517058"/>
                  </a:lnTo>
                  <a:lnTo>
                    <a:pt x="2034897" y="1486307"/>
                  </a:lnTo>
                  <a:lnTo>
                    <a:pt x="2065468" y="1454430"/>
                  </a:lnTo>
                  <a:lnTo>
                    <a:pt x="2094302" y="1421469"/>
                  </a:lnTo>
                  <a:lnTo>
                    <a:pt x="2121342" y="1387469"/>
                  </a:lnTo>
                  <a:lnTo>
                    <a:pt x="2146535" y="1352473"/>
                  </a:lnTo>
                  <a:lnTo>
                    <a:pt x="2169824" y="1316527"/>
                  </a:lnTo>
                  <a:lnTo>
                    <a:pt x="2191157" y="1279673"/>
                  </a:lnTo>
                  <a:lnTo>
                    <a:pt x="2210477" y="1241955"/>
                  </a:lnTo>
                  <a:lnTo>
                    <a:pt x="2227729" y="1203418"/>
                  </a:lnTo>
                  <a:lnTo>
                    <a:pt x="2242859" y="1164105"/>
                  </a:lnTo>
                  <a:lnTo>
                    <a:pt x="2255812" y="1124061"/>
                  </a:lnTo>
                  <a:lnTo>
                    <a:pt x="2266533" y="1083329"/>
                  </a:lnTo>
                  <a:lnTo>
                    <a:pt x="2274967" y="1041953"/>
                  </a:lnTo>
                  <a:lnTo>
                    <a:pt x="2281060" y="999976"/>
                  </a:lnTo>
                  <a:lnTo>
                    <a:pt x="2284755" y="957444"/>
                  </a:lnTo>
                  <a:lnTo>
                    <a:pt x="2286000" y="914400"/>
                  </a:lnTo>
                  <a:lnTo>
                    <a:pt x="2284755" y="871355"/>
                  </a:lnTo>
                  <a:lnTo>
                    <a:pt x="2281060" y="828823"/>
                  </a:lnTo>
                  <a:lnTo>
                    <a:pt x="2274967" y="786846"/>
                  </a:lnTo>
                  <a:lnTo>
                    <a:pt x="2266533" y="745470"/>
                  </a:lnTo>
                  <a:lnTo>
                    <a:pt x="2255812" y="704738"/>
                  </a:lnTo>
                  <a:lnTo>
                    <a:pt x="2242859" y="664694"/>
                  </a:lnTo>
                  <a:lnTo>
                    <a:pt x="2227729" y="625381"/>
                  </a:lnTo>
                  <a:lnTo>
                    <a:pt x="2210477" y="586844"/>
                  </a:lnTo>
                  <a:lnTo>
                    <a:pt x="2191157" y="549126"/>
                  </a:lnTo>
                  <a:lnTo>
                    <a:pt x="2169824" y="512272"/>
                  </a:lnTo>
                  <a:lnTo>
                    <a:pt x="2146535" y="476326"/>
                  </a:lnTo>
                  <a:lnTo>
                    <a:pt x="2121342" y="441330"/>
                  </a:lnTo>
                  <a:lnTo>
                    <a:pt x="2094302" y="407330"/>
                  </a:lnTo>
                  <a:lnTo>
                    <a:pt x="2065468" y="374369"/>
                  </a:lnTo>
                  <a:lnTo>
                    <a:pt x="2034897" y="342492"/>
                  </a:lnTo>
                  <a:lnTo>
                    <a:pt x="2002642" y="311741"/>
                  </a:lnTo>
                  <a:lnTo>
                    <a:pt x="1968759" y="282161"/>
                  </a:lnTo>
                  <a:lnTo>
                    <a:pt x="1933303" y="253795"/>
                  </a:lnTo>
                  <a:lnTo>
                    <a:pt x="1896328" y="226689"/>
                  </a:lnTo>
                  <a:lnTo>
                    <a:pt x="1857890" y="200885"/>
                  </a:lnTo>
                  <a:lnTo>
                    <a:pt x="1818042" y="176427"/>
                  </a:lnTo>
                  <a:lnTo>
                    <a:pt x="1776841" y="153361"/>
                  </a:lnTo>
                  <a:lnTo>
                    <a:pt x="1734341" y="131728"/>
                  </a:lnTo>
                  <a:lnTo>
                    <a:pt x="1690597" y="111573"/>
                  </a:lnTo>
                  <a:lnTo>
                    <a:pt x="1645664" y="92941"/>
                  </a:lnTo>
                  <a:lnTo>
                    <a:pt x="1599596" y="75875"/>
                  </a:lnTo>
                  <a:lnTo>
                    <a:pt x="1552449" y="60419"/>
                  </a:lnTo>
                  <a:lnTo>
                    <a:pt x="1504278" y="46617"/>
                  </a:lnTo>
                  <a:lnTo>
                    <a:pt x="1455136" y="34512"/>
                  </a:lnTo>
                  <a:lnTo>
                    <a:pt x="1405080" y="24150"/>
                  </a:lnTo>
                  <a:lnTo>
                    <a:pt x="1354164" y="15573"/>
                  </a:lnTo>
                  <a:lnTo>
                    <a:pt x="1302444" y="8825"/>
                  </a:lnTo>
                  <a:lnTo>
                    <a:pt x="1249972" y="3951"/>
                  </a:lnTo>
                  <a:lnTo>
                    <a:pt x="1196806" y="995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3" name="Google Shape;763;p35"/>
            <p:cNvSpPr/>
            <p:nvPr/>
          </p:nvSpPr>
          <p:spPr>
            <a:xfrm>
              <a:off x="6665214" y="3996689"/>
              <a:ext cx="2286000" cy="1828800"/>
            </a:xfrm>
            <a:custGeom>
              <a:rect b="b" l="l" r="r" t="t"/>
              <a:pathLst>
                <a:path extrusionOk="0" h="1828800" w="2286000">
                  <a:moveTo>
                    <a:pt x="0" y="914400"/>
                  </a:moveTo>
                  <a:lnTo>
                    <a:pt x="1244" y="871355"/>
                  </a:lnTo>
                  <a:lnTo>
                    <a:pt x="4939" y="828823"/>
                  </a:lnTo>
                  <a:lnTo>
                    <a:pt x="11032" y="786846"/>
                  </a:lnTo>
                  <a:lnTo>
                    <a:pt x="19466" y="745470"/>
                  </a:lnTo>
                  <a:lnTo>
                    <a:pt x="30187" y="704738"/>
                  </a:lnTo>
                  <a:lnTo>
                    <a:pt x="43140" y="664694"/>
                  </a:lnTo>
                  <a:lnTo>
                    <a:pt x="58270" y="625381"/>
                  </a:lnTo>
                  <a:lnTo>
                    <a:pt x="75522" y="586844"/>
                  </a:lnTo>
                  <a:lnTo>
                    <a:pt x="94842" y="549126"/>
                  </a:lnTo>
                  <a:lnTo>
                    <a:pt x="116175" y="512272"/>
                  </a:lnTo>
                  <a:lnTo>
                    <a:pt x="139464" y="476326"/>
                  </a:lnTo>
                  <a:lnTo>
                    <a:pt x="164657" y="441330"/>
                  </a:lnTo>
                  <a:lnTo>
                    <a:pt x="191697" y="407330"/>
                  </a:lnTo>
                  <a:lnTo>
                    <a:pt x="220531" y="374369"/>
                  </a:lnTo>
                  <a:lnTo>
                    <a:pt x="251102" y="342492"/>
                  </a:lnTo>
                  <a:lnTo>
                    <a:pt x="283357" y="311741"/>
                  </a:lnTo>
                  <a:lnTo>
                    <a:pt x="317240" y="282161"/>
                  </a:lnTo>
                  <a:lnTo>
                    <a:pt x="352696" y="253795"/>
                  </a:lnTo>
                  <a:lnTo>
                    <a:pt x="389671" y="226689"/>
                  </a:lnTo>
                  <a:lnTo>
                    <a:pt x="428109" y="200885"/>
                  </a:lnTo>
                  <a:lnTo>
                    <a:pt x="467957" y="176427"/>
                  </a:lnTo>
                  <a:lnTo>
                    <a:pt x="509158" y="153361"/>
                  </a:lnTo>
                  <a:lnTo>
                    <a:pt x="551658" y="131728"/>
                  </a:lnTo>
                  <a:lnTo>
                    <a:pt x="595402" y="111573"/>
                  </a:lnTo>
                  <a:lnTo>
                    <a:pt x="640335" y="92941"/>
                  </a:lnTo>
                  <a:lnTo>
                    <a:pt x="686403" y="75875"/>
                  </a:lnTo>
                  <a:lnTo>
                    <a:pt x="733550" y="60419"/>
                  </a:lnTo>
                  <a:lnTo>
                    <a:pt x="781721" y="46617"/>
                  </a:lnTo>
                  <a:lnTo>
                    <a:pt x="830863" y="34512"/>
                  </a:lnTo>
                  <a:lnTo>
                    <a:pt x="880919" y="24150"/>
                  </a:lnTo>
                  <a:lnTo>
                    <a:pt x="931835" y="15573"/>
                  </a:lnTo>
                  <a:lnTo>
                    <a:pt x="983555" y="8825"/>
                  </a:lnTo>
                  <a:lnTo>
                    <a:pt x="1036027" y="3951"/>
                  </a:lnTo>
                  <a:lnTo>
                    <a:pt x="1089193" y="995"/>
                  </a:lnTo>
                  <a:lnTo>
                    <a:pt x="1143000" y="0"/>
                  </a:lnTo>
                  <a:lnTo>
                    <a:pt x="1196806" y="995"/>
                  </a:lnTo>
                  <a:lnTo>
                    <a:pt x="1249972" y="3951"/>
                  </a:lnTo>
                  <a:lnTo>
                    <a:pt x="1302444" y="8825"/>
                  </a:lnTo>
                  <a:lnTo>
                    <a:pt x="1354164" y="15573"/>
                  </a:lnTo>
                  <a:lnTo>
                    <a:pt x="1405080" y="24150"/>
                  </a:lnTo>
                  <a:lnTo>
                    <a:pt x="1455136" y="34512"/>
                  </a:lnTo>
                  <a:lnTo>
                    <a:pt x="1504278" y="46617"/>
                  </a:lnTo>
                  <a:lnTo>
                    <a:pt x="1552449" y="60419"/>
                  </a:lnTo>
                  <a:lnTo>
                    <a:pt x="1599596" y="75875"/>
                  </a:lnTo>
                  <a:lnTo>
                    <a:pt x="1645664" y="92941"/>
                  </a:lnTo>
                  <a:lnTo>
                    <a:pt x="1690597" y="111573"/>
                  </a:lnTo>
                  <a:lnTo>
                    <a:pt x="1734341" y="131728"/>
                  </a:lnTo>
                  <a:lnTo>
                    <a:pt x="1776841" y="153361"/>
                  </a:lnTo>
                  <a:lnTo>
                    <a:pt x="1818042" y="176427"/>
                  </a:lnTo>
                  <a:lnTo>
                    <a:pt x="1857890" y="200885"/>
                  </a:lnTo>
                  <a:lnTo>
                    <a:pt x="1896328" y="226689"/>
                  </a:lnTo>
                  <a:lnTo>
                    <a:pt x="1933303" y="253795"/>
                  </a:lnTo>
                  <a:lnTo>
                    <a:pt x="1968759" y="282161"/>
                  </a:lnTo>
                  <a:lnTo>
                    <a:pt x="2002642" y="311741"/>
                  </a:lnTo>
                  <a:lnTo>
                    <a:pt x="2034897" y="342492"/>
                  </a:lnTo>
                  <a:lnTo>
                    <a:pt x="2065468" y="374369"/>
                  </a:lnTo>
                  <a:lnTo>
                    <a:pt x="2094302" y="407330"/>
                  </a:lnTo>
                  <a:lnTo>
                    <a:pt x="2121342" y="441330"/>
                  </a:lnTo>
                  <a:lnTo>
                    <a:pt x="2146535" y="476326"/>
                  </a:lnTo>
                  <a:lnTo>
                    <a:pt x="2169824" y="512272"/>
                  </a:lnTo>
                  <a:lnTo>
                    <a:pt x="2191157" y="549126"/>
                  </a:lnTo>
                  <a:lnTo>
                    <a:pt x="2210477" y="586844"/>
                  </a:lnTo>
                  <a:lnTo>
                    <a:pt x="2227729" y="625381"/>
                  </a:lnTo>
                  <a:lnTo>
                    <a:pt x="2242859" y="664694"/>
                  </a:lnTo>
                  <a:lnTo>
                    <a:pt x="2255812" y="704738"/>
                  </a:lnTo>
                  <a:lnTo>
                    <a:pt x="2266533" y="745470"/>
                  </a:lnTo>
                  <a:lnTo>
                    <a:pt x="2274967" y="786846"/>
                  </a:lnTo>
                  <a:lnTo>
                    <a:pt x="2281060" y="828823"/>
                  </a:lnTo>
                  <a:lnTo>
                    <a:pt x="2284755" y="871355"/>
                  </a:lnTo>
                  <a:lnTo>
                    <a:pt x="2286000" y="914400"/>
                  </a:lnTo>
                  <a:lnTo>
                    <a:pt x="2284755" y="957444"/>
                  </a:lnTo>
                  <a:lnTo>
                    <a:pt x="2281060" y="999976"/>
                  </a:lnTo>
                  <a:lnTo>
                    <a:pt x="2274967" y="1041953"/>
                  </a:lnTo>
                  <a:lnTo>
                    <a:pt x="2266533" y="1083329"/>
                  </a:lnTo>
                  <a:lnTo>
                    <a:pt x="2255812" y="1124061"/>
                  </a:lnTo>
                  <a:lnTo>
                    <a:pt x="2242859" y="1164105"/>
                  </a:lnTo>
                  <a:lnTo>
                    <a:pt x="2227729" y="1203418"/>
                  </a:lnTo>
                  <a:lnTo>
                    <a:pt x="2210477" y="1241955"/>
                  </a:lnTo>
                  <a:lnTo>
                    <a:pt x="2191157" y="1279673"/>
                  </a:lnTo>
                  <a:lnTo>
                    <a:pt x="2169824" y="1316527"/>
                  </a:lnTo>
                  <a:lnTo>
                    <a:pt x="2146535" y="1352473"/>
                  </a:lnTo>
                  <a:lnTo>
                    <a:pt x="2121342" y="1387469"/>
                  </a:lnTo>
                  <a:lnTo>
                    <a:pt x="2094302" y="1421469"/>
                  </a:lnTo>
                  <a:lnTo>
                    <a:pt x="2065468" y="1454430"/>
                  </a:lnTo>
                  <a:lnTo>
                    <a:pt x="2034897" y="1486307"/>
                  </a:lnTo>
                  <a:lnTo>
                    <a:pt x="2002642" y="1517058"/>
                  </a:lnTo>
                  <a:lnTo>
                    <a:pt x="1968759" y="1546638"/>
                  </a:lnTo>
                  <a:lnTo>
                    <a:pt x="1933303" y="1575004"/>
                  </a:lnTo>
                  <a:lnTo>
                    <a:pt x="1896328" y="1602110"/>
                  </a:lnTo>
                  <a:lnTo>
                    <a:pt x="1857890" y="1627914"/>
                  </a:lnTo>
                  <a:lnTo>
                    <a:pt x="1818042" y="1652372"/>
                  </a:lnTo>
                  <a:lnTo>
                    <a:pt x="1776841" y="1675438"/>
                  </a:lnTo>
                  <a:lnTo>
                    <a:pt x="1734341" y="1697071"/>
                  </a:lnTo>
                  <a:lnTo>
                    <a:pt x="1690597" y="1717226"/>
                  </a:lnTo>
                  <a:lnTo>
                    <a:pt x="1645664" y="1735858"/>
                  </a:lnTo>
                  <a:lnTo>
                    <a:pt x="1599596" y="1752924"/>
                  </a:lnTo>
                  <a:lnTo>
                    <a:pt x="1552449" y="1768380"/>
                  </a:lnTo>
                  <a:lnTo>
                    <a:pt x="1504278" y="1782182"/>
                  </a:lnTo>
                  <a:lnTo>
                    <a:pt x="1455136" y="1794287"/>
                  </a:lnTo>
                  <a:lnTo>
                    <a:pt x="1405080" y="1804649"/>
                  </a:lnTo>
                  <a:lnTo>
                    <a:pt x="1354164" y="1813226"/>
                  </a:lnTo>
                  <a:lnTo>
                    <a:pt x="1302444" y="1819974"/>
                  </a:lnTo>
                  <a:lnTo>
                    <a:pt x="1249972" y="1824848"/>
                  </a:lnTo>
                  <a:lnTo>
                    <a:pt x="1196806" y="1827804"/>
                  </a:lnTo>
                  <a:lnTo>
                    <a:pt x="1143000" y="1828800"/>
                  </a:lnTo>
                  <a:lnTo>
                    <a:pt x="1089193" y="1827804"/>
                  </a:lnTo>
                  <a:lnTo>
                    <a:pt x="1036027" y="1824848"/>
                  </a:lnTo>
                  <a:lnTo>
                    <a:pt x="983555" y="1819974"/>
                  </a:lnTo>
                  <a:lnTo>
                    <a:pt x="931835" y="1813226"/>
                  </a:lnTo>
                  <a:lnTo>
                    <a:pt x="880919" y="1804649"/>
                  </a:lnTo>
                  <a:lnTo>
                    <a:pt x="830863" y="1794287"/>
                  </a:lnTo>
                  <a:lnTo>
                    <a:pt x="781721" y="1782182"/>
                  </a:lnTo>
                  <a:lnTo>
                    <a:pt x="733550" y="1768380"/>
                  </a:lnTo>
                  <a:lnTo>
                    <a:pt x="686403" y="1752924"/>
                  </a:lnTo>
                  <a:lnTo>
                    <a:pt x="640335" y="1735858"/>
                  </a:lnTo>
                  <a:lnTo>
                    <a:pt x="595402" y="1717226"/>
                  </a:lnTo>
                  <a:lnTo>
                    <a:pt x="551658" y="1697071"/>
                  </a:lnTo>
                  <a:lnTo>
                    <a:pt x="509158" y="1675438"/>
                  </a:lnTo>
                  <a:lnTo>
                    <a:pt x="467957" y="1652372"/>
                  </a:lnTo>
                  <a:lnTo>
                    <a:pt x="428109" y="1627914"/>
                  </a:lnTo>
                  <a:lnTo>
                    <a:pt x="389671" y="1602110"/>
                  </a:lnTo>
                  <a:lnTo>
                    <a:pt x="352696" y="1575004"/>
                  </a:lnTo>
                  <a:lnTo>
                    <a:pt x="317240" y="1546638"/>
                  </a:lnTo>
                  <a:lnTo>
                    <a:pt x="283357" y="1517058"/>
                  </a:lnTo>
                  <a:lnTo>
                    <a:pt x="251102" y="1486307"/>
                  </a:lnTo>
                  <a:lnTo>
                    <a:pt x="220531" y="1454430"/>
                  </a:lnTo>
                  <a:lnTo>
                    <a:pt x="191697" y="1421469"/>
                  </a:lnTo>
                  <a:lnTo>
                    <a:pt x="164657" y="1387469"/>
                  </a:lnTo>
                  <a:lnTo>
                    <a:pt x="139464" y="1352473"/>
                  </a:lnTo>
                  <a:lnTo>
                    <a:pt x="116175" y="1316527"/>
                  </a:lnTo>
                  <a:lnTo>
                    <a:pt x="94842" y="1279673"/>
                  </a:lnTo>
                  <a:lnTo>
                    <a:pt x="75522" y="1241955"/>
                  </a:lnTo>
                  <a:lnTo>
                    <a:pt x="58270" y="1203418"/>
                  </a:lnTo>
                  <a:lnTo>
                    <a:pt x="43140" y="1164105"/>
                  </a:lnTo>
                  <a:lnTo>
                    <a:pt x="30187" y="1124061"/>
                  </a:lnTo>
                  <a:lnTo>
                    <a:pt x="19466" y="1083329"/>
                  </a:lnTo>
                  <a:lnTo>
                    <a:pt x="11032" y="1041953"/>
                  </a:lnTo>
                  <a:lnTo>
                    <a:pt x="4939" y="999976"/>
                  </a:lnTo>
                  <a:lnTo>
                    <a:pt x="1244" y="957444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64" name="Google Shape;764;p3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816861" y="3798061"/>
              <a:ext cx="2540000" cy="2235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5" name="Google Shape;765;p3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57983" y="5943600"/>
              <a:ext cx="1661159" cy="5135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6" name="Google Shape;766;p35"/>
          <p:cNvSpPr txBox="1"/>
          <p:nvPr/>
        </p:nvSpPr>
        <p:spPr>
          <a:xfrm>
            <a:off x="2288539" y="5992336"/>
            <a:ext cx="1379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Set of features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7" name="Google Shape;767;p35"/>
          <p:cNvGrpSpPr/>
          <p:nvPr/>
        </p:nvGrpSpPr>
        <p:grpSpPr>
          <a:xfrm>
            <a:off x="6992111" y="4250435"/>
            <a:ext cx="1216151" cy="400811"/>
            <a:chOff x="6992111" y="4250435"/>
            <a:chExt cx="1216151" cy="400811"/>
          </a:xfrm>
        </p:grpSpPr>
        <p:pic>
          <p:nvPicPr>
            <p:cNvPr id="768" name="Google Shape;768;p3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992111" y="4250435"/>
              <a:ext cx="903731" cy="400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9" name="Google Shape;769;p3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690103" y="4364735"/>
              <a:ext cx="231647" cy="2788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0" name="Google Shape;770;p3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716012" y="4250435"/>
              <a:ext cx="377951" cy="400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1" name="Google Shape;771;p3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888224" y="4364735"/>
              <a:ext cx="231647" cy="2788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2" name="Google Shape;772;p3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914131" y="4250435"/>
              <a:ext cx="294131" cy="4008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3" name="Google Shape;773;p35"/>
          <p:cNvSpPr txBox="1"/>
          <p:nvPr/>
        </p:nvSpPr>
        <p:spPr>
          <a:xfrm>
            <a:off x="7066224" y="4283860"/>
            <a:ext cx="105283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Line 1 (m</a:t>
            </a:r>
            <a:r>
              <a:rPr baseline="-25000" lang="en-US" sz="135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,b</a:t>
            </a:r>
            <a:r>
              <a:rPr baseline="-25000" lang="en-US" sz="135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4" name="Google Shape;774;p3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34783" y="5868923"/>
            <a:ext cx="1577339" cy="513587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35"/>
          <p:cNvSpPr txBox="1"/>
          <p:nvPr/>
        </p:nvSpPr>
        <p:spPr>
          <a:xfrm>
            <a:off x="7165340" y="5918389"/>
            <a:ext cx="12947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Set of models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6" name="Google Shape;776;p35"/>
          <p:cNvGrpSpPr/>
          <p:nvPr/>
        </p:nvGrpSpPr>
        <p:grpSpPr>
          <a:xfrm>
            <a:off x="6992112" y="4672584"/>
            <a:ext cx="1612391" cy="1030223"/>
            <a:chOff x="6992112" y="4672584"/>
            <a:chExt cx="1612391" cy="1030223"/>
          </a:xfrm>
        </p:grpSpPr>
        <p:pic>
          <p:nvPicPr>
            <p:cNvPr id="777" name="Google Shape;777;p3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388352" y="4672584"/>
              <a:ext cx="903731" cy="400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8" name="Google Shape;778;p3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086344" y="4786884"/>
              <a:ext cx="231647" cy="2788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9" name="Google Shape;779;p3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8112252" y="4672584"/>
              <a:ext cx="377951" cy="400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0" name="Google Shape;780;p3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284464" y="4786884"/>
              <a:ext cx="231647" cy="2788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1" name="Google Shape;781;p3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310372" y="4672584"/>
              <a:ext cx="294131" cy="400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2" name="Google Shape;782;p3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472172" y="4986528"/>
              <a:ext cx="579119" cy="400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3" name="Google Shape;783;p3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992112" y="5301996"/>
              <a:ext cx="786383" cy="400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4" name="Google Shape;784;p3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537704" y="5301996"/>
              <a:ext cx="382522" cy="400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5" name="Google Shape;785;p3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714488" y="5417819"/>
              <a:ext cx="246887" cy="2773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6" name="Google Shape;786;p3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755636" y="5301996"/>
              <a:ext cx="377951" cy="400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7" name="Google Shape;787;p3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927847" y="5417819"/>
              <a:ext cx="246887" cy="2773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8" name="Google Shape;788;p35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968996" y="5301996"/>
              <a:ext cx="294131" cy="4008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9" name="Google Shape;789;p35"/>
          <p:cNvSpPr txBox="1"/>
          <p:nvPr/>
        </p:nvSpPr>
        <p:spPr>
          <a:xfrm>
            <a:off x="7066224" y="4605544"/>
            <a:ext cx="1449070" cy="97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025">
            <a:spAutoFit/>
          </a:bodyPr>
          <a:lstStyle/>
          <a:p>
            <a:pPr indent="0" lvl="0" marL="4343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Line 2 (m</a:t>
            </a:r>
            <a:r>
              <a:rPr baseline="-25000" lang="en-US" sz="135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,b</a:t>
            </a:r>
            <a:r>
              <a:rPr baseline="-25000" lang="en-US" sz="135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51689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……..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Line N (m</a:t>
            </a:r>
            <a:r>
              <a:rPr baseline="-25000" lang="en-US" sz="135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,b</a:t>
            </a:r>
            <a:r>
              <a:rPr baseline="-25000" lang="en-US" sz="135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0" name="Google Shape;790;p35"/>
          <p:cNvGrpSpPr/>
          <p:nvPr/>
        </p:nvGrpSpPr>
        <p:grpSpPr>
          <a:xfrm>
            <a:off x="4354067" y="4351020"/>
            <a:ext cx="2389631" cy="827530"/>
            <a:chOff x="4354067" y="4351020"/>
            <a:chExt cx="2389631" cy="827530"/>
          </a:xfrm>
        </p:grpSpPr>
        <p:pic>
          <p:nvPicPr>
            <p:cNvPr id="791" name="Google Shape;791;p35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4605527" y="4863083"/>
              <a:ext cx="1892807" cy="3154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35"/>
            <p:cNvSpPr/>
            <p:nvPr/>
          </p:nvSpPr>
          <p:spPr>
            <a:xfrm>
              <a:off x="4648961" y="4997958"/>
              <a:ext cx="1597025" cy="0"/>
            </a:xfrm>
            <a:custGeom>
              <a:rect b="b" l="l" r="r" t="t"/>
              <a:pathLst>
                <a:path extrusionOk="0" h="120000" w="1597025">
                  <a:moveTo>
                    <a:pt x="0" y="0"/>
                  </a:moveTo>
                  <a:lnTo>
                    <a:pt x="1596745" y="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35"/>
            <p:cNvSpPr/>
            <p:nvPr/>
          </p:nvSpPr>
          <p:spPr>
            <a:xfrm>
              <a:off x="6226663" y="4940802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94" name="Google Shape;794;p35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4354067" y="4351020"/>
              <a:ext cx="238963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5" name="Google Shape;795;p35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4713731" y="4625340"/>
              <a:ext cx="1618487" cy="5135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6" name="Google Shape;796;p35"/>
          <p:cNvSpPr txBox="1"/>
          <p:nvPr/>
        </p:nvSpPr>
        <p:spPr>
          <a:xfrm>
            <a:off x="4484696" y="4400649"/>
            <a:ext cx="205486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0044" lvl="0" marL="37211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Each feature votes for all the models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8" name="Google Shape;798;p3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9" name="Google Shape;799;p3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5" name="Google Shape;805;p3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6" name="Google Shape;806;p3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Hough Transform: </a:t>
            </a:r>
            <a:r>
              <a:rPr lang="en-US"/>
              <a:t>Fitting Models using Voting</a:t>
            </a:r>
            <a:endParaRPr/>
          </a:p>
        </p:txBody>
      </p:sp>
      <p:grpSp>
        <p:nvGrpSpPr>
          <p:cNvPr id="807" name="Google Shape;807;p36"/>
          <p:cNvGrpSpPr/>
          <p:nvPr/>
        </p:nvGrpSpPr>
        <p:grpSpPr>
          <a:xfrm>
            <a:off x="4358640" y="2074164"/>
            <a:ext cx="4439411" cy="789431"/>
            <a:chOff x="4358640" y="2074164"/>
            <a:chExt cx="4439411" cy="789431"/>
          </a:xfrm>
        </p:grpSpPr>
        <p:pic>
          <p:nvPicPr>
            <p:cNvPr id="808" name="Google Shape;808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58640" y="2074164"/>
              <a:ext cx="4439411" cy="7894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9" name="Google Shape;809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0" y="2538984"/>
              <a:ext cx="4012692" cy="609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0" name="Google Shape;810;p36"/>
          <p:cNvSpPr txBox="1"/>
          <p:nvPr/>
        </p:nvSpPr>
        <p:spPr>
          <a:xfrm>
            <a:off x="688340" y="873587"/>
            <a:ext cx="10459720" cy="3877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2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Noise &amp; clutter can be handled easily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508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features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will cast votes too, however, typically their votes should be 	inconsistent with the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majority of	“good” features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1" marL="0" rtl="0" algn="l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Multiple fragments can be detected efficiently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18750"/>
              </a:lnSpc>
              <a:spcBef>
                <a:spcPts val="124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A model can span multiple fragments if	some features are not observed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756285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lang="en-US" sz="21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acceptable)</a:t>
            </a:r>
            <a:endParaRPr sz="21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11" name="Google Shape;811;p3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2" name="Google Shape;812;p3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3" name="Google Shape;813;p3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9" name="Google Shape;819;p3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0" name="Google Shape;820;p37"/>
          <p:cNvSpPr txBox="1"/>
          <p:nvPr>
            <p:ph idx="4294967295" type="title"/>
          </p:nvPr>
        </p:nvSpPr>
        <p:spPr>
          <a:xfrm>
            <a:off x="0" y="153150"/>
            <a:ext cx="121920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2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Hough Transform: </a:t>
            </a:r>
            <a:r>
              <a:rPr lang="en-US">
                <a:solidFill>
                  <a:srgbClr val="00B0F0"/>
                </a:solidFill>
              </a:rPr>
              <a:t>Image space </a:t>
            </a:r>
            <a:r>
              <a:rPr lang="en-US"/>
              <a:t>and </a:t>
            </a:r>
            <a:r>
              <a:rPr lang="en-US">
                <a:solidFill>
                  <a:srgbClr val="00B0F0"/>
                </a:solidFill>
              </a:rPr>
              <a:t>Hough space</a:t>
            </a:r>
            <a:endParaRPr/>
          </a:p>
        </p:txBody>
      </p:sp>
      <p:grpSp>
        <p:nvGrpSpPr>
          <p:cNvPr id="821" name="Google Shape;821;p37"/>
          <p:cNvGrpSpPr/>
          <p:nvPr/>
        </p:nvGrpSpPr>
        <p:grpSpPr>
          <a:xfrm>
            <a:off x="952500" y="4625340"/>
            <a:ext cx="9444227" cy="792479"/>
            <a:chOff x="952500" y="4625340"/>
            <a:chExt cx="9444227" cy="792479"/>
          </a:xfrm>
        </p:grpSpPr>
        <p:pic>
          <p:nvPicPr>
            <p:cNvPr id="822" name="Google Shape;822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00" y="4637532"/>
              <a:ext cx="637031" cy="736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3" name="Google Shape;823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3772" y="4625352"/>
              <a:ext cx="3419855" cy="7894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4" name="Google Shape;824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37131" y="5093207"/>
              <a:ext cx="2993135" cy="609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5" name="Google Shape;825;p3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68724" y="4628388"/>
              <a:ext cx="2711195" cy="7894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6" name="Google Shape;826;p3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10528" y="4625340"/>
              <a:ext cx="1650491" cy="7894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7" name="Google Shape;827;p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723888" y="5093208"/>
              <a:ext cx="1223771" cy="609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8" name="Google Shape;828;p3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91628" y="4628388"/>
              <a:ext cx="2705099" cy="7894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9" name="Google Shape;829;p37"/>
          <p:cNvGrpSpPr/>
          <p:nvPr/>
        </p:nvGrpSpPr>
        <p:grpSpPr>
          <a:xfrm>
            <a:off x="2781305" y="1219198"/>
            <a:ext cx="2095496" cy="1866899"/>
            <a:chOff x="2781305" y="1219198"/>
            <a:chExt cx="2095496" cy="1866899"/>
          </a:xfrm>
        </p:grpSpPr>
        <p:sp>
          <p:nvSpPr>
            <p:cNvPr id="830" name="Google Shape;830;p37"/>
            <p:cNvSpPr/>
            <p:nvPr/>
          </p:nvSpPr>
          <p:spPr>
            <a:xfrm>
              <a:off x="2819399" y="1282700"/>
              <a:ext cx="0" cy="1765300"/>
            </a:xfrm>
            <a:custGeom>
              <a:rect b="b" l="l" r="r" t="t"/>
              <a:pathLst>
                <a:path extrusionOk="0" h="1765300" w="120000">
                  <a:moveTo>
                    <a:pt x="0" y="17653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1" name="Google Shape;831;p37"/>
            <p:cNvSpPr/>
            <p:nvPr/>
          </p:nvSpPr>
          <p:spPr>
            <a:xfrm>
              <a:off x="2781305" y="121919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2" name="Google Shape;832;p37"/>
            <p:cNvSpPr/>
            <p:nvPr/>
          </p:nvSpPr>
          <p:spPr>
            <a:xfrm>
              <a:off x="2819399" y="3048000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3" name="Google Shape;833;p37"/>
            <p:cNvSpPr/>
            <p:nvPr/>
          </p:nvSpPr>
          <p:spPr>
            <a:xfrm>
              <a:off x="4800601" y="300989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34" name="Google Shape;834;p37"/>
          <p:cNvSpPr txBox="1"/>
          <p:nvPr/>
        </p:nvSpPr>
        <p:spPr>
          <a:xfrm>
            <a:off x="4726940" y="3064256"/>
            <a:ext cx="13589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5" name="Google Shape;835;p37"/>
          <p:cNvGrpSpPr/>
          <p:nvPr/>
        </p:nvGrpSpPr>
        <p:grpSpPr>
          <a:xfrm>
            <a:off x="3201161" y="1755648"/>
            <a:ext cx="1751838" cy="759714"/>
            <a:chOff x="3201161" y="1755648"/>
            <a:chExt cx="1751838" cy="759714"/>
          </a:xfrm>
        </p:grpSpPr>
        <p:sp>
          <p:nvSpPr>
            <p:cNvPr id="836" name="Google Shape;836;p37"/>
            <p:cNvSpPr/>
            <p:nvPr/>
          </p:nvSpPr>
          <p:spPr>
            <a:xfrm>
              <a:off x="3201161" y="1981962"/>
              <a:ext cx="1447800" cy="533400"/>
            </a:xfrm>
            <a:custGeom>
              <a:rect b="b" l="l" r="r" t="t"/>
              <a:pathLst>
                <a:path extrusionOk="0" h="533400" w="1447800">
                  <a:moveTo>
                    <a:pt x="0" y="533400"/>
                  </a:moveTo>
                  <a:lnTo>
                    <a:pt x="1447800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37" name="Google Shape;837;p3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398520" y="1755648"/>
              <a:ext cx="1554479" cy="2255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8" name="Google Shape;838;p37"/>
          <p:cNvGrpSpPr/>
          <p:nvPr/>
        </p:nvGrpSpPr>
        <p:grpSpPr>
          <a:xfrm>
            <a:off x="6940299" y="1219198"/>
            <a:ext cx="2095498" cy="1866899"/>
            <a:chOff x="6940299" y="1219198"/>
            <a:chExt cx="2095498" cy="1866899"/>
          </a:xfrm>
        </p:grpSpPr>
        <p:sp>
          <p:nvSpPr>
            <p:cNvPr id="839" name="Google Shape;839;p37"/>
            <p:cNvSpPr/>
            <p:nvPr/>
          </p:nvSpPr>
          <p:spPr>
            <a:xfrm>
              <a:off x="6978395" y="1282700"/>
              <a:ext cx="0" cy="1765300"/>
            </a:xfrm>
            <a:custGeom>
              <a:rect b="b" l="l" r="r" t="t"/>
              <a:pathLst>
                <a:path extrusionOk="0" h="1765300" w="120000">
                  <a:moveTo>
                    <a:pt x="0" y="17653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37"/>
            <p:cNvSpPr/>
            <p:nvPr/>
          </p:nvSpPr>
          <p:spPr>
            <a:xfrm>
              <a:off x="6940299" y="121919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1" name="Google Shape;841;p37"/>
            <p:cNvSpPr/>
            <p:nvPr/>
          </p:nvSpPr>
          <p:spPr>
            <a:xfrm>
              <a:off x="6978395" y="3048000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2" name="Google Shape;842;p37"/>
            <p:cNvSpPr/>
            <p:nvPr/>
          </p:nvSpPr>
          <p:spPr>
            <a:xfrm>
              <a:off x="8959597" y="300989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43" name="Google Shape;843;p37"/>
          <p:cNvSpPr txBox="1"/>
          <p:nvPr/>
        </p:nvSpPr>
        <p:spPr>
          <a:xfrm>
            <a:off x="8886190" y="3064257"/>
            <a:ext cx="22923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7"/>
          <p:cNvSpPr txBox="1"/>
          <p:nvPr/>
        </p:nvSpPr>
        <p:spPr>
          <a:xfrm>
            <a:off x="2561585" y="1130758"/>
            <a:ext cx="430593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y	b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5" name="Google Shape;845;p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34237" y="2586037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37"/>
          <p:cNvSpPr txBox="1"/>
          <p:nvPr/>
        </p:nvSpPr>
        <p:spPr>
          <a:xfrm>
            <a:off x="7673340" y="3048382"/>
            <a:ext cx="36322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aseline="-25000" i="1" lang="en-US" sz="1950"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7"/>
          <p:cNvSpPr txBox="1"/>
          <p:nvPr/>
        </p:nvSpPr>
        <p:spPr>
          <a:xfrm>
            <a:off x="688346" y="3366009"/>
            <a:ext cx="9613265" cy="2670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74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Image space	Hough (parameter) space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Connection between image (x, y) &amp; Hough (m, b) spaces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b="1" lang="en-US" sz="2800" u="sng">
                <a:latin typeface="Bell MT"/>
                <a:ea typeface="Bell MT"/>
                <a:cs typeface="Bell MT"/>
                <a:sym typeface="Bell MT"/>
              </a:rPr>
              <a:t>A line in the image</a:t>
            </a:r>
            <a:r>
              <a:rPr b="1" lang="en-US" sz="28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corresponds to </a:t>
            </a:r>
            <a:r>
              <a:rPr b="1" lang="en-US" sz="2800" u="sng">
                <a:latin typeface="Bell MT"/>
                <a:ea typeface="Bell MT"/>
                <a:cs typeface="Bell MT"/>
                <a:sym typeface="Bell MT"/>
              </a:rPr>
              <a:t>a point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in Hough space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To go from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image space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to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Hough space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given a set of points (x, y), find all (m, b) such that y = mx + b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48" name="Google Shape;848;p37"/>
          <p:cNvSpPr txBox="1"/>
          <p:nvPr/>
        </p:nvSpPr>
        <p:spPr>
          <a:xfrm>
            <a:off x="6597015" y="2426082"/>
            <a:ext cx="29337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-25000" i="1" lang="en-US" sz="1950"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9" name="Google Shape;849;p37"/>
          <p:cNvGrpSpPr/>
          <p:nvPr/>
        </p:nvGrpSpPr>
        <p:grpSpPr>
          <a:xfrm>
            <a:off x="5334000" y="2124068"/>
            <a:ext cx="915026" cy="171450"/>
            <a:chOff x="5334000" y="2124068"/>
            <a:chExt cx="915026" cy="171450"/>
          </a:xfrm>
        </p:grpSpPr>
        <p:sp>
          <p:nvSpPr>
            <p:cNvPr id="850" name="Google Shape;850;p37"/>
            <p:cNvSpPr/>
            <p:nvPr/>
          </p:nvSpPr>
          <p:spPr>
            <a:xfrm>
              <a:off x="5334000" y="2209799"/>
              <a:ext cx="771525" cy="0"/>
            </a:xfrm>
            <a:custGeom>
              <a:rect b="b" l="l" r="r" t="t"/>
              <a:pathLst>
                <a:path extrusionOk="0" h="120000" w="771525">
                  <a:moveTo>
                    <a:pt x="0" y="0"/>
                  </a:moveTo>
                  <a:lnTo>
                    <a:pt x="771525" y="0"/>
                  </a:lnTo>
                </a:path>
              </a:pathLst>
            </a:custGeom>
            <a:noFill/>
            <a:ln cap="flat" cmpd="sng" w="571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37"/>
            <p:cNvSpPr/>
            <p:nvPr/>
          </p:nvSpPr>
          <p:spPr>
            <a:xfrm>
              <a:off x="6076941" y="2124068"/>
              <a:ext cx="172085" cy="171450"/>
            </a:xfrm>
            <a:custGeom>
              <a:rect b="b" l="l" r="r" t="t"/>
              <a:pathLst>
                <a:path extrusionOk="0" h="171450" w="172085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52" name="Google Shape;852;p3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3" name="Google Shape;853;p3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4" name="Google Shape;854;p3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0" name="Google Shape;860;p3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1" name="Google Shape;861;p38"/>
          <p:cNvSpPr txBox="1"/>
          <p:nvPr>
            <p:ph idx="4294967295" type="title"/>
          </p:nvPr>
        </p:nvSpPr>
        <p:spPr>
          <a:xfrm>
            <a:off x="0" y="153150"/>
            <a:ext cx="121920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 Lines in an Image: </a:t>
            </a:r>
            <a:r>
              <a:rPr lang="en-US">
                <a:solidFill>
                  <a:srgbClr val="00B0F0"/>
                </a:solidFill>
              </a:rPr>
              <a:t>Hough Algorithm</a:t>
            </a:r>
            <a:endParaRPr/>
          </a:p>
        </p:txBody>
      </p:sp>
      <p:sp>
        <p:nvSpPr>
          <p:cNvPr id="862" name="Google Shape;862;p38"/>
          <p:cNvSpPr txBox="1"/>
          <p:nvPr/>
        </p:nvSpPr>
        <p:spPr>
          <a:xfrm>
            <a:off x="612156" y="3876281"/>
            <a:ext cx="11150100" cy="25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4965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How can we use </a:t>
            </a:r>
            <a:r>
              <a:rPr b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this to find the most likely parameters (m, b) </a:t>
            </a: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for the most prominent line in the image space?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Each edge point in image space </a:t>
            </a:r>
            <a:r>
              <a:rPr i="1" lang="en-US" sz="24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vote</a:t>
            </a:r>
            <a:r>
              <a:rPr i="1" lang="en-US" sz="24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for a </a:t>
            </a:r>
            <a:r>
              <a:rPr lang="en-US" sz="2400" u="sng">
                <a:latin typeface="Bell MT"/>
                <a:ea typeface="Bell MT"/>
                <a:cs typeface="Bell MT"/>
                <a:sym typeface="Bell MT"/>
              </a:rPr>
              <a:t>set of	possible parameters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 in Hough space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Accumulate votes in discrete set of	bins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Parameters with </a:t>
            </a:r>
            <a:r>
              <a:rPr lang="en-US" sz="24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lots of votes</a:t>
            </a:r>
            <a:r>
              <a:rPr lang="en-US" sz="24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indicate lines in image space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863" name="Google Shape;863;p38"/>
          <p:cNvGrpSpPr/>
          <p:nvPr/>
        </p:nvGrpSpPr>
        <p:grpSpPr>
          <a:xfrm>
            <a:off x="2781305" y="1219198"/>
            <a:ext cx="2095496" cy="1866899"/>
            <a:chOff x="2781305" y="1219198"/>
            <a:chExt cx="2095496" cy="1866899"/>
          </a:xfrm>
        </p:grpSpPr>
        <p:sp>
          <p:nvSpPr>
            <p:cNvPr id="864" name="Google Shape;864;p38"/>
            <p:cNvSpPr/>
            <p:nvPr/>
          </p:nvSpPr>
          <p:spPr>
            <a:xfrm>
              <a:off x="2819399" y="1282700"/>
              <a:ext cx="0" cy="1765300"/>
            </a:xfrm>
            <a:custGeom>
              <a:rect b="b" l="l" r="r" t="t"/>
              <a:pathLst>
                <a:path extrusionOk="0" h="1765300" w="120000">
                  <a:moveTo>
                    <a:pt x="0" y="17653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5" name="Google Shape;865;p38"/>
            <p:cNvSpPr/>
            <p:nvPr/>
          </p:nvSpPr>
          <p:spPr>
            <a:xfrm>
              <a:off x="2781305" y="121919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6" name="Google Shape;866;p38"/>
            <p:cNvSpPr/>
            <p:nvPr/>
          </p:nvSpPr>
          <p:spPr>
            <a:xfrm>
              <a:off x="2819399" y="3048000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7" name="Google Shape;867;p38"/>
            <p:cNvSpPr/>
            <p:nvPr/>
          </p:nvSpPr>
          <p:spPr>
            <a:xfrm>
              <a:off x="4800601" y="300989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68" name="Google Shape;868;p38"/>
          <p:cNvSpPr txBox="1"/>
          <p:nvPr/>
        </p:nvSpPr>
        <p:spPr>
          <a:xfrm>
            <a:off x="4726940" y="3064256"/>
            <a:ext cx="13589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8"/>
          <p:cNvSpPr txBox="1"/>
          <p:nvPr/>
        </p:nvSpPr>
        <p:spPr>
          <a:xfrm>
            <a:off x="2561585" y="1130758"/>
            <a:ext cx="430593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y	b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0" name="Google Shape;870;p38"/>
          <p:cNvGrpSpPr/>
          <p:nvPr/>
        </p:nvGrpSpPr>
        <p:grpSpPr>
          <a:xfrm>
            <a:off x="6940299" y="1219198"/>
            <a:ext cx="2095498" cy="1866899"/>
            <a:chOff x="6940299" y="1219198"/>
            <a:chExt cx="2095498" cy="1866899"/>
          </a:xfrm>
        </p:grpSpPr>
        <p:sp>
          <p:nvSpPr>
            <p:cNvPr id="871" name="Google Shape;871;p38"/>
            <p:cNvSpPr/>
            <p:nvPr/>
          </p:nvSpPr>
          <p:spPr>
            <a:xfrm>
              <a:off x="6978395" y="1282700"/>
              <a:ext cx="0" cy="1765300"/>
            </a:xfrm>
            <a:custGeom>
              <a:rect b="b" l="l" r="r" t="t"/>
              <a:pathLst>
                <a:path extrusionOk="0" h="1765300" w="120000">
                  <a:moveTo>
                    <a:pt x="0" y="17653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2" name="Google Shape;872;p38"/>
            <p:cNvSpPr/>
            <p:nvPr/>
          </p:nvSpPr>
          <p:spPr>
            <a:xfrm>
              <a:off x="6940299" y="121919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3" name="Google Shape;873;p38"/>
            <p:cNvSpPr/>
            <p:nvPr/>
          </p:nvSpPr>
          <p:spPr>
            <a:xfrm>
              <a:off x="6978395" y="3048000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4" name="Google Shape;874;p38"/>
            <p:cNvSpPr/>
            <p:nvPr/>
          </p:nvSpPr>
          <p:spPr>
            <a:xfrm>
              <a:off x="8959597" y="300989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75" name="Google Shape;875;p38"/>
          <p:cNvSpPr txBox="1"/>
          <p:nvPr/>
        </p:nvSpPr>
        <p:spPr>
          <a:xfrm>
            <a:off x="6479541" y="3064257"/>
            <a:ext cx="3170555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418715" rtl="0" algn="l">
              <a:lnSpc>
                <a:spcPct val="118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Hough (parameter) space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6" name="Google Shape;876;p38"/>
          <p:cNvGrpSpPr/>
          <p:nvPr/>
        </p:nvGrpSpPr>
        <p:grpSpPr>
          <a:xfrm>
            <a:off x="3024949" y="1522285"/>
            <a:ext cx="1359789" cy="539877"/>
            <a:chOff x="3024949" y="1522285"/>
            <a:chExt cx="1359789" cy="539877"/>
          </a:xfrm>
        </p:grpSpPr>
        <p:pic>
          <p:nvPicPr>
            <p:cNvPr id="877" name="Google Shape;877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48037" y="1824037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8" name="Google Shape;878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81437" y="1595437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9" name="Google Shape;879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24949" y="1976437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0" name="Google Shape;88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99013" y="1522285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1" name="Google Shape;881;p38"/>
          <p:cNvSpPr txBox="1"/>
          <p:nvPr/>
        </p:nvSpPr>
        <p:spPr>
          <a:xfrm>
            <a:off x="3050541" y="3361542"/>
            <a:ext cx="15582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Image space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2" name="Google Shape;882;p38"/>
          <p:cNvGrpSpPr/>
          <p:nvPr/>
        </p:nvGrpSpPr>
        <p:grpSpPr>
          <a:xfrm>
            <a:off x="5334000" y="2124068"/>
            <a:ext cx="915026" cy="171450"/>
            <a:chOff x="5334000" y="2124068"/>
            <a:chExt cx="915026" cy="171450"/>
          </a:xfrm>
        </p:grpSpPr>
        <p:sp>
          <p:nvSpPr>
            <p:cNvPr id="883" name="Google Shape;883;p38"/>
            <p:cNvSpPr/>
            <p:nvPr/>
          </p:nvSpPr>
          <p:spPr>
            <a:xfrm>
              <a:off x="5334000" y="2209799"/>
              <a:ext cx="771525" cy="0"/>
            </a:xfrm>
            <a:custGeom>
              <a:rect b="b" l="l" r="r" t="t"/>
              <a:pathLst>
                <a:path extrusionOk="0" h="120000" w="771525">
                  <a:moveTo>
                    <a:pt x="0" y="0"/>
                  </a:moveTo>
                  <a:lnTo>
                    <a:pt x="771525" y="0"/>
                  </a:lnTo>
                </a:path>
              </a:pathLst>
            </a:custGeom>
            <a:noFill/>
            <a:ln cap="flat" cmpd="sng" w="571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4" name="Google Shape;884;p38"/>
            <p:cNvSpPr/>
            <p:nvPr/>
          </p:nvSpPr>
          <p:spPr>
            <a:xfrm>
              <a:off x="6076941" y="2124068"/>
              <a:ext cx="172085" cy="171450"/>
            </a:xfrm>
            <a:custGeom>
              <a:rect b="b" l="l" r="r" t="t"/>
              <a:pathLst>
                <a:path extrusionOk="0" h="171450" w="172085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885" name="Google Shape;885;p38"/>
          <p:cNvGrpSpPr/>
          <p:nvPr/>
        </p:nvGrpSpPr>
        <p:grpSpPr>
          <a:xfrm>
            <a:off x="6972300" y="1202436"/>
            <a:ext cx="2336927" cy="1897761"/>
            <a:chOff x="6972300" y="1202436"/>
            <a:chExt cx="2336927" cy="1897761"/>
          </a:xfrm>
        </p:grpSpPr>
        <p:sp>
          <p:nvSpPr>
            <p:cNvPr id="886" name="Google Shape;886;p38"/>
            <p:cNvSpPr/>
            <p:nvPr/>
          </p:nvSpPr>
          <p:spPr>
            <a:xfrm>
              <a:off x="7315961" y="1981962"/>
              <a:ext cx="1447800" cy="533400"/>
            </a:xfrm>
            <a:custGeom>
              <a:rect b="b" l="l" r="r" t="t"/>
              <a:pathLst>
                <a:path extrusionOk="0" h="533400" w="1447800">
                  <a:moveTo>
                    <a:pt x="0" y="0"/>
                  </a:moveTo>
                  <a:lnTo>
                    <a:pt x="1447800" y="53340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7" name="Google Shape;887;p38"/>
            <p:cNvSpPr/>
            <p:nvPr/>
          </p:nvSpPr>
          <p:spPr>
            <a:xfrm>
              <a:off x="7239761" y="2134361"/>
              <a:ext cx="1752600" cy="228600"/>
            </a:xfrm>
            <a:custGeom>
              <a:rect b="b" l="l" r="r" t="t"/>
              <a:pathLst>
                <a:path extrusionOk="0" h="228600" w="1752600">
                  <a:moveTo>
                    <a:pt x="0" y="0"/>
                  </a:moveTo>
                  <a:lnTo>
                    <a:pt x="1752600" y="22860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8" name="Google Shape;888;p38"/>
            <p:cNvSpPr/>
            <p:nvPr/>
          </p:nvSpPr>
          <p:spPr>
            <a:xfrm>
              <a:off x="7338822" y="1896618"/>
              <a:ext cx="1826260" cy="693420"/>
            </a:xfrm>
            <a:custGeom>
              <a:rect b="b" l="l" r="r" t="t"/>
              <a:pathLst>
                <a:path extrusionOk="0" h="693419" w="1826259">
                  <a:moveTo>
                    <a:pt x="0" y="693420"/>
                  </a:moveTo>
                  <a:lnTo>
                    <a:pt x="1825752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9" name="Google Shape;889;p38"/>
            <p:cNvSpPr/>
            <p:nvPr/>
          </p:nvSpPr>
          <p:spPr>
            <a:xfrm>
              <a:off x="7229093" y="2116074"/>
              <a:ext cx="1971039" cy="291465"/>
            </a:xfrm>
            <a:custGeom>
              <a:rect b="b" l="l" r="r" t="t"/>
              <a:pathLst>
                <a:path extrusionOk="0" h="291464" w="1971040">
                  <a:moveTo>
                    <a:pt x="0" y="291084"/>
                  </a:moveTo>
                  <a:lnTo>
                    <a:pt x="1970532" y="0"/>
                  </a:lnTo>
                </a:path>
              </a:pathLst>
            </a:custGeom>
            <a:noFill/>
            <a:ln cap="flat" cmpd="sng" w="190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0" name="Google Shape;890;p38"/>
            <p:cNvSpPr/>
            <p:nvPr/>
          </p:nvSpPr>
          <p:spPr>
            <a:xfrm>
              <a:off x="6972300" y="1239012"/>
              <a:ext cx="2299970" cy="1861185"/>
            </a:xfrm>
            <a:custGeom>
              <a:rect b="b" l="l" r="r" t="t"/>
              <a:pathLst>
                <a:path extrusionOk="0" h="1861185" w="2299970">
                  <a:moveTo>
                    <a:pt x="0" y="0"/>
                  </a:moveTo>
                  <a:lnTo>
                    <a:pt x="2299716" y="0"/>
                  </a:lnTo>
                  <a:lnTo>
                    <a:pt x="2299716" y="1860804"/>
                  </a:lnTo>
                  <a:lnTo>
                    <a:pt x="0" y="186080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1" name="Google Shape;891;p38"/>
            <p:cNvSpPr/>
            <p:nvPr/>
          </p:nvSpPr>
          <p:spPr>
            <a:xfrm>
              <a:off x="7008876" y="1528572"/>
              <a:ext cx="2263775" cy="1905"/>
            </a:xfrm>
            <a:custGeom>
              <a:rect b="b" l="l" r="r" t="t"/>
              <a:pathLst>
                <a:path extrusionOk="0" h="1905" w="2263775">
                  <a:moveTo>
                    <a:pt x="0" y="0"/>
                  </a:moveTo>
                  <a:lnTo>
                    <a:pt x="2263775" y="158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2" name="Google Shape;892;p38"/>
            <p:cNvSpPr/>
            <p:nvPr/>
          </p:nvSpPr>
          <p:spPr>
            <a:xfrm>
              <a:off x="6972300" y="1822704"/>
              <a:ext cx="2263775" cy="1905"/>
            </a:xfrm>
            <a:custGeom>
              <a:rect b="b" l="l" r="r" t="t"/>
              <a:pathLst>
                <a:path extrusionOk="0" h="1905" w="2263775">
                  <a:moveTo>
                    <a:pt x="0" y="0"/>
                  </a:moveTo>
                  <a:lnTo>
                    <a:pt x="2263775" y="158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3" name="Google Shape;893;p38"/>
            <p:cNvSpPr/>
            <p:nvPr/>
          </p:nvSpPr>
          <p:spPr>
            <a:xfrm>
              <a:off x="7045452" y="2115311"/>
              <a:ext cx="2263775" cy="1905"/>
            </a:xfrm>
            <a:custGeom>
              <a:rect b="b" l="l" r="r" t="t"/>
              <a:pathLst>
                <a:path extrusionOk="0" h="1905" w="2263775">
                  <a:moveTo>
                    <a:pt x="0" y="0"/>
                  </a:moveTo>
                  <a:lnTo>
                    <a:pt x="2263775" y="158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4" name="Google Shape;894;p38"/>
            <p:cNvSpPr/>
            <p:nvPr/>
          </p:nvSpPr>
          <p:spPr>
            <a:xfrm>
              <a:off x="7045452" y="2404872"/>
              <a:ext cx="2263775" cy="1905"/>
            </a:xfrm>
            <a:custGeom>
              <a:rect b="b" l="l" r="r" t="t"/>
              <a:pathLst>
                <a:path extrusionOk="0" h="1905" w="2263775">
                  <a:moveTo>
                    <a:pt x="0" y="0"/>
                  </a:moveTo>
                  <a:lnTo>
                    <a:pt x="2263775" y="158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5" name="Google Shape;895;p38"/>
            <p:cNvSpPr/>
            <p:nvPr/>
          </p:nvSpPr>
          <p:spPr>
            <a:xfrm>
              <a:off x="7045452" y="2662427"/>
              <a:ext cx="2263775" cy="1905"/>
            </a:xfrm>
            <a:custGeom>
              <a:rect b="b" l="l" r="r" t="t"/>
              <a:pathLst>
                <a:path extrusionOk="0" h="1905" w="2263775">
                  <a:moveTo>
                    <a:pt x="0" y="0"/>
                  </a:moveTo>
                  <a:lnTo>
                    <a:pt x="2263775" y="158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6" name="Google Shape;896;p38"/>
            <p:cNvSpPr/>
            <p:nvPr/>
          </p:nvSpPr>
          <p:spPr>
            <a:xfrm>
              <a:off x="7045452" y="2953512"/>
              <a:ext cx="2263775" cy="1905"/>
            </a:xfrm>
            <a:custGeom>
              <a:rect b="b" l="l" r="r" t="t"/>
              <a:pathLst>
                <a:path extrusionOk="0" h="1905" w="2263775">
                  <a:moveTo>
                    <a:pt x="0" y="0"/>
                  </a:moveTo>
                  <a:lnTo>
                    <a:pt x="2263775" y="1587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7" name="Google Shape;897;p38"/>
            <p:cNvSpPr/>
            <p:nvPr/>
          </p:nvSpPr>
          <p:spPr>
            <a:xfrm>
              <a:off x="7184137" y="1240536"/>
              <a:ext cx="1905" cy="1825625"/>
            </a:xfrm>
            <a:custGeom>
              <a:rect b="b" l="l" r="r" t="t"/>
              <a:pathLst>
                <a:path extrusionOk="0" h="1825625" w="1904">
                  <a:moveTo>
                    <a:pt x="1587" y="0"/>
                  </a:moveTo>
                  <a:lnTo>
                    <a:pt x="0" y="182562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8" name="Google Shape;898;p38"/>
            <p:cNvSpPr/>
            <p:nvPr/>
          </p:nvSpPr>
          <p:spPr>
            <a:xfrm>
              <a:off x="7548373" y="1239012"/>
              <a:ext cx="1905" cy="1825625"/>
            </a:xfrm>
            <a:custGeom>
              <a:rect b="b" l="l" r="r" t="t"/>
              <a:pathLst>
                <a:path extrusionOk="0" h="1825625" w="1904">
                  <a:moveTo>
                    <a:pt x="1587" y="0"/>
                  </a:moveTo>
                  <a:lnTo>
                    <a:pt x="0" y="182562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9" name="Google Shape;899;p38"/>
            <p:cNvSpPr/>
            <p:nvPr/>
          </p:nvSpPr>
          <p:spPr>
            <a:xfrm>
              <a:off x="7914133" y="1202436"/>
              <a:ext cx="1905" cy="1825625"/>
            </a:xfrm>
            <a:custGeom>
              <a:rect b="b" l="l" r="r" t="t"/>
              <a:pathLst>
                <a:path extrusionOk="0" h="1825625" w="1904">
                  <a:moveTo>
                    <a:pt x="1587" y="0"/>
                  </a:moveTo>
                  <a:lnTo>
                    <a:pt x="0" y="182562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0" name="Google Shape;900;p38"/>
            <p:cNvSpPr/>
            <p:nvPr/>
          </p:nvSpPr>
          <p:spPr>
            <a:xfrm>
              <a:off x="8278369" y="1202436"/>
              <a:ext cx="1905" cy="1825625"/>
            </a:xfrm>
            <a:custGeom>
              <a:rect b="b" l="l" r="r" t="t"/>
              <a:pathLst>
                <a:path extrusionOk="0" h="1825625" w="1904">
                  <a:moveTo>
                    <a:pt x="1587" y="0"/>
                  </a:moveTo>
                  <a:lnTo>
                    <a:pt x="0" y="182562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1" name="Google Shape;901;p38"/>
            <p:cNvSpPr/>
            <p:nvPr/>
          </p:nvSpPr>
          <p:spPr>
            <a:xfrm>
              <a:off x="8570977" y="1239012"/>
              <a:ext cx="1905" cy="1825625"/>
            </a:xfrm>
            <a:custGeom>
              <a:rect b="b" l="l" r="r" t="t"/>
              <a:pathLst>
                <a:path extrusionOk="0" h="1825625" w="1904">
                  <a:moveTo>
                    <a:pt x="1587" y="0"/>
                  </a:moveTo>
                  <a:lnTo>
                    <a:pt x="0" y="182562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2" name="Google Shape;902;p38"/>
            <p:cNvSpPr/>
            <p:nvPr/>
          </p:nvSpPr>
          <p:spPr>
            <a:xfrm>
              <a:off x="8935213" y="1239012"/>
              <a:ext cx="1905" cy="1825625"/>
            </a:xfrm>
            <a:custGeom>
              <a:rect b="b" l="l" r="r" t="t"/>
              <a:pathLst>
                <a:path extrusionOk="0" h="1825625" w="1904">
                  <a:moveTo>
                    <a:pt x="1587" y="0"/>
                  </a:moveTo>
                  <a:lnTo>
                    <a:pt x="0" y="1825625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03" name="Google Shape;903;p3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4" name="Google Shape;904;p3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5" name="Google Shape;905;p3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1" name="Google Shape;911;p3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2" name="Google Shape;912;p3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Hough Transform for Circles</a:t>
            </a:r>
            <a:endParaRPr/>
          </a:p>
        </p:txBody>
      </p:sp>
      <p:sp>
        <p:nvSpPr>
          <p:cNvPr id="913" name="Google Shape;913;p39"/>
          <p:cNvSpPr txBox="1"/>
          <p:nvPr/>
        </p:nvSpPr>
        <p:spPr>
          <a:xfrm>
            <a:off x="3204527" y="6047294"/>
            <a:ext cx="11645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Image space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14" name="Google Shape;91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1344" y="3081528"/>
            <a:ext cx="3726305" cy="3086099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39"/>
          <p:cNvSpPr txBox="1"/>
          <p:nvPr/>
        </p:nvSpPr>
        <p:spPr>
          <a:xfrm>
            <a:off x="7671752" y="6018719"/>
            <a:ext cx="12236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Hough space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916" name="Google Shape;916;p39"/>
          <p:cNvGrpSpPr/>
          <p:nvPr/>
        </p:nvGrpSpPr>
        <p:grpSpPr>
          <a:xfrm>
            <a:off x="6996203" y="3092283"/>
            <a:ext cx="2973413" cy="2870649"/>
            <a:chOff x="6996203" y="3092283"/>
            <a:chExt cx="2973413" cy="2870649"/>
          </a:xfrm>
        </p:grpSpPr>
        <p:sp>
          <p:nvSpPr>
            <p:cNvPr id="917" name="Google Shape;917;p39"/>
            <p:cNvSpPr/>
            <p:nvPr/>
          </p:nvSpPr>
          <p:spPr>
            <a:xfrm>
              <a:off x="7046215" y="3092283"/>
              <a:ext cx="0" cy="2820035"/>
            </a:xfrm>
            <a:custGeom>
              <a:rect b="b" l="l" r="r" t="t"/>
              <a:pathLst>
                <a:path extrusionOk="0" h="2820035" w="120000">
                  <a:moveTo>
                    <a:pt x="0" y="281969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8" name="Google Shape;918;p39"/>
            <p:cNvSpPr/>
            <p:nvPr/>
          </p:nvSpPr>
          <p:spPr>
            <a:xfrm>
              <a:off x="6996203" y="3092288"/>
              <a:ext cx="100330" cy="85725"/>
            </a:xfrm>
            <a:custGeom>
              <a:rect b="b" l="l" r="r" t="t"/>
              <a:pathLst>
                <a:path extrusionOk="0" h="85725" w="100329">
                  <a:moveTo>
                    <a:pt x="0" y="85725"/>
                  </a:moveTo>
                  <a:lnTo>
                    <a:pt x="50012" y="0"/>
                  </a:lnTo>
                  <a:lnTo>
                    <a:pt x="100012" y="85725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9" name="Google Shape;919;p39"/>
            <p:cNvSpPr/>
            <p:nvPr/>
          </p:nvSpPr>
          <p:spPr>
            <a:xfrm>
              <a:off x="7046214" y="5912421"/>
              <a:ext cx="2922905" cy="6350"/>
            </a:xfrm>
            <a:custGeom>
              <a:rect b="b" l="l" r="r" t="t"/>
              <a:pathLst>
                <a:path extrusionOk="0" h="6350" w="2922904">
                  <a:moveTo>
                    <a:pt x="0" y="6286"/>
                  </a:moveTo>
                  <a:lnTo>
                    <a:pt x="2922879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0" name="Google Shape;920;p39"/>
            <p:cNvSpPr/>
            <p:nvPr/>
          </p:nvSpPr>
          <p:spPr>
            <a:xfrm>
              <a:off x="9883256" y="5862602"/>
              <a:ext cx="86360" cy="100330"/>
            </a:xfrm>
            <a:custGeom>
              <a:rect b="b" l="l" r="r" t="t"/>
              <a:pathLst>
                <a:path extrusionOk="0" h="100329" w="86359">
                  <a:moveTo>
                    <a:pt x="215" y="100012"/>
                  </a:moveTo>
                  <a:lnTo>
                    <a:pt x="85826" y="49822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21" name="Google Shape;921;p39"/>
          <p:cNvSpPr txBox="1"/>
          <p:nvPr/>
        </p:nvSpPr>
        <p:spPr>
          <a:xfrm>
            <a:off x="9696063" y="5815214"/>
            <a:ext cx="26098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7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3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2" name="Google Shape;922;p39"/>
          <p:cNvSpPr txBox="1"/>
          <p:nvPr/>
        </p:nvSpPr>
        <p:spPr>
          <a:xfrm>
            <a:off x="637540" y="799449"/>
            <a:ext cx="8632825" cy="274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850">
            <a:spAutoFit/>
          </a:bodyPr>
          <a:lstStyle/>
          <a:p>
            <a:pPr indent="-342265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Circle: center (a, b) and radius r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3440429" rtl="0" algn="l">
              <a:lnSpc>
                <a:spcPct val="93396"/>
              </a:lnSpc>
              <a:spcBef>
                <a:spcPts val="1750"/>
              </a:spcBef>
              <a:spcAft>
                <a:spcPts val="0"/>
              </a:spcAft>
              <a:buNone/>
            </a:pP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x	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(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y	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 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3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17500" rtl="0" algn="ctr">
              <a:lnSpc>
                <a:spcPct val="745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latin typeface="Times New Roman"/>
                <a:ea typeface="Times New Roman"/>
                <a:cs typeface="Times New Roman"/>
                <a:sym typeface="Times New Roman"/>
              </a:rPr>
              <a:t>i	i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For a </a:t>
            </a:r>
            <a:r>
              <a:rPr b="1"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fixed radius r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, unknown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gradient direction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2473325" rtl="0" algn="r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None/>
            </a:pPr>
            <a:r>
              <a:rPr i="1" lang="en-US" sz="37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3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39"/>
          <p:cNvSpPr/>
          <p:nvPr/>
        </p:nvSpPr>
        <p:spPr>
          <a:xfrm>
            <a:off x="3686555" y="4561332"/>
            <a:ext cx="693420" cy="437515"/>
          </a:xfrm>
          <a:custGeom>
            <a:rect b="b" l="l" r="r" t="t"/>
            <a:pathLst>
              <a:path extrusionOk="0" h="437514" w="693420">
                <a:moveTo>
                  <a:pt x="346710" y="0"/>
                </a:moveTo>
                <a:lnTo>
                  <a:pt x="290472" y="2862"/>
                </a:lnTo>
                <a:lnTo>
                  <a:pt x="237124" y="11149"/>
                </a:lnTo>
                <a:lnTo>
                  <a:pt x="187378" y="24411"/>
                </a:lnTo>
                <a:lnTo>
                  <a:pt x="141949" y="42196"/>
                </a:lnTo>
                <a:lnTo>
                  <a:pt x="101550" y="64055"/>
                </a:lnTo>
                <a:lnTo>
                  <a:pt x="66896" y="89538"/>
                </a:lnTo>
                <a:lnTo>
                  <a:pt x="38700" y="118193"/>
                </a:lnTo>
                <a:lnTo>
                  <a:pt x="4537" y="183221"/>
                </a:lnTo>
                <a:lnTo>
                  <a:pt x="0" y="218694"/>
                </a:lnTo>
                <a:lnTo>
                  <a:pt x="4537" y="254166"/>
                </a:lnTo>
                <a:lnTo>
                  <a:pt x="38700" y="319194"/>
                </a:lnTo>
                <a:lnTo>
                  <a:pt x="66896" y="347849"/>
                </a:lnTo>
                <a:lnTo>
                  <a:pt x="101550" y="373332"/>
                </a:lnTo>
                <a:lnTo>
                  <a:pt x="141949" y="395191"/>
                </a:lnTo>
                <a:lnTo>
                  <a:pt x="187378" y="412976"/>
                </a:lnTo>
                <a:lnTo>
                  <a:pt x="237124" y="426238"/>
                </a:lnTo>
                <a:lnTo>
                  <a:pt x="290472" y="434525"/>
                </a:lnTo>
                <a:lnTo>
                  <a:pt x="346710" y="437388"/>
                </a:lnTo>
                <a:lnTo>
                  <a:pt x="402947" y="434525"/>
                </a:lnTo>
                <a:lnTo>
                  <a:pt x="456295" y="426238"/>
                </a:lnTo>
                <a:lnTo>
                  <a:pt x="506041" y="412976"/>
                </a:lnTo>
                <a:lnTo>
                  <a:pt x="551470" y="395191"/>
                </a:lnTo>
                <a:lnTo>
                  <a:pt x="591869" y="373332"/>
                </a:lnTo>
                <a:lnTo>
                  <a:pt x="626523" y="347849"/>
                </a:lnTo>
                <a:lnTo>
                  <a:pt x="654719" y="319194"/>
                </a:lnTo>
                <a:lnTo>
                  <a:pt x="688882" y="254166"/>
                </a:lnTo>
                <a:lnTo>
                  <a:pt x="693420" y="218694"/>
                </a:lnTo>
                <a:lnTo>
                  <a:pt x="688882" y="183221"/>
                </a:lnTo>
                <a:lnTo>
                  <a:pt x="654719" y="118193"/>
                </a:lnTo>
                <a:lnTo>
                  <a:pt x="626523" y="89538"/>
                </a:lnTo>
                <a:lnTo>
                  <a:pt x="591869" y="64055"/>
                </a:lnTo>
                <a:lnTo>
                  <a:pt x="551470" y="42196"/>
                </a:lnTo>
                <a:lnTo>
                  <a:pt x="506041" y="24411"/>
                </a:lnTo>
                <a:lnTo>
                  <a:pt x="456295" y="11149"/>
                </a:lnTo>
                <a:lnTo>
                  <a:pt x="402947" y="2862"/>
                </a:lnTo>
                <a:lnTo>
                  <a:pt x="3467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4" name="Google Shape;924;p3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5" name="Google Shape;925;p3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6" name="Google Shape;926;p3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2" name="Google Shape;932;p4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3" name="Google Shape;933;p40"/>
          <p:cNvSpPr txBox="1"/>
          <p:nvPr>
            <p:ph idx="4294967295" type="title"/>
          </p:nvPr>
        </p:nvSpPr>
        <p:spPr>
          <a:xfrm>
            <a:off x="0" y="153150"/>
            <a:ext cx="12192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Hough Transform for Circles</a:t>
            </a:r>
            <a:endParaRPr sz="4400"/>
          </a:p>
        </p:txBody>
      </p:sp>
      <p:sp>
        <p:nvSpPr>
          <p:cNvPr id="934" name="Google Shape;934;p40"/>
          <p:cNvSpPr txBox="1"/>
          <p:nvPr/>
        </p:nvSpPr>
        <p:spPr>
          <a:xfrm>
            <a:off x="2875860" y="6104256"/>
            <a:ext cx="11772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Image space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5" name="Google Shape;93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5069" y="3138678"/>
            <a:ext cx="3553397" cy="2926079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40"/>
          <p:cNvSpPr txBox="1"/>
          <p:nvPr/>
        </p:nvSpPr>
        <p:spPr>
          <a:xfrm>
            <a:off x="7343084" y="6075681"/>
            <a:ext cx="121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Hough space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7" name="Google Shape;937;p40"/>
          <p:cNvGrpSpPr/>
          <p:nvPr/>
        </p:nvGrpSpPr>
        <p:grpSpPr>
          <a:xfrm>
            <a:off x="3357371" y="3081528"/>
            <a:ext cx="6134099" cy="3086099"/>
            <a:chOff x="3357371" y="3081528"/>
            <a:chExt cx="6134099" cy="3086099"/>
          </a:xfrm>
        </p:grpSpPr>
        <p:pic>
          <p:nvPicPr>
            <p:cNvPr id="938" name="Google Shape;938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03391" y="3081528"/>
              <a:ext cx="3688079" cy="3086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9" name="Google Shape;939;p40"/>
            <p:cNvSpPr/>
            <p:nvPr/>
          </p:nvSpPr>
          <p:spPr>
            <a:xfrm>
              <a:off x="3357371" y="4561332"/>
              <a:ext cx="693420" cy="437515"/>
            </a:xfrm>
            <a:custGeom>
              <a:rect b="b" l="l" r="r" t="t"/>
              <a:pathLst>
                <a:path extrusionOk="0" h="437514" w="693420">
                  <a:moveTo>
                    <a:pt x="346710" y="0"/>
                  </a:moveTo>
                  <a:lnTo>
                    <a:pt x="290472" y="2862"/>
                  </a:lnTo>
                  <a:lnTo>
                    <a:pt x="237124" y="11149"/>
                  </a:lnTo>
                  <a:lnTo>
                    <a:pt x="187378" y="24411"/>
                  </a:lnTo>
                  <a:lnTo>
                    <a:pt x="141949" y="42196"/>
                  </a:lnTo>
                  <a:lnTo>
                    <a:pt x="101550" y="64055"/>
                  </a:lnTo>
                  <a:lnTo>
                    <a:pt x="66896" y="89538"/>
                  </a:lnTo>
                  <a:lnTo>
                    <a:pt x="38700" y="118193"/>
                  </a:lnTo>
                  <a:lnTo>
                    <a:pt x="4537" y="183221"/>
                  </a:lnTo>
                  <a:lnTo>
                    <a:pt x="0" y="218694"/>
                  </a:lnTo>
                  <a:lnTo>
                    <a:pt x="4537" y="254166"/>
                  </a:lnTo>
                  <a:lnTo>
                    <a:pt x="38700" y="319194"/>
                  </a:lnTo>
                  <a:lnTo>
                    <a:pt x="66896" y="347849"/>
                  </a:lnTo>
                  <a:lnTo>
                    <a:pt x="101550" y="373332"/>
                  </a:lnTo>
                  <a:lnTo>
                    <a:pt x="141949" y="395191"/>
                  </a:lnTo>
                  <a:lnTo>
                    <a:pt x="187378" y="412976"/>
                  </a:lnTo>
                  <a:lnTo>
                    <a:pt x="237124" y="426238"/>
                  </a:lnTo>
                  <a:lnTo>
                    <a:pt x="290472" y="434525"/>
                  </a:lnTo>
                  <a:lnTo>
                    <a:pt x="346710" y="437388"/>
                  </a:lnTo>
                  <a:lnTo>
                    <a:pt x="402947" y="434525"/>
                  </a:lnTo>
                  <a:lnTo>
                    <a:pt x="456295" y="426238"/>
                  </a:lnTo>
                  <a:lnTo>
                    <a:pt x="506041" y="412976"/>
                  </a:lnTo>
                  <a:lnTo>
                    <a:pt x="551470" y="395191"/>
                  </a:lnTo>
                  <a:lnTo>
                    <a:pt x="591869" y="373332"/>
                  </a:lnTo>
                  <a:lnTo>
                    <a:pt x="626523" y="347849"/>
                  </a:lnTo>
                  <a:lnTo>
                    <a:pt x="654719" y="319194"/>
                  </a:lnTo>
                  <a:lnTo>
                    <a:pt x="688882" y="254166"/>
                  </a:lnTo>
                  <a:lnTo>
                    <a:pt x="693420" y="218694"/>
                  </a:lnTo>
                  <a:lnTo>
                    <a:pt x="688882" y="183221"/>
                  </a:lnTo>
                  <a:lnTo>
                    <a:pt x="654719" y="118193"/>
                  </a:lnTo>
                  <a:lnTo>
                    <a:pt x="626523" y="89538"/>
                  </a:lnTo>
                  <a:lnTo>
                    <a:pt x="591869" y="64055"/>
                  </a:lnTo>
                  <a:lnTo>
                    <a:pt x="551470" y="42196"/>
                  </a:lnTo>
                  <a:lnTo>
                    <a:pt x="506041" y="24411"/>
                  </a:lnTo>
                  <a:lnTo>
                    <a:pt x="456295" y="11149"/>
                  </a:lnTo>
                  <a:lnTo>
                    <a:pt x="402947" y="2862"/>
                  </a:lnTo>
                  <a:lnTo>
                    <a:pt x="3467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0" name="Google Shape;940;p40"/>
            <p:cNvSpPr/>
            <p:nvPr/>
          </p:nvSpPr>
          <p:spPr>
            <a:xfrm>
              <a:off x="7192517" y="4452366"/>
              <a:ext cx="693420" cy="620395"/>
            </a:xfrm>
            <a:custGeom>
              <a:rect b="b" l="l" r="r" t="t"/>
              <a:pathLst>
                <a:path extrusionOk="0" h="620395" w="693420">
                  <a:moveTo>
                    <a:pt x="0" y="310134"/>
                  </a:moveTo>
                  <a:lnTo>
                    <a:pt x="3759" y="264304"/>
                  </a:lnTo>
                  <a:lnTo>
                    <a:pt x="14679" y="220562"/>
                  </a:lnTo>
                  <a:lnTo>
                    <a:pt x="32224" y="179388"/>
                  </a:lnTo>
                  <a:lnTo>
                    <a:pt x="55858" y="141261"/>
                  </a:lnTo>
                  <a:lnTo>
                    <a:pt x="85043" y="106662"/>
                  </a:lnTo>
                  <a:lnTo>
                    <a:pt x="119244" y="76069"/>
                  </a:lnTo>
                  <a:lnTo>
                    <a:pt x="157924" y="49963"/>
                  </a:lnTo>
                  <a:lnTo>
                    <a:pt x="200547" y="28824"/>
                  </a:lnTo>
                  <a:lnTo>
                    <a:pt x="246577" y="13130"/>
                  </a:lnTo>
                  <a:lnTo>
                    <a:pt x="295476" y="3362"/>
                  </a:lnTo>
                  <a:lnTo>
                    <a:pt x="346710" y="0"/>
                  </a:lnTo>
                  <a:lnTo>
                    <a:pt x="397943" y="3362"/>
                  </a:lnTo>
                  <a:lnTo>
                    <a:pt x="446842" y="13130"/>
                  </a:lnTo>
                  <a:lnTo>
                    <a:pt x="492872" y="28824"/>
                  </a:lnTo>
                  <a:lnTo>
                    <a:pt x="535495" y="49963"/>
                  </a:lnTo>
                  <a:lnTo>
                    <a:pt x="574175" y="76069"/>
                  </a:lnTo>
                  <a:lnTo>
                    <a:pt x="608376" y="106662"/>
                  </a:lnTo>
                  <a:lnTo>
                    <a:pt x="637561" y="141261"/>
                  </a:lnTo>
                  <a:lnTo>
                    <a:pt x="661195" y="179388"/>
                  </a:lnTo>
                  <a:lnTo>
                    <a:pt x="678740" y="220562"/>
                  </a:lnTo>
                  <a:lnTo>
                    <a:pt x="689660" y="264304"/>
                  </a:lnTo>
                  <a:lnTo>
                    <a:pt x="693420" y="310134"/>
                  </a:lnTo>
                  <a:lnTo>
                    <a:pt x="689660" y="355963"/>
                  </a:lnTo>
                  <a:lnTo>
                    <a:pt x="678740" y="399705"/>
                  </a:lnTo>
                  <a:lnTo>
                    <a:pt x="661195" y="440879"/>
                  </a:lnTo>
                  <a:lnTo>
                    <a:pt x="637561" y="479006"/>
                  </a:lnTo>
                  <a:lnTo>
                    <a:pt x="608376" y="513605"/>
                  </a:lnTo>
                  <a:lnTo>
                    <a:pt x="574175" y="544198"/>
                  </a:lnTo>
                  <a:lnTo>
                    <a:pt x="535495" y="570304"/>
                  </a:lnTo>
                  <a:lnTo>
                    <a:pt x="492872" y="591443"/>
                  </a:lnTo>
                  <a:lnTo>
                    <a:pt x="446842" y="607137"/>
                  </a:lnTo>
                  <a:lnTo>
                    <a:pt x="397943" y="616905"/>
                  </a:lnTo>
                  <a:lnTo>
                    <a:pt x="346710" y="620268"/>
                  </a:lnTo>
                  <a:lnTo>
                    <a:pt x="295476" y="616905"/>
                  </a:lnTo>
                  <a:lnTo>
                    <a:pt x="246577" y="607137"/>
                  </a:lnTo>
                  <a:lnTo>
                    <a:pt x="200547" y="591443"/>
                  </a:lnTo>
                  <a:lnTo>
                    <a:pt x="157924" y="570304"/>
                  </a:lnTo>
                  <a:lnTo>
                    <a:pt x="119244" y="544198"/>
                  </a:lnTo>
                  <a:lnTo>
                    <a:pt x="85043" y="513605"/>
                  </a:lnTo>
                  <a:lnTo>
                    <a:pt x="55858" y="479006"/>
                  </a:lnTo>
                  <a:lnTo>
                    <a:pt x="32224" y="440879"/>
                  </a:lnTo>
                  <a:lnTo>
                    <a:pt x="14679" y="399705"/>
                  </a:lnTo>
                  <a:lnTo>
                    <a:pt x="3759" y="355963"/>
                  </a:lnTo>
                  <a:lnTo>
                    <a:pt x="0" y="310134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41" name="Google Shape;941;p40"/>
          <p:cNvSpPr txBox="1"/>
          <p:nvPr/>
        </p:nvSpPr>
        <p:spPr>
          <a:xfrm>
            <a:off x="9095780" y="3805810"/>
            <a:ext cx="1619885" cy="1245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Intersection: most votes for center occur here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42" name="Google Shape;942;p40"/>
          <p:cNvSpPr txBox="1"/>
          <p:nvPr/>
        </p:nvSpPr>
        <p:spPr>
          <a:xfrm>
            <a:off x="650240" y="799449"/>
            <a:ext cx="8607425" cy="202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850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Bell MT"/>
              <a:buChar char="•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Circle: center (a, b) and radius r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3427729" rtl="0" algn="l">
              <a:lnSpc>
                <a:spcPct val="93396"/>
              </a:lnSpc>
              <a:spcBef>
                <a:spcPts val="1750"/>
              </a:spcBef>
              <a:spcAft>
                <a:spcPts val="0"/>
              </a:spcAft>
              <a:buNone/>
            </a:pP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x	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(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y	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 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3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17500" rtl="0" algn="ctr">
              <a:lnSpc>
                <a:spcPct val="745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latin typeface="Times New Roman"/>
                <a:ea typeface="Times New Roman"/>
                <a:cs typeface="Times New Roman"/>
                <a:sym typeface="Times New Roman"/>
              </a:rPr>
              <a:t>i	i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For a </a:t>
            </a:r>
            <a:r>
              <a:rPr b="1"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fixed radius r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, unknown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gradient direction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43" name="Google Shape;943;p4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4" name="Google Shape;944;p4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5" name="Google Shape;945;p4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4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1" name="Google Shape;951;p4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2" name="Google Shape;952;p4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Hough Transform for Circles</a:t>
            </a:r>
            <a:endParaRPr/>
          </a:p>
        </p:txBody>
      </p:sp>
      <p:pic>
        <p:nvPicPr>
          <p:cNvPr id="953" name="Google Shape;95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4252" y="3147653"/>
            <a:ext cx="2974257" cy="2449236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41"/>
          <p:cNvSpPr txBox="1"/>
          <p:nvPr/>
        </p:nvSpPr>
        <p:spPr>
          <a:xfrm>
            <a:off x="7470140" y="5708967"/>
            <a:ext cx="1219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Hough space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1"/>
          <p:cNvSpPr txBox="1"/>
          <p:nvPr/>
        </p:nvSpPr>
        <p:spPr>
          <a:xfrm>
            <a:off x="3050616" y="5723369"/>
            <a:ext cx="11772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Image space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6" name="Google Shape;956;p41"/>
          <p:cNvGrpSpPr/>
          <p:nvPr/>
        </p:nvGrpSpPr>
        <p:grpSpPr>
          <a:xfrm>
            <a:off x="2971800" y="2967608"/>
            <a:ext cx="7054976" cy="3227451"/>
            <a:chOff x="2971800" y="2967608"/>
            <a:chExt cx="7054976" cy="3227451"/>
          </a:xfrm>
        </p:grpSpPr>
        <p:sp>
          <p:nvSpPr>
            <p:cNvPr id="957" name="Google Shape;957;p41"/>
            <p:cNvSpPr/>
            <p:nvPr/>
          </p:nvSpPr>
          <p:spPr>
            <a:xfrm>
              <a:off x="2971800" y="3328415"/>
              <a:ext cx="2971800" cy="1981200"/>
            </a:xfrm>
            <a:custGeom>
              <a:rect b="b" l="l" r="r" t="t"/>
              <a:pathLst>
                <a:path extrusionOk="0" h="1981200" w="2971800">
                  <a:moveTo>
                    <a:pt x="2971800" y="0"/>
                  </a:moveTo>
                  <a:lnTo>
                    <a:pt x="0" y="0"/>
                  </a:lnTo>
                  <a:lnTo>
                    <a:pt x="0" y="1981200"/>
                  </a:lnTo>
                  <a:lnTo>
                    <a:pt x="2971800" y="19812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3429762" y="3710177"/>
              <a:ext cx="1371600" cy="1295400"/>
            </a:xfrm>
            <a:custGeom>
              <a:rect b="b" l="l" r="r" t="t"/>
              <a:pathLst>
                <a:path extrusionOk="0" h="1295400" w="1371600">
                  <a:moveTo>
                    <a:pt x="0" y="647700"/>
                  </a:moveTo>
                  <a:lnTo>
                    <a:pt x="1721" y="601443"/>
                  </a:lnTo>
                  <a:lnTo>
                    <a:pt x="6810" y="556064"/>
                  </a:lnTo>
                  <a:lnTo>
                    <a:pt x="15149" y="511672"/>
                  </a:lnTo>
                  <a:lnTo>
                    <a:pt x="26622" y="468378"/>
                  </a:lnTo>
                  <a:lnTo>
                    <a:pt x="41114" y="426291"/>
                  </a:lnTo>
                  <a:lnTo>
                    <a:pt x="58508" y="385519"/>
                  </a:lnTo>
                  <a:lnTo>
                    <a:pt x="78688" y="346174"/>
                  </a:lnTo>
                  <a:lnTo>
                    <a:pt x="101539" y="308364"/>
                  </a:lnTo>
                  <a:lnTo>
                    <a:pt x="126943" y="272200"/>
                  </a:lnTo>
                  <a:lnTo>
                    <a:pt x="154786" y="237790"/>
                  </a:lnTo>
                  <a:lnTo>
                    <a:pt x="184951" y="205244"/>
                  </a:lnTo>
                  <a:lnTo>
                    <a:pt x="217321" y="174672"/>
                  </a:lnTo>
                  <a:lnTo>
                    <a:pt x="251782" y="146183"/>
                  </a:lnTo>
                  <a:lnTo>
                    <a:pt x="288216" y="119888"/>
                  </a:lnTo>
                  <a:lnTo>
                    <a:pt x="326508" y="95895"/>
                  </a:lnTo>
                  <a:lnTo>
                    <a:pt x="366542" y="74315"/>
                  </a:lnTo>
                  <a:lnTo>
                    <a:pt x="408202" y="55256"/>
                  </a:lnTo>
                  <a:lnTo>
                    <a:pt x="451371" y="38829"/>
                  </a:lnTo>
                  <a:lnTo>
                    <a:pt x="495934" y="25142"/>
                  </a:lnTo>
                  <a:lnTo>
                    <a:pt x="541774" y="14307"/>
                  </a:lnTo>
                  <a:lnTo>
                    <a:pt x="588776" y="6431"/>
                  </a:lnTo>
                  <a:lnTo>
                    <a:pt x="636823" y="1626"/>
                  </a:lnTo>
                  <a:lnTo>
                    <a:pt x="685800" y="0"/>
                  </a:lnTo>
                  <a:lnTo>
                    <a:pt x="734776" y="1626"/>
                  </a:lnTo>
                  <a:lnTo>
                    <a:pt x="782823" y="6431"/>
                  </a:lnTo>
                  <a:lnTo>
                    <a:pt x="829825" y="14307"/>
                  </a:lnTo>
                  <a:lnTo>
                    <a:pt x="875665" y="25142"/>
                  </a:lnTo>
                  <a:lnTo>
                    <a:pt x="920228" y="38829"/>
                  </a:lnTo>
                  <a:lnTo>
                    <a:pt x="963397" y="55256"/>
                  </a:lnTo>
                  <a:lnTo>
                    <a:pt x="1005057" y="74315"/>
                  </a:lnTo>
                  <a:lnTo>
                    <a:pt x="1045091" y="95895"/>
                  </a:lnTo>
                  <a:lnTo>
                    <a:pt x="1083383" y="119888"/>
                  </a:lnTo>
                  <a:lnTo>
                    <a:pt x="1119817" y="146183"/>
                  </a:lnTo>
                  <a:lnTo>
                    <a:pt x="1154278" y="174672"/>
                  </a:lnTo>
                  <a:lnTo>
                    <a:pt x="1186648" y="205244"/>
                  </a:lnTo>
                  <a:lnTo>
                    <a:pt x="1216813" y="237790"/>
                  </a:lnTo>
                  <a:lnTo>
                    <a:pt x="1244656" y="272200"/>
                  </a:lnTo>
                  <a:lnTo>
                    <a:pt x="1270060" y="308364"/>
                  </a:lnTo>
                  <a:lnTo>
                    <a:pt x="1292911" y="346174"/>
                  </a:lnTo>
                  <a:lnTo>
                    <a:pt x="1313091" y="385519"/>
                  </a:lnTo>
                  <a:lnTo>
                    <a:pt x="1330485" y="426291"/>
                  </a:lnTo>
                  <a:lnTo>
                    <a:pt x="1344977" y="468378"/>
                  </a:lnTo>
                  <a:lnTo>
                    <a:pt x="1356450" y="511672"/>
                  </a:lnTo>
                  <a:lnTo>
                    <a:pt x="1364789" y="556064"/>
                  </a:lnTo>
                  <a:lnTo>
                    <a:pt x="1369878" y="601443"/>
                  </a:lnTo>
                  <a:lnTo>
                    <a:pt x="1371600" y="647700"/>
                  </a:lnTo>
                  <a:lnTo>
                    <a:pt x="1369878" y="693956"/>
                  </a:lnTo>
                  <a:lnTo>
                    <a:pt x="1364789" y="739335"/>
                  </a:lnTo>
                  <a:lnTo>
                    <a:pt x="1356450" y="783727"/>
                  </a:lnTo>
                  <a:lnTo>
                    <a:pt x="1344977" y="827021"/>
                  </a:lnTo>
                  <a:lnTo>
                    <a:pt x="1330485" y="869108"/>
                  </a:lnTo>
                  <a:lnTo>
                    <a:pt x="1313091" y="909880"/>
                  </a:lnTo>
                  <a:lnTo>
                    <a:pt x="1292911" y="949225"/>
                  </a:lnTo>
                  <a:lnTo>
                    <a:pt x="1270060" y="987035"/>
                  </a:lnTo>
                  <a:lnTo>
                    <a:pt x="1244656" y="1023199"/>
                  </a:lnTo>
                  <a:lnTo>
                    <a:pt x="1216813" y="1057609"/>
                  </a:lnTo>
                  <a:lnTo>
                    <a:pt x="1186648" y="1090155"/>
                  </a:lnTo>
                  <a:lnTo>
                    <a:pt x="1154278" y="1120727"/>
                  </a:lnTo>
                  <a:lnTo>
                    <a:pt x="1119817" y="1149216"/>
                  </a:lnTo>
                  <a:lnTo>
                    <a:pt x="1083383" y="1175511"/>
                  </a:lnTo>
                  <a:lnTo>
                    <a:pt x="1045091" y="1199504"/>
                  </a:lnTo>
                  <a:lnTo>
                    <a:pt x="1005057" y="1221084"/>
                  </a:lnTo>
                  <a:lnTo>
                    <a:pt x="963397" y="1240143"/>
                  </a:lnTo>
                  <a:lnTo>
                    <a:pt x="920228" y="1256570"/>
                  </a:lnTo>
                  <a:lnTo>
                    <a:pt x="875665" y="1270257"/>
                  </a:lnTo>
                  <a:lnTo>
                    <a:pt x="829825" y="1281092"/>
                  </a:lnTo>
                  <a:lnTo>
                    <a:pt x="782823" y="1288968"/>
                  </a:lnTo>
                  <a:lnTo>
                    <a:pt x="734776" y="1293773"/>
                  </a:lnTo>
                  <a:lnTo>
                    <a:pt x="685800" y="1295400"/>
                  </a:lnTo>
                  <a:lnTo>
                    <a:pt x="636823" y="1293773"/>
                  </a:lnTo>
                  <a:lnTo>
                    <a:pt x="588776" y="1288968"/>
                  </a:lnTo>
                  <a:lnTo>
                    <a:pt x="541774" y="1281092"/>
                  </a:lnTo>
                  <a:lnTo>
                    <a:pt x="495934" y="1270257"/>
                  </a:lnTo>
                  <a:lnTo>
                    <a:pt x="451371" y="1256570"/>
                  </a:lnTo>
                  <a:lnTo>
                    <a:pt x="408202" y="1240143"/>
                  </a:lnTo>
                  <a:lnTo>
                    <a:pt x="366542" y="1221084"/>
                  </a:lnTo>
                  <a:lnTo>
                    <a:pt x="326508" y="1199504"/>
                  </a:lnTo>
                  <a:lnTo>
                    <a:pt x="288216" y="1175511"/>
                  </a:lnTo>
                  <a:lnTo>
                    <a:pt x="251782" y="1149216"/>
                  </a:lnTo>
                  <a:lnTo>
                    <a:pt x="217321" y="1120727"/>
                  </a:lnTo>
                  <a:lnTo>
                    <a:pt x="184951" y="1090155"/>
                  </a:lnTo>
                  <a:lnTo>
                    <a:pt x="154786" y="1057609"/>
                  </a:lnTo>
                  <a:lnTo>
                    <a:pt x="126943" y="1023199"/>
                  </a:lnTo>
                  <a:lnTo>
                    <a:pt x="101539" y="987035"/>
                  </a:lnTo>
                  <a:lnTo>
                    <a:pt x="78688" y="949225"/>
                  </a:lnTo>
                  <a:lnTo>
                    <a:pt x="58508" y="909880"/>
                  </a:lnTo>
                  <a:lnTo>
                    <a:pt x="41114" y="869108"/>
                  </a:lnTo>
                  <a:lnTo>
                    <a:pt x="26622" y="827021"/>
                  </a:lnTo>
                  <a:lnTo>
                    <a:pt x="15149" y="783727"/>
                  </a:lnTo>
                  <a:lnTo>
                    <a:pt x="6810" y="739335"/>
                  </a:lnTo>
                  <a:lnTo>
                    <a:pt x="1721" y="693956"/>
                  </a:lnTo>
                  <a:lnTo>
                    <a:pt x="0" y="64770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9" name="Google Shape;959;p41"/>
            <p:cNvSpPr/>
            <p:nvPr/>
          </p:nvSpPr>
          <p:spPr>
            <a:xfrm>
              <a:off x="5334000" y="4319016"/>
              <a:ext cx="1460500" cy="0"/>
            </a:xfrm>
            <a:custGeom>
              <a:rect b="b" l="l" r="r" t="t"/>
              <a:pathLst>
                <a:path extrusionOk="0" h="120000" w="1460500">
                  <a:moveTo>
                    <a:pt x="0" y="0"/>
                  </a:moveTo>
                  <a:lnTo>
                    <a:pt x="14605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0" name="Google Shape;960;p41"/>
            <p:cNvSpPr/>
            <p:nvPr/>
          </p:nvSpPr>
          <p:spPr>
            <a:xfrm>
              <a:off x="6781801" y="4280913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61" name="Google Shape;961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33837" y="4923853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" name="Google Shape;962;p41"/>
            <p:cNvSpPr/>
            <p:nvPr/>
          </p:nvSpPr>
          <p:spPr>
            <a:xfrm>
              <a:off x="7555991" y="4998721"/>
              <a:ext cx="2470785" cy="0"/>
            </a:xfrm>
            <a:custGeom>
              <a:rect b="b" l="l" r="r" t="t"/>
              <a:pathLst>
                <a:path extrusionOk="0" h="120000" w="2470784">
                  <a:moveTo>
                    <a:pt x="0" y="0"/>
                  </a:moveTo>
                  <a:lnTo>
                    <a:pt x="2470315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3" name="Google Shape;963;p41"/>
            <p:cNvSpPr/>
            <p:nvPr/>
          </p:nvSpPr>
          <p:spPr>
            <a:xfrm>
              <a:off x="9950107" y="4954273"/>
              <a:ext cx="76200" cy="88900"/>
            </a:xfrm>
            <a:custGeom>
              <a:rect b="b" l="l" r="r" t="t"/>
              <a:pathLst>
                <a:path extrusionOk="0" h="88900" w="76200">
                  <a:moveTo>
                    <a:pt x="0" y="88900"/>
                  </a:moveTo>
                  <a:lnTo>
                    <a:pt x="76200" y="44450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4" name="Google Shape;964;p41"/>
            <p:cNvSpPr/>
            <p:nvPr/>
          </p:nvSpPr>
          <p:spPr>
            <a:xfrm>
              <a:off x="7555991" y="2967608"/>
              <a:ext cx="1905" cy="2032635"/>
            </a:xfrm>
            <a:custGeom>
              <a:rect b="b" l="l" r="r" t="t"/>
              <a:pathLst>
                <a:path extrusionOk="0" h="2032635" w="1904">
                  <a:moveTo>
                    <a:pt x="0" y="2032127"/>
                  </a:moveTo>
                  <a:lnTo>
                    <a:pt x="1574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5" name="Google Shape;965;p41"/>
            <p:cNvSpPr/>
            <p:nvPr/>
          </p:nvSpPr>
          <p:spPr>
            <a:xfrm>
              <a:off x="7513057" y="2967610"/>
              <a:ext cx="88900" cy="76835"/>
            </a:xfrm>
            <a:custGeom>
              <a:rect b="b" l="l" r="r" t="t"/>
              <a:pathLst>
                <a:path extrusionOk="0" h="76835" w="88900">
                  <a:moveTo>
                    <a:pt x="0" y="76161"/>
                  </a:moveTo>
                  <a:lnTo>
                    <a:pt x="44513" y="0"/>
                  </a:lnTo>
                  <a:lnTo>
                    <a:pt x="88900" y="76238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6" name="Google Shape;966;p41"/>
            <p:cNvSpPr/>
            <p:nvPr/>
          </p:nvSpPr>
          <p:spPr>
            <a:xfrm>
              <a:off x="6397362" y="4998719"/>
              <a:ext cx="1160145" cy="1196340"/>
            </a:xfrm>
            <a:custGeom>
              <a:rect b="b" l="l" r="r" t="t"/>
              <a:pathLst>
                <a:path extrusionOk="0" h="1196339" w="1160145">
                  <a:moveTo>
                    <a:pt x="1159662" y="0"/>
                  </a:moveTo>
                  <a:lnTo>
                    <a:pt x="0" y="119588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7" name="Google Shape;967;p41"/>
            <p:cNvSpPr/>
            <p:nvPr/>
          </p:nvSpPr>
          <p:spPr>
            <a:xfrm>
              <a:off x="6397355" y="6108964"/>
              <a:ext cx="85090" cy="85725"/>
            </a:xfrm>
            <a:custGeom>
              <a:rect b="b" l="l" r="r" t="t"/>
              <a:pathLst>
                <a:path extrusionOk="0" h="85725" w="85089">
                  <a:moveTo>
                    <a:pt x="84962" y="61887"/>
                  </a:moveTo>
                  <a:lnTo>
                    <a:pt x="0" y="85648"/>
                  </a:lnTo>
                  <a:lnTo>
                    <a:pt x="21145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68" name="Google Shape;968;p41"/>
          <p:cNvSpPr txBox="1"/>
          <p:nvPr/>
        </p:nvSpPr>
        <p:spPr>
          <a:xfrm>
            <a:off x="10191168" y="4755134"/>
            <a:ext cx="19558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b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1"/>
          <p:cNvSpPr txBox="1"/>
          <p:nvPr/>
        </p:nvSpPr>
        <p:spPr>
          <a:xfrm>
            <a:off x="6503443" y="5339495"/>
            <a:ext cx="19558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1"/>
          <p:cNvSpPr txBox="1"/>
          <p:nvPr/>
        </p:nvSpPr>
        <p:spPr>
          <a:xfrm>
            <a:off x="637540" y="799449"/>
            <a:ext cx="9356725" cy="2589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850">
            <a:spAutoFit/>
          </a:bodyPr>
          <a:lstStyle/>
          <a:p>
            <a:pPr indent="-342265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Bell MT"/>
              <a:buChar char="•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Circle: center (a, b) and radius r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685800" rtl="0" algn="ctr">
              <a:lnSpc>
                <a:spcPct val="93396"/>
              </a:lnSpc>
              <a:spcBef>
                <a:spcPts val="1750"/>
              </a:spcBef>
              <a:spcAft>
                <a:spcPts val="0"/>
              </a:spcAft>
              <a:buNone/>
            </a:pP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x	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(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y	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 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3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98145" rtl="0" algn="ctr">
              <a:lnSpc>
                <a:spcPct val="745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latin typeface="Times New Roman"/>
                <a:ea typeface="Times New Roman"/>
                <a:cs typeface="Times New Roman"/>
                <a:sym typeface="Times New Roman"/>
              </a:rPr>
              <a:t>i	i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For a </a:t>
            </a:r>
            <a:r>
              <a:rPr b="1"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unknown radius r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, unknown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gradient direction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2115185" rtl="0" algn="r">
              <a:lnSpc>
                <a:spcPct val="100000"/>
              </a:lnSpc>
              <a:spcBef>
                <a:spcPts val="1355"/>
              </a:spcBef>
              <a:spcAft>
                <a:spcPts val="0"/>
              </a:spcAft>
              <a:buNone/>
            </a:pP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r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2" name="Google Shape;972;p4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3" name="Google Shape;973;p4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4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9" name="Google Shape;979;p4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0" name="Google Shape;980;p4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Hough Transform for Circles</a:t>
            </a:r>
            <a:endParaRPr/>
          </a:p>
        </p:txBody>
      </p:sp>
      <p:grpSp>
        <p:nvGrpSpPr>
          <p:cNvPr id="981" name="Google Shape;981;p42"/>
          <p:cNvGrpSpPr/>
          <p:nvPr/>
        </p:nvGrpSpPr>
        <p:grpSpPr>
          <a:xfrm>
            <a:off x="2734252" y="3099816"/>
            <a:ext cx="6493201" cy="2784157"/>
            <a:chOff x="2734252" y="3099816"/>
            <a:chExt cx="6493201" cy="2784157"/>
          </a:xfrm>
        </p:grpSpPr>
        <p:pic>
          <p:nvPicPr>
            <p:cNvPr id="982" name="Google Shape;982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31960" y="3099816"/>
              <a:ext cx="2395493" cy="2784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3" name="Google Shape;983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34252" y="3147653"/>
              <a:ext cx="2974257" cy="24492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4" name="Google Shape;984;p42"/>
          <p:cNvSpPr txBox="1"/>
          <p:nvPr/>
        </p:nvSpPr>
        <p:spPr>
          <a:xfrm>
            <a:off x="7921879" y="5704395"/>
            <a:ext cx="12236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Hough space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85" name="Google Shape;985;p42"/>
          <p:cNvSpPr txBox="1"/>
          <p:nvPr/>
        </p:nvSpPr>
        <p:spPr>
          <a:xfrm>
            <a:off x="3532759" y="5718797"/>
            <a:ext cx="11645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Image space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986" name="Google Shape;986;p42"/>
          <p:cNvGrpSpPr/>
          <p:nvPr/>
        </p:nvGrpSpPr>
        <p:grpSpPr>
          <a:xfrm>
            <a:off x="2971800" y="3328415"/>
            <a:ext cx="6781799" cy="1981200"/>
            <a:chOff x="2971800" y="3328415"/>
            <a:chExt cx="6781799" cy="1981200"/>
          </a:xfrm>
        </p:grpSpPr>
        <p:sp>
          <p:nvSpPr>
            <p:cNvPr id="987" name="Google Shape;987;p42"/>
            <p:cNvSpPr/>
            <p:nvPr/>
          </p:nvSpPr>
          <p:spPr>
            <a:xfrm>
              <a:off x="2971800" y="3328415"/>
              <a:ext cx="2971800" cy="1981200"/>
            </a:xfrm>
            <a:custGeom>
              <a:rect b="b" l="l" r="r" t="t"/>
              <a:pathLst>
                <a:path extrusionOk="0" h="1981200" w="2971800">
                  <a:moveTo>
                    <a:pt x="2971800" y="0"/>
                  </a:moveTo>
                  <a:lnTo>
                    <a:pt x="0" y="0"/>
                  </a:lnTo>
                  <a:lnTo>
                    <a:pt x="0" y="1981200"/>
                  </a:lnTo>
                  <a:lnTo>
                    <a:pt x="2971800" y="19812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8" name="Google Shape;988;p42"/>
            <p:cNvSpPr/>
            <p:nvPr/>
          </p:nvSpPr>
          <p:spPr>
            <a:xfrm>
              <a:off x="3429762" y="3710177"/>
              <a:ext cx="1371600" cy="1295400"/>
            </a:xfrm>
            <a:custGeom>
              <a:rect b="b" l="l" r="r" t="t"/>
              <a:pathLst>
                <a:path extrusionOk="0" h="1295400" w="1371600">
                  <a:moveTo>
                    <a:pt x="0" y="647700"/>
                  </a:moveTo>
                  <a:lnTo>
                    <a:pt x="1721" y="601443"/>
                  </a:lnTo>
                  <a:lnTo>
                    <a:pt x="6810" y="556064"/>
                  </a:lnTo>
                  <a:lnTo>
                    <a:pt x="15149" y="511672"/>
                  </a:lnTo>
                  <a:lnTo>
                    <a:pt x="26622" y="468378"/>
                  </a:lnTo>
                  <a:lnTo>
                    <a:pt x="41114" y="426291"/>
                  </a:lnTo>
                  <a:lnTo>
                    <a:pt x="58508" y="385519"/>
                  </a:lnTo>
                  <a:lnTo>
                    <a:pt x="78688" y="346174"/>
                  </a:lnTo>
                  <a:lnTo>
                    <a:pt x="101539" y="308364"/>
                  </a:lnTo>
                  <a:lnTo>
                    <a:pt x="126943" y="272200"/>
                  </a:lnTo>
                  <a:lnTo>
                    <a:pt x="154786" y="237790"/>
                  </a:lnTo>
                  <a:lnTo>
                    <a:pt x="184951" y="205244"/>
                  </a:lnTo>
                  <a:lnTo>
                    <a:pt x="217321" y="174672"/>
                  </a:lnTo>
                  <a:lnTo>
                    <a:pt x="251782" y="146183"/>
                  </a:lnTo>
                  <a:lnTo>
                    <a:pt x="288216" y="119888"/>
                  </a:lnTo>
                  <a:lnTo>
                    <a:pt x="326508" y="95895"/>
                  </a:lnTo>
                  <a:lnTo>
                    <a:pt x="366542" y="74315"/>
                  </a:lnTo>
                  <a:lnTo>
                    <a:pt x="408202" y="55256"/>
                  </a:lnTo>
                  <a:lnTo>
                    <a:pt x="451371" y="38829"/>
                  </a:lnTo>
                  <a:lnTo>
                    <a:pt x="495934" y="25142"/>
                  </a:lnTo>
                  <a:lnTo>
                    <a:pt x="541774" y="14307"/>
                  </a:lnTo>
                  <a:lnTo>
                    <a:pt x="588776" y="6431"/>
                  </a:lnTo>
                  <a:lnTo>
                    <a:pt x="636823" y="1626"/>
                  </a:lnTo>
                  <a:lnTo>
                    <a:pt x="685800" y="0"/>
                  </a:lnTo>
                  <a:lnTo>
                    <a:pt x="734776" y="1626"/>
                  </a:lnTo>
                  <a:lnTo>
                    <a:pt x="782823" y="6431"/>
                  </a:lnTo>
                  <a:lnTo>
                    <a:pt x="829825" y="14307"/>
                  </a:lnTo>
                  <a:lnTo>
                    <a:pt x="875665" y="25142"/>
                  </a:lnTo>
                  <a:lnTo>
                    <a:pt x="920228" y="38829"/>
                  </a:lnTo>
                  <a:lnTo>
                    <a:pt x="963397" y="55256"/>
                  </a:lnTo>
                  <a:lnTo>
                    <a:pt x="1005057" y="74315"/>
                  </a:lnTo>
                  <a:lnTo>
                    <a:pt x="1045091" y="95895"/>
                  </a:lnTo>
                  <a:lnTo>
                    <a:pt x="1083383" y="119888"/>
                  </a:lnTo>
                  <a:lnTo>
                    <a:pt x="1119817" y="146183"/>
                  </a:lnTo>
                  <a:lnTo>
                    <a:pt x="1154278" y="174672"/>
                  </a:lnTo>
                  <a:lnTo>
                    <a:pt x="1186648" y="205244"/>
                  </a:lnTo>
                  <a:lnTo>
                    <a:pt x="1216813" y="237790"/>
                  </a:lnTo>
                  <a:lnTo>
                    <a:pt x="1244656" y="272200"/>
                  </a:lnTo>
                  <a:lnTo>
                    <a:pt x="1270060" y="308364"/>
                  </a:lnTo>
                  <a:lnTo>
                    <a:pt x="1292911" y="346174"/>
                  </a:lnTo>
                  <a:lnTo>
                    <a:pt x="1313091" y="385519"/>
                  </a:lnTo>
                  <a:lnTo>
                    <a:pt x="1330485" y="426291"/>
                  </a:lnTo>
                  <a:lnTo>
                    <a:pt x="1344977" y="468378"/>
                  </a:lnTo>
                  <a:lnTo>
                    <a:pt x="1356450" y="511672"/>
                  </a:lnTo>
                  <a:lnTo>
                    <a:pt x="1364789" y="556064"/>
                  </a:lnTo>
                  <a:lnTo>
                    <a:pt x="1369878" y="601443"/>
                  </a:lnTo>
                  <a:lnTo>
                    <a:pt x="1371600" y="647700"/>
                  </a:lnTo>
                  <a:lnTo>
                    <a:pt x="1369878" y="693956"/>
                  </a:lnTo>
                  <a:lnTo>
                    <a:pt x="1364789" y="739335"/>
                  </a:lnTo>
                  <a:lnTo>
                    <a:pt x="1356450" y="783727"/>
                  </a:lnTo>
                  <a:lnTo>
                    <a:pt x="1344977" y="827021"/>
                  </a:lnTo>
                  <a:lnTo>
                    <a:pt x="1330485" y="869108"/>
                  </a:lnTo>
                  <a:lnTo>
                    <a:pt x="1313091" y="909880"/>
                  </a:lnTo>
                  <a:lnTo>
                    <a:pt x="1292911" y="949225"/>
                  </a:lnTo>
                  <a:lnTo>
                    <a:pt x="1270060" y="987035"/>
                  </a:lnTo>
                  <a:lnTo>
                    <a:pt x="1244656" y="1023199"/>
                  </a:lnTo>
                  <a:lnTo>
                    <a:pt x="1216813" y="1057609"/>
                  </a:lnTo>
                  <a:lnTo>
                    <a:pt x="1186648" y="1090155"/>
                  </a:lnTo>
                  <a:lnTo>
                    <a:pt x="1154278" y="1120727"/>
                  </a:lnTo>
                  <a:lnTo>
                    <a:pt x="1119817" y="1149216"/>
                  </a:lnTo>
                  <a:lnTo>
                    <a:pt x="1083383" y="1175511"/>
                  </a:lnTo>
                  <a:lnTo>
                    <a:pt x="1045091" y="1199504"/>
                  </a:lnTo>
                  <a:lnTo>
                    <a:pt x="1005057" y="1221084"/>
                  </a:lnTo>
                  <a:lnTo>
                    <a:pt x="963397" y="1240143"/>
                  </a:lnTo>
                  <a:lnTo>
                    <a:pt x="920228" y="1256570"/>
                  </a:lnTo>
                  <a:lnTo>
                    <a:pt x="875665" y="1270257"/>
                  </a:lnTo>
                  <a:lnTo>
                    <a:pt x="829825" y="1281092"/>
                  </a:lnTo>
                  <a:lnTo>
                    <a:pt x="782823" y="1288968"/>
                  </a:lnTo>
                  <a:lnTo>
                    <a:pt x="734776" y="1293773"/>
                  </a:lnTo>
                  <a:lnTo>
                    <a:pt x="685800" y="1295400"/>
                  </a:lnTo>
                  <a:lnTo>
                    <a:pt x="636823" y="1293773"/>
                  </a:lnTo>
                  <a:lnTo>
                    <a:pt x="588776" y="1288968"/>
                  </a:lnTo>
                  <a:lnTo>
                    <a:pt x="541774" y="1281092"/>
                  </a:lnTo>
                  <a:lnTo>
                    <a:pt x="495934" y="1270257"/>
                  </a:lnTo>
                  <a:lnTo>
                    <a:pt x="451371" y="1256570"/>
                  </a:lnTo>
                  <a:lnTo>
                    <a:pt x="408202" y="1240143"/>
                  </a:lnTo>
                  <a:lnTo>
                    <a:pt x="366542" y="1221084"/>
                  </a:lnTo>
                  <a:lnTo>
                    <a:pt x="326508" y="1199504"/>
                  </a:lnTo>
                  <a:lnTo>
                    <a:pt x="288216" y="1175511"/>
                  </a:lnTo>
                  <a:lnTo>
                    <a:pt x="251782" y="1149216"/>
                  </a:lnTo>
                  <a:lnTo>
                    <a:pt x="217321" y="1120727"/>
                  </a:lnTo>
                  <a:lnTo>
                    <a:pt x="184951" y="1090155"/>
                  </a:lnTo>
                  <a:lnTo>
                    <a:pt x="154786" y="1057609"/>
                  </a:lnTo>
                  <a:lnTo>
                    <a:pt x="126943" y="1023199"/>
                  </a:lnTo>
                  <a:lnTo>
                    <a:pt x="101539" y="987035"/>
                  </a:lnTo>
                  <a:lnTo>
                    <a:pt x="78688" y="949225"/>
                  </a:lnTo>
                  <a:lnTo>
                    <a:pt x="58508" y="909880"/>
                  </a:lnTo>
                  <a:lnTo>
                    <a:pt x="41114" y="869108"/>
                  </a:lnTo>
                  <a:lnTo>
                    <a:pt x="26622" y="827021"/>
                  </a:lnTo>
                  <a:lnTo>
                    <a:pt x="15149" y="783727"/>
                  </a:lnTo>
                  <a:lnTo>
                    <a:pt x="6810" y="739335"/>
                  </a:lnTo>
                  <a:lnTo>
                    <a:pt x="1721" y="693956"/>
                  </a:lnTo>
                  <a:lnTo>
                    <a:pt x="0" y="64770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89" name="Google Shape;989;p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33837" y="3628453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42"/>
            <p:cNvSpPr/>
            <p:nvPr/>
          </p:nvSpPr>
          <p:spPr>
            <a:xfrm>
              <a:off x="5334000" y="4319015"/>
              <a:ext cx="1460500" cy="0"/>
            </a:xfrm>
            <a:custGeom>
              <a:rect b="b" l="l" r="r" t="t"/>
              <a:pathLst>
                <a:path extrusionOk="0" h="120000" w="1460500">
                  <a:moveTo>
                    <a:pt x="0" y="0"/>
                  </a:moveTo>
                  <a:lnTo>
                    <a:pt x="14605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1" name="Google Shape;991;p42"/>
            <p:cNvSpPr/>
            <p:nvPr/>
          </p:nvSpPr>
          <p:spPr>
            <a:xfrm>
              <a:off x="6781801" y="4280913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92" name="Google Shape;992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01000" y="3861816"/>
              <a:ext cx="1752599" cy="1371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3" name="Google Shape;993;p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33837" y="4923853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4" name="Google Shape;994;p42"/>
          <p:cNvSpPr txBox="1"/>
          <p:nvPr/>
        </p:nvSpPr>
        <p:spPr>
          <a:xfrm>
            <a:off x="9935528" y="4682110"/>
            <a:ext cx="19558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b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42"/>
          <p:cNvSpPr txBox="1"/>
          <p:nvPr/>
        </p:nvSpPr>
        <p:spPr>
          <a:xfrm>
            <a:off x="6604968" y="5339227"/>
            <a:ext cx="19558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42"/>
          <p:cNvSpPr txBox="1"/>
          <p:nvPr/>
        </p:nvSpPr>
        <p:spPr>
          <a:xfrm>
            <a:off x="637540" y="799449"/>
            <a:ext cx="9356725" cy="2588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850">
            <a:spAutoFit/>
          </a:bodyPr>
          <a:lstStyle/>
          <a:p>
            <a:pPr indent="-342265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Bell MT"/>
              <a:buChar char="•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Circle: center (a, b) and radius r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685800" rtl="0" algn="ctr">
              <a:lnSpc>
                <a:spcPct val="93396"/>
              </a:lnSpc>
              <a:spcBef>
                <a:spcPts val="1750"/>
              </a:spcBef>
              <a:spcAft>
                <a:spcPts val="0"/>
              </a:spcAft>
              <a:buNone/>
            </a:pP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x	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(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y	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 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3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98145" rtl="0" algn="ctr">
              <a:lnSpc>
                <a:spcPct val="745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latin typeface="Times New Roman"/>
                <a:ea typeface="Times New Roman"/>
                <a:cs typeface="Times New Roman"/>
                <a:sym typeface="Times New Roman"/>
              </a:rPr>
              <a:t>i	i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For a </a:t>
            </a:r>
            <a:r>
              <a:rPr b="1"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unknown radius r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, unknown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gradient direction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1932304" rtl="0" algn="r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None/>
            </a:pP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r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4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8" name="Google Shape;998;p4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9" name="Google Shape;999;p4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5" name="Google Shape;1005;p4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6" name="Google Shape;1006;p43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Hough Transform for Circles</a:t>
            </a:r>
            <a:endParaRPr/>
          </a:p>
        </p:txBody>
      </p:sp>
      <p:grpSp>
        <p:nvGrpSpPr>
          <p:cNvPr id="1007" name="Google Shape;1007;p43"/>
          <p:cNvGrpSpPr/>
          <p:nvPr/>
        </p:nvGrpSpPr>
        <p:grpSpPr>
          <a:xfrm>
            <a:off x="2840933" y="3261952"/>
            <a:ext cx="2980747" cy="2449237"/>
            <a:chOff x="2840933" y="3261952"/>
            <a:chExt cx="2980747" cy="2449237"/>
          </a:xfrm>
        </p:grpSpPr>
        <p:pic>
          <p:nvPicPr>
            <p:cNvPr id="1008" name="Google Shape;1008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40933" y="3261952"/>
              <a:ext cx="2974269" cy="24492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43"/>
            <p:cNvSpPr/>
            <p:nvPr/>
          </p:nvSpPr>
          <p:spPr>
            <a:xfrm>
              <a:off x="3078480" y="3442715"/>
              <a:ext cx="2743200" cy="1981200"/>
            </a:xfrm>
            <a:custGeom>
              <a:rect b="b" l="l" r="r" t="t"/>
              <a:pathLst>
                <a:path extrusionOk="0" h="1981200" w="2743200">
                  <a:moveTo>
                    <a:pt x="2743199" y="0"/>
                  </a:moveTo>
                  <a:lnTo>
                    <a:pt x="0" y="0"/>
                  </a:lnTo>
                  <a:lnTo>
                    <a:pt x="0" y="1981200"/>
                  </a:lnTo>
                  <a:lnTo>
                    <a:pt x="2743199" y="1981200"/>
                  </a:lnTo>
                  <a:lnTo>
                    <a:pt x="2743199" y="0"/>
                  </a:lnTo>
                  <a:close/>
                </a:path>
              </a:pathLst>
            </a:custGeom>
            <a:solidFill>
              <a:srgbClr val="EEECE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43"/>
            <p:cNvSpPr/>
            <p:nvPr/>
          </p:nvSpPr>
          <p:spPr>
            <a:xfrm>
              <a:off x="3536442" y="3824477"/>
              <a:ext cx="1371600" cy="1295400"/>
            </a:xfrm>
            <a:custGeom>
              <a:rect b="b" l="l" r="r" t="t"/>
              <a:pathLst>
                <a:path extrusionOk="0" h="1295400" w="1371600">
                  <a:moveTo>
                    <a:pt x="685800" y="0"/>
                  </a:moveTo>
                  <a:lnTo>
                    <a:pt x="636823" y="1626"/>
                  </a:lnTo>
                  <a:lnTo>
                    <a:pt x="588776" y="6431"/>
                  </a:lnTo>
                  <a:lnTo>
                    <a:pt x="541774" y="14307"/>
                  </a:lnTo>
                  <a:lnTo>
                    <a:pt x="495934" y="25142"/>
                  </a:lnTo>
                  <a:lnTo>
                    <a:pt x="451371" y="38829"/>
                  </a:lnTo>
                  <a:lnTo>
                    <a:pt x="408202" y="55256"/>
                  </a:lnTo>
                  <a:lnTo>
                    <a:pt x="366542" y="74315"/>
                  </a:lnTo>
                  <a:lnTo>
                    <a:pt x="326508" y="95895"/>
                  </a:lnTo>
                  <a:lnTo>
                    <a:pt x="288216" y="119888"/>
                  </a:lnTo>
                  <a:lnTo>
                    <a:pt x="251782" y="146183"/>
                  </a:lnTo>
                  <a:lnTo>
                    <a:pt x="217321" y="174672"/>
                  </a:lnTo>
                  <a:lnTo>
                    <a:pt x="184951" y="205244"/>
                  </a:lnTo>
                  <a:lnTo>
                    <a:pt x="154786" y="237790"/>
                  </a:lnTo>
                  <a:lnTo>
                    <a:pt x="126943" y="272200"/>
                  </a:lnTo>
                  <a:lnTo>
                    <a:pt x="101539" y="308364"/>
                  </a:lnTo>
                  <a:lnTo>
                    <a:pt x="78688" y="346174"/>
                  </a:lnTo>
                  <a:lnTo>
                    <a:pt x="58508" y="385519"/>
                  </a:lnTo>
                  <a:lnTo>
                    <a:pt x="41114" y="426291"/>
                  </a:lnTo>
                  <a:lnTo>
                    <a:pt x="26622" y="468378"/>
                  </a:lnTo>
                  <a:lnTo>
                    <a:pt x="15149" y="511672"/>
                  </a:lnTo>
                  <a:lnTo>
                    <a:pt x="6810" y="556064"/>
                  </a:lnTo>
                  <a:lnTo>
                    <a:pt x="1721" y="601443"/>
                  </a:lnTo>
                  <a:lnTo>
                    <a:pt x="0" y="647700"/>
                  </a:lnTo>
                  <a:lnTo>
                    <a:pt x="1721" y="693956"/>
                  </a:lnTo>
                  <a:lnTo>
                    <a:pt x="6810" y="739335"/>
                  </a:lnTo>
                  <a:lnTo>
                    <a:pt x="15149" y="783727"/>
                  </a:lnTo>
                  <a:lnTo>
                    <a:pt x="26622" y="827021"/>
                  </a:lnTo>
                  <a:lnTo>
                    <a:pt x="41114" y="869108"/>
                  </a:lnTo>
                  <a:lnTo>
                    <a:pt x="58508" y="909880"/>
                  </a:lnTo>
                  <a:lnTo>
                    <a:pt x="78688" y="949225"/>
                  </a:lnTo>
                  <a:lnTo>
                    <a:pt x="101539" y="987035"/>
                  </a:lnTo>
                  <a:lnTo>
                    <a:pt x="126943" y="1023199"/>
                  </a:lnTo>
                  <a:lnTo>
                    <a:pt x="154786" y="1057609"/>
                  </a:lnTo>
                  <a:lnTo>
                    <a:pt x="184951" y="1090155"/>
                  </a:lnTo>
                  <a:lnTo>
                    <a:pt x="217321" y="1120727"/>
                  </a:lnTo>
                  <a:lnTo>
                    <a:pt x="251782" y="1149216"/>
                  </a:lnTo>
                  <a:lnTo>
                    <a:pt x="288216" y="1175511"/>
                  </a:lnTo>
                  <a:lnTo>
                    <a:pt x="326508" y="1199504"/>
                  </a:lnTo>
                  <a:lnTo>
                    <a:pt x="366542" y="1221084"/>
                  </a:lnTo>
                  <a:lnTo>
                    <a:pt x="408202" y="1240143"/>
                  </a:lnTo>
                  <a:lnTo>
                    <a:pt x="451371" y="1256570"/>
                  </a:lnTo>
                  <a:lnTo>
                    <a:pt x="495934" y="1270257"/>
                  </a:lnTo>
                  <a:lnTo>
                    <a:pt x="541774" y="1281092"/>
                  </a:lnTo>
                  <a:lnTo>
                    <a:pt x="588776" y="1288968"/>
                  </a:lnTo>
                  <a:lnTo>
                    <a:pt x="636823" y="1293773"/>
                  </a:lnTo>
                  <a:lnTo>
                    <a:pt x="685800" y="1295400"/>
                  </a:lnTo>
                  <a:lnTo>
                    <a:pt x="734776" y="1293773"/>
                  </a:lnTo>
                  <a:lnTo>
                    <a:pt x="782823" y="1288968"/>
                  </a:lnTo>
                  <a:lnTo>
                    <a:pt x="829825" y="1281092"/>
                  </a:lnTo>
                  <a:lnTo>
                    <a:pt x="875665" y="1270257"/>
                  </a:lnTo>
                  <a:lnTo>
                    <a:pt x="920228" y="1256570"/>
                  </a:lnTo>
                  <a:lnTo>
                    <a:pt x="963397" y="1240143"/>
                  </a:lnTo>
                  <a:lnTo>
                    <a:pt x="1005057" y="1221084"/>
                  </a:lnTo>
                  <a:lnTo>
                    <a:pt x="1045091" y="1199504"/>
                  </a:lnTo>
                  <a:lnTo>
                    <a:pt x="1083383" y="1175511"/>
                  </a:lnTo>
                  <a:lnTo>
                    <a:pt x="1119817" y="1149216"/>
                  </a:lnTo>
                  <a:lnTo>
                    <a:pt x="1154278" y="1120727"/>
                  </a:lnTo>
                  <a:lnTo>
                    <a:pt x="1186648" y="1090155"/>
                  </a:lnTo>
                  <a:lnTo>
                    <a:pt x="1216813" y="1057609"/>
                  </a:lnTo>
                  <a:lnTo>
                    <a:pt x="1244656" y="1023199"/>
                  </a:lnTo>
                  <a:lnTo>
                    <a:pt x="1270060" y="987035"/>
                  </a:lnTo>
                  <a:lnTo>
                    <a:pt x="1292911" y="949225"/>
                  </a:lnTo>
                  <a:lnTo>
                    <a:pt x="1313091" y="909880"/>
                  </a:lnTo>
                  <a:lnTo>
                    <a:pt x="1330485" y="869108"/>
                  </a:lnTo>
                  <a:lnTo>
                    <a:pt x="1344977" y="827021"/>
                  </a:lnTo>
                  <a:lnTo>
                    <a:pt x="1356450" y="783727"/>
                  </a:lnTo>
                  <a:lnTo>
                    <a:pt x="1364789" y="739335"/>
                  </a:lnTo>
                  <a:lnTo>
                    <a:pt x="1369878" y="693956"/>
                  </a:lnTo>
                  <a:lnTo>
                    <a:pt x="1371600" y="647700"/>
                  </a:lnTo>
                  <a:lnTo>
                    <a:pt x="1369878" y="601443"/>
                  </a:lnTo>
                  <a:lnTo>
                    <a:pt x="1364789" y="556064"/>
                  </a:lnTo>
                  <a:lnTo>
                    <a:pt x="1356450" y="511672"/>
                  </a:lnTo>
                  <a:lnTo>
                    <a:pt x="1344977" y="468378"/>
                  </a:lnTo>
                  <a:lnTo>
                    <a:pt x="1330485" y="426291"/>
                  </a:lnTo>
                  <a:lnTo>
                    <a:pt x="1313091" y="385519"/>
                  </a:lnTo>
                  <a:lnTo>
                    <a:pt x="1292911" y="346174"/>
                  </a:lnTo>
                  <a:lnTo>
                    <a:pt x="1270060" y="308364"/>
                  </a:lnTo>
                  <a:lnTo>
                    <a:pt x="1244656" y="272200"/>
                  </a:lnTo>
                  <a:lnTo>
                    <a:pt x="1216813" y="237790"/>
                  </a:lnTo>
                  <a:lnTo>
                    <a:pt x="1186648" y="205244"/>
                  </a:lnTo>
                  <a:lnTo>
                    <a:pt x="1154278" y="174672"/>
                  </a:lnTo>
                  <a:lnTo>
                    <a:pt x="1119817" y="146183"/>
                  </a:lnTo>
                  <a:lnTo>
                    <a:pt x="1083383" y="119888"/>
                  </a:lnTo>
                  <a:lnTo>
                    <a:pt x="1045091" y="95895"/>
                  </a:lnTo>
                  <a:lnTo>
                    <a:pt x="1005057" y="74315"/>
                  </a:lnTo>
                  <a:lnTo>
                    <a:pt x="963397" y="55256"/>
                  </a:lnTo>
                  <a:lnTo>
                    <a:pt x="920228" y="38829"/>
                  </a:lnTo>
                  <a:lnTo>
                    <a:pt x="875665" y="25142"/>
                  </a:lnTo>
                  <a:lnTo>
                    <a:pt x="829825" y="14307"/>
                  </a:lnTo>
                  <a:lnTo>
                    <a:pt x="782823" y="6431"/>
                  </a:lnTo>
                  <a:lnTo>
                    <a:pt x="734776" y="1626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43"/>
            <p:cNvSpPr/>
            <p:nvPr/>
          </p:nvSpPr>
          <p:spPr>
            <a:xfrm>
              <a:off x="3536442" y="3824477"/>
              <a:ext cx="1371600" cy="1295400"/>
            </a:xfrm>
            <a:custGeom>
              <a:rect b="b" l="l" r="r" t="t"/>
              <a:pathLst>
                <a:path extrusionOk="0" h="1295400" w="1371600">
                  <a:moveTo>
                    <a:pt x="0" y="647700"/>
                  </a:moveTo>
                  <a:lnTo>
                    <a:pt x="1721" y="601443"/>
                  </a:lnTo>
                  <a:lnTo>
                    <a:pt x="6810" y="556064"/>
                  </a:lnTo>
                  <a:lnTo>
                    <a:pt x="15149" y="511672"/>
                  </a:lnTo>
                  <a:lnTo>
                    <a:pt x="26622" y="468378"/>
                  </a:lnTo>
                  <a:lnTo>
                    <a:pt x="41114" y="426291"/>
                  </a:lnTo>
                  <a:lnTo>
                    <a:pt x="58508" y="385519"/>
                  </a:lnTo>
                  <a:lnTo>
                    <a:pt x="78688" y="346174"/>
                  </a:lnTo>
                  <a:lnTo>
                    <a:pt x="101539" y="308364"/>
                  </a:lnTo>
                  <a:lnTo>
                    <a:pt x="126943" y="272200"/>
                  </a:lnTo>
                  <a:lnTo>
                    <a:pt x="154786" y="237790"/>
                  </a:lnTo>
                  <a:lnTo>
                    <a:pt x="184951" y="205244"/>
                  </a:lnTo>
                  <a:lnTo>
                    <a:pt x="217321" y="174672"/>
                  </a:lnTo>
                  <a:lnTo>
                    <a:pt x="251782" y="146183"/>
                  </a:lnTo>
                  <a:lnTo>
                    <a:pt x="288216" y="119888"/>
                  </a:lnTo>
                  <a:lnTo>
                    <a:pt x="326508" y="95895"/>
                  </a:lnTo>
                  <a:lnTo>
                    <a:pt x="366542" y="74315"/>
                  </a:lnTo>
                  <a:lnTo>
                    <a:pt x="408202" y="55256"/>
                  </a:lnTo>
                  <a:lnTo>
                    <a:pt x="451371" y="38829"/>
                  </a:lnTo>
                  <a:lnTo>
                    <a:pt x="495934" y="25142"/>
                  </a:lnTo>
                  <a:lnTo>
                    <a:pt x="541774" y="14307"/>
                  </a:lnTo>
                  <a:lnTo>
                    <a:pt x="588776" y="6431"/>
                  </a:lnTo>
                  <a:lnTo>
                    <a:pt x="636823" y="1626"/>
                  </a:lnTo>
                  <a:lnTo>
                    <a:pt x="685800" y="0"/>
                  </a:lnTo>
                  <a:lnTo>
                    <a:pt x="734776" y="1626"/>
                  </a:lnTo>
                  <a:lnTo>
                    <a:pt x="782823" y="6431"/>
                  </a:lnTo>
                  <a:lnTo>
                    <a:pt x="829825" y="14307"/>
                  </a:lnTo>
                  <a:lnTo>
                    <a:pt x="875665" y="25142"/>
                  </a:lnTo>
                  <a:lnTo>
                    <a:pt x="920228" y="38829"/>
                  </a:lnTo>
                  <a:lnTo>
                    <a:pt x="963397" y="55256"/>
                  </a:lnTo>
                  <a:lnTo>
                    <a:pt x="1005057" y="74315"/>
                  </a:lnTo>
                  <a:lnTo>
                    <a:pt x="1045091" y="95895"/>
                  </a:lnTo>
                  <a:lnTo>
                    <a:pt x="1083383" y="119888"/>
                  </a:lnTo>
                  <a:lnTo>
                    <a:pt x="1119817" y="146183"/>
                  </a:lnTo>
                  <a:lnTo>
                    <a:pt x="1154278" y="174672"/>
                  </a:lnTo>
                  <a:lnTo>
                    <a:pt x="1186648" y="205244"/>
                  </a:lnTo>
                  <a:lnTo>
                    <a:pt x="1216813" y="237790"/>
                  </a:lnTo>
                  <a:lnTo>
                    <a:pt x="1244656" y="272200"/>
                  </a:lnTo>
                  <a:lnTo>
                    <a:pt x="1270060" y="308364"/>
                  </a:lnTo>
                  <a:lnTo>
                    <a:pt x="1292911" y="346174"/>
                  </a:lnTo>
                  <a:lnTo>
                    <a:pt x="1313091" y="385519"/>
                  </a:lnTo>
                  <a:lnTo>
                    <a:pt x="1330485" y="426291"/>
                  </a:lnTo>
                  <a:lnTo>
                    <a:pt x="1344977" y="468378"/>
                  </a:lnTo>
                  <a:lnTo>
                    <a:pt x="1356450" y="511672"/>
                  </a:lnTo>
                  <a:lnTo>
                    <a:pt x="1364789" y="556064"/>
                  </a:lnTo>
                  <a:lnTo>
                    <a:pt x="1369878" y="601443"/>
                  </a:lnTo>
                  <a:lnTo>
                    <a:pt x="1371600" y="647700"/>
                  </a:lnTo>
                  <a:lnTo>
                    <a:pt x="1369878" y="693956"/>
                  </a:lnTo>
                  <a:lnTo>
                    <a:pt x="1364789" y="739335"/>
                  </a:lnTo>
                  <a:lnTo>
                    <a:pt x="1356450" y="783727"/>
                  </a:lnTo>
                  <a:lnTo>
                    <a:pt x="1344977" y="827021"/>
                  </a:lnTo>
                  <a:lnTo>
                    <a:pt x="1330485" y="869108"/>
                  </a:lnTo>
                  <a:lnTo>
                    <a:pt x="1313091" y="909880"/>
                  </a:lnTo>
                  <a:lnTo>
                    <a:pt x="1292911" y="949225"/>
                  </a:lnTo>
                  <a:lnTo>
                    <a:pt x="1270060" y="987035"/>
                  </a:lnTo>
                  <a:lnTo>
                    <a:pt x="1244656" y="1023199"/>
                  </a:lnTo>
                  <a:lnTo>
                    <a:pt x="1216813" y="1057609"/>
                  </a:lnTo>
                  <a:lnTo>
                    <a:pt x="1186648" y="1090155"/>
                  </a:lnTo>
                  <a:lnTo>
                    <a:pt x="1154278" y="1120727"/>
                  </a:lnTo>
                  <a:lnTo>
                    <a:pt x="1119817" y="1149216"/>
                  </a:lnTo>
                  <a:lnTo>
                    <a:pt x="1083383" y="1175511"/>
                  </a:lnTo>
                  <a:lnTo>
                    <a:pt x="1045091" y="1199504"/>
                  </a:lnTo>
                  <a:lnTo>
                    <a:pt x="1005057" y="1221084"/>
                  </a:lnTo>
                  <a:lnTo>
                    <a:pt x="963397" y="1240143"/>
                  </a:lnTo>
                  <a:lnTo>
                    <a:pt x="920228" y="1256570"/>
                  </a:lnTo>
                  <a:lnTo>
                    <a:pt x="875665" y="1270257"/>
                  </a:lnTo>
                  <a:lnTo>
                    <a:pt x="829825" y="1281092"/>
                  </a:lnTo>
                  <a:lnTo>
                    <a:pt x="782823" y="1288968"/>
                  </a:lnTo>
                  <a:lnTo>
                    <a:pt x="734776" y="1293773"/>
                  </a:lnTo>
                  <a:lnTo>
                    <a:pt x="685800" y="1295400"/>
                  </a:lnTo>
                  <a:lnTo>
                    <a:pt x="636823" y="1293773"/>
                  </a:lnTo>
                  <a:lnTo>
                    <a:pt x="588776" y="1288968"/>
                  </a:lnTo>
                  <a:lnTo>
                    <a:pt x="541774" y="1281092"/>
                  </a:lnTo>
                  <a:lnTo>
                    <a:pt x="495934" y="1270257"/>
                  </a:lnTo>
                  <a:lnTo>
                    <a:pt x="451371" y="1256570"/>
                  </a:lnTo>
                  <a:lnTo>
                    <a:pt x="408202" y="1240143"/>
                  </a:lnTo>
                  <a:lnTo>
                    <a:pt x="366542" y="1221084"/>
                  </a:lnTo>
                  <a:lnTo>
                    <a:pt x="326508" y="1199504"/>
                  </a:lnTo>
                  <a:lnTo>
                    <a:pt x="288216" y="1175511"/>
                  </a:lnTo>
                  <a:lnTo>
                    <a:pt x="251782" y="1149216"/>
                  </a:lnTo>
                  <a:lnTo>
                    <a:pt x="217321" y="1120727"/>
                  </a:lnTo>
                  <a:lnTo>
                    <a:pt x="184951" y="1090155"/>
                  </a:lnTo>
                  <a:lnTo>
                    <a:pt x="154786" y="1057609"/>
                  </a:lnTo>
                  <a:lnTo>
                    <a:pt x="126943" y="1023199"/>
                  </a:lnTo>
                  <a:lnTo>
                    <a:pt x="101539" y="987035"/>
                  </a:lnTo>
                  <a:lnTo>
                    <a:pt x="78688" y="949225"/>
                  </a:lnTo>
                  <a:lnTo>
                    <a:pt x="58508" y="909880"/>
                  </a:lnTo>
                  <a:lnTo>
                    <a:pt x="41114" y="869108"/>
                  </a:lnTo>
                  <a:lnTo>
                    <a:pt x="26622" y="827021"/>
                  </a:lnTo>
                  <a:lnTo>
                    <a:pt x="15149" y="783727"/>
                  </a:lnTo>
                  <a:lnTo>
                    <a:pt x="6810" y="739335"/>
                  </a:lnTo>
                  <a:lnTo>
                    <a:pt x="1721" y="693956"/>
                  </a:lnTo>
                  <a:lnTo>
                    <a:pt x="0" y="64770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43"/>
            <p:cNvSpPr/>
            <p:nvPr/>
          </p:nvSpPr>
          <p:spPr>
            <a:xfrm>
              <a:off x="3494482" y="4659773"/>
              <a:ext cx="450215" cy="455295"/>
            </a:xfrm>
            <a:custGeom>
              <a:rect b="b" l="l" r="r" t="t"/>
              <a:pathLst>
                <a:path extrusionOk="0" h="455295" w="450214">
                  <a:moveTo>
                    <a:pt x="0" y="0"/>
                  </a:moveTo>
                  <a:lnTo>
                    <a:pt x="450062" y="454685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43"/>
            <p:cNvSpPr/>
            <p:nvPr/>
          </p:nvSpPr>
          <p:spPr>
            <a:xfrm>
              <a:off x="3709444" y="4582179"/>
              <a:ext cx="298450" cy="295275"/>
            </a:xfrm>
            <a:custGeom>
              <a:rect b="b" l="l" r="r" t="t"/>
              <a:pathLst>
                <a:path extrusionOk="0" h="295275" w="298450">
                  <a:moveTo>
                    <a:pt x="0" y="295097"/>
                  </a:moveTo>
                  <a:lnTo>
                    <a:pt x="298132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43"/>
            <p:cNvSpPr/>
            <p:nvPr/>
          </p:nvSpPr>
          <p:spPr>
            <a:xfrm>
              <a:off x="3879437" y="4582176"/>
              <a:ext cx="128270" cy="128270"/>
            </a:xfrm>
            <a:custGeom>
              <a:rect b="b" l="l" r="r" t="t"/>
              <a:pathLst>
                <a:path extrusionOk="0" h="128270" w="128270">
                  <a:moveTo>
                    <a:pt x="93814" y="127800"/>
                  </a:moveTo>
                  <a:lnTo>
                    <a:pt x="128143" y="0"/>
                  </a:lnTo>
                  <a:lnTo>
                    <a:pt x="0" y="33032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15" name="Google Shape;1015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27437" y="4795835"/>
              <a:ext cx="161923" cy="161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6" name="Google Shape;1016;p43"/>
            <p:cNvSpPr/>
            <p:nvPr/>
          </p:nvSpPr>
          <p:spPr>
            <a:xfrm>
              <a:off x="3154680" y="4890516"/>
              <a:ext cx="1143000" cy="0"/>
            </a:xfrm>
            <a:custGeom>
              <a:rect b="b" l="l" r="r" t="t"/>
              <a:pathLst>
                <a:path extrusionOk="0" h="120000" w="1143000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17" name="Google Shape;1017;p43"/>
          <p:cNvSpPr txBox="1"/>
          <p:nvPr/>
        </p:nvSpPr>
        <p:spPr>
          <a:xfrm>
            <a:off x="7871079" y="5818694"/>
            <a:ext cx="12236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Hough space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18" name="Google Shape;1018;p43"/>
          <p:cNvSpPr txBox="1"/>
          <p:nvPr/>
        </p:nvSpPr>
        <p:spPr>
          <a:xfrm>
            <a:off x="3761308" y="5818694"/>
            <a:ext cx="11645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Image space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019" name="Google Shape;1019;p43"/>
          <p:cNvGrpSpPr/>
          <p:nvPr/>
        </p:nvGrpSpPr>
        <p:grpSpPr>
          <a:xfrm>
            <a:off x="5897879" y="4395213"/>
            <a:ext cx="1066802" cy="76200"/>
            <a:chOff x="5897879" y="4395213"/>
            <a:chExt cx="1066802" cy="76200"/>
          </a:xfrm>
        </p:grpSpPr>
        <p:sp>
          <p:nvSpPr>
            <p:cNvPr id="1020" name="Google Shape;1020;p43"/>
            <p:cNvSpPr/>
            <p:nvPr/>
          </p:nvSpPr>
          <p:spPr>
            <a:xfrm>
              <a:off x="5897879" y="4433316"/>
              <a:ext cx="1003300" cy="0"/>
            </a:xfrm>
            <a:custGeom>
              <a:rect b="b" l="l" r="r" t="t"/>
              <a:pathLst>
                <a:path extrusionOk="0" h="120000" w="1003300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43"/>
            <p:cNvSpPr/>
            <p:nvPr/>
          </p:nvSpPr>
          <p:spPr>
            <a:xfrm>
              <a:off x="6888481" y="4395213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022" name="Google Shape;1022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45680" y="3290315"/>
            <a:ext cx="2022348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43"/>
          <p:cNvSpPr txBox="1"/>
          <p:nvPr/>
        </p:nvSpPr>
        <p:spPr>
          <a:xfrm>
            <a:off x="3078479" y="3442715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13715" rtl="0" algn="ctr">
              <a:lnSpc>
                <a:spcPct val="100476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  <a:p>
            <a:pPr indent="0" lvl="0" marL="619760" rtl="0" algn="l">
              <a:lnSpc>
                <a:spcPct val="107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latin typeface="Calibri"/>
                <a:ea typeface="Calibri"/>
                <a:cs typeface="Calibri"/>
                <a:sym typeface="Calibri"/>
              </a:rPr>
              <a:t>θ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43"/>
          <p:cNvSpPr txBox="1"/>
          <p:nvPr/>
        </p:nvSpPr>
        <p:spPr>
          <a:xfrm>
            <a:off x="650240" y="799449"/>
            <a:ext cx="8907780" cy="202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850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Bell MT"/>
              <a:buChar char="•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Circle: center (a, b) and radius r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3427729" rtl="0" algn="l">
              <a:lnSpc>
                <a:spcPct val="93396"/>
              </a:lnSpc>
              <a:spcBef>
                <a:spcPts val="1750"/>
              </a:spcBef>
              <a:spcAft>
                <a:spcPts val="0"/>
              </a:spcAft>
              <a:buNone/>
            </a:pP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x	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(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y	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 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baseline="30000" lang="en-US" sz="2325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3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145" rtl="0" algn="ctr">
              <a:lnSpc>
                <a:spcPct val="745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latin typeface="Times New Roman"/>
                <a:ea typeface="Times New Roman"/>
                <a:cs typeface="Times New Roman"/>
                <a:sym typeface="Times New Roman"/>
              </a:rPr>
              <a:t>i	i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For a </a:t>
            </a:r>
            <a:r>
              <a:rPr b="1"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unknown radius r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known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gradient direction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25" name="Google Shape;1025;p4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6" name="Google Shape;1026;p4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7" name="Google Shape;1027;p4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4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3" name="Google Shape;1033;p4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4" name="Google Shape;1034;p44"/>
          <p:cNvSpPr txBox="1"/>
          <p:nvPr>
            <p:ph idx="4294967295" type="title"/>
          </p:nvPr>
        </p:nvSpPr>
        <p:spPr>
          <a:xfrm>
            <a:off x="0" y="153150"/>
            <a:ext cx="121920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29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Hough Transform for Circles</a:t>
            </a:r>
            <a:endParaRPr/>
          </a:p>
        </p:txBody>
      </p:sp>
      <p:sp>
        <p:nvSpPr>
          <p:cNvPr id="1035" name="Google Shape;1035;p44"/>
          <p:cNvSpPr/>
          <p:nvPr/>
        </p:nvSpPr>
        <p:spPr>
          <a:xfrm>
            <a:off x="610362" y="1067561"/>
            <a:ext cx="10972800" cy="5257800"/>
          </a:xfrm>
          <a:custGeom>
            <a:rect b="b" l="l" r="r" t="t"/>
            <a:pathLst>
              <a:path extrusionOk="0" h="5257800" w="10972800">
                <a:moveTo>
                  <a:pt x="0" y="0"/>
                </a:moveTo>
                <a:lnTo>
                  <a:pt x="10972800" y="0"/>
                </a:lnTo>
                <a:lnTo>
                  <a:pt x="10972800" y="5257800"/>
                </a:lnTo>
                <a:lnTo>
                  <a:pt x="0" y="52578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6" name="Google Shape;1036;p44"/>
          <p:cNvSpPr txBox="1"/>
          <p:nvPr/>
        </p:nvSpPr>
        <p:spPr>
          <a:xfrm>
            <a:off x="688340" y="995480"/>
            <a:ext cx="513334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Algorithm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Initialize H[</a:t>
            </a:r>
            <a:r>
              <a:rPr i="1" lang="en-US" sz="2800">
                <a:latin typeface="Courier New"/>
                <a:ea typeface="Courier New"/>
                <a:cs typeface="Courier New"/>
                <a:sym typeface="Courier New"/>
              </a:rPr>
              <a:t>a,b,r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] to 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037" name="Google Shape;1037;p44"/>
          <p:cNvGraphicFramePr/>
          <p:nvPr/>
        </p:nvGraphicFramePr>
        <p:xfrm>
          <a:off x="669645" y="20377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{BE179AF1-11E9-40D2-887D-3ECBB34D71EC}</a:tableStyleId>
              </a:tblPr>
              <a:tblGrid>
                <a:gridCol w="2085975"/>
                <a:gridCol w="318775"/>
                <a:gridCol w="850275"/>
                <a:gridCol w="3618875"/>
                <a:gridCol w="2128525"/>
                <a:gridCol w="560700"/>
              </a:tblGrid>
              <a:tr h="435600">
                <a:tc>
                  <a:txBody>
                    <a:bodyPr/>
                    <a:lstStyle/>
                    <a:p>
                      <a:pPr indent="0" lvl="0" marL="31750" marR="3175" rtl="0" algn="l">
                        <a:lnSpc>
                          <a:spcPct val="103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 every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gridSpan="3">
                  <a:txBody>
                    <a:bodyPr/>
                    <a:lstStyle/>
                    <a:p>
                      <a:pPr indent="0" lvl="0" marL="83185" marR="0" rtl="0" algn="l">
                        <a:lnSpc>
                          <a:spcPct val="103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edge pixel (</a:t>
                      </a:r>
                      <a:r>
                        <a:rPr i="1"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x,y</a:t>
                      </a: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 :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469275">
                <a:tc>
                  <a:txBody>
                    <a:bodyPr/>
                    <a:lstStyle/>
                    <a:p>
                      <a:pPr indent="0" lvl="0" marL="37465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 each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gridSpan="3">
                  <a:txBody>
                    <a:bodyPr/>
                    <a:lstStyle/>
                    <a:p>
                      <a:pPr indent="0" lvl="0" marL="213995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possible radius value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104775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</a:t>
                      </a: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vMerge="1"/>
              </a:tr>
              <a:tr h="435600">
                <a:tc>
                  <a:txBody>
                    <a:bodyPr/>
                    <a:lstStyle/>
                    <a:p>
                      <a:pPr indent="0" lvl="0" marL="1226185" marR="3175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gridSpan="3">
                  <a:txBody>
                    <a:bodyPr/>
                    <a:lstStyle/>
                    <a:p>
                      <a:pPr indent="0" lvl="0" marL="635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each possible gradient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direction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θ: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  <a:tr h="400675">
                <a:tc gridSpan="6">
                  <a:txBody>
                    <a:bodyPr/>
                    <a:lstStyle/>
                    <a:p>
                      <a:pPr indent="0" lvl="0" marL="36887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 or use estimated gradient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450" marB="0" marR="0" marL="0"/>
                </a:tc>
                <a:tc hMerge="1"/>
                <a:tc hMerge="1"/>
                <a:tc hMerge="1"/>
                <a:tc hMerge="1"/>
                <a:tc hMerge="1"/>
              </a:tr>
              <a:tr h="504200">
                <a:tc>
                  <a:txBody>
                    <a:bodyPr/>
                    <a:lstStyle/>
                    <a:p>
                      <a:pPr indent="0" lvl="0" marL="1226185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</a:t>
                      </a: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2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250" marB="0" marR="0" marL="0"/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– </a:t>
                      </a:r>
                      <a:r>
                        <a:rPr i="1"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250" marB="0" marR="0" marL="0"/>
                </a:tc>
                <a:tc gridSpan="3"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cos(</a:t>
                      </a:r>
                      <a:r>
                        <a:rPr i="1"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θ</a:t>
                      </a: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250" marB="0" marR="0" marL="0"/>
                </a:tc>
                <a:tc hMerge="1"/>
                <a:tc hMerge="1"/>
              </a:tr>
              <a:tr h="435600">
                <a:tc>
                  <a:txBody>
                    <a:bodyPr/>
                    <a:lstStyle/>
                    <a:p>
                      <a:pPr indent="0" lvl="0" marL="1224915" marR="3175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 </a:t>
                      </a: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</a:t>
                      </a:r>
                      <a:r>
                        <a:rPr i="1"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gridSpan="3"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sin(</a:t>
                      </a:r>
                      <a:r>
                        <a:rPr i="1"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θ</a:t>
                      </a: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hMerge="1"/>
              </a:tr>
            </a:tbl>
          </a:graphicData>
        </a:graphic>
      </p:graphicFrame>
      <p:sp>
        <p:nvSpPr>
          <p:cNvPr id="1038" name="Google Shape;1038;p44"/>
          <p:cNvSpPr txBox="1"/>
          <p:nvPr/>
        </p:nvSpPr>
        <p:spPr>
          <a:xfrm>
            <a:off x="686851" y="4671507"/>
            <a:ext cx="611251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071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H[</a:t>
            </a:r>
            <a:r>
              <a:rPr i="1" lang="en-US" sz="2800">
                <a:latin typeface="Courier New"/>
                <a:ea typeface="Courier New"/>
                <a:cs typeface="Courier New"/>
                <a:sym typeface="Courier New"/>
              </a:rPr>
              <a:t>a,b,r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] = H[</a:t>
            </a:r>
            <a:r>
              <a:rPr i="1" lang="en-US" sz="2800">
                <a:latin typeface="Courier New"/>
                <a:ea typeface="Courier New"/>
                <a:cs typeface="Courier New"/>
                <a:sym typeface="Courier New"/>
              </a:rPr>
              <a:t>a,b,r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] + 1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9" name="Google Shape;1039;p4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0" name="Google Shape;1040;p4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1" name="Google Shape;1041;p4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4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7" name="Google Shape;1047;p4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48" name="Google Shape;104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672" y="1473708"/>
            <a:ext cx="2782823" cy="3706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7923" y="1467612"/>
            <a:ext cx="2782823" cy="3706367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45"/>
          <p:cNvSpPr txBox="1"/>
          <p:nvPr/>
        </p:nvSpPr>
        <p:spPr>
          <a:xfrm>
            <a:off x="2492375" y="1003808"/>
            <a:ext cx="107315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Original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51" name="Google Shape;1051;p45"/>
          <p:cNvSpPr txBox="1"/>
          <p:nvPr/>
        </p:nvSpPr>
        <p:spPr>
          <a:xfrm>
            <a:off x="5499227" y="1021181"/>
            <a:ext cx="79565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Edges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052" name="Google Shape;1052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55992" y="1485900"/>
            <a:ext cx="2957270" cy="372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45"/>
          <p:cNvSpPr txBox="1"/>
          <p:nvPr/>
        </p:nvSpPr>
        <p:spPr>
          <a:xfrm>
            <a:off x="8164514" y="1043495"/>
            <a:ext cx="163512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Votes: Penny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54" name="Google Shape;1054;p45"/>
          <p:cNvSpPr txBox="1"/>
          <p:nvPr/>
        </p:nvSpPr>
        <p:spPr>
          <a:xfrm>
            <a:off x="610362" y="5487161"/>
            <a:ext cx="11125200" cy="830580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90170" marR="806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Note: </a:t>
            </a: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 different Hough transform (with separate accumulators) was used for each circle radius (quarters vs. penny).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55" name="Google Shape;1055;p45"/>
          <p:cNvSpPr txBox="1"/>
          <p:nvPr>
            <p:ph idx="4294967295" type="title"/>
          </p:nvPr>
        </p:nvSpPr>
        <p:spPr>
          <a:xfrm>
            <a:off x="0" y="153150"/>
            <a:ext cx="121920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29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Detecting Circles with Hough Transform</a:t>
            </a:r>
            <a:endParaRPr/>
          </a:p>
        </p:txBody>
      </p:sp>
      <p:sp>
        <p:nvSpPr>
          <p:cNvPr id="1056" name="Google Shape;1056;p4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7" name="Google Shape;1057;p4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8" name="Google Shape;1058;p4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4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4" name="Google Shape;1064;p4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65" name="Google Shape;106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672" y="1591055"/>
            <a:ext cx="2782823" cy="3706367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46"/>
          <p:cNvSpPr txBox="1"/>
          <p:nvPr/>
        </p:nvSpPr>
        <p:spPr>
          <a:xfrm>
            <a:off x="1701800" y="1138745"/>
            <a:ext cx="459295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Combined Detections	Edges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67" name="Google Shape;1067;p46"/>
          <p:cNvSpPr txBox="1"/>
          <p:nvPr/>
        </p:nvSpPr>
        <p:spPr>
          <a:xfrm>
            <a:off x="8018576" y="1160995"/>
            <a:ext cx="185166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Votes: Quarter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068" name="Google Shape;106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9416" y="1566672"/>
            <a:ext cx="3034487" cy="3724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7923" y="1603247"/>
            <a:ext cx="2775203" cy="36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46"/>
          <p:cNvSpPr txBox="1"/>
          <p:nvPr>
            <p:ph idx="4294967295" type="title"/>
          </p:nvPr>
        </p:nvSpPr>
        <p:spPr>
          <a:xfrm>
            <a:off x="0" y="153150"/>
            <a:ext cx="121920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Detecting Circles with Hough Transform</a:t>
            </a:r>
            <a:endParaRPr/>
          </a:p>
        </p:txBody>
      </p:sp>
      <p:sp>
        <p:nvSpPr>
          <p:cNvPr id="1071" name="Google Shape;1071;p4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2" name="Google Shape;1072;p4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3" name="Google Shape;1073;p4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9" name="Google Shape;1079;p4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0" name="Google Shape;1080;p47"/>
          <p:cNvSpPr txBox="1"/>
          <p:nvPr>
            <p:ph idx="4294967295" type="title"/>
          </p:nvPr>
        </p:nvSpPr>
        <p:spPr>
          <a:xfrm>
            <a:off x="0" y="76950"/>
            <a:ext cx="121920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Voting: Practical Tips</a:t>
            </a:r>
            <a:endParaRPr/>
          </a:p>
        </p:txBody>
      </p:sp>
      <p:sp>
        <p:nvSpPr>
          <p:cNvPr id="1081" name="Google Shape;1081;p47"/>
          <p:cNvSpPr txBox="1"/>
          <p:nvPr/>
        </p:nvSpPr>
        <p:spPr>
          <a:xfrm>
            <a:off x="688350" y="1067825"/>
            <a:ext cx="11199000" cy="25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4965" marR="8432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Minimize irrelevant tokens first (take edge points with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significant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gradient magnitude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Choose a </a:t>
            </a:r>
            <a:r>
              <a:rPr b="1" lang="en-US" sz="2800" u="sng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good grid / discretization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rgbClr val="558ED5"/>
              </a:buClr>
              <a:buSzPts val="2400"/>
              <a:buFont typeface="Arial"/>
              <a:buChar char="–"/>
            </a:pPr>
            <a:r>
              <a:rPr b="1" lang="en-US" sz="2400" u="sng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Too coarse: </a:t>
            </a:r>
            <a:r>
              <a:rPr lang="en-US" sz="2000" u="none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large votes obtained when too many different lines correspond to a single bucket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103504" rtl="0" algn="l">
              <a:lnSpc>
                <a:spcPct val="101000"/>
              </a:lnSpc>
              <a:spcBef>
                <a:spcPts val="545"/>
              </a:spcBef>
              <a:spcAft>
                <a:spcPts val="0"/>
              </a:spcAft>
              <a:buClr>
                <a:srgbClr val="558ED5"/>
              </a:buClr>
              <a:buSzPts val="2400"/>
              <a:buFont typeface="Arial"/>
              <a:buChar char="–"/>
            </a:pPr>
            <a:r>
              <a:rPr b="1" lang="en-US" sz="2400" u="sng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Too fine: </a:t>
            </a:r>
            <a:r>
              <a:rPr lang="en-US" sz="2000" u="none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miss lines because some </a:t>
            </a:r>
            <a:r>
              <a:rPr lang="en-US" sz="2000" u="sng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points that are not exactly collinear</a:t>
            </a:r>
            <a:r>
              <a:rPr lang="en-US" sz="2000" u="none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 cast votes for different 	buckets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082" name="Google Shape;108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3558" y="3624732"/>
            <a:ext cx="2363356" cy="25032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3" name="Google Shape;1083;p47"/>
          <p:cNvGrpSpPr/>
          <p:nvPr/>
        </p:nvGrpSpPr>
        <p:grpSpPr>
          <a:xfrm>
            <a:off x="5441441" y="3631662"/>
            <a:ext cx="2372117" cy="2471986"/>
            <a:chOff x="5441441" y="3631662"/>
            <a:chExt cx="2372117" cy="2471986"/>
          </a:xfrm>
        </p:grpSpPr>
        <p:pic>
          <p:nvPicPr>
            <p:cNvPr id="1084" name="Google Shape;1084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68100" y="3631662"/>
              <a:ext cx="2345458" cy="24719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5" name="Google Shape;1085;p47"/>
            <p:cNvSpPr/>
            <p:nvPr/>
          </p:nvSpPr>
          <p:spPr>
            <a:xfrm>
              <a:off x="5441441" y="4074414"/>
              <a:ext cx="1447800" cy="533400"/>
            </a:xfrm>
            <a:custGeom>
              <a:rect b="b" l="l" r="r" t="t"/>
              <a:pathLst>
                <a:path extrusionOk="0" h="533400" w="1447800">
                  <a:moveTo>
                    <a:pt x="0" y="533400"/>
                  </a:moveTo>
                  <a:lnTo>
                    <a:pt x="1447800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6" name="Google Shape;1086;p47"/>
            <p:cNvSpPr/>
            <p:nvPr/>
          </p:nvSpPr>
          <p:spPr>
            <a:xfrm>
              <a:off x="5997701" y="3717798"/>
              <a:ext cx="475615" cy="1905000"/>
            </a:xfrm>
            <a:custGeom>
              <a:rect b="b" l="l" r="r" t="t"/>
              <a:pathLst>
                <a:path extrusionOk="0" h="1905000" w="475614">
                  <a:moveTo>
                    <a:pt x="0" y="0"/>
                  </a:moveTo>
                  <a:lnTo>
                    <a:pt x="475488" y="190500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7" name="Google Shape;1087;p47"/>
            <p:cNvSpPr/>
            <p:nvPr/>
          </p:nvSpPr>
          <p:spPr>
            <a:xfrm>
              <a:off x="5641085" y="3807714"/>
              <a:ext cx="882650" cy="1193800"/>
            </a:xfrm>
            <a:custGeom>
              <a:rect b="b" l="l" r="r" t="t"/>
              <a:pathLst>
                <a:path extrusionOk="0" h="1193800" w="882650">
                  <a:moveTo>
                    <a:pt x="0" y="1193292"/>
                  </a:moveTo>
                  <a:lnTo>
                    <a:pt x="882396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8" name="Google Shape;1088;p47"/>
            <p:cNvSpPr/>
            <p:nvPr/>
          </p:nvSpPr>
          <p:spPr>
            <a:xfrm>
              <a:off x="5663945" y="3918966"/>
              <a:ext cx="902335" cy="940435"/>
            </a:xfrm>
            <a:custGeom>
              <a:rect b="b" l="l" r="r" t="t"/>
              <a:pathLst>
                <a:path extrusionOk="0" h="940435" w="902334">
                  <a:moveTo>
                    <a:pt x="0" y="940308"/>
                  </a:moveTo>
                  <a:lnTo>
                    <a:pt x="902208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9" name="Google Shape;1089;p47"/>
            <p:cNvSpPr/>
            <p:nvPr/>
          </p:nvSpPr>
          <p:spPr>
            <a:xfrm>
              <a:off x="5555741" y="3667506"/>
              <a:ext cx="882650" cy="2005964"/>
            </a:xfrm>
            <a:custGeom>
              <a:rect b="b" l="l" r="r" t="t"/>
              <a:pathLst>
                <a:path extrusionOk="0" h="2005964" w="882650">
                  <a:moveTo>
                    <a:pt x="0" y="2005583"/>
                  </a:moveTo>
                  <a:lnTo>
                    <a:pt x="882396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0" name="Google Shape;1090;p47"/>
            <p:cNvSpPr/>
            <p:nvPr/>
          </p:nvSpPr>
          <p:spPr>
            <a:xfrm>
              <a:off x="5851397" y="4357878"/>
              <a:ext cx="1447800" cy="533400"/>
            </a:xfrm>
            <a:custGeom>
              <a:rect b="b" l="l" r="r" t="t"/>
              <a:pathLst>
                <a:path extrusionOk="0" h="533400" w="1447800">
                  <a:moveTo>
                    <a:pt x="0" y="533400"/>
                  </a:moveTo>
                  <a:lnTo>
                    <a:pt x="1447800" y="0"/>
                  </a:lnTo>
                </a:path>
              </a:pathLst>
            </a:cu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1" name="Google Shape;1091;p47"/>
            <p:cNvSpPr/>
            <p:nvPr/>
          </p:nvSpPr>
          <p:spPr>
            <a:xfrm>
              <a:off x="6435089" y="4353306"/>
              <a:ext cx="26034" cy="708660"/>
            </a:xfrm>
            <a:custGeom>
              <a:rect b="b" l="l" r="r" t="t"/>
              <a:pathLst>
                <a:path extrusionOk="0" h="708660" w="26035">
                  <a:moveTo>
                    <a:pt x="25908" y="0"/>
                  </a:moveTo>
                  <a:lnTo>
                    <a:pt x="0" y="708660"/>
                  </a:lnTo>
                </a:path>
              </a:pathLst>
            </a:custGeom>
            <a:noFill/>
            <a:ln cap="flat" cmpd="sng" w="19050">
              <a:solidFill>
                <a:srgbClr val="558E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2" name="Google Shape;1092;p47"/>
            <p:cNvSpPr/>
            <p:nvPr/>
          </p:nvSpPr>
          <p:spPr>
            <a:xfrm>
              <a:off x="6206489" y="3993642"/>
              <a:ext cx="655320" cy="1304925"/>
            </a:xfrm>
            <a:custGeom>
              <a:rect b="b" l="l" r="r" t="t"/>
              <a:pathLst>
                <a:path extrusionOk="0" h="1304925" w="655320">
                  <a:moveTo>
                    <a:pt x="0" y="1304543"/>
                  </a:moveTo>
                  <a:lnTo>
                    <a:pt x="655320" y="0"/>
                  </a:lnTo>
                </a:path>
              </a:pathLst>
            </a:cu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3" name="Google Shape;1093;p47"/>
            <p:cNvSpPr/>
            <p:nvPr/>
          </p:nvSpPr>
          <p:spPr>
            <a:xfrm>
              <a:off x="5979413" y="4155186"/>
              <a:ext cx="782320" cy="939165"/>
            </a:xfrm>
            <a:custGeom>
              <a:rect b="b" l="l" r="r" t="t"/>
              <a:pathLst>
                <a:path extrusionOk="0" h="939164" w="782320">
                  <a:moveTo>
                    <a:pt x="0" y="0"/>
                  </a:moveTo>
                  <a:lnTo>
                    <a:pt x="781812" y="938784"/>
                  </a:lnTo>
                </a:path>
              </a:pathLst>
            </a:custGeom>
            <a:noFill/>
            <a:ln cap="flat" cmpd="sng" w="19050">
              <a:solidFill>
                <a:srgbClr val="558E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4" name="Google Shape;1094;p47"/>
            <p:cNvSpPr/>
            <p:nvPr/>
          </p:nvSpPr>
          <p:spPr>
            <a:xfrm>
              <a:off x="5927597" y="4363974"/>
              <a:ext cx="1388745" cy="708660"/>
            </a:xfrm>
            <a:custGeom>
              <a:rect b="b" l="l" r="r" t="t"/>
              <a:pathLst>
                <a:path extrusionOk="0" h="708660" w="1388745">
                  <a:moveTo>
                    <a:pt x="0" y="0"/>
                  </a:moveTo>
                  <a:lnTo>
                    <a:pt x="1388364" y="708660"/>
                  </a:lnTo>
                </a:path>
              </a:pathLst>
            </a:cu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5" name="Google Shape;1095;p47"/>
            <p:cNvSpPr/>
            <p:nvPr/>
          </p:nvSpPr>
          <p:spPr>
            <a:xfrm>
              <a:off x="6374129" y="4429506"/>
              <a:ext cx="161925" cy="660400"/>
            </a:xfrm>
            <a:custGeom>
              <a:rect b="b" l="l" r="r" t="t"/>
              <a:pathLst>
                <a:path extrusionOk="0" h="660400" w="161925">
                  <a:moveTo>
                    <a:pt x="0" y="0"/>
                  </a:moveTo>
                  <a:lnTo>
                    <a:pt x="161544" y="659892"/>
                  </a:lnTo>
                </a:path>
              </a:pathLst>
            </a:custGeom>
            <a:noFill/>
            <a:ln cap="flat" cmpd="sng" w="19050">
              <a:solidFill>
                <a:srgbClr val="558E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96" name="Google Shape;1096;p47"/>
          <p:cNvSpPr txBox="1"/>
          <p:nvPr/>
        </p:nvSpPr>
        <p:spPr>
          <a:xfrm>
            <a:off x="8614802" y="6125450"/>
            <a:ext cx="1992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Too coarse grid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7" name="Google Shape;1097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91415" y="3631732"/>
            <a:ext cx="2311326" cy="2426127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47"/>
          <p:cNvSpPr txBox="1"/>
          <p:nvPr/>
        </p:nvSpPr>
        <p:spPr>
          <a:xfrm>
            <a:off x="2787298" y="6031300"/>
            <a:ext cx="1767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Too fine grid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9" name="Google Shape;1099;p47"/>
          <p:cNvGrpSpPr/>
          <p:nvPr/>
        </p:nvGrpSpPr>
        <p:grpSpPr>
          <a:xfrm>
            <a:off x="2664714" y="3650741"/>
            <a:ext cx="1874901" cy="2005964"/>
            <a:chOff x="2664714" y="3650741"/>
            <a:chExt cx="1874901" cy="2005964"/>
          </a:xfrm>
        </p:grpSpPr>
        <p:sp>
          <p:nvSpPr>
            <p:cNvPr id="1100" name="Google Shape;1100;p47"/>
            <p:cNvSpPr/>
            <p:nvPr/>
          </p:nvSpPr>
          <p:spPr>
            <a:xfrm>
              <a:off x="2664714" y="4056125"/>
              <a:ext cx="1447800" cy="533400"/>
            </a:xfrm>
            <a:custGeom>
              <a:rect b="b" l="l" r="r" t="t"/>
              <a:pathLst>
                <a:path extrusionOk="0" h="533400" w="1447800">
                  <a:moveTo>
                    <a:pt x="0" y="533400"/>
                  </a:moveTo>
                  <a:lnTo>
                    <a:pt x="1447800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47"/>
            <p:cNvSpPr/>
            <p:nvPr/>
          </p:nvSpPr>
          <p:spPr>
            <a:xfrm>
              <a:off x="3219450" y="3701033"/>
              <a:ext cx="477520" cy="1905000"/>
            </a:xfrm>
            <a:custGeom>
              <a:rect b="b" l="l" r="r" t="t"/>
              <a:pathLst>
                <a:path extrusionOk="0" h="1905000" w="477520">
                  <a:moveTo>
                    <a:pt x="0" y="0"/>
                  </a:moveTo>
                  <a:lnTo>
                    <a:pt x="477012" y="190500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2" name="Google Shape;1102;p47"/>
            <p:cNvSpPr/>
            <p:nvPr/>
          </p:nvSpPr>
          <p:spPr>
            <a:xfrm>
              <a:off x="2864358" y="3790949"/>
              <a:ext cx="882650" cy="1193800"/>
            </a:xfrm>
            <a:custGeom>
              <a:rect b="b" l="l" r="r" t="t"/>
              <a:pathLst>
                <a:path extrusionOk="0" h="1193800" w="882650">
                  <a:moveTo>
                    <a:pt x="0" y="1193292"/>
                  </a:moveTo>
                  <a:lnTo>
                    <a:pt x="882396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3" name="Google Shape;1103;p47"/>
            <p:cNvSpPr/>
            <p:nvPr/>
          </p:nvSpPr>
          <p:spPr>
            <a:xfrm>
              <a:off x="2887218" y="3902201"/>
              <a:ext cx="902335" cy="940435"/>
            </a:xfrm>
            <a:custGeom>
              <a:rect b="b" l="l" r="r" t="t"/>
              <a:pathLst>
                <a:path extrusionOk="0" h="940435" w="902335">
                  <a:moveTo>
                    <a:pt x="0" y="940308"/>
                  </a:moveTo>
                  <a:lnTo>
                    <a:pt x="902208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4" name="Google Shape;1104;p47"/>
            <p:cNvSpPr/>
            <p:nvPr/>
          </p:nvSpPr>
          <p:spPr>
            <a:xfrm>
              <a:off x="2779014" y="3650741"/>
              <a:ext cx="882650" cy="2005964"/>
            </a:xfrm>
            <a:custGeom>
              <a:rect b="b" l="l" r="r" t="t"/>
              <a:pathLst>
                <a:path extrusionOk="0" h="2005964" w="882650">
                  <a:moveTo>
                    <a:pt x="0" y="2005583"/>
                  </a:moveTo>
                  <a:lnTo>
                    <a:pt x="882396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5" name="Google Shape;1105;p47"/>
            <p:cNvSpPr/>
            <p:nvPr/>
          </p:nvSpPr>
          <p:spPr>
            <a:xfrm>
              <a:off x="3074670" y="4341113"/>
              <a:ext cx="1447800" cy="533400"/>
            </a:xfrm>
            <a:custGeom>
              <a:rect b="b" l="l" r="r" t="t"/>
              <a:pathLst>
                <a:path extrusionOk="0" h="533400" w="1447800">
                  <a:moveTo>
                    <a:pt x="0" y="533400"/>
                  </a:moveTo>
                  <a:lnTo>
                    <a:pt x="1447800" y="0"/>
                  </a:lnTo>
                </a:path>
              </a:pathLst>
            </a:cu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6" name="Google Shape;1106;p47"/>
            <p:cNvSpPr/>
            <p:nvPr/>
          </p:nvSpPr>
          <p:spPr>
            <a:xfrm>
              <a:off x="3658362" y="4336541"/>
              <a:ext cx="26034" cy="708660"/>
            </a:xfrm>
            <a:custGeom>
              <a:rect b="b" l="l" r="r" t="t"/>
              <a:pathLst>
                <a:path extrusionOk="0" h="708660" w="26035">
                  <a:moveTo>
                    <a:pt x="25908" y="0"/>
                  </a:moveTo>
                  <a:lnTo>
                    <a:pt x="0" y="708659"/>
                  </a:lnTo>
                </a:path>
              </a:pathLst>
            </a:custGeom>
            <a:noFill/>
            <a:ln cap="flat" cmpd="sng" w="19050">
              <a:solidFill>
                <a:srgbClr val="558E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47"/>
            <p:cNvSpPr/>
            <p:nvPr/>
          </p:nvSpPr>
          <p:spPr>
            <a:xfrm>
              <a:off x="3429762" y="3976877"/>
              <a:ext cx="655320" cy="1303020"/>
            </a:xfrm>
            <a:custGeom>
              <a:rect b="b" l="l" r="r" t="t"/>
              <a:pathLst>
                <a:path extrusionOk="0" h="1303020" w="655320">
                  <a:moveTo>
                    <a:pt x="0" y="1303020"/>
                  </a:moveTo>
                  <a:lnTo>
                    <a:pt x="655320" y="0"/>
                  </a:lnTo>
                </a:path>
              </a:pathLst>
            </a:cu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8" name="Google Shape;1108;p47"/>
            <p:cNvSpPr/>
            <p:nvPr/>
          </p:nvSpPr>
          <p:spPr>
            <a:xfrm>
              <a:off x="3202686" y="4138421"/>
              <a:ext cx="780415" cy="939165"/>
            </a:xfrm>
            <a:custGeom>
              <a:rect b="b" l="l" r="r" t="t"/>
              <a:pathLst>
                <a:path extrusionOk="0" h="939164" w="780414">
                  <a:moveTo>
                    <a:pt x="0" y="0"/>
                  </a:moveTo>
                  <a:lnTo>
                    <a:pt x="780288" y="938784"/>
                  </a:lnTo>
                </a:path>
              </a:pathLst>
            </a:custGeom>
            <a:noFill/>
            <a:ln cap="flat" cmpd="sng" w="19025">
              <a:solidFill>
                <a:srgbClr val="558E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47"/>
            <p:cNvSpPr/>
            <p:nvPr/>
          </p:nvSpPr>
          <p:spPr>
            <a:xfrm>
              <a:off x="3150870" y="4345685"/>
              <a:ext cx="1388745" cy="710565"/>
            </a:xfrm>
            <a:custGeom>
              <a:rect b="b" l="l" r="r" t="t"/>
              <a:pathLst>
                <a:path extrusionOk="0" h="710564" w="1388745">
                  <a:moveTo>
                    <a:pt x="0" y="0"/>
                  </a:moveTo>
                  <a:lnTo>
                    <a:pt x="1388364" y="710184"/>
                  </a:lnTo>
                </a:path>
              </a:pathLst>
            </a:cu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47"/>
            <p:cNvSpPr/>
            <p:nvPr/>
          </p:nvSpPr>
          <p:spPr>
            <a:xfrm>
              <a:off x="3595878" y="4412741"/>
              <a:ext cx="163195" cy="660400"/>
            </a:xfrm>
            <a:custGeom>
              <a:rect b="b" l="l" r="r" t="t"/>
              <a:pathLst>
                <a:path extrusionOk="0" h="660400" w="163195">
                  <a:moveTo>
                    <a:pt x="0" y="0"/>
                  </a:moveTo>
                  <a:lnTo>
                    <a:pt x="163068" y="659891"/>
                  </a:lnTo>
                </a:path>
              </a:pathLst>
            </a:custGeom>
            <a:noFill/>
            <a:ln cap="flat" cmpd="sng" w="19025">
              <a:solidFill>
                <a:srgbClr val="558E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111" name="Google Shape;1111;p47"/>
          <p:cNvGrpSpPr/>
          <p:nvPr/>
        </p:nvGrpSpPr>
        <p:grpSpPr>
          <a:xfrm>
            <a:off x="8001761" y="3684270"/>
            <a:ext cx="1874901" cy="2007235"/>
            <a:chOff x="8001761" y="3684270"/>
            <a:chExt cx="1874901" cy="2007235"/>
          </a:xfrm>
        </p:grpSpPr>
        <p:sp>
          <p:nvSpPr>
            <p:cNvPr id="1112" name="Google Shape;1112;p47"/>
            <p:cNvSpPr/>
            <p:nvPr/>
          </p:nvSpPr>
          <p:spPr>
            <a:xfrm>
              <a:off x="8001761" y="4091178"/>
              <a:ext cx="1447800" cy="533400"/>
            </a:xfrm>
            <a:custGeom>
              <a:rect b="b" l="l" r="r" t="t"/>
              <a:pathLst>
                <a:path extrusionOk="0" h="533400" w="1447800">
                  <a:moveTo>
                    <a:pt x="0" y="533400"/>
                  </a:moveTo>
                  <a:lnTo>
                    <a:pt x="1447800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47"/>
            <p:cNvSpPr/>
            <p:nvPr/>
          </p:nvSpPr>
          <p:spPr>
            <a:xfrm>
              <a:off x="8558021" y="3734562"/>
              <a:ext cx="475615" cy="1905000"/>
            </a:xfrm>
            <a:custGeom>
              <a:rect b="b" l="l" r="r" t="t"/>
              <a:pathLst>
                <a:path extrusionOk="0" h="1905000" w="475615">
                  <a:moveTo>
                    <a:pt x="0" y="0"/>
                  </a:moveTo>
                  <a:lnTo>
                    <a:pt x="475488" y="190500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47"/>
            <p:cNvSpPr/>
            <p:nvPr/>
          </p:nvSpPr>
          <p:spPr>
            <a:xfrm>
              <a:off x="8201405" y="3824478"/>
              <a:ext cx="882650" cy="1193800"/>
            </a:xfrm>
            <a:custGeom>
              <a:rect b="b" l="l" r="r" t="t"/>
              <a:pathLst>
                <a:path extrusionOk="0" h="1193800" w="882650">
                  <a:moveTo>
                    <a:pt x="0" y="1193292"/>
                  </a:moveTo>
                  <a:lnTo>
                    <a:pt x="882396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47"/>
            <p:cNvSpPr/>
            <p:nvPr/>
          </p:nvSpPr>
          <p:spPr>
            <a:xfrm>
              <a:off x="8224265" y="3937254"/>
              <a:ext cx="902335" cy="939165"/>
            </a:xfrm>
            <a:custGeom>
              <a:rect b="b" l="l" r="r" t="t"/>
              <a:pathLst>
                <a:path extrusionOk="0" h="939164" w="902334">
                  <a:moveTo>
                    <a:pt x="0" y="938784"/>
                  </a:moveTo>
                  <a:lnTo>
                    <a:pt x="902208" y="0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47"/>
            <p:cNvSpPr/>
            <p:nvPr/>
          </p:nvSpPr>
          <p:spPr>
            <a:xfrm>
              <a:off x="8116061" y="3684270"/>
              <a:ext cx="882650" cy="2007235"/>
            </a:xfrm>
            <a:custGeom>
              <a:rect b="b" l="l" r="r" t="t"/>
              <a:pathLst>
                <a:path extrusionOk="0" h="2007235" w="882650">
                  <a:moveTo>
                    <a:pt x="0" y="2007107"/>
                  </a:moveTo>
                  <a:lnTo>
                    <a:pt x="882396" y="0"/>
                  </a:lnTo>
                </a:path>
              </a:pathLst>
            </a:custGeom>
            <a:noFill/>
            <a:ln cap="flat" cmpd="sng" w="190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47"/>
            <p:cNvSpPr/>
            <p:nvPr/>
          </p:nvSpPr>
          <p:spPr>
            <a:xfrm>
              <a:off x="8411717" y="4374642"/>
              <a:ext cx="1447800" cy="533400"/>
            </a:xfrm>
            <a:custGeom>
              <a:rect b="b" l="l" r="r" t="t"/>
              <a:pathLst>
                <a:path extrusionOk="0" h="533400" w="1447800">
                  <a:moveTo>
                    <a:pt x="0" y="533399"/>
                  </a:moveTo>
                  <a:lnTo>
                    <a:pt x="1447800" y="0"/>
                  </a:lnTo>
                </a:path>
              </a:pathLst>
            </a:cu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47"/>
            <p:cNvSpPr/>
            <p:nvPr/>
          </p:nvSpPr>
          <p:spPr>
            <a:xfrm>
              <a:off x="8995409" y="4370070"/>
              <a:ext cx="26034" cy="708660"/>
            </a:xfrm>
            <a:custGeom>
              <a:rect b="b" l="l" r="r" t="t"/>
              <a:pathLst>
                <a:path extrusionOk="0" h="708660" w="26034">
                  <a:moveTo>
                    <a:pt x="25907" y="0"/>
                  </a:moveTo>
                  <a:lnTo>
                    <a:pt x="0" y="708659"/>
                  </a:lnTo>
                </a:path>
              </a:pathLst>
            </a:custGeom>
            <a:noFill/>
            <a:ln cap="flat" cmpd="sng" w="19050">
              <a:solidFill>
                <a:srgbClr val="558E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47"/>
            <p:cNvSpPr/>
            <p:nvPr/>
          </p:nvSpPr>
          <p:spPr>
            <a:xfrm>
              <a:off x="8766809" y="4010406"/>
              <a:ext cx="655320" cy="1304925"/>
            </a:xfrm>
            <a:custGeom>
              <a:rect b="b" l="l" r="r" t="t"/>
              <a:pathLst>
                <a:path extrusionOk="0" h="1304925" w="655320">
                  <a:moveTo>
                    <a:pt x="0" y="1304544"/>
                  </a:moveTo>
                  <a:lnTo>
                    <a:pt x="655320" y="0"/>
                  </a:lnTo>
                </a:path>
              </a:pathLst>
            </a:cu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47"/>
            <p:cNvSpPr/>
            <p:nvPr/>
          </p:nvSpPr>
          <p:spPr>
            <a:xfrm>
              <a:off x="8539733" y="4171950"/>
              <a:ext cx="780415" cy="940435"/>
            </a:xfrm>
            <a:custGeom>
              <a:rect b="b" l="l" r="r" t="t"/>
              <a:pathLst>
                <a:path extrusionOk="0" h="940435" w="780415">
                  <a:moveTo>
                    <a:pt x="0" y="0"/>
                  </a:moveTo>
                  <a:lnTo>
                    <a:pt x="780288" y="940308"/>
                  </a:lnTo>
                </a:path>
              </a:pathLst>
            </a:custGeom>
            <a:noFill/>
            <a:ln cap="flat" cmpd="sng" w="19050">
              <a:solidFill>
                <a:srgbClr val="558E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47"/>
            <p:cNvSpPr/>
            <p:nvPr/>
          </p:nvSpPr>
          <p:spPr>
            <a:xfrm>
              <a:off x="8487917" y="4380738"/>
              <a:ext cx="1388745" cy="708660"/>
            </a:xfrm>
            <a:custGeom>
              <a:rect b="b" l="l" r="r" t="t"/>
              <a:pathLst>
                <a:path extrusionOk="0" h="708660" w="1388745">
                  <a:moveTo>
                    <a:pt x="0" y="0"/>
                  </a:moveTo>
                  <a:lnTo>
                    <a:pt x="1388364" y="708660"/>
                  </a:lnTo>
                </a:path>
              </a:pathLst>
            </a:cu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47"/>
            <p:cNvSpPr/>
            <p:nvPr/>
          </p:nvSpPr>
          <p:spPr>
            <a:xfrm>
              <a:off x="8932925" y="4446270"/>
              <a:ext cx="163195" cy="660400"/>
            </a:xfrm>
            <a:custGeom>
              <a:rect b="b" l="l" r="r" t="t"/>
              <a:pathLst>
                <a:path extrusionOk="0" h="660400" w="163195">
                  <a:moveTo>
                    <a:pt x="0" y="0"/>
                  </a:moveTo>
                  <a:lnTo>
                    <a:pt x="163068" y="659891"/>
                  </a:lnTo>
                </a:path>
              </a:pathLst>
            </a:custGeom>
            <a:noFill/>
            <a:ln cap="flat" cmpd="sng" w="19025">
              <a:solidFill>
                <a:srgbClr val="558E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23" name="Google Shape;1123;p47"/>
          <p:cNvSpPr txBox="1"/>
          <p:nvPr/>
        </p:nvSpPr>
        <p:spPr>
          <a:xfrm>
            <a:off x="5854697" y="6083163"/>
            <a:ext cx="14954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Acceptable grid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4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5" name="Google Shape;1125;p4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6" name="Google Shape;1126;p4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4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2" name="Google Shape;1132;p4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3" name="Google Shape;1133;p4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Voting: Practical Tips</a:t>
            </a:r>
            <a:endParaRPr/>
          </a:p>
        </p:txBody>
      </p:sp>
      <p:grpSp>
        <p:nvGrpSpPr>
          <p:cNvPr id="1134" name="Google Shape;1134;p48"/>
          <p:cNvGrpSpPr/>
          <p:nvPr/>
        </p:nvGrpSpPr>
        <p:grpSpPr>
          <a:xfrm>
            <a:off x="6976871" y="3323844"/>
            <a:ext cx="1906523" cy="899159"/>
            <a:chOff x="6976871" y="3323844"/>
            <a:chExt cx="1906523" cy="899159"/>
          </a:xfrm>
        </p:grpSpPr>
        <p:pic>
          <p:nvPicPr>
            <p:cNvPr id="1135" name="Google Shape;1135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76871" y="3323844"/>
              <a:ext cx="1906523" cy="899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6" name="Google Shape;1136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20711" y="3857244"/>
              <a:ext cx="1418843" cy="655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7" name="Google Shape;1137;p48"/>
          <p:cNvSpPr txBox="1"/>
          <p:nvPr/>
        </p:nvSpPr>
        <p:spPr>
          <a:xfrm>
            <a:off x="688340" y="1063245"/>
            <a:ext cx="10806430" cy="33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Vote for neighbors, also (smoothing in accumulator array)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3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Utilize direction of	edge</a:t>
            </a:r>
            <a:r>
              <a:rPr lang="en-US" sz="32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to reduce free parameters by 1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53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To read back which points voted for “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winning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” peaks, keep tags on the votes.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38" name="Google Shape;1138;p4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9" name="Google Shape;1139;p4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0" name="Google Shape;1140;p4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4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6" name="Google Shape;1146;p4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147" name="Google Shape;1147;p49"/>
          <p:cNvGrpSpPr/>
          <p:nvPr/>
        </p:nvGrpSpPr>
        <p:grpSpPr>
          <a:xfrm>
            <a:off x="1223772" y="1647444"/>
            <a:ext cx="9805414" cy="4047743"/>
            <a:chOff x="1223772" y="1647444"/>
            <a:chExt cx="9805414" cy="4047743"/>
          </a:xfrm>
        </p:grpSpPr>
        <p:pic>
          <p:nvPicPr>
            <p:cNvPr id="1148" name="Google Shape;1148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62212" y="2112264"/>
              <a:ext cx="8365222" cy="35829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9" name="Google Shape;1149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88907" y="1647444"/>
              <a:ext cx="2240279" cy="7894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0" name="Google Shape;1150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23772" y="2074163"/>
              <a:ext cx="2668523" cy="7894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1" name="Google Shape;1151;p4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Hough Transform: Handling of	Noise</a:t>
            </a:r>
            <a:endParaRPr/>
          </a:p>
        </p:txBody>
      </p:sp>
      <p:sp>
        <p:nvSpPr>
          <p:cNvPr id="1152" name="Google Shape;1152;p49"/>
          <p:cNvSpPr txBox="1"/>
          <p:nvPr/>
        </p:nvSpPr>
        <p:spPr>
          <a:xfrm>
            <a:off x="688340" y="873587"/>
            <a:ext cx="10017125" cy="172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2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Noise &amp; Clutter features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will cast votes too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56285" marR="508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typically their votes should be inconsistent with the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majority of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“good” features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153" name="Google Shape;1153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7132" y="2538983"/>
            <a:ext cx="2241803" cy="6095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49"/>
          <p:cNvSpPr txBox="1"/>
          <p:nvPr/>
        </p:nvSpPr>
        <p:spPr>
          <a:xfrm>
            <a:off x="2292175" y="5656575"/>
            <a:ext cx="3222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2542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Image space edge coordinates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49"/>
          <p:cNvSpPr txBox="1"/>
          <p:nvPr/>
        </p:nvSpPr>
        <p:spPr>
          <a:xfrm>
            <a:off x="8758983" y="5773361"/>
            <a:ext cx="73469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Votes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49"/>
          <p:cNvSpPr txBox="1"/>
          <p:nvPr/>
        </p:nvSpPr>
        <p:spPr>
          <a:xfrm>
            <a:off x="7622540" y="5751140"/>
            <a:ext cx="144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1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57" name="Google Shape;1157;p49"/>
          <p:cNvSpPr txBox="1"/>
          <p:nvPr/>
        </p:nvSpPr>
        <p:spPr>
          <a:xfrm>
            <a:off x="9298863" y="4154369"/>
            <a:ext cx="1435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4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9" name="Google Shape;1159;p4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0" name="Google Shape;1160;p4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5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6" name="Google Shape;1166;p5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67" name="Google Shape;116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5525" y="2238381"/>
            <a:ext cx="6896099" cy="3458329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5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Hough Transform: Handling of	Multiple Fragments</a:t>
            </a:r>
            <a:endParaRPr/>
          </a:p>
        </p:txBody>
      </p:sp>
      <p:sp>
        <p:nvSpPr>
          <p:cNvPr id="1169" name="Google Shape;1169;p50"/>
          <p:cNvSpPr txBox="1"/>
          <p:nvPr/>
        </p:nvSpPr>
        <p:spPr>
          <a:xfrm>
            <a:off x="688340" y="878982"/>
            <a:ext cx="10733405" cy="143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3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Noto Sans Symbols"/>
              <a:buChar char="▪"/>
            </a:pPr>
            <a:r>
              <a:rPr lang="en-US" sz="3400">
                <a:latin typeface="Bell MT"/>
                <a:ea typeface="Bell MT"/>
                <a:cs typeface="Bell MT"/>
                <a:sym typeface="Bell MT"/>
              </a:rPr>
              <a:t>Multiple Fragments</a:t>
            </a:r>
            <a:endParaRPr sz="34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7777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A model can span multiple fragments if	some features are not observed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0" lvl="0" marL="756285" rtl="0" algn="l">
              <a:lnSpc>
                <a:spcPct val="106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acceptable)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70" name="Google Shape;1170;p50"/>
          <p:cNvSpPr txBox="1"/>
          <p:nvPr/>
        </p:nvSpPr>
        <p:spPr>
          <a:xfrm>
            <a:off x="2131025" y="5656575"/>
            <a:ext cx="36315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2542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Image space edge coordinates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50"/>
          <p:cNvSpPr txBox="1"/>
          <p:nvPr/>
        </p:nvSpPr>
        <p:spPr>
          <a:xfrm>
            <a:off x="8758983" y="5773361"/>
            <a:ext cx="73469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Votes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50"/>
          <p:cNvSpPr txBox="1"/>
          <p:nvPr/>
        </p:nvSpPr>
        <p:spPr>
          <a:xfrm>
            <a:off x="7546340" y="5735828"/>
            <a:ext cx="144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1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73" name="Google Shape;1173;p50"/>
          <p:cNvSpPr txBox="1"/>
          <p:nvPr/>
        </p:nvSpPr>
        <p:spPr>
          <a:xfrm>
            <a:off x="9299016" y="4154373"/>
            <a:ext cx="1435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5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5" name="Google Shape;1175;p5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6" name="Google Shape;1176;p5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5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2" name="Google Shape;1182;p5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3" name="Google Shape;1183;p51"/>
          <p:cNvSpPr txBox="1"/>
          <p:nvPr>
            <p:ph idx="4294967295" type="title"/>
          </p:nvPr>
        </p:nvSpPr>
        <p:spPr>
          <a:xfrm>
            <a:off x="0" y="153150"/>
            <a:ext cx="121920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Hough Transform: Pros and Cons</a:t>
            </a:r>
            <a:endParaRPr/>
          </a:p>
        </p:txBody>
      </p:sp>
      <p:sp>
        <p:nvSpPr>
          <p:cNvPr id="1184" name="Google Shape;1184;p51"/>
          <p:cNvSpPr txBox="1"/>
          <p:nvPr/>
        </p:nvSpPr>
        <p:spPr>
          <a:xfrm>
            <a:off x="688340" y="926552"/>
            <a:ext cx="10795000" cy="4388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latin typeface="Bell MT"/>
                <a:ea typeface="Bell MT"/>
                <a:cs typeface="Bell MT"/>
                <a:sym typeface="Bell MT"/>
              </a:rPr>
              <a:t>Pros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All points are processed independently, so </a:t>
            </a:r>
            <a:r>
              <a:rPr lang="en-US" sz="3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can cope with</a:t>
            </a:r>
            <a:r>
              <a:rPr lang="en-US" sz="36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occlusion</a:t>
            </a:r>
            <a:r>
              <a:rPr lang="en-US" sz="36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6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(existence of	multiple fragments)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18161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Robustness to noise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: noise points unlikely to contribute consistently to any single bin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80899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Can detect multiple instances 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of	a model in a single pass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85" name="Google Shape;1185;p5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6" name="Google Shape;1186;p5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7" name="Google Shape;1187;p5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5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3" name="Google Shape;1193;p5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4" name="Google Shape;1194;p5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Hough Transform: Pros and Cons</a:t>
            </a:r>
            <a:endParaRPr/>
          </a:p>
        </p:txBody>
      </p:sp>
      <p:sp>
        <p:nvSpPr>
          <p:cNvPr id="1195" name="Google Shape;1195;p52"/>
          <p:cNvSpPr txBox="1"/>
          <p:nvPr/>
        </p:nvSpPr>
        <p:spPr>
          <a:xfrm>
            <a:off x="688340" y="926552"/>
            <a:ext cx="10772140" cy="2632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latin typeface="Bell MT"/>
                <a:ea typeface="Bell MT"/>
                <a:cs typeface="Bell MT"/>
                <a:sym typeface="Bell MT"/>
              </a:rPr>
              <a:t>Cons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Complexity of		</a:t>
            </a:r>
            <a:r>
              <a:rPr lang="en-US" sz="36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search time increases</a:t>
            </a:r>
            <a:r>
              <a:rPr lang="en-US" sz="36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exponentially with the number of	</a:t>
            </a:r>
            <a:r>
              <a:rPr lang="en-US" sz="36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model parameters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Quantization: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hard to pick a </a:t>
            </a:r>
            <a:r>
              <a:rPr lang="en-US" sz="3600" u="sng">
                <a:latin typeface="Bell MT"/>
                <a:ea typeface="Bell MT"/>
                <a:cs typeface="Bell MT"/>
                <a:sym typeface="Bell MT"/>
              </a:rPr>
              <a:t>good grid size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96" name="Google Shape;1196;p5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7" name="Google Shape;1197;p5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8" name="Google Shape;1198;p5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5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4" name="Google Shape;1204;p5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5" name="Google Shape;1205;p53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206" name="Google Shape;1206;p53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